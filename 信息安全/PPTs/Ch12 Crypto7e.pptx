
<file path=[Content_Types].xml><?xml version="1.0" encoding="utf-8"?>
<Types xmlns="http://schemas.openxmlformats.org/package/2006/content-types">
  <Override PartName="/ppt/slides/slide14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33.xml" ContentType="application/vnd.openxmlformats-officedocument.presentationml.slide+xml"/>
  <Override PartName="/ppt/diagrams/colors2.xml" ContentType="application/vnd.openxmlformats-officedocument.drawingml.diagramColors+xml"/>
  <Default Extension="bin" ContentType="application/vnd.openxmlformats-officedocument.presentationml.printerSettings"/>
  <Override PartName="/ppt/notesSlides/notesSlide30.xml" ContentType="application/vnd.openxmlformats-officedocument.presentationml.notesSlide+xml"/>
  <Override PartName="/ppt/notesSlides/notesSlide13.xml" ContentType="application/vnd.openxmlformats-officedocument.presentationml.notesSlide+xml"/>
  <Default Extension="wmf" ContentType="image/x-wmf"/>
  <Override PartName="/ppt/notesSlides/notesSlide29.xml" ContentType="application/vnd.openxmlformats-officedocument.presentationml.notesSlide+xml"/>
  <Override PartName="/ppt/notesSlides/notesSlide2.xml" ContentType="application/vnd.openxmlformats-officedocument.presentationml.notes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23.xml" ContentType="application/vnd.openxmlformats-officedocument.presentationml.slide+xml"/>
  <Override PartName="/ppt/theme/theme1.xml" ContentType="application/vnd.openxmlformats-officedocument.theme+xml"/>
  <Override PartName="/ppt/diagrams/drawing3.xml" ContentType="application/vnd.ms-office.drawingml.diagramDrawing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notesSlides/notesSlide17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quickStyle1.xml" ContentType="application/vnd.openxmlformats-officedocument.drawingml.diagramStyle+xml"/>
  <Override PartName="/ppt/notesSlides/notesSlide2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30.xml" ContentType="application/vnd.openxmlformats-officedocument.presentationml.slide+xml"/>
  <Override PartName="/ppt/slides/slide27.xml" ContentType="application/vnd.openxmlformats-officedocument.presentationml.slide+xml"/>
  <Override PartName="/ppt/slides/slide11.xml" ContentType="application/vnd.openxmlformats-officedocument.presentationml.slide+xml"/>
  <Override PartName="/ppt/notesSlides/notesSlide8.xml" ContentType="application/vnd.openxmlformats-officedocument.presentationml.notesSlide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notesSlides/notesSlide26.xml" ContentType="application/vnd.openxmlformats-officedocument.presentationml.notesSlide+xml"/>
  <Override PartName="/ppt/slideLayouts/slideLayout9.xml" ContentType="application/vnd.openxmlformats-officedocument.presentationml.slideLayout+xml"/>
  <Override PartName="/ppt/slides/slide15.xml" ContentType="application/vnd.openxmlformats-officedocument.presentationml.slide+xml"/>
  <Override PartName="/ppt/diagrams/colors3.xml" ContentType="application/vnd.openxmlformats-officedocument.drawingml.diagramColors+xml"/>
  <Override PartName="/ppt/notesSlides/notesSlide31.xml" ContentType="application/vnd.openxmlformats-officedocument.presentationml.notes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notesSlides/notesSlide14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24.xml" ContentType="application/vnd.openxmlformats-officedocument.presentationml.slide+xml"/>
  <Override PartName="/ppt/theme/theme2.xml" ContentType="application/vnd.openxmlformats-officedocument.theme+xml"/>
  <Override PartName="/ppt/handoutMasters/handoutMaster1.xml" ContentType="application/vnd.openxmlformats-officedocument.presentationml.handoutMaster+xml"/>
  <Override PartName="/ppt/diagrams/drawing4.xml" ContentType="application/vnd.ms-office.drawingml.diagramDrawing+xml"/>
  <Override PartName="/ppt/slideLayouts/slideLayout11.xml" ContentType="application/vnd.openxmlformats-officedocument.presentationml.slideLayout+xml"/>
  <Override PartName="/ppt/diagrams/layout2.xml" ContentType="application/vnd.openxmlformats-officedocument.drawingml.diagramLayout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ppt/notesSlides/notesSlide7.xml" ContentType="application/vnd.openxmlformats-officedocument.presentationml.notesSlide+xml"/>
  <Override PartName="/ppt/diagrams/data3.xml" ContentType="application/vnd.openxmlformats-officedocument.drawingml.diagramData+xml"/>
  <Override PartName="/ppt/diagrams/quickStyle2.xml" ContentType="application/vnd.openxmlformats-officedocument.drawingml.diagramStyle+xml"/>
  <Default Extension="jpeg" ContentType="image/jpeg"/>
  <Override PartName="/ppt/notesSlides/notesSlide23.xml" ContentType="application/vnd.openxmlformats-officedocument.presentationml.notesSlide+xml"/>
  <Override PartName="/ppt/slides/slide8.xml" ContentType="application/vnd.openxmlformats-officedocument.presentationml.slide+xml"/>
  <Override PartName="/ppt/slides/slide12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8.xml" ContentType="application/vnd.openxmlformats-officedocument.presentationml.slide+xml"/>
  <Override PartName="/ppt/slides/slide31.xml" ContentType="application/vnd.openxmlformats-officedocument.presentationml.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Default Extension="rels" ContentType="application/vnd.openxmlformats-package.relationships+xml"/>
  <Override PartName="/ppt/notesSlides/notesSlide27.xml" ContentType="application/vnd.openxmlformats-officedocument.presentationml.notesSlide+xml"/>
  <Override PartName="/ppt/slides/slide16.xml" ContentType="application/vnd.openxmlformats-officedocument.presentationml.slide+xml"/>
  <Override PartName="/ppt/diagrams/colors4.xml" ContentType="application/vnd.openxmlformats-officedocument.drawingml.diagramColors+xml"/>
  <Override PartName="/ppt/slides/slide1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21.xml" ContentType="application/vnd.openxmlformats-officedocument.presentationml.slide+xml"/>
  <Override PartName="/ppt/diagrams/drawing1.xml" ContentType="application/vnd.ms-office.drawingml.diagramDrawing+xml"/>
  <Override PartName="/ppt/notesSlides/notesSlide1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0.xml" ContentType="application/vnd.openxmlformats-officedocument.presentationml.notes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s/slide25.xml" ContentType="application/vnd.openxmlformats-officedocument.presentationml.slide+xml"/>
  <Override PartName="/ppt/theme/theme3.xml" ContentType="application/vnd.openxmlformats-officedocument.theme+xml"/>
  <Override PartName="/ppt/diagrams/drawing5.xml" ContentType="application/vnd.ms-office.drawingml.diagramDrawing+xml"/>
  <Override PartName="/ppt/slideLayouts/slideLayout12.xml" ContentType="application/vnd.openxmlformats-officedocument.presentationml.slideLayout+xml"/>
  <Override PartName="/ppt/diagrams/layout3.xml" ContentType="application/vnd.openxmlformats-officedocument.drawingml.diagramLayout+xml"/>
  <Override PartName="/ppt/notesSlides/notesSlide19.xml" ContentType="application/vnd.openxmlformats-officedocument.presentationml.notesSlide+xml"/>
  <Override PartName="/ppt/diagrams/data4.xml" ContentType="application/vnd.openxmlformats-officedocument.drawingml.diagramData+xml"/>
  <Override PartName="/ppt/diagrams/quickStyle3.xml" ContentType="application/vnd.openxmlformats-officedocument.drawingml.diagramStyle+xml"/>
  <Override PartName="/ppt/notesSlides/notesSlide24.xml" ContentType="application/vnd.openxmlformats-officedocument.presentationml.notesSlide+xml"/>
  <Override PartName="/ppt/slides/slide9.xml" ContentType="application/vnd.openxmlformats-officedocument.presentationml.slide+xml"/>
  <Override PartName="/ppt/slides/slide13.xml" ContentType="application/vnd.openxmlformats-officedocument.presentationml.slide+xml"/>
  <Default Extension="xml" ContentType="application/xml"/>
  <Override PartName="/ppt/diagrams/colors1.xml" ContentType="application/vnd.openxmlformats-officedocument.drawingml.diagramColors+xml"/>
  <Override PartName="/ppt/tableStyles.xml" ContentType="application/vnd.openxmlformats-officedocument.presentationml.tableStyles+xml"/>
  <Override PartName="/ppt/notesSlides/notesSlide10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s/slide32.xml" ContentType="application/vnd.openxmlformats-officedocument.presentationml.slide+xml"/>
  <Override PartName="/ppt/slides/slide29.xml" ContentType="application/vnd.openxmlformats-officedocument.presentationml.slide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notesMasters/notesMaster1.xml" ContentType="application/vnd.openxmlformats-officedocument.presentationml.notesMaster+xml"/>
  <Override PartName="/ppt/notesSlides/notesSlide12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7.xml" ContentType="application/vnd.openxmlformats-officedocument.presentationml.slide+xml"/>
  <Override PartName="/ppt/presentation.xml" ContentType="application/vnd.openxmlformats-officedocument.presentationml.presentation.main+xml"/>
  <Override PartName="/ppt/diagrams/colors5.xml" ContentType="application/vnd.openxmlformats-officedocument.drawingml.diagramColors+xml"/>
  <Override PartName="/ppt/slides/slide2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22.xml" ContentType="application/vnd.openxmlformats-officedocument.presentationml.slide+xml"/>
  <Override PartName="/ppt/diagrams/drawing2.xml" ContentType="application/vnd.ms-office.drawingml.diagramDrawing+xml"/>
  <Override PartName="/ppt/notesSlides/notesSlide16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notesSlides/notesSlide21.xml" ContentType="application/vnd.openxmlformats-officedocument.presentationml.notesSlide+xml"/>
  <Override PartName="/ppt/slides/slide6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10.xml" ContentType="application/vnd.openxmlformats-officedocument.presentationml.slide+xml"/>
  <Override PartName="/ppt/slides/slide26.xml" ContentType="application/vnd.openxmlformats-officedocument.presentationml.slide+xml"/>
  <Override PartName="/ppt/slideLayouts/slideLayout13.xml" ContentType="application/vnd.openxmlformats-officedocument.presentationml.slideLayout+xml"/>
  <Override PartName="/ppt/diagrams/layout4.xml" ContentType="application/vnd.openxmlformats-officedocument.drawingml.diagramLayout+xml"/>
  <Default Extension="pdf" ContentType="application/pdf"/>
  <Override PartName="/ppt/diagrams/data5.xml" ContentType="application/vnd.openxmlformats-officedocument.drawingml.diagramData+xml"/>
  <Override PartName="/ppt/diagrams/quickStyle4.xml" ContentType="application/vnd.openxmlformats-officedocument.drawingml.diagramStyle+xml"/>
  <Default Extension="png" ContentType="image/png"/>
  <Override PartName="/ppt/notesSlides/notesSlide25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id="2147483721" r:id="rId1"/>
  </p:sldMasterIdLst>
  <p:notesMasterIdLst>
    <p:notesMasterId r:id="rId35"/>
  </p:notesMasterIdLst>
  <p:handoutMasterIdLst>
    <p:handoutMasterId r:id="rId36"/>
  </p:handoutMasterIdLst>
  <p:sldIdLst>
    <p:sldId id="318" r:id="rId2"/>
    <p:sldId id="319" r:id="rId3"/>
    <p:sldId id="276" r:id="rId4"/>
    <p:sldId id="322" r:id="rId5"/>
    <p:sldId id="323" r:id="rId6"/>
    <p:sldId id="324" r:id="rId7"/>
    <p:sldId id="325" r:id="rId8"/>
    <p:sldId id="278" r:id="rId9"/>
    <p:sldId id="326" r:id="rId10"/>
    <p:sldId id="327" r:id="rId11"/>
    <p:sldId id="303" r:id="rId12"/>
    <p:sldId id="304" r:id="rId13"/>
    <p:sldId id="296" r:id="rId14"/>
    <p:sldId id="307" r:id="rId15"/>
    <p:sldId id="298" r:id="rId16"/>
    <p:sldId id="328" r:id="rId17"/>
    <p:sldId id="299" r:id="rId18"/>
    <p:sldId id="306" r:id="rId19"/>
    <p:sldId id="301" r:id="rId20"/>
    <p:sldId id="308" r:id="rId21"/>
    <p:sldId id="309" r:id="rId22"/>
    <p:sldId id="329" r:id="rId23"/>
    <p:sldId id="310" r:id="rId24"/>
    <p:sldId id="311" r:id="rId25"/>
    <p:sldId id="312" r:id="rId26"/>
    <p:sldId id="314" r:id="rId27"/>
    <p:sldId id="330" r:id="rId28"/>
    <p:sldId id="331" r:id="rId29"/>
    <p:sldId id="332" r:id="rId30"/>
    <p:sldId id="333" r:id="rId31"/>
    <p:sldId id="334" r:id="rId32"/>
    <p:sldId id="335" r:id="rId33"/>
    <p:sldId id="321" r:id="rId34"/>
  </p:sldIdLst>
  <p:sldSz cx="9144000" cy="6858000" type="screen4x3"/>
  <p:notesSz cx="6858000" cy="9144000"/>
  <p:defaultTextStyle>
    <a:defPPr>
      <a:defRPr lang="en-A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pitchFamily="-84" charset="0"/>
        <a:ea typeface="+mn-ea"/>
        <a:cs typeface="+mn-cs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pitchFamily="-84" charset="0"/>
        <a:ea typeface="+mn-ea"/>
        <a:cs typeface="+mn-cs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pitchFamily="-84" charset="0"/>
        <a:ea typeface="+mn-ea"/>
        <a:cs typeface="+mn-cs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pitchFamily="-8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>
    <p:restoredLeft sz="8760" autoAdjust="0"/>
    <p:restoredTop sz="79374" autoAdjust="0"/>
  </p:normalViewPr>
  <p:slideViewPr>
    <p:cSldViewPr>
      <p:cViewPr>
        <p:scale>
          <a:sx n="110" d="100"/>
          <a:sy n="110" d="100"/>
        </p:scale>
        <p:origin x="-328" y="-3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>
        <p:scale>
          <a:sx n="100" d="100"/>
          <a:sy n="100" d="100"/>
        </p:scale>
        <p:origin x="-1704" y="-976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printerSettings" Target="printerSettings/printerSettings1.bin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diagrams/_rels/drawing5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F72B638-AD8A-7449-B951-8BAE00A25ADC}" type="doc">
      <dgm:prSet loTypeId="urn:microsoft.com/office/officeart/2005/8/layout/arrow3" loCatId="relationship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4D7223F-47AF-9145-AC1D-19E9CEBF0BBA}">
      <dgm:prSet phldrT="[Text]"/>
      <dgm:spPr>
        <a:solidFill>
          <a:schemeClr val="bg1"/>
        </a:solidFill>
        <a:ln>
          <a:solidFill>
            <a:schemeClr val="accent1"/>
          </a:solidFill>
        </a:ln>
      </dgm:spPr>
      <dgm:t>
        <a:bodyPr/>
        <a:lstStyle/>
        <a:p>
          <a:r>
            <a:rPr lang="en-US" dirty="0" smtClean="0"/>
            <a:t>Lower level</a:t>
          </a:r>
          <a:endParaRPr lang="en-US" dirty="0"/>
        </a:p>
      </dgm:t>
    </dgm:pt>
    <dgm:pt modelId="{6AF4A625-D7C6-3C44-BBB6-A35B38728378}" type="parTrans" cxnId="{77194883-A665-AD47-8DA4-B3690A1A4E2F}">
      <dgm:prSet/>
      <dgm:spPr/>
      <dgm:t>
        <a:bodyPr/>
        <a:lstStyle/>
        <a:p>
          <a:endParaRPr lang="en-US"/>
        </a:p>
      </dgm:t>
    </dgm:pt>
    <dgm:pt modelId="{A07E8E10-8C1E-4A4E-9EC7-0E8B471F26A1}" type="sibTrans" cxnId="{77194883-A665-AD47-8DA4-B3690A1A4E2F}">
      <dgm:prSet/>
      <dgm:spPr/>
      <dgm:t>
        <a:bodyPr/>
        <a:lstStyle/>
        <a:p>
          <a:endParaRPr lang="en-US"/>
        </a:p>
      </dgm:t>
    </dgm:pt>
    <dgm:pt modelId="{67CEA14B-DB74-D04C-8843-6765F8ACBA91}">
      <dgm:prSet/>
      <dgm:spPr>
        <a:solidFill>
          <a:schemeClr val="bg1"/>
        </a:solidFill>
        <a:ln>
          <a:solidFill>
            <a:schemeClr val="accent1"/>
          </a:solidFill>
        </a:ln>
      </dgm:spPr>
      <dgm:t>
        <a:bodyPr/>
        <a:lstStyle/>
        <a:p>
          <a:r>
            <a:rPr lang="en-US" dirty="0" smtClean="0"/>
            <a:t>There must be some sort of function that produces an authenticator</a:t>
          </a:r>
        </a:p>
      </dgm:t>
    </dgm:pt>
    <dgm:pt modelId="{F7F87C3D-F34C-324B-8A44-7D3B2BB7365B}" type="parTrans" cxnId="{8E823168-509F-3F4D-81BA-3388C694368C}">
      <dgm:prSet/>
      <dgm:spPr/>
      <dgm:t>
        <a:bodyPr/>
        <a:lstStyle/>
        <a:p>
          <a:endParaRPr lang="en-US"/>
        </a:p>
      </dgm:t>
    </dgm:pt>
    <dgm:pt modelId="{C16D9BF7-F155-E74D-9B94-A842DF9A0FA9}" type="sibTrans" cxnId="{8E823168-509F-3F4D-81BA-3388C694368C}">
      <dgm:prSet/>
      <dgm:spPr/>
      <dgm:t>
        <a:bodyPr/>
        <a:lstStyle/>
        <a:p>
          <a:endParaRPr lang="en-US"/>
        </a:p>
      </dgm:t>
    </dgm:pt>
    <dgm:pt modelId="{70C31672-69CE-724F-96D3-288C76C18F89}">
      <dgm:prSet custT="1"/>
      <dgm:spPr>
        <a:solidFill>
          <a:schemeClr val="bg1"/>
        </a:solidFill>
        <a:ln>
          <a:solidFill>
            <a:schemeClr val="accent1"/>
          </a:solidFill>
        </a:ln>
      </dgm:spPr>
      <dgm:t>
        <a:bodyPr/>
        <a:lstStyle/>
        <a:p>
          <a:r>
            <a:rPr lang="en-US" sz="1900" dirty="0" smtClean="0"/>
            <a:t>Higher-level</a:t>
          </a:r>
        </a:p>
      </dgm:t>
    </dgm:pt>
    <dgm:pt modelId="{61D649B8-315F-F84C-AC9A-3EB95DF24113}" type="parTrans" cxnId="{D7C6FD97-EC24-7E4B-A5CC-63584ED825A0}">
      <dgm:prSet/>
      <dgm:spPr/>
      <dgm:t>
        <a:bodyPr/>
        <a:lstStyle/>
        <a:p>
          <a:endParaRPr lang="en-US"/>
        </a:p>
      </dgm:t>
    </dgm:pt>
    <dgm:pt modelId="{752F9A10-5E69-5F49-A955-00E57BB911F4}" type="sibTrans" cxnId="{D7C6FD97-EC24-7E4B-A5CC-63584ED825A0}">
      <dgm:prSet/>
      <dgm:spPr/>
      <dgm:t>
        <a:bodyPr/>
        <a:lstStyle/>
        <a:p>
          <a:endParaRPr lang="en-US"/>
        </a:p>
      </dgm:t>
    </dgm:pt>
    <dgm:pt modelId="{8BC74112-092F-7A4C-89D4-D59CE6A78249}">
      <dgm:prSet custT="1"/>
      <dgm:spPr>
        <a:solidFill>
          <a:schemeClr val="bg1"/>
        </a:solidFill>
        <a:ln>
          <a:solidFill>
            <a:schemeClr val="accent1"/>
          </a:solidFill>
        </a:ln>
      </dgm:spPr>
      <dgm:t>
        <a:bodyPr/>
        <a:lstStyle/>
        <a:p>
          <a:r>
            <a:rPr lang="en-US" sz="1500" dirty="0" smtClean="0"/>
            <a:t>Uses the lower-level function as a primitive in an authentication protocol that enables a receiver to verify the authenticity of a message</a:t>
          </a:r>
        </a:p>
      </dgm:t>
    </dgm:pt>
    <dgm:pt modelId="{82471070-B302-E541-A717-EB2B13629F6A}" type="parTrans" cxnId="{20DAEC2E-E96C-4143-8582-26AA0290F6F1}">
      <dgm:prSet/>
      <dgm:spPr/>
      <dgm:t>
        <a:bodyPr/>
        <a:lstStyle/>
        <a:p>
          <a:endParaRPr lang="en-US"/>
        </a:p>
      </dgm:t>
    </dgm:pt>
    <dgm:pt modelId="{BFB1E995-2A6C-7646-8CEE-A46E43CC28B0}" type="sibTrans" cxnId="{20DAEC2E-E96C-4143-8582-26AA0290F6F1}">
      <dgm:prSet/>
      <dgm:spPr/>
      <dgm:t>
        <a:bodyPr/>
        <a:lstStyle/>
        <a:p>
          <a:endParaRPr lang="en-US"/>
        </a:p>
      </dgm:t>
    </dgm:pt>
    <dgm:pt modelId="{5B93C41C-15C2-DB4E-BB5F-508419D939D4}" type="pres">
      <dgm:prSet presAssocID="{AF72B638-AD8A-7449-B951-8BAE00A25ADC}" presName="compositeShape" presStyleCnt="0">
        <dgm:presLayoutVars>
          <dgm:chMax val="2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9FEC589-A4ED-E54A-BF89-3911A7F09B0D}" type="pres">
      <dgm:prSet presAssocID="{AF72B638-AD8A-7449-B951-8BAE00A25ADC}" presName="divider" presStyleLbl="fgShp" presStyleIdx="0" presStyleCnt="1"/>
      <dgm:spPr>
        <a:ln>
          <a:solidFill>
            <a:schemeClr val="tx2">
              <a:lumMod val="75000"/>
            </a:schemeClr>
          </a:solidFill>
        </a:ln>
      </dgm:spPr>
      <dgm:t>
        <a:bodyPr/>
        <a:lstStyle/>
        <a:p>
          <a:endParaRPr lang="en-US"/>
        </a:p>
      </dgm:t>
    </dgm:pt>
    <dgm:pt modelId="{0C3C8EB4-2219-0641-85AA-990D74CF09C9}" type="pres">
      <dgm:prSet presAssocID="{74D7223F-47AF-9145-AC1D-19E9CEBF0BBA}" presName="downArrow" presStyleLbl="node1" presStyleIdx="0" presStyleCnt="2" custLinFactNeighborX="1667" custLinFactNeighborY="25636"/>
      <dgm:spPr>
        <a:ln>
          <a:solidFill>
            <a:schemeClr val="tx2">
              <a:lumMod val="75000"/>
            </a:schemeClr>
          </a:solidFill>
        </a:ln>
      </dgm:spPr>
      <dgm:t>
        <a:bodyPr/>
        <a:lstStyle/>
        <a:p>
          <a:endParaRPr lang="en-US"/>
        </a:p>
      </dgm:t>
    </dgm:pt>
    <dgm:pt modelId="{A3AF565A-D8F3-0D47-8B84-CE178EBBD269}" type="pres">
      <dgm:prSet presAssocID="{74D7223F-47AF-9145-AC1D-19E9CEBF0BBA}" presName="downArrowText" presStyleLbl="revTx" presStyleIdx="0" presStyleCnt="2" custScaleX="201562" custScaleY="67716" custLinFactNeighborX="-83594" custLinFactNeighborY="-1614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89A8629-E88D-5B42-AE48-3030A7AF7E25}" type="pres">
      <dgm:prSet presAssocID="{70C31672-69CE-724F-96D3-288C76C18F89}" presName="upArrow" presStyleLbl="node1" presStyleIdx="1" presStyleCnt="2" custLinFactNeighborX="-14167" custLinFactNeighborY="-31568"/>
      <dgm:spPr>
        <a:ln>
          <a:solidFill>
            <a:schemeClr val="tx2">
              <a:lumMod val="75000"/>
            </a:schemeClr>
          </a:solidFill>
        </a:ln>
      </dgm:spPr>
      <dgm:t>
        <a:bodyPr/>
        <a:lstStyle/>
        <a:p>
          <a:endParaRPr lang="en-US"/>
        </a:p>
      </dgm:t>
    </dgm:pt>
    <dgm:pt modelId="{F0458508-C634-8947-BE5F-AF7AD4C41A9B}" type="pres">
      <dgm:prSet presAssocID="{70C31672-69CE-724F-96D3-288C76C18F89}" presName="upArrowText" presStyleLbl="revTx" presStyleIdx="1" presStyleCnt="2" custScaleX="228125" custScaleY="73214" custLinFactNeighborX="87500" custLinFactNeighborY="1396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98AF860-BBD3-0744-ABF1-EF836690592E}" type="presOf" srcId="{74D7223F-47AF-9145-AC1D-19E9CEBF0BBA}" destId="{A3AF565A-D8F3-0D47-8B84-CE178EBBD269}" srcOrd="0" destOrd="0" presId="urn:microsoft.com/office/officeart/2005/8/layout/arrow3"/>
    <dgm:cxn modelId="{1E01CC30-F416-2D47-B332-00601D027063}" type="presOf" srcId="{67CEA14B-DB74-D04C-8843-6765F8ACBA91}" destId="{A3AF565A-D8F3-0D47-8B84-CE178EBBD269}" srcOrd="0" destOrd="1" presId="urn:microsoft.com/office/officeart/2005/8/layout/arrow3"/>
    <dgm:cxn modelId="{E3C84458-FD3A-584B-985D-1FCA58DF13B3}" type="presOf" srcId="{70C31672-69CE-724F-96D3-288C76C18F89}" destId="{F0458508-C634-8947-BE5F-AF7AD4C41A9B}" srcOrd="0" destOrd="0" presId="urn:microsoft.com/office/officeart/2005/8/layout/arrow3"/>
    <dgm:cxn modelId="{D7C6FD97-EC24-7E4B-A5CC-63584ED825A0}" srcId="{AF72B638-AD8A-7449-B951-8BAE00A25ADC}" destId="{70C31672-69CE-724F-96D3-288C76C18F89}" srcOrd="1" destOrd="0" parTransId="{61D649B8-315F-F84C-AC9A-3EB95DF24113}" sibTransId="{752F9A10-5E69-5F49-A955-00E57BB911F4}"/>
    <dgm:cxn modelId="{FB463ED7-7B4D-E34C-9935-CA701BEDFBA2}" type="presOf" srcId="{AF72B638-AD8A-7449-B951-8BAE00A25ADC}" destId="{5B93C41C-15C2-DB4E-BB5F-508419D939D4}" srcOrd="0" destOrd="0" presId="urn:microsoft.com/office/officeart/2005/8/layout/arrow3"/>
    <dgm:cxn modelId="{8E823168-509F-3F4D-81BA-3388C694368C}" srcId="{74D7223F-47AF-9145-AC1D-19E9CEBF0BBA}" destId="{67CEA14B-DB74-D04C-8843-6765F8ACBA91}" srcOrd="0" destOrd="0" parTransId="{F7F87C3D-F34C-324B-8A44-7D3B2BB7365B}" sibTransId="{C16D9BF7-F155-E74D-9B94-A842DF9A0FA9}"/>
    <dgm:cxn modelId="{77194883-A665-AD47-8DA4-B3690A1A4E2F}" srcId="{AF72B638-AD8A-7449-B951-8BAE00A25ADC}" destId="{74D7223F-47AF-9145-AC1D-19E9CEBF0BBA}" srcOrd="0" destOrd="0" parTransId="{6AF4A625-D7C6-3C44-BBB6-A35B38728378}" sibTransId="{A07E8E10-8C1E-4A4E-9EC7-0E8B471F26A1}"/>
    <dgm:cxn modelId="{20DAEC2E-E96C-4143-8582-26AA0290F6F1}" srcId="{70C31672-69CE-724F-96D3-288C76C18F89}" destId="{8BC74112-092F-7A4C-89D4-D59CE6A78249}" srcOrd="0" destOrd="0" parTransId="{82471070-B302-E541-A717-EB2B13629F6A}" sibTransId="{BFB1E995-2A6C-7646-8CEE-A46E43CC28B0}"/>
    <dgm:cxn modelId="{0ECE4F22-AE0F-3A41-995C-1FF3020FDF1C}" type="presOf" srcId="{8BC74112-092F-7A4C-89D4-D59CE6A78249}" destId="{F0458508-C634-8947-BE5F-AF7AD4C41A9B}" srcOrd="0" destOrd="1" presId="urn:microsoft.com/office/officeart/2005/8/layout/arrow3"/>
    <dgm:cxn modelId="{BA0E6BCB-1DB9-174E-A6B5-C6FB7BEC23AA}" type="presParOf" srcId="{5B93C41C-15C2-DB4E-BB5F-508419D939D4}" destId="{29FEC589-A4ED-E54A-BF89-3911A7F09B0D}" srcOrd="0" destOrd="0" presId="urn:microsoft.com/office/officeart/2005/8/layout/arrow3"/>
    <dgm:cxn modelId="{89B9F052-D5F5-624D-9095-5F9ACD1F81B7}" type="presParOf" srcId="{5B93C41C-15C2-DB4E-BB5F-508419D939D4}" destId="{0C3C8EB4-2219-0641-85AA-990D74CF09C9}" srcOrd="1" destOrd="0" presId="urn:microsoft.com/office/officeart/2005/8/layout/arrow3"/>
    <dgm:cxn modelId="{7B596D58-0C4F-4242-8F1D-0ED1AF6B33D7}" type="presParOf" srcId="{5B93C41C-15C2-DB4E-BB5F-508419D939D4}" destId="{A3AF565A-D8F3-0D47-8B84-CE178EBBD269}" srcOrd="2" destOrd="0" presId="urn:microsoft.com/office/officeart/2005/8/layout/arrow3"/>
    <dgm:cxn modelId="{B9FB95AD-F0B2-D94A-A9E9-7F33AE028BED}" type="presParOf" srcId="{5B93C41C-15C2-DB4E-BB5F-508419D939D4}" destId="{F89A8629-E88D-5B42-AE48-3030A7AF7E25}" srcOrd="3" destOrd="0" presId="urn:microsoft.com/office/officeart/2005/8/layout/arrow3"/>
    <dgm:cxn modelId="{7947EC07-796B-1D45-AE45-E510C872BC7D}" type="presParOf" srcId="{5B93C41C-15C2-DB4E-BB5F-508419D939D4}" destId="{F0458508-C634-8947-BE5F-AF7AD4C41A9B}" srcOrd="4" destOrd="0" presId="urn:microsoft.com/office/officeart/2005/8/layout/arrow3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FA3A111-E48B-D04A-9802-D4ADAADA6BCB}" type="doc">
      <dgm:prSet loTypeId="urn:microsoft.com/office/officeart/2005/8/layout/hList6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CBA10EB-1C22-1941-9CA2-8CE732C8EBAD}">
      <dgm:prSet custT="1"/>
      <dgm:spPr>
        <a:solidFill>
          <a:schemeClr val="accent4">
            <a:lumMod val="75000"/>
          </a:schemeClr>
        </a:solidFill>
        <a:ln w="9525">
          <a:solidFill>
            <a:schemeClr val="accent4">
              <a:lumMod val="50000"/>
            </a:schemeClr>
          </a:solidFill>
        </a:ln>
      </dgm:spPr>
      <dgm:t>
        <a:bodyPr/>
        <a:lstStyle/>
        <a:p>
          <a:pPr rtl="0"/>
          <a:r>
            <a:rPr lang="en-US" sz="1500" b="1" i="0" dirty="0" smtClean="0"/>
            <a:t>Taking into account the types of attacks, the MAC needs to satisfy the following:</a:t>
          </a:r>
          <a:endParaRPr lang="en-US" sz="1500" b="1" i="0" dirty="0"/>
        </a:p>
      </dgm:t>
    </dgm:pt>
    <dgm:pt modelId="{C1FD409A-7D3D-B342-92F0-84B14904C029}" type="parTrans" cxnId="{596B313E-F6D2-184B-B874-47C7F5C5C2E9}">
      <dgm:prSet/>
      <dgm:spPr/>
      <dgm:t>
        <a:bodyPr/>
        <a:lstStyle/>
        <a:p>
          <a:endParaRPr lang="en-US"/>
        </a:p>
      </dgm:t>
    </dgm:pt>
    <dgm:pt modelId="{D72F7409-4513-C44F-9AAB-A35D92F0A239}" type="sibTrans" cxnId="{596B313E-F6D2-184B-B874-47C7F5C5C2E9}">
      <dgm:prSet/>
      <dgm:spPr/>
      <dgm:t>
        <a:bodyPr/>
        <a:lstStyle/>
        <a:p>
          <a:endParaRPr lang="en-US"/>
        </a:p>
      </dgm:t>
    </dgm:pt>
    <dgm:pt modelId="{5C6E2059-0A7A-AC45-AE73-D8E53709BAFF}">
      <dgm:prSet custT="1"/>
      <dgm:spPr>
        <a:solidFill>
          <a:schemeClr val="accent4">
            <a:lumMod val="50000"/>
          </a:schemeClr>
        </a:solidFill>
        <a:ln>
          <a:solidFill>
            <a:schemeClr val="accent4">
              <a:lumMod val="60000"/>
              <a:lumOff val="40000"/>
            </a:schemeClr>
          </a:solidFill>
        </a:ln>
      </dgm:spPr>
      <dgm:t>
        <a:bodyPr/>
        <a:lstStyle/>
        <a:p>
          <a:pPr rtl="0"/>
          <a:r>
            <a:rPr lang="en-US" sz="1500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rPr>
            <a:t>The first requirement deals with message replacement attacks, in which an opponent is able to construct a new message to match a given MAC, even though the opponent does not know and does not learn the key</a:t>
          </a:r>
          <a:endParaRPr lang="en-US" sz="1500" b="1" i="0" dirty="0"/>
        </a:p>
      </dgm:t>
    </dgm:pt>
    <dgm:pt modelId="{77276E24-6ABE-BC4C-AA3B-E3330BA3050D}" type="parTrans" cxnId="{81E045BE-C5B5-CD4D-8619-36AFDCEC24AE}">
      <dgm:prSet/>
      <dgm:spPr/>
      <dgm:t>
        <a:bodyPr/>
        <a:lstStyle/>
        <a:p>
          <a:endParaRPr lang="en-US"/>
        </a:p>
      </dgm:t>
    </dgm:pt>
    <dgm:pt modelId="{6F101474-2B48-1B46-AC7D-0AA732D451F2}" type="sibTrans" cxnId="{81E045BE-C5B5-CD4D-8619-36AFDCEC24AE}">
      <dgm:prSet/>
      <dgm:spPr/>
      <dgm:t>
        <a:bodyPr/>
        <a:lstStyle/>
        <a:p>
          <a:endParaRPr lang="en-US"/>
        </a:p>
      </dgm:t>
    </dgm:pt>
    <dgm:pt modelId="{C2F9BED4-26D6-F245-88A2-F2C00DB48E21}">
      <dgm:prSet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rPr>
            <a:t>The second requirement deals with the need to thwart a brute-force attack based on chosen plaintext </a:t>
          </a:r>
        </a:p>
      </dgm:t>
    </dgm:pt>
    <dgm:pt modelId="{65643967-10E1-7649-8DF4-58B2D4BA6D68}" type="parTrans" cxnId="{6AD8840D-FCD7-6D47-A212-973980354AFE}">
      <dgm:prSet/>
      <dgm:spPr/>
      <dgm:t>
        <a:bodyPr/>
        <a:lstStyle/>
        <a:p>
          <a:endParaRPr lang="en-US"/>
        </a:p>
      </dgm:t>
    </dgm:pt>
    <dgm:pt modelId="{D5255347-28A0-4B48-ACE4-043A920FCB04}" type="sibTrans" cxnId="{6AD8840D-FCD7-6D47-A212-973980354AFE}">
      <dgm:prSet/>
      <dgm:spPr/>
      <dgm:t>
        <a:bodyPr/>
        <a:lstStyle/>
        <a:p>
          <a:endParaRPr lang="en-US"/>
        </a:p>
      </dgm:t>
    </dgm:pt>
    <dgm:pt modelId="{CCA63492-BA85-4B43-B825-10226C252786}">
      <dgm:prSet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rPr>
            <a:t>The final requirement dictates that the authentication algorithm should not be weaker with respect to certain parts or bits of the message than others</a:t>
          </a:r>
          <a:endParaRPr lang="en-US" dirty="0">
            <a:latin typeface="Arial" pitchFamily="-84" charset="0"/>
            <a:ea typeface="ＭＳ Ｐゴシック" pitchFamily="-84" charset="-128"/>
            <a:cs typeface="ＭＳ Ｐゴシック" pitchFamily="-84" charset="-128"/>
          </a:endParaRPr>
        </a:p>
      </dgm:t>
    </dgm:pt>
    <dgm:pt modelId="{E6BF384B-20CC-1C4B-8514-6B85ECE9AAB9}" type="parTrans" cxnId="{741D37B3-8E99-4C48-8DBC-CA515D594166}">
      <dgm:prSet/>
      <dgm:spPr/>
      <dgm:t>
        <a:bodyPr/>
        <a:lstStyle/>
        <a:p>
          <a:endParaRPr lang="en-US"/>
        </a:p>
      </dgm:t>
    </dgm:pt>
    <dgm:pt modelId="{6FF7E2F0-3263-224C-A77E-134732036387}" type="sibTrans" cxnId="{741D37B3-8E99-4C48-8DBC-CA515D594166}">
      <dgm:prSet/>
      <dgm:spPr/>
      <dgm:t>
        <a:bodyPr/>
        <a:lstStyle/>
        <a:p>
          <a:endParaRPr lang="en-US"/>
        </a:p>
      </dgm:t>
    </dgm:pt>
    <dgm:pt modelId="{C17C16EB-AA56-B248-9AD5-5B4314CFCFEC}" type="pres">
      <dgm:prSet presAssocID="{AFA3A111-E48B-D04A-9802-D4ADAADA6BCB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455709D-7F47-994B-9CF2-C952C0C6C13D}" type="pres">
      <dgm:prSet presAssocID="{3CBA10EB-1C22-1941-9CA2-8CE732C8EBAD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7E6B469-F59C-224B-A74F-C293C5258DA3}" type="pres">
      <dgm:prSet presAssocID="{D72F7409-4513-C44F-9AAB-A35D92F0A239}" presName="sibTrans" presStyleCnt="0"/>
      <dgm:spPr/>
    </dgm:pt>
    <dgm:pt modelId="{355D249C-4135-264C-9AA4-38F8B8368748}" type="pres">
      <dgm:prSet presAssocID="{5C6E2059-0A7A-AC45-AE73-D8E53709BAFF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445370F-F666-0349-86C4-07DFF3382519}" type="pres">
      <dgm:prSet presAssocID="{6F101474-2B48-1B46-AC7D-0AA732D451F2}" presName="sibTrans" presStyleCnt="0"/>
      <dgm:spPr/>
    </dgm:pt>
    <dgm:pt modelId="{2B5F3EFE-B469-D54B-9DB0-72961539BBD1}" type="pres">
      <dgm:prSet presAssocID="{C2F9BED4-26D6-F245-88A2-F2C00DB48E21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DC41C22-B890-3B47-803F-87F5949072B4}" type="pres">
      <dgm:prSet presAssocID="{D5255347-28A0-4B48-ACE4-043A920FCB04}" presName="sibTrans" presStyleCnt="0"/>
      <dgm:spPr/>
    </dgm:pt>
    <dgm:pt modelId="{378057DA-9A05-9149-8D2C-22685B173615}" type="pres">
      <dgm:prSet presAssocID="{CCA63492-BA85-4B43-B825-10226C252786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32B1982-9BEB-4F44-A7E2-9DEDC92CF6C4}" type="presOf" srcId="{C2F9BED4-26D6-F245-88A2-F2C00DB48E21}" destId="{2B5F3EFE-B469-D54B-9DB0-72961539BBD1}" srcOrd="0" destOrd="0" presId="urn:microsoft.com/office/officeart/2005/8/layout/hList6"/>
    <dgm:cxn modelId="{FE789C3D-5078-2948-A0A1-DDF67972C6A2}" type="presOf" srcId="{AFA3A111-E48B-D04A-9802-D4ADAADA6BCB}" destId="{C17C16EB-AA56-B248-9AD5-5B4314CFCFEC}" srcOrd="0" destOrd="0" presId="urn:microsoft.com/office/officeart/2005/8/layout/hList6"/>
    <dgm:cxn modelId="{9AD5DDD8-FA79-8847-911E-70BFEDE6C96D}" type="presOf" srcId="{CCA63492-BA85-4B43-B825-10226C252786}" destId="{378057DA-9A05-9149-8D2C-22685B173615}" srcOrd="0" destOrd="0" presId="urn:microsoft.com/office/officeart/2005/8/layout/hList6"/>
    <dgm:cxn modelId="{81E045BE-C5B5-CD4D-8619-36AFDCEC24AE}" srcId="{AFA3A111-E48B-D04A-9802-D4ADAADA6BCB}" destId="{5C6E2059-0A7A-AC45-AE73-D8E53709BAFF}" srcOrd="1" destOrd="0" parTransId="{77276E24-6ABE-BC4C-AA3B-E3330BA3050D}" sibTransId="{6F101474-2B48-1B46-AC7D-0AA732D451F2}"/>
    <dgm:cxn modelId="{596B313E-F6D2-184B-B874-47C7F5C5C2E9}" srcId="{AFA3A111-E48B-D04A-9802-D4ADAADA6BCB}" destId="{3CBA10EB-1C22-1941-9CA2-8CE732C8EBAD}" srcOrd="0" destOrd="0" parTransId="{C1FD409A-7D3D-B342-92F0-84B14904C029}" sibTransId="{D72F7409-4513-C44F-9AAB-A35D92F0A239}"/>
    <dgm:cxn modelId="{741D37B3-8E99-4C48-8DBC-CA515D594166}" srcId="{AFA3A111-E48B-D04A-9802-D4ADAADA6BCB}" destId="{CCA63492-BA85-4B43-B825-10226C252786}" srcOrd="3" destOrd="0" parTransId="{E6BF384B-20CC-1C4B-8514-6B85ECE9AAB9}" sibTransId="{6FF7E2F0-3263-224C-A77E-134732036387}"/>
    <dgm:cxn modelId="{6AD8840D-FCD7-6D47-A212-973980354AFE}" srcId="{AFA3A111-E48B-D04A-9802-D4ADAADA6BCB}" destId="{C2F9BED4-26D6-F245-88A2-F2C00DB48E21}" srcOrd="2" destOrd="0" parTransId="{65643967-10E1-7649-8DF4-58B2D4BA6D68}" sibTransId="{D5255347-28A0-4B48-ACE4-043A920FCB04}"/>
    <dgm:cxn modelId="{E5B1176D-9415-244A-82F7-D6A6ECB96582}" type="presOf" srcId="{3CBA10EB-1C22-1941-9CA2-8CE732C8EBAD}" destId="{0455709D-7F47-994B-9CF2-C952C0C6C13D}" srcOrd="0" destOrd="0" presId="urn:microsoft.com/office/officeart/2005/8/layout/hList6"/>
    <dgm:cxn modelId="{7C28916D-5FA0-B649-86C5-6622FAECD4A2}" type="presOf" srcId="{5C6E2059-0A7A-AC45-AE73-D8E53709BAFF}" destId="{355D249C-4135-264C-9AA4-38F8B8368748}" srcOrd="0" destOrd="0" presId="urn:microsoft.com/office/officeart/2005/8/layout/hList6"/>
    <dgm:cxn modelId="{C31A817A-1A20-1F48-846A-9C5F07F52D8C}" type="presParOf" srcId="{C17C16EB-AA56-B248-9AD5-5B4314CFCFEC}" destId="{0455709D-7F47-994B-9CF2-C952C0C6C13D}" srcOrd="0" destOrd="0" presId="urn:microsoft.com/office/officeart/2005/8/layout/hList6"/>
    <dgm:cxn modelId="{F8B72E8E-EDFC-9742-A5D2-0CF492E4E480}" type="presParOf" srcId="{C17C16EB-AA56-B248-9AD5-5B4314CFCFEC}" destId="{27E6B469-F59C-224B-A74F-C293C5258DA3}" srcOrd="1" destOrd="0" presId="urn:microsoft.com/office/officeart/2005/8/layout/hList6"/>
    <dgm:cxn modelId="{5DA308D9-DED7-544C-8C9E-48511C7F45F8}" type="presParOf" srcId="{C17C16EB-AA56-B248-9AD5-5B4314CFCFEC}" destId="{355D249C-4135-264C-9AA4-38F8B8368748}" srcOrd="2" destOrd="0" presId="urn:microsoft.com/office/officeart/2005/8/layout/hList6"/>
    <dgm:cxn modelId="{B14CE1D9-65BD-9440-8C28-B484C9BE00A9}" type="presParOf" srcId="{C17C16EB-AA56-B248-9AD5-5B4314CFCFEC}" destId="{7445370F-F666-0349-86C4-07DFF3382519}" srcOrd="3" destOrd="0" presId="urn:microsoft.com/office/officeart/2005/8/layout/hList6"/>
    <dgm:cxn modelId="{C4FA6222-C582-3247-AB76-00AC8575352F}" type="presParOf" srcId="{C17C16EB-AA56-B248-9AD5-5B4314CFCFEC}" destId="{2B5F3EFE-B469-D54B-9DB0-72961539BBD1}" srcOrd="4" destOrd="0" presId="urn:microsoft.com/office/officeart/2005/8/layout/hList6"/>
    <dgm:cxn modelId="{127C103D-068F-8842-ACE3-0118F7077A54}" type="presParOf" srcId="{C17C16EB-AA56-B248-9AD5-5B4314CFCFEC}" destId="{EDC41C22-B890-3B47-803F-87F5949072B4}" srcOrd="5" destOrd="0" presId="urn:microsoft.com/office/officeart/2005/8/layout/hList6"/>
    <dgm:cxn modelId="{FF5062E3-3F0F-614A-9895-AF0D534F4B10}" type="presParOf" srcId="{C17C16EB-AA56-B248-9AD5-5B4314CFCFEC}" destId="{378057DA-9A05-9149-8D2C-22685B173615}" srcOrd="6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AE1A683-C76F-704D-9D74-E344CC31C19D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B393EEA-9F13-4A49-99EA-CD64AA9B220B}">
      <dgm:prSet phldrT="[Text]" custT="1"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en-US" sz="2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Two lines of attack:</a:t>
          </a:r>
          <a:endParaRPr lang="en-US" sz="24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74825F1-4630-4C45-BFBA-56610836BEE1}" type="parTrans" cxnId="{1784A961-40B2-3941-A989-F1C797EA9D1F}">
      <dgm:prSet/>
      <dgm:spPr/>
      <dgm:t>
        <a:bodyPr/>
        <a:lstStyle/>
        <a:p>
          <a:endParaRPr lang="en-US"/>
        </a:p>
      </dgm:t>
    </dgm:pt>
    <dgm:pt modelId="{C52AC6E2-8EA9-AC47-BE7C-8D3BE26B1BA4}" type="sibTrans" cxnId="{1784A961-40B2-3941-A989-F1C797EA9D1F}">
      <dgm:prSet/>
      <dgm:spPr/>
      <dgm:t>
        <a:bodyPr/>
        <a:lstStyle/>
        <a:p>
          <a:endParaRPr lang="en-US"/>
        </a:p>
      </dgm:t>
    </dgm:pt>
    <dgm:pt modelId="{5F2E5BEB-23DF-D748-85E5-305EAB34E0C9}">
      <dgm:prSet/>
      <dgm:spPr/>
      <dgm:t>
        <a:bodyPr/>
        <a:lstStyle/>
        <a:p>
          <a:r>
            <a:rPr lang="en-US" dirty="0" smtClean="0"/>
            <a:t>Attack the key space</a:t>
          </a:r>
        </a:p>
      </dgm:t>
    </dgm:pt>
    <dgm:pt modelId="{70472AD4-D62C-1349-B504-CBAB3AB0B362}" type="parTrans" cxnId="{0D6A7100-23FB-9048-AD2A-56CC2F7E93AD}">
      <dgm:prSet/>
      <dgm:spPr/>
      <dgm:t>
        <a:bodyPr/>
        <a:lstStyle/>
        <a:p>
          <a:endParaRPr lang="en-US"/>
        </a:p>
      </dgm:t>
    </dgm:pt>
    <dgm:pt modelId="{13AD9DA9-25A8-174C-B386-5B6349C5CA7D}" type="sibTrans" cxnId="{0D6A7100-23FB-9048-AD2A-56CC2F7E93AD}">
      <dgm:prSet/>
      <dgm:spPr/>
      <dgm:t>
        <a:bodyPr/>
        <a:lstStyle/>
        <a:p>
          <a:endParaRPr lang="en-US"/>
        </a:p>
      </dgm:t>
    </dgm:pt>
    <dgm:pt modelId="{61887180-40B5-FA4B-9572-9642BA17A657}">
      <dgm:prSet/>
      <dgm:spPr/>
      <dgm:t>
        <a:bodyPr/>
        <a:lstStyle/>
        <a:p>
          <a:r>
            <a:rPr lang="en-US" dirty="0" smtClean="0"/>
            <a:t>If an attacker can determine the MAC key then it is possible to generate a valid MAC value for any input </a:t>
          </a:r>
          <a:r>
            <a:rPr lang="en-US" i="1" dirty="0" smtClean="0"/>
            <a:t>x</a:t>
          </a:r>
          <a:endParaRPr lang="en-US" dirty="0" smtClean="0"/>
        </a:p>
      </dgm:t>
    </dgm:pt>
    <dgm:pt modelId="{E73617C7-FCD6-0E4A-813C-7EF1C902D6E1}" type="parTrans" cxnId="{D3DDD90A-5420-F544-9F70-62EED2A0CAA1}">
      <dgm:prSet/>
      <dgm:spPr/>
      <dgm:t>
        <a:bodyPr/>
        <a:lstStyle/>
        <a:p>
          <a:endParaRPr lang="en-US"/>
        </a:p>
      </dgm:t>
    </dgm:pt>
    <dgm:pt modelId="{8FC7E0A3-C899-334B-B445-DF783FF9D11D}" type="sibTrans" cxnId="{D3DDD90A-5420-F544-9F70-62EED2A0CAA1}">
      <dgm:prSet/>
      <dgm:spPr/>
      <dgm:t>
        <a:bodyPr/>
        <a:lstStyle/>
        <a:p>
          <a:endParaRPr lang="en-US"/>
        </a:p>
      </dgm:t>
    </dgm:pt>
    <dgm:pt modelId="{B411E2EB-8F5B-094A-856D-8DDB595B5D51}">
      <dgm:prSet/>
      <dgm:spPr/>
      <dgm:t>
        <a:bodyPr/>
        <a:lstStyle/>
        <a:p>
          <a:r>
            <a:rPr lang="en-US" dirty="0" smtClean="0"/>
            <a:t>Attack the MAC value</a:t>
          </a:r>
        </a:p>
      </dgm:t>
    </dgm:pt>
    <dgm:pt modelId="{7716700B-E215-B443-A9BD-46120C2EEB9E}" type="parTrans" cxnId="{0E9DA170-4143-CB43-BA82-C4DCC65DA0B1}">
      <dgm:prSet/>
      <dgm:spPr/>
      <dgm:t>
        <a:bodyPr/>
        <a:lstStyle/>
        <a:p>
          <a:endParaRPr lang="en-US"/>
        </a:p>
      </dgm:t>
    </dgm:pt>
    <dgm:pt modelId="{9A86E25E-6D5F-2D4D-840E-0B69254F5409}" type="sibTrans" cxnId="{0E9DA170-4143-CB43-BA82-C4DCC65DA0B1}">
      <dgm:prSet/>
      <dgm:spPr/>
      <dgm:t>
        <a:bodyPr/>
        <a:lstStyle/>
        <a:p>
          <a:endParaRPr lang="en-US"/>
        </a:p>
      </dgm:t>
    </dgm:pt>
    <dgm:pt modelId="{424D0F57-C852-2345-B6A1-A007F50013F8}">
      <dgm:prSet/>
      <dgm:spPr/>
      <dgm:t>
        <a:bodyPr/>
        <a:lstStyle/>
        <a:p>
          <a:r>
            <a:rPr lang="en-US" dirty="0" smtClean="0"/>
            <a:t>Objective is to generate a valid tag for a given message or to find a message that matches a given tag</a:t>
          </a:r>
        </a:p>
      </dgm:t>
    </dgm:pt>
    <dgm:pt modelId="{C47C2AEF-9B60-B445-BC9C-8400EFE2D382}" type="parTrans" cxnId="{58B2AB23-F943-3343-8B36-EC5617DB77AE}">
      <dgm:prSet/>
      <dgm:spPr/>
      <dgm:t>
        <a:bodyPr/>
        <a:lstStyle/>
        <a:p>
          <a:endParaRPr lang="en-US"/>
        </a:p>
      </dgm:t>
    </dgm:pt>
    <dgm:pt modelId="{7D88E974-1797-694E-9BCF-4F598C1F6943}" type="sibTrans" cxnId="{58B2AB23-F943-3343-8B36-EC5617DB77AE}">
      <dgm:prSet/>
      <dgm:spPr/>
      <dgm:t>
        <a:bodyPr/>
        <a:lstStyle/>
        <a:p>
          <a:endParaRPr lang="en-US"/>
        </a:p>
      </dgm:t>
    </dgm:pt>
    <dgm:pt modelId="{24A8D4AD-C69F-ED4A-9928-4DCF52D3349F}" type="pres">
      <dgm:prSet presAssocID="{4AE1A683-C76F-704D-9D74-E344CC31C19D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66606F7-135E-134C-B693-7F78F68BD153}" type="pres">
      <dgm:prSet presAssocID="{BB393EEA-9F13-4A49-99EA-CD64AA9B220B}" presName="parentLin" presStyleCnt="0"/>
      <dgm:spPr/>
    </dgm:pt>
    <dgm:pt modelId="{71DE5AED-1534-0345-BEB9-A1B28CC987BF}" type="pres">
      <dgm:prSet presAssocID="{BB393EEA-9F13-4A49-99EA-CD64AA9B220B}" presName="parentLeftMargin" presStyleLbl="node1" presStyleIdx="0" presStyleCnt="1"/>
      <dgm:spPr/>
      <dgm:t>
        <a:bodyPr/>
        <a:lstStyle/>
        <a:p>
          <a:endParaRPr lang="en-US"/>
        </a:p>
      </dgm:t>
    </dgm:pt>
    <dgm:pt modelId="{152F7F99-21E6-FA41-9A9B-75F753A7D577}" type="pres">
      <dgm:prSet presAssocID="{BB393EEA-9F13-4A49-99EA-CD64AA9B220B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B55ADE1-9A13-4C49-9ADE-41CA06C67FE4}" type="pres">
      <dgm:prSet presAssocID="{BB393EEA-9F13-4A49-99EA-CD64AA9B220B}" presName="negativeSpace" presStyleCnt="0"/>
      <dgm:spPr/>
    </dgm:pt>
    <dgm:pt modelId="{D6CF82A7-2676-8E4E-8979-085535B19D56}" type="pres">
      <dgm:prSet presAssocID="{BB393EEA-9F13-4A49-99EA-CD64AA9B220B}" presName="childText" presStyleLbl="conFgAcc1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02FAB08-1304-2645-BDFB-2F48BAD6BE45}" type="presOf" srcId="{4AE1A683-C76F-704D-9D74-E344CC31C19D}" destId="{24A8D4AD-C69F-ED4A-9928-4DCF52D3349F}" srcOrd="0" destOrd="0" presId="urn:microsoft.com/office/officeart/2005/8/layout/list1"/>
    <dgm:cxn modelId="{7E373E3D-8099-D34C-999A-E09F582D30FA}" type="presOf" srcId="{61887180-40B5-FA4B-9572-9642BA17A657}" destId="{D6CF82A7-2676-8E4E-8979-085535B19D56}" srcOrd="0" destOrd="1" presId="urn:microsoft.com/office/officeart/2005/8/layout/list1"/>
    <dgm:cxn modelId="{9BFD1455-B533-CB4E-AF97-CC5E405BB029}" type="presOf" srcId="{5F2E5BEB-23DF-D748-85E5-305EAB34E0C9}" destId="{D6CF82A7-2676-8E4E-8979-085535B19D56}" srcOrd="0" destOrd="0" presId="urn:microsoft.com/office/officeart/2005/8/layout/list1"/>
    <dgm:cxn modelId="{D2BF3E8B-759F-CA4C-A33D-31EB7DAFF701}" type="presOf" srcId="{B411E2EB-8F5B-094A-856D-8DDB595B5D51}" destId="{D6CF82A7-2676-8E4E-8979-085535B19D56}" srcOrd="0" destOrd="2" presId="urn:microsoft.com/office/officeart/2005/8/layout/list1"/>
    <dgm:cxn modelId="{0D6A7100-23FB-9048-AD2A-56CC2F7E93AD}" srcId="{BB393EEA-9F13-4A49-99EA-CD64AA9B220B}" destId="{5F2E5BEB-23DF-D748-85E5-305EAB34E0C9}" srcOrd="0" destOrd="0" parTransId="{70472AD4-D62C-1349-B504-CBAB3AB0B362}" sibTransId="{13AD9DA9-25A8-174C-B386-5B6349C5CA7D}"/>
    <dgm:cxn modelId="{35FF34F7-6FCA-7248-9E0E-FA7BFE7D2773}" type="presOf" srcId="{424D0F57-C852-2345-B6A1-A007F50013F8}" destId="{D6CF82A7-2676-8E4E-8979-085535B19D56}" srcOrd="0" destOrd="3" presId="urn:microsoft.com/office/officeart/2005/8/layout/list1"/>
    <dgm:cxn modelId="{E1F29592-D23C-0A4B-90E1-8DFBBC4268B5}" type="presOf" srcId="{BB393EEA-9F13-4A49-99EA-CD64AA9B220B}" destId="{71DE5AED-1534-0345-BEB9-A1B28CC987BF}" srcOrd="0" destOrd="0" presId="urn:microsoft.com/office/officeart/2005/8/layout/list1"/>
    <dgm:cxn modelId="{0E9DA170-4143-CB43-BA82-C4DCC65DA0B1}" srcId="{BB393EEA-9F13-4A49-99EA-CD64AA9B220B}" destId="{B411E2EB-8F5B-094A-856D-8DDB595B5D51}" srcOrd="1" destOrd="0" parTransId="{7716700B-E215-B443-A9BD-46120C2EEB9E}" sibTransId="{9A86E25E-6D5F-2D4D-840E-0B69254F5409}"/>
    <dgm:cxn modelId="{58B2AB23-F943-3343-8B36-EC5617DB77AE}" srcId="{B411E2EB-8F5B-094A-856D-8DDB595B5D51}" destId="{424D0F57-C852-2345-B6A1-A007F50013F8}" srcOrd="0" destOrd="0" parTransId="{C47C2AEF-9B60-B445-BC9C-8400EFE2D382}" sibTransId="{7D88E974-1797-694E-9BCF-4F598C1F6943}"/>
    <dgm:cxn modelId="{86BDD6B1-1D78-AA46-82E2-61347261B3EF}" type="presOf" srcId="{BB393EEA-9F13-4A49-99EA-CD64AA9B220B}" destId="{152F7F99-21E6-FA41-9A9B-75F753A7D577}" srcOrd="1" destOrd="0" presId="urn:microsoft.com/office/officeart/2005/8/layout/list1"/>
    <dgm:cxn modelId="{1784A961-40B2-3941-A989-F1C797EA9D1F}" srcId="{4AE1A683-C76F-704D-9D74-E344CC31C19D}" destId="{BB393EEA-9F13-4A49-99EA-CD64AA9B220B}" srcOrd="0" destOrd="0" parTransId="{574825F1-4630-4C45-BFBA-56610836BEE1}" sibTransId="{C52AC6E2-8EA9-AC47-BE7C-8D3BE26B1BA4}"/>
    <dgm:cxn modelId="{D3DDD90A-5420-F544-9F70-62EED2A0CAA1}" srcId="{5F2E5BEB-23DF-D748-85E5-305EAB34E0C9}" destId="{61887180-40B5-FA4B-9572-9642BA17A657}" srcOrd="0" destOrd="0" parTransId="{E73617C7-FCD6-0E4A-813C-7EF1C902D6E1}" sibTransId="{8FC7E0A3-C899-334B-B445-DF783FF9D11D}"/>
    <dgm:cxn modelId="{564AFABB-C66E-3A48-87B6-1D2D936E0423}" type="presParOf" srcId="{24A8D4AD-C69F-ED4A-9928-4DCF52D3349F}" destId="{066606F7-135E-134C-B693-7F78F68BD153}" srcOrd="0" destOrd="0" presId="urn:microsoft.com/office/officeart/2005/8/layout/list1"/>
    <dgm:cxn modelId="{9ECF51A0-2397-A74D-87C0-CA8648556068}" type="presParOf" srcId="{066606F7-135E-134C-B693-7F78F68BD153}" destId="{71DE5AED-1534-0345-BEB9-A1B28CC987BF}" srcOrd="0" destOrd="0" presId="urn:microsoft.com/office/officeart/2005/8/layout/list1"/>
    <dgm:cxn modelId="{07A6290F-27E7-C849-81BA-ED53EDFE4DFB}" type="presParOf" srcId="{066606F7-135E-134C-B693-7F78F68BD153}" destId="{152F7F99-21E6-FA41-9A9B-75F753A7D577}" srcOrd="1" destOrd="0" presId="urn:microsoft.com/office/officeart/2005/8/layout/list1"/>
    <dgm:cxn modelId="{006355B4-9BCD-6B4B-93C2-B54EA0D1D358}" type="presParOf" srcId="{24A8D4AD-C69F-ED4A-9928-4DCF52D3349F}" destId="{BB55ADE1-9A13-4C49-9ADE-41CA06C67FE4}" srcOrd="1" destOrd="0" presId="urn:microsoft.com/office/officeart/2005/8/layout/list1"/>
    <dgm:cxn modelId="{50A650F8-57BE-EB43-AFC9-02BB9CB60C70}" type="presParOf" srcId="{24A8D4AD-C69F-ED4A-9928-4DCF52D3349F}" destId="{D6CF82A7-2676-8E4E-8979-085535B19D56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526569A-AE62-B746-BB5B-AC7695D00F27}" type="doc">
      <dgm:prSet loTypeId="urn:microsoft.com/office/officeart/2005/8/layout/target2" loCatId="relationship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365929F-6A97-8E40-8CD4-4EFA86F61279}">
      <dgm:prSet custT="1"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pPr rtl="0"/>
          <a:r>
            <a:rPr lang="en-US" sz="4800" dirty="0" smtClean="0">
              <a:solidFill>
                <a:schemeClr val="tx2"/>
              </a:solidFill>
            </a:rPr>
            <a:t>RFC 2104 lists the following objectives for HMAC:</a:t>
          </a:r>
          <a:endParaRPr lang="en-US" sz="4800" dirty="0">
            <a:solidFill>
              <a:schemeClr val="tx2"/>
            </a:solidFill>
          </a:endParaRPr>
        </a:p>
      </dgm:t>
    </dgm:pt>
    <dgm:pt modelId="{3937DD3D-A4B1-4D4B-876A-8C05E1AC9F31}" type="parTrans" cxnId="{02067413-73CF-BA40-AD9F-B685F316F1C2}">
      <dgm:prSet/>
      <dgm:spPr/>
      <dgm:t>
        <a:bodyPr/>
        <a:lstStyle/>
        <a:p>
          <a:endParaRPr lang="en-US"/>
        </a:p>
      </dgm:t>
    </dgm:pt>
    <dgm:pt modelId="{4467C0C8-0673-7447-98F7-F9F057B41BB2}" type="sibTrans" cxnId="{02067413-73CF-BA40-AD9F-B685F316F1C2}">
      <dgm:prSet/>
      <dgm:spPr/>
      <dgm:t>
        <a:bodyPr/>
        <a:lstStyle/>
        <a:p>
          <a:endParaRPr lang="en-US"/>
        </a:p>
      </dgm:t>
    </dgm:pt>
    <dgm:pt modelId="{4622F92A-3AA7-2B43-B3D0-D8782231C05D}">
      <dgm:prSet/>
      <dgm:spPr/>
      <dgm:t>
        <a:bodyPr/>
        <a:lstStyle/>
        <a:p>
          <a:pPr rtl="0"/>
          <a:r>
            <a:rPr lang="en-US" b="1" dirty="0" smtClean="0">
              <a:solidFill>
                <a:schemeClr val="tx2"/>
              </a:solidFill>
            </a:rPr>
            <a:t>To use, without modifications, available hash functions</a:t>
          </a:r>
          <a:endParaRPr lang="en-US" b="1" dirty="0">
            <a:solidFill>
              <a:schemeClr val="tx2"/>
            </a:solidFill>
          </a:endParaRPr>
        </a:p>
      </dgm:t>
    </dgm:pt>
    <dgm:pt modelId="{EDB97557-A220-A140-BA96-194E34AC9BAB}" type="parTrans" cxnId="{AD53D4D2-FF1F-1F43-9C6F-74702C0D0545}">
      <dgm:prSet/>
      <dgm:spPr/>
      <dgm:t>
        <a:bodyPr/>
        <a:lstStyle/>
        <a:p>
          <a:endParaRPr lang="en-US"/>
        </a:p>
      </dgm:t>
    </dgm:pt>
    <dgm:pt modelId="{B40C41B4-FF90-8248-9854-A3E2A9BD03DC}" type="sibTrans" cxnId="{AD53D4D2-FF1F-1F43-9C6F-74702C0D0545}">
      <dgm:prSet/>
      <dgm:spPr/>
      <dgm:t>
        <a:bodyPr/>
        <a:lstStyle/>
        <a:p>
          <a:endParaRPr lang="en-US"/>
        </a:p>
      </dgm:t>
    </dgm:pt>
    <dgm:pt modelId="{9C50E5ED-63CC-1149-8BAE-E69B690D1E06}">
      <dgm:prSet/>
      <dgm:spPr/>
      <dgm:t>
        <a:bodyPr/>
        <a:lstStyle/>
        <a:p>
          <a:pPr rtl="0"/>
          <a:r>
            <a:rPr lang="en-US" b="1" dirty="0" smtClean="0">
              <a:solidFill>
                <a:schemeClr val="tx2"/>
              </a:solidFill>
            </a:rPr>
            <a:t>To allow for easy replaceability of the embedded hash function in case faster or more secure hash functions are found or required</a:t>
          </a:r>
          <a:endParaRPr lang="en-US" b="1" dirty="0">
            <a:solidFill>
              <a:schemeClr val="tx2"/>
            </a:solidFill>
          </a:endParaRPr>
        </a:p>
      </dgm:t>
    </dgm:pt>
    <dgm:pt modelId="{BDD85B83-C692-4E43-B7CC-673FCF9837E7}" type="parTrans" cxnId="{F3846F26-78BC-AD44-A815-9428B4DB84EA}">
      <dgm:prSet/>
      <dgm:spPr/>
      <dgm:t>
        <a:bodyPr/>
        <a:lstStyle/>
        <a:p>
          <a:endParaRPr lang="en-US"/>
        </a:p>
      </dgm:t>
    </dgm:pt>
    <dgm:pt modelId="{EFBD36FB-8C62-8C4E-B220-DDD5E0B2AC6B}" type="sibTrans" cxnId="{F3846F26-78BC-AD44-A815-9428B4DB84EA}">
      <dgm:prSet/>
      <dgm:spPr/>
      <dgm:t>
        <a:bodyPr/>
        <a:lstStyle/>
        <a:p>
          <a:endParaRPr lang="en-US"/>
        </a:p>
      </dgm:t>
    </dgm:pt>
    <dgm:pt modelId="{00433D6B-0AB4-1540-83C2-FF2B4D951E07}">
      <dgm:prSet/>
      <dgm:spPr/>
      <dgm:t>
        <a:bodyPr/>
        <a:lstStyle/>
        <a:p>
          <a:pPr rtl="0"/>
          <a:r>
            <a:rPr lang="en-US" b="1" dirty="0" smtClean="0">
              <a:solidFill>
                <a:schemeClr val="tx2"/>
              </a:solidFill>
            </a:rPr>
            <a:t>To preserve the original performance of the hash function without incurring a significant degradation</a:t>
          </a:r>
          <a:endParaRPr lang="en-US" b="1" dirty="0">
            <a:solidFill>
              <a:schemeClr val="tx2"/>
            </a:solidFill>
          </a:endParaRPr>
        </a:p>
      </dgm:t>
    </dgm:pt>
    <dgm:pt modelId="{151B043F-E7F7-F948-9F53-ECC5DFC19709}" type="parTrans" cxnId="{F69BDD47-4460-EB4B-A615-0A0158437D51}">
      <dgm:prSet/>
      <dgm:spPr/>
      <dgm:t>
        <a:bodyPr/>
        <a:lstStyle/>
        <a:p>
          <a:endParaRPr lang="en-US"/>
        </a:p>
      </dgm:t>
    </dgm:pt>
    <dgm:pt modelId="{7BD916DD-EC90-B74B-A81A-5CB8C4A5CBE2}" type="sibTrans" cxnId="{F69BDD47-4460-EB4B-A615-0A0158437D51}">
      <dgm:prSet/>
      <dgm:spPr/>
      <dgm:t>
        <a:bodyPr/>
        <a:lstStyle/>
        <a:p>
          <a:endParaRPr lang="en-US"/>
        </a:p>
      </dgm:t>
    </dgm:pt>
    <dgm:pt modelId="{20EEABE1-B58F-974D-A412-BC17F78D4D01}">
      <dgm:prSet/>
      <dgm:spPr/>
      <dgm:t>
        <a:bodyPr/>
        <a:lstStyle/>
        <a:p>
          <a:pPr rtl="0"/>
          <a:r>
            <a:rPr lang="en-US" b="1" dirty="0" smtClean="0">
              <a:solidFill>
                <a:schemeClr val="tx2"/>
              </a:solidFill>
            </a:rPr>
            <a:t>To use and handle keys in a simple way</a:t>
          </a:r>
          <a:endParaRPr lang="en-US" b="1" dirty="0">
            <a:solidFill>
              <a:schemeClr val="tx2"/>
            </a:solidFill>
          </a:endParaRPr>
        </a:p>
      </dgm:t>
    </dgm:pt>
    <dgm:pt modelId="{95FE3A99-AD97-CB47-81FC-A9C03D71D5FD}" type="parTrans" cxnId="{B40C32D7-6B25-DC4B-947D-94A461BDD63E}">
      <dgm:prSet/>
      <dgm:spPr/>
      <dgm:t>
        <a:bodyPr/>
        <a:lstStyle/>
        <a:p>
          <a:endParaRPr lang="en-US"/>
        </a:p>
      </dgm:t>
    </dgm:pt>
    <dgm:pt modelId="{84E8F63F-11DE-6F41-A94F-6A307BDC03BA}" type="sibTrans" cxnId="{B40C32D7-6B25-DC4B-947D-94A461BDD63E}">
      <dgm:prSet/>
      <dgm:spPr/>
      <dgm:t>
        <a:bodyPr/>
        <a:lstStyle/>
        <a:p>
          <a:endParaRPr lang="en-US"/>
        </a:p>
      </dgm:t>
    </dgm:pt>
    <dgm:pt modelId="{1DE2C16C-646C-EE4E-9823-AFED9EE0ADDF}">
      <dgm:prSet/>
      <dgm:spPr/>
      <dgm:t>
        <a:bodyPr/>
        <a:lstStyle/>
        <a:p>
          <a:pPr rtl="0"/>
          <a:r>
            <a:rPr lang="en-US" b="1" dirty="0" smtClean="0">
              <a:solidFill>
                <a:schemeClr val="tx2"/>
              </a:solidFill>
            </a:rPr>
            <a:t>To have a well understood cryptographic analysis of the strength of the authentication mechanism based on reasonable assumptions about the embedded hash function</a:t>
          </a:r>
          <a:endParaRPr lang="en-US" b="1" dirty="0">
            <a:solidFill>
              <a:schemeClr val="tx2"/>
            </a:solidFill>
          </a:endParaRPr>
        </a:p>
      </dgm:t>
    </dgm:pt>
    <dgm:pt modelId="{84CC77A4-C3A0-D34F-809C-C5894EEFD8CB}" type="parTrans" cxnId="{58C33716-E3F4-CF42-8228-34F9DAF80A9A}">
      <dgm:prSet/>
      <dgm:spPr/>
      <dgm:t>
        <a:bodyPr/>
        <a:lstStyle/>
        <a:p>
          <a:endParaRPr lang="en-US"/>
        </a:p>
      </dgm:t>
    </dgm:pt>
    <dgm:pt modelId="{BB22FE48-A64B-B84D-A3BD-C51ABC26BF9E}" type="sibTrans" cxnId="{58C33716-E3F4-CF42-8228-34F9DAF80A9A}">
      <dgm:prSet/>
      <dgm:spPr/>
      <dgm:t>
        <a:bodyPr/>
        <a:lstStyle/>
        <a:p>
          <a:endParaRPr lang="en-US"/>
        </a:p>
      </dgm:t>
    </dgm:pt>
    <dgm:pt modelId="{C518AD32-CDBE-744D-959C-8B87959F8F46}" type="pres">
      <dgm:prSet presAssocID="{C526569A-AE62-B746-BB5B-AC7695D00F27}" presName="Name0" presStyleCnt="0">
        <dgm:presLayoutVars>
          <dgm:chMax val="3"/>
          <dgm:chPref val="1"/>
          <dgm:dir/>
          <dgm:animLvl val="lvl"/>
          <dgm:resizeHandles/>
        </dgm:presLayoutVars>
      </dgm:prSet>
      <dgm:spPr/>
    </dgm:pt>
    <dgm:pt modelId="{01B120E2-1FB1-CA4C-BCBC-FA7ED0A4DAB8}" type="pres">
      <dgm:prSet presAssocID="{C526569A-AE62-B746-BB5B-AC7695D00F27}" presName="outerBox" presStyleCnt="0"/>
      <dgm:spPr/>
    </dgm:pt>
    <dgm:pt modelId="{068624DD-0A7D-554B-A75A-B4E34354BC80}" type="pres">
      <dgm:prSet presAssocID="{C526569A-AE62-B746-BB5B-AC7695D00F27}" presName="outerBoxParent" presStyleLbl="node1" presStyleIdx="0" presStyleCnt="1"/>
      <dgm:spPr/>
    </dgm:pt>
    <dgm:pt modelId="{44AE7531-A029-AD4A-9E5A-E1745ED63FF2}" type="pres">
      <dgm:prSet presAssocID="{C526569A-AE62-B746-BB5B-AC7695D00F27}" presName="outerBoxChildren" presStyleCnt="0"/>
      <dgm:spPr/>
    </dgm:pt>
    <dgm:pt modelId="{0B217A4E-9520-6E48-AB1B-DAFAFD904723}" type="pres">
      <dgm:prSet presAssocID="{4622F92A-3AA7-2B43-B3D0-D8782231C05D}" presName="oChild" presStyleLbl="fgAcc1" presStyleIdx="0" presStyleCnt="5">
        <dgm:presLayoutVars>
          <dgm:bulletEnabled val="1"/>
        </dgm:presLayoutVars>
      </dgm:prSet>
      <dgm:spPr/>
    </dgm:pt>
    <dgm:pt modelId="{D2A1A3B3-31B3-E04C-BAED-4B1B3B9D9C1C}" type="pres">
      <dgm:prSet presAssocID="{B40C41B4-FF90-8248-9854-A3E2A9BD03DC}" presName="outerSibTrans" presStyleCnt="0"/>
      <dgm:spPr/>
    </dgm:pt>
    <dgm:pt modelId="{B17BB1E3-FB89-FF4C-91D8-38EA9CB943F9}" type="pres">
      <dgm:prSet presAssocID="{9C50E5ED-63CC-1149-8BAE-E69B690D1E06}" presName="oChild" presStyleLbl="fgAcc1" presStyleIdx="1" presStyleCnt="5">
        <dgm:presLayoutVars>
          <dgm:bulletEnabled val="1"/>
        </dgm:presLayoutVars>
      </dgm:prSet>
      <dgm:spPr/>
    </dgm:pt>
    <dgm:pt modelId="{00276F6B-182C-AD43-9D64-F714FF9E7A2A}" type="pres">
      <dgm:prSet presAssocID="{EFBD36FB-8C62-8C4E-B220-DDD5E0B2AC6B}" presName="outerSibTrans" presStyleCnt="0"/>
      <dgm:spPr/>
    </dgm:pt>
    <dgm:pt modelId="{90B86151-971C-D34A-904E-0A0C3CF502C7}" type="pres">
      <dgm:prSet presAssocID="{00433D6B-0AB4-1540-83C2-FF2B4D951E07}" presName="oChild" presStyleLbl="fgAcc1" presStyleIdx="2" presStyleCnt="5">
        <dgm:presLayoutVars>
          <dgm:bulletEnabled val="1"/>
        </dgm:presLayoutVars>
      </dgm:prSet>
      <dgm:spPr/>
    </dgm:pt>
    <dgm:pt modelId="{0820344D-FC06-DD4D-9871-B5FD72566B7F}" type="pres">
      <dgm:prSet presAssocID="{7BD916DD-EC90-B74B-A81A-5CB8C4A5CBE2}" presName="outerSibTrans" presStyleCnt="0"/>
      <dgm:spPr/>
    </dgm:pt>
    <dgm:pt modelId="{CAA5AEF8-AB9D-5149-8A70-63C1B1250E11}" type="pres">
      <dgm:prSet presAssocID="{20EEABE1-B58F-974D-A412-BC17F78D4D01}" presName="oChild" presStyleLbl="fgAcc1" presStyleIdx="3" presStyleCnt="5">
        <dgm:presLayoutVars>
          <dgm:bulletEnabled val="1"/>
        </dgm:presLayoutVars>
      </dgm:prSet>
      <dgm:spPr/>
    </dgm:pt>
    <dgm:pt modelId="{D9C35481-00F7-C44B-92C1-3DD1984A4BE6}" type="pres">
      <dgm:prSet presAssocID="{84E8F63F-11DE-6F41-A94F-6A307BDC03BA}" presName="outerSibTrans" presStyleCnt="0"/>
      <dgm:spPr/>
    </dgm:pt>
    <dgm:pt modelId="{95C35ED8-2FD4-FE47-AA73-E16D6906F7F8}" type="pres">
      <dgm:prSet presAssocID="{1DE2C16C-646C-EE4E-9823-AFED9EE0ADDF}" presName="oChild" presStyleLbl="fgAcc1" presStyleIdx="4" presStyleCnt="5">
        <dgm:presLayoutVars>
          <dgm:bulletEnabled val="1"/>
        </dgm:presLayoutVars>
      </dgm:prSet>
      <dgm:spPr/>
    </dgm:pt>
  </dgm:ptLst>
  <dgm:cxnLst>
    <dgm:cxn modelId="{9E0D9E2A-97B3-3240-B84E-F6F3A7AF829F}" type="presOf" srcId="{1365929F-6A97-8E40-8CD4-4EFA86F61279}" destId="{068624DD-0A7D-554B-A75A-B4E34354BC80}" srcOrd="0" destOrd="0" presId="urn:microsoft.com/office/officeart/2005/8/layout/target2"/>
    <dgm:cxn modelId="{3B320312-5B0D-4C4E-8880-228110EA907A}" type="presOf" srcId="{1DE2C16C-646C-EE4E-9823-AFED9EE0ADDF}" destId="{95C35ED8-2FD4-FE47-AA73-E16D6906F7F8}" srcOrd="0" destOrd="0" presId="urn:microsoft.com/office/officeart/2005/8/layout/target2"/>
    <dgm:cxn modelId="{B98CC467-2CF5-CF4A-82A9-71688875DE74}" type="presOf" srcId="{20EEABE1-B58F-974D-A412-BC17F78D4D01}" destId="{CAA5AEF8-AB9D-5149-8A70-63C1B1250E11}" srcOrd="0" destOrd="0" presId="urn:microsoft.com/office/officeart/2005/8/layout/target2"/>
    <dgm:cxn modelId="{F3846F26-78BC-AD44-A815-9428B4DB84EA}" srcId="{1365929F-6A97-8E40-8CD4-4EFA86F61279}" destId="{9C50E5ED-63CC-1149-8BAE-E69B690D1E06}" srcOrd="1" destOrd="0" parTransId="{BDD85B83-C692-4E43-B7CC-673FCF9837E7}" sibTransId="{EFBD36FB-8C62-8C4E-B220-DDD5E0B2AC6B}"/>
    <dgm:cxn modelId="{AD53D4D2-FF1F-1F43-9C6F-74702C0D0545}" srcId="{1365929F-6A97-8E40-8CD4-4EFA86F61279}" destId="{4622F92A-3AA7-2B43-B3D0-D8782231C05D}" srcOrd="0" destOrd="0" parTransId="{EDB97557-A220-A140-BA96-194E34AC9BAB}" sibTransId="{B40C41B4-FF90-8248-9854-A3E2A9BD03DC}"/>
    <dgm:cxn modelId="{F69BDD47-4460-EB4B-A615-0A0158437D51}" srcId="{1365929F-6A97-8E40-8CD4-4EFA86F61279}" destId="{00433D6B-0AB4-1540-83C2-FF2B4D951E07}" srcOrd="2" destOrd="0" parTransId="{151B043F-E7F7-F948-9F53-ECC5DFC19709}" sibTransId="{7BD916DD-EC90-B74B-A81A-5CB8C4A5CBE2}"/>
    <dgm:cxn modelId="{B215DBC7-BF16-8A46-A847-D86DADB6FCD1}" type="presOf" srcId="{C526569A-AE62-B746-BB5B-AC7695D00F27}" destId="{C518AD32-CDBE-744D-959C-8B87959F8F46}" srcOrd="0" destOrd="0" presId="urn:microsoft.com/office/officeart/2005/8/layout/target2"/>
    <dgm:cxn modelId="{75C05656-8D41-6547-AACE-427B7BA38136}" type="presOf" srcId="{00433D6B-0AB4-1540-83C2-FF2B4D951E07}" destId="{90B86151-971C-D34A-904E-0A0C3CF502C7}" srcOrd="0" destOrd="0" presId="urn:microsoft.com/office/officeart/2005/8/layout/target2"/>
    <dgm:cxn modelId="{8C3459BD-AC11-6E4A-862F-F78E9F7C54B6}" type="presOf" srcId="{9C50E5ED-63CC-1149-8BAE-E69B690D1E06}" destId="{B17BB1E3-FB89-FF4C-91D8-38EA9CB943F9}" srcOrd="0" destOrd="0" presId="urn:microsoft.com/office/officeart/2005/8/layout/target2"/>
    <dgm:cxn modelId="{02067413-73CF-BA40-AD9F-B685F316F1C2}" srcId="{C526569A-AE62-B746-BB5B-AC7695D00F27}" destId="{1365929F-6A97-8E40-8CD4-4EFA86F61279}" srcOrd="0" destOrd="0" parTransId="{3937DD3D-A4B1-4D4B-876A-8C05E1AC9F31}" sibTransId="{4467C0C8-0673-7447-98F7-F9F057B41BB2}"/>
    <dgm:cxn modelId="{58C33716-E3F4-CF42-8228-34F9DAF80A9A}" srcId="{1365929F-6A97-8E40-8CD4-4EFA86F61279}" destId="{1DE2C16C-646C-EE4E-9823-AFED9EE0ADDF}" srcOrd="4" destOrd="0" parTransId="{84CC77A4-C3A0-D34F-809C-C5894EEFD8CB}" sibTransId="{BB22FE48-A64B-B84D-A3BD-C51ABC26BF9E}"/>
    <dgm:cxn modelId="{B40C32D7-6B25-DC4B-947D-94A461BDD63E}" srcId="{1365929F-6A97-8E40-8CD4-4EFA86F61279}" destId="{20EEABE1-B58F-974D-A412-BC17F78D4D01}" srcOrd="3" destOrd="0" parTransId="{95FE3A99-AD97-CB47-81FC-A9C03D71D5FD}" sibTransId="{84E8F63F-11DE-6F41-A94F-6A307BDC03BA}"/>
    <dgm:cxn modelId="{550DD339-0640-AE47-B5E7-0342DB02A770}" type="presOf" srcId="{4622F92A-3AA7-2B43-B3D0-D8782231C05D}" destId="{0B217A4E-9520-6E48-AB1B-DAFAFD904723}" srcOrd="0" destOrd="0" presId="urn:microsoft.com/office/officeart/2005/8/layout/target2"/>
    <dgm:cxn modelId="{B235DB55-9FB9-7547-B84A-AB107455FFBD}" type="presParOf" srcId="{C518AD32-CDBE-744D-959C-8B87959F8F46}" destId="{01B120E2-1FB1-CA4C-BCBC-FA7ED0A4DAB8}" srcOrd="0" destOrd="0" presId="urn:microsoft.com/office/officeart/2005/8/layout/target2"/>
    <dgm:cxn modelId="{AABB36E4-7B20-FC46-8558-9C41EBFE0B58}" type="presParOf" srcId="{01B120E2-1FB1-CA4C-BCBC-FA7ED0A4DAB8}" destId="{068624DD-0A7D-554B-A75A-B4E34354BC80}" srcOrd="0" destOrd="0" presId="urn:microsoft.com/office/officeart/2005/8/layout/target2"/>
    <dgm:cxn modelId="{8AF56424-5AD6-A54E-BC5C-8D54E0AE792D}" type="presParOf" srcId="{01B120E2-1FB1-CA4C-BCBC-FA7ED0A4DAB8}" destId="{44AE7531-A029-AD4A-9E5A-E1745ED63FF2}" srcOrd="1" destOrd="0" presId="urn:microsoft.com/office/officeart/2005/8/layout/target2"/>
    <dgm:cxn modelId="{96A62146-B1FE-FC40-8F60-50F4F9894FF9}" type="presParOf" srcId="{44AE7531-A029-AD4A-9E5A-E1745ED63FF2}" destId="{0B217A4E-9520-6E48-AB1B-DAFAFD904723}" srcOrd="0" destOrd="0" presId="urn:microsoft.com/office/officeart/2005/8/layout/target2"/>
    <dgm:cxn modelId="{AB34A8D8-400F-C143-B9C6-1141AC6201A5}" type="presParOf" srcId="{44AE7531-A029-AD4A-9E5A-E1745ED63FF2}" destId="{D2A1A3B3-31B3-E04C-BAED-4B1B3B9D9C1C}" srcOrd="1" destOrd="0" presId="urn:microsoft.com/office/officeart/2005/8/layout/target2"/>
    <dgm:cxn modelId="{594B6044-D8A3-CB46-9E49-86C159A882EA}" type="presParOf" srcId="{44AE7531-A029-AD4A-9E5A-E1745ED63FF2}" destId="{B17BB1E3-FB89-FF4C-91D8-38EA9CB943F9}" srcOrd="2" destOrd="0" presId="urn:microsoft.com/office/officeart/2005/8/layout/target2"/>
    <dgm:cxn modelId="{CC2CC08C-AD48-5446-923A-071E50101BCF}" type="presParOf" srcId="{44AE7531-A029-AD4A-9E5A-E1745ED63FF2}" destId="{00276F6B-182C-AD43-9D64-F714FF9E7A2A}" srcOrd="3" destOrd="0" presId="urn:microsoft.com/office/officeart/2005/8/layout/target2"/>
    <dgm:cxn modelId="{B27B84D8-1449-354B-8C3F-68FBFB4A4E79}" type="presParOf" srcId="{44AE7531-A029-AD4A-9E5A-E1745ED63FF2}" destId="{90B86151-971C-D34A-904E-0A0C3CF502C7}" srcOrd="4" destOrd="0" presId="urn:microsoft.com/office/officeart/2005/8/layout/target2"/>
    <dgm:cxn modelId="{DA4BF1DD-7178-824D-8160-269F0A5CF6D7}" type="presParOf" srcId="{44AE7531-A029-AD4A-9E5A-E1745ED63FF2}" destId="{0820344D-FC06-DD4D-9871-B5FD72566B7F}" srcOrd="5" destOrd="0" presId="urn:microsoft.com/office/officeart/2005/8/layout/target2"/>
    <dgm:cxn modelId="{2FE8A94E-0CC6-F94C-A703-81160505D15D}" type="presParOf" srcId="{44AE7531-A029-AD4A-9E5A-E1745ED63FF2}" destId="{CAA5AEF8-AB9D-5149-8A70-63C1B1250E11}" srcOrd="6" destOrd="0" presId="urn:microsoft.com/office/officeart/2005/8/layout/target2"/>
    <dgm:cxn modelId="{BD834D8B-B05A-0547-AB47-44BE9B9ADFA6}" type="presParOf" srcId="{44AE7531-A029-AD4A-9E5A-E1745ED63FF2}" destId="{D9C35481-00F7-C44B-92C1-3DD1984A4BE6}" srcOrd="7" destOrd="0" presId="urn:microsoft.com/office/officeart/2005/8/layout/target2"/>
    <dgm:cxn modelId="{C0430F35-37F5-D343-8002-69444B83ACA6}" type="presParOf" srcId="{44AE7531-A029-AD4A-9E5A-E1745ED63FF2}" destId="{95C35ED8-2FD4-FE47-AA73-E16D6906F7F8}" srcOrd="8" destOrd="0" presId="urn:microsoft.com/office/officeart/2005/8/layout/target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37D0F58-072E-AC41-A8BC-BFB8DDC679EE}" type="doc">
      <dgm:prSet loTypeId="urn:microsoft.com/office/officeart/2005/8/layout/lProcess2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73D7F57-D89C-5341-9118-5441843682D5}">
      <dgm:prSet phldrT="[Text]"/>
      <dgm:spPr/>
      <dgm:t>
        <a:bodyPr/>
        <a:lstStyle/>
        <a:p>
          <a:r>
            <a:rPr lang="en-US" b="1" i="0" dirty="0" smtClean="0"/>
            <a:t>Data that will be both authenticated and encrypted  </a:t>
          </a:r>
          <a:endParaRPr lang="en-US" b="1" i="0" dirty="0"/>
        </a:p>
      </dgm:t>
    </dgm:pt>
    <dgm:pt modelId="{E4ADFE8E-77CC-DE48-854B-2625AF7A8E7C}" type="parTrans" cxnId="{FA5D2FF1-D0F0-424A-8C7C-18D051738AC9}">
      <dgm:prSet/>
      <dgm:spPr/>
      <dgm:t>
        <a:bodyPr/>
        <a:lstStyle/>
        <a:p>
          <a:endParaRPr lang="en-US"/>
        </a:p>
      </dgm:t>
    </dgm:pt>
    <dgm:pt modelId="{37573C34-F624-DC4F-A2FD-C1086CAAF033}" type="sibTrans" cxnId="{FA5D2FF1-D0F0-424A-8C7C-18D051738AC9}">
      <dgm:prSet/>
      <dgm:spPr/>
      <dgm:t>
        <a:bodyPr/>
        <a:lstStyle/>
        <a:p>
          <a:endParaRPr lang="en-US"/>
        </a:p>
      </dgm:t>
    </dgm:pt>
    <dgm:pt modelId="{08DB567E-21F7-3548-B728-45113FE866A4}">
      <dgm:prSet/>
      <dgm:spPr/>
      <dgm:t>
        <a:bodyPr/>
        <a:lstStyle/>
        <a:p>
          <a:r>
            <a:rPr lang="en-US" b="1" i="0" dirty="0" smtClean="0"/>
            <a:t>This is the plaintext message </a:t>
          </a:r>
          <a:r>
            <a:rPr lang="en-US" b="1" i="1" dirty="0" smtClean="0"/>
            <a:t>P</a:t>
          </a:r>
          <a:r>
            <a:rPr lang="en-US" b="1" i="0" dirty="0" smtClean="0"/>
            <a:t> of the data block</a:t>
          </a:r>
        </a:p>
      </dgm:t>
    </dgm:pt>
    <dgm:pt modelId="{95CA5529-EBA1-2540-A795-17A7A5B08984}" type="parTrans" cxnId="{043F49B5-C6F9-1D4F-AA93-0433D921F8C6}">
      <dgm:prSet/>
      <dgm:spPr/>
      <dgm:t>
        <a:bodyPr/>
        <a:lstStyle/>
        <a:p>
          <a:endParaRPr lang="en-US"/>
        </a:p>
      </dgm:t>
    </dgm:pt>
    <dgm:pt modelId="{C3598075-92C5-B24C-B6B6-716BD8778FFD}" type="sibTrans" cxnId="{043F49B5-C6F9-1D4F-AA93-0433D921F8C6}">
      <dgm:prSet/>
      <dgm:spPr/>
      <dgm:t>
        <a:bodyPr/>
        <a:lstStyle/>
        <a:p>
          <a:endParaRPr lang="en-US"/>
        </a:p>
      </dgm:t>
    </dgm:pt>
    <dgm:pt modelId="{4229A444-F459-8841-8EF2-E1D4521519A8}">
      <dgm:prSet/>
      <dgm:spPr/>
      <dgm:t>
        <a:bodyPr/>
        <a:lstStyle/>
        <a:p>
          <a:r>
            <a:rPr lang="en-US" b="1" i="0" dirty="0" smtClean="0"/>
            <a:t>Associated data </a:t>
          </a:r>
          <a:r>
            <a:rPr lang="en-US" b="1" i="1" dirty="0" smtClean="0"/>
            <a:t>A</a:t>
          </a:r>
          <a:r>
            <a:rPr lang="en-US" b="1" i="0" dirty="0" smtClean="0"/>
            <a:t> that will be authenticated but not encrypted</a:t>
          </a:r>
        </a:p>
      </dgm:t>
    </dgm:pt>
    <dgm:pt modelId="{B79EB4E2-4E45-DF47-A3AA-9BA98D0EBADB}" type="parTrans" cxnId="{5ED713A0-4116-584A-98F2-64F520C372C5}">
      <dgm:prSet/>
      <dgm:spPr/>
      <dgm:t>
        <a:bodyPr/>
        <a:lstStyle/>
        <a:p>
          <a:endParaRPr lang="en-US"/>
        </a:p>
      </dgm:t>
    </dgm:pt>
    <dgm:pt modelId="{37E98AC6-71B7-3A49-A262-04819AC67932}" type="sibTrans" cxnId="{5ED713A0-4116-584A-98F2-64F520C372C5}">
      <dgm:prSet/>
      <dgm:spPr/>
      <dgm:t>
        <a:bodyPr/>
        <a:lstStyle/>
        <a:p>
          <a:endParaRPr lang="en-US"/>
        </a:p>
      </dgm:t>
    </dgm:pt>
    <dgm:pt modelId="{3ADFB388-2CA8-C74D-824F-A810F7EFAE09}">
      <dgm:prSet/>
      <dgm:spPr/>
      <dgm:t>
        <a:bodyPr/>
        <a:lstStyle/>
        <a:p>
          <a:r>
            <a:rPr lang="en-US" b="1" i="0" dirty="0" smtClean="0"/>
            <a:t>An example is a protocol header that must be transmitted in the clear for proper protocol operation but which needs to be authenticated</a:t>
          </a:r>
        </a:p>
      </dgm:t>
    </dgm:pt>
    <dgm:pt modelId="{0383A49B-396F-6644-BF82-06998CEC1620}" type="parTrans" cxnId="{333C636D-4D90-484C-A90B-F69FA2D64DB9}">
      <dgm:prSet/>
      <dgm:spPr/>
      <dgm:t>
        <a:bodyPr/>
        <a:lstStyle/>
        <a:p>
          <a:endParaRPr lang="en-US"/>
        </a:p>
      </dgm:t>
    </dgm:pt>
    <dgm:pt modelId="{1EF4F3E6-AD3B-E446-85EF-06B58C7F1572}" type="sibTrans" cxnId="{333C636D-4D90-484C-A90B-F69FA2D64DB9}">
      <dgm:prSet/>
      <dgm:spPr/>
      <dgm:t>
        <a:bodyPr/>
        <a:lstStyle/>
        <a:p>
          <a:endParaRPr lang="en-US"/>
        </a:p>
      </dgm:t>
    </dgm:pt>
    <dgm:pt modelId="{79E3681C-7A1D-6A4D-BAA7-ED23C9FE695D}">
      <dgm:prSet/>
      <dgm:spPr/>
      <dgm:t>
        <a:bodyPr/>
        <a:lstStyle/>
        <a:p>
          <a:r>
            <a:rPr lang="en-US" b="1" i="0" dirty="0" smtClean="0"/>
            <a:t>A nonce </a:t>
          </a:r>
          <a:r>
            <a:rPr lang="en-US" b="1" i="1" dirty="0" smtClean="0"/>
            <a:t>N</a:t>
          </a:r>
          <a:r>
            <a:rPr lang="en-US" b="1" i="0" dirty="0" smtClean="0"/>
            <a:t> that is assigned to the payload and the associated data</a:t>
          </a:r>
        </a:p>
      </dgm:t>
    </dgm:pt>
    <dgm:pt modelId="{450FC67B-CC55-BC46-9A1E-85B528D2355B}" type="parTrans" cxnId="{1EE6DD5E-7A95-5247-A360-FD6B0D1A4893}">
      <dgm:prSet/>
      <dgm:spPr/>
      <dgm:t>
        <a:bodyPr/>
        <a:lstStyle/>
        <a:p>
          <a:endParaRPr lang="en-US"/>
        </a:p>
      </dgm:t>
    </dgm:pt>
    <dgm:pt modelId="{4CA8D61B-E4D2-5F42-A68E-914877F9A496}" type="sibTrans" cxnId="{1EE6DD5E-7A95-5247-A360-FD6B0D1A4893}">
      <dgm:prSet/>
      <dgm:spPr/>
      <dgm:t>
        <a:bodyPr/>
        <a:lstStyle/>
        <a:p>
          <a:endParaRPr lang="en-US"/>
        </a:p>
      </dgm:t>
    </dgm:pt>
    <dgm:pt modelId="{CB83707D-A84F-3942-94DC-5B45301EDB57}">
      <dgm:prSet/>
      <dgm:spPr/>
      <dgm:t>
        <a:bodyPr/>
        <a:lstStyle/>
        <a:p>
          <a:r>
            <a:rPr lang="en-US" b="1" i="0" dirty="0" smtClean="0"/>
            <a:t>This is a unique value that is different for every instance during the lifetime of a protocol association and is intended to prevent replay attacks and certain other types of attacks</a:t>
          </a:r>
          <a:endParaRPr lang="en-US" b="1" i="0" dirty="0"/>
        </a:p>
      </dgm:t>
    </dgm:pt>
    <dgm:pt modelId="{00EFADFA-E178-3F40-A7A2-456D89C94AAD}" type="parTrans" cxnId="{F830E3BF-E112-7A49-A412-305AF3BCA960}">
      <dgm:prSet/>
      <dgm:spPr/>
      <dgm:t>
        <a:bodyPr/>
        <a:lstStyle/>
        <a:p>
          <a:endParaRPr lang="en-US"/>
        </a:p>
      </dgm:t>
    </dgm:pt>
    <dgm:pt modelId="{253665E0-7CEC-614B-97EF-E40BD824F52A}" type="sibTrans" cxnId="{F830E3BF-E112-7A49-A412-305AF3BCA960}">
      <dgm:prSet/>
      <dgm:spPr/>
      <dgm:t>
        <a:bodyPr/>
        <a:lstStyle/>
        <a:p>
          <a:endParaRPr lang="en-US"/>
        </a:p>
      </dgm:t>
    </dgm:pt>
    <dgm:pt modelId="{4DAAE477-DB43-3F47-9638-C8F12528932A}" type="pres">
      <dgm:prSet presAssocID="{B37D0F58-072E-AC41-A8BC-BFB8DDC679EE}" presName="theList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E71AEF4-C9DD-5644-9A15-37AE6A651469}" type="pres">
      <dgm:prSet presAssocID="{A73D7F57-D89C-5341-9118-5441843682D5}" presName="compNode" presStyleCnt="0"/>
      <dgm:spPr/>
    </dgm:pt>
    <dgm:pt modelId="{41378CB5-0A17-534D-8BAF-D192F37C9FA8}" type="pres">
      <dgm:prSet presAssocID="{A73D7F57-D89C-5341-9118-5441843682D5}" presName="aNode" presStyleLbl="bgShp" presStyleIdx="0" presStyleCnt="3"/>
      <dgm:spPr/>
      <dgm:t>
        <a:bodyPr/>
        <a:lstStyle/>
        <a:p>
          <a:endParaRPr lang="en-US"/>
        </a:p>
      </dgm:t>
    </dgm:pt>
    <dgm:pt modelId="{8623E882-052E-374E-BBB1-FCFABC844287}" type="pres">
      <dgm:prSet presAssocID="{A73D7F57-D89C-5341-9118-5441843682D5}" presName="textNode" presStyleLbl="bgShp" presStyleIdx="0" presStyleCnt="3"/>
      <dgm:spPr/>
      <dgm:t>
        <a:bodyPr/>
        <a:lstStyle/>
        <a:p>
          <a:endParaRPr lang="en-US"/>
        </a:p>
      </dgm:t>
    </dgm:pt>
    <dgm:pt modelId="{FB52DDC2-1576-504F-8667-1217B24BB340}" type="pres">
      <dgm:prSet presAssocID="{A73D7F57-D89C-5341-9118-5441843682D5}" presName="compChildNode" presStyleCnt="0"/>
      <dgm:spPr/>
    </dgm:pt>
    <dgm:pt modelId="{55EEEC26-A99C-D540-B33A-6F88C3A5C0D1}" type="pres">
      <dgm:prSet presAssocID="{A73D7F57-D89C-5341-9118-5441843682D5}" presName="theInnerList" presStyleCnt="0"/>
      <dgm:spPr/>
    </dgm:pt>
    <dgm:pt modelId="{1E40D5F7-D92A-C641-AB69-B58BE9E4F236}" type="pres">
      <dgm:prSet presAssocID="{08DB567E-21F7-3548-B728-45113FE866A4}" presName="child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9073EEC-DA2E-7641-BCC9-AA4115845BCB}" type="pres">
      <dgm:prSet presAssocID="{A73D7F57-D89C-5341-9118-5441843682D5}" presName="aSpace" presStyleCnt="0"/>
      <dgm:spPr/>
    </dgm:pt>
    <dgm:pt modelId="{B23DC7F8-6C83-CC4B-909C-73092C5601AB}" type="pres">
      <dgm:prSet presAssocID="{4229A444-F459-8841-8EF2-E1D4521519A8}" presName="compNode" presStyleCnt="0"/>
      <dgm:spPr/>
    </dgm:pt>
    <dgm:pt modelId="{8962FEE3-16D6-AC4C-9C3D-06EDCF54DA89}" type="pres">
      <dgm:prSet presAssocID="{4229A444-F459-8841-8EF2-E1D4521519A8}" presName="aNode" presStyleLbl="bgShp" presStyleIdx="1" presStyleCnt="3"/>
      <dgm:spPr/>
      <dgm:t>
        <a:bodyPr/>
        <a:lstStyle/>
        <a:p>
          <a:endParaRPr lang="en-US"/>
        </a:p>
      </dgm:t>
    </dgm:pt>
    <dgm:pt modelId="{CA0B316B-7B6F-2144-A954-FE8B7DA8A9F4}" type="pres">
      <dgm:prSet presAssocID="{4229A444-F459-8841-8EF2-E1D4521519A8}" presName="textNode" presStyleLbl="bgShp" presStyleIdx="1" presStyleCnt="3"/>
      <dgm:spPr/>
      <dgm:t>
        <a:bodyPr/>
        <a:lstStyle/>
        <a:p>
          <a:endParaRPr lang="en-US"/>
        </a:p>
      </dgm:t>
    </dgm:pt>
    <dgm:pt modelId="{2CC1B147-AE7D-A34F-82F9-DD38261ADD87}" type="pres">
      <dgm:prSet presAssocID="{4229A444-F459-8841-8EF2-E1D4521519A8}" presName="compChildNode" presStyleCnt="0"/>
      <dgm:spPr/>
    </dgm:pt>
    <dgm:pt modelId="{78DF56F7-36B9-7845-A88D-978C7DD380A6}" type="pres">
      <dgm:prSet presAssocID="{4229A444-F459-8841-8EF2-E1D4521519A8}" presName="theInnerList" presStyleCnt="0"/>
      <dgm:spPr/>
    </dgm:pt>
    <dgm:pt modelId="{32746930-5DB3-C041-8251-D9A0216F608E}" type="pres">
      <dgm:prSet presAssocID="{3ADFB388-2CA8-C74D-824F-A810F7EFAE09}" presName="child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FF51532-945B-D14C-8CF1-4448594810F2}" type="pres">
      <dgm:prSet presAssocID="{4229A444-F459-8841-8EF2-E1D4521519A8}" presName="aSpace" presStyleCnt="0"/>
      <dgm:spPr/>
    </dgm:pt>
    <dgm:pt modelId="{3E3EFCFD-92CA-7549-B09E-9A8906EC53A2}" type="pres">
      <dgm:prSet presAssocID="{79E3681C-7A1D-6A4D-BAA7-ED23C9FE695D}" presName="compNode" presStyleCnt="0"/>
      <dgm:spPr/>
    </dgm:pt>
    <dgm:pt modelId="{41D8A3A0-6DF2-AB46-AB53-333BDD99FCB6}" type="pres">
      <dgm:prSet presAssocID="{79E3681C-7A1D-6A4D-BAA7-ED23C9FE695D}" presName="aNode" presStyleLbl="bgShp" presStyleIdx="2" presStyleCnt="3"/>
      <dgm:spPr/>
      <dgm:t>
        <a:bodyPr/>
        <a:lstStyle/>
        <a:p>
          <a:endParaRPr lang="en-US"/>
        </a:p>
      </dgm:t>
    </dgm:pt>
    <dgm:pt modelId="{1A4E7D2E-E2B1-774F-9BF9-23A914D6F01E}" type="pres">
      <dgm:prSet presAssocID="{79E3681C-7A1D-6A4D-BAA7-ED23C9FE695D}" presName="textNode" presStyleLbl="bgShp" presStyleIdx="2" presStyleCnt="3"/>
      <dgm:spPr/>
      <dgm:t>
        <a:bodyPr/>
        <a:lstStyle/>
        <a:p>
          <a:endParaRPr lang="en-US"/>
        </a:p>
      </dgm:t>
    </dgm:pt>
    <dgm:pt modelId="{9FAD15CD-016E-0842-A2AE-2BC52ADC9B82}" type="pres">
      <dgm:prSet presAssocID="{79E3681C-7A1D-6A4D-BAA7-ED23C9FE695D}" presName="compChildNode" presStyleCnt="0"/>
      <dgm:spPr/>
    </dgm:pt>
    <dgm:pt modelId="{B7F02C8B-7943-1B45-8858-E6E13E4012D4}" type="pres">
      <dgm:prSet presAssocID="{79E3681C-7A1D-6A4D-BAA7-ED23C9FE695D}" presName="theInnerList" presStyleCnt="0"/>
      <dgm:spPr/>
    </dgm:pt>
    <dgm:pt modelId="{220981C7-655D-BB41-B6D9-8CF90E311B2D}" type="pres">
      <dgm:prSet presAssocID="{CB83707D-A84F-3942-94DC-5B45301EDB57}" presName="child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92A180B-6401-C149-AE97-44F357422B5F}" type="presOf" srcId="{79E3681C-7A1D-6A4D-BAA7-ED23C9FE695D}" destId="{1A4E7D2E-E2B1-774F-9BF9-23A914D6F01E}" srcOrd="1" destOrd="0" presId="urn:microsoft.com/office/officeart/2005/8/layout/lProcess2"/>
    <dgm:cxn modelId="{333C636D-4D90-484C-A90B-F69FA2D64DB9}" srcId="{4229A444-F459-8841-8EF2-E1D4521519A8}" destId="{3ADFB388-2CA8-C74D-824F-A810F7EFAE09}" srcOrd="0" destOrd="0" parTransId="{0383A49B-396F-6644-BF82-06998CEC1620}" sibTransId="{1EF4F3E6-AD3B-E446-85EF-06B58C7F1572}"/>
    <dgm:cxn modelId="{811599FD-3373-5B45-9680-31FB09B34272}" type="presOf" srcId="{B37D0F58-072E-AC41-A8BC-BFB8DDC679EE}" destId="{4DAAE477-DB43-3F47-9638-C8F12528932A}" srcOrd="0" destOrd="0" presId="urn:microsoft.com/office/officeart/2005/8/layout/lProcess2"/>
    <dgm:cxn modelId="{EC814422-04BD-DE46-AE31-DEE825A6F8B2}" type="presOf" srcId="{3ADFB388-2CA8-C74D-824F-A810F7EFAE09}" destId="{32746930-5DB3-C041-8251-D9A0216F608E}" srcOrd="0" destOrd="0" presId="urn:microsoft.com/office/officeart/2005/8/layout/lProcess2"/>
    <dgm:cxn modelId="{ABF8D542-C9BE-F942-9795-94D4774F9404}" type="presOf" srcId="{CB83707D-A84F-3942-94DC-5B45301EDB57}" destId="{220981C7-655D-BB41-B6D9-8CF90E311B2D}" srcOrd="0" destOrd="0" presId="urn:microsoft.com/office/officeart/2005/8/layout/lProcess2"/>
    <dgm:cxn modelId="{851CEEF5-FDF2-1242-868A-B24CD5E3FD45}" type="presOf" srcId="{4229A444-F459-8841-8EF2-E1D4521519A8}" destId="{8962FEE3-16D6-AC4C-9C3D-06EDCF54DA89}" srcOrd="0" destOrd="0" presId="urn:microsoft.com/office/officeart/2005/8/layout/lProcess2"/>
    <dgm:cxn modelId="{2F7B48B9-E40B-AF4E-ACB9-84F9B801AB00}" type="presOf" srcId="{08DB567E-21F7-3548-B728-45113FE866A4}" destId="{1E40D5F7-D92A-C641-AB69-B58BE9E4F236}" srcOrd="0" destOrd="0" presId="urn:microsoft.com/office/officeart/2005/8/layout/lProcess2"/>
    <dgm:cxn modelId="{043F49B5-C6F9-1D4F-AA93-0433D921F8C6}" srcId="{A73D7F57-D89C-5341-9118-5441843682D5}" destId="{08DB567E-21F7-3548-B728-45113FE866A4}" srcOrd="0" destOrd="0" parTransId="{95CA5529-EBA1-2540-A795-17A7A5B08984}" sibTransId="{C3598075-92C5-B24C-B6B6-716BD8778FFD}"/>
    <dgm:cxn modelId="{487B17EB-6DAA-2540-AFDE-7B9E6DB9D97E}" type="presOf" srcId="{A73D7F57-D89C-5341-9118-5441843682D5}" destId="{41378CB5-0A17-534D-8BAF-D192F37C9FA8}" srcOrd="0" destOrd="0" presId="urn:microsoft.com/office/officeart/2005/8/layout/lProcess2"/>
    <dgm:cxn modelId="{416C03CD-E5DD-A748-B1C3-F974746C04E9}" type="presOf" srcId="{4229A444-F459-8841-8EF2-E1D4521519A8}" destId="{CA0B316B-7B6F-2144-A954-FE8B7DA8A9F4}" srcOrd="1" destOrd="0" presId="urn:microsoft.com/office/officeart/2005/8/layout/lProcess2"/>
    <dgm:cxn modelId="{3BB97786-1D3B-124D-8C3A-2E8E28D75900}" type="presOf" srcId="{A73D7F57-D89C-5341-9118-5441843682D5}" destId="{8623E882-052E-374E-BBB1-FCFABC844287}" srcOrd="1" destOrd="0" presId="urn:microsoft.com/office/officeart/2005/8/layout/lProcess2"/>
    <dgm:cxn modelId="{5ED713A0-4116-584A-98F2-64F520C372C5}" srcId="{B37D0F58-072E-AC41-A8BC-BFB8DDC679EE}" destId="{4229A444-F459-8841-8EF2-E1D4521519A8}" srcOrd="1" destOrd="0" parTransId="{B79EB4E2-4E45-DF47-A3AA-9BA98D0EBADB}" sibTransId="{37E98AC6-71B7-3A49-A262-04819AC67932}"/>
    <dgm:cxn modelId="{FA5D2FF1-D0F0-424A-8C7C-18D051738AC9}" srcId="{B37D0F58-072E-AC41-A8BC-BFB8DDC679EE}" destId="{A73D7F57-D89C-5341-9118-5441843682D5}" srcOrd="0" destOrd="0" parTransId="{E4ADFE8E-77CC-DE48-854B-2625AF7A8E7C}" sibTransId="{37573C34-F624-DC4F-A2FD-C1086CAAF033}"/>
    <dgm:cxn modelId="{405D30D8-61BF-DB4B-84E8-3E12D3C3B4AE}" type="presOf" srcId="{79E3681C-7A1D-6A4D-BAA7-ED23C9FE695D}" destId="{41D8A3A0-6DF2-AB46-AB53-333BDD99FCB6}" srcOrd="0" destOrd="0" presId="urn:microsoft.com/office/officeart/2005/8/layout/lProcess2"/>
    <dgm:cxn modelId="{1EE6DD5E-7A95-5247-A360-FD6B0D1A4893}" srcId="{B37D0F58-072E-AC41-A8BC-BFB8DDC679EE}" destId="{79E3681C-7A1D-6A4D-BAA7-ED23C9FE695D}" srcOrd="2" destOrd="0" parTransId="{450FC67B-CC55-BC46-9A1E-85B528D2355B}" sibTransId="{4CA8D61B-E4D2-5F42-A68E-914877F9A496}"/>
    <dgm:cxn modelId="{F830E3BF-E112-7A49-A412-305AF3BCA960}" srcId="{79E3681C-7A1D-6A4D-BAA7-ED23C9FE695D}" destId="{CB83707D-A84F-3942-94DC-5B45301EDB57}" srcOrd="0" destOrd="0" parTransId="{00EFADFA-E178-3F40-A7A2-456D89C94AAD}" sibTransId="{253665E0-7CEC-614B-97EF-E40BD824F52A}"/>
    <dgm:cxn modelId="{26C3051A-5ADC-D245-9A3F-DBA6A4D0CB32}" type="presParOf" srcId="{4DAAE477-DB43-3F47-9638-C8F12528932A}" destId="{BE71AEF4-C9DD-5644-9A15-37AE6A651469}" srcOrd="0" destOrd="0" presId="urn:microsoft.com/office/officeart/2005/8/layout/lProcess2"/>
    <dgm:cxn modelId="{22E98D51-3CF1-5A42-B9BD-CBBCE7DEECBA}" type="presParOf" srcId="{BE71AEF4-C9DD-5644-9A15-37AE6A651469}" destId="{41378CB5-0A17-534D-8BAF-D192F37C9FA8}" srcOrd="0" destOrd="0" presId="urn:microsoft.com/office/officeart/2005/8/layout/lProcess2"/>
    <dgm:cxn modelId="{5897143E-037B-0947-913D-28947EC7085C}" type="presParOf" srcId="{BE71AEF4-C9DD-5644-9A15-37AE6A651469}" destId="{8623E882-052E-374E-BBB1-FCFABC844287}" srcOrd="1" destOrd="0" presId="urn:microsoft.com/office/officeart/2005/8/layout/lProcess2"/>
    <dgm:cxn modelId="{834CEA26-8D72-7E41-A985-3BA05A2ED0BF}" type="presParOf" srcId="{BE71AEF4-C9DD-5644-9A15-37AE6A651469}" destId="{FB52DDC2-1576-504F-8667-1217B24BB340}" srcOrd="2" destOrd="0" presId="urn:microsoft.com/office/officeart/2005/8/layout/lProcess2"/>
    <dgm:cxn modelId="{98C42E27-AF47-6E41-80D9-BA395B03F2EB}" type="presParOf" srcId="{FB52DDC2-1576-504F-8667-1217B24BB340}" destId="{55EEEC26-A99C-D540-B33A-6F88C3A5C0D1}" srcOrd="0" destOrd="0" presId="urn:microsoft.com/office/officeart/2005/8/layout/lProcess2"/>
    <dgm:cxn modelId="{D919CE9F-7B96-4E4E-BB63-ACBF9F08B5D6}" type="presParOf" srcId="{55EEEC26-A99C-D540-B33A-6F88C3A5C0D1}" destId="{1E40D5F7-D92A-C641-AB69-B58BE9E4F236}" srcOrd="0" destOrd="0" presId="urn:microsoft.com/office/officeart/2005/8/layout/lProcess2"/>
    <dgm:cxn modelId="{D7630B78-0AA7-CC42-944E-84B935F7F697}" type="presParOf" srcId="{4DAAE477-DB43-3F47-9638-C8F12528932A}" destId="{39073EEC-DA2E-7641-BCC9-AA4115845BCB}" srcOrd="1" destOrd="0" presId="urn:microsoft.com/office/officeart/2005/8/layout/lProcess2"/>
    <dgm:cxn modelId="{8E9BC124-B606-E748-AD82-7BA4DB8E73C1}" type="presParOf" srcId="{4DAAE477-DB43-3F47-9638-C8F12528932A}" destId="{B23DC7F8-6C83-CC4B-909C-73092C5601AB}" srcOrd="2" destOrd="0" presId="urn:microsoft.com/office/officeart/2005/8/layout/lProcess2"/>
    <dgm:cxn modelId="{DE29066B-C819-6042-9BE5-E6F95FAB9C99}" type="presParOf" srcId="{B23DC7F8-6C83-CC4B-909C-73092C5601AB}" destId="{8962FEE3-16D6-AC4C-9C3D-06EDCF54DA89}" srcOrd="0" destOrd="0" presId="urn:microsoft.com/office/officeart/2005/8/layout/lProcess2"/>
    <dgm:cxn modelId="{8C8F14F6-5B19-3A43-8A44-01556DF798CB}" type="presParOf" srcId="{B23DC7F8-6C83-CC4B-909C-73092C5601AB}" destId="{CA0B316B-7B6F-2144-A954-FE8B7DA8A9F4}" srcOrd="1" destOrd="0" presId="urn:microsoft.com/office/officeart/2005/8/layout/lProcess2"/>
    <dgm:cxn modelId="{95A1189E-80BC-AE42-852B-C1F7D7F752E4}" type="presParOf" srcId="{B23DC7F8-6C83-CC4B-909C-73092C5601AB}" destId="{2CC1B147-AE7D-A34F-82F9-DD38261ADD87}" srcOrd="2" destOrd="0" presId="urn:microsoft.com/office/officeart/2005/8/layout/lProcess2"/>
    <dgm:cxn modelId="{A78F074C-980D-1B4D-9DC2-8F4540BB4125}" type="presParOf" srcId="{2CC1B147-AE7D-A34F-82F9-DD38261ADD87}" destId="{78DF56F7-36B9-7845-A88D-978C7DD380A6}" srcOrd="0" destOrd="0" presId="urn:microsoft.com/office/officeart/2005/8/layout/lProcess2"/>
    <dgm:cxn modelId="{90373F88-A59C-F549-8C52-7BAD147BB2E5}" type="presParOf" srcId="{78DF56F7-36B9-7845-A88D-978C7DD380A6}" destId="{32746930-5DB3-C041-8251-D9A0216F608E}" srcOrd="0" destOrd="0" presId="urn:microsoft.com/office/officeart/2005/8/layout/lProcess2"/>
    <dgm:cxn modelId="{054F4974-4C80-744F-8F73-4A3B997F234A}" type="presParOf" srcId="{4DAAE477-DB43-3F47-9638-C8F12528932A}" destId="{7FF51532-945B-D14C-8CF1-4448594810F2}" srcOrd="3" destOrd="0" presId="urn:microsoft.com/office/officeart/2005/8/layout/lProcess2"/>
    <dgm:cxn modelId="{5FBC1003-1CDE-AA4F-BA47-BB304493CA12}" type="presParOf" srcId="{4DAAE477-DB43-3F47-9638-C8F12528932A}" destId="{3E3EFCFD-92CA-7549-B09E-9A8906EC53A2}" srcOrd="4" destOrd="0" presId="urn:microsoft.com/office/officeart/2005/8/layout/lProcess2"/>
    <dgm:cxn modelId="{2FC85346-53F6-3945-B979-ABE0C9E92460}" type="presParOf" srcId="{3E3EFCFD-92CA-7549-B09E-9A8906EC53A2}" destId="{41D8A3A0-6DF2-AB46-AB53-333BDD99FCB6}" srcOrd="0" destOrd="0" presId="urn:microsoft.com/office/officeart/2005/8/layout/lProcess2"/>
    <dgm:cxn modelId="{8F07BE03-F3FF-3D45-8A66-344ABE0DB245}" type="presParOf" srcId="{3E3EFCFD-92CA-7549-B09E-9A8906EC53A2}" destId="{1A4E7D2E-E2B1-774F-9BF9-23A914D6F01E}" srcOrd="1" destOrd="0" presId="urn:microsoft.com/office/officeart/2005/8/layout/lProcess2"/>
    <dgm:cxn modelId="{5EDABBCD-9478-644B-8BCB-24386309EC33}" type="presParOf" srcId="{3E3EFCFD-92CA-7549-B09E-9A8906EC53A2}" destId="{9FAD15CD-016E-0842-A2AE-2BC52ADC9B82}" srcOrd="2" destOrd="0" presId="urn:microsoft.com/office/officeart/2005/8/layout/lProcess2"/>
    <dgm:cxn modelId="{0D6BD7D0-D274-0C4C-BD02-0649E885BF77}" type="presParOf" srcId="{9FAD15CD-016E-0842-A2AE-2BC52ADC9B82}" destId="{B7F02C8B-7943-1B45-8858-E6E13E4012D4}" srcOrd="0" destOrd="0" presId="urn:microsoft.com/office/officeart/2005/8/layout/lProcess2"/>
    <dgm:cxn modelId="{0958397D-0262-AA49-8F67-C26B655EA105}" type="presParOf" srcId="{B7F02C8B-7943-1B45-8858-E6E13E4012D4}" destId="{220981C7-655D-BB41-B6D9-8CF90E311B2D}" srcOrd="0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29FEC589-A4ED-E54A-BF89-3911A7F09B0D}">
      <dsp:nvSpPr>
        <dsp:cNvPr id="0" name=""/>
        <dsp:cNvSpPr/>
      </dsp:nvSpPr>
      <dsp:spPr>
        <a:xfrm rot="21300000">
          <a:off x="18706" y="1901000"/>
          <a:ext cx="6058586" cy="693799"/>
        </a:xfrm>
        <a:prstGeom prst="mathMinus">
          <a:avLst/>
        </a:prstGeom>
        <a:blipFill rotWithShape="0">
          <a:blip xmlns:r="http://schemas.openxmlformats.org/officeDocument/2006/relationships" r:embed="rId1">
            <a:duotone>
              <a:schemeClr val="accent1">
                <a:tint val="60000"/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tint val="60000"/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solidFill>
            <a:schemeClr val="tx2">
              <a:lumMod val="75000"/>
            </a:schemeClr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0C3C8EB4-2219-0641-85AA-990D74CF09C9}">
      <dsp:nvSpPr>
        <dsp:cNvPr id="0" name=""/>
        <dsp:cNvSpPr/>
      </dsp:nvSpPr>
      <dsp:spPr>
        <a:xfrm>
          <a:off x="762006" y="685807"/>
          <a:ext cx="1828800" cy="1798320"/>
        </a:xfrm>
        <a:prstGeom prst="downArrow">
          <a:avLst/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solidFill>
            <a:schemeClr val="tx2">
              <a:lumMod val="75000"/>
            </a:schemeClr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3AF565A-D8F3-0D47-8B84-CE178EBBD269}">
      <dsp:nvSpPr>
        <dsp:cNvPr id="0" name=""/>
        <dsp:cNvSpPr/>
      </dsp:nvSpPr>
      <dsp:spPr>
        <a:xfrm>
          <a:off x="609599" y="0"/>
          <a:ext cx="3931910" cy="1278637"/>
        </a:xfrm>
        <a:prstGeom prst="rect">
          <a:avLst/>
        </a:prstGeom>
        <a:solidFill>
          <a:schemeClr val="bg1"/>
        </a:solidFill>
        <a:ln>
          <a:solidFill>
            <a:schemeClr val="accent1"/>
          </a:solidFill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Lower level</a:t>
          </a:r>
          <a:endParaRPr lang="en-US" sz="21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/>
            <a:t>There must be some sort of function that produces an authenticator</a:t>
          </a:r>
        </a:p>
      </dsp:txBody>
      <dsp:txXfrm>
        <a:off x="609599" y="0"/>
        <a:ext cx="3931910" cy="1278637"/>
      </dsp:txXfrm>
    </dsp:sp>
    <dsp:sp modelId="{F89A8629-E88D-5B42-AE48-3030A7AF7E25}">
      <dsp:nvSpPr>
        <dsp:cNvPr id="0" name=""/>
        <dsp:cNvSpPr/>
      </dsp:nvSpPr>
      <dsp:spPr>
        <a:xfrm>
          <a:off x="3276593" y="1904996"/>
          <a:ext cx="1828800" cy="1798320"/>
        </a:xfrm>
        <a:prstGeom prst="upArrow">
          <a:avLst/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solidFill>
            <a:schemeClr val="tx2">
              <a:lumMod val="75000"/>
            </a:schemeClr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0458508-C634-8947-BE5F-AF7AD4C41A9B}">
      <dsp:nvSpPr>
        <dsp:cNvPr id="0" name=""/>
        <dsp:cNvSpPr/>
      </dsp:nvSpPr>
      <dsp:spPr>
        <a:xfrm>
          <a:off x="1371600" y="3113346"/>
          <a:ext cx="4450080" cy="1382453"/>
        </a:xfrm>
        <a:prstGeom prst="rect">
          <a:avLst/>
        </a:prstGeom>
        <a:solidFill>
          <a:schemeClr val="bg1"/>
        </a:solidFill>
        <a:ln>
          <a:solidFill>
            <a:schemeClr val="accent1"/>
          </a:solidFill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Higher-level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 dirty="0" smtClean="0"/>
            <a:t>Uses the lower-level function as a primitive in an authentication protocol that enables a receiver to verify the authenticity of a message</a:t>
          </a:r>
        </a:p>
      </dsp:txBody>
      <dsp:txXfrm>
        <a:off x="1371600" y="3113346"/>
        <a:ext cx="4450080" cy="1382453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0455709D-7F47-994B-9CF2-C952C0C6C13D}">
      <dsp:nvSpPr>
        <dsp:cNvPr id="0" name=""/>
        <dsp:cNvSpPr/>
      </dsp:nvSpPr>
      <dsp:spPr>
        <a:xfrm rot="16200000">
          <a:off x="-1379709" y="1381785"/>
          <a:ext cx="4800600" cy="2037029"/>
        </a:xfrm>
        <a:prstGeom prst="flowChartManualOperation">
          <a:avLst/>
        </a:prstGeom>
        <a:solidFill>
          <a:schemeClr val="accent4">
            <a:lumMod val="75000"/>
          </a:schemeClr>
        </a:solidFill>
        <a:ln w="9525">
          <a:solidFill>
            <a:schemeClr val="accent4">
              <a:lumMod val="50000"/>
            </a:schemeClr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0" rIns="95250" bIns="0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i="0" kern="1200" dirty="0" smtClean="0"/>
            <a:t>Taking into account the types of attacks, the MAC needs to satisfy the following:</a:t>
          </a:r>
          <a:endParaRPr lang="en-US" sz="1500" b="1" i="0" kern="1200" dirty="0"/>
        </a:p>
      </dsp:txBody>
      <dsp:txXfrm rot="16200000">
        <a:off x="-1379709" y="1381785"/>
        <a:ext cx="4800600" cy="2037029"/>
      </dsp:txXfrm>
    </dsp:sp>
    <dsp:sp modelId="{355D249C-4135-264C-9AA4-38F8B8368748}">
      <dsp:nvSpPr>
        <dsp:cNvPr id="0" name=""/>
        <dsp:cNvSpPr/>
      </dsp:nvSpPr>
      <dsp:spPr>
        <a:xfrm rot="16200000">
          <a:off x="810096" y="1381785"/>
          <a:ext cx="4800600" cy="2037029"/>
        </a:xfrm>
        <a:prstGeom prst="flowChartManualOperation">
          <a:avLst/>
        </a:prstGeom>
        <a:solidFill>
          <a:schemeClr val="accent4">
            <a:lumMod val="50000"/>
          </a:schemeClr>
        </a:solidFill>
        <a:ln>
          <a:solidFill>
            <a:schemeClr val="accent4">
              <a:lumMod val="60000"/>
              <a:lumOff val="40000"/>
            </a:schemeClr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0" rIns="95250" bIns="0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rPr>
            <a:t>The first requirement deals with message replacement attacks, in which an opponent is able to construct a new message to match a given MAC, even though the opponent does not know and does not learn the key</a:t>
          </a:r>
          <a:endParaRPr lang="en-US" sz="1500" b="1" i="0" kern="1200" dirty="0"/>
        </a:p>
      </dsp:txBody>
      <dsp:txXfrm rot="16200000">
        <a:off x="810096" y="1381785"/>
        <a:ext cx="4800600" cy="2037029"/>
      </dsp:txXfrm>
    </dsp:sp>
    <dsp:sp modelId="{2B5F3EFE-B469-D54B-9DB0-72961539BBD1}">
      <dsp:nvSpPr>
        <dsp:cNvPr id="0" name=""/>
        <dsp:cNvSpPr/>
      </dsp:nvSpPr>
      <dsp:spPr>
        <a:xfrm rot="16200000">
          <a:off x="2999903" y="1381785"/>
          <a:ext cx="4800600" cy="2037029"/>
        </a:xfrm>
        <a:prstGeom prst="flowChartManualOperation">
          <a:avLst/>
        </a:prstGeom>
        <a:solidFill>
          <a:schemeClr val="accent4">
            <a:lumMod val="50000"/>
          </a:schemeClr>
        </a:solid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650" tIns="0" rIns="120771" bIns="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rPr>
            <a:t>The second requirement deals with the need to thwart a brute-force attack based on chosen plaintext </a:t>
          </a:r>
        </a:p>
      </dsp:txBody>
      <dsp:txXfrm rot="16200000">
        <a:off x="2999903" y="1381785"/>
        <a:ext cx="4800600" cy="2037029"/>
      </dsp:txXfrm>
    </dsp:sp>
    <dsp:sp modelId="{378057DA-9A05-9149-8D2C-22685B173615}">
      <dsp:nvSpPr>
        <dsp:cNvPr id="0" name=""/>
        <dsp:cNvSpPr/>
      </dsp:nvSpPr>
      <dsp:spPr>
        <a:xfrm rot="16200000">
          <a:off x="5189709" y="1381785"/>
          <a:ext cx="4800600" cy="2037029"/>
        </a:xfrm>
        <a:prstGeom prst="flowChartManualOperation">
          <a:avLst/>
        </a:prstGeom>
        <a:solidFill>
          <a:schemeClr val="accent4">
            <a:lumMod val="50000"/>
          </a:schemeClr>
        </a:solid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650" tIns="0" rIns="120771" bIns="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rPr>
            <a:t>The final requirement dictates that the authentication algorithm should not be weaker with respect to certain parts or bits of the message than others</a:t>
          </a:r>
          <a:endParaRPr lang="en-US" sz="1900" kern="1200" dirty="0">
            <a:latin typeface="Arial" pitchFamily="-84" charset="0"/>
            <a:ea typeface="ＭＳ Ｐゴシック" pitchFamily="-84" charset="-128"/>
            <a:cs typeface="ＭＳ Ｐゴシック" pitchFamily="-84" charset="-128"/>
          </a:endParaRPr>
        </a:p>
      </dsp:txBody>
      <dsp:txXfrm rot="16200000">
        <a:off x="5189709" y="1381785"/>
        <a:ext cx="4800600" cy="2037029"/>
      </dsp:txXfrm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D6CF82A7-2676-8E4E-8979-085535B19D56}">
      <dsp:nvSpPr>
        <dsp:cNvPr id="0" name=""/>
        <dsp:cNvSpPr/>
      </dsp:nvSpPr>
      <dsp:spPr>
        <a:xfrm>
          <a:off x="0" y="345930"/>
          <a:ext cx="8458200" cy="25137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6450" tIns="437388" rIns="656450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smtClean="0"/>
            <a:t>Attack the key space</a:t>
          </a:r>
        </a:p>
        <a:p>
          <a:pPr marL="457200" lvl="2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smtClean="0"/>
            <a:t>If an attacker can determine the MAC key then it is possible to generate a valid MAC value for any input </a:t>
          </a:r>
          <a:r>
            <a:rPr lang="en-US" sz="2100" i="1" kern="1200" dirty="0" smtClean="0"/>
            <a:t>x</a:t>
          </a:r>
          <a:endParaRPr lang="en-US" sz="2100" kern="1200" dirty="0" smtClean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smtClean="0"/>
            <a:t>Attack the MAC value</a:t>
          </a:r>
        </a:p>
        <a:p>
          <a:pPr marL="457200" lvl="2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smtClean="0"/>
            <a:t>Objective is to generate a valid tag for a given message or to find a message that matches a given tag</a:t>
          </a:r>
        </a:p>
      </dsp:txBody>
      <dsp:txXfrm>
        <a:off x="0" y="345930"/>
        <a:ext cx="8458200" cy="2513700"/>
      </dsp:txXfrm>
    </dsp:sp>
    <dsp:sp modelId="{152F7F99-21E6-FA41-9A9B-75F753A7D577}">
      <dsp:nvSpPr>
        <dsp:cNvPr id="0" name=""/>
        <dsp:cNvSpPr/>
      </dsp:nvSpPr>
      <dsp:spPr>
        <a:xfrm>
          <a:off x="422910" y="35970"/>
          <a:ext cx="5920740" cy="619920"/>
        </a:xfrm>
        <a:prstGeom prst="roundRect">
          <a:avLst/>
        </a:prstGeom>
        <a:solidFill>
          <a:schemeClr val="accent4">
            <a:lumMod val="75000"/>
          </a:schemeClr>
        </a:solid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3790" tIns="0" rIns="223790" bIns="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Two lines of attack:</a:t>
          </a:r>
          <a:endParaRPr lang="en-US" sz="24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422910" y="35970"/>
        <a:ext cx="5920740" cy="619920"/>
      </dsp:txXfrm>
    </dsp:sp>
  </dsp:spTree>
</dsp:drawing>
</file>

<file path=ppt/diagrams/drawing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068624DD-0A7D-554B-A75A-B4E34354BC80}">
      <dsp:nvSpPr>
        <dsp:cNvPr id="0" name=""/>
        <dsp:cNvSpPr/>
      </dsp:nvSpPr>
      <dsp:spPr>
        <a:xfrm>
          <a:off x="0" y="0"/>
          <a:ext cx="8534399" cy="4714875"/>
        </a:xfrm>
        <a:prstGeom prst="roundRect">
          <a:avLst>
            <a:gd name="adj" fmla="val 8500"/>
          </a:avLst>
        </a:prstGeom>
        <a:solidFill>
          <a:schemeClr val="tx2">
            <a:lumMod val="60000"/>
            <a:lumOff val="40000"/>
          </a:schemeClr>
        </a:solid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2910780" numCol="1" spcCol="1270" anchor="t" anchorCtr="0">
          <a:noAutofit/>
        </a:bodyPr>
        <a:lstStyle/>
        <a:p>
          <a:pPr lvl="0" algn="l" defTabSz="2133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800" kern="1200" dirty="0" smtClean="0">
              <a:solidFill>
                <a:schemeClr val="tx2"/>
              </a:solidFill>
            </a:rPr>
            <a:t>RFC 2104 lists the following objectives for HMAC:</a:t>
          </a:r>
          <a:endParaRPr lang="en-US" sz="4800" kern="1200" dirty="0">
            <a:solidFill>
              <a:schemeClr val="tx2"/>
            </a:solidFill>
          </a:endParaRPr>
        </a:p>
      </dsp:txBody>
      <dsp:txXfrm>
        <a:off x="0" y="0"/>
        <a:ext cx="8534399" cy="4714875"/>
      </dsp:txXfrm>
    </dsp:sp>
    <dsp:sp modelId="{0B217A4E-9520-6E48-AB1B-DAFAFD904723}">
      <dsp:nvSpPr>
        <dsp:cNvPr id="0" name=""/>
        <dsp:cNvSpPr/>
      </dsp:nvSpPr>
      <dsp:spPr>
        <a:xfrm>
          <a:off x="213359" y="2121693"/>
          <a:ext cx="1599366" cy="2121693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smtClean="0">
              <a:solidFill>
                <a:schemeClr val="tx2"/>
              </a:solidFill>
            </a:rPr>
            <a:t>To use, without modifications, available hash functions</a:t>
          </a:r>
          <a:endParaRPr lang="en-US" sz="1200" b="1" kern="1200" dirty="0">
            <a:solidFill>
              <a:schemeClr val="tx2"/>
            </a:solidFill>
          </a:endParaRPr>
        </a:p>
      </dsp:txBody>
      <dsp:txXfrm>
        <a:off x="213359" y="2121693"/>
        <a:ext cx="1599366" cy="2121693"/>
      </dsp:txXfrm>
    </dsp:sp>
    <dsp:sp modelId="{B17BB1E3-FB89-FF4C-91D8-38EA9CB943F9}">
      <dsp:nvSpPr>
        <dsp:cNvPr id="0" name=""/>
        <dsp:cNvSpPr/>
      </dsp:nvSpPr>
      <dsp:spPr>
        <a:xfrm>
          <a:off x="1837979" y="2121693"/>
          <a:ext cx="1599366" cy="2121693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smtClean="0">
              <a:solidFill>
                <a:schemeClr val="tx2"/>
              </a:solidFill>
            </a:rPr>
            <a:t>To allow for easy replaceability of the embedded hash function in case faster or more secure hash functions are found or required</a:t>
          </a:r>
          <a:endParaRPr lang="en-US" sz="1200" b="1" kern="1200" dirty="0">
            <a:solidFill>
              <a:schemeClr val="tx2"/>
            </a:solidFill>
          </a:endParaRPr>
        </a:p>
      </dsp:txBody>
      <dsp:txXfrm>
        <a:off x="1837979" y="2121693"/>
        <a:ext cx="1599366" cy="2121693"/>
      </dsp:txXfrm>
    </dsp:sp>
    <dsp:sp modelId="{90B86151-971C-D34A-904E-0A0C3CF502C7}">
      <dsp:nvSpPr>
        <dsp:cNvPr id="0" name=""/>
        <dsp:cNvSpPr/>
      </dsp:nvSpPr>
      <dsp:spPr>
        <a:xfrm>
          <a:off x="3462599" y="2121693"/>
          <a:ext cx="1599366" cy="2121693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smtClean="0">
              <a:solidFill>
                <a:schemeClr val="tx2"/>
              </a:solidFill>
            </a:rPr>
            <a:t>To preserve the original performance of the hash function without incurring a significant degradation</a:t>
          </a:r>
          <a:endParaRPr lang="en-US" sz="1200" b="1" kern="1200" dirty="0">
            <a:solidFill>
              <a:schemeClr val="tx2"/>
            </a:solidFill>
          </a:endParaRPr>
        </a:p>
      </dsp:txBody>
      <dsp:txXfrm>
        <a:off x="3462599" y="2121693"/>
        <a:ext cx="1599366" cy="2121693"/>
      </dsp:txXfrm>
    </dsp:sp>
    <dsp:sp modelId="{CAA5AEF8-AB9D-5149-8A70-63C1B1250E11}">
      <dsp:nvSpPr>
        <dsp:cNvPr id="0" name=""/>
        <dsp:cNvSpPr/>
      </dsp:nvSpPr>
      <dsp:spPr>
        <a:xfrm>
          <a:off x="5087218" y="2121693"/>
          <a:ext cx="1599366" cy="2121693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smtClean="0">
              <a:solidFill>
                <a:schemeClr val="tx2"/>
              </a:solidFill>
            </a:rPr>
            <a:t>To use and handle keys in a simple way</a:t>
          </a:r>
          <a:endParaRPr lang="en-US" sz="1200" b="1" kern="1200" dirty="0">
            <a:solidFill>
              <a:schemeClr val="tx2"/>
            </a:solidFill>
          </a:endParaRPr>
        </a:p>
      </dsp:txBody>
      <dsp:txXfrm>
        <a:off x="5087218" y="2121693"/>
        <a:ext cx="1599366" cy="2121693"/>
      </dsp:txXfrm>
    </dsp:sp>
    <dsp:sp modelId="{95C35ED8-2FD4-FE47-AA73-E16D6906F7F8}">
      <dsp:nvSpPr>
        <dsp:cNvPr id="0" name=""/>
        <dsp:cNvSpPr/>
      </dsp:nvSpPr>
      <dsp:spPr>
        <a:xfrm>
          <a:off x="6711838" y="2121693"/>
          <a:ext cx="1599366" cy="2121693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smtClean="0">
              <a:solidFill>
                <a:schemeClr val="tx2"/>
              </a:solidFill>
            </a:rPr>
            <a:t>To have a well understood cryptographic analysis of the strength of the authentication mechanism based on reasonable assumptions about the embedded hash function</a:t>
          </a:r>
          <a:endParaRPr lang="en-US" sz="1200" b="1" kern="1200" dirty="0">
            <a:solidFill>
              <a:schemeClr val="tx2"/>
            </a:solidFill>
          </a:endParaRPr>
        </a:p>
      </dsp:txBody>
      <dsp:txXfrm>
        <a:off x="6711838" y="2121693"/>
        <a:ext cx="1599366" cy="2121693"/>
      </dsp:txXfrm>
    </dsp:sp>
  </dsp:spTree>
</dsp:drawing>
</file>

<file path=ppt/diagrams/drawing5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41378CB5-0A17-534D-8BAF-D192F37C9FA8}">
      <dsp:nvSpPr>
        <dsp:cNvPr id="0" name=""/>
        <dsp:cNvSpPr/>
      </dsp:nvSpPr>
      <dsp:spPr>
        <a:xfrm>
          <a:off x="985" y="0"/>
          <a:ext cx="2563564" cy="44958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b="1" i="0" kern="1200" dirty="0" smtClean="0"/>
            <a:t>Data that will be both authenticated and encrypted  </a:t>
          </a:r>
          <a:endParaRPr lang="en-US" sz="2100" b="1" i="0" kern="1200" dirty="0"/>
        </a:p>
      </dsp:txBody>
      <dsp:txXfrm>
        <a:off x="985" y="0"/>
        <a:ext cx="2563564" cy="1348740"/>
      </dsp:txXfrm>
    </dsp:sp>
    <dsp:sp modelId="{1E40D5F7-D92A-C641-AB69-B58BE9E4F236}">
      <dsp:nvSpPr>
        <dsp:cNvPr id="0" name=""/>
        <dsp:cNvSpPr/>
      </dsp:nvSpPr>
      <dsp:spPr>
        <a:xfrm>
          <a:off x="257342" y="1348740"/>
          <a:ext cx="2050851" cy="2922270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180" tIns="32385" rIns="43180" bIns="3238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i="0" kern="1200" dirty="0" smtClean="0"/>
            <a:t>This is the plaintext message </a:t>
          </a:r>
          <a:r>
            <a:rPr lang="en-US" sz="1700" b="1" i="1" kern="1200" dirty="0" smtClean="0"/>
            <a:t>P</a:t>
          </a:r>
          <a:r>
            <a:rPr lang="en-US" sz="1700" b="1" i="0" kern="1200" dirty="0" smtClean="0"/>
            <a:t> of the data block</a:t>
          </a:r>
        </a:p>
      </dsp:txBody>
      <dsp:txXfrm>
        <a:off x="257342" y="1348740"/>
        <a:ext cx="2050851" cy="2922270"/>
      </dsp:txXfrm>
    </dsp:sp>
    <dsp:sp modelId="{8962FEE3-16D6-AC4C-9C3D-06EDCF54DA89}">
      <dsp:nvSpPr>
        <dsp:cNvPr id="0" name=""/>
        <dsp:cNvSpPr/>
      </dsp:nvSpPr>
      <dsp:spPr>
        <a:xfrm>
          <a:off x="2756817" y="0"/>
          <a:ext cx="2563564" cy="44958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b="1" i="0" kern="1200" dirty="0" smtClean="0"/>
            <a:t>Associated data </a:t>
          </a:r>
          <a:r>
            <a:rPr lang="en-US" sz="2100" b="1" i="1" kern="1200" dirty="0" smtClean="0"/>
            <a:t>A</a:t>
          </a:r>
          <a:r>
            <a:rPr lang="en-US" sz="2100" b="1" i="0" kern="1200" dirty="0" smtClean="0"/>
            <a:t> that will be authenticated but not encrypted</a:t>
          </a:r>
        </a:p>
      </dsp:txBody>
      <dsp:txXfrm>
        <a:off x="2756817" y="0"/>
        <a:ext cx="2563564" cy="1348740"/>
      </dsp:txXfrm>
    </dsp:sp>
    <dsp:sp modelId="{32746930-5DB3-C041-8251-D9A0216F608E}">
      <dsp:nvSpPr>
        <dsp:cNvPr id="0" name=""/>
        <dsp:cNvSpPr/>
      </dsp:nvSpPr>
      <dsp:spPr>
        <a:xfrm>
          <a:off x="3013174" y="1348740"/>
          <a:ext cx="2050851" cy="2922270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180" tIns="32385" rIns="43180" bIns="3238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i="0" kern="1200" dirty="0" smtClean="0"/>
            <a:t>An example is a protocol header that must be transmitted in the clear for proper protocol operation but which needs to be authenticated</a:t>
          </a:r>
        </a:p>
      </dsp:txBody>
      <dsp:txXfrm>
        <a:off x="3013174" y="1348740"/>
        <a:ext cx="2050851" cy="2922270"/>
      </dsp:txXfrm>
    </dsp:sp>
    <dsp:sp modelId="{41D8A3A0-6DF2-AB46-AB53-333BDD99FCB6}">
      <dsp:nvSpPr>
        <dsp:cNvPr id="0" name=""/>
        <dsp:cNvSpPr/>
      </dsp:nvSpPr>
      <dsp:spPr>
        <a:xfrm>
          <a:off x="5512649" y="0"/>
          <a:ext cx="2563564" cy="44958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b="1" i="0" kern="1200" dirty="0" smtClean="0"/>
            <a:t>A nonce </a:t>
          </a:r>
          <a:r>
            <a:rPr lang="en-US" sz="2100" b="1" i="1" kern="1200" dirty="0" smtClean="0"/>
            <a:t>N</a:t>
          </a:r>
          <a:r>
            <a:rPr lang="en-US" sz="2100" b="1" i="0" kern="1200" dirty="0" smtClean="0"/>
            <a:t> that is assigned to the payload and the associated data</a:t>
          </a:r>
        </a:p>
      </dsp:txBody>
      <dsp:txXfrm>
        <a:off x="5512649" y="0"/>
        <a:ext cx="2563564" cy="1348740"/>
      </dsp:txXfrm>
    </dsp:sp>
    <dsp:sp modelId="{220981C7-655D-BB41-B6D9-8CF90E311B2D}">
      <dsp:nvSpPr>
        <dsp:cNvPr id="0" name=""/>
        <dsp:cNvSpPr/>
      </dsp:nvSpPr>
      <dsp:spPr>
        <a:xfrm>
          <a:off x="5769006" y="1348740"/>
          <a:ext cx="2050851" cy="2922270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180" tIns="32385" rIns="43180" bIns="3238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i="0" kern="1200" dirty="0" smtClean="0"/>
            <a:t>This is a unique value that is different for every instance during the lifetime of a protocol association and is intended to prevent replay attacks and certain other types of attacks</a:t>
          </a:r>
          <a:endParaRPr lang="en-US" sz="1700" b="1" i="0" kern="1200" dirty="0"/>
        </a:p>
      </dsp:txBody>
      <dsp:txXfrm>
        <a:off x="5769006" y="1348740"/>
        <a:ext cx="2050851" cy="29222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3">
  <dgm:title val=""/>
  <dgm:desc val=""/>
  <dgm:catLst>
    <dgm:cat type="relationship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>
      <dgm:param type="horzAlign" val="none"/>
      <dgm:param type="vertAlign" val="none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gte" val="2">
            <dgm:constrLst>
              <dgm:constr type="w" for="ch" forName="divider" refType="w"/>
              <dgm:constr type="h" for="ch" forName="divider" refType="w" fact="0.2"/>
              <dgm:constr type="h" for="ch" forName="divider" refType="h" op="gte" fact="0.2"/>
              <dgm:constr type="h" for="ch" forName="divider" refType="h" op="lte" fact="0.4"/>
              <dgm:constr type="ctrX" for="ch" forName="divider" refType="w" fact="0.5"/>
              <dgm:constr type="ctrY" for="ch" forName="divider" refType="h" fact="0.5"/>
              <dgm:constr type="w" for="ch" forName="downArrow" refType="w" fact="0.3"/>
              <dgm:constr type="h" for="ch" forName="downArrow" refType="h" fact="0.4"/>
              <dgm:constr type="l" for="ch" forName="downArrow" refType="w" fact="0.1"/>
              <dgm:constr type="t" for="ch" forName="downArrow" refType="h" fact="0.05"/>
              <dgm:constr type="lOff" for="ch" forName="downArrow" refType="w" fact="0.02"/>
              <dgm:constr type="w" for="ch" forName="downArrowText" refType="w" fact="0.32"/>
              <dgm:constr type="h" for="ch" forName="downArrowText" refType="h" fact="0.42"/>
              <dgm:constr type="t" for="ch" forName="downArrowText"/>
              <dgm:constr type="r" for="ch" forName="downArrowText" refType="w" fact="0.85"/>
              <dgm:constr type="w" for="ch" forName="upArrow" refType="w" fact="0.3"/>
              <dgm:constr type="h" for="ch" forName="upArrow" refType="h" fact="0.4"/>
              <dgm:constr type="b" for="ch" forName="upArrow" refType="h" fact="0.95"/>
              <dgm:constr type="r" for="ch" forName="upArrow" refType="w" fact="0.9"/>
              <dgm:constr type="rOff" for="ch" forName="upArrow" refType="w" fact="-0.02"/>
              <dgm:constr type="w" for="ch" forName="upArrowText" refType="w" fact="0.32"/>
              <dgm:constr type="h" for="ch" forName="upArrowText" refType="h" fact="0.42"/>
              <dgm:constr type="b" for="ch" forName="upArrowText" refType="h"/>
              <dgm:constr type="l" for="ch" forName="upArrowText" refType="w" fact="0.15"/>
              <dgm:constr type="primFontSz" for="ch" ptType="node" op="equ" val="65"/>
            </dgm:constrLst>
          </dgm:if>
          <dgm:else name="Name4">
            <dgm:constrLst>
              <dgm:constr type="w" for="ch" forName="downArrow" refType="w" fact="0.4"/>
              <dgm:constr type="h" for="ch" forName="downArrow" refType="h" fact="0.8"/>
              <dgm:constr type="l" for="ch" forName="downArrow" refType="w" fact="0.02"/>
              <dgm:constr type="t" for="ch" forName="downArrow" refType="h" fact="0.05"/>
              <dgm:constr type="lOff" for="ch" forName="downArrow" refType="w" fact="0.02"/>
              <dgm:constr type="w" for="ch" forName="downArrowText" refType="w" fact="0.5"/>
              <dgm:constr type="h" for="ch" forName="downArrowText" refType="h"/>
              <dgm:constr type="t" for="ch" forName="downArrowText"/>
              <dgm:constr type="r" for="ch" forName="downArrowText" refType="w"/>
              <dgm:constr type="primFontSz" for="ch" ptType="node" op="equ" val="65"/>
            </dgm:constrLst>
          </dgm:else>
        </dgm:choose>
      </dgm:if>
      <dgm:else name="Name5">
        <dgm:choose name="Name6">
          <dgm:if name="Name7" axis="ch" ptType="node" func="cnt" op="gte" val="2">
            <dgm:constrLst>
              <dgm:constr type="w" for="ch" forName="divider" refType="w"/>
              <dgm:constr type="h" for="ch" forName="divider" refType="w" fact="0.2"/>
              <dgm:constr type="h" for="ch" forName="divider" refType="h" op="gte" fact="0.2"/>
              <dgm:constr type="h" for="ch" forName="divider" refType="h" op="lte" fact="0.4"/>
              <dgm:constr type="ctrX" for="ch" forName="divider" refType="w" fact="0.5"/>
              <dgm:constr type="ctrY" for="ch" forName="divider" refType="h" fact="0.5"/>
              <dgm:constr type="w" for="ch" forName="downArrow" refType="w" fact="0.3"/>
              <dgm:constr type="h" for="ch" forName="downArrow" refType="h" fact="0.4"/>
              <dgm:constr type="r" for="ch" forName="downArrow" refType="w" fact="0.9"/>
              <dgm:constr type="t" for="ch" forName="downArrow" refType="h" fact="0.05"/>
              <dgm:constr type="rOff" for="ch" forName="downArrow" refType="w" fact="-0.02"/>
              <dgm:constr type="w" for="ch" forName="downArrowText" refType="w" fact="0.32"/>
              <dgm:constr type="h" for="ch" forName="downArrowText" refType="h" fact="0.42"/>
              <dgm:constr type="t" for="ch" forName="downArrowText"/>
              <dgm:constr type="l" for="ch" forName="downArrowText" refType="w" fact="0.15"/>
              <dgm:constr type="w" for="ch" forName="upArrow" refType="w" fact="0.3"/>
              <dgm:constr type="h" for="ch" forName="upArrow" refType="h" fact="0.4"/>
              <dgm:constr type="b" for="ch" forName="upArrow" refType="h" fact="0.95"/>
              <dgm:constr type="l" for="ch" forName="upArrow" refType="w" fact="0.1"/>
              <dgm:constr type="lOff" for="ch" forName="upArrow" refType="w" fact="0.02"/>
              <dgm:constr type="w" for="ch" forName="upArrowText" refType="w" fact="0.32"/>
              <dgm:constr type="h" for="ch" forName="upArrowText" refType="h" fact="0.42"/>
              <dgm:constr type="b" for="ch" forName="upArrowText" refType="h"/>
              <dgm:constr type="r" for="ch" forName="upArrowText" refType="w" fact="0.85"/>
              <dgm:constr type="primFontSz" for="ch" ptType="node" op="equ" val="65"/>
            </dgm:constrLst>
          </dgm:if>
          <dgm:else name="Name8">
            <dgm:constrLst>
              <dgm:constr type="w" for="ch" forName="downArrow" refType="w" fact="0.4"/>
              <dgm:constr type="h" for="ch" forName="downArrow" refType="h" fact="0.8"/>
              <dgm:constr type="r" for="ch" forName="downArrow" refType="w" fact="0.98"/>
              <dgm:constr type="t" for="ch" forName="downArrow" refType="h" fact="0.05"/>
              <dgm:constr type="rOff" for="ch" forName="downArrow" refType="w" fact="-0.02"/>
              <dgm:constr type="w" for="ch" forName="downArrowText" refType="w" fact="0.5"/>
              <dgm:constr type="h" for="ch" forName="downArrowText" refType="h"/>
              <dgm:constr type="t" for="ch" forName="downArrowText"/>
              <dgm:constr type="l" for="ch" forName="downArrowText"/>
              <dgm:constr type="primFontSz" for="ch" ptType="node" op="equ" val="65"/>
            </dgm:constrLst>
          </dgm:else>
        </dgm:choose>
      </dgm:else>
    </dgm:choose>
    <dgm:ruleLst/>
    <dgm:choose name="Name9">
      <dgm:if name="Name10" axis="ch" ptType="node" func="cnt" op="gte" val="2">
        <dgm:layoutNode name="divider" styleLbl="fgShp">
          <dgm:alg type="sp"/>
          <dgm:choose name="Name11">
            <dgm:if name="Name12" func="var" arg="dir" op="equ" val="norm">
              <dgm:shape xmlns:r="http://schemas.openxmlformats.org/officeDocument/2006/relationships" rot="-5" type="mathMinus" r:blip="">
                <dgm:adjLst/>
              </dgm:shape>
            </dgm:if>
            <dgm:else name="Name13">
              <dgm:shape xmlns:r="http://schemas.openxmlformats.org/officeDocument/2006/relationships" rot="5" type="mathMinus" r:blip="">
                <dgm:adjLst/>
              </dgm:shape>
            </dgm:else>
          </dgm:choose>
          <dgm:presOf/>
          <dgm:constrLst/>
          <dgm:ruleLst/>
        </dgm:layoutNode>
      </dgm:if>
      <dgm:else name="Name14"/>
    </dgm:choose>
    <dgm:forEach name="Name15" axis="ch" ptType="node" cnt="1">
      <dgm:layoutNode name="downArrow" styleLbl="node1">
        <dgm:alg type="sp"/>
        <dgm:shape xmlns:r="http://schemas.openxmlformats.org/officeDocument/2006/relationships" type="downArrow" r:blip="">
          <dgm:adjLst/>
        </dgm:shape>
        <dgm:presOf/>
        <dgm:constrLst/>
        <dgm:ruleLst/>
      </dgm:layoutNode>
      <dgm:layoutNode name="downArrowText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/>
        <dgm:ruleLst>
          <dgm:rule type="primFontSz" val="5" fact="NaN" max="NaN"/>
        </dgm:ruleLst>
      </dgm:layoutNode>
    </dgm:forEach>
    <dgm:forEach name="Name16" axis="ch" ptType="node" st="2" cnt="1">
      <dgm:layoutNode name="upArrow" styleLbl="node1">
        <dgm:alg type="sp"/>
        <dgm:shape xmlns:r="http://schemas.openxmlformats.org/officeDocument/2006/relationships" type="upArrow" r:blip="">
          <dgm:adjLst/>
        </dgm:shape>
        <dgm:presOf/>
        <dgm:constrLst/>
        <dgm:ruleLst/>
      </dgm:layoutNode>
      <dgm:layoutNode name="upArrowText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target2">
  <dgm:title val=""/>
  <dgm:desc val=""/>
  <dgm:catLst>
    <dgm:cat type="relationship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chMax val="3"/>
      <dgm:chPref val="1"/>
      <dgm:dir/>
      <dgm:animLvl val="lvl"/>
      <dgm:resizeHandles/>
    </dgm:varLst>
    <dgm:alg type="composite">
      <dgm:param type="horzAlign" val="none"/>
      <dgm:param type="vertAlign" val="none"/>
    </dgm:alg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 ch" ptType="node node" st="1 1" cnt="1 0" func="cnt" op="gt" val="0">
            <dgm:choose name="Name5">
              <dgm:if name="Name6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2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395"/>
                  <dgm:constr type="t" for="ch" forName="centerBox" refType="h" fact="0.5"/>
                  <dgm:constr type="w" for="ch" forName="centerBox" refType="w" fact="0.55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7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2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225"/>
                  <dgm:constr type="t" for="ch" forName="centerBox" refType="h" fact="0.5"/>
                  <dgm:constr type="w" for="ch" forName="centerBox" refType="w" fact="0.72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if>
          <dgm:else name="Name8">
            <dgm:choose name="Name9">
              <dgm:if name="Name10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26"/>
                  <dgm:constr type="t" for="ch" forName="centerBox" refType="h" fact="0.5"/>
                  <dgm:constr type="w" for="ch" forName="centerBox" refType="w" fact="0.6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11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else>
        </dgm:choose>
      </dgm:if>
      <dgm:else name="Name12">
        <dgm:choose name="Name13">
          <dgm:if name="Name14" axis="ch ch" ptType="node node" st="1 1" cnt="1 0" func="cnt" op="gt" val="0">
            <dgm:choose name="Name15">
              <dgm:if name="Name16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5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17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72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if>
          <dgm:else name="Name18">
            <dgm:choose name="Name19">
              <dgm:if name="Name20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6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21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else>
        </dgm:choose>
      </dgm:else>
    </dgm:choose>
    <dgm:ruleLst/>
    <dgm:choose name="Name22">
      <dgm:if name="Name23" axis="root ch" ptType="all node" st="1 1" cnt="0 0" func="cnt" op="gte" val="1">
        <dgm:layoutNode name="outerBox" styleLbl="node1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24">
            <dgm:if name="Name25" axis="root ch" ptType="all node" st="1 1" cnt="0 0" func="cnt" op="gt" val="1">
              <dgm:choose name="Name26">
                <dgm:if name="Name27" func="var" arg="dir" op="equ" val="norm">
                  <dgm:constrLst>
                    <dgm:constr type="l" for="ch" forName="outerBoxParent"/>
                    <dgm:constr type="t" for="ch" forName="outerBoxParent"/>
                    <dgm:constr type="w" for="ch" forName="outerBoxParent" refType="w"/>
                    <dgm:constr type="h" for="ch" forName="outerBoxParent" refType="h"/>
                    <dgm:constr type="bMarg" for="ch" forName="outerBoxParent" refType="h" fact="2.2"/>
                    <dgm:constr type="l" for="ch" forName="outerBoxChildren" refType="w" fact="0.025"/>
                    <dgm:constr type="t" for="ch" forName="outerBoxChildren" refType="h" fact="0.25"/>
                    <dgm:constr type="w" for="ch" forName="outerBoxChildren" refType="w" fact="0.15"/>
                    <dgm:constr type="h" for="ch" forName="outerBoxChildren" refType="h" fact="0.7"/>
                  </dgm:constrLst>
                </dgm:if>
                <dgm:else name="Name28">
                  <dgm:constrLst>
                    <dgm:constr type="l" for="ch" forName="outerBoxParent"/>
                    <dgm:constr type="t" for="ch" forName="outerBoxParent"/>
                    <dgm:constr type="w" for="ch" forName="outerBoxParent" refType="w"/>
                    <dgm:constr type="h" for="ch" forName="outerBoxParent" refType="h"/>
                    <dgm:constr type="bMarg" for="ch" forName="outerBoxParent" refType="h" fact="2.2"/>
                    <dgm:constr type="l" for="ch" forName="outerBoxChildren" refType="w" fact="0.825"/>
                    <dgm:constr type="t" for="ch" forName="outerBoxChildren" refType="h" fact="0.25"/>
                    <dgm:constr type="w" for="ch" forName="outerBoxChildren" refType="w" fact="0.15"/>
                    <dgm:constr type="h" for="ch" forName="outerBoxChildren" refType="h" fact="0.7"/>
                  </dgm:constrLst>
                </dgm:else>
              </dgm:choose>
            </dgm:if>
            <dgm:else name="Name29">
              <dgm:constrLst>
                <dgm:constr type="l" for="ch" forName="outerBoxParent"/>
                <dgm:constr type="t" for="ch" forName="outerBoxParent"/>
                <dgm:constr type="w" for="ch" forName="outerBoxParent" refType="w"/>
                <dgm:constr type="h" for="ch" forName="outerBoxParent" refType="h"/>
                <dgm:constr type="bMarg" for="ch" forName="outerBoxParent" refType="h" fact="1.75"/>
                <dgm:constr type="l" for="ch" forName="outerBoxChildren" refType="w" fact="0.025"/>
                <dgm:constr type="t" for="ch" forName="outerBoxChildren" refType="h" fact="0.45"/>
                <dgm:constr type="w" for="ch" forName="outerBoxChildren" refType="w" fact="0.95"/>
                <dgm:constr type="h" for="ch" forName="outerBoxChildren" refType="h" fact="0.45"/>
              </dgm:constrLst>
            </dgm:else>
          </dgm:choose>
          <dgm:ruleLst/>
          <dgm:layoutNode name="outer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085"/>
              </dgm:adjLst>
            </dgm:shape>
            <dgm:presOf axis="ch" ptType="node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layoutNode name="outerBoxChildren">
            <dgm:choose name="Name30">
              <dgm:if name="Name31" axis="root ch" ptType="all node" st="1 1" cnt="0 0" func="cnt" op="gt" val="1">
                <dgm:alg type="lin">
                  <dgm:param type="linDir" val="fromT"/>
                  <dgm:param type="vertAlign" val="t"/>
                </dgm:alg>
              </dgm:if>
              <dgm:else name="Name32">
                <dgm:choose name="Name33">
                  <dgm:if name="Name34" func="var" arg="dir" op="equ" val="norm">
                    <dgm:alg type="lin">
                      <dgm:param type="horzAlign" val="l"/>
                    </dgm:alg>
                  </dgm:if>
                  <dgm:else name="Name35">
                    <dgm:alg type="lin">
                      <dgm:param type="linDir" val="fromR"/>
                      <dgm:param type="horz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>
              <dgm:constr type="w" for="ch" forName="oChild" refType="w"/>
              <dgm:constr type="h" for="ch" forName="oChild" refType="h"/>
            </dgm:constrLst>
            <dgm:ruleLst/>
            <dgm:forEach name="Name36" axis="ch ch" ptType="node node" st="1 1" cnt="1 0">
              <dgm:layoutNode name="oChild" styleLbl="fgAcc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forEach name="Name37" axis="followSib" ptType="sibTrans" cnt="1">
                <dgm:layoutNode name="outerSibTrans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userA"/>
                    <dgm:constr type="w" refType="userA" fact="0.015"/>
                    <dgm:constr type="h" refType="userA" fact="0.015"/>
                  </dgm:constrLst>
                  <dgm:ruleLst/>
                </dgm:layoutNode>
              </dgm:forEach>
            </dgm:forEach>
          </dgm:layoutNode>
        </dgm:layoutNode>
      </dgm:if>
      <dgm:else name="Name38"/>
    </dgm:choose>
    <dgm:choose name="Name39">
      <dgm:if name="Name40" axis="root ch" ptType="all node" st="1 1" cnt="0 0" func="cnt" op="gte" val="2">
        <dgm:layoutNode name="middleBox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41">
            <dgm:if name="Name42" axis="root ch" ptType="all node" st="1 1" cnt="0 0" func="cnt" op="gt" val="2">
              <dgm:choose name="Name43">
                <dgm:if name="Name44" func="var" arg="dir" op="equ" val="norm">
                  <dgm:constrLst>
                    <dgm:constr type="l" for="ch" forName="middleBoxParent"/>
                    <dgm:constr type="t" for="ch" forName="middleBoxParent"/>
                    <dgm:constr type="w" for="ch" forName="middleBoxParent" refType="w"/>
                    <dgm:constr type="h" for="ch" forName="middleBoxParent" refType="h"/>
                    <dgm:constr type="bMarg" for="ch" forName="middleBoxParent" refType="h" fact="1.8"/>
                    <dgm:constr type="l" for="ch" forName="middleBoxChildren" refType="w" fact="0.025"/>
                    <dgm:constr type="t" for="ch" forName="middleBoxChildren" refType="h" fact="0.35"/>
                    <dgm:constr type="w" for="ch" forName="middleBoxChildren" refType="w" fact="0.2"/>
                    <dgm:constr type="h" for="ch" forName="middleBoxChildren" refType="h" fact="0.575"/>
                  </dgm:constrLst>
                </dgm:if>
                <dgm:else name="Name45">
                  <dgm:constrLst>
                    <dgm:constr type="l" for="ch" forName="middleBoxParent"/>
                    <dgm:constr type="t" for="ch" forName="middleBoxParent"/>
                    <dgm:constr type="w" for="ch" forName="middleBoxParent" refType="w"/>
                    <dgm:constr type="h" for="ch" forName="middleBoxParent" refType="h"/>
                    <dgm:constr type="bMarg" for="ch" forName="middleBoxParent" refType="h" fact="1.8"/>
                    <dgm:constr type="l" for="ch" forName="middleBoxChildren" refType="w" fact="0.775"/>
                    <dgm:constr type="t" for="ch" forName="middleBoxChildren" refType="h" fact="0.35"/>
                    <dgm:constr type="w" for="ch" forName="middleBoxChildren" refType="w" fact="0.2"/>
                    <dgm:constr type="h" for="ch" forName="middleBoxChildren" refType="h" fact="0.575"/>
                  </dgm:constrLst>
                </dgm:else>
              </dgm:choose>
            </dgm:if>
            <dgm:else name="Name46">
              <dgm:constrLst>
                <dgm:constr type="l" for="ch" forName="middleBoxParent"/>
                <dgm:constr type="t" for="ch" forName="middleBoxParent"/>
                <dgm:constr type="w" for="ch" forName="middleBoxParent" refType="w"/>
                <dgm:constr type="h" for="ch" forName="middleBoxParent" refType="h"/>
                <dgm:constr type="bMarg" for="ch" forName="middleBoxParent" refType="h" fact="1.8"/>
                <dgm:constr type="l" for="ch" forName="middleBoxChildren" refType="w" fact="0.025"/>
                <dgm:constr type="t" for="ch" forName="middleBoxChildren" refType="h" fact="0.45"/>
                <dgm:constr type="w" for="ch" forName="middleBoxChildren" refType="w" fact="0.95"/>
                <dgm:constr type="h" for="ch" forName="middleBoxChildren" refType="h" fact="0.45"/>
              </dgm:constrLst>
            </dgm:else>
          </dgm:choose>
          <dgm:ruleLst/>
          <dgm:layoutNode name="middle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105"/>
              </dgm:adjLst>
            </dgm:shape>
            <dgm:presOf axis="ch" ptType="node" st="2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layoutNode name="middleBoxChildren">
            <dgm:choose name="Name47">
              <dgm:if name="Name48" axis="root ch" ptType="all node" st="1 1" cnt="0 0" func="cnt" op="gt" val="2">
                <dgm:alg type="lin">
                  <dgm:param type="linDir" val="fromT"/>
                  <dgm:param type="vertAlign" val="t"/>
                </dgm:alg>
              </dgm:if>
              <dgm:else name="Name49">
                <dgm:choose name="Name50">
                  <dgm:if name="Name51" func="var" arg="dir" op="equ" val="norm">
                    <dgm:alg type="lin">
                      <dgm:param type="horzAlign" val="l"/>
                    </dgm:alg>
                  </dgm:if>
                  <dgm:else name="Name52">
                    <dgm:alg type="lin">
                      <dgm:param type="linDir" val="fromR"/>
                      <dgm:param type="horz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>
              <dgm:constr type="w" for="ch" forName="mChild" refType="w"/>
              <dgm:constr type="h" for="ch" forName="mChild" refType="h"/>
            </dgm:constrLst>
            <dgm:ruleLst/>
            <dgm:forEach name="Name53" axis="ch ch" ptType="node node" st="2 1" cnt="1 0">
              <dgm:layoutNode name="mChild" styleLbl="fgAcc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forEach name="Name54" axis="followSib" ptType="sibTrans" cnt="1">
                <dgm:layoutNode name="middleSibTrans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userA"/>
                    <dgm:constr type="w" refType="userA" fact="0.015"/>
                    <dgm:constr type="h" refType="userA" fact="0.015"/>
                  </dgm:constrLst>
                  <dgm:ruleLst/>
                </dgm:layoutNode>
              </dgm:forEach>
            </dgm:forEach>
          </dgm:layoutNode>
        </dgm:layoutNode>
      </dgm:if>
      <dgm:else name="Name55"/>
    </dgm:choose>
    <dgm:choose name="Name56">
      <dgm:if name="Name57" axis="root ch" ptType="all node" st="1 1" cnt="0 0" func="cnt" op="gte" val="3">
        <dgm:layoutNode name="centerBox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58">
            <dgm:if name="Name59" axis="ch ch" ptType="node node" st="3 1" cnt="1 0" func="cnt" op="gt" val="0">
              <dgm:constrLst>
                <dgm:constr type="l" for="ch" forName="centerBoxParent"/>
                <dgm:constr type="t" for="ch" forName="centerBoxParent"/>
                <dgm:constr type="w" for="ch" forName="centerBoxParent" refType="w"/>
                <dgm:constr type="h" for="ch" forName="centerBoxParent" refType="h"/>
                <dgm:constr type="bMarg" for="ch" forName="centerBoxParent" refType="h" fact="1.6"/>
                <dgm:constr type="l" for="ch" forName="centerBoxChildren" refType="w" fact="0.025"/>
                <dgm:constr type="t" for="ch" forName="centerBoxChildren" refType="h" fact="0.45"/>
                <dgm:constr type="w" for="ch" forName="centerBoxChildren" refType="w" fact="0.95"/>
                <dgm:constr type="h" for="ch" forName="centerBoxChildren" refType="h" fact="0.45"/>
              </dgm:constrLst>
            </dgm:if>
            <dgm:else name="Name60">
              <dgm:constrLst>
                <dgm:constr type="l" for="ch" forName="centerBoxParent"/>
                <dgm:constr type="t" for="ch" forName="centerBoxParent"/>
                <dgm:constr type="w" for="ch" forName="centerBoxParent" refType="w"/>
                <dgm:constr type="h" for="ch" forName="centerBoxParent" refType="h"/>
              </dgm:constrLst>
            </dgm:else>
          </dgm:choose>
          <dgm:ruleLst/>
          <dgm:layoutNode name="center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105"/>
              </dgm:adjLst>
            </dgm:shape>
            <dgm:presOf axis="ch" ptType="node" st="3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choose name="Name61">
            <dgm:if name="Name62" axis="ch ch" ptType="node node" st="3 1" cnt="1 0" func="cnt" op="gt" val="0">
              <dgm:layoutNode name="centerBoxChildren">
                <dgm:choose name="Name63">
                  <dgm:if name="Name64" func="var" arg="dir" op="equ" val="norm">
                    <dgm:alg type="lin">
                      <dgm:param type="horzAlign" val="l"/>
                    </dgm:alg>
                  </dgm:if>
                  <dgm:else name="Name65">
                    <dgm:alg type="lin">
                      <dgm:param type="linDir" val="fromR"/>
                      <dgm:param type="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cChild" refType="w"/>
                  <dgm:constr type="h" for="ch" forName="cChild" refType="h"/>
                </dgm:constrLst>
                <dgm:ruleLst/>
                <dgm:forEach name="Name66" axis="ch ch" ptType="node node" st="3 1" cnt="1 0">
                  <dgm:layoutNode name="cChild" styleLbl="fgAcc1">
                    <dgm:varLst>
                      <dgm:bulletEnabled val="1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05"/>
                      </dgm:adjLst>
                    </dgm:shape>
                    <dgm:presOf axis="desOrSelf" ptType="node"/>
                    <dgm:constrLst>
                      <dgm:constr type="tMarg" refType="primFontSz" fact="0.3"/>
                      <dgm:constr type="bMarg" refType="primFontSz" fact="0.3"/>
                      <dgm:constr type="lMarg" refType="primFontSz" fact="0.3"/>
                      <dgm:constr type="rMarg" refType="primFontSz" fact="0.3"/>
                    </dgm:constrLst>
                    <dgm:ruleLst>
                      <dgm:rule type="primFontSz" val="5" fact="NaN" max="NaN"/>
                    </dgm:ruleLst>
                  </dgm:layoutNode>
                  <dgm:forEach name="Name67" axis="followSib" ptType="sibTrans" cnt="1">
                    <dgm:layoutNode name="centerSibTrans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  <dgm:constrLst>
                        <dgm:constr type="userA"/>
                        <dgm:constr type="w" refType="userA" fact="0.015"/>
                        <dgm:constr type="h" refType="userA" fact="0.015"/>
                      </dgm:constrLst>
                      <dgm:ruleLst/>
                    </dgm:layoutNode>
                  </dgm:forEach>
                </dgm:forEach>
              </dgm:layoutNode>
            </dgm:if>
            <dgm:else name="Name68"/>
          </dgm:choose>
        </dgm:layoutNode>
      </dgm:if>
      <dgm:else name="Name69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02ABA5-4B38-0A44-9B9D-7330C89F6B91}" type="datetimeFigureOut">
              <a:rPr lang="en-US" smtClean="0"/>
              <a:t>4/21/16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60CB57-742E-6248-8C1A-A57774C5B99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  <a:p>
            <a:pPr lvl="3"/>
            <a:r>
              <a:rPr lang="en-AU" noProof="0"/>
              <a:t>Fourth level</a:t>
            </a:r>
          </a:p>
          <a:p>
            <a:pPr lvl="4"/>
            <a:r>
              <a:rPr lang="en-AU" noProof="0"/>
              <a:t>Fifth level</a:t>
            </a:r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25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fld id="{8E01877B-E5FC-4F44-9FC7-4B20506F310A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19838C5-D210-634D-AD54-173CE2131589}" type="slidenum">
              <a:rPr lang="en-AU">
                <a:latin typeface="Arial" pitchFamily="-84" charset="0"/>
              </a:rPr>
              <a:pPr/>
              <a:t>1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 smtClean="0">
                <a:latin typeface="Times New Roman" pitchFamily="-84" charset="0"/>
                <a:ea typeface="ＭＳ Ｐゴシック" pitchFamily="-84" charset="-128"/>
                <a:cs typeface="ＭＳ Ｐゴシック" pitchFamily="-84" charset="-128"/>
              </a:rPr>
              <a:t>Lecture slides prepared for “Cryptography and Network Security”,</a:t>
            </a:r>
            <a:r>
              <a:rPr lang="en-US" dirty="0" smtClean="0">
                <a:latin typeface="Times New Roman" pitchFamily="-84" charset="0"/>
                <a:ea typeface="ＭＳ Ｐゴシック" pitchFamily="-84" charset="-128"/>
                <a:cs typeface="ＭＳ Ｐゴシック" pitchFamily="-84" charset="-128"/>
              </a:rPr>
              <a:t> 7/</a:t>
            </a:r>
            <a:r>
              <a:rPr lang="en-US" dirty="0" smtClean="0">
                <a:latin typeface="Times New Roman" pitchFamily="-84" charset="0"/>
                <a:ea typeface="ＭＳ Ｐゴシック" pitchFamily="-84" charset="-128"/>
                <a:cs typeface="ＭＳ Ｐゴシック" pitchFamily="-84" charset="-128"/>
              </a:rPr>
              <a:t>e, by William Stallings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, Chapter 12 – “</a:t>
            </a:r>
            <a:r>
              <a:rPr lang="en-AU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Message Authentication Codes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”.</a:t>
            </a:r>
            <a:endParaRPr lang="en-AU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pPr eaLnBrk="1" hangingPunct="1"/>
            <a:endParaRPr lang="en-AU" dirty="0" smtClean="0">
              <a:latin typeface="Times New Roman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pPr eaLnBrk="1" hangingPunct="1"/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One of the most fascinating and complex areas of cryptography is that of message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authentication and the related area of digital signatures. It would be impossible,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anything less than book length, to exhaust all the cryptographic functions and protocols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that have been proposed or implemented for message authentication and digital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signatures. Instead, the purpose of this chapter and the next is to provide a broad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overview of the subject and to develop a systematic means of describing the various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approaches.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This 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chapter begins with an introduction to the requirements for authentication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and digital signature and the types of attacks to be countered. Then the basic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approaches are surveyed. The remainder of the chapter deals with the fundamental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approach to message authentication known as the message authentication code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(MAC). Following an overview of this topic, the chapter looks at security considerations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for MACs. This is followed by a discussion of specific MACs in two categories: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those built from cryptographic hash functions and those built using a block cipher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mode of operation. Next, we look at a relatively recent approach known as authenticated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encryption. Finally, we look at the use of cryptographic hash functions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MACs for pseudorandom number generation.</a:t>
            </a:r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110E2E4-7EF1-9740-B874-0923C8317D3F}" type="slidenum">
              <a:rPr lang="en-AU" smtClean="0">
                <a:latin typeface="Arial" pitchFamily="-84" charset="0"/>
              </a:rPr>
              <a:pPr/>
              <a:t>2</a:t>
            </a:fld>
            <a:endParaRPr lang="en-AU" dirty="0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01FBB41-D1EB-224C-BB0E-77BBD30CB389}" type="slidenum">
              <a:rPr lang="en-AU">
                <a:latin typeface="Arial" pitchFamily="-84" charset="0"/>
              </a:rPr>
              <a:pPr/>
              <a:t>3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In the context of communications across a network, the following attacks can be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identified.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1. Disclosure:  Release of message contents to any person or process not possessing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appropriate cryptographic key.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2. Traffic analysis:  Discovery of the pattern of traffic between parties. In a connection-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oriented application, the frequency and duration of connections could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be determined. In either a connection-oriented or connectionless environment,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number and length of messages between parties could be determined.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3. Masquerade:  Insertion of messages into the network from a fraudulent source.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This includes the creation of messages by an opponent that are purported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come from an authorized entity. Also included are fraudulent acknowledgments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of message receipt or nonreceipt by someone other than the message recipient.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4. Content modification:  Changes to the contents of a message, including insertion,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deletion, transposition, and modification.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5. Sequence modification:  Any modification to a sequence of messages between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parties, including insertion, deletion, and reordering.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6. Timing modification:  Delay or replay of messages. In a connection-oriented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application, an entire session or sequence of messages could be a replay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some previous valid session, or individual messages in the sequence could be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delayed or replayed. In a connectionless application, an individual message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(e.g., datagram) could be delayed or replayed.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7. Source repudiation:  Denial of transmission of message by source.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8. Destination repudiation:  Denial of receipt of message by destination.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Measures to deal with the first two attacks are in the realm of message confidentiality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and are dealt with in Part One. Measures to deal with items (3) through (6)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in the foregoing list are generally regarded as message authentication. Mechanisms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for dealing specifically with item (7) come under the heading of digital signatures.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Generally, a digital signature technique will also counter some or all of the attacks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listed under items (3) through (6). Dealing with item (8) may require a combination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of the use of digital signatures and a protocol designed to counter this attack.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In summary, message authentication is a procedure to verify that received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messages come from the alleged source and have not been altered. Message authentication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may also verify sequencing and timeliness. A digital signature is an authentication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technique that also includes measures to counter repudiation by the source.</a:t>
            </a:r>
            <a:endParaRPr lang="en-AU" dirty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Any message authentication or digital signature mechanism has two levels of functionality.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At the lower level, there must be some sort of function that produces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an authenticator: a value to be used to authenticate a message. This lower-level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function is then used as a primitive in a higher-level authentication protocol that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enables a receiver to verify the authenticity of a message.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This section is concerned with the types of functions that may be used to produce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an authenticator. These may be grouped into three classes.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• Hash function:  A function that maps a message of any length into a fixed-length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hash value, which serves as the authenticator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• Message encryption:  The ciphertext of the entire message serves as its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authenticator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• Message authentication code (MAC):  A function of the message and a secret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key that produces a fixed-length value that serves as the authenticator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Hash functions, and how they may serve for message authentication, are discussed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in Chapter 11. The remainder of this section briefly examines the remaining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two topics. The remainder of the chapter elaborates on the topic of MACs.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E01877B-E5FC-4F44-9FC7-4B20506F310A}" type="slidenum">
              <a:rPr lang="en-AU" smtClean="0"/>
              <a:pPr>
                <a:defRPr/>
              </a:pPr>
              <a:t>4</a:t>
            </a:fld>
            <a:endParaRPr lang="en-AU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Consider the straightforward use of symmetric encryption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(Figure 12.1a). A message M  transmitted from source A to destination B is encrypted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using a secret key K  shared by A and B. If no other party knows the key,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then confidentiality is provided: No other party can recover the plaintext of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message.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In addition, B is assured that the message was generated by A. Why?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message must have come from A, because A is the only other party that possesses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K  and therefore the only other party with the information necessary to construct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ciphertext that can be decrypted with 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K. 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Furthermore, if M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is 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recovered, B knows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that none of the bits of M  have been altered, because an opponent that does not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know K  would not know how to alter bits in the ciphertext to produce the desired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changes in the plaintext.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So we may say that symmetric encryption provides authentication as well as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confidentiality. However, this flat statement needs to be qualified. Consider exactly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what is happening at B. Given a decryption function D and a secret key 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K, 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destination will accept any  input X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and 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produce output Y = D (K , X ). If X  is the ciphertext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of a legitimate message M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produced 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by the corresponding encryption function,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then Y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is 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some plaintext message 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M. 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Otherwise, Y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will 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likely be a meaningless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sequence of bits. There may need to be some automated means of determining at B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whether Y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is 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legitimate plaintext and therefore must have come from A.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implications of the line of reasoning in the preceding paragraph are profound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from the point of view of authentication. Suppose the message M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can 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be any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arbitrary bit pattern. In that case, there is no way to determine automatically, at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destination, whether an incoming message is the ciphertext of a legitimate message.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This conclusion is incontrovertible: If M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can 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be any bit pattern, then regardless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value of 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X, 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value Y =  D(K , X ) is some  bit pattern and therefore must be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accepted as authentic plaintext.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Thus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, in general, we require that only a small subset of all possible bit patterns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be considered legitimate plaintext. In that case, any spurious ciphertext is unlikely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to produce legitimate plaintext. For example, suppose that only one bit pattern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10</a:t>
            </a:r>
            <a:r>
              <a:rPr lang="en-US" sz="1200" b="1" kern="1200" baseline="3000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6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 is legitimate plaintext. Then the probability that any randomly chosen bit pattern,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treated as ciphertext, will produce a legitimate plaintext message is only 10</a:t>
            </a:r>
            <a:r>
              <a:rPr lang="en-US" sz="1200" b="1" kern="1200" baseline="3000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-6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E01877B-E5FC-4F44-9FC7-4B20506F310A}" type="slidenum">
              <a:rPr lang="en-AU" smtClean="0"/>
              <a:pPr>
                <a:defRPr/>
              </a:pPr>
              <a:t>5</a:t>
            </a:fld>
            <a:endParaRPr lang="en-AU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It may be difficult to determine automatically  if incoming ciphertext decrypts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to intelligible plaintext. If the plaintext is, say, a binary object file or digitized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X-rays, determination of properly formed and therefore authentic plaintext may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be difficult. Thus, an opponent could achieve a certain level of disruption simply by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issuing messages with random content purporting to come from a legitimate user.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One solution to this problem is to force the plaintext to have some structure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that is easily recognized but that cannot be replicated without recourse to the encryption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function. We could, for example, append an error-detecting code, also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known as a frame check sequence (FCS) or checksum, to each message before encryption,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as illustrated in Figure 12.2a. A prepares a plaintext message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M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and 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provides this as input to a function F that produces an FCS. The FCS is appended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M  and the entire block is then encrypted. At the destination, B decrypts the incoming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block and treats the results as a message with an appended FCS. B applies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same function F to attempt to reproduce the FCS. If the calculated FCS is equal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incoming FCS, then the message is considered authentic. It is unlikely that any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random sequence of bits would exhibit the desired relationship.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Note that the order in which the FCS and encryption functions are performed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is critical. The sequence illustrated in Figure 12.2a is referred to in [DIFF79] as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internal error control , which the authors contrast with external error control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(Figure 12.2b). With internal error control, authentication is provided because an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opponent would have difficulty generating ciphertext that, when decrypted, would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have valid error control bits. If instead the FCS is the outer code, an opponent can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construct messages with valid error-control codes. Although the opponent cannot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know what the decrypted plaintext will be, he or she can still hope to create confusion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and disrupt operations.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E01877B-E5FC-4F44-9FC7-4B20506F310A}" type="slidenum">
              <a:rPr lang="en-AU" smtClean="0"/>
              <a:pPr>
                <a:defRPr/>
              </a:pPr>
              <a:t>6</a:t>
            </a:fld>
            <a:endParaRPr lang="en-AU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An error-control code is just one example; in fact, any sort of structuring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added to the transmitted message serves to strengthen the authentication capability.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Such structure is provided by the use of a communications architecture consisting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of layered protocols. As an example, consider the structure of messages transmitted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using the TCP/IP protocol architecture. Figure 12.3 shows the format of a TCP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segment, illustrating the TCP header. Now suppose that each pair of hosts shared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 unique secret key, so that all exchanges between a pair of hosts used the same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key, regardless of application. Then we could simply encrypt all of the datagram except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IP header. Again, if an opponent substituted some arbitrary bit pattern for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encrypted TCP segment, the resulting plaintext would not include a meaningful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header. In this case, the header includes not only a checksum (which covers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header) but also other useful information, such as the sequence number. Because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successive TCP segments on a given connection are numbered sequentially, encryption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assures that an opponent does not delay, misorder, or delete any segments.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E01877B-E5FC-4F44-9FC7-4B20506F310A}" type="slidenum">
              <a:rPr lang="en-AU" smtClean="0"/>
              <a:pPr>
                <a:defRPr/>
              </a:pPr>
              <a:t>7</a:t>
            </a:fld>
            <a:endParaRPr lang="en-AU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5391D36-BC66-6B4D-BB43-909C7090ACE4}" type="slidenum">
              <a:rPr lang="en-AU">
                <a:latin typeface="Arial" pitchFamily="-84" charset="0"/>
              </a:rPr>
              <a:pPr/>
              <a:t>8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25603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straightforward use of public-key encryption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(Figure 12.1b) provides confidentiality but not authentication. The source (A) uses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public key PU</a:t>
            </a:r>
            <a:r>
              <a:rPr lang="en-US" sz="1200" kern="1200" baseline="-2500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 of the destination (B) to encrypt M . Because only B has the corresponding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private key PR</a:t>
            </a:r>
            <a:r>
              <a:rPr lang="en-US" sz="1200" kern="1200" baseline="-2500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, only B can decrypt the message. This scheme provides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no authentication, because any opponent could also use B’s public key to encrypt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message and claim to be A.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To provide authentication, A uses its private key to encrypt the message,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 uses A’s public key to decrypt (Figure 12.1c). This provides authentication using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same type of reasoning as in the symmetric encryption case: The message must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have come from A because A is the only party that possesses PR</a:t>
            </a:r>
            <a:r>
              <a:rPr lang="en-US" sz="1200" kern="1200" baseline="-2500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 and therefore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only party with the information necessary to construct ciphertext that can be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decrypted with PU</a:t>
            </a:r>
            <a:r>
              <a:rPr lang="en-US" sz="1200" kern="1200" baseline="-2500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. Again, the same reasoning as before applies: There must be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some internal structure to the plaintext so that the receiver can distinguish between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well-formed plaintext and random bits.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Assuming there is such structure, then the scheme of Figure 12.1c does provide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authentication. It also provides what is known as digital signature.  Only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could have constructed the ciphertext because only A possesses PR</a:t>
            </a:r>
            <a:r>
              <a:rPr lang="en-US" sz="1200" kern="1200" baseline="-2500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. Not even B,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recipient, could have constructed the ciphertext. Therefore, if B is in possession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of the ciphertext, B has the means to prove that the message must have come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from A. In effect, A has “signed” the message by using its private key to encrypt.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Note that this scheme does not provide confidentiality. Anyone in possession of A’s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public key can decrypt the ciphertext. 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To provide both confidentiality and authentication, A can encrypt M  first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using its private key, which provides the digital signature, and then using B’s public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key, which provides confidentiality (Figure 12.1d). The disadvantage of this approach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is that the public-key algorithm, which is complex, must be exercised four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times rather than two in each communication.</a:t>
            </a:r>
            <a:endParaRPr lang="en-US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An alternative authentication technique involves the use of a secret key to generate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 small fixed-size block of data, known as a cryptographic checksum  or MAC, that is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appended to the message. This technique assumes that two communicating parties,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say A and B, share a common secret key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</a:t>
            </a:r>
            <a:r>
              <a:rPr lang="en-US" sz="1200" b="0" i="1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K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.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When A has a message to send to B, it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calculates the MAC as a function of the message and the key: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MAC =  C(K , M )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where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M =  input message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 =  MAC function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K =  shared secret key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MAC =  message authentication code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message plus MAC are transmitted to the intended recipient. The recipient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performs the same calculation on the received message, using the same secret key,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to generate a new MAC. The received MAC is compared to the calculated MAC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(Figure 12.4a). If we assume that only the receiver and the sender know the identity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of the secret key, and if the received MAC matches the calculated MAC, then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1.  The receiver is assured that the message has not been altered. If an attacker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alters the message but does not alter the MAC, then the receiver’s calculation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of the MAC will differ from the received MAC. Because the attacker is assumed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not to know the secret key, the attacker cannot alter the MAC to correspond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to the alterations in the message.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2.  The receiver is assured that the message is from the alleged sender. Because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no one else knows the secret key, no one else could prepare a message with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proper MAC.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3. If the message includes a sequence number (such as is used with HDLC, X.25,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and TCP), then the receiver can be assured of the proper sequence because an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attacker cannot successfully alter the sequence number.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 MAC function is similar to encryption. One difference is that the MAC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algorithm need not be reversible, as it must be for decryption. In general, the MAC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function is a many-to-one function. The domain of the function consists of messages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of some arbitrary length, whereas the range consists of all possible MACs and all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possible keys. If an n -bit MAC is used, then there are 2</a:t>
            </a:r>
            <a:r>
              <a:rPr lang="en-US" sz="1200" b="0" kern="1200" baseline="3000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n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 possible MACs, whereas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there are N  possible messages with N &gt;&gt;  2</a:t>
            </a:r>
            <a:r>
              <a:rPr lang="en-US" sz="1200" b="0" kern="1200" baseline="3000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n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. Furthermore, with a k -bit key, there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are 2</a:t>
            </a:r>
            <a:r>
              <a:rPr lang="en-US" sz="1200" b="0" kern="1200" baseline="3000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k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 possible keys.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process depicted in Figure 12.4a provides authentication but not confidentiality,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because the message as a whole is transmitted in the clear. Confidentiality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can be provided by performing message encryption either after (Figure 12.4b) 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before (Figure 12.4c) the MAC algorithm. In both these cases, two separate keys are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needed, each of which is shared by the sender and the receiver. In the first case,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MAC is calculated with the message as input and is then concatenated to the message.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entire block is then encrypted. In the second case, the message is encrypted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first. Then the MAC is calculated using the resulting ciphertext and is concatenated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to the ciphertext to form the transmitted block. Typically, it is preferable to tie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authentication directly to the plaintext, so the method of Figure 12.4b is used.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E01877B-E5FC-4F44-9FC7-4B20506F310A}" type="slidenum">
              <a:rPr lang="en-AU" smtClean="0"/>
              <a:pPr>
                <a:defRPr/>
              </a:pPr>
              <a:t>9</a:t>
            </a:fld>
            <a:endParaRPr lang="en-AU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5B206EC-3A20-B94E-BFBF-15CE47DE0973}" type="slidenum">
              <a:rPr lang="en-AU">
                <a:latin typeface="Arial" pitchFamily="-84" charset="0"/>
              </a:rPr>
              <a:pPr/>
              <a:t>10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In assessing the security of a MAC function, we need to consider the types of attacks that may be mounted against it. Hence it needs to satisfy the listed requirements.</a:t>
            </a:r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pPr eaLnBrk="1" hangingPunct="1"/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pPr eaLnBrk="1" hangingPunct="1"/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first requirement deals with message replacement attacks, in which an opponent is able to construct a new message to match a given MAC, even though the opponent does not know and does not learn the key.</a:t>
            </a:r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pPr eaLnBrk="1" hangingPunct="1"/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pPr eaLnBrk="1" hangingPunct="1"/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second requirement deals with the need to thwart a brute-force attack based on chosen plaintext. </a:t>
            </a:r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pPr eaLnBrk="1" hangingPunct="1"/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pPr eaLnBrk="1" hangingPunct="1"/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final requirement dictates that the authentication algorithm should not be weaker with respect to certain parts or bits of the message than others.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6EAF2D4-5370-B24A-AC0D-F2C5C66B543D}" type="slidenum">
              <a:rPr lang="en-AU">
                <a:latin typeface="Arial" pitchFamily="-84" charset="0"/>
              </a:rPr>
              <a:pPr/>
              <a:t>11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A brute-force attack on a MAC is a more difficult undertaking than a brute-force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attack on a hash function because it requires known message-tag pairs. Let us see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why this is so. To attack a hash code, we can proceed in the following way. Given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 fixed message 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x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with </a:t>
            </a:r>
            <a:r>
              <a:rPr lang="en-US" sz="1200" b="0" i="1" kern="1200" baseline="0" dirty="0" err="1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n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-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bit hash code </a:t>
            </a:r>
            <a:r>
              <a:rPr lang="en-US" sz="1200" b="0" i="1" kern="1200" baseline="0" dirty="0" err="1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h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=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H(x ), a brute-force method of finding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 collision is to pick a random bit string 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y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and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check if 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H(</a:t>
            </a:r>
            <a:r>
              <a:rPr lang="en-US" sz="1200" b="0" i="1" kern="1200" baseline="0" dirty="0" err="1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y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)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=  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H(</a:t>
            </a:r>
            <a:r>
              <a:rPr lang="en-US" sz="1200" b="0" i="1" kern="1200" baseline="0" dirty="0" err="1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x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)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. The attacker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can do this repeatedly off line. Whether an off-line attack can be used on a MAC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algorithm depends on the relative size of the key and the tag.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attacker would like to come up with the valid MAC code for a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given message 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x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.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There are two lines of attack possible: attack the key space and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attack the MAC value. We examine each of these in turn.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If an attacker can determine the MAC key, then it is possible to generate a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valid MAC value for any input </a:t>
            </a:r>
            <a:r>
              <a:rPr lang="en-US" sz="1200" b="0" i="1" kern="1200" baseline="0" dirty="0" err="1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x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.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Suppose the key size is </a:t>
            </a:r>
            <a:r>
              <a:rPr lang="en-US" sz="1200" b="0" i="1" kern="1200" baseline="0" dirty="0" err="1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k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bits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and that the attacker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has one known text-tag pair. Then the attacker can compute the </a:t>
            </a:r>
            <a:r>
              <a:rPr lang="en-US" sz="1200" b="0" i="1" kern="1200" baseline="0" dirty="0" err="1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n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-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bit tag on the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known text for all possible keys. At least one key is guaranteed to produce the correct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tag, namely, the valid key that was initially used to produce the known text-tag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pair. This phase of the attack takes a level of effort proportional to 2</a:t>
            </a:r>
            <a:r>
              <a:rPr lang="en-US" sz="1200" b="0" kern="1200" baseline="3000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k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 (that is, one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operation for each of the 2</a:t>
            </a:r>
            <a:r>
              <a:rPr lang="en-US" sz="1200" b="0" kern="1200" baseline="3000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k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possible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key values). However, as was described earlier,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because the MAC is a many-to-one mapping, there may be other keys that produce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correct value. Thus, if more than one key is found to produce the correct value,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additional text-tag pairs must be tested. It can be shown that the level of effort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drops off rapidly with each additional text-MAC pair and that the overall level of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effort is roughly 2</a:t>
            </a:r>
            <a:r>
              <a:rPr lang="en-US" sz="1200" b="0" kern="1200" baseline="3000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k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[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MENE97].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An attacker can also work on the tag without attempting to recover the key.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Here, the objective is to generate a valid tag for a given message or to find a message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that matches a given tag. In either case, the level of effort is comparable to that for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attacking the one-way or weak collision-resistant property of a hash code, or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2</a:t>
            </a:r>
            <a:r>
              <a:rPr lang="en-US" sz="1200" b="0" kern="1200" baseline="3000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n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.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In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case of the MAC, the attack cannot be conducted off line without further input;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attacker will require chosen text-tag pairs or knowledge of the key.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To summarize, the level of effort for brute-force attack on a MAC algorithm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can be expressed as min(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2</a:t>
            </a:r>
            <a:r>
              <a:rPr lang="en-US" sz="1200" b="0" kern="1200" baseline="3000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k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, 2</a:t>
            </a:r>
            <a:r>
              <a:rPr lang="en-US" sz="1200" b="0" kern="1200" baseline="3000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n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)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. The assessment of strength is similar to that for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symmetric encryption algorithms. It would appear reasonable to require that the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key length and tag length satisfy a relationship such as 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min</a:t>
            </a:r>
            <a:r>
              <a:rPr lang="en-US" sz="1200" b="0" i="1" kern="1200" baseline="0" dirty="0" err="1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(k,n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)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≥ </a:t>
            </a:r>
            <a:r>
              <a:rPr lang="en-US" sz="1200" b="0" i="1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N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, where </a:t>
            </a:r>
            <a:r>
              <a:rPr lang="en-US" sz="1200" b="0" i="1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N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is</a:t>
            </a:r>
            <a:endParaRPr lang="en-US" sz="1200" b="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perhaps in the range of 128 bits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.</a:t>
            </a:r>
            <a:endParaRPr lang="en-US" b="0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A01AD91-72C6-C84D-A61C-8779468DBB18}" type="slidenum">
              <a:rPr lang="en-AU">
                <a:latin typeface="Arial" pitchFamily="-84" charset="0"/>
              </a:rPr>
              <a:pPr/>
              <a:t>12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As with encryption algorithms and hash functions, cryptanalytic attacks on MAC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algorithms seek to exploit some property of the algorithm to perform some attack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other than an exhaustive search. The way to measure the resistance of a MAC algorithm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to cryptanalysis is to compare its strength to the effort required for a brute-force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attack. That is, an ideal MAC algorithm will require a cryptanalytic effort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greater than or equal to the brute-force effort.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There is much more variety in the structure of MACs than in hash functions,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so it is difficult to generalize about the cryptanalysis of MACs. Furthermore, far less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work has been done on developing such attacks. A useful survey of some methods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for specific MACs is [PREN96].</a:t>
            </a:r>
            <a:endParaRPr lang="en-US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BB6E51D-BAAB-B244-A5B7-11D0FCFC0872}" type="slidenum">
              <a:rPr lang="en-AU">
                <a:latin typeface="Arial" pitchFamily="-84" charset="0"/>
              </a:rPr>
              <a:pPr/>
              <a:t>13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Later in this chapter, we look at examples of a MAC based on the use of a symmetric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block cipher. This has traditionally been the most common approach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constructing a MAC. In recent years, there has been increased interest in developing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 MAC derived from a cryptographic hash function. The motivations for this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interest are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1.  Cryptographic hash functions such as MD5 and SHA generally execute faster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in software than symmetric block ciphers such as DES.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2.  Library code for cryptographic hash functions is widely available.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With the development of AES and the more widespread availability of code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for encryption algorithms, these considerations are less significant, but hash-based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MACs continue to be widely used.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 hash function such as SHA was not designed for use as a MAC and cannot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be used directly for that purpose, because it does not rely on a secret key.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There have been a number of proposals for the incorporation of a secret key into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an existing hash algorithm. The approach that has received the most support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HMAC [BELL96a, BELL96b]. HMAC has been issued as RFC 2104, has been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chosen as the mandatory-to-implement MAC for IP security, and is used in other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Internet protocols, such as SSL. HMAC has also been issued as a NIST standard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(FIPS 198).</a:t>
            </a:r>
            <a:endParaRPr lang="en-US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RFC 2104 lists the following design objectives for HMAC:  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• To use, without modifications, available hash functions. In particular, hash functions that perform well in software, and for which code is freely and widely available. 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• To allow for easy replaceability of the embedded hash function in case faster or more secure hash functions are found or required.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• To preserve the original performance of the hash function without incurring a significant degradation.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• To use and handle keys in a simple way. 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• To have a well understood cryptographic analysis of the strength of the authentication mechanism based on reasonable assumptions about the embedded hash function. 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The first two objectives are important to the acceptability of HMAC. HMAC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treats the hash function as a “black box.” This has two benefits. First, an existing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implementation of a hash function can be used as a module in implementing HMAC.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In this way, the bulk of the HMAC code is prepackaged and ready to use without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modification. Second, if it is ever desired to replace a given hash function in an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HMAC implementation, all that is required is to remove the existing hash function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module and drop in the new module. This could be done if a faster hash function were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desired. More important, if the security of the embedded hash function were compromised,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security of HMAC could be retained simply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by replacing the embedded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hash function with a more secure one (e.g., replacing SHA- 2 with SHA-3).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last design objective in the preceding list is, in fact, the main advantage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of HMAC over other proposed hash-based schemes. HMAC can be proven secure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provided that the embedded hash function has some reasonable cryptographic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strengths. We return to this point later in this section, but first we examine the structure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of HMAC.</a:t>
            </a:r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475FEDC-4976-554C-9DD6-D5B564CC70AD}" type="slidenum">
              <a:rPr lang="en-AU" smtClean="0">
                <a:latin typeface="Arial" pitchFamily="-84" charset="0"/>
              </a:rPr>
              <a:pPr/>
              <a:t>14</a:t>
            </a:fld>
            <a:endParaRPr lang="en-AU" dirty="0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0C37A4-4843-BD44-B333-0F6B06EFC964}" type="slidenum">
              <a:rPr lang="en-AU">
                <a:latin typeface="Arial" pitchFamily="-84" charset="0"/>
              </a:rPr>
              <a:pPr/>
              <a:t>15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4343400"/>
            <a:ext cx="5867400" cy="4114800"/>
          </a:xfrm>
          <a:noFill/>
          <a:ln/>
        </p:spPr>
        <p:txBody>
          <a:bodyPr/>
          <a:lstStyle/>
          <a:p>
            <a:pPr eaLnBrk="1" hangingPunct="1"/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Figure 12.5 illustrates the overall operation of HMAC.</a:t>
            </a:r>
            <a:endParaRPr lang="en-US" dirty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A more efficient implementation is possible, as shown in Figure 12.6.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E01877B-E5FC-4F44-9FC7-4B20506F310A}" type="slidenum">
              <a:rPr lang="en-AU" smtClean="0"/>
              <a:pPr>
                <a:defRPr/>
              </a:pPr>
              <a:t>16</a:t>
            </a:fld>
            <a:endParaRPr lang="en-AU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C79EF42-2981-6B41-AD79-4DFB7116F037}" type="slidenum">
              <a:rPr lang="en-AU">
                <a:latin typeface="Arial" pitchFamily="-84" charset="0"/>
              </a:rPr>
              <a:pPr/>
              <a:t>17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security of any MAC function based on an embedded hash function depends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in some way on the cryptographic strength of the underlying hash function.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appeal of HMAC is that its designers have been able to prove an exact relationship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between the strength of the embedded hash function and the strength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of HMAC.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security of a MAC function is generally expressed in terms of the probability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of successful forgery with a given amount of time spent by the forger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 given number of message-tag pairs created with the same key. In essence, it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proved in [BELL96a] that for a given level of effort (time, message–tag pairs) 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messages generated by a legitimate user and seen by the attacker, the probability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of successful attack on HMAC is equivalent to one of the following attacks on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embedded hash function.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1.  The attacker is able to compute an output of the compression function even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with an IV  that is random, secret, and unknown to the attacker.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2.  The attacker finds collisions in the hash function even when the IV  is random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and secret.</a:t>
            </a:r>
            <a:endParaRPr lang="en-US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F344543-A05C-F34C-988B-EFC379C870EE}" type="slidenum">
              <a:rPr lang="en-AU">
                <a:latin typeface="Arial" pitchFamily="-84" charset="0"/>
              </a:rPr>
              <a:pPr/>
              <a:t>18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The Data Authentication Algorithm  (DAA), based on DES, has been one of the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most widely used MACs for a number of years. The algorithm is both a FIPS publication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(FIPS PUB 113) and an ANSI standard (X9.17). However, as we discuss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subsequently, security weaknesses in this algorithm have been discovered, and it is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being replaced by newer and stronger algorithms.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algorithm can be defined as using the cipher block chaining (CBC) mode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of operation of DES (Figure 6.4) with an initialization vector of zero. The data (e.g.,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message, record, file, or program) to be authenticated are grouped into contiguous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64-bit blocks: D</a:t>
            </a:r>
            <a:r>
              <a:rPr lang="en-US" sz="1200" b="0" kern="1200" baseline="-2500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1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, D</a:t>
            </a:r>
            <a:r>
              <a:rPr lang="en-US" sz="1200" b="0" kern="1200" baseline="-2500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2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,. . .  , D</a:t>
            </a:r>
            <a:r>
              <a:rPr lang="en-US" sz="1200" b="0" kern="1200" baseline="-2500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N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. If necessary, the final block is padded on the right with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zeroes to form a full 64-bit block. Using the DES encryption algorithm E and a secret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key K , a data authentication code (DAC) is calculated as follows (Figure 12.7).</a:t>
            </a:r>
            <a:endParaRPr lang="en-US" b="0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54C0A1A-2076-B444-8D40-6938EAF96BFF}" type="slidenum">
              <a:rPr lang="en-AU">
                <a:latin typeface="Arial" pitchFamily="-84" charset="0"/>
              </a:rPr>
              <a:pPr/>
              <a:t>19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5837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As was mentioned, DAA has been widely adopted in government and industry.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[BELL00] demonstrated that this MAC is secure under a reasonable set of security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criteria, with the following restriction. Only messages of one fixed length of </a:t>
            </a:r>
            <a:r>
              <a:rPr lang="en-US" sz="1200" i="1" kern="1200" baseline="0" dirty="0" err="1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mn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bits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are processed, where </a:t>
            </a:r>
            <a:r>
              <a:rPr lang="en-US" sz="1200" i="1" kern="1200" baseline="0" dirty="0" err="1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n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is the cipher block size and </a:t>
            </a:r>
            <a:r>
              <a:rPr lang="en-US" sz="1200" i="1" kern="1200" baseline="0" dirty="0" err="1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m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is a fixed positive integer.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CMAC is calculated 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as 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follows: 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(Figure 12.8)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It is specified in NIST Special Publication 800-38B.</a:t>
            </a:r>
            <a:endParaRPr lang="en-US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Authenticated encryption (AE) is a term used to describe encryption systems that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simultaneously protect confidentiality and authenticity (integrity) of communications.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Many applications and protocols require both forms of security, but until recently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two services have been designed separately.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There are four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common approaches to providing both confidentiality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and encryption for a message </a:t>
            </a:r>
            <a:r>
              <a:rPr lang="en-US" sz="1200" b="0" i="1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M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.</a:t>
            </a:r>
            <a:endParaRPr lang="en-US" sz="1200" b="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endParaRPr lang="en-US" sz="1200" b="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•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Hashing followed by encryption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. 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First compute the cryptographic hash function over</a:t>
            </a:r>
          </a:p>
          <a:p>
            <a:r>
              <a:rPr lang="en-US" sz="1200" b="0" i="1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M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 as </a:t>
            </a:r>
            <a:r>
              <a:rPr lang="en-US" sz="1200" b="0" i="1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h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= </a:t>
            </a:r>
            <a:r>
              <a:rPr lang="en-US" sz="1200" b="0" i="1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H (M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). Then encrypt the message plus hash function: E(</a:t>
            </a:r>
            <a:r>
              <a:rPr lang="en-US" sz="1200" b="0" i="1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K , (M ||h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)).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•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Authentication followed by encryption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. 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Use two keys. First authenticate the plaintext by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computing the MAC value as </a:t>
            </a:r>
            <a:r>
              <a:rPr lang="en-US" sz="1200" b="0" i="1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=  MAC(</a:t>
            </a:r>
            <a:r>
              <a:rPr lang="en-US" sz="1200" b="0" i="1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K</a:t>
            </a:r>
            <a:r>
              <a:rPr lang="en-US" sz="2000" kern="1200" baseline="-25000" dirty="0" smtClean="0">
                <a:solidFill>
                  <a:schemeClr val="tx2"/>
                </a:solidFill>
                <a:latin typeface="+mn-lt"/>
                <a:ea typeface="ＭＳ Ｐゴシック" pitchFamily="-84" charset="-128"/>
                <a:cs typeface="+mn-cs"/>
              </a:rPr>
              <a:t>1</a:t>
            </a:r>
            <a:r>
              <a:rPr lang="en-US" sz="1200" b="0" i="1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, M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). Then encrypt the message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plus tag: E(K</a:t>
            </a:r>
            <a:r>
              <a:rPr lang="en-US" sz="2000" kern="1200" baseline="-25000" dirty="0" smtClean="0">
                <a:solidFill>
                  <a:schemeClr val="tx2"/>
                </a:solidFill>
                <a:latin typeface="+mn-lt"/>
                <a:ea typeface="ＭＳ Ｐゴシック" pitchFamily="-84" charset="-128"/>
                <a:cs typeface="+mn-cs"/>
              </a:rPr>
              <a:t>2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, [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M </a:t>
            </a:r>
            <a:r>
              <a:rPr lang="en-US" sz="1200" b="0" i="1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||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 ]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). This approach is taken by the SSL/TLS protocols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(Chapter 17).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•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Encryption followed by authentication.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Use two keys. First encrypt the message to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yield the ciphertext </a:t>
            </a:r>
            <a:r>
              <a:rPr lang="en-US" sz="1200" b="0" i="1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=  E</a:t>
            </a:r>
            <a:r>
              <a:rPr lang="en-US" sz="1200" b="0" i="1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(K</a:t>
            </a:r>
            <a:r>
              <a:rPr lang="en-US" sz="2000" kern="1200" baseline="-25000" dirty="0" smtClean="0">
                <a:solidFill>
                  <a:schemeClr val="tx2"/>
                </a:solidFill>
                <a:latin typeface="+mn-lt"/>
                <a:ea typeface="ＭＳ Ｐゴシック" pitchFamily="-84" charset="-128"/>
                <a:cs typeface="+mn-cs"/>
              </a:rPr>
              <a:t>2</a:t>
            </a:r>
            <a:r>
              <a:rPr lang="en-US" sz="1200" b="0" i="1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, M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). Then authenticate the ciphertext with</a:t>
            </a:r>
          </a:p>
          <a:p>
            <a:r>
              <a:rPr lang="en-US" sz="1200" b="0" i="1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=  MAC(</a:t>
            </a:r>
            <a:r>
              <a:rPr lang="en-US" sz="1200" b="0" i="1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K</a:t>
            </a:r>
            <a:r>
              <a:rPr lang="en-US" sz="2000" kern="1200" baseline="-25000" dirty="0" smtClean="0">
                <a:solidFill>
                  <a:schemeClr val="tx2"/>
                </a:solidFill>
                <a:latin typeface="+mn-lt"/>
                <a:ea typeface="ＭＳ Ｐゴシック" pitchFamily="-84" charset="-128"/>
                <a:cs typeface="+mn-cs"/>
              </a:rPr>
              <a:t>1</a:t>
            </a:r>
            <a:r>
              <a:rPr lang="en-US" sz="1200" b="0" i="1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, C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) to yield the pair (</a:t>
            </a:r>
            <a:r>
              <a:rPr lang="en-US" sz="1200" b="0" i="1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 , T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). This approach is used in the IPsec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protocol (Chapter 20).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•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Independently encrypt and authenticate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. 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Use two keys. Encrypt the message to yield the ciphertext</a:t>
            </a:r>
          </a:p>
          <a:p>
            <a:r>
              <a:rPr lang="en-US" sz="1200" b="0" i="1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=  E(</a:t>
            </a:r>
            <a:r>
              <a:rPr lang="en-US" sz="1200" b="0" i="1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K</a:t>
            </a:r>
            <a:r>
              <a:rPr lang="en-US" sz="2000" kern="1200" baseline="-25000" dirty="0" smtClean="0">
                <a:solidFill>
                  <a:schemeClr val="tx2"/>
                </a:solidFill>
                <a:latin typeface="+mn-lt"/>
                <a:ea typeface="ＭＳ Ｐゴシック" pitchFamily="-84" charset="-128"/>
                <a:cs typeface="+mn-cs"/>
              </a:rPr>
              <a:t>2</a:t>
            </a:r>
            <a:r>
              <a:rPr lang="en-US" sz="1200" b="0" i="1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, M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). Authenticate the plaintext with </a:t>
            </a:r>
            <a:r>
              <a:rPr lang="en-US" sz="1200" b="0" i="1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=  MAC(</a:t>
            </a:r>
            <a:r>
              <a:rPr lang="en-US" sz="1200" b="0" i="1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K</a:t>
            </a:r>
            <a:r>
              <a:rPr lang="en-US" sz="2000" i="1" kern="1200" baseline="-25000" dirty="0" smtClean="0">
                <a:solidFill>
                  <a:schemeClr val="tx2"/>
                </a:solidFill>
                <a:latin typeface="+mn-lt"/>
                <a:ea typeface="ＭＳ Ｐゴシック" pitchFamily="-84" charset="-128"/>
                <a:cs typeface="+mn-cs"/>
              </a:rPr>
              <a:t>1</a:t>
            </a:r>
            <a:r>
              <a:rPr lang="en-US" sz="1200" b="0" i="1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, M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) to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yield the pair (</a:t>
            </a:r>
            <a:r>
              <a:rPr lang="en-US" sz="1200" b="0" i="1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 , T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). These operations can be performed in either order. This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approach is used by the SSH protocol (Chapter 17).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Both decryption and verification are straightforward for each approach. For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H-E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,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M-E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, and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E+A,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decrypt first, then verify. For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E-A,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verify first, then decrypt.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There are security vulnerabilities with all of these approaches. The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H-E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approach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is used in the Wired Equivalent Privacy (WEP) protocol to protect WiFi networks.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This approach had fundamental weaknesses and led to the replacement of the WEP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protocol. [BLAC05] and [BELL00] point out that there are security concerns in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each of the three encryption/MAC approaches listed above. Nevertheless, with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proper design, any of these approaches can provide a high level of security. This is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goal of the two approaches discussed in this section, both of which have been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standardized by NIST.</a:t>
            </a:r>
            <a:endParaRPr lang="en-US" b="0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C7D2C56-73F0-E144-8A2F-6F4099EC5144}" type="slidenum">
              <a:rPr lang="en-AU" smtClean="0">
                <a:latin typeface="Arial" pitchFamily="-84" charset="0"/>
              </a:rPr>
              <a:pPr/>
              <a:t>20</a:t>
            </a:fld>
            <a:endParaRPr lang="en-AU" dirty="0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The CCM mode of operation was standardized by NIST specifically to support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security requirements of IEEE 802.11 WiFi wireless local area networks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(Chapter 18), but can be used in any networking application requiring authenticated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encryption. CCM is a variation of the encrypt-and-MAC approach to authenticated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encryption. It is defined in NIST SP 800-38C.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key algorithmic ingredients of CCM are the AES encryption algorithm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(Chapter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6)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, the CTR mode of operation (Chapter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7)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, and the CMAC authentication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algorithm (Section 12.6). A single key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K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is 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used for both encryption and MAC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algorithms.</a:t>
            </a:r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FDA4E41-4147-5F45-9E1F-E5E1C7C5D2AC}" type="slidenum">
              <a:rPr lang="en-AU" smtClean="0">
                <a:latin typeface="Arial" pitchFamily="-84" charset="0"/>
              </a:rPr>
              <a:pPr/>
              <a:t>21</a:t>
            </a:fld>
            <a:endParaRPr lang="en-AU" dirty="0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The input to the CCM encryption process consists of three elements.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1. Data that will be both authenticated and encrypted. This is the plaintext message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 of data block.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2. Associated data A that will be authenticated but not encrypted. An example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is a protocol header that must be transmitted in the clear for proper protocol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operation but which needs to be authenticated.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3. A nonce N that is assigned to the payload and the associated data. This is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unique value that is different for every instance during the lifetime of a protocol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association and is intended to prevent replay attacks and certain other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types of attacks.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E01877B-E5FC-4F44-9FC7-4B20506F310A}" type="slidenum">
              <a:rPr lang="en-AU" smtClean="0"/>
              <a:pPr>
                <a:defRPr/>
              </a:pPr>
              <a:t>22</a:t>
            </a:fld>
            <a:endParaRPr lang="en-AU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341813"/>
          </a:xfrm>
          <a:noFill/>
          <a:ln/>
        </p:spPr>
        <p:txBody>
          <a:bodyPr/>
          <a:lstStyle/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Figure 12.9 illustrates the operation of CCM. For authentication, the input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includes the nonce, the associated data, and the plaintext. This input is formatted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as a sequence of blocks B</a:t>
            </a:r>
            <a:r>
              <a:rPr lang="en-US" sz="1200" b="0" kern="1200" baseline="-2500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0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 through B</a:t>
            </a:r>
            <a:r>
              <a:rPr lang="en-US" sz="1200" b="0" kern="1200" baseline="-2500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r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. The first block contains the nonce plus some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formatting bits that indicate the lengths of the </a:t>
            </a:r>
            <a:r>
              <a:rPr lang="en-US" sz="1200" b="0" i="1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N , A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, and </a:t>
            </a:r>
            <a:r>
              <a:rPr lang="en-US" sz="1200" b="0" i="1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elements. This is followed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by zero or more blocks that contain </a:t>
            </a:r>
            <a:r>
              <a:rPr lang="en-US" sz="1200" b="0" i="1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, followed by zero of more blocks that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contain </a:t>
            </a:r>
            <a:r>
              <a:rPr lang="en-US" sz="1200" b="0" i="1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. The resulting sequence of blocks serves as input to the CMAC algorithm,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which produces a MAC value with length </a:t>
            </a:r>
            <a:r>
              <a:rPr lang="en-US" sz="1200" b="0" i="1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Tlen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, which is less than or equal to the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block length (Figure 12.9a).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For encryption, a sequence of counters is generated that must be independent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of the nonce. The authentication tag is encrypted in CTR mode using the single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counter Ctr</a:t>
            </a:r>
            <a:r>
              <a:rPr lang="en-US" sz="1200" b="0" kern="1200" baseline="-2500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0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. The </a:t>
            </a:r>
            <a:r>
              <a:rPr lang="en-US" sz="1200" b="0" i="1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Tlen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 most significant bits of the output are XORed with the tag to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produce an encrypted tag. The remaining counters are used for the CTR mode encryption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of the plaintext (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Figure 7.7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). The encrypted plaintext is concatenated with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encrypted tag to form the ciphertext output (Figure 12.9b).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CCM is a relatively complex algorithm. Note that it requires two complete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passes through the plaintext, once to generate the MAC value, and once for encryption.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Further, the details of the specification require a tradeoff between the length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of the nonce and the length of the tag, which is an unnecessary restriction. Also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note that the encryption key is used twice with the CTR encryption mode: once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generate the tag and once to encrypt the plaintext plus tag. Whether these complexities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add to the security of the algorithm is not clear. In any case, two analyses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of the algorithm ([JONS02] and [ROGA03]) conclude that CCM provides a high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level of security.</a:t>
            </a:r>
            <a:endParaRPr lang="en-US" b="0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7AC45B8-04DF-BE41-97F3-DDA9FA555FA7}" type="slidenum">
              <a:rPr lang="en-AU" smtClean="0">
                <a:latin typeface="Arial" pitchFamily="-84" charset="0"/>
              </a:rPr>
              <a:pPr/>
              <a:t>23</a:t>
            </a:fld>
            <a:endParaRPr lang="en-AU" dirty="0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The GCM mode of operation, standardized by NIST in NIST SP 800-38D, is designed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to be parallelizable so that it can provide high throughput with low cost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low latency. In essence, the message is encrypted in variant of CTR mode. The resulting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ciphertext is multiplied with key material and message length information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over GF(2</a:t>
            </a:r>
            <a:r>
              <a:rPr lang="en-US" sz="1200" kern="1200" baseline="3000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128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) to generate the authenticator tag. The standard also specifies a mode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of operation that supplies the MAC only, known as GMAC.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GCM mode makes use of two functions: GHASH, which is a keyed hash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function, and GCTR, which is essentially the CTR mode with the counters determined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by a simple increment by one operation.</a:t>
            </a:r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408B97D-6D97-E741-8931-7A7DE0EB6C20}" type="slidenum">
              <a:rPr lang="en-AU" smtClean="0">
                <a:latin typeface="Arial" pitchFamily="-84" charset="0"/>
              </a:rPr>
              <a:pPr/>
              <a:t>24</a:t>
            </a:fld>
            <a:endParaRPr lang="en-AU" dirty="0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GHASH</a:t>
            </a:r>
            <a:r>
              <a:rPr lang="en-US" i="1" baseline="-25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H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(X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) takes a input the hash key H and a bit string X such that len(X) = 128m bits for some positive integer m and produces a 128-bit MAC value. The function may be specified as shown in Figure 12.10a. The GHASH 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H(X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) function can be expressed as: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   (X</a:t>
            </a:r>
            <a:r>
              <a:rPr lang="en-US" baseline="-25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1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• H</a:t>
            </a:r>
            <a:r>
              <a:rPr lang="en-US" baseline="30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m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) XOR (X</a:t>
            </a:r>
            <a:r>
              <a:rPr lang="en-US" baseline="-25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2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• H</a:t>
            </a:r>
            <a:r>
              <a:rPr lang="en-US" baseline="30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m–1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) XOR ... XOR (X</a:t>
            </a:r>
            <a:r>
              <a:rPr lang="en-US" baseline="-25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m–1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• H</a:t>
            </a:r>
            <a:r>
              <a:rPr lang="en-US" baseline="30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2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) XOR (X</a:t>
            </a:r>
            <a:r>
              <a:rPr lang="en-US" baseline="-25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m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• H) 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where • designates multiplication in GF(2</a:t>
            </a:r>
            <a:r>
              <a:rPr lang="en-US" baseline="30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128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)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This formulation has desirable performance implications. If the same hash key is to be used to authenticate multiple messages, then the values </a:t>
            </a:r>
            <a:r>
              <a:rPr lang="en-US" dirty="0" smtClean="0">
                <a:latin typeface="Courier New" pitchFamily="-84" charset="0"/>
                <a:ea typeface="Courier New" pitchFamily="-84" charset="0"/>
                <a:cs typeface="Courier New" pitchFamily="-84" charset="0"/>
              </a:rPr>
              <a:t>H</a:t>
            </a:r>
            <a:r>
              <a:rPr lang="en-US" baseline="30000" dirty="0" smtClean="0">
                <a:latin typeface="Courier New" pitchFamily="-84" charset="0"/>
                <a:ea typeface="Courier New" pitchFamily="-84" charset="0"/>
                <a:cs typeface="Courier New" pitchFamily="-84" charset="0"/>
              </a:rPr>
              <a:t>2</a:t>
            </a:r>
            <a:r>
              <a:rPr lang="en-US" i="1" dirty="0" smtClean="0">
                <a:latin typeface="Courier New" pitchFamily="-84" charset="0"/>
                <a:ea typeface="Courier New" pitchFamily="-84" charset="0"/>
                <a:cs typeface="Courier New" pitchFamily="-84" charset="0"/>
              </a:rPr>
              <a:t>, </a:t>
            </a:r>
            <a:r>
              <a:rPr lang="en-US" dirty="0" smtClean="0">
                <a:latin typeface="Courier New" pitchFamily="-84" charset="0"/>
                <a:ea typeface="Courier New" pitchFamily="-84" charset="0"/>
                <a:cs typeface="Courier New" pitchFamily="-84" charset="0"/>
              </a:rPr>
              <a:t>H</a:t>
            </a:r>
            <a:r>
              <a:rPr lang="en-US" baseline="30000" dirty="0" smtClean="0">
                <a:latin typeface="Courier New" pitchFamily="-84" charset="0"/>
                <a:ea typeface="Courier New" pitchFamily="-84" charset="0"/>
                <a:cs typeface="Courier New" pitchFamily="-84" charset="0"/>
              </a:rPr>
              <a:t>3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can be precalculated one time for use with each message to be authenticated. Then, the blocks of the data to be authenticated 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(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X</a:t>
            </a:r>
            <a:r>
              <a:rPr lang="en-US" baseline="-25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1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, 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X</a:t>
            </a:r>
            <a:r>
              <a:rPr lang="en-US" baseline="-25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2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, … 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X</a:t>
            </a:r>
            <a:r>
              <a:rPr lang="en-US" baseline="-25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m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) can be processed in parallel, because the computations are independent of one another.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GCTR</a:t>
            </a:r>
            <a:r>
              <a:rPr lang="en-US" i="1" baseline="-25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K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(ICB, X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) takes a input a secret key K and a bit string X arbitrary length and returns a ciphertext Y of bit length len(X). The function may be specified as as shown in Figure 12.10b. Here the inc</a:t>
            </a:r>
            <a:r>
              <a:rPr lang="en-US" baseline="-25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32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(S) function increments the rightmost 32 bits of S by 1 mod 2</a:t>
            </a:r>
            <a:r>
              <a:rPr lang="en-US" baseline="30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32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, and the remaining bits are unchanged. Note that the counter values can be quickly generated and that the encryption operations can be performed in parallel. 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7C2D326-F73E-9E45-8A8A-9B0F2517252C}" type="slidenum">
              <a:rPr lang="en-AU" smtClean="0">
                <a:latin typeface="Arial" pitchFamily="-84" charset="0"/>
              </a:rPr>
              <a:pPr/>
              <a:t>25</a:t>
            </a:fld>
            <a:endParaRPr lang="en-AU" dirty="0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We can now define the overall authenticated encryption function as shown in Figure 12.11. The input consists of a secret key 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K, 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an initialization vector 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IV, 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 plaintext 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P, 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and additional authenticated data 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A. 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In 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step 1, the hash key is generated by encrypting a block of all zeros with the secret key 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K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. In step 2, the pre-counter block (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J</a:t>
            </a:r>
            <a:r>
              <a:rPr lang="en-US" i="1" baseline="-25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0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) is generated from the IV. In particular, when the length of the IV is 96 bits, then the padding string 0</a:t>
            </a:r>
            <a:r>
              <a:rPr lang="en-US" baseline="30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31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|| 1 is appended to the 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IV 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to form the pre-counter block. Otherwise, the 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IV 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is padded with the minimum number of 0 bits, possibly none, so that the length of the resulting string is a multiple of 128 bits (the block size); this string in turn is appended with 64 additional ‘0’ bits, followed by the 64-bit representation of the length of the 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IV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, and the GHASH function is applied to the resulting string to form the pre-counter block. </a:t>
            </a:r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Thus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, GCM is based on the CTR mode of operation, and adds a MAC that authenticates both the message and additional data that requires only authentication. The function that computes the hash uses only multiplication in a Galois field. This choice was made because the operation of multiplication is easy to perform within a Galois field and is easily implemented in hardware. CTR- based authenticated encryption is the most efficient mode of operation for high-speed packet networks. The GCM mode meets a high level of security requirements.</a:t>
            </a: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B6508C5-3C7B-8946-98E9-D907057F043F}" type="slidenum">
              <a:rPr lang="en-AU" smtClean="0">
                <a:latin typeface="Arial" pitchFamily="-84" charset="0"/>
              </a:rPr>
              <a:pPr/>
              <a:t>26</a:t>
            </a:fld>
            <a:endParaRPr lang="en-AU" dirty="0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most recent block cipher mode of operation defined by NIST is the Key Wrap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(KW) mode of operation (SP 800-38F), which uses AES or triple DEA as the underlying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encryption algorithm. The AES version is also documented in RFC 3394.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purpose of key wrapping is to securely exchange a symmetric key to be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shared by two parties, using a symmetric key already shared by those parties.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latter key is called a key encryption key (KEK) 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Two questions need to be addressed at this point. First, why do we need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use a symmetric key already known to two parties to encrypt a new symmetric key?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Such a requirement is found in a number of protocols described in this book, such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as the key management portion of IEEE 802.11 and IPsec. Quite often, a protocol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calls for a hierarchy of keys, with keys lower on the hierarchy used more frequently,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and changed more frequently to thwart attacks. A higher-level key, which is used infrequently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and therefore more resistant to cryptanalysis, is used to encrypt a newly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created lower-level key so that it can be exchanged between parties that share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higher-level key.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second question is, why do we need a new mode? The intent of the new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mode is to operate on keys whose length is greater than the block size of the encryption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algorithm. For example, AES uses a block size of 128 bits but can use a key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size of 128, 192, or 256 bits. In the latter two cases, encryption of the key involves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multiple blocks. We consider the value of key data to be greater than the value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other data, because the key will be used multiple times, and compromise of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key compromises all of the data encrypted with the key. Therefore, NIST desired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 robust encryption mode. KW is robust in the sense that each bit of output can be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expected to depend in a nontrivial fashion on each bit of input. This is not the case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for any of the other modes of operation that we have described. For example,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all of the modes so far described, the last block of plaintext only influences the last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block of ciphertext. Similarly, the first block of ciphertext is derived only from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first block of plaintext.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To achieve this robust operation, KW achieves a considerably lower throughput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than the other modes, but the tradeoff may be appropriate for some key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management applications. Also, KW is only used for small amounts of plaintext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compared to, say, the encryption of a message or a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E01877B-E5FC-4F44-9FC7-4B20506F310A}" type="slidenum">
              <a:rPr lang="en-AU" smtClean="0"/>
              <a:pPr>
                <a:defRPr/>
              </a:pPr>
              <a:t>27</a:t>
            </a:fld>
            <a:endParaRPr lang="en-AU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Figure 12.12 illustrated the key wrapping algorithm for encrypting a 256-bit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key.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E01877B-E5FC-4F44-9FC7-4B20506F310A}" type="slidenum">
              <a:rPr lang="en-AU" smtClean="0"/>
              <a:pPr>
                <a:defRPr/>
              </a:pPr>
              <a:t>28</a:t>
            </a:fld>
            <a:endParaRPr lang="en-AU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Figure 12.13 depicts the operation of stage </a:t>
            </a:r>
            <a:r>
              <a:rPr lang="en-US" sz="1200" i="1" kern="1200" baseline="0" dirty="0" err="1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for 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 256-bit key. The dashed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feedback lines indicate the assignment of new values to the stage variables.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E01877B-E5FC-4F44-9FC7-4B20506F310A}" type="slidenum">
              <a:rPr lang="en-AU" smtClean="0"/>
              <a:pPr>
                <a:defRPr/>
              </a:pPr>
              <a:t>29</a:t>
            </a:fld>
            <a:endParaRPr lang="en-AU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The essential elements of any pseudorandom number generator (PRNG) are a seed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value and a deterministic algorithm for generating a stream of pseudorandom bits.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If the algorithm is used as a pseudorandom function (PRF) to produce a required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value, such as a session key, then the seed should only be known to the user of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PRF. If the algorithm is used to produce a stream encryption function, then the seed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has the role of a secret key that must be known to the sender and the receiver.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We noted in Chapters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8 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and 10 that, because an encryption algorithm produces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an apparently random output, it can serve as the basis of a (PRNG). Similarly,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 hash function or MAC produces apparently random output and can be used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build a PRNG. Both ISO standard 18031 (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Random Bit Generation 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) and NIST SP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800-90 (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Recommendation for Random Number Generation Using Deterministic</a:t>
            </a:r>
          </a:p>
          <a:p>
            <a:r>
              <a:rPr lang="en-US" sz="1200" i="1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Random Bit Generators 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) define an approach for random number generation using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 cryptographic hash function. SP 800-90 also defines a random number generator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based on HMAC.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E01877B-E5FC-4F44-9FC7-4B20506F310A}" type="slidenum">
              <a:rPr lang="en-AU" smtClean="0"/>
              <a:pPr>
                <a:defRPr/>
              </a:pPr>
              <a:t>30</a:t>
            </a:fld>
            <a:endParaRPr lang="en-AU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Figure 12.14a shows the basic strategy for a hash-based PRNG specified in SP 800-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90 and ISO 18031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The SP 800-90 specification also provides for periodically updating V  to enhance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security. The specification also indicates that there are no known or suspected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weaknesses in the hash-based approach for a strong cryptographic hash algorithm,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such as SHA-2.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Although there are no known or suspected weaknesses in the use of a cryptographic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hash function for a PRNG in the manner of Figure 12.14a, a higher degree of confidence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can be achieved by using a MAC. Almost invariably, HMAC is used for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constructing a MAC-based PRNG. This is because HMAC is a widely used standardized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MAC function and is implemented in many protocols and applications.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As SP 800-90 points out, the disadvantage of this approach compared to the hash based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approach is that the execution time is twice as long, because HMAC involves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two executions of the underlying hash function for each output block. The advantage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of the HMAC approach is that it provides a greater degree of confidence in its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security, compared to a pure hash-based approach.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For the MAC-based approach, there are two inputs: a key K  and a seed V .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effect, the combination of K  and V  form the overall seed for the PRNG specified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in SP 800-90. Figure 12.14b shows the basic structure of the PRNG mechanism,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leftmost column of Figure 12.15 shows the logic. Note that the key remains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same for each block of output, and the data input for each block is equal to the tag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output of the previous block. The SP 800-90 specification also provides for periodically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updating K  and V  to enhance security.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E01877B-E5FC-4F44-9FC7-4B20506F310A}" type="slidenum">
              <a:rPr lang="en-AU" smtClean="0"/>
              <a:pPr>
                <a:defRPr/>
              </a:pPr>
              <a:t>31</a:t>
            </a:fld>
            <a:endParaRPr lang="en-AU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It is instructive to compare the SP 800-90 recommendation with the use of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HMAC for a PRNG in some applications, and this is shown in Figure 12.15. For the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IEEE 802.11i wireless LAN security standard (Chapter 18), the data input consists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of the seed concatenated with a counter. The counter is incremented for each block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wi  of output. This approach would seem to offer enhanced security compared to the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SP 800-90 approach. Consider that for SP 800-90, the data input for output block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wi  is just the output wi-1  of the previous execution of HMAC. Thus, an opponent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who is able to observe the pseudorandom output knows both the input and output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of HMAC. Even so, with the assumption that HMAC is secure, knowledge of the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input and output should not be sufficient to recover K and hence not sufficient to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predict future pseudorandom bits.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approach taken by the Transport Layer Security protocol (Chapter 17)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and the Wireless Transport Layer Security Protocol (Chapter 18) involves invoking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HMAC twice for each block of output wi . As with IEEE 802.11, this is done in such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 way that the output does not yield direct information about the input. The double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use of HMAC doubles the execution burden and would seem to be security overkill.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E01877B-E5FC-4F44-9FC7-4B20506F310A}" type="slidenum">
              <a:rPr lang="en-AU" smtClean="0"/>
              <a:pPr>
                <a:defRPr/>
              </a:pPr>
              <a:t>32</a:t>
            </a:fld>
            <a:endParaRPr lang="en-AU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45F3BD3-6F3C-694C-8E1B-CF3CF7A9ECD3}" type="slidenum">
              <a:rPr lang="en-AU">
                <a:latin typeface="Arial" pitchFamily="-84" charset="0"/>
              </a:rPr>
              <a:pPr/>
              <a:t>33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Chapter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12 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summary.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9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9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7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7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9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0" y="0"/>
            <a:ext cx="1581150" cy="6858000"/>
            <a:chOff x="134471" y="0"/>
            <a:chExt cx="1581220" cy="6858000"/>
          </a:xfrm>
        </p:grpSpPr>
        <p:pic>
          <p:nvPicPr>
            <p:cNvPr id="5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l="1471" r="83676"/>
            <a:stretch>
              <a:fillRect/>
            </a:stretch>
          </p:blipFill>
          <p:spPr bwMode="auto">
            <a:xfrm>
              <a:off x="134471" y="0"/>
              <a:ext cx="1358153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Picture 8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447800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7" name="Group 16"/>
          <p:cNvGrpSpPr>
            <a:grpSpLocks/>
          </p:cNvGrpSpPr>
          <p:nvPr/>
        </p:nvGrpSpPr>
        <p:grpSpPr bwMode="auto">
          <a:xfrm>
            <a:off x="7546975" y="0"/>
            <a:ext cx="1597025" cy="6858000"/>
            <a:chOff x="7413812" y="0"/>
            <a:chExt cx="1597734" cy="6858000"/>
          </a:xfrm>
        </p:grpSpPr>
        <p:pic>
          <p:nvPicPr>
            <p:cNvPr id="8" name="Picture 10" descr="Overlay-Blank.jpg"/>
            <p:cNvPicPr>
              <a:picLocks noChangeAspect="1"/>
            </p:cNvPicPr>
            <p:nvPr userDrawn="1"/>
          </p:nvPicPr>
          <p:blipFill>
            <a:blip r:embed="rId2"/>
            <a:srcRect r="85126"/>
            <a:stretch>
              <a:fillRect/>
            </a:stretch>
          </p:blipFill>
          <p:spPr bwMode="auto">
            <a:xfrm>
              <a:off x="7651376" y="0"/>
              <a:ext cx="1360170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" name="Picture 11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 flipH="1">
              <a:off x="7413812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0" name="Picture 12" descr="HR-Color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54163" y="4841875"/>
            <a:ext cx="6035675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200" y="3693645"/>
            <a:ext cx="5446713" cy="1470025"/>
          </a:xfrm>
        </p:spPr>
        <p:txBody>
          <a:bodyPr anchor="b"/>
          <a:lstStyle>
            <a:lvl1pPr>
              <a:lnSpc>
                <a:spcPts val="6800"/>
              </a:lnSpc>
              <a:defRPr sz="6500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54200" y="5204011"/>
            <a:ext cx="5446713" cy="851647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5257800" y="6356350"/>
            <a:ext cx="2133600" cy="365125"/>
          </a:xfrm>
        </p:spPr>
        <p:txBody>
          <a:bodyPr/>
          <a:lstStyle>
            <a:lvl1pPr>
              <a:defRPr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2600" y="6356350"/>
            <a:ext cx="2895600" cy="365125"/>
          </a:xfrm>
        </p:spPr>
        <p:txBody>
          <a:bodyPr/>
          <a:lstStyle>
            <a:lvl1pPr>
              <a:defRPr dirty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"/>
          <p:cNvGrpSpPr>
            <a:grpSpLocks/>
          </p:cNvGrpSpPr>
          <p:nvPr/>
        </p:nvGrpSpPr>
        <p:grpSpPr bwMode="auto">
          <a:xfrm>
            <a:off x="0" y="1373188"/>
            <a:ext cx="9144000" cy="5484812"/>
            <a:chOff x="0" y="1372650"/>
            <a:chExt cx="9144000" cy="5485350"/>
          </a:xfrm>
        </p:grpSpPr>
        <p:pic>
          <p:nvPicPr>
            <p:cNvPr id="5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t="23334"/>
            <a:stretch>
              <a:fillRect/>
            </a:stretch>
          </p:blipFill>
          <p:spPr bwMode="auto">
            <a:xfrm>
              <a:off x="0" y="1600200"/>
              <a:ext cx="9144000" cy="5257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1372650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D48F9B-91BA-5241-927F-DFD69C82FCF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>
  <p:cSld name="Title Slide with Pictur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0" y="0"/>
            <a:ext cx="1581150" cy="6858000"/>
            <a:chOff x="134471" y="0"/>
            <a:chExt cx="1581220" cy="6858000"/>
          </a:xfrm>
        </p:grpSpPr>
        <p:pic>
          <p:nvPicPr>
            <p:cNvPr id="6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l="1471" r="83676"/>
            <a:stretch>
              <a:fillRect/>
            </a:stretch>
          </p:blipFill>
          <p:spPr bwMode="auto">
            <a:xfrm>
              <a:off x="134471" y="0"/>
              <a:ext cx="1358153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Picture 8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447800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5" name="Group 16"/>
          <p:cNvGrpSpPr>
            <a:grpSpLocks/>
          </p:cNvGrpSpPr>
          <p:nvPr/>
        </p:nvGrpSpPr>
        <p:grpSpPr bwMode="auto">
          <a:xfrm>
            <a:off x="7546975" y="0"/>
            <a:ext cx="1597025" cy="6858000"/>
            <a:chOff x="7413812" y="0"/>
            <a:chExt cx="1597734" cy="6858000"/>
          </a:xfrm>
        </p:grpSpPr>
        <p:pic>
          <p:nvPicPr>
            <p:cNvPr id="9" name="Picture 10" descr="Overlay-Blank.jpg"/>
            <p:cNvPicPr>
              <a:picLocks noChangeAspect="1"/>
            </p:cNvPicPr>
            <p:nvPr userDrawn="1"/>
          </p:nvPicPr>
          <p:blipFill>
            <a:blip r:embed="rId2"/>
            <a:srcRect r="85126"/>
            <a:stretch>
              <a:fillRect/>
            </a:stretch>
          </p:blipFill>
          <p:spPr bwMode="auto">
            <a:xfrm>
              <a:off x="7651376" y="0"/>
              <a:ext cx="1360170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" name="Picture 11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 flipH="1">
              <a:off x="7413812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1" name="Picture 12" descr="HR-Color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54163" y="4841875"/>
            <a:ext cx="6035675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200" y="3693645"/>
            <a:ext cx="5446713" cy="1470025"/>
          </a:xfrm>
        </p:spPr>
        <p:txBody>
          <a:bodyPr anchor="b"/>
          <a:lstStyle>
            <a:lvl1pPr>
              <a:lnSpc>
                <a:spcPts val="6800"/>
              </a:lnSpc>
              <a:defRPr sz="6500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54200" y="5204011"/>
            <a:ext cx="5446713" cy="851647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2"/>
          </p:nvPr>
        </p:nvSpPr>
        <p:spPr>
          <a:xfrm>
            <a:off x="3307977" y="950260"/>
            <a:ext cx="2528046" cy="2528046"/>
          </a:xfrm>
          <a:prstGeom prst="ellipse">
            <a:avLst/>
          </a:prstGeom>
          <a:solidFill>
            <a:schemeClr val="bg1">
              <a:lumMod val="85000"/>
            </a:schemeClr>
          </a:solidFill>
          <a:ln w="101600">
            <a:noFill/>
            <a:miter lim="800000"/>
          </a:ln>
          <a:effectLst>
            <a:innerShdw blurRad="762000">
              <a:schemeClr val="accent1">
                <a:alpha val="80000"/>
              </a:schemeClr>
            </a:innerShdw>
            <a:softEdge rad="317500"/>
          </a:effectLst>
        </p:spPr>
        <p:txBody>
          <a:bodyPr rtlCol="0">
            <a:normAutofit/>
          </a:bodyPr>
          <a:lstStyle>
            <a:lvl1pPr marL="0" indent="0" algn="ctr" defTabSz="914400" rtl="0" eaLnBrk="1" latinLnBrk="0" hangingPunct="1">
              <a:spcBef>
                <a:spcPts val="2400"/>
              </a:spcBef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None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 smtClean="0"/>
              <a:t>Click icon to add picture</a:t>
            </a:r>
            <a:endParaRPr noProof="0" dirty="0"/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13"/>
          </p:nvPr>
        </p:nvSpPr>
        <p:spPr>
          <a:xfrm>
            <a:off x="5257800" y="6356350"/>
            <a:ext cx="2133600" cy="365125"/>
          </a:xfrm>
        </p:spPr>
        <p:txBody>
          <a:bodyPr/>
          <a:lstStyle>
            <a:lvl1pPr>
              <a:defRPr dirty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14"/>
          </p:nvPr>
        </p:nvSpPr>
        <p:spPr>
          <a:xfrm>
            <a:off x="1752600" y="6356350"/>
            <a:ext cx="2895600" cy="365125"/>
          </a:xfrm>
        </p:spPr>
        <p:txBody>
          <a:bodyPr/>
          <a:lstStyle>
            <a:lvl1pPr>
              <a:defRPr dirty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"/>
          <p:cNvGrpSpPr>
            <a:grpSpLocks/>
          </p:cNvGrpSpPr>
          <p:nvPr/>
        </p:nvGrpSpPr>
        <p:grpSpPr bwMode="auto">
          <a:xfrm>
            <a:off x="0" y="0"/>
            <a:ext cx="9144000" cy="1190625"/>
            <a:chOff x="0" y="0"/>
            <a:chExt cx="9144000" cy="1191256"/>
          </a:xfrm>
        </p:grpSpPr>
        <p:pic>
          <p:nvPicPr>
            <p:cNvPr id="5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b="85555"/>
            <a:stretch>
              <a:fillRect/>
            </a:stretch>
          </p:blipFill>
          <p:spPr bwMode="auto">
            <a:xfrm>
              <a:off x="0" y="0"/>
              <a:ext cx="9144000" cy="990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 flipV="1">
              <a:off x="0" y="923365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7" name="Group 10"/>
          <p:cNvGrpSpPr>
            <a:grpSpLocks/>
          </p:cNvGrpSpPr>
          <p:nvPr/>
        </p:nvGrpSpPr>
        <p:grpSpPr bwMode="auto">
          <a:xfrm flipV="1">
            <a:off x="0" y="5667375"/>
            <a:ext cx="9144000" cy="1190625"/>
            <a:chOff x="0" y="0"/>
            <a:chExt cx="9144000" cy="1191256"/>
          </a:xfrm>
        </p:grpSpPr>
        <p:pic>
          <p:nvPicPr>
            <p:cNvPr id="8" name="Picture 10" descr="Overlay-Blank.jpg"/>
            <p:cNvPicPr>
              <a:picLocks noChangeAspect="1"/>
            </p:cNvPicPr>
            <p:nvPr userDrawn="1"/>
          </p:nvPicPr>
          <p:blipFill>
            <a:blip r:embed="rId2"/>
            <a:srcRect b="85555"/>
            <a:stretch>
              <a:fillRect/>
            </a:stretch>
          </p:blipFill>
          <p:spPr bwMode="auto">
            <a:xfrm>
              <a:off x="0" y="0"/>
              <a:ext cx="9144000" cy="990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" name="Picture 11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 flipV="1">
              <a:off x="0" y="923365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0" name="Picture 12" descr="HR-Color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54163" y="3259138"/>
            <a:ext cx="6035675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4200" y="1851212"/>
            <a:ext cx="5446714" cy="1730375"/>
          </a:xfrm>
        </p:spPr>
        <p:txBody>
          <a:bodyPr anchor="b"/>
          <a:lstStyle>
            <a:lvl1pPr algn="ctr">
              <a:lnSpc>
                <a:spcPts val="6800"/>
              </a:lnSpc>
              <a:defRPr sz="6500" b="0" cap="none" baseline="0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54200" y="3576918"/>
            <a:ext cx="5446714" cy="829982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</a:t>
            </a:r>
            <a:endParaRPr lang="en-US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3F0E40-9566-FF47-84D5-E4C9DFD1FA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6"/>
          <p:cNvGrpSpPr>
            <a:grpSpLocks/>
          </p:cNvGrpSpPr>
          <p:nvPr/>
        </p:nvGrpSpPr>
        <p:grpSpPr bwMode="auto">
          <a:xfrm>
            <a:off x="0" y="1373188"/>
            <a:ext cx="9144000" cy="5484812"/>
            <a:chOff x="0" y="1372650"/>
            <a:chExt cx="9144000" cy="5485350"/>
          </a:xfrm>
        </p:grpSpPr>
        <p:pic>
          <p:nvPicPr>
            <p:cNvPr id="6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t="23334"/>
            <a:stretch>
              <a:fillRect/>
            </a:stretch>
          </p:blipFill>
          <p:spPr bwMode="auto">
            <a:xfrm>
              <a:off x="0" y="1600200"/>
              <a:ext cx="9144000" cy="5257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1372650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92162" y="1774825"/>
            <a:ext cx="3566160" cy="430371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6534" y="1774825"/>
            <a:ext cx="3566160" cy="430371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</a:t>
            </a:r>
            <a:endParaRPr lang="en-US" dirty="0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F0B399-20FE-C646-851D-65041BC80C7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>
            <a:grpSpLocks/>
          </p:cNvGrpSpPr>
          <p:nvPr/>
        </p:nvGrpSpPr>
        <p:grpSpPr bwMode="auto">
          <a:xfrm>
            <a:off x="0" y="1373188"/>
            <a:ext cx="9144000" cy="5484812"/>
            <a:chOff x="0" y="1372650"/>
            <a:chExt cx="9144000" cy="5485350"/>
          </a:xfrm>
        </p:grpSpPr>
        <p:pic>
          <p:nvPicPr>
            <p:cNvPr id="8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t="23334"/>
            <a:stretch>
              <a:fillRect/>
            </a:stretch>
          </p:blipFill>
          <p:spPr bwMode="auto">
            <a:xfrm>
              <a:off x="0" y="1600200"/>
              <a:ext cx="9144000" cy="5257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1372650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0" name="Picture 9" descr="Overlay-HorizontalBridge.jpg"/>
          <p:cNvPicPr>
            <a:picLocks noChangeAspect="1"/>
          </p:cNvPicPr>
          <p:nvPr/>
        </p:nvPicPr>
        <p:blipFill>
          <a:blip r:embed="rId3"/>
          <a:srcRect t="23425" r="61031" b="39764"/>
          <a:stretch>
            <a:fillRect/>
          </a:stretch>
        </p:blipFill>
        <p:spPr>
          <a:xfrm>
            <a:off x="4765675" y="2460625"/>
            <a:ext cx="3563938" cy="9842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</p:pic>
      <p:pic>
        <p:nvPicPr>
          <p:cNvPr id="11" name="Picture 10" descr="Overlay-HorizontalBridge.jpg"/>
          <p:cNvPicPr>
            <a:picLocks noChangeAspect="1"/>
          </p:cNvPicPr>
          <p:nvPr/>
        </p:nvPicPr>
        <p:blipFill>
          <a:blip r:embed="rId3"/>
          <a:srcRect t="23425" r="61031" b="39764"/>
          <a:stretch>
            <a:fillRect/>
          </a:stretch>
        </p:blipFill>
        <p:spPr>
          <a:xfrm>
            <a:off x="779463" y="2460625"/>
            <a:ext cx="3563937" cy="9842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7240" y="1879320"/>
            <a:ext cx="3566160" cy="639762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800" b="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77240" y="2590799"/>
            <a:ext cx="3566160" cy="3487739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66048" y="1879320"/>
            <a:ext cx="3566160" cy="639762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800" b="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66048" y="2590799"/>
            <a:ext cx="3566160" cy="3487739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2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3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</a:t>
            </a:r>
            <a:endParaRPr lang="en-US" dirty="0"/>
          </a:p>
        </p:txBody>
      </p:sp>
      <p:sp>
        <p:nvSpPr>
          <p:cNvPr id="14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06906F-F82C-C24B-ADFB-A876A59C3E1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0" y="1373188"/>
            <a:ext cx="9144000" cy="5484812"/>
            <a:chOff x="0" y="1372650"/>
            <a:chExt cx="9144000" cy="5485350"/>
          </a:xfrm>
        </p:grpSpPr>
        <p:pic>
          <p:nvPicPr>
            <p:cNvPr id="4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t="23334"/>
            <a:stretch>
              <a:fillRect/>
            </a:stretch>
          </p:blipFill>
          <p:spPr bwMode="auto">
            <a:xfrm>
              <a:off x="0" y="1600200"/>
              <a:ext cx="9144000" cy="5257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1372650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</a:t>
            </a:r>
            <a:endParaRPr lang="en-US" dirty="0"/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38C610-EA48-3F45-BACD-67F8C6BE9BE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Overlay-Blank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</a:t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0671E9-418D-2440-8FFC-982A85567CA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4267200" y="0"/>
            <a:ext cx="4876800" cy="6858000"/>
            <a:chOff x="4267200" y="0"/>
            <a:chExt cx="4876800" cy="6858000"/>
          </a:xfrm>
        </p:grpSpPr>
        <p:pic>
          <p:nvPicPr>
            <p:cNvPr id="6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l="4301" r="46875"/>
            <a:stretch>
              <a:fillRect/>
            </a:stretch>
          </p:blipFill>
          <p:spPr bwMode="auto">
            <a:xfrm>
              <a:off x="4495800" y="0"/>
              <a:ext cx="4648200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Picture 8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 flipH="1">
              <a:off x="4267200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09600"/>
            <a:ext cx="3612776" cy="1537447"/>
          </a:xfrm>
        </p:spPr>
        <p:txBody>
          <a:bodyPr anchor="b"/>
          <a:lstStyle>
            <a:lvl1pPr algn="ctr">
              <a:lnSpc>
                <a:spcPct val="100000"/>
              </a:lnSpc>
              <a:defRPr sz="3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85859" y="381001"/>
            <a:ext cx="3813174" cy="5697537"/>
          </a:xfrm>
        </p:spPr>
        <p:txBody>
          <a:bodyPr>
            <a:normAutofit/>
          </a:bodyPr>
          <a:lstStyle>
            <a:lvl1pPr>
              <a:defRPr sz="2400" b="0"/>
            </a:lvl1pPr>
            <a:lvl2pPr>
              <a:defRPr sz="2200" b="0"/>
            </a:lvl2pPr>
            <a:lvl3pPr>
              <a:defRPr sz="2000" b="0"/>
            </a:lvl3pPr>
            <a:lvl4pPr>
              <a:defRPr sz="1800" b="0"/>
            </a:lvl4pPr>
            <a:lvl5pPr>
              <a:defRPr sz="1800" b="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2209801"/>
            <a:ext cx="3612776" cy="3200400"/>
          </a:xfrm>
        </p:spPr>
        <p:txBody>
          <a:bodyPr>
            <a:normAutofit/>
          </a:bodyPr>
          <a:lstStyle>
            <a:lvl1pPr marL="0" indent="0" algn="ctr">
              <a:buNone/>
              <a:defRPr sz="1800" b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</a:t>
            </a:r>
            <a:endParaRPr lang="en-US" dirty="0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 smtClean="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pPr>
              <a:defRPr/>
            </a:pPr>
            <a:fld id="{8CA6F8B6-D79F-7D42-8296-26A8574CEF8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Overlay-Blank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09600"/>
            <a:ext cx="3612822" cy="1536192"/>
          </a:xfrm>
        </p:spPr>
        <p:txBody>
          <a:bodyPr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73625" y="381000"/>
            <a:ext cx="3813175" cy="5697538"/>
          </a:xfrm>
          <a:solidFill>
            <a:schemeClr val="bg1">
              <a:lumMod val="85000"/>
            </a:schemeClr>
          </a:solidFill>
          <a:ln w="101600">
            <a:solidFill>
              <a:schemeClr val="accent1">
                <a:lumMod val="40000"/>
                <a:lumOff val="60000"/>
                <a:alpha val="40000"/>
              </a:schemeClr>
            </a:solidFill>
            <a:miter lim="800000"/>
          </a:ln>
          <a:effectLst>
            <a:innerShdw blurRad="457200">
              <a:schemeClr val="accent1">
                <a:alpha val="80000"/>
              </a:schemeClr>
            </a:innerShdw>
            <a:softEdge rad="31750"/>
          </a:effectLst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9984" y="2209799"/>
            <a:ext cx="3613792" cy="3222625"/>
          </a:xfrm>
        </p:spPr>
        <p:txBody>
          <a:bodyPr rtlCol="0">
            <a:normAutofit/>
          </a:bodyPr>
          <a:lstStyle>
            <a:lvl1pPr marL="0" indent="0" algn="ctr">
              <a:buNone/>
              <a:defRPr sz="18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</a:t>
            </a:r>
            <a:endParaRPr lang="en-US" dirty="0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C89D08-05CB-8041-A6F5-8B39A23581E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4267200" y="0"/>
            <a:ext cx="4876800" cy="6858000"/>
            <a:chOff x="4267200" y="0"/>
            <a:chExt cx="4876800" cy="6858000"/>
          </a:xfrm>
        </p:grpSpPr>
        <p:pic>
          <p:nvPicPr>
            <p:cNvPr id="6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l="4301" r="46875"/>
            <a:stretch>
              <a:fillRect/>
            </a:stretch>
          </p:blipFill>
          <p:spPr bwMode="auto">
            <a:xfrm>
              <a:off x="4495800" y="0"/>
              <a:ext cx="4648200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Picture 8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 flipH="1">
              <a:off x="4267200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09600"/>
            <a:ext cx="3612822" cy="1536192"/>
          </a:xfrm>
        </p:spPr>
        <p:txBody>
          <a:bodyPr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73625" y="381000"/>
            <a:ext cx="3813175" cy="5697538"/>
          </a:xfrm>
          <a:solidFill>
            <a:schemeClr val="bg1">
              <a:lumMod val="85000"/>
            </a:schemeClr>
          </a:solidFill>
          <a:ln w="101600">
            <a:noFill/>
            <a:miter lim="800000"/>
          </a:ln>
          <a:effectLst>
            <a:innerShdw blurRad="457200">
              <a:schemeClr val="tx1">
                <a:lumMod val="50000"/>
                <a:lumOff val="50000"/>
                <a:alpha val="80000"/>
              </a:schemeClr>
            </a:innerShdw>
            <a:softEdge rad="127000"/>
          </a:effectLst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9984" y="2209799"/>
            <a:ext cx="3613792" cy="3222625"/>
          </a:xfrm>
        </p:spPr>
        <p:txBody>
          <a:bodyPr rtlCol="0">
            <a:normAutofit/>
          </a:bodyPr>
          <a:lstStyle>
            <a:lvl1pPr marL="0" indent="0" algn="ctr">
              <a:buNone/>
              <a:defRPr sz="18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</a:t>
            </a:r>
            <a:endParaRPr lang="en-US" dirty="0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128D79-964E-A448-8064-06DBA4282F1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"/>
          <p:cNvGrpSpPr>
            <a:grpSpLocks/>
          </p:cNvGrpSpPr>
          <p:nvPr/>
        </p:nvGrpSpPr>
        <p:grpSpPr bwMode="auto">
          <a:xfrm>
            <a:off x="0" y="1373188"/>
            <a:ext cx="9144000" cy="5484812"/>
            <a:chOff x="0" y="1372650"/>
            <a:chExt cx="9144000" cy="5485350"/>
          </a:xfrm>
        </p:grpSpPr>
        <p:pic>
          <p:nvPicPr>
            <p:cNvPr id="5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t="23334"/>
            <a:stretch>
              <a:fillRect/>
            </a:stretch>
          </p:blipFill>
          <p:spPr bwMode="auto">
            <a:xfrm>
              <a:off x="0" y="1600200"/>
              <a:ext cx="9144000" cy="5257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1372650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193134-7B2A-5144-91AA-8D21FF7C19B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0" y="0"/>
            <a:ext cx="7696200" cy="6858000"/>
            <a:chOff x="0" y="0"/>
            <a:chExt cx="7696200" cy="6858000"/>
          </a:xfrm>
        </p:grpSpPr>
        <p:pic>
          <p:nvPicPr>
            <p:cNvPr id="5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l="1471" r="16862"/>
            <a:stretch>
              <a:fillRect/>
            </a:stretch>
          </p:blipFill>
          <p:spPr bwMode="auto">
            <a:xfrm>
              <a:off x="0" y="0"/>
              <a:ext cx="7467600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Picture 8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428309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20000" y="381001"/>
            <a:ext cx="1447800" cy="56975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381001"/>
            <a:ext cx="6705600" cy="569753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747C69-A4E4-6642-9B2D-EA3DE70B39A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Placeholder 1"/>
          <p:cNvSpPr>
            <a:spLocks noGrp="1"/>
          </p:cNvSpPr>
          <p:nvPr>
            <p:ph type="title"/>
          </p:nvPr>
        </p:nvSpPr>
        <p:spPr bwMode="auto">
          <a:xfrm>
            <a:off x="792163" y="39688"/>
            <a:ext cx="7570787" cy="141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331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92163" y="1762125"/>
            <a:ext cx="7570787" cy="428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51625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Arial" pitchFamily="-1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67200" y="6356350"/>
            <a:ext cx="609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smtClean="0">
                <a:solidFill>
                  <a:schemeClr val="tx2">
                    <a:lumMod val="40000"/>
                    <a:lumOff val="60000"/>
                  </a:schemeClr>
                </a:solidFill>
                <a:latin typeface="Arial" pitchFamily="-1" charset="0"/>
              </a:defRPr>
            </a:lvl1pPr>
          </a:lstStyle>
          <a:p>
            <a:pPr>
              <a:defRPr/>
            </a:pPr>
            <a:fld id="{FD05123F-ECCC-3744-8046-0E4114F7D95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1475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Arial" pitchFamily="-1" charset="0"/>
              </a:defRPr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  <p:sldLayoutId id="2147483734" r:id="rId13"/>
  </p:sldLayoutIdLst>
  <p:hf sldNum="0" hdr="0" dt="0"/>
  <p:txStyles>
    <p:titleStyle>
      <a:lvl1pPr algn="ctr" rtl="0" fontAlgn="base">
        <a:lnSpc>
          <a:spcPts val="6000"/>
        </a:lnSpc>
        <a:spcBef>
          <a:spcPct val="0"/>
        </a:spcBef>
        <a:spcAft>
          <a:spcPct val="0"/>
        </a:spcAft>
        <a:defRPr sz="5400" kern="1200">
          <a:solidFill>
            <a:schemeClr val="tx2"/>
          </a:solidFill>
          <a:latin typeface="+mn-lt"/>
          <a:ea typeface="ＭＳ Ｐゴシック" pitchFamily="-84" charset="-128"/>
          <a:cs typeface="ＭＳ Ｐゴシック" pitchFamily="-84" charset="-128"/>
        </a:defRPr>
      </a:lvl1pPr>
      <a:lvl2pPr algn="ctr" rtl="0" fontAlgn="base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2pPr>
      <a:lvl3pPr algn="ctr" rtl="0" fontAlgn="base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3pPr>
      <a:lvl4pPr algn="ctr" rtl="0" fontAlgn="base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4pPr>
      <a:lvl5pPr algn="ctr" rtl="0" fontAlgn="base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5pPr>
      <a:lvl6pPr marL="457200" algn="ctr" rtl="0" fontAlgn="base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6pPr>
      <a:lvl7pPr marL="914400" algn="ctr" rtl="0" fontAlgn="base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7pPr>
      <a:lvl8pPr marL="1371600" algn="ctr" rtl="0" fontAlgn="base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8pPr>
      <a:lvl9pPr marL="1828800" algn="ctr" rtl="0" fontAlgn="base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9pPr>
    </p:titleStyle>
    <p:bodyStyle>
      <a:lvl1pPr marL="342900" indent="-342900" algn="l" rtl="0" fontAlgn="base">
        <a:spcBef>
          <a:spcPts val="2400"/>
        </a:spcBef>
        <a:spcAft>
          <a:spcPct val="0"/>
        </a:spcAft>
        <a:buClr>
          <a:srgbClr val="BAABE3"/>
        </a:buClr>
        <a:buFont typeface="Candara" pitchFamily="-84" charset="0"/>
        <a:buChar char="•"/>
        <a:defRPr sz="2800" kern="1200">
          <a:solidFill>
            <a:schemeClr val="tx2"/>
          </a:solidFill>
          <a:latin typeface="+mn-lt"/>
          <a:ea typeface="ＭＳ Ｐゴシック" pitchFamily="-84" charset="-128"/>
          <a:cs typeface="ＭＳ Ｐゴシック" pitchFamily="-84" charset="-128"/>
        </a:defRPr>
      </a:lvl1pPr>
      <a:lvl2pPr marL="685800" indent="-336550" algn="l" rtl="0" fontAlgn="base">
        <a:spcBef>
          <a:spcPts val="600"/>
        </a:spcBef>
        <a:spcAft>
          <a:spcPct val="0"/>
        </a:spcAft>
        <a:buClr>
          <a:schemeClr val="tx2"/>
        </a:buClr>
        <a:buFont typeface="Candara" pitchFamily="-84" charset="0"/>
        <a:buChar char="•"/>
        <a:defRPr sz="2600" kern="1200">
          <a:solidFill>
            <a:schemeClr val="tx2"/>
          </a:solidFill>
          <a:latin typeface="+mn-lt"/>
          <a:ea typeface="ＭＳ Ｐゴシック" pitchFamily="-84" charset="-128"/>
          <a:cs typeface="+mn-cs"/>
        </a:defRPr>
      </a:lvl2pPr>
      <a:lvl3pPr marL="1035050" indent="-349250" algn="l" rtl="0" fontAlgn="base">
        <a:spcBef>
          <a:spcPts val="600"/>
        </a:spcBef>
        <a:spcAft>
          <a:spcPct val="0"/>
        </a:spcAft>
        <a:buClr>
          <a:srgbClr val="BAABE3"/>
        </a:buClr>
        <a:buFont typeface="Candara" pitchFamily="-84" charset="0"/>
        <a:buChar char="•"/>
        <a:defRPr sz="2400" kern="1200">
          <a:solidFill>
            <a:schemeClr val="tx2"/>
          </a:solidFill>
          <a:latin typeface="+mn-lt"/>
          <a:ea typeface="ＭＳ Ｐゴシック" pitchFamily="-84" charset="-128"/>
          <a:cs typeface="+mn-cs"/>
        </a:defRPr>
      </a:lvl3pPr>
      <a:lvl4pPr marL="1371600" indent="-336550" algn="l" rtl="0" fontAlgn="base">
        <a:spcBef>
          <a:spcPts val="600"/>
        </a:spcBef>
        <a:spcAft>
          <a:spcPct val="0"/>
        </a:spcAft>
        <a:buClr>
          <a:schemeClr val="tx2"/>
        </a:buClr>
        <a:buFont typeface="Candara" pitchFamily="-84" charset="0"/>
        <a:buChar char="•"/>
        <a:defRPr sz="2200" kern="1200">
          <a:solidFill>
            <a:schemeClr val="tx2"/>
          </a:solidFill>
          <a:latin typeface="+mn-lt"/>
          <a:ea typeface="ＭＳ Ｐゴシック" pitchFamily="-84" charset="-128"/>
          <a:cs typeface="+mn-cs"/>
        </a:defRPr>
      </a:lvl4pPr>
      <a:lvl5pPr marL="1720850" indent="-349250" algn="l" rtl="0" fontAlgn="base">
        <a:spcBef>
          <a:spcPts val="600"/>
        </a:spcBef>
        <a:spcAft>
          <a:spcPct val="0"/>
        </a:spcAft>
        <a:buClr>
          <a:srgbClr val="BAABE3"/>
        </a:buClr>
        <a:buFont typeface="Candara" pitchFamily="-84" charset="0"/>
        <a:buChar char="•"/>
        <a:defRPr sz="2000" kern="1200">
          <a:solidFill>
            <a:schemeClr val="tx2"/>
          </a:solidFill>
          <a:latin typeface="+mn-lt"/>
          <a:ea typeface="ＭＳ Ｐゴシック" pitchFamily="-84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df"/><Relationship Id="rId4" Type="http://schemas.openxmlformats.org/officeDocument/2006/relationships/image" Target="../media/image12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df"/><Relationship Id="rId4" Type="http://schemas.openxmlformats.org/officeDocument/2006/relationships/image" Target="../media/image14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df"/><Relationship Id="rId4" Type="http://schemas.openxmlformats.org/officeDocument/2006/relationships/image" Target="../media/image16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df"/><Relationship Id="rId4" Type="http://schemas.openxmlformats.org/officeDocument/2006/relationships/image" Target="../media/image18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4" Type="http://schemas.openxmlformats.org/officeDocument/2006/relationships/diagramLayout" Target="../diagrams/layout2.xml"/><Relationship Id="rId5" Type="http://schemas.openxmlformats.org/officeDocument/2006/relationships/diagramQuickStyle" Target="../diagrams/quickStyle2.xml"/><Relationship Id="rId6" Type="http://schemas.openxmlformats.org/officeDocument/2006/relationships/diagramColors" Target="../diagrams/colors2.xml"/><Relationship Id="rId7" Type="http://schemas.microsoft.com/office/2007/relationships/diagramDrawing" Target="../diagrams/drawing2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4" Type="http://schemas.openxmlformats.org/officeDocument/2006/relationships/diagramLayout" Target="../diagrams/layout3.xml"/><Relationship Id="rId5" Type="http://schemas.openxmlformats.org/officeDocument/2006/relationships/diagramQuickStyle" Target="../diagrams/quickStyle3.xml"/><Relationship Id="rId6" Type="http://schemas.openxmlformats.org/officeDocument/2006/relationships/diagramColors" Target="../diagrams/colors3.xml"/><Relationship Id="rId7" Type="http://schemas.microsoft.com/office/2007/relationships/diagramDrawing" Target="../diagrams/drawing3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4" Type="http://schemas.openxmlformats.org/officeDocument/2006/relationships/diagramLayout" Target="../diagrams/layout4.xml"/><Relationship Id="rId5" Type="http://schemas.openxmlformats.org/officeDocument/2006/relationships/diagramQuickStyle" Target="../diagrams/quickStyle4.xml"/><Relationship Id="rId6" Type="http://schemas.openxmlformats.org/officeDocument/2006/relationships/diagramColors" Target="../diagrams/colors4.xml"/><Relationship Id="rId7" Type="http://schemas.microsoft.com/office/2007/relationships/diagramDrawing" Target="../diagrams/drawing4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df"/><Relationship Id="rId4" Type="http://schemas.openxmlformats.org/officeDocument/2006/relationships/image" Target="../media/image2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df"/><Relationship Id="rId4" Type="http://schemas.openxmlformats.org/officeDocument/2006/relationships/image" Target="../media/image22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3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df"/><Relationship Id="rId4" Type="http://schemas.openxmlformats.org/officeDocument/2006/relationships/image" Target="../media/image25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df"/><Relationship Id="rId4" Type="http://schemas.openxmlformats.org/officeDocument/2006/relationships/image" Target="../media/image27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4" Type="http://schemas.openxmlformats.org/officeDocument/2006/relationships/diagramLayout" Target="../diagrams/layout5.xml"/><Relationship Id="rId5" Type="http://schemas.openxmlformats.org/officeDocument/2006/relationships/diagramQuickStyle" Target="../diagrams/quickStyle5.xml"/><Relationship Id="rId6" Type="http://schemas.openxmlformats.org/officeDocument/2006/relationships/diagramColors" Target="../diagrams/colors5.xml"/><Relationship Id="rId7" Type="http://schemas.microsoft.com/office/2007/relationships/diagramDrawing" Target="../diagrams/drawing5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df"/><Relationship Id="rId4" Type="http://schemas.openxmlformats.org/officeDocument/2006/relationships/image" Target="../media/image29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df"/><Relationship Id="rId4" Type="http://schemas.openxmlformats.org/officeDocument/2006/relationships/image" Target="../media/image31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df"/><Relationship Id="rId4" Type="http://schemas.openxmlformats.org/officeDocument/2006/relationships/image" Target="../media/image33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df"/><Relationship Id="rId4" Type="http://schemas.openxmlformats.org/officeDocument/2006/relationships/image" Target="../media/image35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df"/><Relationship Id="rId4" Type="http://schemas.openxmlformats.org/officeDocument/2006/relationships/image" Target="../media/image37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df"/><Relationship Id="rId4" Type="http://schemas.openxmlformats.org/officeDocument/2006/relationships/image" Target="../media/image39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df"/><Relationship Id="rId4" Type="http://schemas.openxmlformats.org/officeDocument/2006/relationships/image" Target="../media/image41.png"/><Relationship Id="rId5" Type="http://schemas.openxmlformats.org/officeDocument/2006/relationships/image" Target="../media/image42.pdf"/><Relationship Id="rId6" Type="http://schemas.openxmlformats.org/officeDocument/2006/relationships/image" Target="../media/image43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854200" y="3694113"/>
            <a:ext cx="5446713" cy="1470025"/>
          </a:xfrm>
        </p:spPr>
        <p:txBody>
          <a:bodyPr rtlCol="0"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ea typeface="+mj-ea"/>
                <a:cs typeface="+mj-cs"/>
              </a:rPr>
              <a:t>Cryptography and Network Security</a:t>
            </a:r>
            <a:endParaRPr lang="en-AU" dirty="0">
              <a:ea typeface="+mj-ea"/>
              <a:cs typeface="+mj-cs"/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54200" y="5203825"/>
            <a:ext cx="5446713" cy="852488"/>
          </a:xfrm>
        </p:spPr>
        <p:txBody>
          <a:bodyPr/>
          <a:lstStyle/>
          <a:p>
            <a:pPr>
              <a:buFont typeface="Wingdings" pitchFamily="-84" charset="2"/>
              <a:buNone/>
            </a:pPr>
            <a:r>
              <a:rPr lang="en-US" dirty="0" smtClean="0"/>
              <a:t>Seventh </a:t>
            </a:r>
            <a:r>
              <a:rPr lang="en-US" dirty="0" smtClean="0"/>
              <a:t>Edition</a:t>
            </a:r>
          </a:p>
          <a:p>
            <a:pPr>
              <a:buFont typeface="Wingdings" pitchFamily="-84" charset="2"/>
              <a:buNone/>
            </a:pPr>
            <a:r>
              <a:rPr lang="en-US" dirty="0" smtClean="0"/>
              <a:t>by William Stallings	</a:t>
            </a:r>
          </a:p>
          <a:p>
            <a:pPr>
              <a:buFont typeface="Wingdings" pitchFamily="-84" charset="2"/>
              <a:buNone/>
            </a:pPr>
            <a:endParaRPr lang="en-US" dirty="0" smtClean="0"/>
          </a:p>
        </p:txBody>
      </p:sp>
      <p:pic>
        <p:nvPicPr>
          <p:cNvPr id="14" name="Picture Placeholder 4" descr="crypto.jpg"/>
          <p:cNvPicPr>
            <a:picLocks noGrp="1" noChangeAspect="1"/>
          </p:cNvPicPr>
          <p:nvPr>
            <p:ph type="pic" sz="quarter" idx="12"/>
          </p:nvPr>
        </p:nvPicPr>
        <p:blipFill>
          <a:blip r:embed="rId3">
            <a:alphaModFix/>
            <a:lum bright="28000"/>
          </a:blip>
          <a:srcRect l="-16674" t="-1111" r="-18211" b="44444"/>
          <a:stretch>
            <a:fillRect/>
          </a:stretch>
        </p:blipFill>
        <p:spPr>
          <a:xfrm>
            <a:off x="3581400" y="1447800"/>
            <a:ext cx="2109547" cy="1209027"/>
          </a:xfrm>
          <a:effectLst>
            <a:innerShdw blurRad="762000">
              <a:schemeClr val="accent1">
                <a:alpha val="80000"/>
              </a:schemeClr>
            </a:innerShdw>
            <a:softEdge rad="76200"/>
          </a:effectLst>
        </p:spPr>
      </p:pic>
      <p:sp>
        <p:nvSpPr>
          <p:cNvPr id="5" name="Footer Placeholder 4"/>
          <p:cNvSpPr>
            <a:spLocks noGrp="1"/>
          </p:cNvSpPr>
          <p:nvPr>
            <p:ph type="ftr" sz="quarter" idx="14"/>
          </p:nvPr>
        </p:nvSpPr>
        <p:spPr>
          <a:xfrm>
            <a:off x="0" y="6492875"/>
            <a:ext cx="5562600" cy="365125"/>
          </a:xfrm>
        </p:spPr>
        <p:txBody>
          <a:bodyPr/>
          <a:lstStyle/>
          <a:p>
            <a:pPr>
              <a:defRPr/>
            </a:pPr>
            <a:r>
              <a:rPr lang="en-US" sz="1000" b="0" dirty="0" smtClean="0"/>
              <a:t>© 2017 Pearson Education, Inc., Hoboken, NJ. All rights reserved.   </a:t>
            </a:r>
            <a:endParaRPr lang="en-US" sz="10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ctrTitle"/>
          </p:nvPr>
        </p:nvSpPr>
        <p:spPr>
          <a:xfrm>
            <a:off x="1905000" y="3429000"/>
            <a:ext cx="5446713" cy="1470025"/>
          </a:xfrm>
        </p:spPr>
        <p:txBody>
          <a:bodyPr rtlCol="0"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ea typeface="+mj-ea"/>
                <a:cs typeface="+mj-cs"/>
              </a:rPr>
              <a:t>Chapter 12</a:t>
            </a:r>
            <a:endParaRPr lang="en-US" dirty="0">
              <a:ea typeface="+mj-ea"/>
              <a:cs typeface="+mj-cs"/>
            </a:endParaRPr>
          </a:p>
        </p:txBody>
      </p:sp>
      <p:sp>
        <p:nvSpPr>
          <p:cNvPr id="30723" name="Subtitle 13"/>
          <p:cNvSpPr>
            <a:spLocks noGrp="1"/>
          </p:cNvSpPr>
          <p:nvPr>
            <p:ph type="subTitle" idx="1"/>
          </p:nvPr>
        </p:nvSpPr>
        <p:spPr>
          <a:xfrm>
            <a:off x="1524000" y="5029200"/>
            <a:ext cx="6096000" cy="852488"/>
          </a:xfrm>
        </p:spPr>
        <p:txBody>
          <a:bodyPr>
            <a:normAutofit fontScale="92500"/>
          </a:bodyPr>
          <a:lstStyle/>
          <a:p>
            <a:r>
              <a:rPr lang="en-AU" sz="3600" dirty="0" smtClean="0"/>
              <a:t>Message Authentication Codes</a:t>
            </a:r>
            <a:endParaRPr lang="en-US" sz="3600" dirty="0" smtClean="0"/>
          </a:p>
        </p:txBody>
      </p:sp>
      <p:pic>
        <p:nvPicPr>
          <p:cNvPr id="6" name="Picture Placeholder 4" descr="crypto.jpg"/>
          <p:cNvPicPr>
            <a:picLocks noChangeAspect="1"/>
          </p:cNvPicPr>
          <p:nvPr/>
        </p:nvPicPr>
        <p:blipFill>
          <a:blip r:embed="rId3">
            <a:alphaModFix/>
            <a:lum bright="28000"/>
          </a:blip>
          <a:srcRect l="-16674" t="-1111" r="-18211" b="44444"/>
          <a:stretch>
            <a:fillRect/>
          </a:stretch>
        </p:blipFill>
        <p:spPr bwMode="auto">
          <a:xfrm>
            <a:off x="3581400" y="1447800"/>
            <a:ext cx="2109547" cy="1209027"/>
          </a:xfrm>
          <a:prstGeom prst="ellipse">
            <a:avLst/>
          </a:prstGeom>
          <a:solidFill>
            <a:schemeClr val="bg1">
              <a:lumMod val="85000"/>
            </a:schemeClr>
          </a:solidFill>
          <a:ln w="101600">
            <a:noFill/>
            <a:miter lim="800000"/>
            <a:headEnd/>
            <a:tailEnd/>
          </a:ln>
          <a:effectLst>
            <a:innerShdw blurRad="762000">
              <a:schemeClr val="accent1">
                <a:alpha val="80000"/>
              </a:schemeClr>
            </a:innerShdw>
            <a:softEdge rad="76200"/>
          </a:effectLst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648200" cy="365125"/>
          </a:xfrm>
        </p:spPr>
        <p:txBody>
          <a:bodyPr/>
          <a:lstStyle/>
          <a:p>
            <a:pPr>
              <a:defRPr/>
            </a:pPr>
            <a:r>
              <a:rPr lang="en-US" sz="1000" b="0" dirty="0" smtClean="0"/>
              <a:t>© 2017 Pearson Education, Inc., Hoboken, NJ. All rights reserved.   </a:t>
            </a:r>
            <a:endParaRPr lang="en-US" sz="10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Message Authentication Requirements</a:t>
            </a:r>
            <a:endParaRPr lang="en-AU" dirty="0" smtClean="0"/>
          </a:p>
        </p:txBody>
      </p:sp>
      <p:sp>
        <p:nvSpPr>
          <p:cNvPr id="48131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609600" y="1600200"/>
            <a:ext cx="3748722" cy="4930775"/>
          </a:xfrm>
        </p:spPr>
        <p:txBody>
          <a:bodyPr>
            <a:normAutofit fontScale="70000" lnSpcReduction="20000"/>
          </a:bodyPr>
          <a:lstStyle/>
          <a:p>
            <a:pPr>
              <a:spcBef>
                <a:spcPts val="1200"/>
              </a:spcBef>
            </a:pPr>
            <a:r>
              <a:rPr lang="en-US" sz="2857" dirty="0" smtClean="0"/>
              <a:t>Disclosure</a:t>
            </a:r>
          </a:p>
          <a:p>
            <a:pPr lvl="1">
              <a:spcBef>
                <a:spcPts val="1200"/>
              </a:spcBef>
            </a:pPr>
            <a:r>
              <a:rPr lang="en-US" sz="2429" dirty="0" smtClean="0"/>
              <a:t>Release of message contents to any person or process not possessing the appropriate cryptographic key</a:t>
            </a:r>
          </a:p>
          <a:p>
            <a:pPr>
              <a:spcBef>
                <a:spcPts val="1200"/>
              </a:spcBef>
            </a:pPr>
            <a:r>
              <a:rPr lang="en-US" sz="2857" dirty="0" smtClean="0"/>
              <a:t>Traffic analysis</a:t>
            </a:r>
          </a:p>
          <a:p>
            <a:pPr lvl="1">
              <a:spcBef>
                <a:spcPts val="1200"/>
              </a:spcBef>
            </a:pPr>
            <a:r>
              <a:rPr lang="en-US" sz="2429" dirty="0" smtClean="0"/>
              <a:t>Discovery of the pattern of traffic between parties</a:t>
            </a:r>
          </a:p>
          <a:p>
            <a:pPr>
              <a:spcBef>
                <a:spcPts val="1200"/>
              </a:spcBef>
            </a:pPr>
            <a:r>
              <a:rPr lang="en-US" sz="2857" dirty="0" smtClean="0"/>
              <a:t>Masquerade</a:t>
            </a:r>
          </a:p>
          <a:p>
            <a:pPr lvl="1">
              <a:spcBef>
                <a:spcPts val="1200"/>
              </a:spcBef>
            </a:pPr>
            <a:r>
              <a:rPr lang="en-US" sz="2429" dirty="0" smtClean="0"/>
              <a:t>Insertion of messages into the network from a fraudulent source</a:t>
            </a:r>
          </a:p>
          <a:p>
            <a:pPr>
              <a:spcBef>
                <a:spcPts val="1200"/>
              </a:spcBef>
            </a:pPr>
            <a:r>
              <a:rPr lang="en-US" sz="2857" dirty="0" smtClean="0"/>
              <a:t>Content modification</a:t>
            </a:r>
          </a:p>
          <a:p>
            <a:pPr lvl="1">
              <a:spcBef>
                <a:spcPts val="1200"/>
              </a:spcBef>
            </a:pPr>
            <a:r>
              <a:rPr lang="en-US" sz="2429" dirty="0" smtClean="0"/>
              <a:t>Changes to the contents of a message, including insertion, deletion, transposition, and modification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4800600" y="1828800"/>
            <a:ext cx="3566160" cy="4778375"/>
          </a:xfrm>
        </p:spPr>
        <p:txBody>
          <a:bodyPr>
            <a:normAutofit fontScale="70000" lnSpcReduction="20000"/>
          </a:bodyPr>
          <a:lstStyle/>
          <a:p>
            <a:pPr>
              <a:spcBef>
                <a:spcPts val="1200"/>
              </a:spcBef>
            </a:pPr>
            <a:r>
              <a:rPr lang="en-US" sz="2857" dirty="0" smtClean="0"/>
              <a:t>Sequence modification</a:t>
            </a:r>
          </a:p>
          <a:p>
            <a:pPr lvl="1">
              <a:spcBef>
                <a:spcPts val="1200"/>
              </a:spcBef>
            </a:pPr>
            <a:r>
              <a:rPr lang="en-US" sz="2429" dirty="0" smtClean="0"/>
              <a:t>Any modification to a sequence of messages between parties, including insertion, deletion, and reordering</a:t>
            </a:r>
          </a:p>
          <a:p>
            <a:pPr>
              <a:spcBef>
                <a:spcPts val="1200"/>
              </a:spcBef>
            </a:pPr>
            <a:r>
              <a:rPr lang="en-US" sz="2857" dirty="0" smtClean="0"/>
              <a:t>Timing modification</a:t>
            </a:r>
          </a:p>
          <a:p>
            <a:pPr lvl="1">
              <a:spcBef>
                <a:spcPts val="1200"/>
              </a:spcBef>
            </a:pPr>
            <a:r>
              <a:rPr lang="en-US" sz="2429" dirty="0" smtClean="0"/>
              <a:t>Delay or replay of messages</a:t>
            </a:r>
          </a:p>
          <a:p>
            <a:pPr>
              <a:spcBef>
                <a:spcPts val="1200"/>
              </a:spcBef>
            </a:pPr>
            <a:r>
              <a:rPr lang="en-US" sz="2857" dirty="0" smtClean="0"/>
              <a:t>Source repudiation</a:t>
            </a:r>
          </a:p>
          <a:p>
            <a:pPr lvl="1">
              <a:spcBef>
                <a:spcPts val="1200"/>
              </a:spcBef>
            </a:pPr>
            <a:r>
              <a:rPr lang="en-US" sz="2429" dirty="0" smtClean="0"/>
              <a:t>Denial of transmission of message by source</a:t>
            </a:r>
          </a:p>
          <a:p>
            <a:pPr>
              <a:spcBef>
                <a:spcPts val="1200"/>
              </a:spcBef>
            </a:pPr>
            <a:r>
              <a:rPr lang="en-US" sz="2857" dirty="0" smtClean="0"/>
              <a:t>Destination repudiation</a:t>
            </a:r>
          </a:p>
          <a:p>
            <a:pPr lvl="1">
              <a:spcBef>
                <a:spcPts val="1200"/>
              </a:spcBef>
            </a:pPr>
            <a:r>
              <a:rPr lang="en-US" sz="2429" dirty="0" smtClean="0"/>
              <a:t>Denial of receipt of message by destination</a:t>
            </a:r>
            <a:endParaRPr lang="en-AU" sz="2429" dirty="0" smtClean="0"/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943600" cy="365125"/>
          </a:xfrm>
        </p:spPr>
        <p:txBody>
          <a:bodyPr/>
          <a:lstStyle/>
          <a:p>
            <a:pPr>
              <a:defRPr/>
            </a:pPr>
            <a:r>
              <a:rPr lang="en-US" sz="1000" b="0" dirty="0" smtClean="0"/>
              <a:t>© 2017 Pearson Education, Inc., Hoboken, NJ. All rights reserved.   </a:t>
            </a:r>
            <a:endParaRPr lang="en-US" sz="10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Message Authentication Functions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half" idx="1"/>
          </p:nvPr>
        </p:nvSpPr>
        <p:spPr>
          <a:xfrm>
            <a:off x="381000" y="1371600"/>
            <a:ext cx="3733800" cy="4854575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200000"/>
              </a:lnSpc>
              <a:spcBef>
                <a:spcPts val="3600"/>
              </a:spcBef>
            </a:pPr>
            <a:r>
              <a:rPr lang="en-US" sz="2588" dirty="0" smtClean="0"/>
              <a:t>Two levels of functionality: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half" idx="2"/>
          </p:nvPr>
        </p:nvSpPr>
        <p:spPr>
          <a:xfrm>
            <a:off x="5105400" y="1524000"/>
            <a:ext cx="3844066" cy="4930775"/>
          </a:xfrm>
        </p:spPr>
        <p:txBody>
          <a:bodyPr>
            <a:normAutofit fontScale="85000" lnSpcReduction="20000"/>
          </a:bodyPr>
          <a:lstStyle/>
          <a:p>
            <a:pPr marL="342900" lvl="1" indent="-342900">
              <a:spcBef>
                <a:spcPts val="2400"/>
              </a:spcBef>
              <a:buClr>
                <a:srgbClr val="BAABE3"/>
              </a:buClr>
            </a:pPr>
            <a:r>
              <a:rPr lang="en-US" sz="2353" dirty="0" smtClean="0">
                <a:cs typeface="ＭＳ Ｐゴシック" pitchFamily="-84" charset="-128"/>
              </a:rPr>
              <a:t>Hash function</a:t>
            </a:r>
          </a:p>
          <a:p>
            <a:pPr lvl="1"/>
            <a:r>
              <a:rPr lang="en-US" sz="2235" dirty="0" smtClean="0"/>
              <a:t>A function that maps a message of any length into a fixed-length hash value which serves as the authenticator</a:t>
            </a:r>
          </a:p>
          <a:p>
            <a:pPr marL="342900" lvl="1" indent="-342900">
              <a:spcBef>
                <a:spcPts val="2400"/>
              </a:spcBef>
              <a:buClr>
                <a:srgbClr val="BAABE3"/>
              </a:buClr>
            </a:pPr>
            <a:r>
              <a:rPr lang="en-US" sz="2353" dirty="0" smtClean="0">
                <a:cs typeface="ＭＳ Ｐゴシック" pitchFamily="-84" charset="-128"/>
              </a:rPr>
              <a:t>Message encryption</a:t>
            </a:r>
          </a:p>
          <a:p>
            <a:pPr lvl="1"/>
            <a:r>
              <a:rPr lang="en-US" sz="2235" dirty="0" smtClean="0"/>
              <a:t>The ciphertext of the entire message serves as its authenticator</a:t>
            </a:r>
          </a:p>
          <a:p>
            <a:pPr marL="342900" lvl="1" indent="-342900">
              <a:spcBef>
                <a:spcPts val="2400"/>
              </a:spcBef>
              <a:buClr>
                <a:srgbClr val="BAABE3"/>
              </a:buClr>
            </a:pPr>
            <a:r>
              <a:rPr lang="en-US" sz="2353" dirty="0" smtClean="0">
                <a:cs typeface="ＭＳ Ｐゴシック" pitchFamily="-84" charset="-128"/>
              </a:rPr>
              <a:t>Message authentication code (MAC)</a:t>
            </a:r>
          </a:p>
          <a:p>
            <a:pPr lvl="1"/>
            <a:r>
              <a:rPr lang="en-US" sz="2235" dirty="0" smtClean="0"/>
              <a:t>A function of the message and a secret key that produces a fixed-length value that serves as the authenticator</a:t>
            </a:r>
          </a:p>
        </p:txBody>
      </p:sp>
      <p:graphicFrame>
        <p:nvGraphicFramePr>
          <p:cNvPr id="7" name="Diagram 6"/>
          <p:cNvGraphicFramePr/>
          <p:nvPr/>
        </p:nvGraphicFramePr>
        <p:xfrm>
          <a:off x="-457200" y="2057400"/>
          <a:ext cx="6096000" cy="4495800"/>
        </p:xfrm>
        <a:graphic>
          <a:graphicData uri="http://schemas.openxmlformats.org/drawingml/2006/diagram">
            <a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334000" cy="365125"/>
          </a:xfrm>
        </p:spPr>
        <p:txBody>
          <a:bodyPr/>
          <a:lstStyle/>
          <a:p>
            <a:pPr>
              <a:defRPr/>
            </a:pPr>
            <a:r>
              <a:rPr lang="en-US" sz="1000" b="0" dirty="0" smtClean="0"/>
              <a:t>© 2017 Pearson Education, Inc., Hoboken, NJ. All rights reserved.   </a:t>
            </a:r>
            <a:endParaRPr lang="en-US" sz="10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1863436" y="-228600"/>
            <a:ext cx="5476010" cy="7086600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6553200" cy="365125"/>
          </a:xfrm>
        </p:spPr>
        <p:txBody>
          <a:bodyPr/>
          <a:lstStyle/>
          <a:p>
            <a:pPr>
              <a:defRPr/>
            </a:pPr>
            <a:r>
              <a:rPr lang="en-US" sz="1000" b="0" dirty="0" smtClean="0"/>
              <a:t>© 2017 Pearson Education, Inc., Hoboken, NJ. All rights reserved.   </a:t>
            </a:r>
            <a:endParaRPr lang="en-US" sz="1000" b="0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2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l="4545" t="8235" r="2727" b="8235"/>
              <a:stretch>
                <a:fillRect/>
              </a:stretch>
            </p:blipFill>
          </mc:Choice>
          <mc:Fallback>
            <p:blipFill>
              <a:blip r:embed="rId4"/>
              <a:srcRect l="4545" t="8235" r="2727" b="8235"/>
              <a:stretch>
                <a:fillRect/>
              </a:stretch>
            </p:blipFill>
          </mc:Fallback>
        </mc:AlternateContent>
        <p:spPr>
          <a:xfrm>
            <a:off x="0" y="0"/>
            <a:ext cx="9304974" cy="6629400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648200" cy="365125"/>
          </a:xfrm>
        </p:spPr>
        <p:txBody>
          <a:bodyPr/>
          <a:lstStyle/>
          <a:p>
            <a:pPr>
              <a:defRPr/>
            </a:pPr>
            <a:r>
              <a:rPr lang="en-US" sz="1000" b="0" dirty="0" smtClean="0"/>
              <a:t>© 2017 Pearson Education, Inc., Hoboken, NJ. All rights reserved.   </a:t>
            </a:r>
            <a:endParaRPr lang="en-US" sz="1000" b="0" dirty="0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3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l="7059" t="17273" r="9412" b="29091"/>
              <a:stretch>
                <a:fillRect/>
              </a:stretch>
            </p:blipFill>
          </mc:Choice>
          <mc:Fallback>
            <p:blipFill>
              <a:blip r:embed="rId4"/>
              <a:srcRect l="7059" t="17273" r="9412" b="29091"/>
              <a:stretch>
                <a:fillRect/>
              </a:stretch>
            </p:blipFill>
          </mc:Fallback>
        </mc:AlternateContent>
        <p:spPr>
          <a:xfrm>
            <a:off x="533400" y="0"/>
            <a:ext cx="7941576" cy="6599487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6324600" cy="365125"/>
          </a:xfrm>
        </p:spPr>
        <p:txBody>
          <a:bodyPr/>
          <a:lstStyle/>
          <a:p>
            <a:pPr>
              <a:defRPr/>
            </a:pPr>
            <a:r>
              <a:rPr lang="en-US" sz="1000" b="0" dirty="0" smtClean="0"/>
              <a:t>© 2017 Pearson Education, Inc., Hoboken, NJ. All rights reserved.   </a:t>
            </a:r>
            <a:endParaRPr lang="en-US" sz="1000" b="0" dirty="0"/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Public-Key Encryption</a:t>
            </a:r>
            <a:endParaRPr lang="en-AU" dirty="0" smtClean="0"/>
          </a:p>
        </p:txBody>
      </p:sp>
      <p:sp>
        <p:nvSpPr>
          <p:cNvPr id="51203" name="Rectangle 3"/>
          <p:cNvSpPr>
            <a:spLocks noGrp="1" noChangeArrowheads="1"/>
          </p:cNvSpPr>
          <p:nvPr>
            <p:ph idx="1"/>
          </p:nvPr>
        </p:nvSpPr>
        <p:spPr>
          <a:xfrm>
            <a:off x="792163" y="1762125"/>
            <a:ext cx="7570787" cy="4638675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The straightforward use of public-key encryption provides confidentiality but not authentication</a:t>
            </a:r>
          </a:p>
          <a:p>
            <a:r>
              <a:rPr lang="en-US" dirty="0" smtClean="0"/>
              <a:t>To provide both confidentiality and authentication, A can encrypt </a:t>
            </a:r>
            <a:r>
              <a:rPr lang="en-US" i="1" dirty="0" smtClean="0"/>
              <a:t>M </a:t>
            </a:r>
            <a:r>
              <a:rPr lang="en-US" dirty="0" smtClean="0"/>
              <a:t>first using its private key which provides the digital signature, and then using B’s public key, which provides confidentiality</a:t>
            </a:r>
          </a:p>
          <a:p>
            <a:r>
              <a:rPr lang="en-US" dirty="0" smtClean="0"/>
              <a:t>Disadvantage is that the public-key algorithm must be exercised four times rather than two in each communication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7239000" cy="365125"/>
          </a:xfrm>
        </p:spPr>
        <p:txBody>
          <a:bodyPr/>
          <a:lstStyle/>
          <a:p>
            <a:pPr>
              <a:defRPr/>
            </a:pPr>
            <a:r>
              <a:rPr lang="en-US" sz="1000" b="0" dirty="0" smtClean="0"/>
              <a:t>© 2017 Pearson Education, Inc., Hoboken, NJ. All rights reserved.   </a:t>
            </a:r>
            <a:endParaRPr lang="en-US" sz="10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4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t="20909" b="6364"/>
              <a:stretch>
                <a:fillRect/>
              </a:stretch>
            </p:blipFill>
          </mc:Choice>
          <mc:Fallback>
            <p:blipFill>
              <a:blip r:embed="rId4"/>
              <a:srcRect t="20909" b="6364"/>
              <a:stretch>
                <a:fillRect/>
              </a:stretch>
            </p:blipFill>
          </mc:Fallback>
        </mc:AlternateContent>
        <p:spPr>
          <a:xfrm>
            <a:off x="914400" y="0"/>
            <a:ext cx="7162800" cy="6741407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6477000" cy="365125"/>
          </a:xfrm>
        </p:spPr>
        <p:txBody>
          <a:bodyPr/>
          <a:lstStyle/>
          <a:p>
            <a:pPr>
              <a:defRPr/>
            </a:pPr>
            <a:r>
              <a:rPr lang="en-US" sz="1000" b="0" dirty="0" smtClean="0"/>
              <a:t>© 2017 Pearson Education, Inc., Hoboken, NJ. All rights reserved.   </a:t>
            </a:r>
            <a:endParaRPr lang="en-US" sz="1000" b="0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Requirements for MACs</a:t>
            </a:r>
            <a:endParaRPr lang="en-AU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304800" y="1676400"/>
          <a:ext cx="8610600" cy="4800600"/>
        </p:xfrm>
        <a:graphic>
          <a:graphicData uri="http://schemas.openxmlformats.org/drawingml/2006/diagram">
            <a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6172200" cy="365125"/>
          </a:xfrm>
        </p:spPr>
        <p:txBody>
          <a:bodyPr/>
          <a:lstStyle/>
          <a:p>
            <a:pPr>
              <a:defRPr/>
            </a:pPr>
            <a:r>
              <a:rPr lang="en-US" sz="1000" b="0" dirty="0" smtClean="0"/>
              <a:t>© 2017 Pearson Education, Inc., Hoboken, NJ. All rights reserved.   </a:t>
            </a:r>
            <a:endParaRPr lang="en-US" sz="10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Brute-Force Attack</a:t>
            </a:r>
            <a:endParaRPr lang="en-AU" dirty="0" smtClean="0"/>
          </a:p>
        </p:txBody>
      </p:sp>
      <p:sp>
        <p:nvSpPr>
          <p:cNvPr id="68611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762125"/>
            <a:ext cx="8000999" cy="1666875"/>
          </a:xfrm>
        </p:spPr>
        <p:txBody>
          <a:bodyPr>
            <a:normAutofit/>
          </a:bodyPr>
          <a:lstStyle/>
          <a:p>
            <a:r>
              <a:rPr lang="en-US" dirty="0" smtClean="0"/>
              <a:t>Requires known message-tag pairs</a:t>
            </a:r>
          </a:p>
          <a:p>
            <a:pPr lvl="1"/>
            <a:r>
              <a:rPr lang="en-US" dirty="0" smtClean="0"/>
              <a:t>A brute-force method of finding a collision is to pick a random bit string </a:t>
            </a:r>
            <a:r>
              <a:rPr lang="en-US" i="1" dirty="0" smtClean="0"/>
              <a:t>y </a:t>
            </a:r>
            <a:r>
              <a:rPr lang="en-US" dirty="0" smtClean="0"/>
              <a:t>and check if H(</a:t>
            </a:r>
            <a:r>
              <a:rPr lang="en-US" i="1" dirty="0" smtClean="0"/>
              <a:t>y</a:t>
            </a:r>
            <a:r>
              <a:rPr lang="en-US" dirty="0" smtClean="0"/>
              <a:t>) = H(</a:t>
            </a:r>
            <a:r>
              <a:rPr lang="en-US" i="1" dirty="0" smtClean="0"/>
              <a:t>x</a:t>
            </a:r>
            <a:r>
              <a:rPr lang="en-US" dirty="0" smtClean="0"/>
              <a:t>)</a:t>
            </a:r>
          </a:p>
          <a:p>
            <a:pPr lvl="2"/>
            <a:endParaRPr lang="en-AU" dirty="0" smtClean="0"/>
          </a:p>
        </p:txBody>
      </p:sp>
      <p:graphicFrame>
        <p:nvGraphicFramePr>
          <p:cNvPr id="4" name="Diagram 3"/>
          <p:cNvGraphicFramePr/>
          <p:nvPr/>
        </p:nvGraphicFramePr>
        <p:xfrm>
          <a:off x="381000" y="3429000"/>
          <a:ext cx="8458200" cy="2895600"/>
        </p:xfrm>
        <a:graphic>
          <a:graphicData uri="http://schemas.openxmlformats.org/drawingml/2006/diagram">
            <a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486400" cy="365125"/>
          </a:xfrm>
        </p:spPr>
        <p:txBody>
          <a:bodyPr/>
          <a:lstStyle/>
          <a:p>
            <a:pPr>
              <a:defRPr/>
            </a:pPr>
            <a:r>
              <a:rPr lang="en-US" sz="1000" b="0" dirty="0" smtClean="0"/>
              <a:t>© 2017 Pearson Education, Inc., Hoboken, NJ. All rights reserved.   </a:t>
            </a:r>
            <a:endParaRPr lang="en-US" sz="10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Cryptanalysis</a:t>
            </a:r>
            <a:endParaRPr lang="en-AU" dirty="0" smtClean="0"/>
          </a:p>
        </p:txBody>
      </p:sp>
      <p:sp>
        <p:nvSpPr>
          <p:cNvPr id="6963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Cryptanalytic attacks seek to exploit some property of the algorithm to perform some attack other than an exhaustive search</a:t>
            </a:r>
          </a:p>
          <a:p>
            <a:r>
              <a:rPr lang="en-AU" dirty="0" smtClean="0"/>
              <a:t>An ideal MAC algorithm will require a cryptanalytic effort greater than or equal to the brute-force effort</a:t>
            </a:r>
          </a:p>
          <a:p>
            <a:r>
              <a:rPr lang="en-AU" dirty="0" smtClean="0"/>
              <a:t>There is much more variety in the structure of MACs than in hash functions, so it is difficult to generalize about the cryptanalysis of MACs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7391400" cy="365125"/>
          </a:xfrm>
        </p:spPr>
        <p:txBody>
          <a:bodyPr/>
          <a:lstStyle/>
          <a:p>
            <a:pPr>
              <a:defRPr/>
            </a:pPr>
            <a:r>
              <a:rPr lang="en-US" sz="1050" b="0" dirty="0" smtClean="0"/>
              <a:t>© 2017 Pearson Education, Inc., Hoboken, NJ. All rights reserved.   </a:t>
            </a:r>
            <a:endParaRPr lang="en-US" sz="105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MACs Based on Hash Functions: HMAC</a:t>
            </a:r>
            <a:endParaRPr lang="en-AU" dirty="0"/>
          </a:p>
        </p:txBody>
      </p:sp>
      <p:sp>
        <p:nvSpPr>
          <p:cNvPr id="82947" name="Rectangle 3"/>
          <p:cNvSpPr>
            <a:spLocks noGrp="1" noChangeArrowheads="1"/>
          </p:cNvSpPr>
          <p:nvPr>
            <p:ph idx="1"/>
          </p:nvPr>
        </p:nvSpPr>
        <p:spPr>
          <a:xfrm>
            <a:off x="792163" y="1762125"/>
            <a:ext cx="7570787" cy="4714875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There has been increased interest in developing a MAC derived from a cryptographic hash function</a:t>
            </a:r>
          </a:p>
          <a:p>
            <a:r>
              <a:rPr lang="en-US" dirty="0" smtClean="0"/>
              <a:t>Motivations:</a:t>
            </a:r>
          </a:p>
          <a:p>
            <a:pPr lvl="1"/>
            <a:r>
              <a:rPr lang="en-US" dirty="0" smtClean="0"/>
              <a:t>Cryptographic hash functions such as MD5 and SHA generally execute faster in software than symmetric block ciphers such as DES</a:t>
            </a:r>
          </a:p>
          <a:p>
            <a:pPr lvl="1"/>
            <a:r>
              <a:rPr lang="en-US" dirty="0" smtClean="0"/>
              <a:t>Library code for cryptographic hash functions is widely available</a:t>
            </a:r>
          </a:p>
          <a:p>
            <a:pPr marL="342900" lvl="1" indent="-342900">
              <a:spcBef>
                <a:spcPts val="2400"/>
              </a:spcBef>
              <a:buClr>
                <a:srgbClr val="BAABE3"/>
              </a:buClr>
            </a:pPr>
            <a:r>
              <a:rPr lang="en-US" sz="2811" dirty="0" smtClean="0">
                <a:cs typeface="ＭＳ Ｐゴシック" pitchFamily="-84" charset="-128"/>
              </a:rPr>
              <a:t>HMAC has been chosen as the mandatory-to-implement MAC for IP security</a:t>
            </a:r>
          </a:p>
          <a:p>
            <a:pPr marL="342900" lvl="1" indent="-342900">
              <a:spcBef>
                <a:spcPts val="2400"/>
              </a:spcBef>
              <a:buClr>
                <a:srgbClr val="BAABE3"/>
              </a:buClr>
            </a:pPr>
            <a:r>
              <a:rPr lang="en-US" sz="2811" dirty="0" smtClean="0">
                <a:cs typeface="ＭＳ Ｐゴシック" pitchFamily="-84" charset="-128"/>
              </a:rPr>
              <a:t>Has also been issued as a NIST standard (FIPS 198)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486400" cy="365125"/>
          </a:xfrm>
        </p:spPr>
        <p:txBody>
          <a:bodyPr/>
          <a:lstStyle/>
          <a:p>
            <a:pPr>
              <a:defRPr/>
            </a:pPr>
            <a:r>
              <a:rPr lang="en-US" sz="1050" b="0" dirty="0" smtClean="0"/>
              <a:t>© 2017 Pearson Education, Inc., Hoboken, NJ. All rights reserved.   </a:t>
            </a:r>
            <a:endParaRPr lang="en-US" sz="105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HMAC Design Objectives</a:t>
            </a:r>
          </a:p>
        </p:txBody>
      </p:sp>
      <p:graphicFrame>
        <p:nvGraphicFramePr>
          <p:cNvPr id="12" name="Content Placeholder 11"/>
          <p:cNvGraphicFramePr>
            <a:graphicFrameLocks noGrp="1"/>
          </p:cNvGraphicFramePr>
          <p:nvPr>
            <p:ph idx="1"/>
          </p:nvPr>
        </p:nvGraphicFramePr>
        <p:xfrm>
          <a:off x="304800" y="1762125"/>
          <a:ext cx="8534399" cy="4714875"/>
        </p:xfrm>
        <a:graphic>
          <a:graphicData uri="http://schemas.openxmlformats.org/drawingml/2006/diagram">
            <a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6410325" cy="365125"/>
          </a:xfrm>
        </p:spPr>
        <p:txBody>
          <a:bodyPr/>
          <a:lstStyle/>
          <a:p>
            <a:pPr>
              <a:defRPr/>
            </a:pPr>
            <a:r>
              <a:rPr lang="en-US" sz="1050" b="0" dirty="0" smtClean="0"/>
              <a:t>© 2017 Pearson Education, Inc., Hoboken, NJ. All rights reserved.   </a:t>
            </a:r>
            <a:endParaRPr lang="en-US" sz="105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6858000" cy="365125"/>
          </a:xfrm>
        </p:spPr>
        <p:txBody>
          <a:bodyPr/>
          <a:lstStyle/>
          <a:p>
            <a:pPr>
              <a:defRPr/>
            </a:pPr>
            <a:r>
              <a:rPr lang="en-US" sz="1050" b="0" dirty="0" smtClean="0"/>
              <a:t>© 2017 Pearson Education, Inc., Hoboken, NJ. All rights reserved.   </a:t>
            </a:r>
            <a:endParaRPr lang="en-US" sz="1050" b="0" dirty="0"/>
          </a:p>
        </p:txBody>
      </p:sp>
      <p:pic>
        <p:nvPicPr>
          <p:cNvPr id="6" name="Picture 5" descr="f05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t="8182" b="10909"/>
              <a:stretch>
                <a:fillRect/>
              </a:stretch>
            </p:blipFill>
          </mc:Choice>
          <mc:Fallback>
            <p:blipFill>
              <a:blip r:embed="rId4"/>
              <a:srcRect t="8182" b="10909"/>
              <a:stretch>
                <a:fillRect/>
              </a:stretch>
            </p:blipFill>
          </mc:Fallback>
        </mc:AlternateContent>
        <p:spPr>
          <a:xfrm>
            <a:off x="1981200" y="-3585"/>
            <a:ext cx="6553200" cy="6861585"/>
          </a:xfrm>
          <a:prstGeom prst="rect">
            <a:avLst/>
          </a:prstGeom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943600" cy="365125"/>
          </a:xfrm>
        </p:spPr>
        <p:txBody>
          <a:bodyPr/>
          <a:lstStyle/>
          <a:p>
            <a:pPr>
              <a:defRPr/>
            </a:pPr>
            <a:r>
              <a:rPr lang="en-US" sz="1050" b="0" dirty="0" smtClean="0"/>
              <a:t>© 2017 Pearson Education, Inc., Hoboken, NJ. All rights reserved.   </a:t>
            </a:r>
            <a:endParaRPr lang="en-US" sz="1050" b="0" dirty="0"/>
          </a:p>
        </p:txBody>
      </p:sp>
      <p:pic>
        <p:nvPicPr>
          <p:cNvPr id="4" name="Picture 3" descr="f06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1922317" y="-712694"/>
            <a:ext cx="6085609" cy="7875494"/>
          </a:xfrm>
          <a:prstGeom prst="rect">
            <a:avLst/>
          </a:prstGeom>
        </p:spPr>
      </p:pic>
    </p:spTree>
  </p:cSld>
  <p:clrMapOvr>
    <a:masterClrMapping/>
  </p:clrMapOvr>
  <p:transition spd="med">
    <p:pull dir="ld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Security of HMAC</a:t>
            </a:r>
            <a:endParaRPr lang="en-AU" dirty="0"/>
          </a:p>
        </p:txBody>
      </p:sp>
      <p:sp>
        <p:nvSpPr>
          <p:cNvPr id="87043" name="Rectangle 3"/>
          <p:cNvSpPr>
            <a:spLocks noGrp="1" noChangeArrowheads="1"/>
          </p:cNvSpPr>
          <p:nvPr>
            <p:ph idx="1"/>
          </p:nvPr>
        </p:nvSpPr>
        <p:spPr>
          <a:xfrm>
            <a:off x="792163" y="1762125"/>
            <a:ext cx="7570787" cy="4791075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Depends in some way on the cryptographic strength of the underlying hash function</a:t>
            </a:r>
          </a:p>
          <a:p>
            <a:r>
              <a:rPr lang="en-US" dirty="0" smtClean="0"/>
              <a:t>Appeal of HMAC is that its designers have been able to prove an exact relationship between the strength of the embedded hash function and the strength of HMAC</a:t>
            </a:r>
          </a:p>
          <a:p>
            <a:r>
              <a:rPr lang="en-US" dirty="0" smtClean="0"/>
              <a:t>Generally expressed in terms of the probability of successful forgery with a given amount of time spent by the forger and a given number of message-tag pairs created with the same key</a:t>
            </a: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07906">
            <a:off x="6994965" y="387885"/>
            <a:ext cx="1922509" cy="1444867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6553200" cy="365125"/>
          </a:xfrm>
        </p:spPr>
        <p:txBody>
          <a:bodyPr/>
          <a:lstStyle/>
          <a:p>
            <a:pPr>
              <a:defRPr/>
            </a:pPr>
            <a:r>
              <a:rPr lang="en-US" sz="1050" b="0" dirty="0" smtClean="0"/>
              <a:t>© 2017 Pearson Education, Inc., Hoboken, NJ. All rights reserved.   </a:t>
            </a:r>
            <a:endParaRPr lang="en-US" sz="105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7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l="3636" t="12941" r="3636" b="11765"/>
              <a:stretch>
                <a:fillRect/>
              </a:stretch>
            </p:blipFill>
          </mc:Choice>
          <mc:Fallback>
            <p:blipFill>
              <a:blip r:embed="rId4"/>
              <a:srcRect l="3636" t="12941" r="3636" b="11765"/>
              <a:stretch>
                <a:fillRect/>
              </a:stretch>
            </p:blipFill>
          </mc:Fallback>
        </mc:AlternateContent>
        <p:spPr>
          <a:xfrm>
            <a:off x="0" y="533400"/>
            <a:ext cx="9229819" cy="5791200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943600" cy="365125"/>
          </a:xfrm>
        </p:spPr>
        <p:txBody>
          <a:bodyPr/>
          <a:lstStyle/>
          <a:p>
            <a:pPr>
              <a:defRPr/>
            </a:pPr>
            <a:r>
              <a:rPr lang="en-US" sz="1050" b="0" dirty="0" smtClean="0"/>
              <a:t>© 2017 Pearson Education, Inc., Hoboken, NJ. All rights reserved.   </a:t>
            </a:r>
            <a:endParaRPr lang="en-US" sz="1050" b="0" dirty="0"/>
          </a:p>
        </p:txBody>
      </p:sp>
    </p:spTree>
  </p:cSld>
  <p:clrMapOvr>
    <a:masterClrMapping/>
  </p:clrMapOvr>
  <p:transition spd="med">
    <p:pull dir="lu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334000" cy="365125"/>
          </a:xfrm>
        </p:spPr>
        <p:txBody>
          <a:bodyPr/>
          <a:lstStyle/>
          <a:p>
            <a:pPr>
              <a:defRPr/>
            </a:pPr>
            <a:r>
              <a:rPr lang="en-US" sz="1050" b="0" dirty="0" smtClean="0"/>
              <a:t>© 2017 Pearson Education, Inc., Hoboken, NJ. All rights reserved.   </a:t>
            </a:r>
            <a:endParaRPr lang="en-US" sz="1050" b="0" dirty="0"/>
          </a:p>
        </p:txBody>
      </p:sp>
      <p:pic>
        <p:nvPicPr>
          <p:cNvPr id="5" name="Picture 4" descr="f08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71717" y="-152400"/>
            <a:ext cx="9072283" cy="7010400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9688"/>
            <a:ext cx="9143999" cy="1412875"/>
          </a:xfrm>
        </p:spPr>
        <p:txBody>
          <a:bodyPr/>
          <a:lstStyle/>
          <a:p>
            <a:r>
              <a:rPr lang="en-US" dirty="0" smtClean="0"/>
              <a:t>Authenticated Encryption (AE)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163" y="1762125"/>
            <a:ext cx="7570787" cy="4638675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A term used to describe encryption systems that simultaneously protect confidentiality and authenticity of communications</a:t>
            </a:r>
          </a:p>
          <a:p>
            <a:r>
              <a:rPr lang="en-US" dirty="0" smtClean="0"/>
              <a:t>Approaches:</a:t>
            </a:r>
          </a:p>
          <a:p>
            <a:pPr lvl="1"/>
            <a:r>
              <a:rPr lang="en-US" dirty="0" smtClean="0"/>
              <a:t>Hash</a:t>
            </a:r>
            <a:r>
              <a:rPr lang="en-US" dirty="0" smtClean="0"/>
              <a:t>ing followed by encryption</a:t>
            </a:r>
            <a:endParaRPr lang="en-US" dirty="0" smtClean="0"/>
          </a:p>
          <a:p>
            <a:pPr lvl="1"/>
            <a:r>
              <a:rPr lang="en-US" dirty="0" smtClean="0"/>
              <a:t>Authentication followed by encryption</a:t>
            </a:r>
            <a:endParaRPr lang="en-US" dirty="0" smtClean="0"/>
          </a:p>
          <a:p>
            <a:pPr lvl="1"/>
            <a:r>
              <a:rPr lang="en-US" dirty="0" smtClean="0"/>
              <a:t>Encryption followed by authentication</a:t>
            </a:r>
          </a:p>
          <a:p>
            <a:pPr lvl="1"/>
            <a:r>
              <a:rPr lang="en-US" dirty="0" smtClean="0"/>
              <a:t>Independently encrypt and authenticate</a:t>
            </a:r>
          </a:p>
          <a:p>
            <a:r>
              <a:rPr lang="en-US" dirty="0" smtClean="0"/>
              <a:t> Both decryption and verification are straightforward for each approach</a:t>
            </a:r>
          </a:p>
          <a:p>
            <a:r>
              <a:rPr lang="en-US" dirty="0" smtClean="0"/>
              <a:t>There are security vulnerabilities with all of these approaches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6562725" cy="365125"/>
          </a:xfrm>
        </p:spPr>
        <p:txBody>
          <a:bodyPr/>
          <a:lstStyle/>
          <a:p>
            <a:pPr>
              <a:defRPr/>
            </a:pPr>
            <a:r>
              <a:rPr lang="en-US" sz="1050" b="0" dirty="0" smtClean="0"/>
              <a:t>© 2017 Pearson Education, Inc., Hoboken, NJ. All rights reserved.   </a:t>
            </a:r>
            <a:endParaRPr lang="en-US" sz="105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9688"/>
            <a:ext cx="9143999" cy="1412875"/>
          </a:xfrm>
        </p:spPr>
        <p:txBody>
          <a:bodyPr/>
          <a:lstStyle/>
          <a:p>
            <a:pPr>
              <a:lnSpc>
                <a:spcPts val="4600"/>
              </a:lnSpc>
            </a:pPr>
            <a:r>
              <a:rPr lang="en-US" sz="4400" dirty="0" smtClean="0"/>
              <a:t>Counter with Cipher Block Chaining-Message Authentication Code (CCM)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163" y="1762125"/>
            <a:ext cx="7570787" cy="4791075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Was standardized by NIST specifically to support the security requirements of IEEE 802.11 WiFi wireless local area networks</a:t>
            </a:r>
          </a:p>
          <a:p>
            <a:r>
              <a:rPr lang="en-US" dirty="0" smtClean="0"/>
              <a:t>Variation of the encrypt-and-MAC approach to authenticated encryption</a:t>
            </a:r>
          </a:p>
          <a:p>
            <a:pPr lvl="1"/>
            <a:r>
              <a:rPr lang="en-US" dirty="0" smtClean="0"/>
              <a:t>Defined in NIST SP 800-38C</a:t>
            </a:r>
          </a:p>
          <a:p>
            <a:r>
              <a:rPr lang="en-US" dirty="0" smtClean="0"/>
              <a:t> Key algorithmic ingredients: </a:t>
            </a:r>
          </a:p>
          <a:p>
            <a:pPr lvl="1"/>
            <a:r>
              <a:rPr lang="en-US" dirty="0" smtClean="0"/>
              <a:t>AES encryption algorithm</a:t>
            </a:r>
          </a:p>
          <a:p>
            <a:pPr lvl="1"/>
            <a:r>
              <a:rPr lang="en-US" dirty="0" smtClean="0"/>
              <a:t>CTR mode of operation</a:t>
            </a:r>
          </a:p>
          <a:p>
            <a:pPr lvl="1"/>
            <a:r>
              <a:rPr lang="en-US" dirty="0" smtClean="0"/>
              <a:t>CMAC authentication algorithm</a:t>
            </a:r>
          </a:p>
          <a:p>
            <a:r>
              <a:rPr lang="en-US" dirty="0" smtClean="0"/>
              <a:t>Single key </a:t>
            </a:r>
            <a:r>
              <a:rPr lang="en-US" i="1" dirty="0" smtClean="0"/>
              <a:t>K </a:t>
            </a:r>
            <a:r>
              <a:rPr lang="en-US" dirty="0" smtClean="0"/>
              <a:t>is used for both encryption and MAC algorithms </a:t>
            </a:r>
          </a:p>
          <a:p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6858000" cy="365125"/>
          </a:xfrm>
        </p:spPr>
        <p:txBody>
          <a:bodyPr/>
          <a:lstStyle/>
          <a:p>
            <a:pPr>
              <a:defRPr/>
            </a:pPr>
            <a:r>
              <a:rPr lang="en-US" sz="1050" b="0" dirty="0" smtClean="0"/>
              <a:t>© 2017 Pearson Education, Inc., Hoboken, NJ. All rights reserved.   </a:t>
            </a:r>
            <a:endParaRPr lang="en-US" sz="105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0"/>
            <a:ext cx="9143999" cy="141287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000" dirty="0" smtClean="0"/>
              <a:t> </a:t>
            </a:r>
            <a:r>
              <a:rPr lang="en-US" sz="2800" dirty="0" smtClean="0"/>
              <a:t> </a:t>
            </a:r>
            <a:r>
              <a:rPr lang="en-US" sz="3600" b="1" dirty="0" smtClean="0"/>
              <a:t>The input to the CCM encryption process consists of three elements:</a:t>
            </a:r>
            <a:endParaRPr lang="en-US" sz="4000" b="1" dirty="0"/>
          </a:p>
        </p:txBody>
      </p:sp>
      <p:graphicFrame>
        <p:nvGraphicFramePr>
          <p:cNvPr id="4" name="Diagram 3"/>
          <p:cNvGraphicFramePr/>
          <p:nvPr/>
        </p:nvGraphicFramePr>
        <p:xfrm>
          <a:off x="457200" y="1752600"/>
          <a:ext cx="8077200" cy="4495800"/>
        </p:xfrm>
        <a:graphic>
          <a:graphicData uri="http://schemas.openxmlformats.org/drawingml/2006/diagram">
            <a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7010400" cy="365125"/>
          </a:xfrm>
        </p:spPr>
        <p:txBody>
          <a:bodyPr/>
          <a:lstStyle/>
          <a:p>
            <a:pPr>
              <a:defRPr/>
            </a:pPr>
            <a:r>
              <a:rPr lang="en-US" sz="1050" b="0" dirty="0" smtClean="0"/>
              <a:t>© 2017 Pearson Education, Inc., Hoboken, NJ. All rights reserved</a:t>
            </a:r>
            <a:r>
              <a:rPr lang="en-US" dirty="0" smtClean="0"/>
              <a:t>.  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638800" cy="365125"/>
          </a:xfrm>
        </p:spPr>
        <p:txBody>
          <a:bodyPr/>
          <a:lstStyle/>
          <a:p>
            <a:pPr>
              <a:defRPr/>
            </a:pPr>
            <a:r>
              <a:rPr lang="en-US" sz="1050" b="0" dirty="0" smtClean="0"/>
              <a:t>© 2017 Pearson Education, Inc., Hoboken, NJ. All rights reserved.   </a:t>
            </a:r>
            <a:endParaRPr lang="en-US" sz="1050" b="0" dirty="0"/>
          </a:p>
        </p:txBody>
      </p:sp>
      <p:pic>
        <p:nvPicPr>
          <p:cNvPr id="5" name="Picture 4" descr="f09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1922318" y="-1"/>
            <a:ext cx="5545282" cy="7176247"/>
          </a:xfrm>
          <a:prstGeom prst="rect">
            <a:avLst/>
          </a:prstGeom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9688"/>
            <a:ext cx="9143999" cy="1412875"/>
          </a:xfrm>
        </p:spPr>
        <p:txBody>
          <a:bodyPr/>
          <a:lstStyle/>
          <a:p>
            <a:r>
              <a:rPr lang="en-US" dirty="0" smtClean="0"/>
              <a:t>Galois/Counter Mode (GCM)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163" y="1762125"/>
            <a:ext cx="7570787" cy="4791075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NIST standard SP 800-38D</a:t>
            </a:r>
          </a:p>
          <a:p>
            <a:r>
              <a:rPr lang="en-US" dirty="0" smtClean="0"/>
              <a:t>Designed to be parallelizable so that it can provide high throughput with low cost and low latency</a:t>
            </a:r>
          </a:p>
          <a:p>
            <a:pPr lvl="1"/>
            <a:r>
              <a:rPr lang="en-US" dirty="0" smtClean="0"/>
              <a:t>Message is encrypted in variant of CTR mode</a:t>
            </a:r>
          </a:p>
          <a:p>
            <a:pPr lvl="1"/>
            <a:r>
              <a:rPr lang="en-US" dirty="0" smtClean="0"/>
              <a:t>Resulting ciphertext is multiplied with key material and message length information over GF (2</a:t>
            </a:r>
            <a:r>
              <a:rPr lang="en-US" baseline="30000" dirty="0" smtClean="0"/>
              <a:t>128</a:t>
            </a:r>
            <a:r>
              <a:rPr lang="en-US" dirty="0" smtClean="0"/>
              <a:t>) to generate the authenticator tag</a:t>
            </a:r>
          </a:p>
          <a:p>
            <a:pPr lvl="1"/>
            <a:r>
              <a:rPr lang="en-US" dirty="0" smtClean="0"/>
              <a:t>The standard also specifies a mode of operation that supplies the MAC only, known as GMAC</a:t>
            </a:r>
          </a:p>
          <a:p>
            <a:r>
              <a:rPr lang="en-US" dirty="0" smtClean="0"/>
              <a:t>Makes use of two functions:</a:t>
            </a:r>
          </a:p>
          <a:p>
            <a:pPr lvl="1"/>
            <a:r>
              <a:rPr lang="en-US" dirty="0" smtClean="0"/>
              <a:t>GHASH - a keyed hash function</a:t>
            </a:r>
          </a:p>
          <a:p>
            <a:pPr lvl="1"/>
            <a:r>
              <a:rPr lang="en-US" dirty="0" smtClean="0"/>
              <a:t>GCTR - CTR mode with the counters determined by simple increment by one operation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6858000" cy="365125"/>
          </a:xfrm>
        </p:spPr>
        <p:txBody>
          <a:bodyPr/>
          <a:lstStyle/>
          <a:p>
            <a:pPr>
              <a:defRPr/>
            </a:pPr>
            <a:r>
              <a:rPr lang="en-US" sz="1050" b="0" dirty="0" smtClean="0"/>
              <a:t>© 2017 Pearson Education, Inc., Hoboken, NJ. All rights reserved.   </a:t>
            </a:r>
            <a:endParaRPr lang="en-US" sz="105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10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t="7273" b="8182"/>
              <a:stretch>
                <a:fillRect/>
              </a:stretch>
            </p:blipFill>
          </mc:Choice>
          <mc:Fallback>
            <p:blipFill>
              <a:blip r:embed="rId4"/>
              <a:srcRect t="7273" b="8182"/>
              <a:stretch>
                <a:fillRect/>
              </a:stretch>
            </p:blipFill>
          </mc:Fallback>
        </mc:AlternateContent>
        <p:spPr>
          <a:xfrm>
            <a:off x="1752600" y="-152400"/>
            <a:ext cx="6268083" cy="6858000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6096000" cy="365125"/>
          </a:xfrm>
        </p:spPr>
        <p:txBody>
          <a:bodyPr/>
          <a:lstStyle/>
          <a:p>
            <a:pPr>
              <a:defRPr/>
            </a:pPr>
            <a:r>
              <a:rPr lang="en-US" sz="1050" b="0" dirty="0" smtClean="0"/>
              <a:t>© 2017 Pearson Education, Inc., Hoboken, NJ. All rights reserved.   </a:t>
            </a:r>
            <a:endParaRPr lang="en-US" sz="1050" b="0" dirty="0"/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7400925" cy="365125"/>
          </a:xfrm>
        </p:spPr>
        <p:txBody>
          <a:bodyPr/>
          <a:lstStyle/>
          <a:p>
            <a:pPr>
              <a:defRPr/>
            </a:pPr>
            <a:r>
              <a:rPr lang="en-US" sz="1050" b="0" dirty="0" smtClean="0"/>
              <a:t>© 2017 Pearson Education, Inc., Hoboken, NJ. All rights reserved.   </a:t>
            </a:r>
            <a:endParaRPr lang="en-US" sz="1050" b="0" dirty="0"/>
          </a:p>
        </p:txBody>
      </p:sp>
      <p:pic>
        <p:nvPicPr>
          <p:cNvPr id="4" name="Picture 3" descr="f1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t="12727" b="11818"/>
              <a:stretch>
                <a:fillRect/>
              </a:stretch>
            </p:blipFill>
          </mc:Choice>
          <mc:Fallback>
            <p:blipFill>
              <a:blip r:embed="rId4"/>
              <a:srcRect t="12727" b="11818"/>
              <a:stretch>
                <a:fillRect/>
              </a:stretch>
            </p:blipFill>
          </mc:Fallback>
        </mc:AlternateContent>
        <p:spPr>
          <a:xfrm>
            <a:off x="2133600" y="198289"/>
            <a:ext cx="6820154" cy="6659711"/>
          </a:xfrm>
          <a:prstGeom prst="rect">
            <a:avLst/>
          </a:prstGeom>
        </p:spPr>
      </p:pic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Wrap (KW)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792163" y="1762125"/>
            <a:ext cx="7570787" cy="4867275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Most recent block cipher mode of operation defined by NIST </a:t>
            </a:r>
          </a:p>
          <a:p>
            <a:pPr lvl="1"/>
            <a:r>
              <a:rPr lang="en-US" dirty="0" smtClean="0"/>
              <a:t>Uses AES or triple DEA as the underlying encryption algorithm</a:t>
            </a:r>
          </a:p>
          <a:p>
            <a:r>
              <a:rPr lang="en-US" dirty="0" smtClean="0"/>
              <a:t>Purpose is to securely exchange a symmetric key to be shared by two parties, using a symmetric key already shared by </a:t>
            </a:r>
            <a:r>
              <a:rPr lang="en-US" dirty="0" smtClean="0"/>
              <a:t>those </a:t>
            </a:r>
            <a:r>
              <a:rPr lang="en-US" dirty="0" smtClean="0"/>
              <a:t>parties</a:t>
            </a:r>
          </a:p>
          <a:p>
            <a:pPr lvl="1"/>
            <a:r>
              <a:rPr lang="en-US" dirty="0" smtClean="0"/>
              <a:t>The latter key is called a </a:t>
            </a:r>
            <a:r>
              <a:rPr lang="en-US" i="1" dirty="0" smtClean="0"/>
              <a:t>key encryption key </a:t>
            </a:r>
            <a:r>
              <a:rPr lang="en-US" dirty="0" smtClean="0"/>
              <a:t>(KEK)</a:t>
            </a:r>
          </a:p>
          <a:p>
            <a:pPr marL="342900" lvl="1" indent="-342900">
              <a:spcBef>
                <a:spcPts val="2400"/>
              </a:spcBef>
              <a:buClr>
                <a:srgbClr val="BAABE3"/>
              </a:buClr>
            </a:pPr>
            <a:r>
              <a:rPr lang="en-US" sz="2800" dirty="0" smtClean="0">
                <a:cs typeface="ＭＳ Ｐゴシック" pitchFamily="-84" charset="-128"/>
              </a:rPr>
              <a:t>Robust in the sense that each bit of output can be expected to depend in a nontrivial fashion on each bit of input</a:t>
            </a:r>
          </a:p>
          <a:p>
            <a:pPr marL="342900" lvl="1" indent="-342900">
              <a:spcBef>
                <a:spcPts val="2400"/>
              </a:spcBef>
              <a:buClr>
                <a:srgbClr val="BAABE3"/>
              </a:buClr>
            </a:pPr>
            <a:r>
              <a:rPr lang="en-US" sz="2800" dirty="0" smtClean="0">
                <a:cs typeface="ＭＳ Ｐゴシック" pitchFamily="-84" charset="-128"/>
              </a:rPr>
              <a:t>Only used for small amounts of plaintext</a:t>
            </a:r>
          </a:p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7477125" cy="365125"/>
          </a:xfrm>
        </p:spPr>
        <p:txBody>
          <a:bodyPr/>
          <a:lstStyle/>
          <a:p>
            <a:pPr>
              <a:defRPr/>
            </a:pPr>
            <a:r>
              <a:rPr lang="en-US" sz="1050" b="0" dirty="0" smtClean="0"/>
              <a:t>© 2017 Pearson Education, Inc., Hoboken, NJ. All rights reserved</a:t>
            </a:r>
            <a:r>
              <a:rPr lang="en-US" dirty="0" smtClean="0"/>
              <a:t>.  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6400800" cy="365125"/>
          </a:xfrm>
        </p:spPr>
        <p:txBody>
          <a:bodyPr/>
          <a:lstStyle/>
          <a:p>
            <a:pPr>
              <a:defRPr/>
            </a:pPr>
            <a:r>
              <a:rPr lang="en-US" sz="1050" b="0" dirty="0" smtClean="0"/>
              <a:t>© 2017 Pearson Education, Inc., Hoboken, NJ. All rights reserved.   </a:t>
            </a:r>
            <a:endParaRPr lang="en-US" sz="1050" b="0" dirty="0"/>
          </a:p>
        </p:txBody>
      </p:sp>
      <p:pic>
        <p:nvPicPr>
          <p:cNvPr id="4" name="Picture 3" descr="f12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1752600" y="-219635"/>
            <a:ext cx="5638800" cy="7297270"/>
          </a:xfrm>
          <a:prstGeom prst="rect">
            <a:avLst/>
          </a:prstGeom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6400800" cy="365125"/>
          </a:xfrm>
        </p:spPr>
        <p:txBody>
          <a:bodyPr/>
          <a:lstStyle/>
          <a:p>
            <a:pPr>
              <a:defRPr/>
            </a:pPr>
            <a:r>
              <a:rPr lang="en-US" sz="1050" b="0" dirty="0" smtClean="0"/>
              <a:t>© 2017 Pearson Education, Inc., Hoboken, NJ. All rights reserved.   </a:t>
            </a:r>
            <a:endParaRPr lang="en-US" sz="1050" b="0" dirty="0"/>
          </a:p>
        </p:txBody>
      </p:sp>
      <p:pic>
        <p:nvPicPr>
          <p:cNvPr id="4" name="Picture 3" descr="f13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t="30909" b="28182"/>
              <a:stretch>
                <a:fillRect/>
              </a:stretch>
            </p:blipFill>
          </mc:Choice>
          <mc:Fallback>
            <p:blipFill>
              <a:blip r:embed="rId4"/>
              <a:srcRect t="30909" b="28182"/>
              <a:stretch>
                <a:fillRect/>
              </a:stretch>
            </p:blipFill>
          </mc:Fallback>
        </mc:AlternateContent>
        <p:spPr>
          <a:xfrm>
            <a:off x="-609599" y="838200"/>
            <a:ext cx="10202332" cy="5401278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9688"/>
            <a:ext cx="9143999" cy="1412875"/>
          </a:xfrm>
        </p:spPr>
        <p:txBody>
          <a:bodyPr/>
          <a:lstStyle/>
          <a:p>
            <a:pPr>
              <a:lnSpc>
                <a:spcPts val="4800"/>
              </a:lnSpc>
            </a:pPr>
            <a:r>
              <a:rPr lang="en-US" sz="4400" dirty="0" smtClean="0"/>
              <a:t>Pseudorandom Number Generation Using Hash Functions and MACs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163" y="1762125"/>
            <a:ext cx="7570787" cy="4867275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 smtClean="0"/>
              <a:t>Essential elements of any pseudorandom number generator (PRNG) are a seed value and a deterministic algorithm for generating a stream of pseudorandom bits</a:t>
            </a:r>
          </a:p>
          <a:p>
            <a:pPr lvl="1">
              <a:lnSpc>
                <a:spcPct val="120000"/>
              </a:lnSpc>
            </a:pPr>
            <a:r>
              <a:rPr lang="en-US" dirty="0" smtClean="0"/>
              <a:t>If the algorithm is used as a pseudorandom function (PRF) to produce a required value, the seed should only be known to the user of the PRF</a:t>
            </a:r>
          </a:p>
          <a:p>
            <a:pPr lvl="1">
              <a:lnSpc>
                <a:spcPct val="120000"/>
              </a:lnSpc>
            </a:pPr>
            <a:r>
              <a:rPr lang="en-US" dirty="0" smtClean="0"/>
              <a:t>If the algorithm is used to produce a stream encryption function, the seed has the role of a secret key that must be known to the sender and the receiver</a:t>
            </a:r>
          </a:p>
          <a:p>
            <a:pPr marL="342900" lvl="1" indent="-342900">
              <a:spcBef>
                <a:spcPts val="2400"/>
              </a:spcBef>
              <a:buClr>
                <a:srgbClr val="BAABE3"/>
              </a:buClr>
            </a:pPr>
            <a:r>
              <a:rPr lang="en-US" sz="2811" dirty="0" smtClean="0">
                <a:cs typeface="ＭＳ Ｐゴシック" pitchFamily="-84" charset="-128"/>
              </a:rPr>
              <a:t>A hash function or MAC produces apparently random output and can be used to build a PRNG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6705600" cy="365125"/>
          </a:xfrm>
        </p:spPr>
        <p:txBody>
          <a:bodyPr/>
          <a:lstStyle/>
          <a:p>
            <a:pPr>
              <a:defRPr/>
            </a:pPr>
            <a:r>
              <a:rPr lang="en-US" sz="1050" b="0" dirty="0" smtClean="0"/>
              <a:t>© 2017 Pearson Education, Inc., Hoboken, NJ. All rights reserved.   </a:t>
            </a:r>
            <a:endParaRPr lang="en-US" sz="105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800600" cy="365125"/>
          </a:xfrm>
        </p:spPr>
        <p:txBody>
          <a:bodyPr/>
          <a:lstStyle/>
          <a:p>
            <a:pPr>
              <a:defRPr/>
            </a:pPr>
            <a:r>
              <a:rPr lang="en-US" sz="1050" b="0" dirty="0" smtClean="0"/>
              <a:t>© 2017 Pearson Education, Inc., Hoboken, NJ. All rights reserved.   </a:t>
            </a:r>
            <a:endParaRPr lang="en-US" sz="1050" b="0" dirty="0"/>
          </a:p>
        </p:txBody>
      </p:sp>
      <p:pic>
        <p:nvPicPr>
          <p:cNvPr id="4" name="Picture 3" descr="f14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1676400" y="-591670"/>
            <a:ext cx="6248399" cy="8086162"/>
          </a:xfrm>
          <a:prstGeom prst="rect">
            <a:avLst/>
          </a:prstGeom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304800" y="1447800"/>
            <a:ext cx="8574630" cy="288207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5"/>
              <a:stretch>
                <a:fillRect/>
              </a:stretch>
            </p:blipFill>
          </mc:Choice>
          <mc:Fallback>
            <p:blipFill>
              <a:blip r:embed="rId6"/>
              <a:stretch>
                <a:fillRect/>
              </a:stretch>
            </p:blipFill>
          </mc:Fallback>
        </mc:AlternateContent>
        <p:spPr>
          <a:xfrm>
            <a:off x="1905000" y="4724400"/>
            <a:ext cx="7924800" cy="304800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7010400" cy="365125"/>
          </a:xfrm>
        </p:spPr>
        <p:txBody>
          <a:bodyPr/>
          <a:lstStyle/>
          <a:p>
            <a:pPr>
              <a:defRPr/>
            </a:pPr>
            <a:r>
              <a:rPr lang="en-US" sz="1050" b="0" dirty="0" smtClean="0"/>
              <a:t>© 2017 Pearson Education, Inc., Hoboken, NJ. All rights reserved.   </a:t>
            </a:r>
            <a:endParaRPr lang="en-US" sz="1050" b="0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AU" dirty="0" smtClean="0"/>
          </a:p>
        </p:txBody>
      </p:sp>
      <p:sp>
        <p:nvSpPr>
          <p:cNvPr id="100355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152400" y="1524000"/>
            <a:ext cx="3733800" cy="5334000"/>
          </a:xfrm>
        </p:spPr>
        <p:txBody>
          <a:bodyPr>
            <a:normAutofit fontScale="92500" lnSpcReduction="10000"/>
          </a:bodyPr>
          <a:lstStyle/>
          <a:p>
            <a:r>
              <a:rPr lang="en-US" sz="1946" dirty="0" smtClean="0"/>
              <a:t>Message authentication requirements</a:t>
            </a:r>
          </a:p>
          <a:p>
            <a:r>
              <a:rPr lang="en-US" sz="1946" dirty="0" smtClean="0"/>
              <a:t>Message authentication functions</a:t>
            </a:r>
          </a:p>
          <a:p>
            <a:pPr lvl="1"/>
            <a:r>
              <a:rPr lang="en-US" sz="1946" dirty="0" smtClean="0"/>
              <a:t>Message encryption</a:t>
            </a:r>
          </a:p>
          <a:p>
            <a:pPr lvl="1"/>
            <a:r>
              <a:rPr lang="en-US" sz="1946" dirty="0" smtClean="0"/>
              <a:t>Message authentication code</a:t>
            </a:r>
          </a:p>
          <a:p>
            <a:r>
              <a:rPr lang="en-US" sz="1946" dirty="0" smtClean="0"/>
              <a:t>Requirements for message authentication codes </a:t>
            </a:r>
          </a:p>
          <a:p>
            <a:r>
              <a:rPr lang="en-US" sz="1946" dirty="0" smtClean="0"/>
              <a:t>Security of MACs</a:t>
            </a:r>
          </a:p>
          <a:p>
            <a:pPr lvl="1"/>
            <a:r>
              <a:rPr lang="en-US" sz="1946" dirty="0" smtClean="0"/>
              <a:t>Brute-force attacks </a:t>
            </a:r>
          </a:p>
          <a:p>
            <a:pPr lvl="1"/>
            <a:r>
              <a:rPr lang="en-US" sz="1946" dirty="0" smtClean="0"/>
              <a:t>Cryptanalysis</a:t>
            </a:r>
          </a:p>
          <a:p>
            <a:pPr marL="342900" lvl="1" indent="-342900">
              <a:spcBef>
                <a:spcPts val="2400"/>
              </a:spcBef>
              <a:buClr>
                <a:srgbClr val="BAABE3"/>
              </a:buClr>
            </a:pPr>
            <a:r>
              <a:rPr lang="en-US" sz="1946" dirty="0" smtClean="0">
                <a:cs typeface="ＭＳ Ｐゴシック" pitchFamily="-84" charset="-128"/>
              </a:rPr>
              <a:t>Pseudorandom number generation using hash functions and MACs</a:t>
            </a:r>
          </a:p>
          <a:p>
            <a:pPr lvl="1"/>
            <a:endParaRPr lang="en-AU" dirty="0" smtClean="0"/>
          </a:p>
        </p:txBody>
      </p:sp>
      <p:sp>
        <p:nvSpPr>
          <p:cNvPr id="76804" name="Content Placeholder 11"/>
          <p:cNvSpPr>
            <a:spLocks noGrp="1"/>
          </p:cNvSpPr>
          <p:nvPr>
            <p:ph sz="half" idx="2"/>
          </p:nvPr>
        </p:nvSpPr>
        <p:spPr>
          <a:xfrm>
            <a:off x="5578475" y="1524000"/>
            <a:ext cx="3565525" cy="5105400"/>
          </a:xfrm>
        </p:spPr>
        <p:txBody>
          <a:bodyPr rtlCol="0">
            <a:normAutofit fontScale="92500" lnSpcReduction="10000"/>
          </a:bodyPr>
          <a:lstStyle/>
          <a:p>
            <a:pPr>
              <a:buClr>
                <a:schemeClr val="accent1">
                  <a:lumMod val="60000"/>
                  <a:lumOff val="40000"/>
                </a:schemeClr>
              </a:buClr>
              <a:defRPr/>
            </a:pPr>
            <a:r>
              <a:rPr lang="en-US" sz="1946" dirty="0" smtClean="0"/>
              <a:t>MACs based on hash functions: (HMAC)</a:t>
            </a:r>
          </a:p>
          <a:p>
            <a:pPr lvl="1">
              <a:defRPr/>
            </a:pPr>
            <a:r>
              <a:rPr lang="en-US" sz="1946" dirty="0" smtClean="0">
                <a:cs typeface="ＭＳ Ｐゴシック" pitchFamily="-84" charset="-128"/>
              </a:rPr>
              <a:t>HMAC design objectives</a:t>
            </a:r>
          </a:p>
          <a:p>
            <a:pPr lvl="1">
              <a:defRPr/>
            </a:pPr>
            <a:r>
              <a:rPr lang="en-US" sz="1946" dirty="0" smtClean="0">
                <a:cs typeface="ＭＳ Ｐゴシック" pitchFamily="-84" charset="-128"/>
              </a:rPr>
              <a:t>HMAC algorithm</a:t>
            </a:r>
          </a:p>
          <a:p>
            <a:pPr lvl="1">
              <a:defRPr/>
            </a:pPr>
            <a:r>
              <a:rPr lang="en-US" sz="1946" dirty="0" smtClean="0">
                <a:cs typeface="ＭＳ Ｐゴシック" pitchFamily="-84" charset="-128"/>
              </a:rPr>
              <a:t>Security of HMAC</a:t>
            </a:r>
          </a:p>
          <a:p>
            <a:pPr>
              <a:buClr>
                <a:schemeClr val="accent1">
                  <a:lumMod val="60000"/>
                  <a:lumOff val="40000"/>
                </a:schemeClr>
              </a:buClr>
              <a:defRPr/>
            </a:pPr>
            <a:r>
              <a:rPr lang="en-US" sz="1946" dirty="0" smtClean="0"/>
              <a:t>MACS based on block ciphers: DAA and CMAC</a:t>
            </a:r>
          </a:p>
          <a:p>
            <a:pPr>
              <a:buClr>
                <a:schemeClr val="accent1">
                  <a:lumMod val="60000"/>
                  <a:lumOff val="40000"/>
                </a:schemeClr>
              </a:buClr>
              <a:defRPr/>
            </a:pPr>
            <a:r>
              <a:rPr lang="en-US" sz="1946" dirty="0" smtClean="0"/>
              <a:t>Authentication encryption: CCM and GCM</a:t>
            </a:r>
          </a:p>
          <a:p>
            <a:pPr>
              <a:buClr>
                <a:schemeClr val="accent1">
                  <a:lumMod val="60000"/>
                  <a:lumOff val="40000"/>
                </a:schemeClr>
              </a:buClr>
              <a:defRPr/>
            </a:pPr>
            <a:r>
              <a:rPr lang="en-US" sz="1946" dirty="0" smtClean="0"/>
              <a:t>Key wrapping</a:t>
            </a:r>
          </a:p>
          <a:p>
            <a:pPr lvl="1">
              <a:defRPr/>
            </a:pPr>
            <a:r>
              <a:rPr lang="en-US" sz="1946" dirty="0" smtClean="0">
                <a:cs typeface="ＭＳ Ｐゴシック" pitchFamily="-84" charset="-128"/>
              </a:rPr>
              <a:t>Background</a:t>
            </a:r>
          </a:p>
          <a:p>
            <a:pPr lvl="1">
              <a:defRPr/>
            </a:pPr>
            <a:r>
              <a:rPr lang="en-US" sz="1946" dirty="0" smtClean="0">
                <a:cs typeface="ＭＳ Ｐゴシック" pitchFamily="-84" charset="-128"/>
              </a:rPr>
              <a:t>Key wrapping algorithm</a:t>
            </a:r>
          </a:p>
          <a:p>
            <a:pPr lvl="1">
              <a:defRPr/>
            </a:pPr>
            <a:r>
              <a:rPr lang="en-US" sz="1946" dirty="0" smtClean="0">
                <a:cs typeface="ＭＳ Ｐゴシック" pitchFamily="-84" charset="-128"/>
              </a:rPr>
              <a:t>Key unwrapping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endParaRPr lang="en-US" dirty="0" smtClean="0">
              <a:ea typeface="+mn-ea"/>
            </a:endParaRPr>
          </a:p>
        </p:txBody>
      </p:sp>
      <p:pic>
        <p:nvPicPr>
          <p:cNvPr id="5" name="Picture Placeholder 4" descr="crypto.jpg"/>
          <p:cNvPicPr>
            <a:picLocks noChangeAspect="1"/>
          </p:cNvPicPr>
          <p:nvPr/>
        </p:nvPicPr>
        <p:blipFill>
          <a:blip r:embed="rId3">
            <a:alphaModFix/>
            <a:lum bright="28000"/>
          </a:blip>
          <a:srcRect l="-16674" t="-1111" r="-18211" b="44444"/>
          <a:stretch>
            <a:fillRect/>
          </a:stretch>
        </p:blipFill>
        <p:spPr bwMode="auto">
          <a:xfrm>
            <a:off x="3505200" y="3429000"/>
            <a:ext cx="2109547" cy="1209027"/>
          </a:xfrm>
          <a:prstGeom prst="ellipse">
            <a:avLst/>
          </a:prstGeom>
          <a:solidFill>
            <a:schemeClr val="bg1">
              <a:lumMod val="85000"/>
            </a:schemeClr>
          </a:solidFill>
          <a:ln w="101600">
            <a:noFill/>
            <a:miter lim="800000"/>
            <a:headEnd/>
            <a:tailEnd/>
          </a:ln>
          <a:effectLst>
            <a:innerShdw blurRad="762000">
              <a:schemeClr val="accent1">
                <a:alpha val="80000"/>
              </a:schemeClr>
            </a:innerShdw>
            <a:softEdge rad="76200"/>
          </a:effectLst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6781800" cy="365125"/>
          </a:xfrm>
        </p:spPr>
        <p:txBody>
          <a:bodyPr/>
          <a:lstStyle/>
          <a:p>
            <a:pPr>
              <a:defRPr/>
            </a:pPr>
            <a:r>
              <a:rPr lang="en-US" sz="1050" b="0" dirty="0" smtClean="0"/>
              <a:t>© 2017 Pearson Education, Inc., Hoboken, NJ. All rights reserved.   </a:t>
            </a:r>
            <a:endParaRPr lang="en-US" sz="105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4" Type="http://schemas.openxmlformats.org/officeDocument/2006/relationships/image" Target="../media/image4.jpeg"/><Relationship Id="rId5" Type="http://schemas.openxmlformats.org/officeDocument/2006/relationships/image" Target="../media/image5.jpeg"/><Relationship Id="rId1" Type="http://schemas.openxmlformats.org/officeDocument/2006/relationships/image" Target="../media/image1.jpeg"/><Relationship Id="rId2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Infusion">
  <a:themeElements>
    <a:clrScheme name="Infusion">
      <a:dk1>
        <a:sysClr val="windowText" lastClr="000000"/>
      </a:dk1>
      <a:lt1>
        <a:sysClr val="window" lastClr="FFFFFF"/>
      </a:lt1>
      <a:dk2>
        <a:srgbClr val="2F1F58"/>
      </a:dk2>
      <a:lt2>
        <a:srgbClr val="B7A9E0"/>
      </a:lt2>
      <a:accent1>
        <a:srgbClr val="8C73D0"/>
      </a:accent1>
      <a:accent2>
        <a:srgbClr val="C2E8C4"/>
      </a:accent2>
      <a:accent3>
        <a:srgbClr val="C5A6E8"/>
      </a:accent3>
      <a:accent4>
        <a:srgbClr val="B45EC7"/>
      </a:accent4>
      <a:accent5>
        <a:srgbClr val="9FDAFB"/>
      </a:accent5>
      <a:accent6>
        <a:srgbClr val="95C5B0"/>
      </a:accent6>
      <a:hlink>
        <a:srgbClr val="744AE0"/>
      </a:hlink>
      <a:folHlink>
        <a:srgbClr val="8D8AD1"/>
      </a:folHlink>
    </a:clrScheme>
    <a:fontScheme name="Infusion">
      <a:majorFont>
        <a:latin typeface="Mistral"/>
        <a:ea typeface=""/>
        <a:cs typeface=""/>
        <a:font script="Jpan" typeface="ＭＳ Ｐ明朝"/>
      </a:majorFont>
      <a:minorFont>
        <a:latin typeface="Candara"/>
        <a:ea typeface=""/>
        <a:cs typeface=""/>
        <a:font script="Jpan" typeface="メイリオ"/>
      </a:minorFont>
    </a:fontScheme>
    <a:fmtScheme name="Infusion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70000"/>
                <a:satMod val="120000"/>
              </a:schemeClr>
              <a:schemeClr val="phClr">
                <a:tint val="70000"/>
                <a:satMod val="300000"/>
                <a:lumMod val="125000"/>
              </a:schemeClr>
            </a:duotone>
          </a:blip>
          <a:tile tx="0" ty="0" sx="50000" sy="5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70000"/>
                <a:satMod val="120000"/>
              </a:schemeClr>
              <a:schemeClr val="phClr">
                <a:tint val="70000"/>
                <a:satMod val="135000"/>
              </a:schemeClr>
            </a:duotone>
          </a:blip>
          <a:tile tx="0" ty="0" sx="40000" sy="40000" flip="none" algn="tl"/>
        </a:blipFill>
      </a:fillStyleLst>
      <a:lnStyleLst>
        <a:ln w="38100" cap="flat" cmpd="sng" algn="ctr">
          <a:solidFill>
            <a:schemeClr val="phClr">
              <a:alpha val="70000"/>
              <a:satMod val="105000"/>
            </a:schemeClr>
          </a:solidFill>
          <a:prstDash val="solid"/>
          <a:miter/>
        </a:ln>
        <a:ln w="50800" cap="flat" cmpd="sng" algn="ctr">
          <a:solidFill>
            <a:schemeClr val="phClr">
              <a:alpha val="50000"/>
            </a:schemeClr>
          </a:solidFill>
          <a:prstDash val="solid"/>
          <a:miter/>
        </a:ln>
        <a:ln w="88900" cap="flat" cmpd="sng" algn="ctr">
          <a:solidFill>
            <a:schemeClr val="phClr">
              <a:alpha val="40000"/>
            </a:schemeClr>
          </a:solidFill>
          <a:prstDash val="solid"/>
          <a:miter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innerShdw blurRad="190500" dir="13500000">
              <a:srgbClr val="000000">
                <a:alpha val="50000"/>
              </a:srgbClr>
            </a:innerShdw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blipFill rotWithShape="1">
          <a:blip xmlns:r="http://schemas.openxmlformats.org/officeDocument/2006/relationships" r:embed="rId3">
            <a:duotone>
              <a:schemeClr val="phClr">
                <a:shade val="70000"/>
                <a:satMod val="500000"/>
                <a:lumMod val="50000"/>
              </a:schemeClr>
              <a:schemeClr val="phClr">
                <a:satMod val="800000"/>
                <a:lumMod val="250000"/>
              </a:schemeClr>
            </a:duotone>
          </a:blip>
          <a:stretch/>
        </a:blipFill>
        <a:blipFill rotWithShape="1">
          <a:blip xmlns:r="http://schemas.openxmlformats.org/officeDocument/2006/relationships" r:embed="rId4">
            <a:duotone>
              <a:schemeClr val="phClr">
                <a:shade val="70000"/>
                <a:satMod val="500000"/>
                <a:lumMod val="50000"/>
              </a:schemeClr>
              <a:schemeClr val="phClr">
                <a:satMod val="800000"/>
                <a:lumMod val="250000"/>
              </a:schemeClr>
            </a:duotone>
          </a:blip>
          <a:stretch/>
        </a:blipFill>
        <a:blipFill rotWithShape="1">
          <a:blip xmlns:r="http://schemas.openxmlformats.org/officeDocument/2006/relationships" r:embed="rId5">
            <a:duotone>
              <a:schemeClr val="phClr">
                <a:shade val="70000"/>
                <a:satMod val="500000"/>
                <a:lumMod val="50000"/>
              </a:schemeClr>
              <a:schemeClr val="phClr">
                <a:satMod val="800000"/>
                <a:lumMod val="25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HD:Users:lpb:admin:consult:Prentice-Hall:Slides:ch01.ppt</Template>
  <TotalTime>15714</TotalTime>
  <Words>9861</Words>
  <Application>Microsoft Macintosh PowerPoint</Application>
  <PresentationFormat>On-screen Show (4:3)</PresentationFormat>
  <Paragraphs>800</Paragraphs>
  <Slides>33</Slides>
  <Notes>33</Notes>
  <HiddenSlides>0</HiddenSlides>
  <MMClips>0</MMClips>
  <ScaleCrop>false</ScaleCrop>
  <HeadingPairs>
    <vt:vector size="4" baseType="variant">
      <vt:variant>
        <vt:lpstr>Design Template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Infusion</vt:lpstr>
      <vt:lpstr>Cryptography and Network Security</vt:lpstr>
      <vt:lpstr>Chapter 12</vt:lpstr>
      <vt:lpstr>Message Authentication Requirements</vt:lpstr>
      <vt:lpstr>Message Authentication Functions</vt:lpstr>
      <vt:lpstr>Slide 5</vt:lpstr>
      <vt:lpstr>Slide 6</vt:lpstr>
      <vt:lpstr>Slide 7</vt:lpstr>
      <vt:lpstr>Public-Key Encryption</vt:lpstr>
      <vt:lpstr>Slide 9</vt:lpstr>
      <vt:lpstr>Requirements for MACs</vt:lpstr>
      <vt:lpstr>Brute-Force Attack</vt:lpstr>
      <vt:lpstr>Cryptanalysis</vt:lpstr>
      <vt:lpstr>MACs Based on Hash Functions: HMAC</vt:lpstr>
      <vt:lpstr>HMAC Design Objectives</vt:lpstr>
      <vt:lpstr>Slide 15</vt:lpstr>
      <vt:lpstr>Slide 16</vt:lpstr>
      <vt:lpstr>Security of HMAC</vt:lpstr>
      <vt:lpstr>Slide 18</vt:lpstr>
      <vt:lpstr>Slide 19</vt:lpstr>
      <vt:lpstr>Authenticated Encryption (AE)</vt:lpstr>
      <vt:lpstr>Counter with Cipher Block Chaining-Message Authentication Code (CCM) </vt:lpstr>
      <vt:lpstr>  The input to the CCM encryption process consists of three elements:</vt:lpstr>
      <vt:lpstr>Slide 23</vt:lpstr>
      <vt:lpstr>Galois/Counter Mode (GCM)</vt:lpstr>
      <vt:lpstr>Slide 25</vt:lpstr>
      <vt:lpstr>Slide 26</vt:lpstr>
      <vt:lpstr>Key Wrap (KW)</vt:lpstr>
      <vt:lpstr>Slide 28</vt:lpstr>
      <vt:lpstr>Slide 29</vt:lpstr>
      <vt:lpstr>Pseudorandom Number Generation Using Hash Functions and MACs</vt:lpstr>
      <vt:lpstr>Slide 31</vt:lpstr>
      <vt:lpstr>Slide 32</vt:lpstr>
      <vt:lpstr>Summary</vt:lpstr>
    </vt:vector>
  </TitlesOfParts>
  <Manager/>
  <Company>School of Eng &amp; IT, UNSW@ADFA</Company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William Stallings, Cryptography and Network Security 5/e</dc:title>
  <dc:subject>Lecture Overheads - Ch 12</dc:subject>
  <dc:creator>Dr Lawrie Brown</dc:creator>
  <cp:keywords/>
  <dc:description/>
  <cp:lastModifiedBy>Kevin McLaughlin</cp:lastModifiedBy>
  <cp:revision>59</cp:revision>
  <dcterms:created xsi:type="dcterms:W3CDTF">2016-04-21T19:35:06Z</dcterms:created>
  <dcterms:modified xsi:type="dcterms:W3CDTF">2016-04-27T03:26:07Z</dcterms:modified>
  <cp:category/>
</cp:coreProperties>
</file>