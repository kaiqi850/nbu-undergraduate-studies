
<file path=[Content_Types].xml><?xml version="1.0" encoding="utf-8"?>
<Types xmlns="http://schemas.openxmlformats.org/package/2006/content-types">
  <Override PartName="/ppt/slides/slide41.xml" ContentType="application/vnd.openxmlformats-officedocument.presentationml.slide+xml"/>
  <Override PartName="/ppt/diagrams/layout8.xml" ContentType="application/vnd.openxmlformats-officedocument.drawingml.diagramLayout+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slides/slide37.xml" ContentType="application/vnd.openxmlformats-officedocument.presentationml.slide+xml"/>
  <Override PartName="/ppt/slides/slide9.xml" ContentType="application/vnd.openxmlformats-officedocument.presentationml.slide+xml"/>
  <Override PartName="/ppt/diagrams/quickStyle6.xml" ContentType="application/vnd.openxmlformats-officedocument.drawingml.diagramStyle+xml"/>
  <Override PartName="/ppt/diagrams/colors2.xml" ContentType="application/vnd.openxmlformats-officedocument.drawingml.diagramColors+xml"/>
  <Override PartName="/ppt/diagrams/drawing10.xml" ContentType="application/vnd.ms-office.drawingml.diagramDrawing+xml"/>
  <Override PartName="/ppt/notesMasters/notesMaster1.xml" ContentType="application/vnd.openxmlformats-officedocument.presentationml.notesMaster+xml"/>
  <Default Extension="vml" ContentType="application/vnd.openxmlformats-officedocument.vmlDrawing"/>
  <Override PartName="/ppt/slideLayouts/slideLayout15.xml" ContentType="application/vnd.openxmlformats-officedocument.presentationml.slideLayout+xml"/>
  <Override PartName="/ppt/diagrams/drawing1.xml" ContentType="application/vnd.ms-office.drawingml.diagramDrawing+xml"/>
  <Override PartName="/ppt/theme/theme1.xml" ContentType="application/vnd.openxmlformats-officedocument.theme+xml"/>
  <Override PartName="/ppt/notesSlides/notesSlide2.xml" ContentType="application/vnd.openxmlformats-officedocument.presentationml.notesSlide+xml"/>
  <Override PartName="/ppt/slideLayouts/slideLayout24.xml" ContentType="application/vnd.openxmlformats-officedocument.presentationml.slideLayout+xml"/>
  <Override PartName="/ppt/diagrams/colors8.xml" ContentType="application/vnd.openxmlformats-officedocument.drawingml.diagramColors+xml"/>
  <Override PartName="/ppt/diagrams/drawing7.xml" ContentType="application/vnd.ms-office.drawingml.diagramDrawing+xml"/>
  <Override PartName="/ppt/diagrams/data6.xml" ContentType="application/vnd.openxmlformats-officedocument.drawingml.diagramData+xml"/>
  <Default Extension="jpeg" ContentType="image/jpeg"/>
  <Override PartName="/ppt/notesSlides/notesSlide11.xml" ContentType="application/vnd.openxmlformats-officedocument.presentationml.notesSlide+xml"/>
  <Override PartName="/ppt/diagrams/layout3.xml" ContentType="application/vnd.openxmlformats-officedocument.drawingml.diagramLayout+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notesSlides/notesSlide40.xml" ContentType="application/vnd.openxmlformats-officedocument.presentationml.notesSlide+xml"/>
  <Override PartName="/ppt/slideLayouts/slideLayout5.xml" ContentType="application/vnd.openxmlformats-officedocument.presentationml.slideLayout+xml"/>
  <Override PartName="/ppt/diagrams/quickStyle1.xml" ContentType="application/vnd.openxmlformats-officedocument.drawingml.diagramStyle+xml"/>
  <Override PartName="/ppt/slides/slide42.xml" ContentType="application/vnd.openxmlformats-officedocument.presentationml.slide+xml"/>
  <Override PartName="/ppt/slideMasters/slideMaster2.xml" ContentType="application/vnd.openxmlformats-officedocument.presentationml.slideMaster+xml"/>
  <Override PartName="/ppt/notesSlides/notesSlide17.xml" ContentType="application/vnd.openxmlformats-officedocument.presentationml.notesSlide+xml"/>
  <Override PartName="/ppt/diagrams/layout9.xml" ContentType="application/vnd.openxmlformats-officedocument.drawingml.diagramLayout+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29.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diagrams/quickStyle7.xml" ContentType="application/vnd.openxmlformats-officedocument.drawingml.diagramStyle+xml"/>
  <Override PartName="/ppt/diagrams/colors10.xml" ContentType="application/vnd.openxmlformats-officedocument.drawingml.diagramColors+xml"/>
  <Override PartName="/ppt/diagrams/colors3.xml" ContentType="application/vnd.openxmlformats-officedocument.drawingml.diagramColors+xml"/>
  <Override PartName="/ppt/slideLayouts/slideLayout16.xml" ContentType="application/vnd.openxmlformats-officedocument.presentationml.slideLayout+xml"/>
  <Override PartName="/ppt/diagrams/drawing2.xml" ContentType="application/vnd.ms-office.drawingml.diagramDrawing+xml"/>
  <Override PartName="/ppt/theme/theme2.xml" ContentType="application/vnd.openxmlformats-officedocument.theme+xml"/>
  <Override PartName="/ppt/diagrams/data1.xml" ContentType="application/vnd.openxmlformats-officedocument.drawingml.diagramData+xml"/>
  <Override PartName="/ppt/notesSlides/notesSlide3.xml" ContentType="application/vnd.openxmlformats-officedocument.presentationml.notesSlide+xml"/>
  <Override PartName="/ppt/diagrams/colors9.xml" ContentType="application/vnd.openxmlformats-officedocument.drawingml.diagramColors+xml"/>
  <Override PartName="/ppt/diagrams/drawing8.xml" ContentType="application/vnd.ms-office.drawingml.diagramDrawing+xml"/>
  <Override PartName="/ppt/diagrams/data7.xml" ContentType="application/vnd.openxmlformats-officedocument.drawingml.diagramData+xml"/>
  <Override PartName="/ppt/notesSlides/notesSlide8.xml" ContentType="application/vnd.openxmlformats-officedocument.presentationml.notesSlide+xml"/>
  <Override PartName="/ppt/notesSlides/notesSlide12.xml" ContentType="application/vnd.openxmlformats-officedocument.presentationml.notesSlide+xml"/>
  <Override PartName="/ppt/diagrams/layout4.xml" ContentType="application/vnd.openxmlformats-officedocument.drawingml.diagramLayout+xml"/>
  <Override PartName="/ppt/slides/slide14.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Default Extension="bin" ContentType="application/vnd.openxmlformats-officedocument.presentationml.printerSettings"/>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Default Extension="xml" ContentType="application/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ableStyles.xml" ContentType="application/vnd.openxmlformats-officedocument.presentationml.tableStyles+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notesSlides/notesSlide37.xml" ContentType="application/vnd.openxmlformats-officedocument.presentationml.notesSlide+xml"/>
  <Override PartName="/ppt/slideLayouts/slideLayout20.xml" ContentType="application/vnd.openxmlformats-officedocument.presentationml.slideLayout+xml"/>
  <Override PartName="/docProps/app.xml" ContentType="application/vnd.openxmlformats-officedocument.extended-properties+xml"/>
  <Override PartName="/ppt/slides/slide39.xml" ContentType="application/vnd.openxmlformats-officedocument.presentationml.slide+xml"/>
  <Override PartName="/ppt/diagrams/quickStyle8.xml" ContentType="application/vnd.openxmlformats-officedocument.drawingml.diagramStyle+xml"/>
  <Override PartName="/ppt/diagrams/colors4.xml" ContentType="application/vnd.openxmlformats-officedocument.drawingml.diagramColors+xml"/>
  <Override PartName="/docProps/core.xml" ContentType="application/vnd.openxmlformats-package.core-properties+xml"/>
  <Override PartName="/ppt/slideLayouts/slideLayout17.xml" ContentType="application/vnd.openxmlformats-officedocument.presentationml.slideLayout+xml"/>
  <Override PartName="/ppt/diagrams/drawing3.xml" ContentType="application/vnd.ms-office.drawingml.diagramDrawing+xml"/>
  <Override PartName="/ppt/diagrams/data2.xml" ContentType="application/vnd.openxmlformats-officedocument.drawingml.diagramData+xml"/>
  <Override PartName="/ppt/theme/theme3.xml" ContentType="application/vnd.openxmlformats-officedocument.them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diagrams/drawing9.xml" ContentType="application/vnd.ms-office.drawingml.diagramDrawing+xml"/>
  <Override PartName="/ppt/diagrams/data8.xml" ContentType="application/vnd.openxmlformats-officedocument.drawingml.diagramData+xml"/>
  <Override PartName="/ppt/notesSlides/notesSlide9.xml" ContentType="application/vnd.openxmlformats-officedocument.presentationml.notesSlide+xml"/>
  <Override PartName="/ppt/notesSlides/notesSlide13.xml" ContentType="application/vnd.openxmlformats-officedocument.presentationml.notesSlide+xml"/>
  <Override PartName="/ppt/diagrams/layout5.xml" ContentType="application/vnd.openxmlformats-officedocument.drawingml.diagramLayout+xml"/>
  <Override PartName="/ppt/slides/slide15.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diagrams/quickStyle3.xml" ContentType="application/vnd.openxmlformats-officedocument.drawingml.diagramStyle+xml"/>
  <Override PartName="/ppt/notesSlides/notesSlide42.xml" ContentType="application/vnd.openxmlformats-officedocument.presentationml.notesSlide+xml"/>
  <Override PartName="/ppt/notesSlides/notesSlide19.xml" ContentType="application/vnd.openxmlformats-officedocument.presentationml.notesSlide+xml"/>
  <Override PartName="/ppt/notesSlides/notesSlide29.xml" ContentType="application/vnd.openxmlformats-officedocument.presentationml.notesSlide+xml"/>
  <Override PartName="/ppt/slideLayouts/slideLayout12.xml" ContentType="application/vnd.openxmlformats-officedocument.presentationml.slideLayout+xml"/>
  <Override PartName="/ppt/notesSlides/notesSlide38.xml" ContentType="application/vnd.openxmlformats-officedocument.presentationml.notesSlide+xml"/>
  <Override PartName="/ppt/slideLayouts/slideLayout21.xml" ContentType="application/vnd.openxmlformats-officedocument.presentationml.slideLayout+xml"/>
  <Override PartName="/ppt/diagrams/quickStyle9.xml" ContentType="application/vnd.openxmlformats-officedocument.drawingml.diagramStyle+xml"/>
  <Override PartName="/ppt/diagrams/colors5.xml" ContentType="application/vnd.openxmlformats-officedocument.drawingml.diagramColors+xml"/>
  <Override PartName="/ppt/slideLayouts/slideLayout18.xml" ContentType="application/vnd.openxmlformats-officedocument.presentationml.slideLayout+xml"/>
  <Override PartName="/ppt/diagrams/drawing4.xml" ContentType="application/vnd.ms-office.drawingml.diagramDrawing+xml"/>
  <Override PartName="/ppt/diagrams/data3.xml" ContentType="application/vnd.openxmlformats-officedocument.drawingml.diagramData+xml"/>
  <Override PartName="/ppt/theme/theme4.xml" ContentType="application/vnd.openxmlformats-officedocument.theme+xml"/>
  <Override PartName="/ppt/notesSlides/notesSlide5.xml" ContentType="application/vnd.openxmlformats-officedocument.presentationml.notesSlide+xml"/>
  <Override PartName="/ppt/slides/slide10.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diagrams/data9.xml" ContentType="application/vnd.openxmlformats-officedocument.drawingml.diagramData+xml"/>
  <Override PartName="/ppt/notesSlides/notesSlide14.xml" ContentType="application/vnd.openxmlformats-officedocument.presentationml.notesSlide+xml"/>
  <Override PartName="/ppt/diagrams/layout6.xml" ContentType="application/vnd.openxmlformats-officedocument.drawingml.diagramLayout+xml"/>
  <Override PartName="/ppt/slides/slide16.xml" ContentType="application/vnd.openxmlformats-officedocument.presentationml.slide+xml"/>
  <Override PartName="/ppt/diagrams/data10.xml" ContentType="application/vnd.openxmlformats-officedocument.drawingml.diagramData+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slides/slide26.xml" ContentType="application/vnd.openxmlformats-officedocument.presentationml.slide+xml"/>
  <Default Extension="pict" ContentType="image/pict"/>
  <Override PartName="/ppt/notesSlides/notesSlide34.xml" ContentType="application/vnd.openxmlformats-officedocument.presentationml.notesSlide+xml"/>
  <Override PartName="/ppt/slides/slide35.xml" ContentType="application/vnd.openxmlformats-officedocument.presentationml.slide+xml"/>
  <Override PartName="/ppt/slides/slide7.xml" ContentType="application/vnd.openxmlformats-officedocument.presentationml.slide+xml"/>
  <Default Extension="wmf" ContentType="image/x-wmf"/>
  <Override PartName="/ppt/slideLayouts/slideLayout8.xml" ContentType="application/vnd.openxmlformats-officedocument.presentationml.slideLayout+xml"/>
  <Override PartName="/ppt/diagrams/quickStyle4.xml" ContentType="application/vnd.openxmlformats-officedocument.drawingml.diagramStyle+xml"/>
  <Override PartName="/ppt/notesSlides/notesSlide43.xml" ContentType="application/vnd.openxmlformats-officedocument.presentationml.notesSlide+xml"/>
  <Override PartName="/ppt/slideLayouts/slideLayout13.xml" ContentType="application/vnd.openxmlformats-officedocument.presentationml.slideLayout+xml"/>
  <Override PartName="/ppt/presProps.xml" ContentType="application/vnd.openxmlformats-officedocument.presentationml.presProps+xml"/>
  <Override PartName="/ppt/notesSlides/notesSlide39.xml" ContentType="application/vnd.openxmlformats-officedocument.presentationml.notesSlide+xml"/>
  <Override PartName="/ppt/slideLayouts/slideLayout22.xml" ContentType="application/vnd.openxmlformats-officedocument.presentationml.slideLayout+xml"/>
  <Override PartName="/ppt/presentation.xml" ContentType="application/vnd.openxmlformats-officedocument.presentationml.presentation.main+xml"/>
  <Override PartName="/ppt/diagrams/colors6.xml" ContentType="application/vnd.openxmlformats-officedocument.drawingml.diagramColors+xml"/>
  <Override PartName="/ppt/slideLayouts/slideLayout19.xml" ContentType="application/vnd.openxmlformats-officedocument.presentationml.slideLayout+xml"/>
  <Override PartName="/ppt/diagrams/drawing5.xml" ContentType="application/vnd.ms-office.drawingml.diagramDrawing+xml"/>
  <Override PartName="/ppt/diagrams/data4.xml" ContentType="application/vnd.openxmlformats-officedocument.drawingml.diagramData+xml"/>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diagrams/layout7.xml" ContentType="application/vnd.openxmlformats-officedocument.drawingml.diagramLayout+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diagrams/quickStyle5.xml" ContentType="application/vnd.openxmlformats-officedocument.drawingml.diagramStyle+xml"/>
  <Default Extension="pdf" ContentType="application/pdf"/>
  <Override PartName="/ppt/diagrams/colors1.xml" ContentType="application/vnd.openxmlformats-officedocument.drawingml.diagramColors+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diagrams/colors7.xml" ContentType="application/vnd.openxmlformats-officedocument.drawingml.diagramColors+xml"/>
  <Override PartName="/ppt/diagrams/drawing6.xml" ContentType="application/vnd.ms-office.drawingml.diagramDrawing+xml"/>
  <Override PartName="/ppt/diagrams/data5.xml" ContentType="application/vnd.openxmlformats-officedocument.drawingml.diagramData+xml"/>
  <Override PartName="/ppt/diagrams/layout2.xml" ContentType="application/vnd.openxmlformats-officedocument.drawingml.diagramLayout+xml"/>
  <Override PartName="/ppt/notesSlides/notesSlide7.xml" ContentType="application/vnd.openxmlformats-officedocument.presentationml.notesSlide+xml"/>
  <Override PartName="/ppt/slides/slide12.xml" ContentType="application/vnd.openxmlformats-officedocument.presentationml.slide+xml"/>
  <Override PartName="/ppt/diagrams/quickStyle10.xml" ContentType="application/vnd.openxmlformats-officedocument.drawingml.diagramStyl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diagrams/layout10.xml" ContentType="application/vnd.openxmlformats-officedocument.drawingml.diagramLayout+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709" r:id="rId2"/>
  </p:sldMasterIdLst>
  <p:notesMasterIdLst>
    <p:notesMasterId r:id="rId46"/>
  </p:notesMasterIdLst>
  <p:handoutMasterIdLst>
    <p:handoutMasterId r:id="rId47"/>
  </p:handoutMasterIdLst>
  <p:sldIdLst>
    <p:sldId id="316" r:id="rId3"/>
    <p:sldId id="317" r:id="rId4"/>
    <p:sldId id="303" r:id="rId5"/>
    <p:sldId id="339" r:id="rId6"/>
    <p:sldId id="304" r:id="rId7"/>
    <p:sldId id="305" r:id="rId8"/>
    <p:sldId id="306" r:id="rId9"/>
    <p:sldId id="310" r:id="rId10"/>
    <p:sldId id="320" r:id="rId11"/>
    <p:sldId id="307" r:id="rId12"/>
    <p:sldId id="321" r:id="rId13"/>
    <p:sldId id="276" r:id="rId14"/>
    <p:sldId id="277" r:id="rId15"/>
    <p:sldId id="337" r:id="rId16"/>
    <p:sldId id="322" r:id="rId17"/>
    <p:sldId id="296" r:id="rId18"/>
    <p:sldId id="278" r:id="rId19"/>
    <p:sldId id="323" r:id="rId20"/>
    <p:sldId id="324" r:id="rId21"/>
    <p:sldId id="325" r:id="rId22"/>
    <p:sldId id="326" r:id="rId23"/>
    <p:sldId id="328" r:id="rId24"/>
    <p:sldId id="297" r:id="rId25"/>
    <p:sldId id="327" r:id="rId26"/>
    <p:sldId id="280" r:id="rId27"/>
    <p:sldId id="281" r:id="rId28"/>
    <p:sldId id="312" r:id="rId29"/>
    <p:sldId id="329" r:id="rId30"/>
    <p:sldId id="313" r:id="rId31"/>
    <p:sldId id="290" r:id="rId32"/>
    <p:sldId id="298" r:id="rId33"/>
    <p:sldId id="299" r:id="rId34"/>
    <p:sldId id="315" r:id="rId35"/>
    <p:sldId id="314" r:id="rId36"/>
    <p:sldId id="300" r:id="rId37"/>
    <p:sldId id="330" r:id="rId38"/>
    <p:sldId id="331" r:id="rId39"/>
    <p:sldId id="332" r:id="rId40"/>
    <p:sldId id="333" r:id="rId41"/>
    <p:sldId id="334" r:id="rId42"/>
    <p:sldId id="338" r:id="rId43"/>
    <p:sldId id="336" r:id="rId44"/>
    <p:sldId id="319" r:id="rId45"/>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Comments="0">
  <p:normalViewPr>
    <p:restoredLeft sz="12420" autoAdjust="0"/>
    <p:restoredTop sz="87802" autoAdjust="0"/>
  </p:normalViewPr>
  <p:slideViewPr>
    <p:cSldViewPr>
      <p:cViewPr>
        <p:scale>
          <a:sx n="110" d="100"/>
          <a:sy n="110" d="100"/>
        </p:scale>
        <p:origin x="-456" y="-672"/>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p:cViewPr>
        <p:scale>
          <a:sx n="125" d="100"/>
          <a:sy n="125" d="100"/>
        </p:scale>
        <p:origin x="-1216" y="-20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interSettings" Target="printerSettings/printerSettings1.bin"/><Relationship Id="rId49" Type="http://schemas.openxmlformats.org/officeDocument/2006/relationships/presProps" Target="presProp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9.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0.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0E19DD-5792-FE40-B93A-604A4F805ADA}"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244474D5-971D-4549-BA32-8D72776A9F64}">
      <dgm:prSet/>
      <dgm:spPr>
        <a:ln w="12700">
          <a:solidFill>
            <a:schemeClr val="tx2">
              <a:lumMod val="60000"/>
              <a:lumOff val="40000"/>
            </a:schemeClr>
          </a:solidFill>
        </a:ln>
      </dgm:spPr>
      <dgm:t>
        <a:bodyPr/>
        <a:lstStyle/>
        <a:p>
          <a:r>
            <a:rPr lang="en-US" b="1" dirty="0" smtClean="0">
              <a:effectLst>
                <a:outerShdw blurRad="38100" dist="38100" dir="2700000" algn="tl">
                  <a:srgbClr val="000000">
                    <a:alpha val="43137"/>
                  </a:srgbClr>
                </a:outerShdw>
              </a:effectLst>
            </a:rPr>
            <a:t>Identification step</a:t>
          </a:r>
        </a:p>
      </dgm:t>
    </dgm:pt>
    <dgm:pt modelId="{87285F1A-9237-DA4A-99FA-26C8423496D1}" type="parTrans" cxnId="{1F2F4AFA-B9CF-E24A-9A61-5B326CE35BE9}">
      <dgm:prSet/>
      <dgm:spPr/>
      <dgm:t>
        <a:bodyPr/>
        <a:lstStyle/>
        <a:p>
          <a:endParaRPr lang="en-US"/>
        </a:p>
      </dgm:t>
    </dgm:pt>
    <dgm:pt modelId="{AD7D42ED-7632-C44B-9C3F-427E9090AA5B}" type="sibTrans" cxnId="{1F2F4AFA-B9CF-E24A-9A61-5B326CE35BE9}">
      <dgm:prSet/>
      <dgm:spPr>
        <a:ln>
          <a:solidFill>
            <a:schemeClr val="tx2">
              <a:lumMod val="40000"/>
              <a:lumOff val="60000"/>
            </a:schemeClr>
          </a:solidFill>
        </a:ln>
      </dgm:spPr>
      <dgm:t>
        <a:bodyPr/>
        <a:lstStyle/>
        <a:p>
          <a:endParaRPr lang="en-US" dirty="0"/>
        </a:p>
      </dgm:t>
    </dgm:pt>
    <dgm:pt modelId="{D10BDD67-6014-374E-8DC7-F7E1EAE760B6}">
      <dgm:prSet custT="1"/>
      <dgm:spPr>
        <a:ln>
          <a:solidFill>
            <a:schemeClr val="tx2">
              <a:lumMod val="60000"/>
              <a:lumOff val="40000"/>
            </a:schemeClr>
          </a:solidFill>
        </a:ln>
      </dgm:spPr>
      <dgm:t>
        <a:bodyPr/>
        <a:lstStyle/>
        <a:p>
          <a:r>
            <a:rPr lang="en-US" sz="1600" dirty="0" smtClean="0"/>
            <a:t>Presenting an identifier to the security system</a:t>
          </a:r>
        </a:p>
      </dgm:t>
    </dgm:pt>
    <dgm:pt modelId="{A2C9D6DB-39E3-F244-A547-B41AFEE1B51F}" type="parTrans" cxnId="{A4A30F3F-4DF2-A54A-8299-D3425BEF0A85}">
      <dgm:prSet/>
      <dgm:spPr/>
      <dgm:t>
        <a:bodyPr/>
        <a:lstStyle/>
        <a:p>
          <a:endParaRPr lang="en-US"/>
        </a:p>
      </dgm:t>
    </dgm:pt>
    <dgm:pt modelId="{335BA0EC-EBDB-DE47-8A9B-847FA0A02D9F}" type="sibTrans" cxnId="{A4A30F3F-4DF2-A54A-8299-D3425BEF0A85}">
      <dgm:prSet/>
      <dgm:spPr/>
      <dgm:t>
        <a:bodyPr/>
        <a:lstStyle/>
        <a:p>
          <a:endParaRPr lang="en-US"/>
        </a:p>
      </dgm:t>
    </dgm:pt>
    <dgm:pt modelId="{9D8F27E9-34F3-5042-B551-ABBD03D5E7BF}">
      <dgm:prSet/>
      <dgm:spPr>
        <a:ln w="12700">
          <a:solidFill>
            <a:schemeClr val="tx2">
              <a:lumMod val="60000"/>
              <a:lumOff val="40000"/>
            </a:schemeClr>
          </a:solidFill>
        </a:ln>
      </dgm:spPr>
      <dgm:t>
        <a:bodyPr/>
        <a:lstStyle/>
        <a:p>
          <a:r>
            <a:rPr lang="en-US" b="1" dirty="0" smtClean="0">
              <a:effectLst>
                <a:outerShdw blurRad="38100" dist="38100" dir="2700000" algn="tl">
                  <a:srgbClr val="000000">
                    <a:alpha val="43137"/>
                  </a:srgbClr>
                </a:outerShdw>
              </a:effectLst>
            </a:rPr>
            <a:t>Verification step</a:t>
          </a:r>
        </a:p>
      </dgm:t>
    </dgm:pt>
    <dgm:pt modelId="{4C7E66AD-91E1-8C47-94A3-391D7C91A74B}" type="parTrans" cxnId="{BBE83782-7761-924F-808F-B909374C4260}">
      <dgm:prSet/>
      <dgm:spPr/>
      <dgm:t>
        <a:bodyPr/>
        <a:lstStyle/>
        <a:p>
          <a:endParaRPr lang="en-US"/>
        </a:p>
      </dgm:t>
    </dgm:pt>
    <dgm:pt modelId="{11D58F56-A8B7-5449-A138-CA70E84EA46D}" type="sibTrans" cxnId="{BBE83782-7761-924F-808F-B909374C4260}">
      <dgm:prSet/>
      <dgm:spPr/>
      <dgm:t>
        <a:bodyPr/>
        <a:lstStyle/>
        <a:p>
          <a:endParaRPr lang="en-US"/>
        </a:p>
      </dgm:t>
    </dgm:pt>
    <dgm:pt modelId="{B1D41F93-0A1C-9844-B6DB-536339101D94}">
      <dgm:prSet custT="1"/>
      <dgm:spPr>
        <a:ln>
          <a:solidFill>
            <a:schemeClr val="tx2">
              <a:lumMod val="60000"/>
              <a:lumOff val="40000"/>
            </a:schemeClr>
          </a:solidFill>
        </a:ln>
      </dgm:spPr>
      <dgm:t>
        <a:bodyPr/>
        <a:lstStyle/>
        <a:p>
          <a:r>
            <a:rPr lang="en-US" sz="1400" dirty="0" smtClean="0"/>
            <a:t>Presenting or generating authentication information that corroborates the binding between the entity and the identifier</a:t>
          </a:r>
          <a:endParaRPr lang="en-US" sz="1400" dirty="0"/>
        </a:p>
      </dgm:t>
    </dgm:pt>
    <dgm:pt modelId="{F1E3E441-D9E2-D243-8CE4-9915BE7372B0}" type="parTrans" cxnId="{BAD65D4D-50EF-B04B-B47E-54F27F89EA86}">
      <dgm:prSet/>
      <dgm:spPr/>
      <dgm:t>
        <a:bodyPr/>
        <a:lstStyle/>
        <a:p>
          <a:endParaRPr lang="en-US"/>
        </a:p>
      </dgm:t>
    </dgm:pt>
    <dgm:pt modelId="{3F4ADCFD-B1C1-124F-8AEF-57C95D3BFC4F}" type="sibTrans" cxnId="{BAD65D4D-50EF-B04B-B47E-54F27F89EA86}">
      <dgm:prSet/>
      <dgm:spPr/>
      <dgm:t>
        <a:bodyPr/>
        <a:lstStyle/>
        <a:p>
          <a:endParaRPr lang="en-US"/>
        </a:p>
      </dgm:t>
    </dgm:pt>
    <dgm:pt modelId="{8B1ED56A-975D-964C-A86F-34EF65168927}" type="pres">
      <dgm:prSet presAssocID="{570E19DD-5792-FE40-B93A-604A4F805ADA}" presName="Name0" presStyleCnt="0">
        <dgm:presLayoutVars>
          <dgm:dir/>
          <dgm:animLvl val="lvl"/>
          <dgm:resizeHandles val="exact"/>
        </dgm:presLayoutVars>
      </dgm:prSet>
      <dgm:spPr/>
      <dgm:t>
        <a:bodyPr/>
        <a:lstStyle/>
        <a:p>
          <a:endParaRPr lang="en-US"/>
        </a:p>
      </dgm:t>
    </dgm:pt>
    <dgm:pt modelId="{0F290E47-4AB4-8E49-83BF-CA9557565F22}" type="pres">
      <dgm:prSet presAssocID="{570E19DD-5792-FE40-B93A-604A4F805ADA}" presName="tSp" presStyleCnt="0"/>
      <dgm:spPr/>
    </dgm:pt>
    <dgm:pt modelId="{5C53FF6C-9B8C-2645-AF2E-7D8496BA09A3}" type="pres">
      <dgm:prSet presAssocID="{570E19DD-5792-FE40-B93A-604A4F805ADA}" presName="bSp" presStyleCnt="0"/>
      <dgm:spPr/>
    </dgm:pt>
    <dgm:pt modelId="{BD37AD80-B853-1647-A31F-46BD7E6C0329}" type="pres">
      <dgm:prSet presAssocID="{570E19DD-5792-FE40-B93A-604A4F805ADA}" presName="process" presStyleCnt="0"/>
      <dgm:spPr/>
    </dgm:pt>
    <dgm:pt modelId="{DB50F421-0CC0-AD44-9948-DB069C989D9B}" type="pres">
      <dgm:prSet presAssocID="{244474D5-971D-4549-BA32-8D72776A9F64}" presName="composite1" presStyleCnt="0"/>
      <dgm:spPr/>
    </dgm:pt>
    <dgm:pt modelId="{F6A448BB-153F-FA48-AAAD-907B1A285D00}" type="pres">
      <dgm:prSet presAssocID="{244474D5-971D-4549-BA32-8D72776A9F64}" presName="dummyNode1" presStyleLbl="node1" presStyleIdx="0" presStyleCnt="2"/>
      <dgm:spPr/>
    </dgm:pt>
    <dgm:pt modelId="{900921B5-CC31-8F4E-94D3-D274653E1677}" type="pres">
      <dgm:prSet presAssocID="{244474D5-971D-4549-BA32-8D72776A9F64}" presName="childNode1" presStyleLbl="bgAcc1" presStyleIdx="0" presStyleCnt="2">
        <dgm:presLayoutVars>
          <dgm:bulletEnabled val="1"/>
        </dgm:presLayoutVars>
      </dgm:prSet>
      <dgm:spPr/>
      <dgm:t>
        <a:bodyPr/>
        <a:lstStyle/>
        <a:p>
          <a:endParaRPr lang="en-US"/>
        </a:p>
      </dgm:t>
    </dgm:pt>
    <dgm:pt modelId="{37DCE661-73DA-254D-9C47-31F36F454596}" type="pres">
      <dgm:prSet presAssocID="{244474D5-971D-4549-BA32-8D72776A9F64}" presName="childNode1tx" presStyleLbl="bgAcc1" presStyleIdx="0" presStyleCnt="2">
        <dgm:presLayoutVars>
          <dgm:bulletEnabled val="1"/>
        </dgm:presLayoutVars>
      </dgm:prSet>
      <dgm:spPr/>
      <dgm:t>
        <a:bodyPr/>
        <a:lstStyle/>
        <a:p>
          <a:endParaRPr lang="en-US"/>
        </a:p>
      </dgm:t>
    </dgm:pt>
    <dgm:pt modelId="{0EDB7823-805F-D841-BC3E-5057EF91AFB9}" type="pres">
      <dgm:prSet presAssocID="{244474D5-971D-4549-BA32-8D72776A9F64}" presName="parentNode1" presStyleLbl="node1" presStyleIdx="0" presStyleCnt="2" custLinFactNeighborX="-52922" custLinFactNeighborY="-46825">
        <dgm:presLayoutVars>
          <dgm:chMax val="1"/>
          <dgm:bulletEnabled val="1"/>
        </dgm:presLayoutVars>
      </dgm:prSet>
      <dgm:spPr/>
      <dgm:t>
        <a:bodyPr/>
        <a:lstStyle/>
        <a:p>
          <a:endParaRPr lang="en-US"/>
        </a:p>
      </dgm:t>
    </dgm:pt>
    <dgm:pt modelId="{53A7DEB7-D86C-7B44-8653-8080D1FB0EFC}" type="pres">
      <dgm:prSet presAssocID="{244474D5-971D-4549-BA32-8D72776A9F64}" presName="connSite1" presStyleCnt="0"/>
      <dgm:spPr/>
    </dgm:pt>
    <dgm:pt modelId="{B52CFB27-320B-504A-9441-8D1FC79FF50E}" type="pres">
      <dgm:prSet presAssocID="{AD7D42ED-7632-C44B-9C3F-427E9090AA5B}" presName="Name9" presStyleLbl="sibTrans2D1" presStyleIdx="0" presStyleCnt="1" custLinFactNeighborX="20144" custLinFactNeighborY="-14770"/>
      <dgm:spPr/>
      <dgm:t>
        <a:bodyPr/>
        <a:lstStyle/>
        <a:p>
          <a:endParaRPr lang="en-US"/>
        </a:p>
      </dgm:t>
    </dgm:pt>
    <dgm:pt modelId="{B2E5F1B4-E773-FA49-9CBE-68C8B9E93E89}" type="pres">
      <dgm:prSet presAssocID="{9D8F27E9-34F3-5042-B551-ABBD03D5E7BF}" presName="composite2" presStyleCnt="0"/>
      <dgm:spPr/>
    </dgm:pt>
    <dgm:pt modelId="{2814E8B4-2E48-B84C-B593-312D07D4679F}" type="pres">
      <dgm:prSet presAssocID="{9D8F27E9-34F3-5042-B551-ABBD03D5E7BF}" presName="dummyNode2" presStyleLbl="node1" presStyleIdx="0" presStyleCnt="2"/>
      <dgm:spPr/>
    </dgm:pt>
    <dgm:pt modelId="{D64977FD-7EF0-7942-884A-12FFACCA051A}" type="pres">
      <dgm:prSet presAssocID="{9D8F27E9-34F3-5042-B551-ABBD03D5E7BF}" presName="childNode2" presStyleLbl="bgAcc1" presStyleIdx="1" presStyleCnt="2" custScaleX="119813" custScaleY="110544">
        <dgm:presLayoutVars>
          <dgm:bulletEnabled val="1"/>
        </dgm:presLayoutVars>
      </dgm:prSet>
      <dgm:spPr/>
      <dgm:t>
        <a:bodyPr/>
        <a:lstStyle/>
        <a:p>
          <a:endParaRPr lang="en-US"/>
        </a:p>
      </dgm:t>
    </dgm:pt>
    <dgm:pt modelId="{B50CDBFC-F4AE-C44C-A3E6-62434FEA9A66}" type="pres">
      <dgm:prSet presAssocID="{9D8F27E9-34F3-5042-B551-ABBD03D5E7BF}" presName="childNode2tx" presStyleLbl="bgAcc1" presStyleIdx="1" presStyleCnt="2">
        <dgm:presLayoutVars>
          <dgm:bulletEnabled val="1"/>
        </dgm:presLayoutVars>
      </dgm:prSet>
      <dgm:spPr/>
      <dgm:t>
        <a:bodyPr/>
        <a:lstStyle/>
        <a:p>
          <a:endParaRPr lang="en-US"/>
        </a:p>
      </dgm:t>
    </dgm:pt>
    <dgm:pt modelId="{164086FD-4FA6-5449-8EBF-2B9E8C67DB0F}" type="pres">
      <dgm:prSet presAssocID="{9D8F27E9-34F3-5042-B551-ABBD03D5E7BF}" presName="parentNode2" presStyleLbl="node1" presStyleIdx="1" presStyleCnt="2" custLinFactNeighborX="13514" custLinFactNeighborY="8024">
        <dgm:presLayoutVars>
          <dgm:chMax val="0"/>
          <dgm:bulletEnabled val="1"/>
        </dgm:presLayoutVars>
      </dgm:prSet>
      <dgm:spPr/>
      <dgm:t>
        <a:bodyPr/>
        <a:lstStyle/>
        <a:p>
          <a:endParaRPr lang="en-US"/>
        </a:p>
      </dgm:t>
    </dgm:pt>
    <dgm:pt modelId="{5EFB9BF3-E8F4-7A4D-A61D-93517125E97F}" type="pres">
      <dgm:prSet presAssocID="{9D8F27E9-34F3-5042-B551-ABBD03D5E7BF}" presName="connSite2" presStyleCnt="0"/>
      <dgm:spPr/>
    </dgm:pt>
  </dgm:ptLst>
  <dgm:cxnLst>
    <dgm:cxn modelId="{D5C5E20F-BA1B-D24D-967C-DB49ED1E76DD}" type="presOf" srcId="{244474D5-971D-4549-BA32-8D72776A9F64}" destId="{0EDB7823-805F-D841-BC3E-5057EF91AFB9}" srcOrd="0" destOrd="0" presId="urn:microsoft.com/office/officeart/2005/8/layout/hProcess4"/>
    <dgm:cxn modelId="{BAD65D4D-50EF-B04B-B47E-54F27F89EA86}" srcId="{9D8F27E9-34F3-5042-B551-ABBD03D5E7BF}" destId="{B1D41F93-0A1C-9844-B6DB-536339101D94}" srcOrd="0" destOrd="0" parTransId="{F1E3E441-D9E2-D243-8CE4-9915BE7372B0}" sibTransId="{3F4ADCFD-B1C1-124F-8AEF-57C95D3BFC4F}"/>
    <dgm:cxn modelId="{B66CB5BE-6C08-2B47-AF69-D1A988568F2C}" type="presOf" srcId="{9D8F27E9-34F3-5042-B551-ABBD03D5E7BF}" destId="{164086FD-4FA6-5449-8EBF-2B9E8C67DB0F}" srcOrd="0" destOrd="0" presId="urn:microsoft.com/office/officeart/2005/8/layout/hProcess4"/>
    <dgm:cxn modelId="{BBE83782-7761-924F-808F-B909374C4260}" srcId="{570E19DD-5792-FE40-B93A-604A4F805ADA}" destId="{9D8F27E9-34F3-5042-B551-ABBD03D5E7BF}" srcOrd="1" destOrd="0" parTransId="{4C7E66AD-91E1-8C47-94A3-391D7C91A74B}" sibTransId="{11D58F56-A8B7-5449-A138-CA70E84EA46D}"/>
    <dgm:cxn modelId="{3CCC2612-5C30-4F4B-BFA5-A724D07A0193}" type="presOf" srcId="{AD7D42ED-7632-C44B-9C3F-427E9090AA5B}" destId="{B52CFB27-320B-504A-9441-8D1FC79FF50E}" srcOrd="0" destOrd="0" presId="urn:microsoft.com/office/officeart/2005/8/layout/hProcess4"/>
    <dgm:cxn modelId="{6A7EB14D-E646-2047-859C-CDACFA10720F}" type="presOf" srcId="{570E19DD-5792-FE40-B93A-604A4F805ADA}" destId="{8B1ED56A-975D-964C-A86F-34EF65168927}" srcOrd="0" destOrd="0" presId="urn:microsoft.com/office/officeart/2005/8/layout/hProcess4"/>
    <dgm:cxn modelId="{A4A30F3F-4DF2-A54A-8299-D3425BEF0A85}" srcId="{244474D5-971D-4549-BA32-8D72776A9F64}" destId="{D10BDD67-6014-374E-8DC7-F7E1EAE760B6}" srcOrd="0" destOrd="0" parTransId="{A2C9D6DB-39E3-F244-A547-B41AFEE1B51F}" sibTransId="{335BA0EC-EBDB-DE47-8A9B-847FA0A02D9F}"/>
    <dgm:cxn modelId="{AFBE54E4-40EB-A843-B6CF-45616BC5F2E1}" type="presOf" srcId="{B1D41F93-0A1C-9844-B6DB-536339101D94}" destId="{D64977FD-7EF0-7942-884A-12FFACCA051A}" srcOrd="0" destOrd="0" presId="urn:microsoft.com/office/officeart/2005/8/layout/hProcess4"/>
    <dgm:cxn modelId="{C70A52EA-6427-D74E-AB98-D027A1388282}" type="presOf" srcId="{B1D41F93-0A1C-9844-B6DB-536339101D94}" destId="{B50CDBFC-F4AE-C44C-A3E6-62434FEA9A66}" srcOrd="1" destOrd="0" presId="urn:microsoft.com/office/officeart/2005/8/layout/hProcess4"/>
    <dgm:cxn modelId="{751520A8-0979-B844-8C52-F70EB2AC8930}" type="presOf" srcId="{D10BDD67-6014-374E-8DC7-F7E1EAE760B6}" destId="{37DCE661-73DA-254D-9C47-31F36F454596}" srcOrd="1" destOrd="0" presId="urn:microsoft.com/office/officeart/2005/8/layout/hProcess4"/>
    <dgm:cxn modelId="{1F2F4AFA-B9CF-E24A-9A61-5B326CE35BE9}" srcId="{570E19DD-5792-FE40-B93A-604A4F805ADA}" destId="{244474D5-971D-4549-BA32-8D72776A9F64}" srcOrd="0" destOrd="0" parTransId="{87285F1A-9237-DA4A-99FA-26C8423496D1}" sibTransId="{AD7D42ED-7632-C44B-9C3F-427E9090AA5B}"/>
    <dgm:cxn modelId="{B22F21C6-D551-7D41-98E9-83F447EDC6E6}" type="presOf" srcId="{D10BDD67-6014-374E-8DC7-F7E1EAE760B6}" destId="{900921B5-CC31-8F4E-94D3-D274653E1677}" srcOrd="0" destOrd="0" presId="urn:microsoft.com/office/officeart/2005/8/layout/hProcess4"/>
    <dgm:cxn modelId="{07EF9135-ED82-0D47-A83F-2A3047923873}" type="presParOf" srcId="{8B1ED56A-975D-964C-A86F-34EF65168927}" destId="{0F290E47-4AB4-8E49-83BF-CA9557565F22}" srcOrd="0" destOrd="0" presId="urn:microsoft.com/office/officeart/2005/8/layout/hProcess4"/>
    <dgm:cxn modelId="{C136730E-2631-7346-9B76-E24ACC17E960}" type="presParOf" srcId="{8B1ED56A-975D-964C-A86F-34EF65168927}" destId="{5C53FF6C-9B8C-2645-AF2E-7D8496BA09A3}" srcOrd="1" destOrd="0" presId="urn:microsoft.com/office/officeart/2005/8/layout/hProcess4"/>
    <dgm:cxn modelId="{039F5C66-707E-B84A-BEE1-760C2B536EE6}" type="presParOf" srcId="{8B1ED56A-975D-964C-A86F-34EF65168927}" destId="{BD37AD80-B853-1647-A31F-46BD7E6C0329}" srcOrd="2" destOrd="0" presId="urn:microsoft.com/office/officeart/2005/8/layout/hProcess4"/>
    <dgm:cxn modelId="{0301A4F5-E230-B84F-8920-5563186C4285}" type="presParOf" srcId="{BD37AD80-B853-1647-A31F-46BD7E6C0329}" destId="{DB50F421-0CC0-AD44-9948-DB069C989D9B}" srcOrd="0" destOrd="0" presId="urn:microsoft.com/office/officeart/2005/8/layout/hProcess4"/>
    <dgm:cxn modelId="{990F3329-F2B4-0B44-ABA5-4E98AE968978}" type="presParOf" srcId="{DB50F421-0CC0-AD44-9948-DB069C989D9B}" destId="{F6A448BB-153F-FA48-AAAD-907B1A285D00}" srcOrd="0" destOrd="0" presId="urn:microsoft.com/office/officeart/2005/8/layout/hProcess4"/>
    <dgm:cxn modelId="{BE704723-4821-824E-A85E-2DA9E49CBCEC}" type="presParOf" srcId="{DB50F421-0CC0-AD44-9948-DB069C989D9B}" destId="{900921B5-CC31-8F4E-94D3-D274653E1677}" srcOrd="1" destOrd="0" presId="urn:microsoft.com/office/officeart/2005/8/layout/hProcess4"/>
    <dgm:cxn modelId="{8B20547D-14B4-2D43-9364-F59F74D1EA55}" type="presParOf" srcId="{DB50F421-0CC0-AD44-9948-DB069C989D9B}" destId="{37DCE661-73DA-254D-9C47-31F36F454596}" srcOrd="2" destOrd="0" presId="urn:microsoft.com/office/officeart/2005/8/layout/hProcess4"/>
    <dgm:cxn modelId="{EDB13694-6EB4-BB47-A81B-2CB1F538DD78}" type="presParOf" srcId="{DB50F421-0CC0-AD44-9948-DB069C989D9B}" destId="{0EDB7823-805F-D841-BC3E-5057EF91AFB9}" srcOrd="3" destOrd="0" presId="urn:microsoft.com/office/officeart/2005/8/layout/hProcess4"/>
    <dgm:cxn modelId="{F4D84955-93A2-D945-8A55-AAFD73D78201}" type="presParOf" srcId="{DB50F421-0CC0-AD44-9948-DB069C989D9B}" destId="{53A7DEB7-D86C-7B44-8653-8080D1FB0EFC}" srcOrd="4" destOrd="0" presId="urn:microsoft.com/office/officeart/2005/8/layout/hProcess4"/>
    <dgm:cxn modelId="{32AC6631-2361-8740-92D1-C75A0084F6A6}" type="presParOf" srcId="{BD37AD80-B853-1647-A31F-46BD7E6C0329}" destId="{B52CFB27-320B-504A-9441-8D1FC79FF50E}" srcOrd="1" destOrd="0" presId="urn:microsoft.com/office/officeart/2005/8/layout/hProcess4"/>
    <dgm:cxn modelId="{60B6EF7E-3A13-F545-9112-DD497AAC22D6}" type="presParOf" srcId="{BD37AD80-B853-1647-A31F-46BD7E6C0329}" destId="{B2E5F1B4-E773-FA49-9CBE-68C8B9E93E89}" srcOrd="2" destOrd="0" presId="urn:microsoft.com/office/officeart/2005/8/layout/hProcess4"/>
    <dgm:cxn modelId="{6F50955C-0FCC-EE48-967B-B3B28017B81C}" type="presParOf" srcId="{B2E5F1B4-E773-FA49-9CBE-68C8B9E93E89}" destId="{2814E8B4-2E48-B84C-B593-312D07D4679F}" srcOrd="0" destOrd="0" presId="urn:microsoft.com/office/officeart/2005/8/layout/hProcess4"/>
    <dgm:cxn modelId="{075ED123-C3CC-E445-85CC-CCC80B113307}" type="presParOf" srcId="{B2E5F1B4-E773-FA49-9CBE-68C8B9E93E89}" destId="{D64977FD-7EF0-7942-884A-12FFACCA051A}" srcOrd="1" destOrd="0" presId="urn:microsoft.com/office/officeart/2005/8/layout/hProcess4"/>
    <dgm:cxn modelId="{296296E3-9167-2142-AFB1-DC7BA75C939B}" type="presParOf" srcId="{B2E5F1B4-E773-FA49-9CBE-68C8B9E93E89}" destId="{B50CDBFC-F4AE-C44C-A3E6-62434FEA9A66}" srcOrd="2" destOrd="0" presId="urn:microsoft.com/office/officeart/2005/8/layout/hProcess4"/>
    <dgm:cxn modelId="{68068279-7F7F-8F4D-9A94-75C46D2C922E}" type="presParOf" srcId="{B2E5F1B4-E773-FA49-9CBE-68C8B9E93E89}" destId="{164086FD-4FA6-5449-8EBF-2B9E8C67DB0F}" srcOrd="3" destOrd="0" presId="urn:microsoft.com/office/officeart/2005/8/layout/hProcess4"/>
    <dgm:cxn modelId="{EF374F9E-996D-F44D-9E13-CAB9560C048E}" type="presParOf" srcId="{B2E5F1B4-E773-FA49-9CBE-68C8B9E93E89}" destId="{5EFB9BF3-E8F4-7A4D-A61D-93517125E97F}" srcOrd="4" destOrd="0" presId="urn:microsoft.com/office/officeart/2005/8/layout/h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CC3EDF-C106-F141-B7D2-3E5708FFA0CB}"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0A7EC4B2-8E91-6F4A-960B-3A8A8FF5838B}">
      <dgm:prSet phldrT="[Text]" custT="1"/>
      <dgm:spPr>
        <a:solidFill>
          <a:schemeClr val="accent1"/>
        </a:solidFill>
        <a:ln>
          <a:solidFill>
            <a:schemeClr val="tx1"/>
          </a:solidFill>
        </a:ln>
      </dgm:spPr>
      <dgm:t>
        <a:bodyPr/>
        <a:lstStyle/>
        <a:p>
          <a:r>
            <a:rPr lang="en-US" sz="1400" b="1" i="0" dirty="0" smtClean="0">
              <a:solidFill>
                <a:schemeClr val="bg1"/>
              </a:solidFill>
              <a:effectLst>
                <a:outerShdw blurRad="38100" dist="38100" dir="2700000" algn="tl">
                  <a:srgbClr val="000000">
                    <a:alpha val="43137"/>
                  </a:srgbClr>
                </a:outerShdw>
              </a:effectLst>
            </a:rPr>
            <a:t>There are four general means of authenticating a user’s identity, which can be used alone or in combination</a:t>
          </a:r>
          <a:endParaRPr lang="en-US" sz="1400" b="1" i="0" dirty="0">
            <a:solidFill>
              <a:schemeClr val="bg1"/>
            </a:solidFill>
            <a:effectLst>
              <a:outerShdw blurRad="38100" dist="38100" dir="2700000" algn="tl">
                <a:srgbClr val="000000">
                  <a:alpha val="43137"/>
                </a:srgbClr>
              </a:outerShdw>
            </a:effectLst>
          </a:endParaRPr>
        </a:p>
      </dgm:t>
    </dgm:pt>
    <dgm:pt modelId="{7F772865-395B-B74D-AE95-62165E3715CF}" type="parTrans" cxnId="{C3C2AAF5-2A9D-DF4A-ADA2-119E8F496F3C}">
      <dgm:prSet/>
      <dgm:spPr/>
      <dgm:t>
        <a:bodyPr/>
        <a:lstStyle/>
        <a:p>
          <a:endParaRPr lang="en-US"/>
        </a:p>
      </dgm:t>
    </dgm:pt>
    <dgm:pt modelId="{CC53BC6C-A472-3B4A-89E9-FAFBD23A10AF}" type="sibTrans" cxnId="{C3C2AAF5-2A9D-DF4A-ADA2-119E8F496F3C}">
      <dgm:prSet/>
      <dgm:spPr/>
      <dgm:t>
        <a:bodyPr/>
        <a:lstStyle/>
        <a:p>
          <a:endParaRPr lang="en-US"/>
        </a:p>
      </dgm:t>
    </dgm:pt>
    <dgm:pt modelId="{28001875-D699-D94D-AB6C-2C5A9EF2EEE2}">
      <dgm:prSet custT="1"/>
      <dgm:spPr>
        <a:solidFill>
          <a:schemeClr val="bg1"/>
        </a:solidFill>
        <a:ln w="38100">
          <a:solidFill>
            <a:schemeClr val="accent1"/>
          </a:solidFill>
        </a:ln>
      </dgm:spPr>
      <dgm:t>
        <a:bodyPr/>
        <a:lstStyle/>
        <a:p>
          <a:r>
            <a:rPr lang="en-US" sz="1600" b="1" i="0" dirty="0" smtClean="0">
              <a:solidFill>
                <a:schemeClr val="tx1"/>
              </a:solidFill>
            </a:rPr>
            <a:t>Something the individual knows</a:t>
          </a:r>
        </a:p>
      </dgm:t>
    </dgm:pt>
    <dgm:pt modelId="{3E101151-60F3-8C45-BF42-5BC7848BBDE3}" type="parTrans" cxnId="{179473E0-E3B6-3C4F-B250-C2681AE20033}">
      <dgm:prSet/>
      <dgm:spPr/>
      <dgm:t>
        <a:bodyPr/>
        <a:lstStyle/>
        <a:p>
          <a:endParaRPr lang="en-US"/>
        </a:p>
      </dgm:t>
    </dgm:pt>
    <dgm:pt modelId="{22D8E162-C639-D54F-B99B-B98C10719FD1}" type="sibTrans" cxnId="{179473E0-E3B6-3C4F-B250-C2681AE20033}">
      <dgm:prSet/>
      <dgm:spPr/>
      <dgm:t>
        <a:bodyPr/>
        <a:lstStyle/>
        <a:p>
          <a:endParaRPr lang="en-US"/>
        </a:p>
      </dgm:t>
    </dgm:pt>
    <dgm:pt modelId="{665359FE-8281-4543-926A-9886B0466547}">
      <dgm:prSet custT="1"/>
      <dgm:spPr>
        <a:solidFill>
          <a:schemeClr val="bg1"/>
        </a:solidFill>
        <a:ln w="38100">
          <a:solidFill>
            <a:schemeClr val="accent1"/>
          </a:solidFill>
        </a:ln>
      </dgm:spPr>
      <dgm:t>
        <a:bodyPr/>
        <a:lstStyle/>
        <a:p>
          <a:r>
            <a:rPr lang="en-US" sz="1600" b="0" i="0" dirty="0" smtClean="0">
              <a:solidFill>
                <a:schemeClr val="tx1"/>
              </a:solidFill>
            </a:rPr>
            <a:t>Examples include a password, a personal identification number (PIN), or answers to a prearranged set of questions</a:t>
          </a:r>
        </a:p>
      </dgm:t>
    </dgm:pt>
    <dgm:pt modelId="{D8F144E2-DEAC-9442-85E5-B56E98A1748E}" type="parTrans" cxnId="{C5950C7B-546D-184C-AE19-40E60D5D2C07}">
      <dgm:prSet/>
      <dgm:spPr/>
      <dgm:t>
        <a:bodyPr/>
        <a:lstStyle/>
        <a:p>
          <a:endParaRPr lang="en-US"/>
        </a:p>
      </dgm:t>
    </dgm:pt>
    <dgm:pt modelId="{71A41394-6EB8-F141-8DBD-814452680B93}" type="sibTrans" cxnId="{C5950C7B-546D-184C-AE19-40E60D5D2C07}">
      <dgm:prSet/>
      <dgm:spPr/>
      <dgm:t>
        <a:bodyPr/>
        <a:lstStyle/>
        <a:p>
          <a:endParaRPr lang="en-US"/>
        </a:p>
      </dgm:t>
    </dgm:pt>
    <dgm:pt modelId="{BD032899-A007-C04B-B105-F065202525BF}">
      <dgm:prSet custT="1"/>
      <dgm:spPr>
        <a:solidFill>
          <a:schemeClr val="bg1"/>
        </a:solidFill>
        <a:ln w="38100">
          <a:solidFill>
            <a:schemeClr val="accent1"/>
          </a:solidFill>
        </a:ln>
      </dgm:spPr>
      <dgm:t>
        <a:bodyPr/>
        <a:lstStyle/>
        <a:p>
          <a:r>
            <a:rPr lang="en-US" sz="1600" b="1" i="0" dirty="0" smtClean="0">
              <a:solidFill>
                <a:schemeClr val="tx1"/>
              </a:solidFill>
            </a:rPr>
            <a:t>Something the individual possesses</a:t>
          </a:r>
        </a:p>
      </dgm:t>
    </dgm:pt>
    <dgm:pt modelId="{FE9C1EB0-4EED-304D-BA3B-A3BC1769E586}" type="parTrans" cxnId="{F2F9F786-3221-BC46-AB33-1A5E84F9CC21}">
      <dgm:prSet/>
      <dgm:spPr/>
      <dgm:t>
        <a:bodyPr/>
        <a:lstStyle/>
        <a:p>
          <a:endParaRPr lang="en-US"/>
        </a:p>
      </dgm:t>
    </dgm:pt>
    <dgm:pt modelId="{6E2D310F-2902-F045-B383-764B0609219E}" type="sibTrans" cxnId="{F2F9F786-3221-BC46-AB33-1A5E84F9CC21}">
      <dgm:prSet/>
      <dgm:spPr/>
      <dgm:t>
        <a:bodyPr/>
        <a:lstStyle/>
        <a:p>
          <a:endParaRPr lang="en-US"/>
        </a:p>
      </dgm:t>
    </dgm:pt>
    <dgm:pt modelId="{B2790C47-7AC7-C942-8F54-BB016D7B3E13}">
      <dgm:prSet custT="1"/>
      <dgm:spPr>
        <a:solidFill>
          <a:schemeClr val="bg1"/>
        </a:solidFill>
        <a:ln w="38100">
          <a:solidFill>
            <a:schemeClr val="accent1"/>
          </a:solidFill>
        </a:ln>
      </dgm:spPr>
      <dgm:t>
        <a:bodyPr/>
        <a:lstStyle/>
        <a:p>
          <a:r>
            <a:rPr lang="en-US" sz="1600" b="0" i="0" dirty="0" smtClean="0">
              <a:solidFill>
                <a:schemeClr val="tx1"/>
              </a:solidFill>
            </a:rPr>
            <a:t>Examples include cryptographic keys, electronic keycards, smart cards, and physical keys</a:t>
          </a:r>
        </a:p>
      </dgm:t>
    </dgm:pt>
    <dgm:pt modelId="{D704B110-3D33-5C49-BC63-F698E0010288}" type="parTrans" cxnId="{69536CA6-0135-DA46-ADD8-E7B705F7A9FA}">
      <dgm:prSet/>
      <dgm:spPr/>
      <dgm:t>
        <a:bodyPr/>
        <a:lstStyle/>
        <a:p>
          <a:endParaRPr lang="en-US"/>
        </a:p>
      </dgm:t>
    </dgm:pt>
    <dgm:pt modelId="{B83394AA-845B-CD48-882B-3BBA32C1434E}" type="sibTrans" cxnId="{69536CA6-0135-DA46-ADD8-E7B705F7A9FA}">
      <dgm:prSet/>
      <dgm:spPr/>
      <dgm:t>
        <a:bodyPr/>
        <a:lstStyle/>
        <a:p>
          <a:endParaRPr lang="en-US"/>
        </a:p>
      </dgm:t>
    </dgm:pt>
    <dgm:pt modelId="{6DC29E09-2E21-9C49-8703-65E43A9D7C7E}">
      <dgm:prSet custT="1"/>
      <dgm:spPr>
        <a:solidFill>
          <a:schemeClr val="bg1"/>
        </a:solidFill>
        <a:ln w="38100">
          <a:solidFill>
            <a:schemeClr val="accent1"/>
          </a:solidFill>
        </a:ln>
      </dgm:spPr>
      <dgm:t>
        <a:bodyPr/>
        <a:lstStyle/>
        <a:p>
          <a:r>
            <a:rPr lang="en-US" sz="1600" b="0" i="0" dirty="0" smtClean="0">
              <a:solidFill>
                <a:schemeClr val="tx1"/>
              </a:solidFill>
            </a:rPr>
            <a:t>This is referred to as a token</a:t>
          </a:r>
        </a:p>
      </dgm:t>
    </dgm:pt>
    <dgm:pt modelId="{FD37885D-ED06-4242-82CD-EE2C08AAA83D}" type="parTrans" cxnId="{C21BEC64-13EB-7B4D-B9E0-B14EAF4B5A83}">
      <dgm:prSet/>
      <dgm:spPr/>
      <dgm:t>
        <a:bodyPr/>
        <a:lstStyle/>
        <a:p>
          <a:endParaRPr lang="en-US"/>
        </a:p>
      </dgm:t>
    </dgm:pt>
    <dgm:pt modelId="{E345136C-FD81-A943-B4EF-05A92A54A472}" type="sibTrans" cxnId="{C21BEC64-13EB-7B4D-B9E0-B14EAF4B5A83}">
      <dgm:prSet/>
      <dgm:spPr/>
      <dgm:t>
        <a:bodyPr/>
        <a:lstStyle/>
        <a:p>
          <a:endParaRPr lang="en-US"/>
        </a:p>
      </dgm:t>
    </dgm:pt>
    <dgm:pt modelId="{51F9C107-0EC3-C047-A93A-3F4869735FE5}">
      <dgm:prSet custT="1"/>
      <dgm:spPr>
        <a:solidFill>
          <a:schemeClr val="bg1"/>
        </a:solidFill>
        <a:ln w="38100">
          <a:solidFill>
            <a:schemeClr val="accent1"/>
          </a:solidFill>
        </a:ln>
      </dgm:spPr>
      <dgm:t>
        <a:bodyPr/>
        <a:lstStyle/>
        <a:p>
          <a:r>
            <a:rPr lang="en-US" sz="1600" b="1" i="0" dirty="0" smtClean="0">
              <a:solidFill>
                <a:schemeClr val="tx1"/>
              </a:solidFill>
            </a:rPr>
            <a:t>Something the individual </a:t>
          </a:r>
          <a:r>
            <a:rPr lang="en-US" sz="1600" b="1" i="0" dirty="0" smtClean="0">
              <a:solidFill>
                <a:schemeClr val="tx1"/>
              </a:solidFill>
            </a:rPr>
            <a:t>is (</a:t>
          </a:r>
          <a:r>
            <a:rPr lang="en-US" sz="1600" b="1" i="0" dirty="0" smtClean="0">
              <a:solidFill>
                <a:schemeClr val="tx1"/>
              </a:solidFill>
            </a:rPr>
            <a:t>static biometrics)</a:t>
          </a:r>
        </a:p>
      </dgm:t>
    </dgm:pt>
    <dgm:pt modelId="{5A6141A0-4B98-BA43-8455-951068DF1C23}" type="parTrans" cxnId="{957298E0-2BC1-5641-9A4D-CB35AF7B2BB5}">
      <dgm:prSet/>
      <dgm:spPr/>
      <dgm:t>
        <a:bodyPr/>
        <a:lstStyle/>
        <a:p>
          <a:endParaRPr lang="en-US"/>
        </a:p>
      </dgm:t>
    </dgm:pt>
    <dgm:pt modelId="{BA1E137A-D1F7-224A-B836-F6DB4229EED5}" type="sibTrans" cxnId="{957298E0-2BC1-5641-9A4D-CB35AF7B2BB5}">
      <dgm:prSet/>
      <dgm:spPr/>
      <dgm:t>
        <a:bodyPr/>
        <a:lstStyle/>
        <a:p>
          <a:endParaRPr lang="en-US"/>
        </a:p>
      </dgm:t>
    </dgm:pt>
    <dgm:pt modelId="{7A58DE46-5D06-7444-8465-6144DF22194F}">
      <dgm:prSet custT="1"/>
      <dgm:spPr>
        <a:solidFill>
          <a:schemeClr val="bg1"/>
        </a:solidFill>
        <a:ln w="38100">
          <a:solidFill>
            <a:schemeClr val="accent1"/>
          </a:solidFill>
        </a:ln>
      </dgm:spPr>
      <dgm:t>
        <a:bodyPr/>
        <a:lstStyle/>
        <a:p>
          <a:r>
            <a:rPr lang="en-US" sz="1600" b="0" i="0" dirty="0" smtClean="0">
              <a:solidFill>
                <a:schemeClr val="tx1"/>
              </a:solidFill>
            </a:rPr>
            <a:t>Examples include recognition by fingerprint, retina, and face</a:t>
          </a:r>
        </a:p>
      </dgm:t>
    </dgm:pt>
    <dgm:pt modelId="{31BB3FB1-E4BC-6542-BE90-0EFE0B63E3A3}" type="parTrans" cxnId="{38D9A8C6-BA45-074E-A2FA-72BDDD01AAD1}">
      <dgm:prSet/>
      <dgm:spPr/>
      <dgm:t>
        <a:bodyPr/>
        <a:lstStyle/>
        <a:p>
          <a:endParaRPr lang="en-US"/>
        </a:p>
      </dgm:t>
    </dgm:pt>
    <dgm:pt modelId="{44B37A57-E780-3040-8B43-3D0D424B9C5C}" type="sibTrans" cxnId="{38D9A8C6-BA45-074E-A2FA-72BDDD01AAD1}">
      <dgm:prSet/>
      <dgm:spPr/>
      <dgm:t>
        <a:bodyPr/>
        <a:lstStyle/>
        <a:p>
          <a:endParaRPr lang="en-US"/>
        </a:p>
      </dgm:t>
    </dgm:pt>
    <dgm:pt modelId="{5F2B4D3F-B5AA-8847-B478-F97049166A61}">
      <dgm:prSet custT="1"/>
      <dgm:spPr>
        <a:solidFill>
          <a:schemeClr val="bg1"/>
        </a:solidFill>
        <a:ln w="38100">
          <a:solidFill>
            <a:schemeClr val="accent1"/>
          </a:solidFill>
        </a:ln>
      </dgm:spPr>
      <dgm:t>
        <a:bodyPr/>
        <a:lstStyle/>
        <a:p>
          <a:r>
            <a:rPr lang="en-US" sz="1600" b="1" i="0" dirty="0" smtClean="0">
              <a:solidFill>
                <a:schemeClr val="tx1"/>
              </a:solidFill>
            </a:rPr>
            <a:t>Something the individual does (dynamic biometrics)</a:t>
          </a:r>
        </a:p>
      </dgm:t>
    </dgm:pt>
    <dgm:pt modelId="{3AF83B4A-19C2-9E41-B0F5-DF50739C92D0}" type="parTrans" cxnId="{20A5FFD9-1755-764C-8AAF-0749D788A4FD}">
      <dgm:prSet/>
      <dgm:spPr/>
      <dgm:t>
        <a:bodyPr/>
        <a:lstStyle/>
        <a:p>
          <a:endParaRPr lang="en-US"/>
        </a:p>
      </dgm:t>
    </dgm:pt>
    <dgm:pt modelId="{03AC5ABF-0D32-A34F-9803-FB340C6D5423}" type="sibTrans" cxnId="{20A5FFD9-1755-764C-8AAF-0749D788A4FD}">
      <dgm:prSet/>
      <dgm:spPr/>
      <dgm:t>
        <a:bodyPr/>
        <a:lstStyle/>
        <a:p>
          <a:endParaRPr lang="en-US"/>
        </a:p>
      </dgm:t>
    </dgm:pt>
    <dgm:pt modelId="{3D2163D2-9B59-924C-B184-4A8985166780}">
      <dgm:prSet custT="1"/>
      <dgm:spPr>
        <a:solidFill>
          <a:schemeClr val="bg1"/>
        </a:solidFill>
        <a:ln w="38100">
          <a:solidFill>
            <a:schemeClr val="accent1"/>
          </a:solidFill>
        </a:ln>
      </dgm:spPr>
      <dgm:t>
        <a:bodyPr/>
        <a:lstStyle/>
        <a:p>
          <a:r>
            <a:rPr lang="en-US" sz="1600" b="0" i="0" dirty="0" smtClean="0">
              <a:solidFill>
                <a:schemeClr val="tx1"/>
              </a:solidFill>
            </a:rPr>
            <a:t>Examples include recognition by voice pattern, handwriting characteristics, and typing rhythm</a:t>
          </a:r>
        </a:p>
      </dgm:t>
    </dgm:pt>
    <dgm:pt modelId="{014A7122-F640-2549-8E38-AC1EA2FD2202}" type="parTrans" cxnId="{87EF9F83-E037-D849-AFF9-6662B6DC77EA}">
      <dgm:prSet/>
      <dgm:spPr/>
      <dgm:t>
        <a:bodyPr/>
        <a:lstStyle/>
        <a:p>
          <a:endParaRPr lang="en-US"/>
        </a:p>
      </dgm:t>
    </dgm:pt>
    <dgm:pt modelId="{C79F7D77-7959-9E49-B8E9-9B90FD215C87}" type="sibTrans" cxnId="{87EF9F83-E037-D849-AFF9-6662B6DC77EA}">
      <dgm:prSet/>
      <dgm:spPr/>
      <dgm:t>
        <a:bodyPr/>
        <a:lstStyle/>
        <a:p>
          <a:endParaRPr lang="en-US"/>
        </a:p>
      </dgm:t>
    </dgm:pt>
    <dgm:pt modelId="{C61A0115-AB12-FA46-869D-AA194F831FE3}" type="pres">
      <dgm:prSet presAssocID="{7BCC3EDF-C106-F141-B7D2-3E5708FFA0CB}" presName="diagram" presStyleCnt="0">
        <dgm:presLayoutVars>
          <dgm:chMax val="1"/>
          <dgm:dir/>
          <dgm:animLvl val="ctr"/>
          <dgm:resizeHandles val="exact"/>
        </dgm:presLayoutVars>
      </dgm:prSet>
      <dgm:spPr/>
      <dgm:t>
        <a:bodyPr/>
        <a:lstStyle/>
        <a:p>
          <a:endParaRPr lang="en-US"/>
        </a:p>
      </dgm:t>
    </dgm:pt>
    <dgm:pt modelId="{6BA938A2-180E-6F4F-94F0-ADD3D177E89F}" type="pres">
      <dgm:prSet presAssocID="{7BCC3EDF-C106-F141-B7D2-3E5708FFA0CB}" presName="matrix" presStyleCnt="0"/>
      <dgm:spPr/>
    </dgm:pt>
    <dgm:pt modelId="{716C6E66-6D8D-EE4A-B36D-2388F1ABF5C2}" type="pres">
      <dgm:prSet presAssocID="{7BCC3EDF-C106-F141-B7D2-3E5708FFA0CB}" presName="tile1" presStyleLbl="node1" presStyleIdx="0" presStyleCnt="4"/>
      <dgm:spPr/>
      <dgm:t>
        <a:bodyPr/>
        <a:lstStyle/>
        <a:p>
          <a:endParaRPr lang="en-US"/>
        </a:p>
      </dgm:t>
    </dgm:pt>
    <dgm:pt modelId="{3C2361F2-CD6A-9541-BA49-3ED56B1C1AEC}" type="pres">
      <dgm:prSet presAssocID="{7BCC3EDF-C106-F141-B7D2-3E5708FFA0CB}" presName="tile1text" presStyleLbl="node1" presStyleIdx="0" presStyleCnt="4">
        <dgm:presLayoutVars>
          <dgm:chMax val="0"/>
          <dgm:chPref val="0"/>
          <dgm:bulletEnabled val="1"/>
        </dgm:presLayoutVars>
      </dgm:prSet>
      <dgm:spPr/>
      <dgm:t>
        <a:bodyPr/>
        <a:lstStyle/>
        <a:p>
          <a:endParaRPr lang="en-US"/>
        </a:p>
      </dgm:t>
    </dgm:pt>
    <dgm:pt modelId="{E33CCF0F-3973-8E4B-AFC2-9E3BFB300320}" type="pres">
      <dgm:prSet presAssocID="{7BCC3EDF-C106-F141-B7D2-3E5708FFA0CB}" presName="tile2" presStyleLbl="node1" presStyleIdx="1" presStyleCnt="4"/>
      <dgm:spPr/>
      <dgm:t>
        <a:bodyPr/>
        <a:lstStyle/>
        <a:p>
          <a:endParaRPr lang="en-US"/>
        </a:p>
      </dgm:t>
    </dgm:pt>
    <dgm:pt modelId="{3964FF08-51CD-8E4A-A52B-CE0591C80803}" type="pres">
      <dgm:prSet presAssocID="{7BCC3EDF-C106-F141-B7D2-3E5708FFA0CB}" presName="tile2text" presStyleLbl="node1" presStyleIdx="1" presStyleCnt="4">
        <dgm:presLayoutVars>
          <dgm:chMax val="0"/>
          <dgm:chPref val="0"/>
          <dgm:bulletEnabled val="1"/>
        </dgm:presLayoutVars>
      </dgm:prSet>
      <dgm:spPr/>
      <dgm:t>
        <a:bodyPr/>
        <a:lstStyle/>
        <a:p>
          <a:endParaRPr lang="en-US"/>
        </a:p>
      </dgm:t>
    </dgm:pt>
    <dgm:pt modelId="{59447268-F71E-A04B-AABB-B2CD824296C8}" type="pres">
      <dgm:prSet presAssocID="{7BCC3EDF-C106-F141-B7D2-3E5708FFA0CB}" presName="tile3" presStyleLbl="node1" presStyleIdx="2" presStyleCnt="4"/>
      <dgm:spPr/>
      <dgm:t>
        <a:bodyPr/>
        <a:lstStyle/>
        <a:p>
          <a:endParaRPr lang="en-US"/>
        </a:p>
      </dgm:t>
    </dgm:pt>
    <dgm:pt modelId="{45B707E8-4577-EC49-A346-FCED2702903B}" type="pres">
      <dgm:prSet presAssocID="{7BCC3EDF-C106-F141-B7D2-3E5708FFA0CB}" presName="tile3text" presStyleLbl="node1" presStyleIdx="2" presStyleCnt="4">
        <dgm:presLayoutVars>
          <dgm:chMax val="0"/>
          <dgm:chPref val="0"/>
          <dgm:bulletEnabled val="1"/>
        </dgm:presLayoutVars>
      </dgm:prSet>
      <dgm:spPr/>
      <dgm:t>
        <a:bodyPr/>
        <a:lstStyle/>
        <a:p>
          <a:endParaRPr lang="en-US"/>
        </a:p>
      </dgm:t>
    </dgm:pt>
    <dgm:pt modelId="{467BDF3E-6D34-FA47-810C-C7A7578EB239}" type="pres">
      <dgm:prSet presAssocID="{7BCC3EDF-C106-F141-B7D2-3E5708FFA0CB}" presName="tile4" presStyleLbl="node1" presStyleIdx="3" presStyleCnt="4"/>
      <dgm:spPr/>
      <dgm:t>
        <a:bodyPr/>
        <a:lstStyle/>
        <a:p>
          <a:endParaRPr lang="en-US"/>
        </a:p>
      </dgm:t>
    </dgm:pt>
    <dgm:pt modelId="{5C789DE4-B3C3-A748-808B-2C26450EC1CD}" type="pres">
      <dgm:prSet presAssocID="{7BCC3EDF-C106-F141-B7D2-3E5708FFA0CB}" presName="tile4text" presStyleLbl="node1" presStyleIdx="3" presStyleCnt="4">
        <dgm:presLayoutVars>
          <dgm:chMax val="0"/>
          <dgm:chPref val="0"/>
          <dgm:bulletEnabled val="1"/>
        </dgm:presLayoutVars>
      </dgm:prSet>
      <dgm:spPr/>
      <dgm:t>
        <a:bodyPr/>
        <a:lstStyle/>
        <a:p>
          <a:endParaRPr lang="en-US"/>
        </a:p>
      </dgm:t>
    </dgm:pt>
    <dgm:pt modelId="{B4F1DF56-0CCF-E242-9FDC-CAAD6A8AFBAE}" type="pres">
      <dgm:prSet presAssocID="{7BCC3EDF-C106-F141-B7D2-3E5708FFA0CB}" presName="centerTile" presStyleLbl="fgShp" presStyleIdx="0" presStyleCnt="1" custScaleX="106227" custScaleY="109589">
        <dgm:presLayoutVars>
          <dgm:chMax val="0"/>
          <dgm:chPref val="0"/>
        </dgm:presLayoutVars>
      </dgm:prSet>
      <dgm:spPr/>
      <dgm:t>
        <a:bodyPr/>
        <a:lstStyle/>
        <a:p>
          <a:endParaRPr lang="en-US"/>
        </a:p>
      </dgm:t>
    </dgm:pt>
  </dgm:ptLst>
  <dgm:cxnLst>
    <dgm:cxn modelId="{BDFC6C0B-7DB2-D846-B334-2A5F0280561F}" type="presOf" srcId="{B2790C47-7AC7-C942-8F54-BB016D7B3E13}" destId="{E33CCF0F-3973-8E4B-AFC2-9E3BFB300320}" srcOrd="0" destOrd="1" presId="urn:microsoft.com/office/officeart/2005/8/layout/matrix1"/>
    <dgm:cxn modelId="{39149425-2A49-A04A-A30D-435AAF97F444}" type="presOf" srcId="{B2790C47-7AC7-C942-8F54-BB016D7B3E13}" destId="{3964FF08-51CD-8E4A-A52B-CE0591C80803}" srcOrd="1" destOrd="1" presId="urn:microsoft.com/office/officeart/2005/8/layout/matrix1"/>
    <dgm:cxn modelId="{91E4E7F8-A4FE-444C-95BB-757468EC1ABD}" type="presOf" srcId="{7BCC3EDF-C106-F141-B7D2-3E5708FFA0CB}" destId="{C61A0115-AB12-FA46-869D-AA194F831FE3}" srcOrd="0" destOrd="0" presId="urn:microsoft.com/office/officeart/2005/8/layout/matrix1"/>
    <dgm:cxn modelId="{DAF70DDF-A451-6E42-8610-168024CA1B9A}" type="presOf" srcId="{6DC29E09-2E21-9C49-8703-65E43A9D7C7E}" destId="{3964FF08-51CD-8E4A-A52B-CE0591C80803}" srcOrd="1" destOrd="2" presId="urn:microsoft.com/office/officeart/2005/8/layout/matrix1"/>
    <dgm:cxn modelId="{C5950C7B-546D-184C-AE19-40E60D5D2C07}" srcId="{28001875-D699-D94D-AB6C-2C5A9EF2EEE2}" destId="{665359FE-8281-4543-926A-9886B0466547}" srcOrd="0" destOrd="0" parTransId="{D8F144E2-DEAC-9442-85E5-B56E98A1748E}" sibTransId="{71A41394-6EB8-F141-8DBD-814452680B93}"/>
    <dgm:cxn modelId="{D1F8EB3D-C3D7-F04B-9123-540203B17B83}" type="presOf" srcId="{51F9C107-0EC3-C047-A93A-3F4869735FE5}" destId="{59447268-F71E-A04B-AABB-B2CD824296C8}" srcOrd="0" destOrd="0" presId="urn:microsoft.com/office/officeart/2005/8/layout/matrix1"/>
    <dgm:cxn modelId="{F2F9F786-3221-BC46-AB33-1A5E84F9CC21}" srcId="{0A7EC4B2-8E91-6F4A-960B-3A8A8FF5838B}" destId="{BD032899-A007-C04B-B105-F065202525BF}" srcOrd="1" destOrd="0" parTransId="{FE9C1EB0-4EED-304D-BA3B-A3BC1769E586}" sibTransId="{6E2D310F-2902-F045-B383-764B0609219E}"/>
    <dgm:cxn modelId="{18709ED7-E693-C046-AC44-26B4ACF1B2FE}" type="presOf" srcId="{6DC29E09-2E21-9C49-8703-65E43A9D7C7E}" destId="{E33CCF0F-3973-8E4B-AFC2-9E3BFB300320}" srcOrd="0" destOrd="2" presId="urn:microsoft.com/office/officeart/2005/8/layout/matrix1"/>
    <dgm:cxn modelId="{28B72F00-8798-6049-A681-F7AE4FE5AF12}" type="presOf" srcId="{BD032899-A007-C04B-B105-F065202525BF}" destId="{E33CCF0F-3973-8E4B-AFC2-9E3BFB300320}" srcOrd="0" destOrd="0" presId="urn:microsoft.com/office/officeart/2005/8/layout/matrix1"/>
    <dgm:cxn modelId="{20A5FFD9-1755-764C-8AAF-0749D788A4FD}" srcId="{0A7EC4B2-8E91-6F4A-960B-3A8A8FF5838B}" destId="{5F2B4D3F-B5AA-8847-B478-F97049166A61}" srcOrd="3" destOrd="0" parTransId="{3AF83B4A-19C2-9E41-B0F5-DF50739C92D0}" sibTransId="{03AC5ABF-0D32-A34F-9803-FB340C6D5423}"/>
    <dgm:cxn modelId="{179473E0-E3B6-3C4F-B250-C2681AE20033}" srcId="{0A7EC4B2-8E91-6F4A-960B-3A8A8FF5838B}" destId="{28001875-D699-D94D-AB6C-2C5A9EF2EEE2}" srcOrd="0" destOrd="0" parTransId="{3E101151-60F3-8C45-BF42-5BC7848BBDE3}" sibTransId="{22D8E162-C639-D54F-B99B-B98C10719FD1}"/>
    <dgm:cxn modelId="{B825BED2-56E1-9E4A-8F4F-E4935F1F0C60}" type="presOf" srcId="{3D2163D2-9B59-924C-B184-4A8985166780}" destId="{5C789DE4-B3C3-A748-808B-2C26450EC1CD}" srcOrd="1" destOrd="1" presId="urn:microsoft.com/office/officeart/2005/8/layout/matrix1"/>
    <dgm:cxn modelId="{C21BEC64-13EB-7B4D-B9E0-B14EAF4B5A83}" srcId="{B2790C47-7AC7-C942-8F54-BB016D7B3E13}" destId="{6DC29E09-2E21-9C49-8703-65E43A9D7C7E}" srcOrd="0" destOrd="0" parTransId="{FD37885D-ED06-4242-82CD-EE2C08AAA83D}" sibTransId="{E345136C-FD81-A943-B4EF-05A92A54A472}"/>
    <dgm:cxn modelId="{87EF9F83-E037-D849-AFF9-6662B6DC77EA}" srcId="{5F2B4D3F-B5AA-8847-B478-F97049166A61}" destId="{3D2163D2-9B59-924C-B184-4A8985166780}" srcOrd="0" destOrd="0" parTransId="{014A7122-F640-2549-8E38-AC1EA2FD2202}" sibTransId="{C79F7D77-7959-9E49-B8E9-9B90FD215C87}"/>
    <dgm:cxn modelId="{81237842-CABB-654E-B017-21F90AED5EE3}" type="presOf" srcId="{3D2163D2-9B59-924C-B184-4A8985166780}" destId="{467BDF3E-6D34-FA47-810C-C7A7578EB239}" srcOrd="0" destOrd="1" presId="urn:microsoft.com/office/officeart/2005/8/layout/matrix1"/>
    <dgm:cxn modelId="{60CA9581-C508-5341-8607-46FA29215CD4}" type="presOf" srcId="{51F9C107-0EC3-C047-A93A-3F4869735FE5}" destId="{45B707E8-4577-EC49-A346-FCED2702903B}" srcOrd="1" destOrd="0" presId="urn:microsoft.com/office/officeart/2005/8/layout/matrix1"/>
    <dgm:cxn modelId="{C3C2AAF5-2A9D-DF4A-ADA2-119E8F496F3C}" srcId="{7BCC3EDF-C106-F141-B7D2-3E5708FFA0CB}" destId="{0A7EC4B2-8E91-6F4A-960B-3A8A8FF5838B}" srcOrd="0" destOrd="0" parTransId="{7F772865-395B-B74D-AE95-62165E3715CF}" sibTransId="{CC53BC6C-A472-3B4A-89E9-FAFBD23A10AF}"/>
    <dgm:cxn modelId="{A2F4C67E-077E-6F4C-9255-017F9E23608F}" type="presOf" srcId="{28001875-D699-D94D-AB6C-2C5A9EF2EEE2}" destId="{3C2361F2-CD6A-9541-BA49-3ED56B1C1AEC}" srcOrd="1" destOrd="0" presId="urn:microsoft.com/office/officeart/2005/8/layout/matrix1"/>
    <dgm:cxn modelId="{4986F8F3-E9B6-E349-9238-2AF8B59FD50F}" type="presOf" srcId="{7A58DE46-5D06-7444-8465-6144DF22194F}" destId="{45B707E8-4577-EC49-A346-FCED2702903B}" srcOrd="1" destOrd="1" presId="urn:microsoft.com/office/officeart/2005/8/layout/matrix1"/>
    <dgm:cxn modelId="{63DFEBC8-6448-CD4D-83F5-C88470B9BA4B}" type="presOf" srcId="{28001875-D699-D94D-AB6C-2C5A9EF2EEE2}" destId="{716C6E66-6D8D-EE4A-B36D-2388F1ABF5C2}" srcOrd="0" destOrd="0" presId="urn:microsoft.com/office/officeart/2005/8/layout/matrix1"/>
    <dgm:cxn modelId="{957298E0-2BC1-5641-9A4D-CB35AF7B2BB5}" srcId="{0A7EC4B2-8E91-6F4A-960B-3A8A8FF5838B}" destId="{51F9C107-0EC3-C047-A93A-3F4869735FE5}" srcOrd="2" destOrd="0" parTransId="{5A6141A0-4B98-BA43-8455-951068DF1C23}" sibTransId="{BA1E137A-D1F7-224A-B836-F6DB4229EED5}"/>
    <dgm:cxn modelId="{321AAF07-10A1-2245-8997-858B36D8EB73}" type="presOf" srcId="{665359FE-8281-4543-926A-9886B0466547}" destId="{3C2361F2-CD6A-9541-BA49-3ED56B1C1AEC}" srcOrd="1" destOrd="1" presId="urn:microsoft.com/office/officeart/2005/8/layout/matrix1"/>
    <dgm:cxn modelId="{277C7593-F4E2-0D4F-A94E-73130C7C5D36}" type="presOf" srcId="{7A58DE46-5D06-7444-8465-6144DF22194F}" destId="{59447268-F71E-A04B-AABB-B2CD824296C8}" srcOrd="0" destOrd="1" presId="urn:microsoft.com/office/officeart/2005/8/layout/matrix1"/>
    <dgm:cxn modelId="{56D9A851-0145-C342-87BA-1957BF5A3938}" type="presOf" srcId="{5F2B4D3F-B5AA-8847-B478-F97049166A61}" destId="{467BDF3E-6D34-FA47-810C-C7A7578EB239}" srcOrd="0" destOrd="0" presId="urn:microsoft.com/office/officeart/2005/8/layout/matrix1"/>
    <dgm:cxn modelId="{F748D47E-858E-CC43-A825-9C0E97388D97}" type="presOf" srcId="{0A7EC4B2-8E91-6F4A-960B-3A8A8FF5838B}" destId="{B4F1DF56-0CCF-E242-9FDC-CAAD6A8AFBAE}" srcOrd="0" destOrd="0" presId="urn:microsoft.com/office/officeart/2005/8/layout/matrix1"/>
    <dgm:cxn modelId="{69536CA6-0135-DA46-ADD8-E7B705F7A9FA}" srcId="{BD032899-A007-C04B-B105-F065202525BF}" destId="{B2790C47-7AC7-C942-8F54-BB016D7B3E13}" srcOrd="0" destOrd="0" parTransId="{D704B110-3D33-5C49-BC63-F698E0010288}" sibTransId="{B83394AA-845B-CD48-882B-3BBA32C1434E}"/>
    <dgm:cxn modelId="{2103BDBA-A0DD-5346-B731-0306D044697E}" type="presOf" srcId="{5F2B4D3F-B5AA-8847-B478-F97049166A61}" destId="{5C789DE4-B3C3-A748-808B-2C26450EC1CD}" srcOrd="1" destOrd="0" presId="urn:microsoft.com/office/officeart/2005/8/layout/matrix1"/>
    <dgm:cxn modelId="{4335F6DF-2CF3-724C-A97D-5C259D0498DC}" type="presOf" srcId="{BD032899-A007-C04B-B105-F065202525BF}" destId="{3964FF08-51CD-8E4A-A52B-CE0591C80803}" srcOrd="1" destOrd="0" presId="urn:microsoft.com/office/officeart/2005/8/layout/matrix1"/>
    <dgm:cxn modelId="{38D9A8C6-BA45-074E-A2FA-72BDDD01AAD1}" srcId="{51F9C107-0EC3-C047-A93A-3F4869735FE5}" destId="{7A58DE46-5D06-7444-8465-6144DF22194F}" srcOrd="0" destOrd="0" parTransId="{31BB3FB1-E4BC-6542-BE90-0EFE0B63E3A3}" sibTransId="{44B37A57-E780-3040-8B43-3D0D424B9C5C}"/>
    <dgm:cxn modelId="{BA12B43F-4ACE-FD4E-AA5B-2AD3F26C42E2}" type="presOf" srcId="{665359FE-8281-4543-926A-9886B0466547}" destId="{716C6E66-6D8D-EE4A-B36D-2388F1ABF5C2}" srcOrd="0" destOrd="1" presId="urn:microsoft.com/office/officeart/2005/8/layout/matrix1"/>
    <dgm:cxn modelId="{24F7A38E-C03B-A84E-9D99-148F4DBA6379}" type="presParOf" srcId="{C61A0115-AB12-FA46-869D-AA194F831FE3}" destId="{6BA938A2-180E-6F4F-94F0-ADD3D177E89F}" srcOrd="0" destOrd="0" presId="urn:microsoft.com/office/officeart/2005/8/layout/matrix1"/>
    <dgm:cxn modelId="{D89B16D0-E05E-E64C-8223-2416076F5051}" type="presParOf" srcId="{6BA938A2-180E-6F4F-94F0-ADD3D177E89F}" destId="{716C6E66-6D8D-EE4A-B36D-2388F1ABF5C2}" srcOrd="0" destOrd="0" presId="urn:microsoft.com/office/officeart/2005/8/layout/matrix1"/>
    <dgm:cxn modelId="{78E37F23-2901-EA46-A719-4ED7724F8779}" type="presParOf" srcId="{6BA938A2-180E-6F4F-94F0-ADD3D177E89F}" destId="{3C2361F2-CD6A-9541-BA49-3ED56B1C1AEC}" srcOrd="1" destOrd="0" presId="urn:microsoft.com/office/officeart/2005/8/layout/matrix1"/>
    <dgm:cxn modelId="{A20411B5-CFDE-9B4B-8153-4B1B01EBEEC3}" type="presParOf" srcId="{6BA938A2-180E-6F4F-94F0-ADD3D177E89F}" destId="{E33CCF0F-3973-8E4B-AFC2-9E3BFB300320}" srcOrd="2" destOrd="0" presId="urn:microsoft.com/office/officeart/2005/8/layout/matrix1"/>
    <dgm:cxn modelId="{1A9B82D1-DA41-DF46-AB61-DCEE5016A9B4}" type="presParOf" srcId="{6BA938A2-180E-6F4F-94F0-ADD3D177E89F}" destId="{3964FF08-51CD-8E4A-A52B-CE0591C80803}" srcOrd="3" destOrd="0" presId="urn:microsoft.com/office/officeart/2005/8/layout/matrix1"/>
    <dgm:cxn modelId="{B50139EA-399A-CE4B-BF44-797D9177DF31}" type="presParOf" srcId="{6BA938A2-180E-6F4F-94F0-ADD3D177E89F}" destId="{59447268-F71E-A04B-AABB-B2CD824296C8}" srcOrd="4" destOrd="0" presId="urn:microsoft.com/office/officeart/2005/8/layout/matrix1"/>
    <dgm:cxn modelId="{A8F2FB67-7402-FE43-9E97-3B502D6195CD}" type="presParOf" srcId="{6BA938A2-180E-6F4F-94F0-ADD3D177E89F}" destId="{45B707E8-4577-EC49-A346-FCED2702903B}" srcOrd="5" destOrd="0" presId="urn:microsoft.com/office/officeart/2005/8/layout/matrix1"/>
    <dgm:cxn modelId="{66368D39-EF34-4A49-B43D-90D4D0CD91E5}" type="presParOf" srcId="{6BA938A2-180E-6F4F-94F0-ADD3D177E89F}" destId="{467BDF3E-6D34-FA47-810C-C7A7578EB239}" srcOrd="6" destOrd="0" presId="urn:microsoft.com/office/officeart/2005/8/layout/matrix1"/>
    <dgm:cxn modelId="{3EBEB9D7-C4FE-9A4C-BCBC-E5191ED2F3AB}" type="presParOf" srcId="{6BA938A2-180E-6F4F-94F0-ADD3D177E89F}" destId="{5C789DE4-B3C3-A748-808B-2C26450EC1CD}" srcOrd="7" destOrd="0" presId="urn:microsoft.com/office/officeart/2005/8/layout/matrix1"/>
    <dgm:cxn modelId="{9B37A963-37D0-784A-8BF2-DFF21738677D}" type="presParOf" srcId="{C61A0115-AB12-FA46-869D-AA194F831FE3}" destId="{B4F1DF56-0CCF-E242-9FDC-CAAD6A8AFBAE}" srcOrd="1" destOrd="0" presId="urn:microsoft.com/office/officeart/2005/8/layout/matrix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2A9FE5-F034-EF49-9E33-E67A70529487}"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42A1BA9C-61D5-EE4E-B529-680C2C0B779B}">
      <dgm:prSet phldrT="[Text]" custT="1"/>
      <dgm:spPr>
        <a:solidFill>
          <a:schemeClr val="bg1"/>
        </a:solidFill>
        <a:ln>
          <a:solidFill>
            <a:schemeClr val="accent1"/>
          </a:solidFill>
        </a:ln>
      </dgm:spPr>
      <dgm:t>
        <a:bodyPr/>
        <a:lstStyle/>
        <a:p>
          <a:r>
            <a:rPr lang="en-US" sz="1400" dirty="0" smtClean="0">
              <a:solidFill>
                <a:schemeClr val="tx1"/>
              </a:solidFill>
            </a:rPr>
            <a:t>Central to the problem of authenticated key exchange are two issues:</a:t>
          </a:r>
          <a:endParaRPr lang="en-US" sz="1400" dirty="0">
            <a:solidFill>
              <a:schemeClr val="tx1"/>
            </a:solidFill>
          </a:endParaRPr>
        </a:p>
      </dgm:t>
    </dgm:pt>
    <dgm:pt modelId="{52565F00-D9E7-6E49-9102-3499B88A60C3}" type="parTrans" cxnId="{6730CD73-499B-434D-84BA-3B5C1F3C00A1}">
      <dgm:prSet/>
      <dgm:spPr/>
      <dgm:t>
        <a:bodyPr/>
        <a:lstStyle/>
        <a:p>
          <a:endParaRPr lang="en-US"/>
        </a:p>
      </dgm:t>
    </dgm:pt>
    <dgm:pt modelId="{344A0ED5-1AFB-464A-9400-C217B0375C89}" type="sibTrans" cxnId="{6730CD73-499B-434D-84BA-3B5C1F3C00A1}">
      <dgm:prSet/>
      <dgm:spPr/>
      <dgm:t>
        <a:bodyPr/>
        <a:lstStyle/>
        <a:p>
          <a:endParaRPr lang="en-US"/>
        </a:p>
      </dgm:t>
    </dgm:pt>
    <dgm:pt modelId="{187C03DD-AB0B-3747-BA07-2D987064DC1D}">
      <dgm:prSet custT="1"/>
      <dgm:spPr>
        <a:solidFill>
          <a:schemeClr val="bg1"/>
        </a:solidFill>
        <a:ln>
          <a:solidFill>
            <a:schemeClr val="accent1"/>
          </a:solidFill>
        </a:ln>
      </dgm:spPr>
      <dgm:t>
        <a:bodyPr/>
        <a:lstStyle/>
        <a:p>
          <a:r>
            <a:rPr lang="en-US" sz="1400" dirty="0" smtClean="0">
              <a:solidFill>
                <a:schemeClr val="tx1"/>
              </a:solidFill>
            </a:rPr>
            <a:t>    </a:t>
          </a:r>
          <a:r>
            <a:rPr lang="en-US" sz="1400" b="1" dirty="0" smtClean="0">
              <a:solidFill>
                <a:schemeClr val="tx2"/>
              </a:solidFill>
            </a:rPr>
            <a:t> Confidentiality</a:t>
          </a:r>
        </a:p>
      </dgm:t>
    </dgm:pt>
    <dgm:pt modelId="{0586B7DB-B08F-144C-AFC0-8CE70498859B}" type="parTrans" cxnId="{6EC288C5-0B77-B649-ADAB-F58AA1721FD8}">
      <dgm:prSet/>
      <dgm:spPr>
        <a:ln>
          <a:solidFill>
            <a:schemeClr val="accent1"/>
          </a:solidFill>
        </a:ln>
      </dgm:spPr>
      <dgm:t>
        <a:bodyPr/>
        <a:lstStyle/>
        <a:p>
          <a:endParaRPr lang="en-US" dirty="0"/>
        </a:p>
      </dgm:t>
    </dgm:pt>
    <dgm:pt modelId="{5B1CAE48-BC08-CB42-B02F-A84F6F813BD2}" type="sibTrans" cxnId="{6EC288C5-0B77-B649-ADAB-F58AA1721FD8}">
      <dgm:prSet/>
      <dgm:spPr/>
      <dgm:t>
        <a:bodyPr/>
        <a:lstStyle/>
        <a:p>
          <a:endParaRPr lang="en-US"/>
        </a:p>
      </dgm:t>
    </dgm:pt>
    <dgm:pt modelId="{BC6F485A-354F-7B40-B99B-ED35E7B7A921}">
      <dgm:prSet custT="1"/>
      <dgm:spPr>
        <a:solidFill>
          <a:schemeClr val="bg1"/>
        </a:solidFill>
        <a:ln>
          <a:solidFill>
            <a:schemeClr val="accent1"/>
          </a:solidFill>
        </a:ln>
      </dgm:spPr>
      <dgm:t>
        <a:bodyPr/>
        <a:lstStyle/>
        <a:p>
          <a:r>
            <a:rPr lang="en-US" sz="1400" dirty="0" smtClean="0">
              <a:solidFill>
                <a:schemeClr val="tx1"/>
              </a:solidFill>
            </a:rPr>
            <a:t>Essential identification and session-key information must be communicated in encrypted form</a:t>
          </a:r>
        </a:p>
      </dgm:t>
    </dgm:pt>
    <dgm:pt modelId="{FD5C5823-9EC5-9042-849F-3E6B35818E5D}" type="parTrans" cxnId="{E116BD04-99C2-9348-8234-9707D95DC2E5}">
      <dgm:prSet/>
      <dgm:spPr/>
      <dgm:t>
        <a:bodyPr/>
        <a:lstStyle/>
        <a:p>
          <a:endParaRPr lang="en-US"/>
        </a:p>
      </dgm:t>
    </dgm:pt>
    <dgm:pt modelId="{F13F9511-0498-C54E-AB29-92A386F4D504}" type="sibTrans" cxnId="{E116BD04-99C2-9348-8234-9707D95DC2E5}">
      <dgm:prSet/>
      <dgm:spPr/>
      <dgm:t>
        <a:bodyPr/>
        <a:lstStyle/>
        <a:p>
          <a:endParaRPr lang="en-US"/>
        </a:p>
      </dgm:t>
    </dgm:pt>
    <dgm:pt modelId="{E376A5E1-9AA9-8E44-9670-91AB4AEDB761}">
      <dgm:prSet custT="1"/>
      <dgm:spPr>
        <a:solidFill>
          <a:schemeClr val="bg1"/>
        </a:solidFill>
        <a:ln>
          <a:solidFill>
            <a:schemeClr val="accent1"/>
          </a:solidFill>
        </a:ln>
      </dgm:spPr>
      <dgm:t>
        <a:bodyPr/>
        <a:lstStyle/>
        <a:p>
          <a:r>
            <a:rPr lang="en-US" sz="1400" dirty="0" smtClean="0">
              <a:solidFill>
                <a:schemeClr val="tx1"/>
              </a:solidFill>
            </a:rPr>
            <a:t>This requires the prior existence of secret or public keys that can be used for this purpose</a:t>
          </a:r>
        </a:p>
      </dgm:t>
    </dgm:pt>
    <dgm:pt modelId="{BD985E6A-32EB-0344-9A1A-B74803B7BFE5}" type="parTrans" cxnId="{A2F83DB5-ABE1-4F4C-8416-76D1FA08C686}">
      <dgm:prSet/>
      <dgm:spPr/>
      <dgm:t>
        <a:bodyPr/>
        <a:lstStyle/>
        <a:p>
          <a:endParaRPr lang="en-US"/>
        </a:p>
      </dgm:t>
    </dgm:pt>
    <dgm:pt modelId="{D57CBA84-8AA5-9A4B-B0ED-283ABD207352}" type="sibTrans" cxnId="{A2F83DB5-ABE1-4F4C-8416-76D1FA08C686}">
      <dgm:prSet/>
      <dgm:spPr/>
      <dgm:t>
        <a:bodyPr/>
        <a:lstStyle/>
        <a:p>
          <a:endParaRPr lang="en-US"/>
        </a:p>
      </dgm:t>
    </dgm:pt>
    <dgm:pt modelId="{B997280A-9C03-234D-AFD4-0066649F1085}">
      <dgm:prSet custT="1"/>
      <dgm:spPr>
        <a:solidFill>
          <a:schemeClr val="bg1"/>
        </a:solidFill>
        <a:ln>
          <a:solidFill>
            <a:schemeClr val="accent1"/>
          </a:solidFill>
        </a:ln>
      </dgm:spPr>
      <dgm:t>
        <a:bodyPr/>
        <a:lstStyle/>
        <a:p>
          <a:r>
            <a:rPr lang="en-US" sz="1400" dirty="0" smtClean="0">
              <a:solidFill>
                <a:schemeClr val="tx1"/>
              </a:solidFill>
            </a:rPr>
            <a:t>   </a:t>
          </a:r>
          <a:r>
            <a:rPr lang="en-US" sz="1400" b="1" dirty="0" smtClean="0">
              <a:solidFill>
                <a:schemeClr val="tx2"/>
              </a:solidFill>
            </a:rPr>
            <a:t> Timeliness</a:t>
          </a:r>
        </a:p>
      </dgm:t>
    </dgm:pt>
    <dgm:pt modelId="{F28F2FD2-9D75-824D-B1B1-46A5B8F72073}" type="parTrans" cxnId="{FE9945A1-B1D4-A447-B2D4-80CB9FF16139}">
      <dgm:prSet/>
      <dgm:spPr>
        <a:ln>
          <a:solidFill>
            <a:schemeClr val="accent1"/>
          </a:solidFill>
        </a:ln>
      </dgm:spPr>
      <dgm:t>
        <a:bodyPr/>
        <a:lstStyle/>
        <a:p>
          <a:endParaRPr lang="en-US" dirty="0"/>
        </a:p>
      </dgm:t>
    </dgm:pt>
    <dgm:pt modelId="{54A4C9ED-BDB1-9B49-B1DC-51E76CEA5A15}" type="sibTrans" cxnId="{FE9945A1-B1D4-A447-B2D4-80CB9FF16139}">
      <dgm:prSet/>
      <dgm:spPr/>
      <dgm:t>
        <a:bodyPr/>
        <a:lstStyle/>
        <a:p>
          <a:endParaRPr lang="en-US"/>
        </a:p>
      </dgm:t>
    </dgm:pt>
    <dgm:pt modelId="{A214BCE4-B8A3-8E40-9F7F-863AAB46267A}">
      <dgm:prSet custT="1"/>
      <dgm:spPr>
        <a:solidFill>
          <a:schemeClr val="bg1"/>
        </a:solidFill>
        <a:ln>
          <a:solidFill>
            <a:schemeClr val="accent1"/>
          </a:solidFill>
        </a:ln>
      </dgm:spPr>
      <dgm:t>
        <a:bodyPr/>
        <a:lstStyle/>
        <a:p>
          <a:r>
            <a:rPr lang="en-US" sz="1400" dirty="0" smtClean="0">
              <a:solidFill>
                <a:schemeClr val="tx1"/>
              </a:solidFill>
            </a:rPr>
            <a:t>Important because of the threat of message replays</a:t>
          </a:r>
        </a:p>
      </dgm:t>
    </dgm:pt>
    <dgm:pt modelId="{26989117-9653-3B47-8203-E41ADD7B6C6B}" type="parTrans" cxnId="{E01C6ED9-7882-7040-AC84-919CA8AA44C1}">
      <dgm:prSet/>
      <dgm:spPr/>
      <dgm:t>
        <a:bodyPr/>
        <a:lstStyle/>
        <a:p>
          <a:endParaRPr lang="en-US"/>
        </a:p>
      </dgm:t>
    </dgm:pt>
    <dgm:pt modelId="{60175D9F-E6C6-7C40-9064-C1F3F69AD9F6}" type="sibTrans" cxnId="{E01C6ED9-7882-7040-AC84-919CA8AA44C1}">
      <dgm:prSet/>
      <dgm:spPr/>
      <dgm:t>
        <a:bodyPr/>
        <a:lstStyle/>
        <a:p>
          <a:endParaRPr lang="en-US"/>
        </a:p>
      </dgm:t>
    </dgm:pt>
    <dgm:pt modelId="{06714EF4-CA95-674C-B562-A6747446DB60}">
      <dgm:prSet custT="1"/>
      <dgm:spPr>
        <a:solidFill>
          <a:schemeClr val="bg1"/>
        </a:solidFill>
        <a:ln>
          <a:solidFill>
            <a:schemeClr val="accent1"/>
          </a:solidFill>
        </a:ln>
      </dgm:spPr>
      <dgm:t>
        <a:bodyPr/>
        <a:lstStyle/>
        <a:p>
          <a:r>
            <a:rPr lang="en-US" sz="1400" dirty="0" smtClean="0">
              <a:solidFill>
                <a:schemeClr val="tx1"/>
              </a:solidFill>
            </a:rPr>
            <a:t>Such replays could allow an opponent to:</a:t>
          </a:r>
          <a:endParaRPr lang="en-US" sz="1400" dirty="0">
            <a:solidFill>
              <a:schemeClr val="tx1"/>
            </a:solidFill>
          </a:endParaRPr>
        </a:p>
      </dgm:t>
    </dgm:pt>
    <dgm:pt modelId="{B305F661-85E2-C14C-8D46-E486C3404ED5}" type="parTrans" cxnId="{98E142B4-8D9F-2F4A-B8C2-D19F53CA72A5}">
      <dgm:prSet/>
      <dgm:spPr/>
      <dgm:t>
        <a:bodyPr/>
        <a:lstStyle/>
        <a:p>
          <a:endParaRPr lang="en-US"/>
        </a:p>
      </dgm:t>
    </dgm:pt>
    <dgm:pt modelId="{9FF60BA3-513D-0441-9E82-F889EFE039D6}" type="sibTrans" cxnId="{98E142B4-8D9F-2F4A-B8C2-D19F53CA72A5}">
      <dgm:prSet/>
      <dgm:spPr/>
      <dgm:t>
        <a:bodyPr/>
        <a:lstStyle/>
        <a:p>
          <a:endParaRPr lang="en-US"/>
        </a:p>
      </dgm:t>
    </dgm:pt>
    <dgm:pt modelId="{3BAF8808-04CC-194E-8041-C326228082DC}">
      <dgm:prSet custT="1"/>
      <dgm:spPr>
        <a:solidFill>
          <a:schemeClr val="bg1"/>
        </a:solidFill>
        <a:ln>
          <a:solidFill>
            <a:schemeClr val="accent1"/>
          </a:solidFill>
        </a:ln>
      </dgm:spPr>
      <dgm:t>
        <a:bodyPr/>
        <a:lstStyle/>
        <a:p>
          <a:r>
            <a:rPr lang="en-US" sz="1400" dirty="0" smtClean="0">
              <a:solidFill>
                <a:schemeClr val="tx1"/>
              </a:solidFill>
            </a:rPr>
            <a:t>successfully impersonate another party</a:t>
          </a:r>
          <a:endParaRPr lang="en-US" sz="1400" dirty="0">
            <a:solidFill>
              <a:schemeClr val="tx1"/>
            </a:solidFill>
          </a:endParaRPr>
        </a:p>
      </dgm:t>
    </dgm:pt>
    <dgm:pt modelId="{2D8E2891-3648-554F-9676-C607ECEEF4A2}" type="parTrans" cxnId="{662B94ED-0A22-4E4F-919A-9B9601150E03}">
      <dgm:prSet/>
      <dgm:spPr/>
      <dgm:t>
        <a:bodyPr/>
        <a:lstStyle/>
        <a:p>
          <a:endParaRPr lang="en-US"/>
        </a:p>
      </dgm:t>
    </dgm:pt>
    <dgm:pt modelId="{56F75C52-33EE-2A4D-880C-30149CC4434D}" type="sibTrans" cxnId="{662B94ED-0A22-4E4F-919A-9B9601150E03}">
      <dgm:prSet/>
      <dgm:spPr/>
      <dgm:t>
        <a:bodyPr/>
        <a:lstStyle/>
        <a:p>
          <a:endParaRPr lang="en-US"/>
        </a:p>
      </dgm:t>
    </dgm:pt>
    <dgm:pt modelId="{526A5C87-2C16-F74A-99BD-EF7191FA9CC8}">
      <dgm:prSet custT="1"/>
      <dgm:spPr>
        <a:solidFill>
          <a:schemeClr val="bg1"/>
        </a:solidFill>
        <a:ln>
          <a:solidFill>
            <a:schemeClr val="accent1"/>
          </a:solidFill>
        </a:ln>
      </dgm:spPr>
      <dgm:t>
        <a:bodyPr/>
        <a:lstStyle/>
        <a:p>
          <a:r>
            <a:rPr lang="en-US" sz="1400" dirty="0" smtClean="0">
              <a:solidFill>
                <a:schemeClr val="tx1"/>
              </a:solidFill>
            </a:rPr>
            <a:t>disrupt operations by presenting parties with messages that appear genuine but are not </a:t>
          </a:r>
          <a:endParaRPr lang="en-US" sz="1400" dirty="0">
            <a:solidFill>
              <a:schemeClr val="tx1"/>
            </a:solidFill>
          </a:endParaRPr>
        </a:p>
      </dgm:t>
    </dgm:pt>
    <dgm:pt modelId="{34746B26-86A4-9C40-A5F0-365F128D1680}" type="parTrans" cxnId="{88FF4734-5ACB-F947-891D-F098500C7BBA}">
      <dgm:prSet/>
      <dgm:spPr/>
      <dgm:t>
        <a:bodyPr/>
        <a:lstStyle/>
        <a:p>
          <a:endParaRPr lang="en-US"/>
        </a:p>
      </dgm:t>
    </dgm:pt>
    <dgm:pt modelId="{A9EA7635-6DAD-8F43-A496-BA4289B34AB6}" type="sibTrans" cxnId="{88FF4734-5ACB-F947-891D-F098500C7BBA}">
      <dgm:prSet/>
      <dgm:spPr/>
      <dgm:t>
        <a:bodyPr/>
        <a:lstStyle/>
        <a:p>
          <a:endParaRPr lang="en-US"/>
        </a:p>
      </dgm:t>
    </dgm:pt>
    <dgm:pt modelId="{51F52CBF-0616-9F49-81AB-6DDEE3864DED}">
      <dgm:prSet custT="1"/>
      <dgm:spPr>
        <a:solidFill>
          <a:schemeClr val="bg1"/>
        </a:solidFill>
        <a:ln>
          <a:solidFill>
            <a:schemeClr val="accent1"/>
          </a:solidFill>
        </a:ln>
      </dgm:spPr>
      <dgm:t>
        <a:bodyPr/>
        <a:lstStyle/>
        <a:p>
          <a:r>
            <a:rPr lang="en-US" sz="1400" dirty="0" smtClean="0">
              <a:solidFill>
                <a:schemeClr val="tx1"/>
              </a:solidFill>
            </a:rPr>
            <a:t>compromise a session key</a:t>
          </a:r>
          <a:endParaRPr lang="en-US" sz="1400" dirty="0">
            <a:solidFill>
              <a:schemeClr val="tx1"/>
            </a:solidFill>
          </a:endParaRPr>
        </a:p>
      </dgm:t>
    </dgm:pt>
    <dgm:pt modelId="{7B0F4674-5FA1-D345-B335-CF507E4203BE}" type="parTrans" cxnId="{E4C04CC4-C103-7D42-8347-EF0F48651B8A}">
      <dgm:prSet/>
      <dgm:spPr/>
      <dgm:t>
        <a:bodyPr/>
        <a:lstStyle/>
        <a:p>
          <a:endParaRPr lang="en-US"/>
        </a:p>
      </dgm:t>
    </dgm:pt>
    <dgm:pt modelId="{F0E53439-23F9-E44B-B348-127D4AFDA653}" type="sibTrans" cxnId="{E4C04CC4-C103-7D42-8347-EF0F48651B8A}">
      <dgm:prSet/>
      <dgm:spPr/>
      <dgm:t>
        <a:bodyPr/>
        <a:lstStyle/>
        <a:p>
          <a:endParaRPr lang="en-US"/>
        </a:p>
      </dgm:t>
    </dgm:pt>
    <dgm:pt modelId="{C83B5A8B-9C44-FE45-8AD3-48BC621DADD0}" type="pres">
      <dgm:prSet presAssocID="{4A2A9FE5-F034-EF49-9E33-E67A70529487}" presName="cycle" presStyleCnt="0">
        <dgm:presLayoutVars>
          <dgm:chMax val="1"/>
          <dgm:dir/>
          <dgm:animLvl val="ctr"/>
          <dgm:resizeHandles val="exact"/>
        </dgm:presLayoutVars>
      </dgm:prSet>
      <dgm:spPr/>
      <dgm:t>
        <a:bodyPr/>
        <a:lstStyle/>
        <a:p>
          <a:endParaRPr lang="en-US"/>
        </a:p>
      </dgm:t>
    </dgm:pt>
    <dgm:pt modelId="{BA479F05-35E1-104C-985F-17DE1C0AF79D}" type="pres">
      <dgm:prSet presAssocID="{42A1BA9C-61D5-EE4E-B529-680C2C0B779B}" presName="centerShape" presStyleLbl="node0" presStyleIdx="0" presStyleCnt="1" custScaleX="160935" custScaleY="132158" custLinFactNeighborX="12281" custLinFactNeighborY="-55642"/>
      <dgm:spPr/>
      <dgm:t>
        <a:bodyPr/>
        <a:lstStyle/>
        <a:p>
          <a:endParaRPr lang="en-US"/>
        </a:p>
      </dgm:t>
    </dgm:pt>
    <dgm:pt modelId="{C5F88DEF-6D6F-DD47-8C6B-04D781FB85C0}" type="pres">
      <dgm:prSet presAssocID="{0586B7DB-B08F-144C-AFC0-8CE70498859B}" presName="Name9" presStyleLbl="parChTrans1D2" presStyleIdx="0" presStyleCnt="2"/>
      <dgm:spPr/>
      <dgm:t>
        <a:bodyPr/>
        <a:lstStyle/>
        <a:p>
          <a:endParaRPr lang="en-US"/>
        </a:p>
      </dgm:t>
    </dgm:pt>
    <dgm:pt modelId="{FE5389AA-5C69-EF4D-982D-E9B2B28EC4E9}" type="pres">
      <dgm:prSet presAssocID="{0586B7DB-B08F-144C-AFC0-8CE70498859B}" presName="connTx" presStyleLbl="parChTrans1D2" presStyleIdx="0" presStyleCnt="2"/>
      <dgm:spPr/>
      <dgm:t>
        <a:bodyPr/>
        <a:lstStyle/>
        <a:p>
          <a:endParaRPr lang="en-US"/>
        </a:p>
      </dgm:t>
    </dgm:pt>
    <dgm:pt modelId="{466CC06D-AEEB-A447-B59B-2F72AA20D107}" type="pres">
      <dgm:prSet presAssocID="{187C03DD-AB0B-3747-BA07-2D987064DC1D}" presName="node" presStyleLbl="node1" presStyleIdx="0" presStyleCnt="2" custScaleX="279707" custScaleY="232545" custRadScaleRad="200455" custRadScaleInc="122036">
        <dgm:presLayoutVars>
          <dgm:bulletEnabled val="1"/>
        </dgm:presLayoutVars>
      </dgm:prSet>
      <dgm:spPr/>
      <dgm:t>
        <a:bodyPr/>
        <a:lstStyle/>
        <a:p>
          <a:endParaRPr lang="en-US"/>
        </a:p>
      </dgm:t>
    </dgm:pt>
    <dgm:pt modelId="{6EC2EFFE-BCDF-F34D-8AA4-23E20C4141B4}" type="pres">
      <dgm:prSet presAssocID="{F28F2FD2-9D75-824D-B1B1-46A5B8F72073}" presName="Name9" presStyleLbl="parChTrans1D2" presStyleIdx="1" presStyleCnt="2"/>
      <dgm:spPr/>
      <dgm:t>
        <a:bodyPr/>
        <a:lstStyle/>
        <a:p>
          <a:endParaRPr lang="en-US"/>
        </a:p>
      </dgm:t>
    </dgm:pt>
    <dgm:pt modelId="{C982EF0F-6937-D540-9880-86A5F423B5B7}" type="pres">
      <dgm:prSet presAssocID="{F28F2FD2-9D75-824D-B1B1-46A5B8F72073}" presName="connTx" presStyleLbl="parChTrans1D2" presStyleIdx="1" presStyleCnt="2"/>
      <dgm:spPr/>
      <dgm:t>
        <a:bodyPr/>
        <a:lstStyle/>
        <a:p>
          <a:endParaRPr lang="en-US"/>
        </a:p>
      </dgm:t>
    </dgm:pt>
    <dgm:pt modelId="{E03A69F7-1AF4-9643-A17D-2DB9030ECD8C}" type="pres">
      <dgm:prSet presAssocID="{B997280A-9C03-234D-AFD4-0066649F1085}" presName="node" presStyleLbl="node1" presStyleIdx="1" presStyleCnt="2" custScaleX="330847" custScaleY="290097" custRadScaleRad="183360" custRadScaleInc="84745">
        <dgm:presLayoutVars>
          <dgm:bulletEnabled val="1"/>
        </dgm:presLayoutVars>
      </dgm:prSet>
      <dgm:spPr/>
      <dgm:t>
        <a:bodyPr/>
        <a:lstStyle/>
        <a:p>
          <a:endParaRPr lang="en-US"/>
        </a:p>
      </dgm:t>
    </dgm:pt>
  </dgm:ptLst>
  <dgm:cxnLst>
    <dgm:cxn modelId="{FE9945A1-B1D4-A447-B2D4-80CB9FF16139}" srcId="{42A1BA9C-61D5-EE4E-B529-680C2C0B779B}" destId="{B997280A-9C03-234D-AFD4-0066649F1085}" srcOrd="1" destOrd="0" parTransId="{F28F2FD2-9D75-824D-B1B1-46A5B8F72073}" sibTransId="{54A4C9ED-BDB1-9B49-B1DC-51E76CEA5A15}"/>
    <dgm:cxn modelId="{A2814AAA-CB49-0A4E-9641-E0A63280A697}" type="presOf" srcId="{187C03DD-AB0B-3747-BA07-2D987064DC1D}" destId="{466CC06D-AEEB-A447-B59B-2F72AA20D107}" srcOrd="0" destOrd="0" presId="urn:microsoft.com/office/officeart/2005/8/layout/radial1"/>
    <dgm:cxn modelId="{6EC288C5-0B77-B649-ADAB-F58AA1721FD8}" srcId="{42A1BA9C-61D5-EE4E-B529-680C2C0B779B}" destId="{187C03DD-AB0B-3747-BA07-2D987064DC1D}" srcOrd="0" destOrd="0" parTransId="{0586B7DB-B08F-144C-AFC0-8CE70498859B}" sibTransId="{5B1CAE48-BC08-CB42-B02F-A84F6F813BD2}"/>
    <dgm:cxn modelId="{6730CD73-499B-434D-84BA-3B5C1F3C00A1}" srcId="{4A2A9FE5-F034-EF49-9E33-E67A70529487}" destId="{42A1BA9C-61D5-EE4E-B529-680C2C0B779B}" srcOrd="0" destOrd="0" parTransId="{52565F00-D9E7-6E49-9102-3499B88A60C3}" sibTransId="{344A0ED5-1AFB-464A-9400-C217B0375C89}"/>
    <dgm:cxn modelId="{8F82246A-9E05-C749-8600-2F8BF00FAC29}" type="presOf" srcId="{0586B7DB-B08F-144C-AFC0-8CE70498859B}" destId="{C5F88DEF-6D6F-DD47-8C6B-04D781FB85C0}" srcOrd="0" destOrd="0" presId="urn:microsoft.com/office/officeart/2005/8/layout/radial1"/>
    <dgm:cxn modelId="{4DDEEE47-168C-6245-AEDF-B29457EA162E}" type="presOf" srcId="{B997280A-9C03-234D-AFD4-0066649F1085}" destId="{E03A69F7-1AF4-9643-A17D-2DB9030ECD8C}" srcOrd="0" destOrd="0" presId="urn:microsoft.com/office/officeart/2005/8/layout/radial1"/>
    <dgm:cxn modelId="{84EB0350-D095-3D4B-8028-6F218D8A638F}" type="presOf" srcId="{4A2A9FE5-F034-EF49-9E33-E67A70529487}" destId="{C83B5A8B-9C44-FE45-8AD3-48BC621DADD0}" srcOrd="0" destOrd="0" presId="urn:microsoft.com/office/officeart/2005/8/layout/radial1"/>
    <dgm:cxn modelId="{A2F83DB5-ABE1-4F4C-8416-76D1FA08C686}" srcId="{187C03DD-AB0B-3747-BA07-2D987064DC1D}" destId="{E376A5E1-9AA9-8E44-9670-91AB4AEDB761}" srcOrd="1" destOrd="0" parTransId="{BD985E6A-32EB-0344-9A1A-B74803B7BFE5}" sibTransId="{D57CBA84-8AA5-9A4B-B0ED-283ABD207352}"/>
    <dgm:cxn modelId="{A304B2EA-067F-604A-A946-156503FE587B}" type="presOf" srcId="{06714EF4-CA95-674C-B562-A6747446DB60}" destId="{E03A69F7-1AF4-9643-A17D-2DB9030ECD8C}" srcOrd="0" destOrd="2" presId="urn:microsoft.com/office/officeart/2005/8/layout/radial1"/>
    <dgm:cxn modelId="{BF841177-AC03-3D4A-8061-AEA69A44DA60}" type="presOf" srcId="{42A1BA9C-61D5-EE4E-B529-680C2C0B779B}" destId="{BA479F05-35E1-104C-985F-17DE1C0AF79D}" srcOrd="0" destOrd="0" presId="urn:microsoft.com/office/officeart/2005/8/layout/radial1"/>
    <dgm:cxn modelId="{66272D6C-B3D7-8A44-BA30-561D66AE9B4E}" type="presOf" srcId="{F28F2FD2-9D75-824D-B1B1-46A5B8F72073}" destId="{6EC2EFFE-BCDF-F34D-8AA4-23E20C4141B4}" srcOrd="0" destOrd="0" presId="urn:microsoft.com/office/officeart/2005/8/layout/radial1"/>
    <dgm:cxn modelId="{662B94ED-0A22-4E4F-919A-9B9601150E03}" srcId="{06714EF4-CA95-674C-B562-A6747446DB60}" destId="{3BAF8808-04CC-194E-8041-C326228082DC}" srcOrd="1" destOrd="0" parTransId="{2D8E2891-3648-554F-9676-C607ECEEF4A2}" sibTransId="{56F75C52-33EE-2A4D-880C-30149CC4434D}"/>
    <dgm:cxn modelId="{E4C04CC4-C103-7D42-8347-EF0F48651B8A}" srcId="{06714EF4-CA95-674C-B562-A6747446DB60}" destId="{51F52CBF-0616-9F49-81AB-6DDEE3864DED}" srcOrd="0" destOrd="0" parTransId="{7B0F4674-5FA1-D345-B335-CF507E4203BE}" sibTransId="{F0E53439-23F9-E44B-B348-127D4AFDA653}"/>
    <dgm:cxn modelId="{98E142B4-8D9F-2F4A-B8C2-D19F53CA72A5}" srcId="{B997280A-9C03-234D-AFD4-0066649F1085}" destId="{06714EF4-CA95-674C-B562-A6747446DB60}" srcOrd="1" destOrd="0" parTransId="{B305F661-85E2-C14C-8D46-E486C3404ED5}" sibTransId="{9FF60BA3-513D-0441-9E82-F889EFE039D6}"/>
    <dgm:cxn modelId="{88FF4734-5ACB-F947-891D-F098500C7BBA}" srcId="{06714EF4-CA95-674C-B562-A6747446DB60}" destId="{526A5C87-2C16-F74A-99BD-EF7191FA9CC8}" srcOrd="2" destOrd="0" parTransId="{34746B26-86A4-9C40-A5F0-365F128D1680}" sibTransId="{A9EA7635-6DAD-8F43-A496-BA4289B34AB6}"/>
    <dgm:cxn modelId="{040C096B-00AF-8D41-82AD-BE9047EEE0FB}" type="presOf" srcId="{BC6F485A-354F-7B40-B99B-ED35E7B7A921}" destId="{466CC06D-AEEB-A447-B59B-2F72AA20D107}" srcOrd="0" destOrd="1" presId="urn:microsoft.com/office/officeart/2005/8/layout/radial1"/>
    <dgm:cxn modelId="{08BE3158-61B8-794F-AD6D-02AEDC1011EF}" type="presOf" srcId="{526A5C87-2C16-F74A-99BD-EF7191FA9CC8}" destId="{E03A69F7-1AF4-9643-A17D-2DB9030ECD8C}" srcOrd="0" destOrd="5" presId="urn:microsoft.com/office/officeart/2005/8/layout/radial1"/>
    <dgm:cxn modelId="{CE541600-824E-E34E-9F0E-60ACB7CF15CA}" type="presOf" srcId="{0586B7DB-B08F-144C-AFC0-8CE70498859B}" destId="{FE5389AA-5C69-EF4D-982D-E9B2B28EC4E9}" srcOrd="1" destOrd="0" presId="urn:microsoft.com/office/officeart/2005/8/layout/radial1"/>
    <dgm:cxn modelId="{E116BD04-99C2-9348-8234-9707D95DC2E5}" srcId="{187C03DD-AB0B-3747-BA07-2D987064DC1D}" destId="{BC6F485A-354F-7B40-B99B-ED35E7B7A921}" srcOrd="0" destOrd="0" parTransId="{FD5C5823-9EC5-9042-849F-3E6B35818E5D}" sibTransId="{F13F9511-0498-C54E-AB29-92A386F4D504}"/>
    <dgm:cxn modelId="{AEB737CF-C9E9-2F4B-BD06-7E20BB070F6E}" type="presOf" srcId="{F28F2FD2-9D75-824D-B1B1-46A5B8F72073}" destId="{C982EF0F-6937-D540-9880-86A5F423B5B7}" srcOrd="1" destOrd="0" presId="urn:microsoft.com/office/officeart/2005/8/layout/radial1"/>
    <dgm:cxn modelId="{D8F2EBA2-C5D2-1E47-8BF1-214994E919BA}" type="presOf" srcId="{3BAF8808-04CC-194E-8041-C326228082DC}" destId="{E03A69F7-1AF4-9643-A17D-2DB9030ECD8C}" srcOrd="0" destOrd="4" presId="urn:microsoft.com/office/officeart/2005/8/layout/radial1"/>
    <dgm:cxn modelId="{E01C6ED9-7882-7040-AC84-919CA8AA44C1}" srcId="{B997280A-9C03-234D-AFD4-0066649F1085}" destId="{A214BCE4-B8A3-8E40-9F7F-863AAB46267A}" srcOrd="0" destOrd="0" parTransId="{26989117-9653-3B47-8203-E41ADD7B6C6B}" sibTransId="{60175D9F-E6C6-7C40-9064-C1F3F69AD9F6}"/>
    <dgm:cxn modelId="{8C61ED74-96A8-3443-B408-873B675C42E3}" type="presOf" srcId="{51F52CBF-0616-9F49-81AB-6DDEE3864DED}" destId="{E03A69F7-1AF4-9643-A17D-2DB9030ECD8C}" srcOrd="0" destOrd="3" presId="urn:microsoft.com/office/officeart/2005/8/layout/radial1"/>
    <dgm:cxn modelId="{0A149A44-AC62-884D-B8FB-AA13BCB05445}" type="presOf" srcId="{A214BCE4-B8A3-8E40-9F7F-863AAB46267A}" destId="{E03A69F7-1AF4-9643-A17D-2DB9030ECD8C}" srcOrd="0" destOrd="1" presId="urn:microsoft.com/office/officeart/2005/8/layout/radial1"/>
    <dgm:cxn modelId="{FE079683-041C-6844-845D-0359713151DA}" type="presOf" srcId="{E376A5E1-9AA9-8E44-9670-91AB4AEDB761}" destId="{466CC06D-AEEB-A447-B59B-2F72AA20D107}" srcOrd="0" destOrd="2" presId="urn:microsoft.com/office/officeart/2005/8/layout/radial1"/>
    <dgm:cxn modelId="{85820896-5AC1-7842-BB7B-67620F79D883}" type="presParOf" srcId="{C83B5A8B-9C44-FE45-8AD3-48BC621DADD0}" destId="{BA479F05-35E1-104C-985F-17DE1C0AF79D}" srcOrd="0" destOrd="0" presId="urn:microsoft.com/office/officeart/2005/8/layout/radial1"/>
    <dgm:cxn modelId="{8FC99569-AB47-524D-A26A-1433A32EDE78}" type="presParOf" srcId="{C83B5A8B-9C44-FE45-8AD3-48BC621DADD0}" destId="{C5F88DEF-6D6F-DD47-8C6B-04D781FB85C0}" srcOrd="1" destOrd="0" presId="urn:microsoft.com/office/officeart/2005/8/layout/radial1"/>
    <dgm:cxn modelId="{9A1B7E7D-389F-C14C-A2E4-D5A590BD469A}" type="presParOf" srcId="{C5F88DEF-6D6F-DD47-8C6B-04D781FB85C0}" destId="{FE5389AA-5C69-EF4D-982D-E9B2B28EC4E9}" srcOrd="0" destOrd="0" presId="urn:microsoft.com/office/officeart/2005/8/layout/radial1"/>
    <dgm:cxn modelId="{850641FA-C327-8540-BB65-B0231BE289F3}" type="presParOf" srcId="{C83B5A8B-9C44-FE45-8AD3-48BC621DADD0}" destId="{466CC06D-AEEB-A447-B59B-2F72AA20D107}" srcOrd="2" destOrd="0" presId="urn:microsoft.com/office/officeart/2005/8/layout/radial1"/>
    <dgm:cxn modelId="{387C103F-1BF6-7143-A172-A4CB73A3323C}" type="presParOf" srcId="{C83B5A8B-9C44-FE45-8AD3-48BC621DADD0}" destId="{6EC2EFFE-BCDF-F34D-8AA4-23E20C4141B4}" srcOrd="3" destOrd="0" presId="urn:microsoft.com/office/officeart/2005/8/layout/radial1"/>
    <dgm:cxn modelId="{524D1DAD-BC46-3A46-978A-FB073D26A14E}" type="presParOf" srcId="{6EC2EFFE-BCDF-F34D-8AA4-23E20C4141B4}" destId="{C982EF0F-6937-D540-9880-86A5F423B5B7}" srcOrd="0" destOrd="0" presId="urn:microsoft.com/office/officeart/2005/8/layout/radial1"/>
    <dgm:cxn modelId="{044B2D2F-4BC9-5C4B-96C9-89FFEE80DBC5}" type="presParOf" srcId="{C83B5A8B-9C44-FE45-8AD3-48BC621DADD0}" destId="{E03A69F7-1AF4-9643-A17D-2DB9030ECD8C}" srcOrd="4" destOrd="0" presId="urn:microsoft.com/office/officeart/2005/8/layout/radial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2769E0-F79D-2A48-99E6-0072A55CB91F}"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49A0F27C-AB06-6E46-860E-E92391784480}">
      <dgm:prSet/>
      <dgm:spPr/>
      <dgm:t>
        <a:bodyPr/>
        <a:lstStyle/>
        <a:p>
          <a:pPr rtl="0"/>
          <a:r>
            <a:rPr lang="en-US" b="1" dirty="0" smtClean="0">
              <a:effectLst>
                <a:outerShdw blurRad="38100" dist="38100" dir="2700000" algn="tl">
                  <a:srgbClr val="000000">
                    <a:alpha val="43137"/>
                  </a:srgbClr>
                </a:outerShdw>
              </a:effectLst>
            </a:rPr>
            <a:t>One application for which encryption is growing in popularity is electronic         mail (e-mail)</a:t>
          </a:r>
          <a:endParaRPr lang="en-US" b="1" dirty="0">
            <a:effectLst>
              <a:outerShdw blurRad="38100" dist="38100" dir="2700000" algn="tl">
                <a:srgbClr val="000000">
                  <a:alpha val="43137"/>
                </a:srgbClr>
              </a:outerShdw>
            </a:effectLst>
          </a:endParaRPr>
        </a:p>
      </dgm:t>
    </dgm:pt>
    <dgm:pt modelId="{018374D5-DC26-C04B-8E9D-409ACA63319E}" type="parTrans" cxnId="{876D1080-874D-5245-AD72-798085879E0A}">
      <dgm:prSet/>
      <dgm:spPr/>
      <dgm:t>
        <a:bodyPr/>
        <a:lstStyle/>
        <a:p>
          <a:endParaRPr lang="en-US"/>
        </a:p>
      </dgm:t>
    </dgm:pt>
    <dgm:pt modelId="{143C8E8D-211F-FC4B-AFBA-CB17F9C3BCE3}" type="sibTrans" cxnId="{876D1080-874D-5245-AD72-798085879E0A}">
      <dgm:prSet/>
      <dgm:spPr/>
      <dgm:t>
        <a:bodyPr/>
        <a:lstStyle/>
        <a:p>
          <a:endParaRPr lang="en-US"/>
        </a:p>
      </dgm:t>
    </dgm:pt>
    <dgm:pt modelId="{08F4C89D-9E55-8C4B-90EC-7C256B024203}">
      <dgm:prSet/>
      <dgm:spPr>
        <a:ln>
          <a:solidFill>
            <a:schemeClr val="bg2">
              <a:lumMod val="75000"/>
            </a:schemeClr>
          </a:solidFill>
        </a:ln>
      </dgm:spPr>
      <dgm:t>
        <a:bodyPr/>
        <a:lstStyle/>
        <a:p>
          <a:pPr rtl="0"/>
          <a:r>
            <a:rPr lang="en-US" dirty="0" smtClean="0"/>
            <a:t>Header of the e-mail message must be in the clear so that the message can be handled by the store-and-forward        e-mail protocol, such as SMTP or X.400</a:t>
          </a:r>
          <a:endParaRPr lang="en-US" dirty="0"/>
        </a:p>
      </dgm:t>
    </dgm:pt>
    <dgm:pt modelId="{A9CA6853-ADAC-6744-8322-D6547E7C7744}" type="parTrans" cxnId="{ECD35BF2-9C8A-EA4F-95EC-A47E01804FEC}">
      <dgm:prSet/>
      <dgm:spPr/>
      <dgm:t>
        <a:bodyPr/>
        <a:lstStyle/>
        <a:p>
          <a:endParaRPr lang="en-US"/>
        </a:p>
      </dgm:t>
    </dgm:pt>
    <dgm:pt modelId="{20A5EB88-DF66-2B4D-9D6A-293EA87A6700}" type="sibTrans" cxnId="{ECD35BF2-9C8A-EA4F-95EC-A47E01804FEC}">
      <dgm:prSet/>
      <dgm:spPr/>
      <dgm:t>
        <a:bodyPr/>
        <a:lstStyle/>
        <a:p>
          <a:endParaRPr lang="en-US"/>
        </a:p>
      </dgm:t>
    </dgm:pt>
    <dgm:pt modelId="{A314E1AD-1480-7F4E-9C90-CC158932228D}">
      <dgm:prSet/>
      <dgm:spPr>
        <a:ln>
          <a:solidFill>
            <a:schemeClr val="bg2">
              <a:lumMod val="75000"/>
            </a:schemeClr>
          </a:solidFill>
        </a:ln>
      </dgm:spPr>
      <dgm:t>
        <a:bodyPr/>
        <a:lstStyle/>
        <a:p>
          <a:pPr rtl="0"/>
          <a:r>
            <a:rPr lang="en-US" dirty="0" smtClean="0"/>
            <a:t>The e-mail message should be encrypted such that the mail-handling system is not in possession of the decryption key</a:t>
          </a:r>
          <a:endParaRPr lang="en-US" dirty="0"/>
        </a:p>
      </dgm:t>
    </dgm:pt>
    <dgm:pt modelId="{2B113B99-2156-6740-A053-8267C58D9583}" type="parTrans" cxnId="{79BF162A-6025-6B49-9B66-3B827C29AB63}">
      <dgm:prSet/>
      <dgm:spPr/>
      <dgm:t>
        <a:bodyPr/>
        <a:lstStyle/>
        <a:p>
          <a:endParaRPr lang="en-US"/>
        </a:p>
      </dgm:t>
    </dgm:pt>
    <dgm:pt modelId="{AEC0E53B-FFC0-BD47-B80F-7F7E364788E6}" type="sibTrans" cxnId="{79BF162A-6025-6B49-9B66-3B827C29AB63}">
      <dgm:prSet/>
      <dgm:spPr/>
      <dgm:t>
        <a:bodyPr/>
        <a:lstStyle/>
        <a:p>
          <a:endParaRPr lang="en-US"/>
        </a:p>
      </dgm:t>
    </dgm:pt>
    <dgm:pt modelId="{9CEF938B-3AB6-1C4A-868E-824E83151EF3}">
      <dgm:prSet/>
      <dgm:spPr/>
      <dgm:t>
        <a:bodyPr/>
        <a:lstStyle/>
        <a:p>
          <a:pPr rtl="0"/>
          <a:r>
            <a:rPr lang="en-US" b="1" dirty="0" smtClean="0">
              <a:effectLst>
                <a:outerShdw blurRad="38100" dist="38100" dir="2700000" algn="tl">
                  <a:srgbClr val="000000">
                    <a:alpha val="43137"/>
                  </a:srgbClr>
                </a:outerShdw>
              </a:effectLst>
            </a:rPr>
            <a:t>A second requirement is        that of authentication</a:t>
          </a:r>
          <a:endParaRPr lang="en-US" b="1" dirty="0">
            <a:effectLst>
              <a:outerShdw blurRad="38100" dist="38100" dir="2700000" algn="tl">
                <a:srgbClr val="000000">
                  <a:alpha val="43137"/>
                </a:srgbClr>
              </a:outerShdw>
            </a:effectLst>
          </a:endParaRPr>
        </a:p>
      </dgm:t>
    </dgm:pt>
    <dgm:pt modelId="{5B31B32D-0921-C146-B57A-CEC2F42C52ED}" type="parTrans" cxnId="{D3166395-1754-8844-823D-6847303DCFF8}">
      <dgm:prSet/>
      <dgm:spPr/>
      <dgm:t>
        <a:bodyPr/>
        <a:lstStyle/>
        <a:p>
          <a:endParaRPr lang="en-US"/>
        </a:p>
      </dgm:t>
    </dgm:pt>
    <dgm:pt modelId="{AFD55CEB-322D-254A-B87D-BCD53D6B0973}" type="sibTrans" cxnId="{D3166395-1754-8844-823D-6847303DCFF8}">
      <dgm:prSet/>
      <dgm:spPr/>
      <dgm:t>
        <a:bodyPr/>
        <a:lstStyle/>
        <a:p>
          <a:endParaRPr lang="en-US"/>
        </a:p>
      </dgm:t>
    </dgm:pt>
    <dgm:pt modelId="{30597B7A-D639-6143-AD21-79D3F5C49382}">
      <dgm:prSet/>
      <dgm:spPr>
        <a:ln>
          <a:solidFill>
            <a:schemeClr val="bg2">
              <a:lumMod val="75000"/>
            </a:schemeClr>
          </a:solidFill>
        </a:ln>
      </dgm:spPr>
      <dgm:t>
        <a:bodyPr/>
        <a:lstStyle/>
        <a:p>
          <a:pPr rtl="0"/>
          <a:r>
            <a:rPr lang="en-US" dirty="0" smtClean="0"/>
            <a:t>The recipient wants some assurance that the message is from the alleged sender</a:t>
          </a:r>
          <a:endParaRPr lang="en-US" dirty="0"/>
        </a:p>
      </dgm:t>
    </dgm:pt>
    <dgm:pt modelId="{7A386659-222E-3D44-B162-3C576E4C740C}" type="parTrans" cxnId="{17ECBBDE-4734-9D4D-9E93-6DDD74E978EF}">
      <dgm:prSet/>
      <dgm:spPr/>
      <dgm:t>
        <a:bodyPr/>
        <a:lstStyle/>
        <a:p>
          <a:endParaRPr lang="en-US"/>
        </a:p>
      </dgm:t>
    </dgm:pt>
    <dgm:pt modelId="{74BFBC6E-20F4-C04E-A911-850026561AB1}" type="sibTrans" cxnId="{17ECBBDE-4734-9D4D-9E93-6DDD74E978EF}">
      <dgm:prSet/>
      <dgm:spPr/>
      <dgm:t>
        <a:bodyPr/>
        <a:lstStyle/>
        <a:p>
          <a:endParaRPr lang="en-US"/>
        </a:p>
      </dgm:t>
    </dgm:pt>
    <dgm:pt modelId="{CFF0933B-1875-2A40-BD66-ACDBDD55C810}" type="pres">
      <dgm:prSet presAssocID="{C22769E0-F79D-2A48-99E6-0072A55CB91F}" presName="Name0" presStyleCnt="0">
        <dgm:presLayoutVars>
          <dgm:dir/>
          <dgm:animLvl val="lvl"/>
          <dgm:resizeHandles val="exact"/>
        </dgm:presLayoutVars>
      </dgm:prSet>
      <dgm:spPr/>
      <dgm:t>
        <a:bodyPr/>
        <a:lstStyle/>
        <a:p>
          <a:endParaRPr lang="en-US"/>
        </a:p>
      </dgm:t>
    </dgm:pt>
    <dgm:pt modelId="{38FD4BDC-E8A8-DC45-A63D-0427490DA7D3}" type="pres">
      <dgm:prSet presAssocID="{49A0F27C-AB06-6E46-860E-E92391784480}" presName="composite" presStyleCnt="0"/>
      <dgm:spPr/>
    </dgm:pt>
    <dgm:pt modelId="{6F582257-B838-6749-BB83-2F605DAA800F}" type="pres">
      <dgm:prSet presAssocID="{49A0F27C-AB06-6E46-860E-E92391784480}" presName="parTx" presStyleLbl="alignNode1" presStyleIdx="0" presStyleCnt="2">
        <dgm:presLayoutVars>
          <dgm:chMax val="0"/>
          <dgm:chPref val="0"/>
          <dgm:bulletEnabled val="1"/>
        </dgm:presLayoutVars>
      </dgm:prSet>
      <dgm:spPr/>
      <dgm:t>
        <a:bodyPr/>
        <a:lstStyle/>
        <a:p>
          <a:endParaRPr lang="en-US"/>
        </a:p>
      </dgm:t>
    </dgm:pt>
    <dgm:pt modelId="{250E2CAE-D7F2-CA49-ADA0-8E22EA6527F2}" type="pres">
      <dgm:prSet presAssocID="{49A0F27C-AB06-6E46-860E-E92391784480}" presName="desTx" presStyleLbl="alignAccFollowNode1" presStyleIdx="0" presStyleCnt="2">
        <dgm:presLayoutVars>
          <dgm:bulletEnabled val="1"/>
        </dgm:presLayoutVars>
      </dgm:prSet>
      <dgm:spPr/>
      <dgm:t>
        <a:bodyPr/>
        <a:lstStyle/>
        <a:p>
          <a:endParaRPr lang="en-US"/>
        </a:p>
      </dgm:t>
    </dgm:pt>
    <dgm:pt modelId="{0E6BC24E-2DEB-E241-B86B-EEA675BFCE42}" type="pres">
      <dgm:prSet presAssocID="{143C8E8D-211F-FC4B-AFBA-CB17F9C3BCE3}" presName="space" presStyleCnt="0"/>
      <dgm:spPr/>
    </dgm:pt>
    <dgm:pt modelId="{2FBE9ABB-75D1-1E4B-91E2-F572CB2814E2}" type="pres">
      <dgm:prSet presAssocID="{9CEF938B-3AB6-1C4A-868E-824E83151EF3}" presName="composite" presStyleCnt="0"/>
      <dgm:spPr/>
    </dgm:pt>
    <dgm:pt modelId="{C8B0C6AD-2083-E841-BB39-3B090FD5A631}" type="pres">
      <dgm:prSet presAssocID="{9CEF938B-3AB6-1C4A-868E-824E83151EF3}" presName="parTx" presStyleLbl="alignNode1" presStyleIdx="1" presStyleCnt="2">
        <dgm:presLayoutVars>
          <dgm:chMax val="0"/>
          <dgm:chPref val="0"/>
          <dgm:bulletEnabled val="1"/>
        </dgm:presLayoutVars>
      </dgm:prSet>
      <dgm:spPr/>
      <dgm:t>
        <a:bodyPr/>
        <a:lstStyle/>
        <a:p>
          <a:endParaRPr lang="en-US"/>
        </a:p>
      </dgm:t>
    </dgm:pt>
    <dgm:pt modelId="{234A54C3-F482-6B48-A668-CE8E4B82EAAD}" type="pres">
      <dgm:prSet presAssocID="{9CEF938B-3AB6-1C4A-868E-824E83151EF3}" presName="desTx" presStyleLbl="alignAccFollowNode1" presStyleIdx="1" presStyleCnt="2">
        <dgm:presLayoutVars>
          <dgm:bulletEnabled val="1"/>
        </dgm:presLayoutVars>
      </dgm:prSet>
      <dgm:spPr/>
      <dgm:t>
        <a:bodyPr/>
        <a:lstStyle/>
        <a:p>
          <a:endParaRPr lang="en-US"/>
        </a:p>
      </dgm:t>
    </dgm:pt>
  </dgm:ptLst>
  <dgm:cxnLst>
    <dgm:cxn modelId="{62875449-1059-184B-9CEE-41DDEFB943B5}" type="presOf" srcId="{C22769E0-F79D-2A48-99E6-0072A55CB91F}" destId="{CFF0933B-1875-2A40-BD66-ACDBDD55C810}" srcOrd="0" destOrd="0" presId="urn:microsoft.com/office/officeart/2005/8/layout/hList1"/>
    <dgm:cxn modelId="{ECD35BF2-9C8A-EA4F-95EC-A47E01804FEC}" srcId="{49A0F27C-AB06-6E46-860E-E92391784480}" destId="{08F4C89D-9E55-8C4B-90EC-7C256B024203}" srcOrd="0" destOrd="0" parTransId="{A9CA6853-ADAC-6744-8322-D6547E7C7744}" sibTransId="{20A5EB88-DF66-2B4D-9D6A-293EA87A6700}"/>
    <dgm:cxn modelId="{57B64E7F-CCBE-5B49-8DE5-5FB289D1D186}" type="presOf" srcId="{A314E1AD-1480-7F4E-9C90-CC158932228D}" destId="{250E2CAE-D7F2-CA49-ADA0-8E22EA6527F2}" srcOrd="0" destOrd="1" presId="urn:microsoft.com/office/officeart/2005/8/layout/hList1"/>
    <dgm:cxn modelId="{AE592B20-0454-2846-8F8B-148D2F44C101}" type="presOf" srcId="{30597B7A-D639-6143-AD21-79D3F5C49382}" destId="{234A54C3-F482-6B48-A668-CE8E4B82EAAD}" srcOrd="0" destOrd="0" presId="urn:microsoft.com/office/officeart/2005/8/layout/hList1"/>
    <dgm:cxn modelId="{17ECBBDE-4734-9D4D-9E93-6DDD74E978EF}" srcId="{9CEF938B-3AB6-1C4A-868E-824E83151EF3}" destId="{30597B7A-D639-6143-AD21-79D3F5C49382}" srcOrd="0" destOrd="0" parTransId="{7A386659-222E-3D44-B162-3C576E4C740C}" sibTransId="{74BFBC6E-20F4-C04E-A911-850026561AB1}"/>
    <dgm:cxn modelId="{79BF162A-6025-6B49-9B66-3B827C29AB63}" srcId="{49A0F27C-AB06-6E46-860E-E92391784480}" destId="{A314E1AD-1480-7F4E-9C90-CC158932228D}" srcOrd="1" destOrd="0" parTransId="{2B113B99-2156-6740-A053-8267C58D9583}" sibTransId="{AEC0E53B-FFC0-BD47-B80F-7F7E364788E6}"/>
    <dgm:cxn modelId="{FB8B6073-E941-834A-B6CA-CED348A66EF4}" type="presOf" srcId="{08F4C89D-9E55-8C4B-90EC-7C256B024203}" destId="{250E2CAE-D7F2-CA49-ADA0-8E22EA6527F2}" srcOrd="0" destOrd="0" presId="urn:microsoft.com/office/officeart/2005/8/layout/hList1"/>
    <dgm:cxn modelId="{D3166395-1754-8844-823D-6847303DCFF8}" srcId="{C22769E0-F79D-2A48-99E6-0072A55CB91F}" destId="{9CEF938B-3AB6-1C4A-868E-824E83151EF3}" srcOrd="1" destOrd="0" parTransId="{5B31B32D-0921-C146-B57A-CEC2F42C52ED}" sibTransId="{AFD55CEB-322D-254A-B87D-BCD53D6B0973}"/>
    <dgm:cxn modelId="{939CBA14-37DF-EA40-B6C7-3C7CE8CC0A67}" type="presOf" srcId="{49A0F27C-AB06-6E46-860E-E92391784480}" destId="{6F582257-B838-6749-BB83-2F605DAA800F}" srcOrd="0" destOrd="0" presId="urn:microsoft.com/office/officeart/2005/8/layout/hList1"/>
    <dgm:cxn modelId="{876D1080-874D-5245-AD72-798085879E0A}" srcId="{C22769E0-F79D-2A48-99E6-0072A55CB91F}" destId="{49A0F27C-AB06-6E46-860E-E92391784480}" srcOrd="0" destOrd="0" parTransId="{018374D5-DC26-C04B-8E9D-409ACA63319E}" sibTransId="{143C8E8D-211F-FC4B-AFBA-CB17F9C3BCE3}"/>
    <dgm:cxn modelId="{319307A1-B76F-8C4E-BFA8-6279EC826FC0}" type="presOf" srcId="{9CEF938B-3AB6-1C4A-868E-824E83151EF3}" destId="{C8B0C6AD-2083-E841-BB39-3B090FD5A631}" srcOrd="0" destOrd="0" presId="urn:microsoft.com/office/officeart/2005/8/layout/hList1"/>
    <dgm:cxn modelId="{95B207B2-0A3D-8941-8D18-6E66E8F0CFD6}" type="presParOf" srcId="{CFF0933B-1875-2A40-BD66-ACDBDD55C810}" destId="{38FD4BDC-E8A8-DC45-A63D-0427490DA7D3}" srcOrd="0" destOrd="0" presId="urn:microsoft.com/office/officeart/2005/8/layout/hList1"/>
    <dgm:cxn modelId="{FA3423D9-7167-0246-B81D-E25ECEF39AD8}" type="presParOf" srcId="{38FD4BDC-E8A8-DC45-A63D-0427490DA7D3}" destId="{6F582257-B838-6749-BB83-2F605DAA800F}" srcOrd="0" destOrd="0" presId="urn:microsoft.com/office/officeart/2005/8/layout/hList1"/>
    <dgm:cxn modelId="{557ABBD4-924B-C94F-8AB6-F84735252280}" type="presParOf" srcId="{38FD4BDC-E8A8-DC45-A63D-0427490DA7D3}" destId="{250E2CAE-D7F2-CA49-ADA0-8E22EA6527F2}" srcOrd="1" destOrd="0" presId="urn:microsoft.com/office/officeart/2005/8/layout/hList1"/>
    <dgm:cxn modelId="{0DE61627-56DD-7C45-906D-F16B8583ABE6}" type="presParOf" srcId="{CFF0933B-1875-2A40-BD66-ACDBDD55C810}" destId="{0E6BC24E-2DEB-E241-B86B-EEA675BFCE42}" srcOrd="1" destOrd="0" presId="urn:microsoft.com/office/officeart/2005/8/layout/hList1"/>
    <dgm:cxn modelId="{432E7946-19DC-0640-8E13-9EC79802DCFE}" type="presParOf" srcId="{CFF0933B-1875-2A40-BD66-ACDBDD55C810}" destId="{2FBE9ABB-75D1-1E4B-91E2-F572CB2814E2}" srcOrd="2" destOrd="0" presId="urn:microsoft.com/office/officeart/2005/8/layout/hList1"/>
    <dgm:cxn modelId="{8969AF25-D94D-F743-88A5-7DB61BEEB6FD}" type="presParOf" srcId="{2FBE9ABB-75D1-1E4B-91E2-F572CB2814E2}" destId="{C8B0C6AD-2083-E841-BB39-3B090FD5A631}" srcOrd="0" destOrd="0" presId="urn:microsoft.com/office/officeart/2005/8/layout/hList1"/>
    <dgm:cxn modelId="{7A3CE50E-1FD4-0E4F-9807-0B8E463C3B03}" type="presParOf" srcId="{2FBE9ABB-75D1-1E4B-91E2-F572CB2814E2}" destId="{234A54C3-F482-6B48-A668-CE8E4B82EAAD}"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2695EE7-84C4-0843-9048-38C1B2A3A4D5}"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5A576AF0-22C4-5B47-A5EA-762AF5228C29}">
      <dgm:prSet/>
      <dgm:spPr/>
      <dgm:t>
        <a:bodyPr/>
        <a:lstStyle/>
        <a:p>
          <a:pPr rtl="0"/>
          <a:r>
            <a:rPr lang="en-US" b="1" dirty="0" smtClean="0">
              <a:effectLst>
                <a:outerShdw blurRad="38100" dist="38100" dir="2700000" algn="tl">
                  <a:srgbClr val="000000">
                    <a:alpha val="43137"/>
                  </a:srgbClr>
                </a:outerShdw>
              </a:effectLst>
            </a:rPr>
            <a:t>A two-level hierarchy of symmetric keys can be used to provide confidentiality for communication in a distributed environment</a:t>
          </a:r>
          <a:endParaRPr lang="en-US" b="1" dirty="0">
            <a:effectLst>
              <a:outerShdw blurRad="38100" dist="38100" dir="2700000" algn="tl">
                <a:srgbClr val="000000">
                  <a:alpha val="43137"/>
                </a:srgbClr>
              </a:outerShdw>
            </a:effectLst>
          </a:endParaRPr>
        </a:p>
      </dgm:t>
    </dgm:pt>
    <dgm:pt modelId="{3D403A25-71B9-D54C-B601-10A3683A2234}" type="parTrans" cxnId="{8946B6A0-B7A4-2741-A18F-B8C51F9FB6E7}">
      <dgm:prSet/>
      <dgm:spPr/>
      <dgm:t>
        <a:bodyPr/>
        <a:lstStyle/>
        <a:p>
          <a:endParaRPr lang="en-US"/>
        </a:p>
      </dgm:t>
    </dgm:pt>
    <dgm:pt modelId="{0B1D92B6-9547-F24B-AA0A-2B312962B1A5}" type="sibTrans" cxnId="{8946B6A0-B7A4-2741-A18F-B8C51F9FB6E7}">
      <dgm:prSet/>
      <dgm:spPr/>
      <dgm:t>
        <a:bodyPr/>
        <a:lstStyle/>
        <a:p>
          <a:endParaRPr lang="en-US"/>
        </a:p>
      </dgm:t>
    </dgm:pt>
    <dgm:pt modelId="{B6796088-8339-534A-9BE7-7B08FCDF70CA}">
      <dgm:prSet/>
      <dgm:spPr>
        <a:ln>
          <a:solidFill>
            <a:schemeClr val="tx2">
              <a:lumMod val="60000"/>
              <a:lumOff val="40000"/>
            </a:schemeClr>
          </a:solidFill>
        </a:ln>
      </dgm:spPr>
      <dgm:t>
        <a:bodyPr/>
        <a:lstStyle/>
        <a:p>
          <a:pPr rtl="0"/>
          <a:r>
            <a:rPr lang="en-US" dirty="0" smtClean="0"/>
            <a:t>Strategy involves the use of a trusted key distribution center (KDC)</a:t>
          </a:r>
          <a:endParaRPr lang="en-US" dirty="0"/>
        </a:p>
      </dgm:t>
    </dgm:pt>
    <dgm:pt modelId="{2E03D444-417B-8741-987B-1655FB3FDD8F}" type="parTrans" cxnId="{97805ADD-29EF-9D4A-B281-FAD20DADA15B}">
      <dgm:prSet/>
      <dgm:spPr/>
      <dgm:t>
        <a:bodyPr/>
        <a:lstStyle/>
        <a:p>
          <a:endParaRPr lang="en-US"/>
        </a:p>
      </dgm:t>
    </dgm:pt>
    <dgm:pt modelId="{B0B12461-88FF-CF47-94EE-710EFBBA84E0}" type="sibTrans" cxnId="{97805ADD-29EF-9D4A-B281-FAD20DADA15B}">
      <dgm:prSet/>
      <dgm:spPr/>
      <dgm:t>
        <a:bodyPr/>
        <a:lstStyle/>
        <a:p>
          <a:endParaRPr lang="en-US"/>
        </a:p>
      </dgm:t>
    </dgm:pt>
    <dgm:pt modelId="{2E22C85B-FE1D-4C48-8BB2-F73D72C35045}">
      <dgm:prSet/>
      <dgm:spPr>
        <a:ln>
          <a:solidFill>
            <a:schemeClr val="tx2">
              <a:lumMod val="60000"/>
              <a:lumOff val="40000"/>
            </a:schemeClr>
          </a:solidFill>
        </a:ln>
      </dgm:spPr>
      <dgm:t>
        <a:bodyPr/>
        <a:lstStyle/>
        <a:p>
          <a:pPr rtl="0"/>
          <a:r>
            <a:rPr lang="en-US" dirty="0" smtClean="0"/>
            <a:t>Each party shares a secret key, known as a master key, with the KDC</a:t>
          </a:r>
          <a:endParaRPr lang="en-US" dirty="0"/>
        </a:p>
      </dgm:t>
    </dgm:pt>
    <dgm:pt modelId="{76836154-F00D-7146-AFFA-0274EF744EA0}" type="parTrans" cxnId="{A59A404C-4B4A-C846-9F34-60AC92CBE704}">
      <dgm:prSet/>
      <dgm:spPr/>
      <dgm:t>
        <a:bodyPr/>
        <a:lstStyle/>
        <a:p>
          <a:endParaRPr lang="en-US"/>
        </a:p>
      </dgm:t>
    </dgm:pt>
    <dgm:pt modelId="{DD2A799E-9945-D64C-9251-7BCE7B6E2DB9}" type="sibTrans" cxnId="{A59A404C-4B4A-C846-9F34-60AC92CBE704}">
      <dgm:prSet/>
      <dgm:spPr/>
      <dgm:t>
        <a:bodyPr/>
        <a:lstStyle/>
        <a:p>
          <a:endParaRPr lang="en-US"/>
        </a:p>
      </dgm:t>
    </dgm:pt>
    <dgm:pt modelId="{4B0705A2-AC8B-2942-912B-81D1C98DCF56}">
      <dgm:prSet/>
      <dgm:spPr>
        <a:ln>
          <a:solidFill>
            <a:schemeClr val="tx2">
              <a:lumMod val="60000"/>
              <a:lumOff val="40000"/>
            </a:schemeClr>
          </a:solidFill>
        </a:ln>
      </dgm:spPr>
      <dgm:t>
        <a:bodyPr/>
        <a:lstStyle/>
        <a:p>
          <a:pPr rtl="0"/>
          <a:r>
            <a:rPr lang="en-US" dirty="0" smtClean="0"/>
            <a:t>KDC is responsible for generating keys to be used for a short time over a connection between two parties and for distributing those keys using the master keys to protect the distribution</a:t>
          </a:r>
          <a:endParaRPr lang="en-US" dirty="0"/>
        </a:p>
      </dgm:t>
    </dgm:pt>
    <dgm:pt modelId="{D26BD8B9-3CDE-154E-8D3D-528B500A2145}" type="parTrans" cxnId="{CA991645-8E39-0B45-BAFB-4B721354AFD1}">
      <dgm:prSet/>
      <dgm:spPr/>
      <dgm:t>
        <a:bodyPr/>
        <a:lstStyle/>
        <a:p>
          <a:endParaRPr lang="en-US"/>
        </a:p>
      </dgm:t>
    </dgm:pt>
    <dgm:pt modelId="{F5C30E76-5067-1A4B-BB5A-CD45A66F1915}" type="sibTrans" cxnId="{CA991645-8E39-0B45-BAFB-4B721354AFD1}">
      <dgm:prSet/>
      <dgm:spPr/>
      <dgm:t>
        <a:bodyPr/>
        <a:lstStyle/>
        <a:p>
          <a:endParaRPr lang="en-US"/>
        </a:p>
      </dgm:t>
    </dgm:pt>
    <dgm:pt modelId="{AACC8E35-879E-944F-8B4A-997AED723BC6}" type="pres">
      <dgm:prSet presAssocID="{B2695EE7-84C4-0843-9048-38C1B2A3A4D5}" presName="Name0" presStyleCnt="0">
        <dgm:presLayoutVars>
          <dgm:dir/>
          <dgm:animLvl val="lvl"/>
          <dgm:resizeHandles val="exact"/>
        </dgm:presLayoutVars>
      </dgm:prSet>
      <dgm:spPr/>
      <dgm:t>
        <a:bodyPr/>
        <a:lstStyle/>
        <a:p>
          <a:endParaRPr lang="en-US"/>
        </a:p>
      </dgm:t>
    </dgm:pt>
    <dgm:pt modelId="{1C15BA0D-5A01-8940-83AA-ADCA09CE459E}" type="pres">
      <dgm:prSet presAssocID="{5A576AF0-22C4-5B47-A5EA-762AF5228C29}" presName="composite" presStyleCnt="0"/>
      <dgm:spPr/>
    </dgm:pt>
    <dgm:pt modelId="{6BACF627-1098-DA4A-A340-1BC48F0EA257}" type="pres">
      <dgm:prSet presAssocID="{5A576AF0-22C4-5B47-A5EA-762AF5228C29}" presName="parTx" presStyleLbl="alignNode1" presStyleIdx="0" presStyleCnt="1">
        <dgm:presLayoutVars>
          <dgm:chMax val="0"/>
          <dgm:chPref val="0"/>
          <dgm:bulletEnabled val="1"/>
        </dgm:presLayoutVars>
      </dgm:prSet>
      <dgm:spPr/>
      <dgm:t>
        <a:bodyPr/>
        <a:lstStyle/>
        <a:p>
          <a:endParaRPr lang="en-US"/>
        </a:p>
      </dgm:t>
    </dgm:pt>
    <dgm:pt modelId="{944EFA6F-E7B0-1E42-AD4C-1993C04C163B}" type="pres">
      <dgm:prSet presAssocID="{5A576AF0-22C4-5B47-A5EA-762AF5228C29}" presName="desTx" presStyleLbl="alignAccFollowNode1" presStyleIdx="0" presStyleCnt="1">
        <dgm:presLayoutVars>
          <dgm:bulletEnabled val="1"/>
        </dgm:presLayoutVars>
      </dgm:prSet>
      <dgm:spPr/>
      <dgm:t>
        <a:bodyPr/>
        <a:lstStyle/>
        <a:p>
          <a:endParaRPr lang="en-US"/>
        </a:p>
      </dgm:t>
    </dgm:pt>
  </dgm:ptLst>
  <dgm:cxnLst>
    <dgm:cxn modelId="{3025E8E5-0F54-BC42-B4D9-997EC40C43AC}" type="presOf" srcId="{2E22C85B-FE1D-4C48-8BB2-F73D72C35045}" destId="{944EFA6F-E7B0-1E42-AD4C-1993C04C163B}" srcOrd="0" destOrd="1" presId="urn:microsoft.com/office/officeart/2005/8/layout/hList1"/>
    <dgm:cxn modelId="{26D34C8C-D060-9540-9397-0E8DA33CB8E3}" type="presOf" srcId="{B2695EE7-84C4-0843-9048-38C1B2A3A4D5}" destId="{AACC8E35-879E-944F-8B4A-997AED723BC6}" srcOrd="0" destOrd="0" presId="urn:microsoft.com/office/officeart/2005/8/layout/hList1"/>
    <dgm:cxn modelId="{AC3588FB-4AD7-AE41-9D51-312BAC5B6A81}" type="presOf" srcId="{5A576AF0-22C4-5B47-A5EA-762AF5228C29}" destId="{6BACF627-1098-DA4A-A340-1BC48F0EA257}" srcOrd="0" destOrd="0" presId="urn:microsoft.com/office/officeart/2005/8/layout/hList1"/>
    <dgm:cxn modelId="{A59A404C-4B4A-C846-9F34-60AC92CBE704}" srcId="{5A576AF0-22C4-5B47-A5EA-762AF5228C29}" destId="{2E22C85B-FE1D-4C48-8BB2-F73D72C35045}" srcOrd="1" destOrd="0" parTransId="{76836154-F00D-7146-AFFA-0274EF744EA0}" sibTransId="{DD2A799E-9945-D64C-9251-7BCE7B6E2DB9}"/>
    <dgm:cxn modelId="{97805ADD-29EF-9D4A-B281-FAD20DADA15B}" srcId="{5A576AF0-22C4-5B47-A5EA-762AF5228C29}" destId="{B6796088-8339-534A-9BE7-7B08FCDF70CA}" srcOrd="0" destOrd="0" parTransId="{2E03D444-417B-8741-987B-1655FB3FDD8F}" sibTransId="{B0B12461-88FF-CF47-94EE-710EFBBA84E0}"/>
    <dgm:cxn modelId="{0D51C812-9E1A-A94D-802B-4CD1BB04871F}" type="presOf" srcId="{4B0705A2-AC8B-2942-912B-81D1C98DCF56}" destId="{944EFA6F-E7B0-1E42-AD4C-1993C04C163B}" srcOrd="0" destOrd="2" presId="urn:microsoft.com/office/officeart/2005/8/layout/hList1"/>
    <dgm:cxn modelId="{CA991645-8E39-0B45-BAFB-4B721354AFD1}" srcId="{5A576AF0-22C4-5B47-A5EA-762AF5228C29}" destId="{4B0705A2-AC8B-2942-912B-81D1C98DCF56}" srcOrd="2" destOrd="0" parTransId="{D26BD8B9-3CDE-154E-8D3D-528B500A2145}" sibTransId="{F5C30E76-5067-1A4B-BB5A-CD45A66F1915}"/>
    <dgm:cxn modelId="{8946B6A0-B7A4-2741-A18F-B8C51F9FB6E7}" srcId="{B2695EE7-84C4-0843-9048-38C1B2A3A4D5}" destId="{5A576AF0-22C4-5B47-A5EA-762AF5228C29}" srcOrd="0" destOrd="0" parTransId="{3D403A25-71B9-D54C-B601-10A3683A2234}" sibTransId="{0B1D92B6-9547-F24B-AA0A-2B312962B1A5}"/>
    <dgm:cxn modelId="{D13EA163-F6DC-C842-BD3E-FA51D9FFB031}" type="presOf" srcId="{B6796088-8339-534A-9BE7-7B08FCDF70CA}" destId="{944EFA6F-E7B0-1E42-AD4C-1993C04C163B}" srcOrd="0" destOrd="0" presId="urn:microsoft.com/office/officeart/2005/8/layout/hList1"/>
    <dgm:cxn modelId="{69C9502F-41CD-B14F-AB56-7CC2D6909345}" type="presParOf" srcId="{AACC8E35-879E-944F-8B4A-997AED723BC6}" destId="{1C15BA0D-5A01-8940-83AA-ADCA09CE459E}" srcOrd="0" destOrd="0" presId="urn:microsoft.com/office/officeart/2005/8/layout/hList1"/>
    <dgm:cxn modelId="{9630D110-5F09-B94D-A766-2F76BFDA9EA8}" type="presParOf" srcId="{1C15BA0D-5A01-8940-83AA-ADCA09CE459E}" destId="{6BACF627-1098-DA4A-A340-1BC48F0EA257}" srcOrd="0" destOrd="0" presId="urn:microsoft.com/office/officeart/2005/8/layout/hList1"/>
    <dgm:cxn modelId="{8E849771-6846-924E-9AC2-D6EEA31DC3FD}" type="presParOf" srcId="{1C15BA0D-5A01-8940-83AA-ADCA09CE459E}" destId="{944EFA6F-E7B0-1E42-AD4C-1993C04C163B}"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1D314E-0251-5440-A789-6DEDF538C8E8}" type="doc">
      <dgm:prSet loTypeId="urn:microsoft.com/office/officeart/2005/8/layout/cycle4" loCatId="relationship" qsTypeId="urn:microsoft.com/office/officeart/2005/8/quickstyle/simple4" qsCatId="simple" csTypeId="urn:microsoft.com/office/officeart/2005/8/colors/accent1_2" csCatId="accent1" phldr="1"/>
      <dgm:spPr/>
      <dgm:t>
        <a:bodyPr/>
        <a:lstStyle/>
        <a:p>
          <a:endParaRPr lang="en-US"/>
        </a:p>
      </dgm:t>
    </dgm:pt>
    <dgm:pt modelId="{28189915-DC50-1B43-B372-DE06253BC436}">
      <dgm:prSet phldrT="[Text]" custT="1"/>
      <dgm:spPr>
        <a:ln>
          <a:solidFill>
            <a:schemeClr val="tx1"/>
          </a:solidFill>
        </a:ln>
      </dgm:spPr>
      <dgm:t>
        <a:bodyPr/>
        <a:lstStyle/>
        <a:p>
          <a:r>
            <a:rPr lang="en-US" sz="1500" b="1" baseline="0" dirty="0" smtClean="0">
              <a:effectLst>
                <a:outerShdw blurRad="38100" dist="38100" dir="2700000" algn="tl">
                  <a:srgbClr val="000000">
                    <a:alpha val="43137"/>
                  </a:srgbClr>
                </a:outerShdw>
              </a:effectLst>
            </a:rPr>
            <a:t>Secure</a:t>
          </a:r>
          <a:endParaRPr lang="en-US" sz="1500" b="1" baseline="0" dirty="0">
            <a:effectLst>
              <a:outerShdw blurRad="38100" dist="38100" dir="2700000" algn="tl">
                <a:srgbClr val="000000">
                  <a:alpha val="43137"/>
                </a:srgbClr>
              </a:outerShdw>
            </a:effectLst>
          </a:endParaRPr>
        </a:p>
      </dgm:t>
    </dgm:pt>
    <dgm:pt modelId="{E8A978E7-C890-9D46-B7B0-5F667006133A}" type="parTrans" cxnId="{40DD7A0E-D2E0-0D49-983F-5EBE5AE57941}">
      <dgm:prSet/>
      <dgm:spPr/>
      <dgm:t>
        <a:bodyPr/>
        <a:lstStyle/>
        <a:p>
          <a:endParaRPr lang="en-US"/>
        </a:p>
      </dgm:t>
    </dgm:pt>
    <dgm:pt modelId="{EE8B39CA-5D29-284A-A772-2F84BEF312D7}" type="sibTrans" cxnId="{40DD7A0E-D2E0-0D49-983F-5EBE5AE57941}">
      <dgm:prSet/>
      <dgm:spPr/>
      <dgm:t>
        <a:bodyPr/>
        <a:lstStyle/>
        <a:p>
          <a:endParaRPr lang="en-US"/>
        </a:p>
      </dgm:t>
    </dgm:pt>
    <dgm:pt modelId="{D30B1E56-A663-994D-AF31-BFEF253F07E2}">
      <dgm:prSet custT="1"/>
      <dgm:spPr/>
      <dgm:t>
        <a:bodyPr/>
        <a:lstStyle/>
        <a:p>
          <a:r>
            <a:rPr lang="en-US" sz="1400" dirty="0" smtClean="0"/>
            <a:t>A network eavesdropper should not be able to obtain the necessary information to impersonate a user</a:t>
          </a:r>
        </a:p>
      </dgm:t>
    </dgm:pt>
    <dgm:pt modelId="{7BD3D1CA-7B7D-DE44-912C-F9E69782DC8A}" type="parTrans" cxnId="{1AF38A43-F697-2C46-B0F5-AE6BD5EA638B}">
      <dgm:prSet/>
      <dgm:spPr/>
      <dgm:t>
        <a:bodyPr/>
        <a:lstStyle/>
        <a:p>
          <a:endParaRPr lang="en-US"/>
        </a:p>
      </dgm:t>
    </dgm:pt>
    <dgm:pt modelId="{D0AEBA64-B289-5F4D-8416-8520F096037E}" type="sibTrans" cxnId="{1AF38A43-F697-2C46-B0F5-AE6BD5EA638B}">
      <dgm:prSet/>
      <dgm:spPr/>
      <dgm:t>
        <a:bodyPr/>
        <a:lstStyle/>
        <a:p>
          <a:endParaRPr lang="en-US"/>
        </a:p>
      </dgm:t>
    </dgm:pt>
    <dgm:pt modelId="{C5BBA010-CA24-A64E-9363-EAF0E65FF563}">
      <dgm:prSet custT="1"/>
      <dgm:spPr>
        <a:ln>
          <a:solidFill>
            <a:schemeClr val="tx1"/>
          </a:solidFill>
        </a:ln>
      </dgm:spPr>
      <dgm:t>
        <a:bodyPr/>
        <a:lstStyle/>
        <a:p>
          <a:r>
            <a:rPr lang="en-US" sz="1500" b="1" baseline="0" dirty="0" smtClean="0">
              <a:effectLst>
                <a:outerShdw blurRad="38100" dist="38100" dir="2700000" algn="tl">
                  <a:srgbClr val="000000">
                    <a:alpha val="43137"/>
                  </a:srgbClr>
                </a:outerShdw>
              </a:effectLst>
            </a:rPr>
            <a:t>Reliable</a:t>
          </a:r>
        </a:p>
      </dgm:t>
    </dgm:pt>
    <dgm:pt modelId="{7A1E641E-E58C-1949-93E4-826AF78418D6}" type="parTrans" cxnId="{753D81FF-3736-2A49-B2BA-368E77D3545F}">
      <dgm:prSet/>
      <dgm:spPr/>
      <dgm:t>
        <a:bodyPr/>
        <a:lstStyle/>
        <a:p>
          <a:endParaRPr lang="en-US"/>
        </a:p>
      </dgm:t>
    </dgm:pt>
    <dgm:pt modelId="{4D94A457-03F9-1146-A18B-1F529525D0C8}" type="sibTrans" cxnId="{753D81FF-3736-2A49-B2BA-368E77D3545F}">
      <dgm:prSet/>
      <dgm:spPr/>
      <dgm:t>
        <a:bodyPr/>
        <a:lstStyle/>
        <a:p>
          <a:endParaRPr lang="en-US"/>
        </a:p>
      </dgm:t>
    </dgm:pt>
    <dgm:pt modelId="{C9C083F8-4FA1-BD42-BEF2-804688AA49E8}">
      <dgm:prSet custT="1"/>
      <dgm:spPr/>
      <dgm:t>
        <a:bodyPr/>
        <a:lstStyle/>
        <a:p>
          <a:r>
            <a:rPr lang="en-US" sz="1400" dirty="0" smtClean="0"/>
            <a:t>Should be highly reliable and should employ a distributed server architecture with one system able to back up another</a:t>
          </a:r>
        </a:p>
      </dgm:t>
    </dgm:pt>
    <dgm:pt modelId="{81F447AB-0723-1D41-97EE-7BC3B2818DB5}" type="parTrans" cxnId="{CD452BE8-A58D-E44F-B929-7147A4BFDE46}">
      <dgm:prSet/>
      <dgm:spPr/>
      <dgm:t>
        <a:bodyPr/>
        <a:lstStyle/>
        <a:p>
          <a:endParaRPr lang="en-US"/>
        </a:p>
      </dgm:t>
    </dgm:pt>
    <dgm:pt modelId="{56AFD3E7-418F-AE45-85B4-E810FE7F0B25}" type="sibTrans" cxnId="{CD452BE8-A58D-E44F-B929-7147A4BFDE46}">
      <dgm:prSet/>
      <dgm:spPr/>
      <dgm:t>
        <a:bodyPr/>
        <a:lstStyle/>
        <a:p>
          <a:endParaRPr lang="en-US"/>
        </a:p>
      </dgm:t>
    </dgm:pt>
    <dgm:pt modelId="{38B7F4B3-9C61-5E48-A4B7-DCE9451201A1}">
      <dgm:prSet custT="1"/>
      <dgm:spPr>
        <a:ln>
          <a:solidFill>
            <a:schemeClr val="tx1"/>
          </a:solidFill>
        </a:ln>
      </dgm:spPr>
      <dgm:t>
        <a:bodyPr/>
        <a:lstStyle/>
        <a:p>
          <a:r>
            <a:rPr lang="en-US" sz="1500" b="1" baseline="0" dirty="0" smtClean="0">
              <a:effectLst>
                <a:outerShdw blurRad="38100" dist="38100" dir="2700000" algn="tl">
                  <a:srgbClr val="000000">
                    <a:alpha val="43137"/>
                  </a:srgbClr>
                </a:outerShdw>
              </a:effectLst>
            </a:rPr>
            <a:t>Transparent</a:t>
          </a:r>
        </a:p>
      </dgm:t>
    </dgm:pt>
    <dgm:pt modelId="{F8385B08-AE9A-B44E-8C56-1804D4664763}" type="parTrans" cxnId="{FE5A9C65-05DC-3E49-8F3B-6D76DFE41E02}">
      <dgm:prSet/>
      <dgm:spPr/>
      <dgm:t>
        <a:bodyPr/>
        <a:lstStyle/>
        <a:p>
          <a:endParaRPr lang="en-US"/>
        </a:p>
      </dgm:t>
    </dgm:pt>
    <dgm:pt modelId="{DDE29AE3-4DD1-B647-B69D-D269A69110FF}" type="sibTrans" cxnId="{FE5A9C65-05DC-3E49-8F3B-6D76DFE41E02}">
      <dgm:prSet/>
      <dgm:spPr/>
      <dgm:t>
        <a:bodyPr/>
        <a:lstStyle/>
        <a:p>
          <a:endParaRPr lang="en-US"/>
        </a:p>
      </dgm:t>
    </dgm:pt>
    <dgm:pt modelId="{C5127C40-8506-AF4A-B961-5CF16618ED85}">
      <dgm:prSet custT="1"/>
      <dgm:spPr/>
      <dgm:t>
        <a:bodyPr/>
        <a:lstStyle/>
        <a:p>
          <a:r>
            <a:rPr lang="en-US" sz="1400" dirty="0" smtClean="0"/>
            <a:t>Ideally, the user should not be aware that authentication is taking place beyond the requirement to enter a password</a:t>
          </a:r>
        </a:p>
      </dgm:t>
    </dgm:pt>
    <dgm:pt modelId="{9664B762-F0DF-0249-911C-AE17894A7D23}" type="parTrans" cxnId="{96640135-466F-B740-B924-4EA9AD6C42EF}">
      <dgm:prSet/>
      <dgm:spPr/>
      <dgm:t>
        <a:bodyPr/>
        <a:lstStyle/>
        <a:p>
          <a:endParaRPr lang="en-US"/>
        </a:p>
      </dgm:t>
    </dgm:pt>
    <dgm:pt modelId="{4A3ECD78-642C-3D4E-909A-2EB0116F6D5D}" type="sibTrans" cxnId="{96640135-466F-B740-B924-4EA9AD6C42EF}">
      <dgm:prSet/>
      <dgm:spPr/>
      <dgm:t>
        <a:bodyPr/>
        <a:lstStyle/>
        <a:p>
          <a:endParaRPr lang="en-US"/>
        </a:p>
      </dgm:t>
    </dgm:pt>
    <dgm:pt modelId="{740BAE34-107D-474B-9164-E174764560DA}">
      <dgm:prSet custT="1"/>
      <dgm:spPr>
        <a:ln>
          <a:solidFill>
            <a:schemeClr val="tx1"/>
          </a:solidFill>
        </a:ln>
      </dgm:spPr>
      <dgm:t>
        <a:bodyPr/>
        <a:lstStyle/>
        <a:p>
          <a:r>
            <a:rPr lang="en-US" sz="1500" b="1" baseline="0" dirty="0" smtClean="0">
              <a:effectLst>
                <a:outerShdw blurRad="38100" dist="38100" dir="2700000" algn="tl">
                  <a:srgbClr val="000000">
                    <a:alpha val="43137"/>
                  </a:srgbClr>
                </a:outerShdw>
              </a:effectLst>
            </a:rPr>
            <a:t>Scalable</a:t>
          </a:r>
        </a:p>
      </dgm:t>
    </dgm:pt>
    <dgm:pt modelId="{C310D8ED-0E42-9E4B-8777-449CE2D8F5E3}" type="parTrans" cxnId="{1CE18D53-7D8B-E442-AFA6-FF86663957A5}">
      <dgm:prSet/>
      <dgm:spPr/>
      <dgm:t>
        <a:bodyPr/>
        <a:lstStyle/>
        <a:p>
          <a:endParaRPr lang="en-US"/>
        </a:p>
      </dgm:t>
    </dgm:pt>
    <dgm:pt modelId="{E9D71ECA-B515-DA46-B66A-49591A4555FE}" type="sibTrans" cxnId="{1CE18D53-7D8B-E442-AFA6-FF86663957A5}">
      <dgm:prSet/>
      <dgm:spPr/>
      <dgm:t>
        <a:bodyPr/>
        <a:lstStyle/>
        <a:p>
          <a:endParaRPr lang="en-US"/>
        </a:p>
      </dgm:t>
    </dgm:pt>
    <dgm:pt modelId="{457A7C48-34E0-6444-B066-CB9D63B15F43}">
      <dgm:prSet custT="1"/>
      <dgm:spPr/>
      <dgm:t>
        <a:bodyPr/>
        <a:lstStyle/>
        <a:p>
          <a:r>
            <a:rPr lang="en-US" sz="1400" dirty="0" smtClean="0"/>
            <a:t>The system should be capable of supporting large numbers of clients and servers</a:t>
          </a:r>
        </a:p>
      </dgm:t>
    </dgm:pt>
    <dgm:pt modelId="{D517B6BB-30B4-A84E-9B91-554CD58131E0}" type="parTrans" cxnId="{0E7E7FA2-98DB-C341-AC0D-CB7CF8025F76}">
      <dgm:prSet/>
      <dgm:spPr/>
      <dgm:t>
        <a:bodyPr/>
        <a:lstStyle/>
        <a:p>
          <a:endParaRPr lang="en-US"/>
        </a:p>
      </dgm:t>
    </dgm:pt>
    <dgm:pt modelId="{79A919A8-B016-4B40-9C4D-FF8646B3BF6B}" type="sibTrans" cxnId="{0E7E7FA2-98DB-C341-AC0D-CB7CF8025F76}">
      <dgm:prSet/>
      <dgm:spPr/>
      <dgm:t>
        <a:bodyPr/>
        <a:lstStyle/>
        <a:p>
          <a:endParaRPr lang="en-US"/>
        </a:p>
      </dgm:t>
    </dgm:pt>
    <dgm:pt modelId="{9D2686BE-0D14-8D48-AB6C-DB3C638FD4A6}" type="pres">
      <dgm:prSet presAssocID="{041D314E-0251-5440-A789-6DEDF538C8E8}" presName="cycleMatrixDiagram" presStyleCnt="0">
        <dgm:presLayoutVars>
          <dgm:chMax val="1"/>
          <dgm:dir/>
          <dgm:animLvl val="lvl"/>
          <dgm:resizeHandles val="exact"/>
        </dgm:presLayoutVars>
      </dgm:prSet>
      <dgm:spPr/>
      <dgm:t>
        <a:bodyPr/>
        <a:lstStyle/>
        <a:p>
          <a:endParaRPr lang="en-US"/>
        </a:p>
      </dgm:t>
    </dgm:pt>
    <dgm:pt modelId="{7FC20CB2-222B-1C4F-90C2-921E94541499}" type="pres">
      <dgm:prSet presAssocID="{041D314E-0251-5440-A789-6DEDF538C8E8}" presName="children" presStyleCnt="0"/>
      <dgm:spPr/>
    </dgm:pt>
    <dgm:pt modelId="{21EDECC9-B523-C040-8B58-8C723ABBCEC8}" type="pres">
      <dgm:prSet presAssocID="{041D314E-0251-5440-A789-6DEDF538C8E8}" presName="child1group" presStyleCnt="0"/>
      <dgm:spPr/>
    </dgm:pt>
    <dgm:pt modelId="{F39C2C61-3299-114B-889B-970DB00EE6E5}" type="pres">
      <dgm:prSet presAssocID="{041D314E-0251-5440-A789-6DEDF538C8E8}" presName="child1" presStyleLbl="bgAcc1" presStyleIdx="0" presStyleCnt="4" custScaleX="155642"/>
      <dgm:spPr/>
      <dgm:t>
        <a:bodyPr/>
        <a:lstStyle/>
        <a:p>
          <a:endParaRPr lang="en-US"/>
        </a:p>
      </dgm:t>
    </dgm:pt>
    <dgm:pt modelId="{C3A16878-C2E1-094C-8E0C-0BA80CFEBB92}" type="pres">
      <dgm:prSet presAssocID="{041D314E-0251-5440-A789-6DEDF538C8E8}" presName="child1Text" presStyleLbl="bgAcc1" presStyleIdx="0" presStyleCnt="4">
        <dgm:presLayoutVars>
          <dgm:bulletEnabled val="1"/>
        </dgm:presLayoutVars>
      </dgm:prSet>
      <dgm:spPr/>
      <dgm:t>
        <a:bodyPr/>
        <a:lstStyle/>
        <a:p>
          <a:endParaRPr lang="en-US"/>
        </a:p>
      </dgm:t>
    </dgm:pt>
    <dgm:pt modelId="{D74A22F2-F062-FC4E-96EF-1141BC2B7C63}" type="pres">
      <dgm:prSet presAssocID="{041D314E-0251-5440-A789-6DEDF538C8E8}" presName="child2group" presStyleCnt="0"/>
      <dgm:spPr/>
    </dgm:pt>
    <dgm:pt modelId="{678481E7-AAD5-6844-8B64-9B07D4588FD2}" type="pres">
      <dgm:prSet presAssocID="{041D314E-0251-5440-A789-6DEDF538C8E8}" presName="child2" presStyleLbl="bgAcc1" presStyleIdx="1" presStyleCnt="4" custScaleX="140486" custLinFactNeighborX="37178" custLinFactNeighborY="0"/>
      <dgm:spPr/>
      <dgm:t>
        <a:bodyPr/>
        <a:lstStyle/>
        <a:p>
          <a:endParaRPr lang="en-US"/>
        </a:p>
      </dgm:t>
    </dgm:pt>
    <dgm:pt modelId="{A0182CD2-BFBC-4544-A5E0-561B5A4C558E}" type="pres">
      <dgm:prSet presAssocID="{041D314E-0251-5440-A789-6DEDF538C8E8}" presName="child2Text" presStyleLbl="bgAcc1" presStyleIdx="1" presStyleCnt="4">
        <dgm:presLayoutVars>
          <dgm:bulletEnabled val="1"/>
        </dgm:presLayoutVars>
      </dgm:prSet>
      <dgm:spPr/>
      <dgm:t>
        <a:bodyPr/>
        <a:lstStyle/>
        <a:p>
          <a:endParaRPr lang="en-US"/>
        </a:p>
      </dgm:t>
    </dgm:pt>
    <dgm:pt modelId="{F9546F22-5479-714D-8AB9-9CDFE81F8701}" type="pres">
      <dgm:prSet presAssocID="{041D314E-0251-5440-A789-6DEDF538C8E8}" presName="child3group" presStyleCnt="0"/>
      <dgm:spPr/>
    </dgm:pt>
    <dgm:pt modelId="{F9E2930D-2408-6E41-BDE9-CEE15F869892}" type="pres">
      <dgm:prSet presAssocID="{041D314E-0251-5440-A789-6DEDF538C8E8}" presName="child3" presStyleLbl="bgAcc1" presStyleIdx="2" presStyleCnt="4" custScaleX="205466" custLinFactNeighborX="46388" custLinFactNeighborY="9766"/>
      <dgm:spPr/>
      <dgm:t>
        <a:bodyPr/>
        <a:lstStyle/>
        <a:p>
          <a:endParaRPr lang="en-US"/>
        </a:p>
      </dgm:t>
    </dgm:pt>
    <dgm:pt modelId="{6B3C138F-670A-E146-B03A-B95239E9C71B}" type="pres">
      <dgm:prSet presAssocID="{041D314E-0251-5440-A789-6DEDF538C8E8}" presName="child3Text" presStyleLbl="bgAcc1" presStyleIdx="2" presStyleCnt="4">
        <dgm:presLayoutVars>
          <dgm:bulletEnabled val="1"/>
        </dgm:presLayoutVars>
      </dgm:prSet>
      <dgm:spPr/>
      <dgm:t>
        <a:bodyPr/>
        <a:lstStyle/>
        <a:p>
          <a:endParaRPr lang="en-US"/>
        </a:p>
      </dgm:t>
    </dgm:pt>
    <dgm:pt modelId="{53E82C5F-E308-D14F-B00E-F3D1D628293C}" type="pres">
      <dgm:prSet presAssocID="{041D314E-0251-5440-A789-6DEDF538C8E8}" presName="child4group" presStyleCnt="0"/>
      <dgm:spPr/>
    </dgm:pt>
    <dgm:pt modelId="{BB581DDD-03D3-B749-B719-7B9A755EE59A}" type="pres">
      <dgm:prSet presAssocID="{041D314E-0251-5440-A789-6DEDF538C8E8}" presName="child4" presStyleLbl="bgAcc1" presStyleIdx="3" presStyleCnt="4" custScaleX="152277"/>
      <dgm:spPr/>
      <dgm:t>
        <a:bodyPr/>
        <a:lstStyle/>
        <a:p>
          <a:endParaRPr lang="en-US"/>
        </a:p>
      </dgm:t>
    </dgm:pt>
    <dgm:pt modelId="{22089728-1834-5B4D-854F-FB80528D5EE3}" type="pres">
      <dgm:prSet presAssocID="{041D314E-0251-5440-A789-6DEDF538C8E8}" presName="child4Text" presStyleLbl="bgAcc1" presStyleIdx="3" presStyleCnt="4">
        <dgm:presLayoutVars>
          <dgm:bulletEnabled val="1"/>
        </dgm:presLayoutVars>
      </dgm:prSet>
      <dgm:spPr/>
      <dgm:t>
        <a:bodyPr/>
        <a:lstStyle/>
        <a:p>
          <a:endParaRPr lang="en-US"/>
        </a:p>
      </dgm:t>
    </dgm:pt>
    <dgm:pt modelId="{042B640E-140C-044D-8830-793761267E10}" type="pres">
      <dgm:prSet presAssocID="{041D314E-0251-5440-A789-6DEDF538C8E8}" presName="childPlaceholder" presStyleCnt="0"/>
      <dgm:spPr/>
    </dgm:pt>
    <dgm:pt modelId="{6ED0A6F7-F0FE-264B-96D9-7D7517DEA1FD}" type="pres">
      <dgm:prSet presAssocID="{041D314E-0251-5440-A789-6DEDF538C8E8}" presName="circle" presStyleCnt="0"/>
      <dgm:spPr/>
    </dgm:pt>
    <dgm:pt modelId="{30BF6143-F679-FC45-862B-950623B33DDB}" type="pres">
      <dgm:prSet presAssocID="{041D314E-0251-5440-A789-6DEDF538C8E8}" presName="quadrant1" presStyleLbl="node1" presStyleIdx="0" presStyleCnt="4">
        <dgm:presLayoutVars>
          <dgm:chMax val="1"/>
          <dgm:bulletEnabled val="1"/>
        </dgm:presLayoutVars>
      </dgm:prSet>
      <dgm:spPr/>
      <dgm:t>
        <a:bodyPr/>
        <a:lstStyle/>
        <a:p>
          <a:endParaRPr lang="en-US"/>
        </a:p>
      </dgm:t>
    </dgm:pt>
    <dgm:pt modelId="{176C77C4-D19F-344E-92DE-A6B9570BCA1F}" type="pres">
      <dgm:prSet presAssocID="{041D314E-0251-5440-A789-6DEDF538C8E8}" presName="quadrant2" presStyleLbl="node1" presStyleIdx="1" presStyleCnt="4">
        <dgm:presLayoutVars>
          <dgm:chMax val="1"/>
          <dgm:bulletEnabled val="1"/>
        </dgm:presLayoutVars>
      </dgm:prSet>
      <dgm:spPr/>
      <dgm:t>
        <a:bodyPr/>
        <a:lstStyle/>
        <a:p>
          <a:endParaRPr lang="en-US"/>
        </a:p>
      </dgm:t>
    </dgm:pt>
    <dgm:pt modelId="{CD66DE2C-51E6-DA44-B650-0AAB6A5FFEBD}" type="pres">
      <dgm:prSet presAssocID="{041D314E-0251-5440-A789-6DEDF538C8E8}" presName="quadrant3" presStyleLbl="node1" presStyleIdx="2" presStyleCnt="4">
        <dgm:presLayoutVars>
          <dgm:chMax val="1"/>
          <dgm:bulletEnabled val="1"/>
        </dgm:presLayoutVars>
      </dgm:prSet>
      <dgm:spPr/>
      <dgm:t>
        <a:bodyPr/>
        <a:lstStyle/>
        <a:p>
          <a:endParaRPr lang="en-US"/>
        </a:p>
      </dgm:t>
    </dgm:pt>
    <dgm:pt modelId="{43309631-90F4-5C48-AC3B-79C7995F6171}" type="pres">
      <dgm:prSet presAssocID="{041D314E-0251-5440-A789-6DEDF538C8E8}" presName="quadrant4" presStyleLbl="node1" presStyleIdx="3" presStyleCnt="4">
        <dgm:presLayoutVars>
          <dgm:chMax val="1"/>
          <dgm:bulletEnabled val="1"/>
        </dgm:presLayoutVars>
      </dgm:prSet>
      <dgm:spPr/>
      <dgm:t>
        <a:bodyPr/>
        <a:lstStyle/>
        <a:p>
          <a:endParaRPr lang="en-US"/>
        </a:p>
      </dgm:t>
    </dgm:pt>
    <dgm:pt modelId="{167AC9B9-0A5F-7A4D-8A40-F3518272D444}" type="pres">
      <dgm:prSet presAssocID="{041D314E-0251-5440-A789-6DEDF538C8E8}" presName="quadrantPlaceholder" presStyleCnt="0"/>
      <dgm:spPr/>
    </dgm:pt>
    <dgm:pt modelId="{4658959C-5910-6E41-8A61-66FC67E316B9}" type="pres">
      <dgm:prSet presAssocID="{041D314E-0251-5440-A789-6DEDF538C8E8}" presName="center1" presStyleLbl="fgShp" presStyleIdx="0" presStyleCnt="2" custLinFactX="-200000" custLinFactNeighborX="-214047" custLinFactNeighborY="1923"/>
      <dgm:spPr>
        <a:solidFill>
          <a:schemeClr val="bg1">
            <a:alpha val="0"/>
          </a:schemeClr>
        </a:solidFill>
      </dgm:spPr>
    </dgm:pt>
    <dgm:pt modelId="{5BF39C05-9EB6-C449-8E03-B8081DC74E1B}" type="pres">
      <dgm:prSet presAssocID="{041D314E-0251-5440-A789-6DEDF538C8E8}" presName="center2" presStyleLbl="fgShp" presStyleIdx="1" presStyleCnt="2" custLinFactX="-200000" custLinFactNeighborX="-214047" custLinFactNeighborY="-36538"/>
      <dgm:spPr>
        <a:solidFill>
          <a:schemeClr val="bg1">
            <a:alpha val="0"/>
          </a:schemeClr>
        </a:solidFill>
      </dgm:spPr>
    </dgm:pt>
  </dgm:ptLst>
  <dgm:cxnLst>
    <dgm:cxn modelId="{56E79450-405C-2343-82D6-D85BC1B8EA9B}" type="presOf" srcId="{28189915-DC50-1B43-B372-DE06253BC436}" destId="{30BF6143-F679-FC45-862B-950623B33DDB}" srcOrd="0" destOrd="0" presId="urn:microsoft.com/office/officeart/2005/8/layout/cycle4"/>
    <dgm:cxn modelId="{01B0393E-3A54-EA4C-A9DD-6E13A8755D25}" type="presOf" srcId="{C9C083F8-4FA1-BD42-BEF2-804688AA49E8}" destId="{678481E7-AAD5-6844-8B64-9B07D4588FD2}" srcOrd="0" destOrd="0" presId="urn:microsoft.com/office/officeart/2005/8/layout/cycle4"/>
    <dgm:cxn modelId="{40DD7A0E-D2E0-0D49-983F-5EBE5AE57941}" srcId="{041D314E-0251-5440-A789-6DEDF538C8E8}" destId="{28189915-DC50-1B43-B372-DE06253BC436}" srcOrd="0" destOrd="0" parTransId="{E8A978E7-C890-9D46-B7B0-5F667006133A}" sibTransId="{EE8B39CA-5D29-284A-A772-2F84BEF312D7}"/>
    <dgm:cxn modelId="{753D81FF-3736-2A49-B2BA-368E77D3545F}" srcId="{041D314E-0251-5440-A789-6DEDF538C8E8}" destId="{C5BBA010-CA24-A64E-9363-EAF0E65FF563}" srcOrd="1" destOrd="0" parTransId="{7A1E641E-E58C-1949-93E4-826AF78418D6}" sibTransId="{4D94A457-03F9-1146-A18B-1F529525D0C8}"/>
    <dgm:cxn modelId="{1CE18D53-7D8B-E442-AFA6-FF86663957A5}" srcId="{041D314E-0251-5440-A789-6DEDF538C8E8}" destId="{740BAE34-107D-474B-9164-E174764560DA}" srcOrd="3" destOrd="0" parTransId="{C310D8ED-0E42-9E4B-8777-449CE2D8F5E3}" sibTransId="{E9D71ECA-B515-DA46-B66A-49591A4555FE}"/>
    <dgm:cxn modelId="{1AF38A43-F697-2C46-B0F5-AE6BD5EA638B}" srcId="{28189915-DC50-1B43-B372-DE06253BC436}" destId="{D30B1E56-A663-994D-AF31-BFEF253F07E2}" srcOrd="0" destOrd="0" parTransId="{7BD3D1CA-7B7D-DE44-912C-F9E69782DC8A}" sibTransId="{D0AEBA64-B289-5F4D-8416-8520F096037E}"/>
    <dgm:cxn modelId="{FE5A9C65-05DC-3E49-8F3B-6D76DFE41E02}" srcId="{041D314E-0251-5440-A789-6DEDF538C8E8}" destId="{38B7F4B3-9C61-5E48-A4B7-DCE9451201A1}" srcOrd="2" destOrd="0" parTransId="{F8385B08-AE9A-B44E-8C56-1804D4664763}" sibTransId="{DDE29AE3-4DD1-B647-B69D-D269A69110FF}"/>
    <dgm:cxn modelId="{A7FCAF46-57AB-4646-9DB9-B2B3979462E2}" type="presOf" srcId="{C9C083F8-4FA1-BD42-BEF2-804688AA49E8}" destId="{A0182CD2-BFBC-4544-A5E0-561B5A4C558E}" srcOrd="1" destOrd="0" presId="urn:microsoft.com/office/officeart/2005/8/layout/cycle4"/>
    <dgm:cxn modelId="{AF949A90-CB27-E348-ABBC-6AAA8BC2C715}" type="presOf" srcId="{457A7C48-34E0-6444-B066-CB9D63B15F43}" destId="{BB581DDD-03D3-B749-B719-7B9A755EE59A}" srcOrd="0" destOrd="0" presId="urn:microsoft.com/office/officeart/2005/8/layout/cycle4"/>
    <dgm:cxn modelId="{CD452BE8-A58D-E44F-B929-7147A4BFDE46}" srcId="{C5BBA010-CA24-A64E-9363-EAF0E65FF563}" destId="{C9C083F8-4FA1-BD42-BEF2-804688AA49E8}" srcOrd="0" destOrd="0" parTransId="{81F447AB-0723-1D41-97EE-7BC3B2818DB5}" sibTransId="{56AFD3E7-418F-AE45-85B4-E810FE7F0B25}"/>
    <dgm:cxn modelId="{1180323B-DABE-D044-84E3-7E5245AD81CD}" type="presOf" srcId="{457A7C48-34E0-6444-B066-CB9D63B15F43}" destId="{22089728-1834-5B4D-854F-FB80528D5EE3}" srcOrd="1" destOrd="0" presId="urn:microsoft.com/office/officeart/2005/8/layout/cycle4"/>
    <dgm:cxn modelId="{A024A5CC-3C84-EF45-B8CE-7B40606D9C0E}" type="presOf" srcId="{D30B1E56-A663-994D-AF31-BFEF253F07E2}" destId="{F39C2C61-3299-114B-889B-970DB00EE6E5}" srcOrd="0" destOrd="0" presId="urn:microsoft.com/office/officeart/2005/8/layout/cycle4"/>
    <dgm:cxn modelId="{A589E3E8-B02E-B94C-B7D7-9BCA1C32DD76}" type="presOf" srcId="{041D314E-0251-5440-A789-6DEDF538C8E8}" destId="{9D2686BE-0D14-8D48-AB6C-DB3C638FD4A6}" srcOrd="0" destOrd="0" presId="urn:microsoft.com/office/officeart/2005/8/layout/cycle4"/>
    <dgm:cxn modelId="{B1DE1EED-D435-5E46-AB6C-0546B4145848}" type="presOf" srcId="{C5127C40-8506-AF4A-B961-5CF16618ED85}" destId="{6B3C138F-670A-E146-B03A-B95239E9C71B}" srcOrd="1" destOrd="0" presId="urn:microsoft.com/office/officeart/2005/8/layout/cycle4"/>
    <dgm:cxn modelId="{9D1536F7-F5EA-EE42-8FB4-21359DAC517D}" type="presOf" srcId="{D30B1E56-A663-994D-AF31-BFEF253F07E2}" destId="{C3A16878-C2E1-094C-8E0C-0BA80CFEBB92}" srcOrd="1" destOrd="0" presId="urn:microsoft.com/office/officeart/2005/8/layout/cycle4"/>
    <dgm:cxn modelId="{0E7E7FA2-98DB-C341-AC0D-CB7CF8025F76}" srcId="{740BAE34-107D-474B-9164-E174764560DA}" destId="{457A7C48-34E0-6444-B066-CB9D63B15F43}" srcOrd="0" destOrd="0" parTransId="{D517B6BB-30B4-A84E-9B91-554CD58131E0}" sibTransId="{79A919A8-B016-4B40-9C4D-FF8646B3BF6B}"/>
    <dgm:cxn modelId="{C0F0E8F3-C9C3-CB44-97FA-FCC1413DC92D}" type="presOf" srcId="{740BAE34-107D-474B-9164-E174764560DA}" destId="{43309631-90F4-5C48-AC3B-79C7995F6171}" srcOrd="0" destOrd="0" presId="urn:microsoft.com/office/officeart/2005/8/layout/cycle4"/>
    <dgm:cxn modelId="{E4488ABF-88CC-8E45-B958-6CDBC8D1C22A}" type="presOf" srcId="{38B7F4B3-9C61-5E48-A4B7-DCE9451201A1}" destId="{CD66DE2C-51E6-DA44-B650-0AAB6A5FFEBD}" srcOrd="0" destOrd="0" presId="urn:microsoft.com/office/officeart/2005/8/layout/cycle4"/>
    <dgm:cxn modelId="{F36E7987-3087-3642-96F7-2094FBE62936}" type="presOf" srcId="{C5127C40-8506-AF4A-B961-5CF16618ED85}" destId="{F9E2930D-2408-6E41-BDE9-CEE15F869892}" srcOrd="0" destOrd="0" presId="urn:microsoft.com/office/officeart/2005/8/layout/cycle4"/>
    <dgm:cxn modelId="{BD974EF1-5572-2C40-8EF1-3D48F0E76A25}" type="presOf" srcId="{C5BBA010-CA24-A64E-9363-EAF0E65FF563}" destId="{176C77C4-D19F-344E-92DE-A6B9570BCA1F}" srcOrd="0" destOrd="0" presId="urn:microsoft.com/office/officeart/2005/8/layout/cycle4"/>
    <dgm:cxn modelId="{96640135-466F-B740-B924-4EA9AD6C42EF}" srcId="{38B7F4B3-9C61-5E48-A4B7-DCE9451201A1}" destId="{C5127C40-8506-AF4A-B961-5CF16618ED85}" srcOrd="0" destOrd="0" parTransId="{9664B762-F0DF-0249-911C-AE17894A7D23}" sibTransId="{4A3ECD78-642C-3D4E-909A-2EB0116F6D5D}"/>
    <dgm:cxn modelId="{DACC3F44-EFEB-7943-AC9D-34BDDA9CAF61}" type="presParOf" srcId="{9D2686BE-0D14-8D48-AB6C-DB3C638FD4A6}" destId="{7FC20CB2-222B-1C4F-90C2-921E94541499}" srcOrd="0" destOrd="0" presId="urn:microsoft.com/office/officeart/2005/8/layout/cycle4"/>
    <dgm:cxn modelId="{803C3CEA-4CF6-474E-87DD-3721C52030A8}" type="presParOf" srcId="{7FC20CB2-222B-1C4F-90C2-921E94541499}" destId="{21EDECC9-B523-C040-8B58-8C723ABBCEC8}" srcOrd="0" destOrd="0" presId="urn:microsoft.com/office/officeart/2005/8/layout/cycle4"/>
    <dgm:cxn modelId="{EDE201B3-55D9-6D46-83A9-18EE4B174E93}" type="presParOf" srcId="{21EDECC9-B523-C040-8B58-8C723ABBCEC8}" destId="{F39C2C61-3299-114B-889B-970DB00EE6E5}" srcOrd="0" destOrd="0" presId="urn:microsoft.com/office/officeart/2005/8/layout/cycle4"/>
    <dgm:cxn modelId="{448BF2E7-B526-C346-BC97-F462AD02A571}" type="presParOf" srcId="{21EDECC9-B523-C040-8B58-8C723ABBCEC8}" destId="{C3A16878-C2E1-094C-8E0C-0BA80CFEBB92}" srcOrd="1" destOrd="0" presId="urn:microsoft.com/office/officeart/2005/8/layout/cycle4"/>
    <dgm:cxn modelId="{D915940C-2132-464C-86E4-8DBC5BDBB75E}" type="presParOf" srcId="{7FC20CB2-222B-1C4F-90C2-921E94541499}" destId="{D74A22F2-F062-FC4E-96EF-1141BC2B7C63}" srcOrd="1" destOrd="0" presId="urn:microsoft.com/office/officeart/2005/8/layout/cycle4"/>
    <dgm:cxn modelId="{E2A7759A-32ED-1345-86B4-73F8809B4656}" type="presParOf" srcId="{D74A22F2-F062-FC4E-96EF-1141BC2B7C63}" destId="{678481E7-AAD5-6844-8B64-9B07D4588FD2}" srcOrd="0" destOrd="0" presId="urn:microsoft.com/office/officeart/2005/8/layout/cycle4"/>
    <dgm:cxn modelId="{7D2AFF79-374D-B643-9906-6BD4DFECC4A7}" type="presParOf" srcId="{D74A22F2-F062-FC4E-96EF-1141BC2B7C63}" destId="{A0182CD2-BFBC-4544-A5E0-561B5A4C558E}" srcOrd="1" destOrd="0" presId="urn:microsoft.com/office/officeart/2005/8/layout/cycle4"/>
    <dgm:cxn modelId="{3D5D6426-1217-5348-AFC8-430E0E672612}" type="presParOf" srcId="{7FC20CB2-222B-1C4F-90C2-921E94541499}" destId="{F9546F22-5479-714D-8AB9-9CDFE81F8701}" srcOrd="2" destOrd="0" presId="urn:microsoft.com/office/officeart/2005/8/layout/cycle4"/>
    <dgm:cxn modelId="{424FEFDC-6B8D-9647-B0E7-90D0CE7174E5}" type="presParOf" srcId="{F9546F22-5479-714D-8AB9-9CDFE81F8701}" destId="{F9E2930D-2408-6E41-BDE9-CEE15F869892}" srcOrd="0" destOrd="0" presId="urn:microsoft.com/office/officeart/2005/8/layout/cycle4"/>
    <dgm:cxn modelId="{062D2EA4-6090-C348-BB11-B9861F42F801}" type="presParOf" srcId="{F9546F22-5479-714D-8AB9-9CDFE81F8701}" destId="{6B3C138F-670A-E146-B03A-B95239E9C71B}" srcOrd="1" destOrd="0" presId="urn:microsoft.com/office/officeart/2005/8/layout/cycle4"/>
    <dgm:cxn modelId="{DC2A1A11-70FD-1944-891A-D0BD590D136F}" type="presParOf" srcId="{7FC20CB2-222B-1C4F-90C2-921E94541499}" destId="{53E82C5F-E308-D14F-B00E-F3D1D628293C}" srcOrd="3" destOrd="0" presId="urn:microsoft.com/office/officeart/2005/8/layout/cycle4"/>
    <dgm:cxn modelId="{E9A61EFC-703D-0143-8B1A-E31A041BC2C1}" type="presParOf" srcId="{53E82C5F-E308-D14F-B00E-F3D1D628293C}" destId="{BB581DDD-03D3-B749-B719-7B9A755EE59A}" srcOrd="0" destOrd="0" presId="urn:microsoft.com/office/officeart/2005/8/layout/cycle4"/>
    <dgm:cxn modelId="{DC4EA676-4F3B-504E-A2E1-CAED6902B5ED}" type="presParOf" srcId="{53E82C5F-E308-D14F-B00E-F3D1D628293C}" destId="{22089728-1834-5B4D-854F-FB80528D5EE3}" srcOrd="1" destOrd="0" presId="urn:microsoft.com/office/officeart/2005/8/layout/cycle4"/>
    <dgm:cxn modelId="{39874428-70E4-2B49-868B-CD5841049627}" type="presParOf" srcId="{7FC20CB2-222B-1C4F-90C2-921E94541499}" destId="{042B640E-140C-044D-8830-793761267E10}" srcOrd="4" destOrd="0" presId="urn:microsoft.com/office/officeart/2005/8/layout/cycle4"/>
    <dgm:cxn modelId="{3B513C4F-821F-DD4E-A3DB-03C4416DC8BF}" type="presParOf" srcId="{9D2686BE-0D14-8D48-AB6C-DB3C638FD4A6}" destId="{6ED0A6F7-F0FE-264B-96D9-7D7517DEA1FD}" srcOrd="1" destOrd="0" presId="urn:microsoft.com/office/officeart/2005/8/layout/cycle4"/>
    <dgm:cxn modelId="{32E89AA8-4317-7842-A9E6-7A64ECA92C7C}" type="presParOf" srcId="{6ED0A6F7-F0FE-264B-96D9-7D7517DEA1FD}" destId="{30BF6143-F679-FC45-862B-950623B33DDB}" srcOrd="0" destOrd="0" presId="urn:microsoft.com/office/officeart/2005/8/layout/cycle4"/>
    <dgm:cxn modelId="{4938B716-A879-BD42-8D9A-7B5FB3CFFCF7}" type="presParOf" srcId="{6ED0A6F7-F0FE-264B-96D9-7D7517DEA1FD}" destId="{176C77C4-D19F-344E-92DE-A6B9570BCA1F}" srcOrd="1" destOrd="0" presId="urn:microsoft.com/office/officeart/2005/8/layout/cycle4"/>
    <dgm:cxn modelId="{174FD141-94DB-CB4B-B847-3DB04372D4E2}" type="presParOf" srcId="{6ED0A6F7-F0FE-264B-96D9-7D7517DEA1FD}" destId="{CD66DE2C-51E6-DA44-B650-0AAB6A5FFEBD}" srcOrd="2" destOrd="0" presId="urn:microsoft.com/office/officeart/2005/8/layout/cycle4"/>
    <dgm:cxn modelId="{B98D4B4A-5129-D94F-8E98-E6E8E1734455}" type="presParOf" srcId="{6ED0A6F7-F0FE-264B-96D9-7D7517DEA1FD}" destId="{43309631-90F4-5C48-AC3B-79C7995F6171}" srcOrd="3" destOrd="0" presId="urn:microsoft.com/office/officeart/2005/8/layout/cycle4"/>
    <dgm:cxn modelId="{63728ECC-9884-B343-BE6A-40AA329A806E}" type="presParOf" srcId="{6ED0A6F7-F0FE-264B-96D9-7D7517DEA1FD}" destId="{167AC9B9-0A5F-7A4D-8A40-F3518272D444}" srcOrd="4" destOrd="0" presId="urn:microsoft.com/office/officeart/2005/8/layout/cycle4"/>
    <dgm:cxn modelId="{E764C5ED-B328-F94C-947E-3DEBF35CFA89}" type="presParOf" srcId="{9D2686BE-0D14-8D48-AB6C-DB3C638FD4A6}" destId="{4658959C-5910-6E41-8A61-66FC67E316B9}" srcOrd="2" destOrd="0" presId="urn:microsoft.com/office/officeart/2005/8/layout/cycle4"/>
    <dgm:cxn modelId="{CD68C36E-B006-C24B-BA47-AE57CC2DDBAA}" type="presParOf" srcId="{9D2686BE-0D14-8D48-AB6C-DB3C638FD4A6}" destId="{5BF39C05-9EB6-C449-8E03-B8081DC74E1B}" srcOrd="3" destOrd="0" presId="urn:microsoft.com/office/officeart/2005/8/layout/cycle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2895215-EA12-3F47-A705-23AAD92BB288}"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3672DF23-F199-2149-9AB4-69635547123E}">
      <dgm:prSet/>
      <dgm:spPr>
        <a:solidFill>
          <a:schemeClr val="tx2">
            <a:lumMod val="60000"/>
            <a:lumOff val="40000"/>
          </a:schemeClr>
        </a:solidFill>
      </dgm:spPr>
      <dgm:t>
        <a:bodyPr/>
        <a:lstStyle/>
        <a:p>
          <a:pPr rtl="0"/>
          <a:r>
            <a:rPr lang="en-US" dirty="0" smtClean="0"/>
            <a:t>The lifetime associated with the ticket-granting ticket creates a problem:</a:t>
          </a:r>
          <a:endParaRPr lang="en-US" dirty="0"/>
        </a:p>
      </dgm:t>
    </dgm:pt>
    <dgm:pt modelId="{D12A62ED-05C1-6E42-9A14-F26C8B92056C}" type="parTrans" cxnId="{464D4B2D-0CAA-4643-B138-DF67E251BD2A}">
      <dgm:prSet/>
      <dgm:spPr/>
      <dgm:t>
        <a:bodyPr/>
        <a:lstStyle/>
        <a:p>
          <a:endParaRPr lang="en-US"/>
        </a:p>
      </dgm:t>
    </dgm:pt>
    <dgm:pt modelId="{3BEC7E3E-1E6C-C143-89B5-1EE9572489A5}" type="sibTrans" cxnId="{464D4B2D-0CAA-4643-B138-DF67E251BD2A}">
      <dgm:prSet/>
      <dgm:spPr/>
      <dgm:t>
        <a:bodyPr/>
        <a:lstStyle/>
        <a:p>
          <a:endParaRPr lang="en-US"/>
        </a:p>
      </dgm:t>
    </dgm:pt>
    <dgm:pt modelId="{F5935DB9-92CF-2A47-A313-B3AA8D616148}">
      <dgm:prSet/>
      <dgm:spPr>
        <a:solidFill>
          <a:schemeClr val="tx2">
            <a:lumMod val="60000"/>
            <a:lumOff val="40000"/>
          </a:schemeClr>
        </a:solidFill>
      </dgm:spPr>
      <dgm:t>
        <a:bodyPr/>
        <a:lstStyle/>
        <a:p>
          <a:pPr rtl="0"/>
          <a:r>
            <a:rPr lang="en-US" dirty="0" smtClean="0"/>
            <a:t>If the lifetime is very short (e.g., minutes), the user will be repeatedly asked for a password</a:t>
          </a:r>
          <a:endParaRPr lang="en-US" dirty="0"/>
        </a:p>
      </dgm:t>
    </dgm:pt>
    <dgm:pt modelId="{64A7FB34-A27C-814C-89D0-5BFD27774876}" type="parTrans" cxnId="{F618958F-26B2-C749-9AA7-6304B5082CB9}">
      <dgm:prSet/>
      <dgm:spPr/>
      <dgm:t>
        <a:bodyPr/>
        <a:lstStyle/>
        <a:p>
          <a:endParaRPr lang="en-US"/>
        </a:p>
      </dgm:t>
    </dgm:pt>
    <dgm:pt modelId="{7BE59026-0793-1349-AA2D-FA331BCE7B98}" type="sibTrans" cxnId="{F618958F-26B2-C749-9AA7-6304B5082CB9}">
      <dgm:prSet/>
      <dgm:spPr/>
      <dgm:t>
        <a:bodyPr/>
        <a:lstStyle/>
        <a:p>
          <a:endParaRPr lang="en-US"/>
        </a:p>
      </dgm:t>
    </dgm:pt>
    <dgm:pt modelId="{8F29D48A-2FC2-D34F-96B0-638BC697EFB5}">
      <dgm:prSet/>
      <dgm:spPr>
        <a:solidFill>
          <a:schemeClr val="tx2">
            <a:lumMod val="60000"/>
            <a:lumOff val="40000"/>
          </a:schemeClr>
        </a:solidFill>
      </dgm:spPr>
      <dgm:t>
        <a:bodyPr/>
        <a:lstStyle/>
        <a:p>
          <a:pPr rtl="0"/>
          <a:r>
            <a:rPr lang="en-US" dirty="0" smtClean="0"/>
            <a:t>If the lifetime is long (e.g., hours), then an opponent has a greater opportunity for replay</a:t>
          </a:r>
          <a:endParaRPr lang="en-US" dirty="0"/>
        </a:p>
      </dgm:t>
    </dgm:pt>
    <dgm:pt modelId="{A90D6A4B-233E-144D-8F59-A74F92C373AE}" type="parTrans" cxnId="{BC074159-A716-C241-AE9A-D24E2C8D32E1}">
      <dgm:prSet/>
      <dgm:spPr/>
      <dgm:t>
        <a:bodyPr/>
        <a:lstStyle/>
        <a:p>
          <a:endParaRPr lang="en-US"/>
        </a:p>
      </dgm:t>
    </dgm:pt>
    <dgm:pt modelId="{50C3DAFC-442E-7443-856E-883646BA2D1E}" type="sibTrans" cxnId="{BC074159-A716-C241-AE9A-D24E2C8D32E1}">
      <dgm:prSet/>
      <dgm:spPr/>
      <dgm:t>
        <a:bodyPr/>
        <a:lstStyle/>
        <a:p>
          <a:endParaRPr lang="en-US"/>
        </a:p>
      </dgm:t>
    </dgm:pt>
    <dgm:pt modelId="{07BA7B5B-0EF9-D747-8FAC-F02D4F45590B}">
      <dgm:prSet/>
      <dgm:spPr>
        <a:solidFill>
          <a:schemeClr val="tx2">
            <a:lumMod val="60000"/>
            <a:lumOff val="40000"/>
          </a:schemeClr>
        </a:solidFill>
      </dgm:spPr>
      <dgm:t>
        <a:bodyPr/>
        <a:lstStyle/>
        <a:p>
          <a:pPr rtl="0"/>
          <a:r>
            <a:rPr lang="en-US" dirty="0" smtClean="0"/>
            <a:t>A network service (the TGS or an application service) must be able to prove that the person using a ticket is the same person to whom that ticket was issued</a:t>
          </a:r>
          <a:endParaRPr lang="en-US" dirty="0"/>
        </a:p>
      </dgm:t>
    </dgm:pt>
    <dgm:pt modelId="{24F4D03B-4E73-6A4E-B40D-18C0B7144C51}" type="parTrans" cxnId="{AE24A66C-479F-F04C-BCF6-C5402232FE1A}">
      <dgm:prSet/>
      <dgm:spPr/>
      <dgm:t>
        <a:bodyPr/>
        <a:lstStyle/>
        <a:p>
          <a:endParaRPr lang="en-US"/>
        </a:p>
      </dgm:t>
    </dgm:pt>
    <dgm:pt modelId="{620BBC64-2715-104E-AFF0-DAD4ED9CDA1D}" type="sibTrans" cxnId="{AE24A66C-479F-F04C-BCF6-C5402232FE1A}">
      <dgm:prSet/>
      <dgm:spPr/>
      <dgm:t>
        <a:bodyPr/>
        <a:lstStyle/>
        <a:p>
          <a:endParaRPr lang="en-US"/>
        </a:p>
      </dgm:t>
    </dgm:pt>
    <dgm:pt modelId="{7CD66E25-E624-6441-A9E3-CCF1B181A3D3}">
      <dgm:prSet/>
      <dgm:spPr>
        <a:solidFill>
          <a:schemeClr val="tx2">
            <a:lumMod val="60000"/>
            <a:lumOff val="40000"/>
          </a:schemeClr>
        </a:solidFill>
      </dgm:spPr>
      <dgm:t>
        <a:bodyPr/>
        <a:lstStyle/>
        <a:p>
          <a:pPr rtl="0"/>
          <a:r>
            <a:rPr lang="en-US" dirty="0" smtClean="0"/>
            <a:t>Servers need to authenticate themselves to users</a:t>
          </a:r>
          <a:endParaRPr lang="en-US" dirty="0"/>
        </a:p>
      </dgm:t>
    </dgm:pt>
    <dgm:pt modelId="{0B84526C-7019-0645-96EF-B1DC4F3233E6}" type="parTrans" cxnId="{F0814EDA-B0B8-3544-8A82-329C017C31E5}">
      <dgm:prSet/>
      <dgm:spPr/>
      <dgm:t>
        <a:bodyPr/>
        <a:lstStyle/>
        <a:p>
          <a:endParaRPr lang="en-US"/>
        </a:p>
      </dgm:t>
    </dgm:pt>
    <dgm:pt modelId="{C5E3DBAD-AEE4-F840-A382-44BC7E5143FE}" type="sibTrans" cxnId="{F0814EDA-B0B8-3544-8A82-329C017C31E5}">
      <dgm:prSet/>
      <dgm:spPr/>
      <dgm:t>
        <a:bodyPr/>
        <a:lstStyle/>
        <a:p>
          <a:endParaRPr lang="en-US"/>
        </a:p>
      </dgm:t>
    </dgm:pt>
    <dgm:pt modelId="{B6DBDB78-E2A3-A547-B8ED-C868FC012DCE}" type="pres">
      <dgm:prSet presAssocID="{E2895215-EA12-3F47-A705-23AAD92BB288}" presName="diagram" presStyleCnt="0">
        <dgm:presLayoutVars>
          <dgm:dir/>
          <dgm:resizeHandles val="exact"/>
        </dgm:presLayoutVars>
      </dgm:prSet>
      <dgm:spPr/>
      <dgm:t>
        <a:bodyPr/>
        <a:lstStyle/>
        <a:p>
          <a:endParaRPr lang="en-US"/>
        </a:p>
      </dgm:t>
    </dgm:pt>
    <dgm:pt modelId="{04A72C80-79E1-9747-8ACB-8CE8513ACE10}" type="pres">
      <dgm:prSet presAssocID="{3672DF23-F199-2149-9AB4-69635547123E}" presName="node" presStyleLbl="node1" presStyleIdx="0" presStyleCnt="3">
        <dgm:presLayoutVars>
          <dgm:bulletEnabled val="1"/>
        </dgm:presLayoutVars>
      </dgm:prSet>
      <dgm:spPr/>
      <dgm:t>
        <a:bodyPr/>
        <a:lstStyle/>
        <a:p>
          <a:endParaRPr lang="en-US"/>
        </a:p>
      </dgm:t>
    </dgm:pt>
    <dgm:pt modelId="{23A7B3E5-CC49-6049-B648-50B7DAA1A3A3}" type="pres">
      <dgm:prSet presAssocID="{3BEC7E3E-1E6C-C143-89B5-1EE9572489A5}" presName="sibTrans" presStyleCnt="0"/>
      <dgm:spPr/>
    </dgm:pt>
    <dgm:pt modelId="{5E4A41F0-FADE-C747-8891-9C902B675A82}" type="pres">
      <dgm:prSet presAssocID="{07BA7B5B-0EF9-D747-8FAC-F02D4F45590B}" presName="node" presStyleLbl="node1" presStyleIdx="1" presStyleCnt="3">
        <dgm:presLayoutVars>
          <dgm:bulletEnabled val="1"/>
        </dgm:presLayoutVars>
      </dgm:prSet>
      <dgm:spPr/>
      <dgm:t>
        <a:bodyPr/>
        <a:lstStyle/>
        <a:p>
          <a:endParaRPr lang="en-US"/>
        </a:p>
      </dgm:t>
    </dgm:pt>
    <dgm:pt modelId="{2351990D-ED5D-2E44-A1A6-5873986CB7B4}" type="pres">
      <dgm:prSet presAssocID="{620BBC64-2715-104E-AFF0-DAD4ED9CDA1D}" presName="sibTrans" presStyleCnt="0"/>
      <dgm:spPr/>
    </dgm:pt>
    <dgm:pt modelId="{C43C3846-675A-1241-A43D-79E51B27C744}" type="pres">
      <dgm:prSet presAssocID="{7CD66E25-E624-6441-A9E3-CCF1B181A3D3}" presName="node" presStyleLbl="node1" presStyleIdx="2" presStyleCnt="3">
        <dgm:presLayoutVars>
          <dgm:bulletEnabled val="1"/>
        </dgm:presLayoutVars>
      </dgm:prSet>
      <dgm:spPr/>
      <dgm:t>
        <a:bodyPr/>
        <a:lstStyle/>
        <a:p>
          <a:endParaRPr lang="en-US"/>
        </a:p>
      </dgm:t>
    </dgm:pt>
  </dgm:ptLst>
  <dgm:cxnLst>
    <dgm:cxn modelId="{464D4B2D-0CAA-4643-B138-DF67E251BD2A}" srcId="{E2895215-EA12-3F47-A705-23AAD92BB288}" destId="{3672DF23-F199-2149-9AB4-69635547123E}" srcOrd="0" destOrd="0" parTransId="{D12A62ED-05C1-6E42-9A14-F26C8B92056C}" sibTransId="{3BEC7E3E-1E6C-C143-89B5-1EE9572489A5}"/>
    <dgm:cxn modelId="{A279B643-7A02-1843-99D9-F87531F7DF95}" type="presOf" srcId="{07BA7B5B-0EF9-D747-8FAC-F02D4F45590B}" destId="{5E4A41F0-FADE-C747-8891-9C902B675A82}" srcOrd="0" destOrd="0" presId="urn:microsoft.com/office/officeart/2005/8/layout/default"/>
    <dgm:cxn modelId="{51A61777-ACF9-E54A-8FBE-8E27C7DFA3E6}" type="presOf" srcId="{3672DF23-F199-2149-9AB4-69635547123E}" destId="{04A72C80-79E1-9747-8ACB-8CE8513ACE10}" srcOrd="0" destOrd="0" presId="urn:microsoft.com/office/officeart/2005/8/layout/default"/>
    <dgm:cxn modelId="{F0888AF0-7DCC-5C40-8D10-5B1DA69CACE0}" type="presOf" srcId="{7CD66E25-E624-6441-A9E3-CCF1B181A3D3}" destId="{C43C3846-675A-1241-A43D-79E51B27C744}" srcOrd="0" destOrd="0" presId="urn:microsoft.com/office/officeart/2005/8/layout/default"/>
    <dgm:cxn modelId="{65B19466-3EFA-1449-A6A0-D26BFB535170}" type="presOf" srcId="{F5935DB9-92CF-2A47-A313-B3AA8D616148}" destId="{04A72C80-79E1-9747-8ACB-8CE8513ACE10}" srcOrd="0" destOrd="1" presId="urn:microsoft.com/office/officeart/2005/8/layout/default"/>
    <dgm:cxn modelId="{AE24A66C-479F-F04C-BCF6-C5402232FE1A}" srcId="{E2895215-EA12-3F47-A705-23AAD92BB288}" destId="{07BA7B5B-0EF9-D747-8FAC-F02D4F45590B}" srcOrd="1" destOrd="0" parTransId="{24F4D03B-4E73-6A4E-B40D-18C0B7144C51}" sibTransId="{620BBC64-2715-104E-AFF0-DAD4ED9CDA1D}"/>
    <dgm:cxn modelId="{BC074159-A716-C241-AE9A-D24E2C8D32E1}" srcId="{3672DF23-F199-2149-9AB4-69635547123E}" destId="{8F29D48A-2FC2-D34F-96B0-638BC697EFB5}" srcOrd="1" destOrd="0" parTransId="{A90D6A4B-233E-144D-8F59-A74F92C373AE}" sibTransId="{50C3DAFC-442E-7443-856E-883646BA2D1E}"/>
    <dgm:cxn modelId="{F618958F-26B2-C749-9AA7-6304B5082CB9}" srcId="{3672DF23-F199-2149-9AB4-69635547123E}" destId="{F5935DB9-92CF-2A47-A313-B3AA8D616148}" srcOrd="0" destOrd="0" parTransId="{64A7FB34-A27C-814C-89D0-5BFD27774876}" sibTransId="{7BE59026-0793-1349-AA2D-FA331BCE7B98}"/>
    <dgm:cxn modelId="{F0814EDA-B0B8-3544-8A82-329C017C31E5}" srcId="{E2895215-EA12-3F47-A705-23AAD92BB288}" destId="{7CD66E25-E624-6441-A9E3-CCF1B181A3D3}" srcOrd="2" destOrd="0" parTransId="{0B84526C-7019-0645-96EF-B1DC4F3233E6}" sibTransId="{C5E3DBAD-AEE4-F840-A382-44BC7E5143FE}"/>
    <dgm:cxn modelId="{26A65111-B01A-154D-85D8-DB21DB6E7DED}" type="presOf" srcId="{E2895215-EA12-3F47-A705-23AAD92BB288}" destId="{B6DBDB78-E2A3-A547-B8ED-C868FC012DCE}" srcOrd="0" destOrd="0" presId="urn:microsoft.com/office/officeart/2005/8/layout/default"/>
    <dgm:cxn modelId="{CACE6FF7-29DA-2A47-9CB8-CAC8FC12CFF8}" type="presOf" srcId="{8F29D48A-2FC2-D34F-96B0-638BC697EFB5}" destId="{04A72C80-79E1-9747-8ACB-8CE8513ACE10}" srcOrd="0" destOrd="2" presId="urn:microsoft.com/office/officeart/2005/8/layout/default"/>
    <dgm:cxn modelId="{6A80A995-E3D8-294D-9E30-3D9B57E31ACC}" type="presParOf" srcId="{B6DBDB78-E2A3-A547-B8ED-C868FC012DCE}" destId="{04A72C80-79E1-9747-8ACB-8CE8513ACE10}" srcOrd="0" destOrd="0" presId="urn:microsoft.com/office/officeart/2005/8/layout/default"/>
    <dgm:cxn modelId="{62C9B963-4D54-1148-BA47-74CBEC6D89AE}" type="presParOf" srcId="{B6DBDB78-E2A3-A547-B8ED-C868FC012DCE}" destId="{23A7B3E5-CC49-6049-B648-50B7DAA1A3A3}" srcOrd="1" destOrd="0" presId="urn:microsoft.com/office/officeart/2005/8/layout/default"/>
    <dgm:cxn modelId="{6A694C13-5C73-6C4D-89F1-9B78597CE3AE}" type="presParOf" srcId="{B6DBDB78-E2A3-A547-B8ED-C868FC012DCE}" destId="{5E4A41F0-FADE-C747-8891-9C902B675A82}" srcOrd="2" destOrd="0" presId="urn:microsoft.com/office/officeart/2005/8/layout/default"/>
    <dgm:cxn modelId="{3C767A25-C0CC-4E41-BFB2-FE519E64DCB3}" type="presParOf" srcId="{B6DBDB78-E2A3-A547-B8ED-C868FC012DCE}" destId="{2351990D-ED5D-2E44-A1A6-5873986CB7B4}" srcOrd="3" destOrd="0" presId="urn:microsoft.com/office/officeart/2005/8/layout/default"/>
    <dgm:cxn modelId="{00C6FDC6-1DEF-0F4B-9B0E-0C7A9849F1E9}" type="presParOf" srcId="{B6DBDB78-E2A3-A547-B8ED-C868FC012DCE}" destId="{C43C3846-675A-1241-A43D-79E51B27C744}" srcOrd="4"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D5B63C3-7843-BF44-A1A1-71477A5774CB}" type="doc">
      <dgm:prSet loTypeId="urn:microsoft.com/office/officeart/2005/8/layout/funnel1" loCatId="relationship" qsTypeId="urn:microsoft.com/office/officeart/2005/8/quickstyle/simple4" qsCatId="simple" csTypeId="urn:microsoft.com/office/officeart/2005/8/colors/accent1_2" csCatId="accent1" phldr="1"/>
      <dgm:spPr/>
      <dgm:t>
        <a:bodyPr/>
        <a:lstStyle/>
        <a:p>
          <a:endParaRPr lang="en-US"/>
        </a:p>
      </dgm:t>
    </dgm:pt>
    <dgm:pt modelId="{58AAC28B-DD37-1D49-AC8C-B3EA34048BD2}">
      <dgm:prSet phldrT="[Text]"/>
      <dgm:spPr/>
      <dgm:t>
        <a:bodyPr/>
        <a:lstStyle/>
        <a:p>
          <a:r>
            <a:rPr lang="en-US" b="1" i="0" dirty="0" smtClean="0"/>
            <a:t>Three parts of a principal name</a:t>
          </a:r>
          <a:endParaRPr lang="en-US" b="1" i="0" dirty="0"/>
        </a:p>
      </dgm:t>
    </dgm:pt>
    <dgm:pt modelId="{B5620FCB-40E6-FD49-B4CF-479F9673A818}" type="parTrans" cxnId="{56B667C3-30E4-934F-BE63-D23F1729176B}">
      <dgm:prSet/>
      <dgm:spPr/>
      <dgm:t>
        <a:bodyPr/>
        <a:lstStyle/>
        <a:p>
          <a:endParaRPr lang="en-US"/>
        </a:p>
      </dgm:t>
    </dgm:pt>
    <dgm:pt modelId="{3416905B-2FEC-C646-B4DB-4DFFF1F9D9DC}" type="sibTrans" cxnId="{56B667C3-30E4-934F-BE63-D23F1729176B}">
      <dgm:prSet/>
      <dgm:spPr/>
      <dgm:t>
        <a:bodyPr/>
        <a:lstStyle/>
        <a:p>
          <a:endParaRPr lang="en-US"/>
        </a:p>
      </dgm:t>
    </dgm:pt>
    <dgm:pt modelId="{778BD096-00A2-6D48-BD14-CE4F7524B65F}">
      <dgm:prSet/>
      <dgm:spPr>
        <a:ln>
          <a:solidFill>
            <a:schemeClr val="tx1"/>
          </a:solidFill>
        </a:ln>
      </dgm:spPr>
      <dgm:t>
        <a:bodyPr/>
        <a:lstStyle/>
        <a:p>
          <a:r>
            <a:rPr lang="en-US" b="1" i="0" dirty="0" smtClean="0"/>
            <a:t>A service or user name</a:t>
          </a:r>
        </a:p>
      </dgm:t>
    </dgm:pt>
    <dgm:pt modelId="{93D018D6-659F-0F4D-A4DB-BB23D9A31A93}" type="parTrans" cxnId="{B9C1A763-E2B6-EC4E-8235-2BFE84067B20}">
      <dgm:prSet/>
      <dgm:spPr/>
      <dgm:t>
        <a:bodyPr/>
        <a:lstStyle/>
        <a:p>
          <a:endParaRPr lang="en-US"/>
        </a:p>
      </dgm:t>
    </dgm:pt>
    <dgm:pt modelId="{D4D78A10-3441-6D4D-B0B5-4DC4832CF002}" type="sibTrans" cxnId="{B9C1A763-E2B6-EC4E-8235-2BFE84067B20}">
      <dgm:prSet/>
      <dgm:spPr/>
      <dgm:t>
        <a:bodyPr/>
        <a:lstStyle/>
        <a:p>
          <a:endParaRPr lang="en-US"/>
        </a:p>
      </dgm:t>
    </dgm:pt>
    <dgm:pt modelId="{5C5801B9-9102-FD46-8442-D4BD2727404B}">
      <dgm:prSet/>
      <dgm:spPr>
        <a:ln>
          <a:solidFill>
            <a:schemeClr val="tx1"/>
          </a:solidFill>
        </a:ln>
      </dgm:spPr>
      <dgm:t>
        <a:bodyPr/>
        <a:lstStyle/>
        <a:p>
          <a:r>
            <a:rPr lang="en-US" b="1" i="0" dirty="0" smtClean="0"/>
            <a:t>An instance name</a:t>
          </a:r>
        </a:p>
      </dgm:t>
    </dgm:pt>
    <dgm:pt modelId="{37044915-4B5B-AF4C-B039-2B950448838F}" type="parTrans" cxnId="{26927C23-1444-054B-8045-84F05DDC3371}">
      <dgm:prSet/>
      <dgm:spPr/>
      <dgm:t>
        <a:bodyPr/>
        <a:lstStyle/>
        <a:p>
          <a:endParaRPr lang="en-US"/>
        </a:p>
      </dgm:t>
    </dgm:pt>
    <dgm:pt modelId="{A007A85C-7D46-834D-B6F4-1DEB32092D60}" type="sibTrans" cxnId="{26927C23-1444-054B-8045-84F05DDC3371}">
      <dgm:prSet/>
      <dgm:spPr/>
      <dgm:t>
        <a:bodyPr/>
        <a:lstStyle/>
        <a:p>
          <a:endParaRPr lang="en-US"/>
        </a:p>
      </dgm:t>
    </dgm:pt>
    <dgm:pt modelId="{B3110903-0314-3747-9594-416BB7C4C1B3}">
      <dgm:prSet/>
      <dgm:spPr>
        <a:ln>
          <a:solidFill>
            <a:schemeClr val="tx1"/>
          </a:solidFill>
        </a:ln>
      </dgm:spPr>
      <dgm:t>
        <a:bodyPr/>
        <a:lstStyle/>
        <a:p>
          <a:r>
            <a:rPr lang="en-US" b="1" i="0" dirty="0" smtClean="0"/>
            <a:t>A realm name</a:t>
          </a:r>
          <a:endParaRPr lang="en-US" b="1" i="0" dirty="0"/>
        </a:p>
      </dgm:t>
    </dgm:pt>
    <dgm:pt modelId="{7761042B-73CA-854C-AACB-2A8728492D73}" type="parTrans" cxnId="{86CCC5A7-96FD-864C-B8AE-C3CC49F31408}">
      <dgm:prSet/>
      <dgm:spPr/>
      <dgm:t>
        <a:bodyPr/>
        <a:lstStyle/>
        <a:p>
          <a:endParaRPr lang="en-US"/>
        </a:p>
      </dgm:t>
    </dgm:pt>
    <dgm:pt modelId="{01FF69A2-1E8E-0E4C-A119-D35B33F1C6F5}" type="sibTrans" cxnId="{86CCC5A7-96FD-864C-B8AE-C3CC49F31408}">
      <dgm:prSet/>
      <dgm:spPr/>
      <dgm:t>
        <a:bodyPr/>
        <a:lstStyle/>
        <a:p>
          <a:endParaRPr lang="en-US"/>
        </a:p>
      </dgm:t>
    </dgm:pt>
    <dgm:pt modelId="{6F5F11CB-981F-EF41-950B-23F645FD55D3}" type="pres">
      <dgm:prSet presAssocID="{ED5B63C3-7843-BF44-A1A1-71477A5774CB}" presName="Name0" presStyleCnt="0">
        <dgm:presLayoutVars>
          <dgm:chMax val="4"/>
          <dgm:resizeHandles val="exact"/>
        </dgm:presLayoutVars>
      </dgm:prSet>
      <dgm:spPr/>
      <dgm:t>
        <a:bodyPr/>
        <a:lstStyle/>
        <a:p>
          <a:endParaRPr lang="en-US"/>
        </a:p>
      </dgm:t>
    </dgm:pt>
    <dgm:pt modelId="{D9DA4F58-BCAD-0441-B2AC-D13250C4BF1E}" type="pres">
      <dgm:prSet presAssocID="{ED5B63C3-7843-BF44-A1A1-71477A5774CB}" presName="ellipse" presStyleLbl="trBgShp" presStyleIdx="0" presStyleCnt="1"/>
      <dgm:spPr/>
    </dgm:pt>
    <dgm:pt modelId="{DB883DEF-BC93-D442-8759-F27C5AB85A8A}" type="pres">
      <dgm:prSet presAssocID="{ED5B63C3-7843-BF44-A1A1-71477A5774CB}" presName="arrow1" presStyleLbl="fgShp" presStyleIdx="0" presStyleCnt="1"/>
      <dgm:spPr>
        <a:solidFill>
          <a:schemeClr val="bg1"/>
        </a:solidFill>
        <a:ln>
          <a:solidFill>
            <a:schemeClr val="accent1"/>
          </a:solidFill>
        </a:ln>
      </dgm:spPr>
    </dgm:pt>
    <dgm:pt modelId="{F7A31D04-4755-9B4F-A57F-5696E210151F}" type="pres">
      <dgm:prSet presAssocID="{ED5B63C3-7843-BF44-A1A1-71477A5774CB}" presName="rectangle" presStyleLbl="revTx" presStyleIdx="0" presStyleCnt="1">
        <dgm:presLayoutVars>
          <dgm:bulletEnabled val="1"/>
        </dgm:presLayoutVars>
      </dgm:prSet>
      <dgm:spPr/>
      <dgm:t>
        <a:bodyPr/>
        <a:lstStyle/>
        <a:p>
          <a:endParaRPr lang="en-US"/>
        </a:p>
      </dgm:t>
    </dgm:pt>
    <dgm:pt modelId="{8B46D60C-AD58-904A-B869-B653E85DE902}" type="pres">
      <dgm:prSet presAssocID="{5C5801B9-9102-FD46-8442-D4BD2727404B}" presName="item1" presStyleLbl="node1" presStyleIdx="0" presStyleCnt="3">
        <dgm:presLayoutVars>
          <dgm:bulletEnabled val="1"/>
        </dgm:presLayoutVars>
      </dgm:prSet>
      <dgm:spPr/>
      <dgm:t>
        <a:bodyPr/>
        <a:lstStyle/>
        <a:p>
          <a:endParaRPr lang="en-US"/>
        </a:p>
      </dgm:t>
    </dgm:pt>
    <dgm:pt modelId="{751124D2-3E0B-5943-BA61-46BF18DF6EEF}" type="pres">
      <dgm:prSet presAssocID="{B3110903-0314-3747-9594-416BB7C4C1B3}" presName="item2" presStyleLbl="node1" presStyleIdx="1" presStyleCnt="3">
        <dgm:presLayoutVars>
          <dgm:bulletEnabled val="1"/>
        </dgm:presLayoutVars>
      </dgm:prSet>
      <dgm:spPr/>
      <dgm:t>
        <a:bodyPr/>
        <a:lstStyle/>
        <a:p>
          <a:endParaRPr lang="en-US"/>
        </a:p>
      </dgm:t>
    </dgm:pt>
    <dgm:pt modelId="{26A9FFE1-F846-8B4B-B4CF-DDFB06DBEE26}" type="pres">
      <dgm:prSet presAssocID="{58AAC28B-DD37-1D49-AC8C-B3EA34048BD2}" presName="item3" presStyleLbl="node1" presStyleIdx="2" presStyleCnt="3">
        <dgm:presLayoutVars>
          <dgm:bulletEnabled val="1"/>
        </dgm:presLayoutVars>
      </dgm:prSet>
      <dgm:spPr/>
      <dgm:t>
        <a:bodyPr/>
        <a:lstStyle/>
        <a:p>
          <a:endParaRPr lang="en-US"/>
        </a:p>
      </dgm:t>
    </dgm:pt>
    <dgm:pt modelId="{172CA894-62FE-CF43-A52D-A99AFE9AFEF7}" type="pres">
      <dgm:prSet presAssocID="{ED5B63C3-7843-BF44-A1A1-71477A5774CB}" presName="funnel" presStyleLbl="trAlignAcc1" presStyleIdx="0" presStyleCnt="1" custLinFactNeighborX="397" custLinFactNeighborY="-149"/>
      <dgm:spPr/>
    </dgm:pt>
  </dgm:ptLst>
  <dgm:cxnLst>
    <dgm:cxn modelId="{15533BA6-7332-EC4A-B525-302A286828EA}" type="presOf" srcId="{778BD096-00A2-6D48-BD14-CE4F7524B65F}" destId="{26A9FFE1-F846-8B4B-B4CF-DDFB06DBEE26}" srcOrd="0" destOrd="0" presId="urn:microsoft.com/office/officeart/2005/8/layout/funnel1"/>
    <dgm:cxn modelId="{56B667C3-30E4-934F-BE63-D23F1729176B}" srcId="{ED5B63C3-7843-BF44-A1A1-71477A5774CB}" destId="{58AAC28B-DD37-1D49-AC8C-B3EA34048BD2}" srcOrd="3" destOrd="0" parTransId="{B5620FCB-40E6-FD49-B4CF-479F9673A818}" sibTransId="{3416905B-2FEC-C646-B4DB-4DFFF1F9D9DC}"/>
    <dgm:cxn modelId="{86CCC5A7-96FD-864C-B8AE-C3CC49F31408}" srcId="{ED5B63C3-7843-BF44-A1A1-71477A5774CB}" destId="{B3110903-0314-3747-9594-416BB7C4C1B3}" srcOrd="2" destOrd="0" parTransId="{7761042B-73CA-854C-AACB-2A8728492D73}" sibTransId="{01FF69A2-1E8E-0E4C-A119-D35B33F1C6F5}"/>
    <dgm:cxn modelId="{B055E1B8-8EC6-5649-AD11-EFF260741996}" type="presOf" srcId="{5C5801B9-9102-FD46-8442-D4BD2727404B}" destId="{751124D2-3E0B-5943-BA61-46BF18DF6EEF}" srcOrd="0" destOrd="0" presId="urn:microsoft.com/office/officeart/2005/8/layout/funnel1"/>
    <dgm:cxn modelId="{FBF2A4C4-11AC-3C4C-A11C-80F572590FAA}" type="presOf" srcId="{ED5B63C3-7843-BF44-A1A1-71477A5774CB}" destId="{6F5F11CB-981F-EF41-950B-23F645FD55D3}" srcOrd="0" destOrd="0" presId="urn:microsoft.com/office/officeart/2005/8/layout/funnel1"/>
    <dgm:cxn modelId="{B71DC538-E3A0-894A-9B99-589D30BC25D3}" type="presOf" srcId="{58AAC28B-DD37-1D49-AC8C-B3EA34048BD2}" destId="{F7A31D04-4755-9B4F-A57F-5696E210151F}" srcOrd="0" destOrd="0" presId="urn:microsoft.com/office/officeart/2005/8/layout/funnel1"/>
    <dgm:cxn modelId="{26927C23-1444-054B-8045-84F05DDC3371}" srcId="{ED5B63C3-7843-BF44-A1A1-71477A5774CB}" destId="{5C5801B9-9102-FD46-8442-D4BD2727404B}" srcOrd="1" destOrd="0" parTransId="{37044915-4B5B-AF4C-B039-2B950448838F}" sibTransId="{A007A85C-7D46-834D-B6F4-1DEB32092D60}"/>
    <dgm:cxn modelId="{BAF76620-C3C9-A549-9814-447C7BFE0239}" type="presOf" srcId="{B3110903-0314-3747-9594-416BB7C4C1B3}" destId="{8B46D60C-AD58-904A-B869-B653E85DE902}" srcOrd="0" destOrd="0" presId="urn:microsoft.com/office/officeart/2005/8/layout/funnel1"/>
    <dgm:cxn modelId="{B9C1A763-E2B6-EC4E-8235-2BFE84067B20}" srcId="{ED5B63C3-7843-BF44-A1A1-71477A5774CB}" destId="{778BD096-00A2-6D48-BD14-CE4F7524B65F}" srcOrd="0" destOrd="0" parTransId="{93D018D6-659F-0F4D-A4DB-BB23D9A31A93}" sibTransId="{D4D78A10-3441-6D4D-B0B5-4DC4832CF002}"/>
    <dgm:cxn modelId="{8C22A181-BD1B-BD4B-B2CE-B04EB00FF1C0}" type="presParOf" srcId="{6F5F11CB-981F-EF41-950B-23F645FD55D3}" destId="{D9DA4F58-BCAD-0441-B2AC-D13250C4BF1E}" srcOrd="0" destOrd="0" presId="urn:microsoft.com/office/officeart/2005/8/layout/funnel1"/>
    <dgm:cxn modelId="{B24739B3-44EA-F845-B4FC-06C965826D30}" type="presParOf" srcId="{6F5F11CB-981F-EF41-950B-23F645FD55D3}" destId="{DB883DEF-BC93-D442-8759-F27C5AB85A8A}" srcOrd="1" destOrd="0" presId="urn:microsoft.com/office/officeart/2005/8/layout/funnel1"/>
    <dgm:cxn modelId="{27469783-B3A6-3D44-BC52-024A382BB2EC}" type="presParOf" srcId="{6F5F11CB-981F-EF41-950B-23F645FD55D3}" destId="{F7A31D04-4755-9B4F-A57F-5696E210151F}" srcOrd="2" destOrd="0" presId="urn:microsoft.com/office/officeart/2005/8/layout/funnel1"/>
    <dgm:cxn modelId="{F87F1DD4-66F2-0D4A-869E-8DBF90D8C685}" type="presParOf" srcId="{6F5F11CB-981F-EF41-950B-23F645FD55D3}" destId="{8B46D60C-AD58-904A-B869-B653E85DE902}" srcOrd="3" destOrd="0" presId="urn:microsoft.com/office/officeart/2005/8/layout/funnel1"/>
    <dgm:cxn modelId="{80F60D7E-B8D0-8D4A-9AD8-5611246259CE}" type="presParOf" srcId="{6F5F11CB-981F-EF41-950B-23F645FD55D3}" destId="{751124D2-3E0B-5943-BA61-46BF18DF6EEF}" srcOrd="4" destOrd="0" presId="urn:microsoft.com/office/officeart/2005/8/layout/funnel1"/>
    <dgm:cxn modelId="{68304C27-7D8E-954E-B48F-338312AFFEBD}" type="presParOf" srcId="{6F5F11CB-981F-EF41-950B-23F645FD55D3}" destId="{26A9FFE1-F846-8B4B-B4CF-DDFB06DBEE26}" srcOrd="5" destOrd="0" presId="urn:microsoft.com/office/officeart/2005/8/layout/funnel1"/>
    <dgm:cxn modelId="{E1E58310-2A32-8E46-95D4-75C2CA709312}" type="presParOf" srcId="{6F5F11CB-981F-EF41-950B-23F645FD55D3}" destId="{172CA894-62FE-CF43-A52D-A99AFE9AFEF7}" srcOrd="6" destOrd="0" presId="urn:microsoft.com/office/officeart/2005/8/layout/funnel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ED19C4-DDC8-1D46-AAC2-46AF3F1CF2B6}"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97D569F2-8AB2-FD43-A148-A5DA7866C0E5}">
      <dgm:prSet custT="1"/>
      <dgm:spPr/>
      <dgm:t>
        <a:bodyPr/>
        <a:lstStyle/>
        <a:p>
          <a:pPr rtl="0"/>
          <a:r>
            <a:rPr lang="en-US" sz="4400" dirty="0" smtClean="0"/>
            <a:t>Version 5 is intended to address the limitations of version 4 in two areas:</a:t>
          </a:r>
          <a:endParaRPr lang="en-US" sz="4400" dirty="0"/>
        </a:p>
      </dgm:t>
    </dgm:pt>
    <dgm:pt modelId="{E744B7AE-E901-4D45-9870-A9418764DB39}" type="parTrans" cxnId="{9C9906A4-69C4-6048-AEF9-2AA0C8F04F80}">
      <dgm:prSet/>
      <dgm:spPr/>
      <dgm:t>
        <a:bodyPr/>
        <a:lstStyle/>
        <a:p>
          <a:endParaRPr lang="en-US"/>
        </a:p>
      </dgm:t>
    </dgm:pt>
    <dgm:pt modelId="{E2C10C23-D2C6-3048-9F76-FBC59821B949}" type="sibTrans" cxnId="{9C9906A4-69C4-6048-AEF9-2AA0C8F04F80}">
      <dgm:prSet/>
      <dgm:spPr/>
      <dgm:t>
        <a:bodyPr/>
        <a:lstStyle/>
        <a:p>
          <a:endParaRPr lang="en-US"/>
        </a:p>
      </dgm:t>
    </dgm:pt>
    <dgm:pt modelId="{7EB638CE-70F3-074F-BA4C-E8C56ABE39BA}">
      <dgm:prSet/>
      <dgm:spPr/>
      <dgm:t>
        <a:bodyPr/>
        <a:lstStyle/>
        <a:p>
          <a:pPr rtl="0"/>
          <a:r>
            <a:rPr lang="en-US" dirty="0" smtClean="0"/>
            <a:t>Environmental shortcomings</a:t>
          </a:r>
          <a:endParaRPr lang="en-US" dirty="0"/>
        </a:p>
      </dgm:t>
    </dgm:pt>
    <dgm:pt modelId="{94FB3C54-9901-A04A-BC63-891ADA30DA52}" type="parTrans" cxnId="{65A2FB17-A384-CF4A-BF4D-FBFBE1CEFEEC}">
      <dgm:prSet/>
      <dgm:spPr/>
      <dgm:t>
        <a:bodyPr/>
        <a:lstStyle/>
        <a:p>
          <a:endParaRPr lang="en-US"/>
        </a:p>
      </dgm:t>
    </dgm:pt>
    <dgm:pt modelId="{1974E2E8-5CCB-D24E-BB3A-7EB553CA6B3D}" type="sibTrans" cxnId="{65A2FB17-A384-CF4A-BF4D-FBFBE1CEFEEC}">
      <dgm:prSet/>
      <dgm:spPr/>
      <dgm:t>
        <a:bodyPr/>
        <a:lstStyle/>
        <a:p>
          <a:endParaRPr lang="en-US"/>
        </a:p>
      </dgm:t>
    </dgm:pt>
    <dgm:pt modelId="{26F3AE92-DB32-504E-9B59-143C3D025005}">
      <dgm:prSet/>
      <dgm:spPr/>
      <dgm:t>
        <a:bodyPr/>
        <a:lstStyle/>
        <a:p>
          <a:pPr rtl="0"/>
          <a:r>
            <a:rPr lang="en-US" dirty="0" smtClean="0"/>
            <a:t>Encryption system dependence</a:t>
          </a:r>
          <a:endParaRPr lang="en-US" dirty="0"/>
        </a:p>
      </dgm:t>
    </dgm:pt>
    <dgm:pt modelId="{502EE9F7-EFE8-4545-BAFF-115C3E9635ED}" type="parTrans" cxnId="{7C516929-ED14-A34C-87CF-E3AE939C252E}">
      <dgm:prSet/>
      <dgm:spPr/>
      <dgm:t>
        <a:bodyPr/>
        <a:lstStyle/>
        <a:p>
          <a:endParaRPr lang="en-US"/>
        </a:p>
      </dgm:t>
    </dgm:pt>
    <dgm:pt modelId="{4845EF6D-308E-3B4F-A423-D9C3AFB1144F}" type="sibTrans" cxnId="{7C516929-ED14-A34C-87CF-E3AE939C252E}">
      <dgm:prSet/>
      <dgm:spPr/>
      <dgm:t>
        <a:bodyPr/>
        <a:lstStyle/>
        <a:p>
          <a:endParaRPr lang="en-US"/>
        </a:p>
      </dgm:t>
    </dgm:pt>
    <dgm:pt modelId="{BEDF54BC-2705-4641-8CC4-9CF14D3C22C1}">
      <dgm:prSet/>
      <dgm:spPr/>
      <dgm:t>
        <a:bodyPr/>
        <a:lstStyle/>
        <a:p>
          <a:pPr rtl="0"/>
          <a:r>
            <a:rPr lang="en-US" dirty="0" smtClean="0"/>
            <a:t>Internet protocol dependence</a:t>
          </a:r>
          <a:endParaRPr lang="en-US" dirty="0"/>
        </a:p>
      </dgm:t>
    </dgm:pt>
    <dgm:pt modelId="{9DDCA98C-9A93-0B4C-B4EE-1EFA586EC433}" type="parTrans" cxnId="{771FD798-951B-2D48-8BBB-F404578D1A1A}">
      <dgm:prSet/>
      <dgm:spPr/>
      <dgm:t>
        <a:bodyPr/>
        <a:lstStyle/>
        <a:p>
          <a:endParaRPr lang="en-US"/>
        </a:p>
      </dgm:t>
    </dgm:pt>
    <dgm:pt modelId="{6D2E9E15-7ECF-DA43-B4D8-96651B1F6BEF}" type="sibTrans" cxnId="{771FD798-951B-2D48-8BBB-F404578D1A1A}">
      <dgm:prSet/>
      <dgm:spPr/>
      <dgm:t>
        <a:bodyPr/>
        <a:lstStyle/>
        <a:p>
          <a:endParaRPr lang="en-US"/>
        </a:p>
      </dgm:t>
    </dgm:pt>
    <dgm:pt modelId="{AF1BB78C-B148-6344-8E80-A0A7D7C064E8}">
      <dgm:prSet/>
      <dgm:spPr/>
      <dgm:t>
        <a:bodyPr/>
        <a:lstStyle/>
        <a:p>
          <a:pPr rtl="0"/>
          <a:r>
            <a:rPr lang="en-US" dirty="0" smtClean="0"/>
            <a:t>Message byte ordering</a:t>
          </a:r>
          <a:endParaRPr lang="en-US" dirty="0"/>
        </a:p>
      </dgm:t>
    </dgm:pt>
    <dgm:pt modelId="{0C5F630B-3496-8046-80A5-1CBBD49FF250}" type="parTrans" cxnId="{C1C5856E-EEFB-5A4A-8571-50C2F62F9A01}">
      <dgm:prSet/>
      <dgm:spPr/>
      <dgm:t>
        <a:bodyPr/>
        <a:lstStyle/>
        <a:p>
          <a:endParaRPr lang="en-US"/>
        </a:p>
      </dgm:t>
    </dgm:pt>
    <dgm:pt modelId="{CD0E2AB5-F771-D344-B573-B8CAE3769B6A}" type="sibTrans" cxnId="{C1C5856E-EEFB-5A4A-8571-50C2F62F9A01}">
      <dgm:prSet/>
      <dgm:spPr/>
      <dgm:t>
        <a:bodyPr/>
        <a:lstStyle/>
        <a:p>
          <a:endParaRPr lang="en-US"/>
        </a:p>
      </dgm:t>
    </dgm:pt>
    <dgm:pt modelId="{88BEA2A4-0B6A-1C43-ADA5-EF66A63E1439}">
      <dgm:prSet/>
      <dgm:spPr/>
      <dgm:t>
        <a:bodyPr/>
        <a:lstStyle/>
        <a:p>
          <a:pPr rtl="0"/>
          <a:r>
            <a:rPr lang="en-US" dirty="0" smtClean="0"/>
            <a:t>Ticket lifetime</a:t>
          </a:r>
          <a:endParaRPr lang="en-US" dirty="0"/>
        </a:p>
      </dgm:t>
    </dgm:pt>
    <dgm:pt modelId="{0EB061FC-CFCA-AC42-B6C2-9824D5666910}" type="parTrans" cxnId="{7D1659B0-75B8-3E40-8143-FAEBF3685B43}">
      <dgm:prSet/>
      <dgm:spPr/>
      <dgm:t>
        <a:bodyPr/>
        <a:lstStyle/>
        <a:p>
          <a:endParaRPr lang="en-US"/>
        </a:p>
      </dgm:t>
    </dgm:pt>
    <dgm:pt modelId="{0121FDBF-C07A-5F43-8881-11190CB6342F}" type="sibTrans" cxnId="{7D1659B0-75B8-3E40-8143-FAEBF3685B43}">
      <dgm:prSet/>
      <dgm:spPr/>
      <dgm:t>
        <a:bodyPr/>
        <a:lstStyle/>
        <a:p>
          <a:endParaRPr lang="en-US"/>
        </a:p>
      </dgm:t>
    </dgm:pt>
    <dgm:pt modelId="{FBF16B9E-5E4E-0644-B1FB-1F0E39E2B006}">
      <dgm:prSet/>
      <dgm:spPr/>
      <dgm:t>
        <a:bodyPr/>
        <a:lstStyle/>
        <a:p>
          <a:pPr rtl="0"/>
          <a:r>
            <a:rPr lang="en-US" dirty="0" smtClean="0"/>
            <a:t>Authentication forwarding</a:t>
          </a:r>
          <a:endParaRPr lang="en-US" dirty="0"/>
        </a:p>
      </dgm:t>
    </dgm:pt>
    <dgm:pt modelId="{4ECF6F66-470C-B24A-AFC1-18D1319F0FF3}" type="parTrans" cxnId="{B978E377-3F2E-F843-9A1F-EC7E9959FDC8}">
      <dgm:prSet/>
      <dgm:spPr/>
      <dgm:t>
        <a:bodyPr/>
        <a:lstStyle/>
        <a:p>
          <a:endParaRPr lang="en-US"/>
        </a:p>
      </dgm:t>
    </dgm:pt>
    <dgm:pt modelId="{388E2450-6FFF-044D-B041-2F8AAB6F18B2}" type="sibTrans" cxnId="{B978E377-3F2E-F843-9A1F-EC7E9959FDC8}">
      <dgm:prSet/>
      <dgm:spPr/>
      <dgm:t>
        <a:bodyPr/>
        <a:lstStyle/>
        <a:p>
          <a:endParaRPr lang="en-US"/>
        </a:p>
      </dgm:t>
    </dgm:pt>
    <dgm:pt modelId="{957535AC-2CB2-1740-B409-78467D2B653B}">
      <dgm:prSet/>
      <dgm:spPr/>
      <dgm:t>
        <a:bodyPr/>
        <a:lstStyle/>
        <a:p>
          <a:pPr rtl="0"/>
          <a:r>
            <a:rPr lang="en-US" dirty="0" smtClean="0"/>
            <a:t>Interrealm authentication</a:t>
          </a:r>
          <a:endParaRPr lang="en-US" dirty="0"/>
        </a:p>
      </dgm:t>
    </dgm:pt>
    <dgm:pt modelId="{3F2F09A4-CE43-C743-8282-108EB1583E3C}" type="parTrans" cxnId="{36E666BA-00BD-F242-AE21-8A6831D82A77}">
      <dgm:prSet/>
      <dgm:spPr/>
      <dgm:t>
        <a:bodyPr/>
        <a:lstStyle/>
        <a:p>
          <a:endParaRPr lang="en-US"/>
        </a:p>
      </dgm:t>
    </dgm:pt>
    <dgm:pt modelId="{4E89A284-9A8F-C849-9C96-7693F370C312}" type="sibTrans" cxnId="{36E666BA-00BD-F242-AE21-8A6831D82A77}">
      <dgm:prSet/>
      <dgm:spPr/>
      <dgm:t>
        <a:bodyPr/>
        <a:lstStyle/>
        <a:p>
          <a:endParaRPr lang="en-US"/>
        </a:p>
      </dgm:t>
    </dgm:pt>
    <dgm:pt modelId="{85B24DF4-D569-E047-A540-62607AF85128}">
      <dgm:prSet/>
      <dgm:spPr/>
      <dgm:t>
        <a:bodyPr/>
        <a:lstStyle/>
        <a:p>
          <a:pPr rtl="0"/>
          <a:r>
            <a:rPr lang="en-US" dirty="0" smtClean="0"/>
            <a:t>Technical deficiencies</a:t>
          </a:r>
          <a:endParaRPr lang="en-US" dirty="0"/>
        </a:p>
      </dgm:t>
    </dgm:pt>
    <dgm:pt modelId="{A97522CA-97FA-974A-949B-B36A21858F82}" type="parTrans" cxnId="{014BE094-1A98-C549-865E-4005F084C8B5}">
      <dgm:prSet/>
      <dgm:spPr/>
      <dgm:t>
        <a:bodyPr/>
        <a:lstStyle/>
        <a:p>
          <a:endParaRPr lang="en-US"/>
        </a:p>
      </dgm:t>
    </dgm:pt>
    <dgm:pt modelId="{271D5F35-1375-FC4B-80EB-AD20D38F2320}" type="sibTrans" cxnId="{014BE094-1A98-C549-865E-4005F084C8B5}">
      <dgm:prSet/>
      <dgm:spPr/>
      <dgm:t>
        <a:bodyPr/>
        <a:lstStyle/>
        <a:p>
          <a:endParaRPr lang="en-US"/>
        </a:p>
      </dgm:t>
    </dgm:pt>
    <dgm:pt modelId="{2D143681-128B-8743-AAEB-196C76BFB714}">
      <dgm:prSet/>
      <dgm:spPr/>
      <dgm:t>
        <a:bodyPr/>
        <a:lstStyle/>
        <a:p>
          <a:pPr rtl="0"/>
          <a:r>
            <a:rPr lang="en-US" dirty="0" smtClean="0"/>
            <a:t>Double encryption</a:t>
          </a:r>
          <a:endParaRPr lang="en-US" dirty="0"/>
        </a:p>
      </dgm:t>
    </dgm:pt>
    <dgm:pt modelId="{7285052F-1EFC-214D-AC73-2187C564CC1B}" type="parTrans" cxnId="{5C4B8008-0588-B54D-800F-8280D973D993}">
      <dgm:prSet/>
      <dgm:spPr/>
      <dgm:t>
        <a:bodyPr/>
        <a:lstStyle/>
        <a:p>
          <a:endParaRPr lang="en-US"/>
        </a:p>
      </dgm:t>
    </dgm:pt>
    <dgm:pt modelId="{82264B92-F1B7-D24B-AB4A-DFB991C57C01}" type="sibTrans" cxnId="{5C4B8008-0588-B54D-800F-8280D973D993}">
      <dgm:prSet/>
      <dgm:spPr/>
      <dgm:t>
        <a:bodyPr/>
        <a:lstStyle/>
        <a:p>
          <a:endParaRPr lang="en-US"/>
        </a:p>
      </dgm:t>
    </dgm:pt>
    <dgm:pt modelId="{EEDAAD38-0270-2442-B851-5413F422949D}">
      <dgm:prSet/>
      <dgm:spPr/>
      <dgm:t>
        <a:bodyPr/>
        <a:lstStyle/>
        <a:p>
          <a:pPr rtl="0"/>
          <a:r>
            <a:rPr lang="en-US" dirty="0" smtClean="0"/>
            <a:t>PCBC encryption</a:t>
          </a:r>
          <a:endParaRPr lang="en-US" dirty="0"/>
        </a:p>
      </dgm:t>
    </dgm:pt>
    <dgm:pt modelId="{B0519C35-3BD9-5241-80B4-E278DD7DD1DD}" type="parTrans" cxnId="{D0DF132C-7903-A043-B028-2C88A33F7B21}">
      <dgm:prSet/>
      <dgm:spPr/>
      <dgm:t>
        <a:bodyPr/>
        <a:lstStyle/>
        <a:p>
          <a:endParaRPr lang="en-US"/>
        </a:p>
      </dgm:t>
    </dgm:pt>
    <dgm:pt modelId="{54524FBC-E2FF-DA44-9598-B9106C28CFED}" type="sibTrans" cxnId="{D0DF132C-7903-A043-B028-2C88A33F7B21}">
      <dgm:prSet/>
      <dgm:spPr/>
      <dgm:t>
        <a:bodyPr/>
        <a:lstStyle/>
        <a:p>
          <a:endParaRPr lang="en-US"/>
        </a:p>
      </dgm:t>
    </dgm:pt>
    <dgm:pt modelId="{00E71880-CC5E-524C-A6DC-68BD6852AF22}">
      <dgm:prSet/>
      <dgm:spPr/>
      <dgm:t>
        <a:bodyPr/>
        <a:lstStyle/>
        <a:p>
          <a:pPr rtl="0"/>
          <a:r>
            <a:rPr lang="en-US" dirty="0" smtClean="0"/>
            <a:t>Session keys</a:t>
          </a:r>
          <a:endParaRPr lang="en-US" dirty="0"/>
        </a:p>
      </dgm:t>
    </dgm:pt>
    <dgm:pt modelId="{46DE04A5-7EE7-7041-BA65-813DAFB78C8D}" type="parTrans" cxnId="{32DC8D5F-1899-8549-8025-6D85AF854890}">
      <dgm:prSet/>
      <dgm:spPr/>
      <dgm:t>
        <a:bodyPr/>
        <a:lstStyle/>
        <a:p>
          <a:endParaRPr lang="en-US"/>
        </a:p>
      </dgm:t>
    </dgm:pt>
    <dgm:pt modelId="{866DCB60-79B1-5842-AFD7-06F5D6C2A942}" type="sibTrans" cxnId="{32DC8D5F-1899-8549-8025-6D85AF854890}">
      <dgm:prSet/>
      <dgm:spPr/>
      <dgm:t>
        <a:bodyPr/>
        <a:lstStyle/>
        <a:p>
          <a:endParaRPr lang="en-US"/>
        </a:p>
      </dgm:t>
    </dgm:pt>
    <dgm:pt modelId="{CA00A946-EA95-A647-B053-F5FABE59E513}">
      <dgm:prSet/>
      <dgm:spPr/>
      <dgm:t>
        <a:bodyPr/>
        <a:lstStyle/>
        <a:p>
          <a:pPr rtl="0"/>
          <a:r>
            <a:rPr lang="en-US" dirty="0" smtClean="0"/>
            <a:t>Password attacks</a:t>
          </a:r>
          <a:endParaRPr lang="en-US" dirty="0"/>
        </a:p>
      </dgm:t>
    </dgm:pt>
    <dgm:pt modelId="{5D30ED62-5124-4D44-A2F4-57EA3B26FB3E}" type="parTrans" cxnId="{17772003-764C-494D-9CA0-EDF28F4347CC}">
      <dgm:prSet/>
      <dgm:spPr/>
      <dgm:t>
        <a:bodyPr/>
        <a:lstStyle/>
        <a:p>
          <a:endParaRPr lang="en-US"/>
        </a:p>
      </dgm:t>
    </dgm:pt>
    <dgm:pt modelId="{2F2177E7-FF74-9147-AFD9-09DD9B255EF1}" type="sibTrans" cxnId="{17772003-764C-494D-9CA0-EDF28F4347CC}">
      <dgm:prSet/>
      <dgm:spPr/>
      <dgm:t>
        <a:bodyPr/>
        <a:lstStyle/>
        <a:p>
          <a:endParaRPr lang="en-US"/>
        </a:p>
      </dgm:t>
    </dgm:pt>
    <dgm:pt modelId="{4FE1C1A5-0DF4-A648-B0FA-372EE81CE522}" type="pres">
      <dgm:prSet presAssocID="{FDED19C4-DDC8-1D46-AAC2-46AF3F1CF2B6}" presName="Name0" presStyleCnt="0">
        <dgm:presLayoutVars>
          <dgm:dir/>
          <dgm:animLvl val="lvl"/>
          <dgm:resizeHandles val="exact"/>
        </dgm:presLayoutVars>
      </dgm:prSet>
      <dgm:spPr/>
      <dgm:t>
        <a:bodyPr/>
        <a:lstStyle/>
        <a:p>
          <a:endParaRPr lang="en-US"/>
        </a:p>
      </dgm:t>
    </dgm:pt>
    <dgm:pt modelId="{34FF3A3F-2CA3-4F49-A145-D6DFF468413A}" type="pres">
      <dgm:prSet presAssocID="{97D569F2-8AB2-FD43-A148-A5DA7866C0E5}" presName="boxAndChildren" presStyleCnt="0"/>
      <dgm:spPr/>
    </dgm:pt>
    <dgm:pt modelId="{ACCBE9B9-8545-0A42-8324-3936B80BBAAA}" type="pres">
      <dgm:prSet presAssocID="{97D569F2-8AB2-FD43-A148-A5DA7866C0E5}" presName="parentTextBox" presStyleLbl="node1" presStyleIdx="0" presStyleCnt="1"/>
      <dgm:spPr/>
      <dgm:t>
        <a:bodyPr/>
        <a:lstStyle/>
        <a:p>
          <a:endParaRPr lang="en-US"/>
        </a:p>
      </dgm:t>
    </dgm:pt>
    <dgm:pt modelId="{98615DCA-7C3F-114C-9DEA-ACB584E59352}" type="pres">
      <dgm:prSet presAssocID="{97D569F2-8AB2-FD43-A148-A5DA7866C0E5}" presName="entireBox" presStyleLbl="node1" presStyleIdx="0" presStyleCnt="1" custScaleY="90840"/>
      <dgm:spPr/>
      <dgm:t>
        <a:bodyPr/>
        <a:lstStyle/>
        <a:p>
          <a:endParaRPr lang="en-US"/>
        </a:p>
      </dgm:t>
    </dgm:pt>
    <dgm:pt modelId="{0419F3F0-0CB1-9240-80A2-45926708AAB9}" type="pres">
      <dgm:prSet presAssocID="{97D569F2-8AB2-FD43-A148-A5DA7866C0E5}" presName="descendantBox" presStyleCnt="0"/>
      <dgm:spPr/>
    </dgm:pt>
    <dgm:pt modelId="{5D48EB20-6C42-834F-8457-6E3434CCF828}" type="pres">
      <dgm:prSet presAssocID="{7EB638CE-70F3-074F-BA4C-E8C56ABE39BA}" presName="childTextBox" presStyleLbl="fgAccFollowNode1" presStyleIdx="0" presStyleCnt="2">
        <dgm:presLayoutVars>
          <dgm:bulletEnabled val="1"/>
        </dgm:presLayoutVars>
      </dgm:prSet>
      <dgm:spPr/>
      <dgm:t>
        <a:bodyPr/>
        <a:lstStyle/>
        <a:p>
          <a:endParaRPr lang="en-US"/>
        </a:p>
      </dgm:t>
    </dgm:pt>
    <dgm:pt modelId="{92BD13A5-1A3D-8E44-A4ED-0A07D45C046F}" type="pres">
      <dgm:prSet presAssocID="{85B24DF4-D569-E047-A540-62607AF85128}" presName="childTextBox" presStyleLbl="fgAccFollowNode1" presStyleIdx="1" presStyleCnt="2">
        <dgm:presLayoutVars>
          <dgm:bulletEnabled val="1"/>
        </dgm:presLayoutVars>
      </dgm:prSet>
      <dgm:spPr/>
      <dgm:t>
        <a:bodyPr/>
        <a:lstStyle/>
        <a:p>
          <a:endParaRPr lang="en-US"/>
        </a:p>
      </dgm:t>
    </dgm:pt>
  </dgm:ptLst>
  <dgm:cxnLst>
    <dgm:cxn modelId="{8D9BD699-CF16-104C-9F73-9C3C05B35918}" type="presOf" srcId="{88BEA2A4-0B6A-1C43-ADA5-EF66A63E1439}" destId="{5D48EB20-6C42-834F-8457-6E3434CCF828}" srcOrd="0" destOrd="4" presId="urn:microsoft.com/office/officeart/2005/8/layout/process4"/>
    <dgm:cxn modelId="{AC6C3822-8376-6D42-A577-78E6B00E731A}" type="presOf" srcId="{AF1BB78C-B148-6344-8E80-A0A7D7C064E8}" destId="{5D48EB20-6C42-834F-8457-6E3434CCF828}" srcOrd="0" destOrd="3" presId="urn:microsoft.com/office/officeart/2005/8/layout/process4"/>
    <dgm:cxn modelId="{D08E2353-6937-2C43-9513-B112E5BCC687}" type="presOf" srcId="{7EB638CE-70F3-074F-BA4C-E8C56ABE39BA}" destId="{5D48EB20-6C42-834F-8457-6E3434CCF828}" srcOrd="0" destOrd="0" presId="urn:microsoft.com/office/officeart/2005/8/layout/process4"/>
    <dgm:cxn modelId="{17772003-764C-494D-9CA0-EDF28F4347CC}" srcId="{85B24DF4-D569-E047-A540-62607AF85128}" destId="{CA00A946-EA95-A647-B053-F5FABE59E513}" srcOrd="3" destOrd="0" parTransId="{5D30ED62-5124-4D44-A2F4-57EA3B26FB3E}" sibTransId="{2F2177E7-FF74-9147-AFD9-09DD9B255EF1}"/>
    <dgm:cxn modelId="{B978E377-3F2E-F843-9A1F-EC7E9959FDC8}" srcId="{7EB638CE-70F3-074F-BA4C-E8C56ABE39BA}" destId="{FBF16B9E-5E4E-0644-B1FB-1F0E39E2B006}" srcOrd="4" destOrd="0" parTransId="{4ECF6F66-470C-B24A-AFC1-18D1319F0FF3}" sibTransId="{388E2450-6FFF-044D-B041-2F8AAB6F18B2}"/>
    <dgm:cxn modelId="{771FD798-951B-2D48-8BBB-F404578D1A1A}" srcId="{7EB638CE-70F3-074F-BA4C-E8C56ABE39BA}" destId="{BEDF54BC-2705-4641-8CC4-9CF14D3C22C1}" srcOrd="1" destOrd="0" parTransId="{9DDCA98C-9A93-0B4C-B4EE-1EFA586EC433}" sibTransId="{6D2E9E15-7ECF-DA43-B4D8-96651B1F6BEF}"/>
    <dgm:cxn modelId="{5C4B8008-0588-B54D-800F-8280D973D993}" srcId="{85B24DF4-D569-E047-A540-62607AF85128}" destId="{2D143681-128B-8743-AAEB-196C76BFB714}" srcOrd="0" destOrd="0" parTransId="{7285052F-1EFC-214D-AC73-2187C564CC1B}" sibTransId="{82264B92-F1B7-D24B-AB4A-DFB991C57C01}"/>
    <dgm:cxn modelId="{2673D9A6-533E-BB4B-8692-66DE6D9C915B}" type="presOf" srcId="{2D143681-128B-8743-AAEB-196C76BFB714}" destId="{92BD13A5-1A3D-8E44-A4ED-0A07D45C046F}" srcOrd="0" destOrd="1" presId="urn:microsoft.com/office/officeart/2005/8/layout/process4"/>
    <dgm:cxn modelId="{65A2FB17-A384-CF4A-BF4D-FBFBE1CEFEEC}" srcId="{97D569F2-8AB2-FD43-A148-A5DA7866C0E5}" destId="{7EB638CE-70F3-074F-BA4C-E8C56ABE39BA}" srcOrd="0" destOrd="0" parTransId="{94FB3C54-9901-A04A-BC63-891ADA30DA52}" sibTransId="{1974E2E8-5CCB-D24E-BB3A-7EB553CA6B3D}"/>
    <dgm:cxn modelId="{DBE51134-562D-DF45-A7C7-13C01BE6C660}" type="presOf" srcId="{957535AC-2CB2-1740-B409-78467D2B653B}" destId="{5D48EB20-6C42-834F-8457-6E3434CCF828}" srcOrd="0" destOrd="6" presId="urn:microsoft.com/office/officeart/2005/8/layout/process4"/>
    <dgm:cxn modelId="{7D1659B0-75B8-3E40-8143-FAEBF3685B43}" srcId="{7EB638CE-70F3-074F-BA4C-E8C56ABE39BA}" destId="{88BEA2A4-0B6A-1C43-ADA5-EF66A63E1439}" srcOrd="3" destOrd="0" parTransId="{0EB061FC-CFCA-AC42-B6C2-9824D5666910}" sibTransId="{0121FDBF-C07A-5F43-8881-11190CB6342F}"/>
    <dgm:cxn modelId="{29E8D1E7-7A42-D846-9332-AD9FB7CA258F}" type="presOf" srcId="{97D569F2-8AB2-FD43-A148-A5DA7866C0E5}" destId="{ACCBE9B9-8545-0A42-8324-3936B80BBAAA}" srcOrd="0" destOrd="0" presId="urn:microsoft.com/office/officeart/2005/8/layout/process4"/>
    <dgm:cxn modelId="{36E666BA-00BD-F242-AE21-8A6831D82A77}" srcId="{7EB638CE-70F3-074F-BA4C-E8C56ABE39BA}" destId="{957535AC-2CB2-1740-B409-78467D2B653B}" srcOrd="5" destOrd="0" parTransId="{3F2F09A4-CE43-C743-8282-108EB1583E3C}" sibTransId="{4E89A284-9A8F-C849-9C96-7693F370C312}"/>
    <dgm:cxn modelId="{58F743DD-AEEB-BF40-B7FB-E8138CFDCB16}" type="presOf" srcId="{EEDAAD38-0270-2442-B851-5413F422949D}" destId="{92BD13A5-1A3D-8E44-A4ED-0A07D45C046F}" srcOrd="0" destOrd="2" presId="urn:microsoft.com/office/officeart/2005/8/layout/process4"/>
    <dgm:cxn modelId="{9C9906A4-69C4-6048-AEF9-2AA0C8F04F80}" srcId="{FDED19C4-DDC8-1D46-AAC2-46AF3F1CF2B6}" destId="{97D569F2-8AB2-FD43-A148-A5DA7866C0E5}" srcOrd="0" destOrd="0" parTransId="{E744B7AE-E901-4D45-9870-A9418764DB39}" sibTransId="{E2C10C23-D2C6-3048-9F76-FBC59821B949}"/>
    <dgm:cxn modelId="{83603016-41DE-2C4C-82C3-780794C27684}" type="presOf" srcId="{26F3AE92-DB32-504E-9B59-143C3D025005}" destId="{5D48EB20-6C42-834F-8457-6E3434CCF828}" srcOrd="0" destOrd="1" presId="urn:microsoft.com/office/officeart/2005/8/layout/process4"/>
    <dgm:cxn modelId="{014BE094-1A98-C549-865E-4005F084C8B5}" srcId="{97D569F2-8AB2-FD43-A148-A5DA7866C0E5}" destId="{85B24DF4-D569-E047-A540-62607AF85128}" srcOrd="1" destOrd="0" parTransId="{A97522CA-97FA-974A-949B-B36A21858F82}" sibTransId="{271D5F35-1375-FC4B-80EB-AD20D38F2320}"/>
    <dgm:cxn modelId="{7C516929-ED14-A34C-87CF-E3AE939C252E}" srcId="{7EB638CE-70F3-074F-BA4C-E8C56ABE39BA}" destId="{26F3AE92-DB32-504E-9B59-143C3D025005}" srcOrd="0" destOrd="0" parTransId="{502EE9F7-EFE8-4545-BAFF-115C3E9635ED}" sibTransId="{4845EF6D-308E-3B4F-A423-D9C3AFB1144F}"/>
    <dgm:cxn modelId="{46C69900-B3E7-A247-B5E2-15123676B4D4}" type="presOf" srcId="{97D569F2-8AB2-FD43-A148-A5DA7866C0E5}" destId="{98615DCA-7C3F-114C-9DEA-ACB584E59352}" srcOrd="1" destOrd="0" presId="urn:microsoft.com/office/officeart/2005/8/layout/process4"/>
    <dgm:cxn modelId="{5291B802-CCBF-704D-893C-4183A2A20FF8}" type="presOf" srcId="{CA00A946-EA95-A647-B053-F5FABE59E513}" destId="{92BD13A5-1A3D-8E44-A4ED-0A07D45C046F}" srcOrd="0" destOrd="4" presId="urn:microsoft.com/office/officeart/2005/8/layout/process4"/>
    <dgm:cxn modelId="{62F3A727-0326-BB4D-BCF2-2F5E09110ED3}" type="presOf" srcId="{00E71880-CC5E-524C-A6DC-68BD6852AF22}" destId="{92BD13A5-1A3D-8E44-A4ED-0A07D45C046F}" srcOrd="0" destOrd="3" presId="urn:microsoft.com/office/officeart/2005/8/layout/process4"/>
    <dgm:cxn modelId="{A497FE65-FC27-5A47-95BD-D5EDEE60D073}" type="presOf" srcId="{BEDF54BC-2705-4641-8CC4-9CF14D3C22C1}" destId="{5D48EB20-6C42-834F-8457-6E3434CCF828}" srcOrd="0" destOrd="2" presId="urn:microsoft.com/office/officeart/2005/8/layout/process4"/>
    <dgm:cxn modelId="{AAF8931B-6EA2-1849-9CC0-149B981A7033}" type="presOf" srcId="{FDED19C4-DDC8-1D46-AAC2-46AF3F1CF2B6}" destId="{4FE1C1A5-0DF4-A648-B0FA-372EE81CE522}" srcOrd="0" destOrd="0" presId="urn:microsoft.com/office/officeart/2005/8/layout/process4"/>
    <dgm:cxn modelId="{D0DF132C-7903-A043-B028-2C88A33F7B21}" srcId="{85B24DF4-D569-E047-A540-62607AF85128}" destId="{EEDAAD38-0270-2442-B851-5413F422949D}" srcOrd="1" destOrd="0" parTransId="{B0519C35-3BD9-5241-80B4-E278DD7DD1DD}" sibTransId="{54524FBC-E2FF-DA44-9598-B9106C28CFED}"/>
    <dgm:cxn modelId="{32DC8D5F-1899-8549-8025-6D85AF854890}" srcId="{85B24DF4-D569-E047-A540-62607AF85128}" destId="{00E71880-CC5E-524C-A6DC-68BD6852AF22}" srcOrd="2" destOrd="0" parTransId="{46DE04A5-7EE7-7041-BA65-813DAFB78C8D}" sibTransId="{866DCB60-79B1-5842-AFD7-06F5D6C2A942}"/>
    <dgm:cxn modelId="{F03FFB37-C089-FC40-A2E1-757E756909E7}" type="presOf" srcId="{85B24DF4-D569-E047-A540-62607AF85128}" destId="{92BD13A5-1A3D-8E44-A4ED-0A07D45C046F}" srcOrd="0" destOrd="0" presId="urn:microsoft.com/office/officeart/2005/8/layout/process4"/>
    <dgm:cxn modelId="{AD55B7B7-EF54-EE42-8D6C-A3653912EAF6}" type="presOf" srcId="{FBF16B9E-5E4E-0644-B1FB-1F0E39E2B006}" destId="{5D48EB20-6C42-834F-8457-6E3434CCF828}" srcOrd="0" destOrd="5" presId="urn:microsoft.com/office/officeart/2005/8/layout/process4"/>
    <dgm:cxn modelId="{C1C5856E-EEFB-5A4A-8571-50C2F62F9A01}" srcId="{7EB638CE-70F3-074F-BA4C-E8C56ABE39BA}" destId="{AF1BB78C-B148-6344-8E80-A0A7D7C064E8}" srcOrd="2" destOrd="0" parTransId="{0C5F630B-3496-8046-80A5-1CBBD49FF250}" sibTransId="{CD0E2AB5-F771-D344-B573-B8CAE3769B6A}"/>
    <dgm:cxn modelId="{4E641085-433C-0045-AC51-717AAAFEF952}" type="presParOf" srcId="{4FE1C1A5-0DF4-A648-B0FA-372EE81CE522}" destId="{34FF3A3F-2CA3-4F49-A145-D6DFF468413A}" srcOrd="0" destOrd="0" presId="urn:microsoft.com/office/officeart/2005/8/layout/process4"/>
    <dgm:cxn modelId="{8872FE4D-7D70-0E46-B042-E73A3010A3AF}" type="presParOf" srcId="{34FF3A3F-2CA3-4F49-A145-D6DFF468413A}" destId="{ACCBE9B9-8545-0A42-8324-3936B80BBAAA}" srcOrd="0" destOrd="0" presId="urn:microsoft.com/office/officeart/2005/8/layout/process4"/>
    <dgm:cxn modelId="{0F02566D-0F54-8442-851F-24847DADA86F}" type="presParOf" srcId="{34FF3A3F-2CA3-4F49-A145-D6DFF468413A}" destId="{98615DCA-7C3F-114C-9DEA-ACB584E59352}" srcOrd="1" destOrd="0" presId="urn:microsoft.com/office/officeart/2005/8/layout/process4"/>
    <dgm:cxn modelId="{82687D5D-AC35-B745-87A4-E8F4BF83F738}" type="presParOf" srcId="{34FF3A3F-2CA3-4F49-A145-D6DFF468413A}" destId="{0419F3F0-0CB1-9240-80A2-45926708AAB9}" srcOrd="2" destOrd="0" presId="urn:microsoft.com/office/officeart/2005/8/layout/process4"/>
    <dgm:cxn modelId="{EC8D0685-732D-484C-AA5E-BE3A429471E2}" type="presParOf" srcId="{0419F3F0-0CB1-9240-80A2-45926708AAB9}" destId="{5D48EB20-6C42-834F-8457-6E3434CCF828}" srcOrd="0" destOrd="0" presId="urn:microsoft.com/office/officeart/2005/8/layout/process4"/>
    <dgm:cxn modelId="{3548EC3A-9D93-1A4D-859D-C806FA4D0547}" type="presParOf" srcId="{0419F3F0-0CB1-9240-80A2-45926708AAB9}" destId="{92BD13A5-1A3D-8E44-A4ED-0A07D45C046F}" srcOrd="1"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D2423E4-4004-8844-8147-D3B40268345B}"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F4A2E6A0-F8D8-7F45-B6CD-AE3A4EDA6B00}">
      <dgm:prSet/>
      <dgm:spPr>
        <a:solidFill>
          <a:schemeClr val="bg1"/>
        </a:solidFill>
        <a:ln>
          <a:solidFill>
            <a:schemeClr val="accent1"/>
          </a:solidFill>
        </a:ln>
      </dgm:spPr>
      <dgm:t>
        <a:bodyPr/>
        <a:lstStyle/>
        <a:p>
          <a:pPr rtl="0"/>
          <a:r>
            <a:rPr lang="en-US" b="1" dirty="0" smtClean="0"/>
            <a:t>The Extensible Markup Language (XML)</a:t>
          </a:r>
          <a:endParaRPr lang="en-US" b="1" dirty="0"/>
        </a:p>
      </dgm:t>
    </dgm:pt>
    <dgm:pt modelId="{6A626184-04E8-334A-894E-1B6AAEC45B0E}" type="parTrans" cxnId="{230637E2-686F-964A-9FFA-0E7564672D2B}">
      <dgm:prSet/>
      <dgm:spPr/>
      <dgm:t>
        <a:bodyPr/>
        <a:lstStyle/>
        <a:p>
          <a:endParaRPr lang="en-US"/>
        </a:p>
      </dgm:t>
    </dgm:pt>
    <dgm:pt modelId="{74CECB05-E4AE-6542-B550-5ACA2395B7AF}" type="sibTrans" cxnId="{230637E2-686F-964A-9FFA-0E7564672D2B}">
      <dgm:prSet/>
      <dgm:spPr/>
      <dgm:t>
        <a:bodyPr/>
        <a:lstStyle/>
        <a:p>
          <a:endParaRPr lang="en-US"/>
        </a:p>
      </dgm:t>
    </dgm:pt>
    <dgm:pt modelId="{11CC3A85-D63A-FA4A-AC14-7E6E2ED88E90}">
      <dgm:prSet/>
      <dgm:spPr>
        <a:ln>
          <a:solidFill>
            <a:schemeClr val="tx1"/>
          </a:solidFill>
        </a:ln>
      </dgm:spPr>
      <dgm:t>
        <a:bodyPr/>
        <a:lstStyle/>
        <a:p>
          <a:pPr rtl="0"/>
          <a:r>
            <a:rPr lang="en-US" b="1" dirty="0" smtClean="0"/>
            <a:t>A markup language that uses sets of embedded tags or labels to characterize text elements within a document so as to indicate their appearance, function, meaning, or context</a:t>
          </a:r>
          <a:endParaRPr lang="en-US" b="1" dirty="0"/>
        </a:p>
      </dgm:t>
    </dgm:pt>
    <dgm:pt modelId="{014F8A88-C15C-9B44-B33D-0CEC993D5BCD}" type="parTrans" cxnId="{73AE95AE-9E5D-2943-BB75-A6A1FABD0EE1}">
      <dgm:prSet/>
      <dgm:spPr/>
      <dgm:t>
        <a:bodyPr/>
        <a:lstStyle/>
        <a:p>
          <a:endParaRPr lang="en-US"/>
        </a:p>
      </dgm:t>
    </dgm:pt>
    <dgm:pt modelId="{B6D4F9CD-348E-D143-91F5-162BBB7889C7}" type="sibTrans" cxnId="{73AE95AE-9E5D-2943-BB75-A6A1FABD0EE1}">
      <dgm:prSet/>
      <dgm:spPr/>
      <dgm:t>
        <a:bodyPr/>
        <a:lstStyle/>
        <a:p>
          <a:endParaRPr lang="en-US"/>
        </a:p>
      </dgm:t>
    </dgm:pt>
    <dgm:pt modelId="{0F2F1112-7F58-2F47-8A53-7D78FD453B0D}">
      <dgm:prSet/>
      <dgm:spPr>
        <a:solidFill>
          <a:schemeClr val="bg1"/>
        </a:solidFill>
        <a:ln>
          <a:solidFill>
            <a:schemeClr val="accent1"/>
          </a:solidFill>
        </a:ln>
      </dgm:spPr>
      <dgm:t>
        <a:bodyPr/>
        <a:lstStyle/>
        <a:p>
          <a:pPr rtl="0"/>
          <a:r>
            <a:rPr lang="en-US" b="1" dirty="0" smtClean="0"/>
            <a:t>The Simple Object Access Protocol (SOAP)</a:t>
          </a:r>
          <a:endParaRPr lang="en-US" b="1" dirty="0"/>
        </a:p>
      </dgm:t>
    </dgm:pt>
    <dgm:pt modelId="{BB866AFB-72CE-C44A-BA13-14C6EAF0713F}" type="parTrans" cxnId="{23AEFBC3-DDB6-3647-8F66-448E718966DF}">
      <dgm:prSet/>
      <dgm:spPr/>
      <dgm:t>
        <a:bodyPr/>
        <a:lstStyle/>
        <a:p>
          <a:endParaRPr lang="en-US"/>
        </a:p>
      </dgm:t>
    </dgm:pt>
    <dgm:pt modelId="{4FE7FFF6-F44E-BF49-A887-CDFD8367D362}" type="sibTrans" cxnId="{23AEFBC3-DDB6-3647-8F66-448E718966DF}">
      <dgm:prSet/>
      <dgm:spPr/>
      <dgm:t>
        <a:bodyPr/>
        <a:lstStyle/>
        <a:p>
          <a:endParaRPr lang="en-US"/>
        </a:p>
      </dgm:t>
    </dgm:pt>
    <dgm:pt modelId="{DD3682EA-69EF-324A-9485-27DE205275EA}">
      <dgm:prSet/>
      <dgm:spPr>
        <a:ln>
          <a:solidFill>
            <a:schemeClr val="tx1"/>
          </a:solidFill>
        </a:ln>
      </dgm:spPr>
      <dgm:t>
        <a:bodyPr/>
        <a:lstStyle/>
        <a:p>
          <a:pPr rtl="0"/>
          <a:r>
            <a:rPr lang="en-US" b="1" dirty="0" smtClean="0"/>
            <a:t>Enables applications to request services from one another with XML-based requests and receive responses as data formatted with XML</a:t>
          </a:r>
          <a:endParaRPr lang="en-US" b="1" dirty="0"/>
        </a:p>
      </dgm:t>
    </dgm:pt>
    <dgm:pt modelId="{6DD26C85-58DE-CD43-BA06-125CA8AE4259}" type="parTrans" cxnId="{61BDA83B-0E3A-2A40-809C-40C97992D263}">
      <dgm:prSet/>
      <dgm:spPr/>
      <dgm:t>
        <a:bodyPr/>
        <a:lstStyle/>
        <a:p>
          <a:endParaRPr lang="en-US"/>
        </a:p>
      </dgm:t>
    </dgm:pt>
    <dgm:pt modelId="{E9470C69-ED39-D645-82B7-F2D2CDEBE578}" type="sibTrans" cxnId="{61BDA83B-0E3A-2A40-809C-40C97992D263}">
      <dgm:prSet/>
      <dgm:spPr/>
      <dgm:t>
        <a:bodyPr/>
        <a:lstStyle/>
        <a:p>
          <a:endParaRPr lang="en-US"/>
        </a:p>
      </dgm:t>
    </dgm:pt>
    <dgm:pt modelId="{2F1C5F24-E788-B940-BD1D-D0D6944467F1}">
      <dgm:prSet/>
      <dgm:spPr>
        <a:solidFill>
          <a:schemeClr val="bg1"/>
        </a:solidFill>
        <a:ln>
          <a:solidFill>
            <a:schemeClr val="accent1"/>
          </a:solidFill>
        </a:ln>
      </dgm:spPr>
      <dgm:t>
        <a:bodyPr/>
        <a:lstStyle/>
        <a:p>
          <a:pPr rtl="0"/>
          <a:r>
            <a:rPr lang="en-US" b="1" dirty="0" smtClean="0"/>
            <a:t>WS-Security</a:t>
          </a:r>
          <a:endParaRPr lang="en-US" b="1" dirty="0"/>
        </a:p>
      </dgm:t>
    </dgm:pt>
    <dgm:pt modelId="{74DA54FB-DF20-CC4D-8C6F-C73147489BAE}" type="parTrans" cxnId="{2B338923-112A-994D-8D0C-2EB2A215556D}">
      <dgm:prSet/>
      <dgm:spPr/>
      <dgm:t>
        <a:bodyPr/>
        <a:lstStyle/>
        <a:p>
          <a:endParaRPr lang="en-US"/>
        </a:p>
      </dgm:t>
    </dgm:pt>
    <dgm:pt modelId="{99E95EC8-8270-114A-BA25-C6E8A4E91341}" type="sibTrans" cxnId="{2B338923-112A-994D-8D0C-2EB2A215556D}">
      <dgm:prSet/>
      <dgm:spPr/>
      <dgm:t>
        <a:bodyPr/>
        <a:lstStyle/>
        <a:p>
          <a:endParaRPr lang="en-US"/>
        </a:p>
      </dgm:t>
    </dgm:pt>
    <dgm:pt modelId="{42EC9970-D554-6B4F-BC52-FEBF4B4A15A5}">
      <dgm:prSet/>
      <dgm:spPr>
        <a:ln>
          <a:solidFill>
            <a:schemeClr val="tx1"/>
          </a:solidFill>
        </a:ln>
      </dgm:spPr>
      <dgm:t>
        <a:bodyPr/>
        <a:lstStyle/>
        <a:p>
          <a:pPr rtl="0"/>
          <a:r>
            <a:rPr lang="en-US" b="1" dirty="0" smtClean="0"/>
            <a:t>A set of SOAP extensions for implementing message integrity and confidentiality in Web services</a:t>
          </a:r>
          <a:endParaRPr lang="en-US" b="1" dirty="0"/>
        </a:p>
      </dgm:t>
    </dgm:pt>
    <dgm:pt modelId="{753DBD19-0D2B-1B48-8544-039D3A98E640}" type="parTrans" cxnId="{7E8A740C-0098-4740-B326-85983489E1FF}">
      <dgm:prSet/>
      <dgm:spPr/>
      <dgm:t>
        <a:bodyPr/>
        <a:lstStyle/>
        <a:p>
          <a:endParaRPr lang="en-US"/>
        </a:p>
      </dgm:t>
    </dgm:pt>
    <dgm:pt modelId="{DC0AE02F-B8F4-AF4E-A6B4-9F83565C75C8}" type="sibTrans" cxnId="{7E8A740C-0098-4740-B326-85983489E1FF}">
      <dgm:prSet/>
      <dgm:spPr/>
      <dgm:t>
        <a:bodyPr/>
        <a:lstStyle/>
        <a:p>
          <a:endParaRPr lang="en-US"/>
        </a:p>
      </dgm:t>
    </dgm:pt>
    <dgm:pt modelId="{00EF09AF-E825-A440-AB2B-67D7C4E2E5D4}">
      <dgm:prSet/>
      <dgm:spPr>
        <a:solidFill>
          <a:schemeClr val="bg1"/>
        </a:solidFill>
        <a:ln>
          <a:solidFill>
            <a:schemeClr val="accent1"/>
          </a:solidFill>
        </a:ln>
      </dgm:spPr>
      <dgm:t>
        <a:bodyPr/>
        <a:lstStyle/>
        <a:p>
          <a:pPr rtl="0"/>
          <a:r>
            <a:rPr lang="en-US" b="1" dirty="0" smtClean="0"/>
            <a:t>Security Assertion Markup Language (SAML)</a:t>
          </a:r>
          <a:endParaRPr lang="en-US" b="1" dirty="0"/>
        </a:p>
      </dgm:t>
    </dgm:pt>
    <dgm:pt modelId="{74347886-1A98-8643-BF30-60ADD1F13953}" type="parTrans" cxnId="{23CCE171-D72C-5346-9F6C-E5EFA739CC52}">
      <dgm:prSet/>
      <dgm:spPr/>
      <dgm:t>
        <a:bodyPr/>
        <a:lstStyle/>
        <a:p>
          <a:endParaRPr lang="en-US"/>
        </a:p>
      </dgm:t>
    </dgm:pt>
    <dgm:pt modelId="{FC0D52DB-516C-3F48-A113-85272450F74B}" type="sibTrans" cxnId="{23CCE171-D72C-5346-9F6C-E5EFA739CC52}">
      <dgm:prSet/>
      <dgm:spPr/>
      <dgm:t>
        <a:bodyPr/>
        <a:lstStyle/>
        <a:p>
          <a:endParaRPr lang="en-US"/>
        </a:p>
      </dgm:t>
    </dgm:pt>
    <dgm:pt modelId="{B23C3449-C8D4-2747-B33C-C1A92844CB51}">
      <dgm:prSet/>
      <dgm:spPr>
        <a:ln>
          <a:solidFill>
            <a:schemeClr val="tx1"/>
          </a:solidFill>
        </a:ln>
      </dgm:spPr>
      <dgm:t>
        <a:bodyPr/>
        <a:lstStyle/>
        <a:p>
          <a:pPr rtl="0"/>
          <a:r>
            <a:rPr lang="en-US" b="1" dirty="0" smtClean="0"/>
            <a:t>An XML-based language for the exchange of security information between online business partners</a:t>
          </a:r>
          <a:endParaRPr lang="en-US" b="1" dirty="0"/>
        </a:p>
      </dgm:t>
    </dgm:pt>
    <dgm:pt modelId="{6646F414-FF79-2442-89D5-6D2E02813509}" type="parTrans" cxnId="{98E45541-9C1B-0144-B20E-05CFED357319}">
      <dgm:prSet/>
      <dgm:spPr/>
      <dgm:t>
        <a:bodyPr/>
        <a:lstStyle/>
        <a:p>
          <a:endParaRPr lang="en-US"/>
        </a:p>
      </dgm:t>
    </dgm:pt>
    <dgm:pt modelId="{16A18B41-E242-4A4A-91D8-97E2984A7F8D}" type="sibTrans" cxnId="{98E45541-9C1B-0144-B20E-05CFED357319}">
      <dgm:prSet/>
      <dgm:spPr/>
      <dgm:t>
        <a:bodyPr/>
        <a:lstStyle/>
        <a:p>
          <a:endParaRPr lang="en-US"/>
        </a:p>
      </dgm:t>
    </dgm:pt>
    <dgm:pt modelId="{1A4FD7A5-DF68-F34E-914E-75D874D2D6FC}" type="pres">
      <dgm:prSet presAssocID="{6D2423E4-4004-8844-8147-D3B40268345B}" presName="theList" presStyleCnt="0">
        <dgm:presLayoutVars>
          <dgm:dir/>
          <dgm:animLvl val="lvl"/>
          <dgm:resizeHandles val="exact"/>
        </dgm:presLayoutVars>
      </dgm:prSet>
      <dgm:spPr/>
      <dgm:t>
        <a:bodyPr/>
        <a:lstStyle/>
        <a:p>
          <a:endParaRPr lang="en-US"/>
        </a:p>
      </dgm:t>
    </dgm:pt>
    <dgm:pt modelId="{47305C00-7A1B-3E4B-A781-4A7870373281}" type="pres">
      <dgm:prSet presAssocID="{F4A2E6A0-F8D8-7F45-B6CD-AE3A4EDA6B00}" presName="compNode" presStyleCnt="0"/>
      <dgm:spPr/>
    </dgm:pt>
    <dgm:pt modelId="{320B82E8-77A7-B544-9EE6-2B49635EB5F0}" type="pres">
      <dgm:prSet presAssocID="{F4A2E6A0-F8D8-7F45-B6CD-AE3A4EDA6B00}" presName="aNode" presStyleLbl="bgShp" presStyleIdx="0" presStyleCnt="4"/>
      <dgm:spPr/>
      <dgm:t>
        <a:bodyPr/>
        <a:lstStyle/>
        <a:p>
          <a:endParaRPr lang="en-US"/>
        </a:p>
      </dgm:t>
    </dgm:pt>
    <dgm:pt modelId="{FED9450D-3389-A141-A858-89DA0B86F0D6}" type="pres">
      <dgm:prSet presAssocID="{F4A2E6A0-F8D8-7F45-B6CD-AE3A4EDA6B00}" presName="textNode" presStyleLbl="bgShp" presStyleIdx="0" presStyleCnt="4"/>
      <dgm:spPr/>
      <dgm:t>
        <a:bodyPr/>
        <a:lstStyle/>
        <a:p>
          <a:endParaRPr lang="en-US"/>
        </a:p>
      </dgm:t>
    </dgm:pt>
    <dgm:pt modelId="{E16AB17E-6C44-9440-845E-698D916375EE}" type="pres">
      <dgm:prSet presAssocID="{F4A2E6A0-F8D8-7F45-B6CD-AE3A4EDA6B00}" presName="compChildNode" presStyleCnt="0"/>
      <dgm:spPr/>
    </dgm:pt>
    <dgm:pt modelId="{D19B16A3-0E66-4249-8C40-73DC0D33AE07}" type="pres">
      <dgm:prSet presAssocID="{F4A2E6A0-F8D8-7F45-B6CD-AE3A4EDA6B00}" presName="theInnerList" presStyleCnt="0"/>
      <dgm:spPr/>
    </dgm:pt>
    <dgm:pt modelId="{F88A9623-B695-3B43-9907-BC1A2CED98C0}" type="pres">
      <dgm:prSet presAssocID="{11CC3A85-D63A-FA4A-AC14-7E6E2ED88E90}" presName="childNode" presStyleLbl="node1" presStyleIdx="0" presStyleCnt="4">
        <dgm:presLayoutVars>
          <dgm:bulletEnabled val="1"/>
        </dgm:presLayoutVars>
      </dgm:prSet>
      <dgm:spPr/>
      <dgm:t>
        <a:bodyPr/>
        <a:lstStyle/>
        <a:p>
          <a:endParaRPr lang="en-US"/>
        </a:p>
      </dgm:t>
    </dgm:pt>
    <dgm:pt modelId="{0B13B2DB-04D8-2344-890F-D37AC48446C5}" type="pres">
      <dgm:prSet presAssocID="{F4A2E6A0-F8D8-7F45-B6CD-AE3A4EDA6B00}" presName="aSpace" presStyleCnt="0"/>
      <dgm:spPr/>
    </dgm:pt>
    <dgm:pt modelId="{1B4FC2FE-D617-FD4A-92AE-2807D13F868E}" type="pres">
      <dgm:prSet presAssocID="{0F2F1112-7F58-2F47-8A53-7D78FD453B0D}" presName="compNode" presStyleCnt="0"/>
      <dgm:spPr/>
    </dgm:pt>
    <dgm:pt modelId="{F7215F10-B00F-0B4B-89FD-E0D837330A4A}" type="pres">
      <dgm:prSet presAssocID="{0F2F1112-7F58-2F47-8A53-7D78FD453B0D}" presName="aNode" presStyleLbl="bgShp" presStyleIdx="1" presStyleCnt="4"/>
      <dgm:spPr/>
      <dgm:t>
        <a:bodyPr/>
        <a:lstStyle/>
        <a:p>
          <a:endParaRPr lang="en-US"/>
        </a:p>
      </dgm:t>
    </dgm:pt>
    <dgm:pt modelId="{4B5AEE58-B600-1E48-9726-8610E7C71343}" type="pres">
      <dgm:prSet presAssocID="{0F2F1112-7F58-2F47-8A53-7D78FD453B0D}" presName="textNode" presStyleLbl="bgShp" presStyleIdx="1" presStyleCnt="4"/>
      <dgm:spPr/>
      <dgm:t>
        <a:bodyPr/>
        <a:lstStyle/>
        <a:p>
          <a:endParaRPr lang="en-US"/>
        </a:p>
      </dgm:t>
    </dgm:pt>
    <dgm:pt modelId="{7DAFB3E6-F02C-D94E-ABD6-3F5C1C216AB3}" type="pres">
      <dgm:prSet presAssocID="{0F2F1112-7F58-2F47-8A53-7D78FD453B0D}" presName="compChildNode" presStyleCnt="0"/>
      <dgm:spPr/>
    </dgm:pt>
    <dgm:pt modelId="{4EF2BC27-02C2-D741-9A51-4489E5A8AB0D}" type="pres">
      <dgm:prSet presAssocID="{0F2F1112-7F58-2F47-8A53-7D78FD453B0D}" presName="theInnerList" presStyleCnt="0"/>
      <dgm:spPr/>
    </dgm:pt>
    <dgm:pt modelId="{987C18A4-1DC5-6746-9B80-C63742427AFE}" type="pres">
      <dgm:prSet presAssocID="{DD3682EA-69EF-324A-9485-27DE205275EA}" presName="childNode" presStyleLbl="node1" presStyleIdx="1" presStyleCnt="4">
        <dgm:presLayoutVars>
          <dgm:bulletEnabled val="1"/>
        </dgm:presLayoutVars>
      </dgm:prSet>
      <dgm:spPr/>
      <dgm:t>
        <a:bodyPr/>
        <a:lstStyle/>
        <a:p>
          <a:endParaRPr lang="en-US"/>
        </a:p>
      </dgm:t>
    </dgm:pt>
    <dgm:pt modelId="{8E8D5B86-D9FE-A142-BE36-BD00B75BD5AF}" type="pres">
      <dgm:prSet presAssocID="{0F2F1112-7F58-2F47-8A53-7D78FD453B0D}" presName="aSpace" presStyleCnt="0"/>
      <dgm:spPr/>
    </dgm:pt>
    <dgm:pt modelId="{F3F2D1B3-C46D-FD4D-B71F-38BA9CA9D2D3}" type="pres">
      <dgm:prSet presAssocID="{2F1C5F24-E788-B940-BD1D-D0D6944467F1}" presName="compNode" presStyleCnt="0"/>
      <dgm:spPr/>
    </dgm:pt>
    <dgm:pt modelId="{44F32B5C-82E6-5040-BF4B-C75C9346DA49}" type="pres">
      <dgm:prSet presAssocID="{2F1C5F24-E788-B940-BD1D-D0D6944467F1}" presName="aNode" presStyleLbl="bgShp" presStyleIdx="2" presStyleCnt="4"/>
      <dgm:spPr/>
      <dgm:t>
        <a:bodyPr/>
        <a:lstStyle/>
        <a:p>
          <a:endParaRPr lang="en-US"/>
        </a:p>
      </dgm:t>
    </dgm:pt>
    <dgm:pt modelId="{5D06E734-EC9C-9A42-AB13-631B2A7660C0}" type="pres">
      <dgm:prSet presAssocID="{2F1C5F24-E788-B940-BD1D-D0D6944467F1}" presName="textNode" presStyleLbl="bgShp" presStyleIdx="2" presStyleCnt="4"/>
      <dgm:spPr/>
      <dgm:t>
        <a:bodyPr/>
        <a:lstStyle/>
        <a:p>
          <a:endParaRPr lang="en-US"/>
        </a:p>
      </dgm:t>
    </dgm:pt>
    <dgm:pt modelId="{F2A98F65-7AA7-174A-992A-875BE6C01F1A}" type="pres">
      <dgm:prSet presAssocID="{2F1C5F24-E788-B940-BD1D-D0D6944467F1}" presName="compChildNode" presStyleCnt="0"/>
      <dgm:spPr/>
    </dgm:pt>
    <dgm:pt modelId="{E0742C2A-88EA-2F4A-8116-7484213592D3}" type="pres">
      <dgm:prSet presAssocID="{2F1C5F24-E788-B940-BD1D-D0D6944467F1}" presName="theInnerList" presStyleCnt="0"/>
      <dgm:spPr/>
    </dgm:pt>
    <dgm:pt modelId="{2171E679-C0DB-6F4F-BC0F-7FCD8C5AD0CD}" type="pres">
      <dgm:prSet presAssocID="{42EC9970-D554-6B4F-BC52-FEBF4B4A15A5}" presName="childNode" presStyleLbl="node1" presStyleIdx="2" presStyleCnt="4">
        <dgm:presLayoutVars>
          <dgm:bulletEnabled val="1"/>
        </dgm:presLayoutVars>
      </dgm:prSet>
      <dgm:spPr/>
      <dgm:t>
        <a:bodyPr/>
        <a:lstStyle/>
        <a:p>
          <a:endParaRPr lang="en-US"/>
        </a:p>
      </dgm:t>
    </dgm:pt>
    <dgm:pt modelId="{93199328-1960-4948-8023-7055FD216753}" type="pres">
      <dgm:prSet presAssocID="{2F1C5F24-E788-B940-BD1D-D0D6944467F1}" presName="aSpace" presStyleCnt="0"/>
      <dgm:spPr/>
    </dgm:pt>
    <dgm:pt modelId="{79B7F419-B82B-404B-8235-1887F7CDB330}" type="pres">
      <dgm:prSet presAssocID="{00EF09AF-E825-A440-AB2B-67D7C4E2E5D4}" presName="compNode" presStyleCnt="0"/>
      <dgm:spPr/>
    </dgm:pt>
    <dgm:pt modelId="{58FAE8FB-3A6F-4444-AD4B-225FD98380AC}" type="pres">
      <dgm:prSet presAssocID="{00EF09AF-E825-A440-AB2B-67D7C4E2E5D4}" presName="aNode" presStyleLbl="bgShp" presStyleIdx="3" presStyleCnt="4"/>
      <dgm:spPr/>
      <dgm:t>
        <a:bodyPr/>
        <a:lstStyle/>
        <a:p>
          <a:endParaRPr lang="en-US"/>
        </a:p>
      </dgm:t>
    </dgm:pt>
    <dgm:pt modelId="{ADAF1605-253C-9641-B93B-14BBB3DDAE38}" type="pres">
      <dgm:prSet presAssocID="{00EF09AF-E825-A440-AB2B-67D7C4E2E5D4}" presName="textNode" presStyleLbl="bgShp" presStyleIdx="3" presStyleCnt="4"/>
      <dgm:spPr/>
      <dgm:t>
        <a:bodyPr/>
        <a:lstStyle/>
        <a:p>
          <a:endParaRPr lang="en-US"/>
        </a:p>
      </dgm:t>
    </dgm:pt>
    <dgm:pt modelId="{A1F49F1C-61F9-504B-A81E-B1FF618F4C36}" type="pres">
      <dgm:prSet presAssocID="{00EF09AF-E825-A440-AB2B-67D7C4E2E5D4}" presName="compChildNode" presStyleCnt="0"/>
      <dgm:spPr/>
    </dgm:pt>
    <dgm:pt modelId="{6011B397-653E-0944-B906-B0193D80C29D}" type="pres">
      <dgm:prSet presAssocID="{00EF09AF-E825-A440-AB2B-67D7C4E2E5D4}" presName="theInnerList" presStyleCnt="0"/>
      <dgm:spPr/>
    </dgm:pt>
    <dgm:pt modelId="{FAD7A9B7-A076-B049-BBD0-1FAE76E162B6}" type="pres">
      <dgm:prSet presAssocID="{B23C3449-C8D4-2747-B33C-C1A92844CB51}" presName="childNode" presStyleLbl="node1" presStyleIdx="3" presStyleCnt="4">
        <dgm:presLayoutVars>
          <dgm:bulletEnabled val="1"/>
        </dgm:presLayoutVars>
      </dgm:prSet>
      <dgm:spPr/>
      <dgm:t>
        <a:bodyPr/>
        <a:lstStyle/>
        <a:p>
          <a:endParaRPr lang="en-US"/>
        </a:p>
      </dgm:t>
    </dgm:pt>
  </dgm:ptLst>
  <dgm:cxnLst>
    <dgm:cxn modelId="{23CCE171-D72C-5346-9F6C-E5EFA739CC52}" srcId="{6D2423E4-4004-8844-8147-D3B40268345B}" destId="{00EF09AF-E825-A440-AB2B-67D7C4E2E5D4}" srcOrd="3" destOrd="0" parTransId="{74347886-1A98-8643-BF30-60ADD1F13953}" sibTransId="{FC0D52DB-516C-3F48-A113-85272450F74B}"/>
    <dgm:cxn modelId="{23955FAB-0DF6-0F40-A172-DCA0849862AA}" type="presOf" srcId="{B23C3449-C8D4-2747-B33C-C1A92844CB51}" destId="{FAD7A9B7-A076-B049-BBD0-1FAE76E162B6}" srcOrd="0" destOrd="0" presId="urn:microsoft.com/office/officeart/2005/8/layout/lProcess2"/>
    <dgm:cxn modelId="{FBA684EE-33CD-7B42-82E0-F54D8F783879}" type="presOf" srcId="{F4A2E6A0-F8D8-7F45-B6CD-AE3A4EDA6B00}" destId="{320B82E8-77A7-B544-9EE6-2B49635EB5F0}" srcOrd="0" destOrd="0" presId="urn:microsoft.com/office/officeart/2005/8/layout/lProcess2"/>
    <dgm:cxn modelId="{4F247384-ED4C-B048-AA64-34A9ACF1A1D1}" type="presOf" srcId="{42EC9970-D554-6B4F-BC52-FEBF4B4A15A5}" destId="{2171E679-C0DB-6F4F-BC0F-7FCD8C5AD0CD}" srcOrd="0" destOrd="0" presId="urn:microsoft.com/office/officeart/2005/8/layout/lProcess2"/>
    <dgm:cxn modelId="{6786FB96-B8E9-C54B-83F9-D8830A2E9A09}" type="presOf" srcId="{F4A2E6A0-F8D8-7F45-B6CD-AE3A4EDA6B00}" destId="{FED9450D-3389-A141-A858-89DA0B86F0D6}" srcOrd="1" destOrd="0" presId="urn:microsoft.com/office/officeart/2005/8/layout/lProcess2"/>
    <dgm:cxn modelId="{CDF7336A-16E2-0B45-8080-DFCDB4F6111F}" type="presOf" srcId="{0F2F1112-7F58-2F47-8A53-7D78FD453B0D}" destId="{4B5AEE58-B600-1E48-9726-8610E7C71343}" srcOrd="1" destOrd="0" presId="urn:microsoft.com/office/officeart/2005/8/layout/lProcess2"/>
    <dgm:cxn modelId="{2B338923-112A-994D-8D0C-2EB2A215556D}" srcId="{6D2423E4-4004-8844-8147-D3B40268345B}" destId="{2F1C5F24-E788-B940-BD1D-D0D6944467F1}" srcOrd="2" destOrd="0" parTransId="{74DA54FB-DF20-CC4D-8C6F-C73147489BAE}" sibTransId="{99E95EC8-8270-114A-BA25-C6E8A4E91341}"/>
    <dgm:cxn modelId="{73AE95AE-9E5D-2943-BB75-A6A1FABD0EE1}" srcId="{F4A2E6A0-F8D8-7F45-B6CD-AE3A4EDA6B00}" destId="{11CC3A85-D63A-FA4A-AC14-7E6E2ED88E90}" srcOrd="0" destOrd="0" parTransId="{014F8A88-C15C-9B44-B33D-0CEC993D5BCD}" sibTransId="{B6D4F9CD-348E-D143-91F5-162BBB7889C7}"/>
    <dgm:cxn modelId="{E1F19ED1-8223-6D47-8DEB-D9FB1BA82F9F}" type="presOf" srcId="{6D2423E4-4004-8844-8147-D3B40268345B}" destId="{1A4FD7A5-DF68-F34E-914E-75D874D2D6FC}" srcOrd="0" destOrd="0" presId="urn:microsoft.com/office/officeart/2005/8/layout/lProcess2"/>
    <dgm:cxn modelId="{0F78F960-B44A-6546-BC12-3D8ADABE728B}" type="presOf" srcId="{00EF09AF-E825-A440-AB2B-67D7C4E2E5D4}" destId="{ADAF1605-253C-9641-B93B-14BBB3DDAE38}" srcOrd="1" destOrd="0" presId="urn:microsoft.com/office/officeart/2005/8/layout/lProcess2"/>
    <dgm:cxn modelId="{37E639FB-9886-4946-BB64-77E00077830F}" type="presOf" srcId="{DD3682EA-69EF-324A-9485-27DE205275EA}" destId="{987C18A4-1DC5-6746-9B80-C63742427AFE}" srcOrd="0" destOrd="0" presId="urn:microsoft.com/office/officeart/2005/8/layout/lProcess2"/>
    <dgm:cxn modelId="{7549AD5F-7857-C442-A674-17225F69A89B}" type="presOf" srcId="{00EF09AF-E825-A440-AB2B-67D7C4E2E5D4}" destId="{58FAE8FB-3A6F-4444-AD4B-225FD98380AC}" srcOrd="0" destOrd="0" presId="urn:microsoft.com/office/officeart/2005/8/layout/lProcess2"/>
    <dgm:cxn modelId="{457AD12F-4D47-4542-9E2F-909E3CA6838F}" type="presOf" srcId="{0F2F1112-7F58-2F47-8A53-7D78FD453B0D}" destId="{F7215F10-B00F-0B4B-89FD-E0D837330A4A}" srcOrd="0" destOrd="0" presId="urn:microsoft.com/office/officeart/2005/8/layout/lProcess2"/>
    <dgm:cxn modelId="{75114829-B6EA-0A42-AC60-17BD2665466C}" type="presOf" srcId="{11CC3A85-D63A-FA4A-AC14-7E6E2ED88E90}" destId="{F88A9623-B695-3B43-9907-BC1A2CED98C0}" srcOrd="0" destOrd="0" presId="urn:microsoft.com/office/officeart/2005/8/layout/lProcess2"/>
    <dgm:cxn modelId="{71FD624C-D03E-8942-96B9-3A2FBE053316}" type="presOf" srcId="{2F1C5F24-E788-B940-BD1D-D0D6944467F1}" destId="{44F32B5C-82E6-5040-BF4B-C75C9346DA49}" srcOrd="0" destOrd="0" presId="urn:microsoft.com/office/officeart/2005/8/layout/lProcess2"/>
    <dgm:cxn modelId="{23AEFBC3-DDB6-3647-8F66-448E718966DF}" srcId="{6D2423E4-4004-8844-8147-D3B40268345B}" destId="{0F2F1112-7F58-2F47-8A53-7D78FD453B0D}" srcOrd="1" destOrd="0" parTransId="{BB866AFB-72CE-C44A-BA13-14C6EAF0713F}" sibTransId="{4FE7FFF6-F44E-BF49-A887-CDFD8367D362}"/>
    <dgm:cxn modelId="{61BDA83B-0E3A-2A40-809C-40C97992D263}" srcId="{0F2F1112-7F58-2F47-8A53-7D78FD453B0D}" destId="{DD3682EA-69EF-324A-9485-27DE205275EA}" srcOrd="0" destOrd="0" parTransId="{6DD26C85-58DE-CD43-BA06-125CA8AE4259}" sibTransId="{E9470C69-ED39-D645-82B7-F2D2CDEBE578}"/>
    <dgm:cxn modelId="{98E45541-9C1B-0144-B20E-05CFED357319}" srcId="{00EF09AF-E825-A440-AB2B-67D7C4E2E5D4}" destId="{B23C3449-C8D4-2747-B33C-C1A92844CB51}" srcOrd="0" destOrd="0" parTransId="{6646F414-FF79-2442-89D5-6D2E02813509}" sibTransId="{16A18B41-E242-4A4A-91D8-97E2984A7F8D}"/>
    <dgm:cxn modelId="{7E8A740C-0098-4740-B326-85983489E1FF}" srcId="{2F1C5F24-E788-B940-BD1D-D0D6944467F1}" destId="{42EC9970-D554-6B4F-BC52-FEBF4B4A15A5}" srcOrd="0" destOrd="0" parTransId="{753DBD19-0D2B-1B48-8544-039D3A98E640}" sibTransId="{DC0AE02F-B8F4-AF4E-A6B4-9F83565C75C8}"/>
    <dgm:cxn modelId="{230637E2-686F-964A-9FFA-0E7564672D2B}" srcId="{6D2423E4-4004-8844-8147-D3B40268345B}" destId="{F4A2E6A0-F8D8-7F45-B6CD-AE3A4EDA6B00}" srcOrd="0" destOrd="0" parTransId="{6A626184-04E8-334A-894E-1B6AAEC45B0E}" sibTransId="{74CECB05-E4AE-6542-B550-5ACA2395B7AF}"/>
    <dgm:cxn modelId="{D505BCE8-A82F-2B47-A8AD-07278E5EF87B}" type="presOf" srcId="{2F1C5F24-E788-B940-BD1D-D0D6944467F1}" destId="{5D06E734-EC9C-9A42-AB13-631B2A7660C0}" srcOrd="1" destOrd="0" presId="urn:microsoft.com/office/officeart/2005/8/layout/lProcess2"/>
    <dgm:cxn modelId="{457DC256-6CCD-8B41-B764-E7DF61112E80}" type="presParOf" srcId="{1A4FD7A5-DF68-F34E-914E-75D874D2D6FC}" destId="{47305C00-7A1B-3E4B-A781-4A7870373281}" srcOrd="0" destOrd="0" presId="urn:microsoft.com/office/officeart/2005/8/layout/lProcess2"/>
    <dgm:cxn modelId="{ECD4D23F-B6D6-4547-8CDE-39307AB1D7D1}" type="presParOf" srcId="{47305C00-7A1B-3E4B-A781-4A7870373281}" destId="{320B82E8-77A7-B544-9EE6-2B49635EB5F0}" srcOrd="0" destOrd="0" presId="urn:microsoft.com/office/officeart/2005/8/layout/lProcess2"/>
    <dgm:cxn modelId="{99DADC7D-9D6B-6F43-A77A-03AA66927607}" type="presParOf" srcId="{47305C00-7A1B-3E4B-A781-4A7870373281}" destId="{FED9450D-3389-A141-A858-89DA0B86F0D6}" srcOrd="1" destOrd="0" presId="urn:microsoft.com/office/officeart/2005/8/layout/lProcess2"/>
    <dgm:cxn modelId="{1DC9BCFC-F42B-6743-96B7-CF9BD292EA2F}" type="presParOf" srcId="{47305C00-7A1B-3E4B-A781-4A7870373281}" destId="{E16AB17E-6C44-9440-845E-698D916375EE}" srcOrd="2" destOrd="0" presId="urn:microsoft.com/office/officeart/2005/8/layout/lProcess2"/>
    <dgm:cxn modelId="{F4E08F26-4B30-9244-8E2F-8A75B152463C}" type="presParOf" srcId="{E16AB17E-6C44-9440-845E-698D916375EE}" destId="{D19B16A3-0E66-4249-8C40-73DC0D33AE07}" srcOrd="0" destOrd="0" presId="urn:microsoft.com/office/officeart/2005/8/layout/lProcess2"/>
    <dgm:cxn modelId="{E06F269B-C51B-7D48-A692-1CF3548521FC}" type="presParOf" srcId="{D19B16A3-0E66-4249-8C40-73DC0D33AE07}" destId="{F88A9623-B695-3B43-9907-BC1A2CED98C0}" srcOrd="0" destOrd="0" presId="urn:microsoft.com/office/officeart/2005/8/layout/lProcess2"/>
    <dgm:cxn modelId="{936D1A59-7A46-744F-9333-EBF91122FAFD}" type="presParOf" srcId="{1A4FD7A5-DF68-F34E-914E-75D874D2D6FC}" destId="{0B13B2DB-04D8-2344-890F-D37AC48446C5}" srcOrd="1" destOrd="0" presId="urn:microsoft.com/office/officeart/2005/8/layout/lProcess2"/>
    <dgm:cxn modelId="{557192F4-136E-8A40-932B-43C0BC9C97E6}" type="presParOf" srcId="{1A4FD7A5-DF68-F34E-914E-75D874D2D6FC}" destId="{1B4FC2FE-D617-FD4A-92AE-2807D13F868E}" srcOrd="2" destOrd="0" presId="urn:microsoft.com/office/officeart/2005/8/layout/lProcess2"/>
    <dgm:cxn modelId="{858E0D32-2CC6-1449-BA39-F8746969CDA9}" type="presParOf" srcId="{1B4FC2FE-D617-FD4A-92AE-2807D13F868E}" destId="{F7215F10-B00F-0B4B-89FD-E0D837330A4A}" srcOrd="0" destOrd="0" presId="urn:microsoft.com/office/officeart/2005/8/layout/lProcess2"/>
    <dgm:cxn modelId="{23B23A66-4A95-4741-8B8F-C77E16E2C829}" type="presParOf" srcId="{1B4FC2FE-D617-FD4A-92AE-2807D13F868E}" destId="{4B5AEE58-B600-1E48-9726-8610E7C71343}" srcOrd="1" destOrd="0" presId="urn:microsoft.com/office/officeart/2005/8/layout/lProcess2"/>
    <dgm:cxn modelId="{B43A7597-EA40-AA41-8A4E-440A34ED551E}" type="presParOf" srcId="{1B4FC2FE-D617-FD4A-92AE-2807D13F868E}" destId="{7DAFB3E6-F02C-D94E-ABD6-3F5C1C216AB3}" srcOrd="2" destOrd="0" presId="urn:microsoft.com/office/officeart/2005/8/layout/lProcess2"/>
    <dgm:cxn modelId="{B8291F21-62B4-844E-8DEC-AF80B20E2645}" type="presParOf" srcId="{7DAFB3E6-F02C-D94E-ABD6-3F5C1C216AB3}" destId="{4EF2BC27-02C2-D741-9A51-4489E5A8AB0D}" srcOrd="0" destOrd="0" presId="urn:microsoft.com/office/officeart/2005/8/layout/lProcess2"/>
    <dgm:cxn modelId="{A40462F4-517F-4146-B00D-68F672775ABC}" type="presParOf" srcId="{4EF2BC27-02C2-D741-9A51-4489E5A8AB0D}" destId="{987C18A4-1DC5-6746-9B80-C63742427AFE}" srcOrd="0" destOrd="0" presId="urn:microsoft.com/office/officeart/2005/8/layout/lProcess2"/>
    <dgm:cxn modelId="{31D45C97-EA7D-4D4A-A8C3-4BB4BBD91A52}" type="presParOf" srcId="{1A4FD7A5-DF68-F34E-914E-75D874D2D6FC}" destId="{8E8D5B86-D9FE-A142-BE36-BD00B75BD5AF}" srcOrd="3" destOrd="0" presId="urn:microsoft.com/office/officeart/2005/8/layout/lProcess2"/>
    <dgm:cxn modelId="{7310F107-D992-4B4C-8961-320759AE18B4}" type="presParOf" srcId="{1A4FD7A5-DF68-F34E-914E-75D874D2D6FC}" destId="{F3F2D1B3-C46D-FD4D-B71F-38BA9CA9D2D3}" srcOrd="4" destOrd="0" presId="urn:microsoft.com/office/officeart/2005/8/layout/lProcess2"/>
    <dgm:cxn modelId="{82F47182-9897-624D-AB02-9580684A69B3}" type="presParOf" srcId="{F3F2D1B3-C46D-FD4D-B71F-38BA9CA9D2D3}" destId="{44F32B5C-82E6-5040-BF4B-C75C9346DA49}" srcOrd="0" destOrd="0" presId="urn:microsoft.com/office/officeart/2005/8/layout/lProcess2"/>
    <dgm:cxn modelId="{63C353C3-F292-7D44-BE1E-B5FC25205C4F}" type="presParOf" srcId="{F3F2D1B3-C46D-FD4D-B71F-38BA9CA9D2D3}" destId="{5D06E734-EC9C-9A42-AB13-631B2A7660C0}" srcOrd="1" destOrd="0" presId="urn:microsoft.com/office/officeart/2005/8/layout/lProcess2"/>
    <dgm:cxn modelId="{D6784B9C-D478-9F4B-B081-86598F042140}" type="presParOf" srcId="{F3F2D1B3-C46D-FD4D-B71F-38BA9CA9D2D3}" destId="{F2A98F65-7AA7-174A-992A-875BE6C01F1A}" srcOrd="2" destOrd="0" presId="urn:microsoft.com/office/officeart/2005/8/layout/lProcess2"/>
    <dgm:cxn modelId="{BD5A6DCC-7834-504B-A684-8BC80D9FC9F1}" type="presParOf" srcId="{F2A98F65-7AA7-174A-992A-875BE6C01F1A}" destId="{E0742C2A-88EA-2F4A-8116-7484213592D3}" srcOrd="0" destOrd="0" presId="urn:microsoft.com/office/officeart/2005/8/layout/lProcess2"/>
    <dgm:cxn modelId="{24D0691E-9405-E04B-89EA-48F21D2F877C}" type="presParOf" srcId="{E0742C2A-88EA-2F4A-8116-7484213592D3}" destId="{2171E679-C0DB-6F4F-BC0F-7FCD8C5AD0CD}" srcOrd="0" destOrd="0" presId="urn:microsoft.com/office/officeart/2005/8/layout/lProcess2"/>
    <dgm:cxn modelId="{5A0A9DA9-324F-DC4E-8F29-157A996D5B09}" type="presParOf" srcId="{1A4FD7A5-DF68-F34E-914E-75D874D2D6FC}" destId="{93199328-1960-4948-8023-7055FD216753}" srcOrd="5" destOrd="0" presId="urn:microsoft.com/office/officeart/2005/8/layout/lProcess2"/>
    <dgm:cxn modelId="{27BF35CE-BB39-7E41-B3E6-1F39FDB6CC01}" type="presParOf" srcId="{1A4FD7A5-DF68-F34E-914E-75D874D2D6FC}" destId="{79B7F419-B82B-404B-8235-1887F7CDB330}" srcOrd="6" destOrd="0" presId="urn:microsoft.com/office/officeart/2005/8/layout/lProcess2"/>
    <dgm:cxn modelId="{BA64CEC1-A505-174E-85A9-A3A7C85E1188}" type="presParOf" srcId="{79B7F419-B82B-404B-8235-1887F7CDB330}" destId="{58FAE8FB-3A6F-4444-AD4B-225FD98380AC}" srcOrd="0" destOrd="0" presId="urn:microsoft.com/office/officeart/2005/8/layout/lProcess2"/>
    <dgm:cxn modelId="{A24D3B52-560B-1F45-8659-ECA573FAA4B6}" type="presParOf" srcId="{79B7F419-B82B-404B-8235-1887F7CDB330}" destId="{ADAF1605-253C-9641-B93B-14BBB3DDAE38}" srcOrd="1" destOrd="0" presId="urn:microsoft.com/office/officeart/2005/8/layout/lProcess2"/>
    <dgm:cxn modelId="{274C7486-7B50-7F48-A797-15CBA8475B0D}" type="presParOf" srcId="{79B7F419-B82B-404B-8235-1887F7CDB330}" destId="{A1F49F1C-61F9-504B-A81E-B1FF618F4C36}" srcOrd="2" destOrd="0" presId="urn:microsoft.com/office/officeart/2005/8/layout/lProcess2"/>
    <dgm:cxn modelId="{D3A6CC0C-FFA4-4443-A11D-2D33521D03F7}" type="presParOf" srcId="{A1F49F1C-61F9-504B-A81E-B1FF618F4C36}" destId="{6011B397-653E-0944-B906-B0193D80C29D}" srcOrd="0" destOrd="0" presId="urn:microsoft.com/office/officeart/2005/8/layout/lProcess2"/>
    <dgm:cxn modelId="{44B999F6-3B65-2F49-BEC8-DE468B32F361}" type="presParOf" srcId="{6011B397-653E-0944-B906-B0193D80C29D}" destId="{FAD7A9B7-A076-B049-BBD0-1FAE76E162B6}" srcOrd="0"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00921B5-CC31-8F4E-94D3-D274653E1677}">
      <dsp:nvSpPr>
        <dsp:cNvPr id="0" name=""/>
        <dsp:cNvSpPr/>
      </dsp:nvSpPr>
      <dsp:spPr>
        <a:xfrm>
          <a:off x="844121" y="932688"/>
          <a:ext cx="2172943" cy="1792224"/>
        </a:xfrm>
        <a:prstGeom prst="roundRect">
          <a:avLst>
            <a:gd name="adj" fmla="val 10000"/>
          </a:avLst>
        </a:prstGeom>
        <a:solidFill>
          <a:schemeClr val="lt1">
            <a:alpha val="90000"/>
            <a:hueOff val="0"/>
            <a:satOff val="0"/>
            <a:lumOff val="0"/>
            <a:alphaOff val="0"/>
          </a:schemeClr>
        </a:solidFill>
        <a:ln w="38100" cap="flat" cmpd="sng" algn="ctr">
          <a:solidFill>
            <a:schemeClr val="tx2">
              <a:lumMod val="60000"/>
              <a:lumOff val="4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Presenting an identifier to the security system</a:t>
          </a:r>
        </a:p>
      </dsp:txBody>
      <dsp:txXfrm>
        <a:off x="844121" y="932688"/>
        <a:ext cx="2172943" cy="1408176"/>
      </dsp:txXfrm>
    </dsp:sp>
    <dsp:sp modelId="{B52CFB27-320B-504A-9441-8D1FC79FF50E}">
      <dsp:nvSpPr>
        <dsp:cNvPr id="0" name=""/>
        <dsp:cNvSpPr/>
      </dsp:nvSpPr>
      <dsp:spPr>
        <a:xfrm>
          <a:off x="1814840" y="-454739"/>
          <a:ext cx="3833857" cy="3833857"/>
        </a:xfrm>
        <a:prstGeom prst="leftCircularArrow">
          <a:avLst>
            <a:gd name="adj1" fmla="val 1941"/>
            <a:gd name="adj2" fmla="val 232212"/>
            <a:gd name="adj3" fmla="val 2396434"/>
            <a:gd name="adj4" fmla="val 9413200"/>
            <a:gd name="adj5" fmla="val 2264"/>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tx2">
              <a:lumMod val="40000"/>
              <a:lumOff val="6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0EDB7823-805F-D841-BC3E-5057EF91AFB9}">
      <dsp:nvSpPr>
        <dsp:cNvPr id="0" name=""/>
        <dsp:cNvSpPr/>
      </dsp:nvSpPr>
      <dsp:spPr>
        <a:xfrm>
          <a:off x="304806" y="1981203"/>
          <a:ext cx="1931505" cy="76809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12700">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815" tIns="29210" rIns="43815" bIns="29210" numCol="1" spcCol="1270" anchor="ctr" anchorCtr="0">
          <a:noAutofit/>
        </a:bodyPr>
        <a:lstStyle/>
        <a:p>
          <a:pPr lvl="0" algn="ctr" defTabSz="1022350">
            <a:lnSpc>
              <a:spcPct val="90000"/>
            </a:lnSpc>
            <a:spcBef>
              <a:spcPct val="0"/>
            </a:spcBef>
            <a:spcAft>
              <a:spcPct val="35000"/>
            </a:spcAft>
          </a:pPr>
          <a:r>
            <a:rPr lang="en-US" sz="2300" b="1" kern="1200" dirty="0" smtClean="0">
              <a:effectLst>
                <a:outerShdw blurRad="38100" dist="38100" dir="2700000" algn="tl">
                  <a:srgbClr val="000000">
                    <a:alpha val="43137"/>
                  </a:srgbClr>
                </a:outerShdw>
              </a:effectLst>
            </a:rPr>
            <a:t>Identification step</a:t>
          </a:r>
        </a:p>
      </dsp:txBody>
      <dsp:txXfrm>
        <a:off x="304806" y="1981203"/>
        <a:ext cx="1931505" cy="768096"/>
      </dsp:txXfrm>
    </dsp:sp>
    <dsp:sp modelId="{D64977FD-7EF0-7942-884A-12FFACCA051A}">
      <dsp:nvSpPr>
        <dsp:cNvPr id="0" name=""/>
        <dsp:cNvSpPr/>
      </dsp:nvSpPr>
      <dsp:spPr>
        <a:xfrm>
          <a:off x="3612833" y="837527"/>
          <a:ext cx="2603468" cy="1981196"/>
        </a:xfrm>
        <a:prstGeom prst="roundRect">
          <a:avLst>
            <a:gd name="adj" fmla="val 10000"/>
          </a:avLst>
        </a:prstGeom>
        <a:solidFill>
          <a:schemeClr val="lt1">
            <a:alpha val="90000"/>
            <a:hueOff val="0"/>
            <a:satOff val="0"/>
            <a:lumOff val="0"/>
            <a:alphaOff val="0"/>
          </a:schemeClr>
        </a:solidFill>
        <a:ln w="38100" cap="flat" cmpd="sng" algn="ctr">
          <a:solidFill>
            <a:schemeClr val="tx2">
              <a:lumMod val="60000"/>
              <a:lumOff val="4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Presenting or generating authentication information that corroborates the binding between the entity and the identifier</a:t>
          </a:r>
          <a:endParaRPr lang="en-US" sz="1400" kern="1200" dirty="0"/>
        </a:p>
      </dsp:txBody>
      <dsp:txXfrm>
        <a:off x="3612833" y="1262069"/>
        <a:ext cx="2603468" cy="1556654"/>
      </dsp:txXfrm>
    </dsp:sp>
    <dsp:sp modelId="{164086FD-4FA6-5449-8EBF-2B9E8C67DB0F}">
      <dsp:nvSpPr>
        <dsp:cNvPr id="0" name=""/>
        <dsp:cNvSpPr/>
      </dsp:nvSpPr>
      <dsp:spPr>
        <a:xfrm>
          <a:off x="4571996" y="609597"/>
          <a:ext cx="1931505" cy="768096"/>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12700">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815" tIns="29210" rIns="43815" bIns="29210" numCol="1" spcCol="1270" anchor="ctr" anchorCtr="0">
          <a:noAutofit/>
        </a:bodyPr>
        <a:lstStyle/>
        <a:p>
          <a:pPr lvl="0" algn="ctr" defTabSz="1022350">
            <a:lnSpc>
              <a:spcPct val="90000"/>
            </a:lnSpc>
            <a:spcBef>
              <a:spcPct val="0"/>
            </a:spcBef>
            <a:spcAft>
              <a:spcPct val="35000"/>
            </a:spcAft>
          </a:pPr>
          <a:r>
            <a:rPr lang="en-US" sz="2300" b="1" kern="1200" dirty="0" smtClean="0">
              <a:effectLst>
                <a:outerShdw blurRad="38100" dist="38100" dir="2700000" algn="tl">
                  <a:srgbClr val="000000">
                    <a:alpha val="43137"/>
                  </a:srgbClr>
                </a:outerShdw>
              </a:effectLst>
            </a:rPr>
            <a:t>Verification step</a:t>
          </a:r>
        </a:p>
      </dsp:txBody>
      <dsp:txXfrm>
        <a:off x="4571996" y="609597"/>
        <a:ext cx="1931505" cy="768096"/>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16C6E66-6D8D-EE4A-B36D-2388F1ABF5C2}">
      <dsp:nvSpPr>
        <dsp:cNvPr id="0" name=""/>
        <dsp:cNvSpPr/>
      </dsp:nvSpPr>
      <dsp:spPr>
        <a:xfrm rot="16200000">
          <a:off x="863600" y="-863600"/>
          <a:ext cx="1854200" cy="3581400"/>
        </a:xfrm>
        <a:prstGeom prst="round1Rect">
          <a:avLst/>
        </a:prstGeom>
        <a:solidFill>
          <a:schemeClr val="bg1"/>
        </a:solidFill>
        <a:ln w="38100">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b="1" i="0" kern="1200" dirty="0" smtClean="0">
              <a:solidFill>
                <a:schemeClr val="tx1"/>
              </a:solidFill>
            </a:rPr>
            <a:t>Something the individual knows</a:t>
          </a:r>
        </a:p>
        <a:p>
          <a:pPr marL="171450" lvl="1" indent="-171450" algn="l" defTabSz="711200">
            <a:lnSpc>
              <a:spcPct val="90000"/>
            </a:lnSpc>
            <a:spcBef>
              <a:spcPct val="0"/>
            </a:spcBef>
            <a:spcAft>
              <a:spcPct val="15000"/>
            </a:spcAft>
            <a:buChar char="••"/>
          </a:pPr>
          <a:r>
            <a:rPr lang="en-US" sz="1600" b="0" i="0" kern="1200" dirty="0" smtClean="0">
              <a:solidFill>
                <a:schemeClr val="tx1"/>
              </a:solidFill>
            </a:rPr>
            <a:t>Examples include a password, a personal identification number (PIN), or answers to a prearranged set of questions</a:t>
          </a:r>
        </a:p>
      </dsp:txBody>
      <dsp:txXfrm rot="16200000">
        <a:off x="1095375" y="-1095375"/>
        <a:ext cx="1390650" cy="3581400"/>
      </dsp:txXfrm>
    </dsp:sp>
    <dsp:sp modelId="{E33CCF0F-3973-8E4B-AFC2-9E3BFB300320}">
      <dsp:nvSpPr>
        <dsp:cNvPr id="0" name=""/>
        <dsp:cNvSpPr/>
      </dsp:nvSpPr>
      <dsp:spPr>
        <a:xfrm>
          <a:off x="3581400" y="0"/>
          <a:ext cx="3581400" cy="1854200"/>
        </a:xfrm>
        <a:prstGeom prst="round1Rect">
          <a:avLst/>
        </a:prstGeom>
        <a:solidFill>
          <a:schemeClr val="bg1"/>
        </a:solidFill>
        <a:ln w="38100">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b="1" i="0" kern="1200" dirty="0" smtClean="0">
              <a:solidFill>
                <a:schemeClr val="tx1"/>
              </a:solidFill>
            </a:rPr>
            <a:t>Something the individual possesses</a:t>
          </a:r>
        </a:p>
        <a:p>
          <a:pPr marL="171450" lvl="1" indent="-171450" algn="l" defTabSz="711200">
            <a:lnSpc>
              <a:spcPct val="90000"/>
            </a:lnSpc>
            <a:spcBef>
              <a:spcPct val="0"/>
            </a:spcBef>
            <a:spcAft>
              <a:spcPct val="15000"/>
            </a:spcAft>
            <a:buChar char="••"/>
          </a:pPr>
          <a:r>
            <a:rPr lang="en-US" sz="1600" b="0" i="0" kern="1200" dirty="0" smtClean="0">
              <a:solidFill>
                <a:schemeClr val="tx1"/>
              </a:solidFill>
            </a:rPr>
            <a:t>Examples include cryptographic keys, electronic keycards, smart cards, and physical keys</a:t>
          </a:r>
        </a:p>
        <a:p>
          <a:pPr marL="342900" lvl="2" indent="-171450" algn="l" defTabSz="711200">
            <a:lnSpc>
              <a:spcPct val="90000"/>
            </a:lnSpc>
            <a:spcBef>
              <a:spcPct val="0"/>
            </a:spcBef>
            <a:spcAft>
              <a:spcPct val="15000"/>
            </a:spcAft>
            <a:buChar char="••"/>
          </a:pPr>
          <a:r>
            <a:rPr lang="en-US" sz="1600" b="0" i="0" kern="1200" dirty="0" smtClean="0">
              <a:solidFill>
                <a:schemeClr val="tx1"/>
              </a:solidFill>
            </a:rPr>
            <a:t>This is referred to as a token</a:t>
          </a:r>
        </a:p>
      </dsp:txBody>
      <dsp:txXfrm>
        <a:off x="3581400" y="0"/>
        <a:ext cx="3581400" cy="1390650"/>
      </dsp:txXfrm>
    </dsp:sp>
    <dsp:sp modelId="{59447268-F71E-A04B-AABB-B2CD824296C8}">
      <dsp:nvSpPr>
        <dsp:cNvPr id="0" name=""/>
        <dsp:cNvSpPr/>
      </dsp:nvSpPr>
      <dsp:spPr>
        <a:xfrm rot="10800000">
          <a:off x="0" y="1854200"/>
          <a:ext cx="3581400" cy="1854200"/>
        </a:xfrm>
        <a:prstGeom prst="round1Rect">
          <a:avLst/>
        </a:prstGeom>
        <a:solidFill>
          <a:schemeClr val="bg1"/>
        </a:solidFill>
        <a:ln w="38100">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b="1" i="0" kern="1200" dirty="0" smtClean="0">
              <a:solidFill>
                <a:schemeClr val="tx1"/>
              </a:solidFill>
            </a:rPr>
            <a:t>Something the individual </a:t>
          </a:r>
          <a:r>
            <a:rPr lang="en-US" sz="1600" b="1" i="0" kern="1200" dirty="0" smtClean="0">
              <a:solidFill>
                <a:schemeClr val="tx1"/>
              </a:solidFill>
            </a:rPr>
            <a:t>is (</a:t>
          </a:r>
          <a:r>
            <a:rPr lang="en-US" sz="1600" b="1" i="0" kern="1200" dirty="0" smtClean="0">
              <a:solidFill>
                <a:schemeClr val="tx1"/>
              </a:solidFill>
            </a:rPr>
            <a:t>static biometrics)</a:t>
          </a:r>
        </a:p>
        <a:p>
          <a:pPr marL="171450" lvl="1" indent="-171450" algn="l" defTabSz="711200">
            <a:lnSpc>
              <a:spcPct val="90000"/>
            </a:lnSpc>
            <a:spcBef>
              <a:spcPct val="0"/>
            </a:spcBef>
            <a:spcAft>
              <a:spcPct val="15000"/>
            </a:spcAft>
            <a:buChar char="••"/>
          </a:pPr>
          <a:r>
            <a:rPr lang="en-US" sz="1600" b="0" i="0" kern="1200" dirty="0" smtClean="0">
              <a:solidFill>
                <a:schemeClr val="tx1"/>
              </a:solidFill>
            </a:rPr>
            <a:t>Examples include recognition by fingerprint, retina, and face</a:t>
          </a:r>
        </a:p>
      </dsp:txBody>
      <dsp:txXfrm rot="10800000">
        <a:off x="0" y="2317749"/>
        <a:ext cx="3581400" cy="1390650"/>
      </dsp:txXfrm>
    </dsp:sp>
    <dsp:sp modelId="{467BDF3E-6D34-FA47-810C-C7A7578EB239}">
      <dsp:nvSpPr>
        <dsp:cNvPr id="0" name=""/>
        <dsp:cNvSpPr/>
      </dsp:nvSpPr>
      <dsp:spPr>
        <a:xfrm rot="5400000">
          <a:off x="4445000" y="990599"/>
          <a:ext cx="1854200" cy="3581400"/>
        </a:xfrm>
        <a:prstGeom prst="round1Rect">
          <a:avLst/>
        </a:prstGeom>
        <a:solidFill>
          <a:schemeClr val="bg1"/>
        </a:solidFill>
        <a:ln w="38100">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b="1" i="0" kern="1200" dirty="0" smtClean="0">
              <a:solidFill>
                <a:schemeClr val="tx1"/>
              </a:solidFill>
            </a:rPr>
            <a:t>Something the individual does (dynamic biometrics)</a:t>
          </a:r>
        </a:p>
        <a:p>
          <a:pPr marL="171450" lvl="1" indent="-171450" algn="l" defTabSz="711200">
            <a:lnSpc>
              <a:spcPct val="90000"/>
            </a:lnSpc>
            <a:spcBef>
              <a:spcPct val="0"/>
            </a:spcBef>
            <a:spcAft>
              <a:spcPct val="15000"/>
            </a:spcAft>
            <a:buChar char="••"/>
          </a:pPr>
          <a:r>
            <a:rPr lang="en-US" sz="1600" b="0" i="0" kern="1200" dirty="0" smtClean="0">
              <a:solidFill>
                <a:schemeClr val="tx1"/>
              </a:solidFill>
            </a:rPr>
            <a:t>Examples include recognition by voice pattern, handwriting characteristics, and typing rhythm</a:t>
          </a:r>
        </a:p>
      </dsp:txBody>
      <dsp:txXfrm rot="5400000">
        <a:off x="4676775" y="1222374"/>
        <a:ext cx="1390650" cy="3581400"/>
      </dsp:txXfrm>
    </dsp:sp>
    <dsp:sp modelId="{B4F1DF56-0CCF-E242-9FDC-CAAD6A8AFBAE}">
      <dsp:nvSpPr>
        <dsp:cNvPr id="0" name=""/>
        <dsp:cNvSpPr/>
      </dsp:nvSpPr>
      <dsp:spPr>
        <a:xfrm>
          <a:off x="2440075" y="1346200"/>
          <a:ext cx="2282648" cy="1015999"/>
        </a:xfrm>
        <a:prstGeom prst="roundRect">
          <a:avLst/>
        </a:prstGeom>
        <a:solidFill>
          <a:schemeClr val="accent1"/>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i="0" kern="1200" dirty="0" smtClean="0">
              <a:solidFill>
                <a:schemeClr val="bg1"/>
              </a:solidFill>
              <a:effectLst>
                <a:outerShdw blurRad="38100" dist="38100" dir="2700000" algn="tl">
                  <a:srgbClr val="000000">
                    <a:alpha val="43137"/>
                  </a:srgbClr>
                </a:outerShdw>
              </a:effectLst>
            </a:rPr>
            <a:t>There are four general means of authenticating a user’s identity, which can be used alone or in combination</a:t>
          </a:r>
          <a:endParaRPr lang="en-US" sz="1400" b="1" i="0" kern="1200" dirty="0">
            <a:solidFill>
              <a:schemeClr val="bg1"/>
            </a:solidFill>
            <a:effectLst>
              <a:outerShdw blurRad="38100" dist="38100" dir="2700000" algn="tl">
                <a:srgbClr val="000000">
                  <a:alpha val="43137"/>
                </a:srgbClr>
              </a:outerShdw>
            </a:effectLst>
          </a:endParaRPr>
        </a:p>
      </dsp:txBody>
      <dsp:txXfrm>
        <a:off x="2440075" y="1346200"/>
        <a:ext cx="2282648" cy="1015999"/>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A479F05-35E1-104C-985F-17DE1C0AF79D}">
      <dsp:nvSpPr>
        <dsp:cNvPr id="0" name=""/>
        <dsp:cNvSpPr/>
      </dsp:nvSpPr>
      <dsp:spPr>
        <a:xfrm>
          <a:off x="3824433" y="0"/>
          <a:ext cx="1722007" cy="1414093"/>
        </a:xfrm>
        <a:prstGeom prst="ellipse">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tx1"/>
              </a:solidFill>
            </a:rPr>
            <a:t>Central to the problem of authenticated key exchange are two issues:</a:t>
          </a:r>
          <a:endParaRPr lang="en-US" sz="1400" kern="1200" dirty="0">
            <a:solidFill>
              <a:schemeClr val="tx1"/>
            </a:solidFill>
          </a:endParaRPr>
        </a:p>
      </dsp:txBody>
      <dsp:txXfrm>
        <a:off x="3824433" y="0"/>
        <a:ext cx="1722007" cy="1414093"/>
      </dsp:txXfrm>
    </dsp:sp>
    <dsp:sp modelId="{C5F88DEF-6D6F-DD47-8C6B-04D781FB85C0}">
      <dsp:nvSpPr>
        <dsp:cNvPr id="0" name=""/>
        <dsp:cNvSpPr/>
      </dsp:nvSpPr>
      <dsp:spPr>
        <a:xfrm rot="2416429">
          <a:off x="5185789" y="1473329"/>
          <a:ext cx="834278" cy="22171"/>
        </a:xfrm>
        <a:custGeom>
          <a:avLst/>
          <a:gdLst/>
          <a:ahLst/>
          <a:cxnLst/>
          <a:rect l="0" t="0" r="0" b="0"/>
          <a:pathLst>
            <a:path>
              <a:moveTo>
                <a:pt x="0" y="11085"/>
              </a:moveTo>
              <a:lnTo>
                <a:pt x="834278" y="11085"/>
              </a:lnTo>
            </a:path>
          </a:pathLst>
        </a:custGeom>
        <a:noFill/>
        <a:ln w="38100" cap="flat" cmpd="sng" algn="ctr">
          <a:solidFill>
            <a:schemeClr val="accent1"/>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2416429">
        <a:off x="5582071" y="1463558"/>
        <a:ext cx="41713" cy="41713"/>
      </dsp:txXfrm>
    </dsp:sp>
    <dsp:sp modelId="{466CC06D-AEEB-A447-B59B-2F72AA20D107}">
      <dsp:nvSpPr>
        <dsp:cNvPr id="0" name=""/>
        <dsp:cNvSpPr/>
      </dsp:nvSpPr>
      <dsp:spPr>
        <a:xfrm>
          <a:off x="5472832" y="1397963"/>
          <a:ext cx="2992870" cy="2488236"/>
        </a:xfrm>
        <a:prstGeom prst="ellipse">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rPr>
            <a:t>    </a:t>
          </a:r>
          <a:r>
            <a:rPr lang="en-US" sz="1400" b="1" kern="1200" dirty="0" smtClean="0">
              <a:solidFill>
                <a:schemeClr val="tx2"/>
              </a:solidFill>
            </a:rPr>
            <a:t> Confidentiality</a:t>
          </a:r>
        </a:p>
        <a:p>
          <a:pPr marL="114300" lvl="1" indent="-114300" algn="l" defTabSz="622300">
            <a:lnSpc>
              <a:spcPct val="90000"/>
            </a:lnSpc>
            <a:spcBef>
              <a:spcPct val="0"/>
            </a:spcBef>
            <a:spcAft>
              <a:spcPct val="15000"/>
            </a:spcAft>
            <a:buChar char="••"/>
          </a:pPr>
          <a:r>
            <a:rPr lang="en-US" sz="1400" kern="1200" dirty="0" smtClean="0">
              <a:solidFill>
                <a:schemeClr val="tx1"/>
              </a:solidFill>
            </a:rPr>
            <a:t>Essential identification and session-key information must be communicated in encrypted form</a:t>
          </a:r>
        </a:p>
        <a:p>
          <a:pPr marL="114300" lvl="1" indent="-114300" algn="l" defTabSz="622300">
            <a:lnSpc>
              <a:spcPct val="90000"/>
            </a:lnSpc>
            <a:spcBef>
              <a:spcPct val="0"/>
            </a:spcBef>
            <a:spcAft>
              <a:spcPct val="15000"/>
            </a:spcAft>
            <a:buChar char="••"/>
          </a:pPr>
          <a:r>
            <a:rPr lang="en-US" sz="1400" kern="1200" dirty="0" smtClean="0">
              <a:solidFill>
                <a:schemeClr val="tx1"/>
              </a:solidFill>
            </a:rPr>
            <a:t>This requires the prior existence of secret or public keys that can be used for this purpose</a:t>
          </a:r>
        </a:p>
      </dsp:txBody>
      <dsp:txXfrm>
        <a:off x="5472832" y="1397963"/>
        <a:ext cx="2992870" cy="2488236"/>
      </dsp:txXfrm>
    </dsp:sp>
    <dsp:sp modelId="{6EC2EFFE-BCDF-F34D-8AA4-23E20C4141B4}">
      <dsp:nvSpPr>
        <dsp:cNvPr id="0" name=""/>
        <dsp:cNvSpPr/>
      </dsp:nvSpPr>
      <dsp:spPr>
        <a:xfrm rot="8946977">
          <a:off x="3270359" y="1310863"/>
          <a:ext cx="773975" cy="22171"/>
        </a:xfrm>
        <a:custGeom>
          <a:avLst/>
          <a:gdLst/>
          <a:ahLst/>
          <a:cxnLst/>
          <a:rect l="0" t="0" r="0" b="0"/>
          <a:pathLst>
            <a:path>
              <a:moveTo>
                <a:pt x="0" y="11085"/>
              </a:moveTo>
              <a:lnTo>
                <a:pt x="773975" y="11085"/>
              </a:lnTo>
            </a:path>
          </a:pathLst>
        </a:custGeom>
        <a:noFill/>
        <a:ln w="38100" cap="flat" cmpd="sng" algn="ctr">
          <a:solidFill>
            <a:schemeClr val="accent1"/>
          </a:solidFill>
          <a:prstDash val="solid"/>
          <a:miter/>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8946977">
        <a:off x="3637998" y="1302599"/>
        <a:ext cx="38698" cy="38698"/>
      </dsp:txXfrm>
    </dsp:sp>
    <dsp:sp modelId="{E03A69F7-1AF4-9643-A17D-2DB9030ECD8C}">
      <dsp:nvSpPr>
        <dsp:cNvPr id="0" name=""/>
        <dsp:cNvSpPr/>
      </dsp:nvSpPr>
      <dsp:spPr>
        <a:xfrm>
          <a:off x="92948" y="843139"/>
          <a:ext cx="3540069" cy="3104043"/>
        </a:xfrm>
        <a:prstGeom prst="ellipse">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rPr>
            <a:t>   </a:t>
          </a:r>
          <a:r>
            <a:rPr lang="en-US" sz="1400" b="1" kern="1200" dirty="0" smtClean="0">
              <a:solidFill>
                <a:schemeClr val="tx2"/>
              </a:solidFill>
            </a:rPr>
            <a:t> Timeliness</a:t>
          </a:r>
        </a:p>
        <a:p>
          <a:pPr marL="114300" lvl="1" indent="-114300" algn="l" defTabSz="622300">
            <a:lnSpc>
              <a:spcPct val="90000"/>
            </a:lnSpc>
            <a:spcBef>
              <a:spcPct val="0"/>
            </a:spcBef>
            <a:spcAft>
              <a:spcPct val="15000"/>
            </a:spcAft>
            <a:buChar char="••"/>
          </a:pPr>
          <a:r>
            <a:rPr lang="en-US" sz="1400" kern="1200" dirty="0" smtClean="0">
              <a:solidFill>
                <a:schemeClr val="tx1"/>
              </a:solidFill>
            </a:rPr>
            <a:t>Important because of the threat of message replays</a:t>
          </a:r>
        </a:p>
        <a:p>
          <a:pPr marL="114300" lvl="1" indent="-114300" algn="l" defTabSz="622300">
            <a:lnSpc>
              <a:spcPct val="90000"/>
            </a:lnSpc>
            <a:spcBef>
              <a:spcPct val="0"/>
            </a:spcBef>
            <a:spcAft>
              <a:spcPct val="15000"/>
            </a:spcAft>
            <a:buChar char="••"/>
          </a:pPr>
          <a:r>
            <a:rPr lang="en-US" sz="1400" kern="1200" dirty="0" smtClean="0">
              <a:solidFill>
                <a:schemeClr val="tx1"/>
              </a:solidFill>
            </a:rPr>
            <a:t>Such replays could allow an opponent to:</a:t>
          </a:r>
          <a:endParaRPr lang="en-US" sz="1400" kern="1200" dirty="0">
            <a:solidFill>
              <a:schemeClr val="tx1"/>
            </a:solidFill>
          </a:endParaRPr>
        </a:p>
        <a:p>
          <a:pPr marL="228600" lvl="2" indent="-114300" algn="l" defTabSz="622300">
            <a:lnSpc>
              <a:spcPct val="90000"/>
            </a:lnSpc>
            <a:spcBef>
              <a:spcPct val="0"/>
            </a:spcBef>
            <a:spcAft>
              <a:spcPct val="15000"/>
            </a:spcAft>
            <a:buChar char="••"/>
          </a:pPr>
          <a:r>
            <a:rPr lang="en-US" sz="1400" kern="1200" dirty="0" smtClean="0">
              <a:solidFill>
                <a:schemeClr val="tx1"/>
              </a:solidFill>
            </a:rPr>
            <a:t>compromise a session key</a:t>
          </a:r>
          <a:endParaRPr lang="en-US" sz="1400" kern="1200" dirty="0">
            <a:solidFill>
              <a:schemeClr val="tx1"/>
            </a:solidFill>
          </a:endParaRPr>
        </a:p>
        <a:p>
          <a:pPr marL="228600" lvl="2" indent="-114300" algn="l" defTabSz="622300">
            <a:lnSpc>
              <a:spcPct val="90000"/>
            </a:lnSpc>
            <a:spcBef>
              <a:spcPct val="0"/>
            </a:spcBef>
            <a:spcAft>
              <a:spcPct val="15000"/>
            </a:spcAft>
            <a:buChar char="••"/>
          </a:pPr>
          <a:r>
            <a:rPr lang="en-US" sz="1400" kern="1200" dirty="0" smtClean="0">
              <a:solidFill>
                <a:schemeClr val="tx1"/>
              </a:solidFill>
            </a:rPr>
            <a:t>successfully impersonate another party</a:t>
          </a:r>
          <a:endParaRPr lang="en-US" sz="1400" kern="1200" dirty="0">
            <a:solidFill>
              <a:schemeClr val="tx1"/>
            </a:solidFill>
          </a:endParaRPr>
        </a:p>
        <a:p>
          <a:pPr marL="228600" lvl="2" indent="-114300" algn="l" defTabSz="622300">
            <a:lnSpc>
              <a:spcPct val="90000"/>
            </a:lnSpc>
            <a:spcBef>
              <a:spcPct val="0"/>
            </a:spcBef>
            <a:spcAft>
              <a:spcPct val="15000"/>
            </a:spcAft>
            <a:buChar char="••"/>
          </a:pPr>
          <a:r>
            <a:rPr lang="en-US" sz="1400" kern="1200" dirty="0" smtClean="0">
              <a:solidFill>
                <a:schemeClr val="tx1"/>
              </a:solidFill>
            </a:rPr>
            <a:t>disrupt operations by presenting parties with messages that appear genuine but are not </a:t>
          </a:r>
          <a:endParaRPr lang="en-US" sz="1400" kern="1200" dirty="0">
            <a:solidFill>
              <a:schemeClr val="tx1"/>
            </a:solidFill>
          </a:endParaRPr>
        </a:p>
      </dsp:txBody>
      <dsp:txXfrm>
        <a:off x="92948" y="843139"/>
        <a:ext cx="3540069" cy="3104043"/>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F582257-B838-6749-BB83-2F605DAA800F}">
      <dsp:nvSpPr>
        <dsp:cNvPr id="0" name=""/>
        <dsp:cNvSpPr/>
      </dsp:nvSpPr>
      <dsp:spPr>
        <a:xfrm>
          <a:off x="38" y="84234"/>
          <a:ext cx="3703141" cy="1283231"/>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38100" cap="flat" cmpd="sng" algn="ctr">
          <a:solidFill>
            <a:schemeClr val="accent1">
              <a:hueOff val="0"/>
              <a:satOff val="0"/>
              <a:lumOff val="0"/>
              <a:alphaOff val="0"/>
            </a:schemeClr>
          </a:solidFill>
          <a:prstDash val="solid"/>
          <a:miter/>
        </a:ln>
        <a:effectLst>
          <a:outerShdw blurRad="38100" dist="25400" dir="5400000" rotWithShape="0">
            <a:srgbClr val="000000">
              <a:alpha val="5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b="1" kern="1200" dirty="0" smtClean="0">
              <a:effectLst>
                <a:outerShdw blurRad="38100" dist="38100" dir="2700000" algn="tl">
                  <a:srgbClr val="000000">
                    <a:alpha val="43137"/>
                  </a:srgbClr>
                </a:outerShdw>
              </a:effectLst>
            </a:rPr>
            <a:t>One application for which encryption is growing in popularity is electronic         mail (e-mail)</a:t>
          </a:r>
          <a:endParaRPr lang="en-US" sz="2000" b="1" kern="1200" dirty="0">
            <a:effectLst>
              <a:outerShdw blurRad="38100" dist="38100" dir="2700000" algn="tl">
                <a:srgbClr val="000000">
                  <a:alpha val="43137"/>
                </a:srgbClr>
              </a:outerShdw>
            </a:effectLst>
          </a:endParaRPr>
        </a:p>
      </dsp:txBody>
      <dsp:txXfrm>
        <a:off x="38" y="84234"/>
        <a:ext cx="3703141" cy="1283231"/>
      </dsp:txXfrm>
    </dsp:sp>
    <dsp:sp modelId="{250E2CAE-D7F2-CA49-ADA0-8E22EA6527F2}">
      <dsp:nvSpPr>
        <dsp:cNvPr id="0" name=""/>
        <dsp:cNvSpPr/>
      </dsp:nvSpPr>
      <dsp:spPr>
        <a:xfrm>
          <a:off x="38" y="1367465"/>
          <a:ext cx="3703141" cy="3348899"/>
        </a:xfrm>
        <a:prstGeom prst="rect">
          <a:avLst/>
        </a:prstGeom>
        <a:solidFill>
          <a:schemeClr val="accent1">
            <a:alpha val="90000"/>
            <a:tint val="40000"/>
            <a:hueOff val="0"/>
            <a:satOff val="0"/>
            <a:lumOff val="0"/>
            <a:alphaOff val="0"/>
          </a:schemeClr>
        </a:solidFill>
        <a:ln w="38100" cap="flat" cmpd="sng" algn="ctr">
          <a:solidFill>
            <a:schemeClr val="bg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Header of the e-mail message must be in the clear so that the message can be handled by the store-and-forward        e-mail protocol, such as SMTP or X.400</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The e-mail message should be encrypted such that the mail-handling system is not in possession of the decryption key</a:t>
          </a:r>
          <a:endParaRPr lang="en-US" sz="2000" kern="1200" dirty="0"/>
        </a:p>
      </dsp:txBody>
      <dsp:txXfrm>
        <a:off x="38" y="1367465"/>
        <a:ext cx="3703141" cy="3348899"/>
      </dsp:txXfrm>
    </dsp:sp>
    <dsp:sp modelId="{C8B0C6AD-2083-E841-BB39-3B090FD5A631}">
      <dsp:nvSpPr>
        <dsp:cNvPr id="0" name=""/>
        <dsp:cNvSpPr/>
      </dsp:nvSpPr>
      <dsp:spPr>
        <a:xfrm>
          <a:off x="4221619" y="84234"/>
          <a:ext cx="3703141" cy="1283231"/>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38100" cap="flat" cmpd="sng" algn="ctr">
          <a:solidFill>
            <a:schemeClr val="accent1">
              <a:hueOff val="0"/>
              <a:satOff val="0"/>
              <a:lumOff val="0"/>
              <a:alphaOff val="0"/>
            </a:schemeClr>
          </a:solidFill>
          <a:prstDash val="solid"/>
          <a:miter/>
        </a:ln>
        <a:effectLst>
          <a:outerShdw blurRad="38100" dist="25400" dir="5400000" rotWithShape="0">
            <a:srgbClr val="000000">
              <a:alpha val="5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b="1" kern="1200" dirty="0" smtClean="0">
              <a:effectLst>
                <a:outerShdw blurRad="38100" dist="38100" dir="2700000" algn="tl">
                  <a:srgbClr val="000000">
                    <a:alpha val="43137"/>
                  </a:srgbClr>
                </a:outerShdw>
              </a:effectLst>
            </a:rPr>
            <a:t>A second requirement is        that of authentication</a:t>
          </a:r>
          <a:endParaRPr lang="en-US" sz="2000" b="1" kern="1200" dirty="0">
            <a:effectLst>
              <a:outerShdw blurRad="38100" dist="38100" dir="2700000" algn="tl">
                <a:srgbClr val="000000">
                  <a:alpha val="43137"/>
                </a:srgbClr>
              </a:outerShdw>
            </a:effectLst>
          </a:endParaRPr>
        </a:p>
      </dsp:txBody>
      <dsp:txXfrm>
        <a:off x="4221619" y="84234"/>
        <a:ext cx="3703141" cy="1283231"/>
      </dsp:txXfrm>
    </dsp:sp>
    <dsp:sp modelId="{234A54C3-F482-6B48-A668-CE8E4B82EAAD}">
      <dsp:nvSpPr>
        <dsp:cNvPr id="0" name=""/>
        <dsp:cNvSpPr/>
      </dsp:nvSpPr>
      <dsp:spPr>
        <a:xfrm>
          <a:off x="4221619" y="1367465"/>
          <a:ext cx="3703141" cy="3348899"/>
        </a:xfrm>
        <a:prstGeom prst="rect">
          <a:avLst/>
        </a:prstGeom>
        <a:solidFill>
          <a:schemeClr val="accent1">
            <a:alpha val="90000"/>
            <a:tint val="40000"/>
            <a:hueOff val="0"/>
            <a:satOff val="0"/>
            <a:lumOff val="0"/>
            <a:alphaOff val="0"/>
          </a:schemeClr>
        </a:solidFill>
        <a:ln w="38100" cap="flat" cmpd="sng" algn="ctr">
          <a:solidFill>
            <a:schemeClr val="bg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The recipient wants some assurance that the message is from the alleged sender</a:t>
          </a:r>
          <a:endParaRPr lang="en-US" sz="2000" kern="1200" dirty="0"/>
        </a:p>
      </dsp:txBody>
      <dsp:txXfrm>
        <a:off x="4221619" y="1367465"/>
        <a:ext cx="3703141" cy="3348899"/>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BACF627-1098-DA4A-A340-1BC48F0EA257}">
      <dsp:nvSpPr>
        <dsp:cNvPr id="0" name=""/>
        <dsp:cNvSpPr/>
      </dsp:nvSpPr>
      <dsp:spPr>
        <a:xfrm>
          <a:off x="0" y="58110"/>
          <a:ext cx="7570787" cy="1297078"/>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38100" cap="flat" cmpd="sng" algn="ctr">
          <a:solidFill>
            <a:schemeClr val="accent1">
              <a:hueOff val="0"/>
              <a:satOff val="0"/>
              <a:lumOff val="0"/>
              <a:alphaOff val="0"/>
            </a:schemeClr>
          </a:solidFill>
          <a:prstDash val="solid"/>
          <a:miter/>
        </a:ln>
        <a:effectLst>
          <a:outerShdw blurRad="38100" dist="25400" dir="5400000" rotWithShape="0">
            <a:srgbClr val="000000">
              <a:alpha val="5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lvl="0" algn="ctr" defTabSz="1111250" rtl="0">
            <a:lnSpc>
              <a:spcPct val="90000"/>
            </a:lnSpc>
            <a:spcBef>
              <a:spcPct val="0"/>
            </a:spcBef>
            <a:spcAft>
              <a:spcPct val="35000"/>
            </a:spcAft>
          </a:pPr>
          <a:r>
            <a:rPr lang="en-US" sz="2500" b="1" kern="1200" dirty="0" smtClean="0">
              <a:effectLst>
                <a:outerShdw blurRad="38100" dist="38100" dir="2700000" algn="tl">
                  <a:srgbClr val="000000">
                    <a:alpha val="43137"/>
                  </a:srgbClr>
                </a:outerShdw>
              </a:effectLst>
            </a:rPr>
            <a:t>A two-level hierarchy of symmetric keys can be used to provide confidentiality for communication in a distributed environment</a:t>
          </a:r>
          <a:endParaRPr lang="en-US" sz="2500" b="1" kern="1200" dirty="0">
            <a:effectLst>
              <a:outerShdw blurRad="38100" dist="38100" dir="2700000" algn="tl">
                <a:srgbClr val="000000">
                  <a:alpha val="43137"/>
                </a:srgbClr>
              </a:outerShdw>
            </a:effectLst>
          </a:endParaRPr>
        </a:p>
      </dsp:txBody>
      <dsp:txXfrm>
        <a:off x="0" y="58110"/>
        <a:ext cx="7570787" cy="1297078"/>
      </dsp:txXfrm>
    </dsp:sp>
    <dsp:sp modelId="{944EFA6F-E7B0-1E42-AD4C-1993C04C163B}">
      <dsp:nvSpPr>
        <dsp:cNvPr id="0" name=""/>
        <dsp:cNvSpPr/>
      </dsp:nvSpPr>
      <dsp:spPr>
        <a:xfrm>
          <a:off x="0" y="1355189"/>
          <a:ext cx="7570787" cy="3225375"/>
        </a:xfrm>
        <a:prstGeom prst="rect">
          <a:avLst/>
        </a:prstGeom>
        <a:solidFill>
          <a:schemeClr val="accent1">
            <a:alpha val="90000"/>
            <a:tint val="40000"/>
            <a:hueOff val="0"/>
            <a:satOff val="0"/>
            <a:lumOff val="0"/>
            <a:alphaOff val="0"/>
          </a:schemeClr>
        </a:solidFill>
        <a:ln w="38100" cap="flat" cmpd="sng" algn="ctr">
          <a:solidFill>
            <a:schemeClr val="tx2">
              <a:lumMod val="60000"/>
              <a:lumOff val="4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rtl="0">
            <a:lnSpc>
              <a:spcPct val="90000"/>
            </a:lnSpc>
            <a:spcBef>
              <a:spcPct val="0"/>
            </a:spcBef>
            <a:spcAft>
              <a:spcPct val="15000"/>
            </a:spcAft>
            <a:buChar char="••"/>
          </a:pPr>
          <a:r>
            <a:rPr lang="en-US" sz="2500" kern="1200" dirty="0" smtClean="0"/>
            <a:t>Strategy involves the use of a trusted key distribution center (KDC)</a:t>
          </a:r>
          <a:endParaRPr lang="en-US" sz="2500" kern="1200" dirty="0"/>
        </a:p>
        <a:p>
          <a:pPr marL="228600" lvl="1" indent="-228600" algn="l" defTabSz="1111250" rtl="0">
            <a:lnSpc>
              <a:spcPct val="90000"/>
            </a:lnSpc>
            <a:spcBef>
              <a:spcPct val="0"/>
            </a:spcBef>
            <a:spcAft>
              <a:spcPct val="15000"/>
            </a:spcAft>
            <a:buChar char="••"/>
          </a:pPr>
          <a:r>
            <a:rPr lang="en-US" sz="2500" kern="1200" dirty="0" smtClean="0"/>
            <a:t>Each party shares a secret key, known as a master key, with the KDC</a:t>
          </a:r>
          <a:endParaRPr lang="en-US" sz="2500" kern="1200" dirty="0"/>
        </a:p>
        <a:p>
          <a:pPr marL="228600" lvl="1" indent="-228600" algn="l" defTabSz="1111250" rtl="0">
            <a:lnSpc>
              <a:spcPct val="90000"/>
            </a:lnSpc>
            <a:spcBef>
              <a:spcPct val="0"/>
            </a:spcBef>
            <a:spcAft>
              <a:spcPct val="15000"/>
            </a:spcAft>
            <a:buChar char="••"/>
          </a:pPr>
          <a:r>
            <a:rPr lang="en-US" sz="2500" kern="1200" dirty="0" smtClean="0"/>
            <a:t>KDC is responsible for generating keys to be used for a short time over a connection between two parties and for distributing those keys using the master keys to protect the distribution</a:t>
          </a:r>
          <a:endParaRPr lang="en-US" sz="2500" kern="1200" dirty="0"/>
        </a:p>
      </dsp:txBody>
      <dsp:txXfrm>
        <a:off x="0" y="1355189"/>
        <a:ext cx="7570787" cy="3225375"/>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9E2930D-2408-6E41-BDE9-CEE15F869892}">
      <dsp:nvSpPr>
        <dsp:cNvPr id="0" name=""/>
        <dsp:cNvSpPr/>
      </dsp:nvSpPr>
      <dsp:spPr>
        <a:xfrm>
          <a:off x="4180831" y="2763519"/>
          <a:ext cx="4124968" cy="130048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Ideally, the user should not be aware that authentication is taking place beyond the requirement to enter a password</a:t>
          </a:r>
        </a:p>
      </dsp:txBody>
      <dsp:txXfrm>
        <a:off x="5418322" y="3088640"/>
        <a:ext cx="2887477" cy="975360"/>
      </dsp:txXfrm>
    </dsp:sp>
    <dsp:sp modelId="{BB581DDD-03D3-B749-B719-7B9A755EE59A}">
      <dsp:nvSpPr>
        <dsp:cNvPr id="0" name=""/>
        <dsp:cNvSpPr/>
      </dsp:nvSpPr>
      <dsp:spPr>
        <a:xfrm>
          <a:off x="736470" y="2763519"/>
          <a:ext cx="3057137" cy="130048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The system should be capable of supporting large numbers of clients and servers</a:t>
          </a:r>
        </a:p>
      </dsp:txBody>
      <dsp:txXfrm>
        <a:off x="736470" y="3088640"/>
        <a:ext cx="2139996" cy="975360"/>
      </dsp:txXfrm>
    </dsp:sp>
    <dsp:sp modelId="{678481E7-AAD5-6844-8B64-9B07D4588FD2}">
      <dsp:nvSpPr>
        <dsp:cNvPr id="0" name=""/>
        <dsp:cNvSpPr/>
      </dsp:nvSpPr>
      <dsp:spPr>
        <a:xfrm>
          <a:off x="4876805" y="0"/>
          <a:ext cx="2820419" cy="130048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Should be highly reliable and should employ a distributed server architecture with one system able to back up another</a:t>
          </a:r>
        </a:p>
      </dsp:txBody>
      <dsp:txXfrm>
        <a:off x="5722930" y="0"/>
        <a:ext cx="1974293" cy="975360"/>
      </dsp:txXfrm>
    </dsp:sp>
    <dsp:sp modelId="{F39C2C61-3299-114B-889B-970DB00EE6E5}">
      <dsp:nvSpPr>
        <dsp:cNvPr id="0" name=""/>
        <dsp:cNvSpPr/>
      </dsp:nvSpPr>
      <dsp:spPr>
        <a:xfrm>
          <a:off x="702692" y="0"/>
          <a:ext cx="3124693" cy="130048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A network eavesdropper should not be able to obtain the necessary information to impersonate a user</a:t>
          </a:r>
        </a:p>
      </dsp:txBody>
      <dsp:txXfrm>
        <a:off x="702692" y="0"/>
        <a:ext cx="2187285" cy="975360"/>
      </dsp:txXfrm>
    </dsp:sp>
    <dsp:sp modelId="{30BF6143-F679-FC45-862B-950623B33DDB}">
      <dsp:nvSpPr>
        <dsp:cNvPr id="0" name=""/>
        <dsp:cNvSpPr/>
      </dsp:nvSpPr>
      <dsp:spPr>
        <a:xfrm>
          <a:off x="2352547" y="231647"/>
          <a:ext cx="1759712" cy="1759712"/>
        </a:xfrm>
        <a:prstGeom prst="pieWedg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b="1" kern="1200" baseline="0" dirty="0" smtClean="0">
              <a:effectLst>
                <a:outerShdw blurRad="38100" dist="38100" dir="2700000" algn="tl">
                  <a:srgbClr val="000000">
                    <a:alpha val="43137"/>
                  </a:srgbClr>
                </a:outerShdw>
              </a:effectLst>
            </a:rPr>
            <a:t>Secure</a:t>
          </a:r>
          <a:endParaRPr lang="en-US" sz="1500" b="1" kern="1200" baseline="0" dirty="0">
            <a:effectLst>
              <a:outerShdw blurRad="38100" dist="38100" dir="2700000" algn="tl">
                <a:srgbClr val="000000">
                  <a:alpha val="43137"/>
                </a:srgbClr>
              </a:outerShdw>
            </a:effectLst>
          </a:endParaRPr>
        </a:p>
      </dsp:txBody>
      <dsp:txXfrm>
        <a:off x="2352547" y="231647"/>
        <a:ext cx="1759712" cy="1759712"/>
      </dsp:txXfrm>
    </dsp:sp>
    <dsp:sp modelId="{176C77C4-D19F-344E-92DE-A6B9570BCA1F}">
      <dsp:nvSpPr>
        <dsp:cNvPr id="0" name=""/>
        <dsp:cNvSpPr/>
      </dsp:nvSpPr>
      <dsp:spPr>
        <a:xfrm rot="5400000">
          <a:off x="4193540" y="231647"/>
          <a:ext cx="1759712" cy="1759712"/>
        </a:xfrm>
        <a:prstGeom prst="pieWedg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b="1" kern="1200" baseline="0" dirty="0" smtClean="0">
              <a:effectLst>
                <a:outerShdw blurRad="38100" dist="38100" dir="2700000" algn="tl">
                  <a:srgbClr val="000000">
                    <a:alpha val="43137"/>
                  </a:srgbClr>
                </a:outerShdw>
              </a:effectLst>
            </a:rPr>
            <a:t>Reliable</a:t>
          </a:r>
        </a:p>
      </dsp:txBody>
      <dsp:txXfrm rot="5400000">
        <a:off x="4193540" y="231647"/>
        <a:ext cx="1759712" cy="1759712"/>
      </dsp:txXfrm>
    </dsp:sp>
    <dsp:sp modelId="{CD66DE2C-51E6-DA44-B650-0AAB6A5FFEBD}">
      <dsp:nvSpPr>
        <dsp:cNvPr id="0" name=""/>
        <dsp:cNvSpPr/>
      </dsp:nvSpPr>
      <dsp:spPr>
        <a:xfrm rot="10800000">
          <a:off x="4193540" y="2072640"/>
          <a:ext cx="1759712" cy="1759712"/>
        </a:xfrm>
        <a:prstGeom prst="pieWedg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b="1" kern="1200" baseline="0" dirty="0" smtClean="0">
              <a:effectLst>
                <a:outerShdw blurRad="38100" dist="38100" dir="2700000" algn="tl">
                  <a:srgbClr val="000000">
                    <a:alpha val="43137"/>
                  </a:srgbClr>
                </a:outerShdw>
              </a:effectLst>
            </a:rPr>
            <a:t>Transparent</a:t>
          </a:r>
        </a:p>
      </dsp:txBody>
      <dsp:txXfrm rot="10800000">
        <a:off x="4193540" y="2072640"/>
        <a:ext cx="1759712" cy="1759712"/>
      </dsp:txXfrm>
    </dsp:sp>
    <dsp:sp modelId="{43309631-90F4-5C48-AC3B-79C7995F6171}">
      <dsp:nvSpPr>
        <dsp:cNvPr id="0" name=""/>
        <dsp:cNvSpPr/>
      </dsp:nvSpPr>
      <dsp:spPr>
        <a:xfrm rot="16200000">
          <a:off x="2352547" y="2072640"/>
          <a:ext cx="1759712" cy="1759712"/>
        </a:xfrm>
        <a:prstGeom prst="pieWedg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b="1" kern="1200" baseline="0" dirty="0" smtClean="0">
              <a:effectLst>
                <a:outerShdw blurRad="38100" dist="38100" dir="2700000" algn="tl">
                  <a:srgbClr val="000000">
                    <a:alpha val="43137"/>
                  </a:srgbClr>
                </a:outerShdw>
              </a:effectLst>
            </a:rPr>
            <a:t>Scalable</a:t>
          </a:r>
        </a:p>
      </dsp:txBody>
      <dsp:txXfrm rot="16200000">
        <a:off x="2352547" y="2072640"/>
        <a:ext cx="1759712" cy="1759712"/>
      </dsp:txXfrm>
    </dsp:sp>
    <dsp:sp modelId="{4658959C-5910-6E41-8A61-66FC67E316B9}">
      <dsp:nvSpPr>
        <dsp:cNvPr id="0" name=""/>
        <dsp:cNvSpPr/>
      </dsp:nvSpPr>
      <dsp:spPr>
        <a:xfrm>
          <a:off x="1333498" y="1676399"/>
          <a:ext cx="607568" cy="528320"/>
        </a:xfrm>
        <a:prstGeom prst="circularArrow">
          <a:avLst/>
        </a:prstGeom>
        <a:solidFill>
          <a:schemeClr val="bg1">
            <a:alpha val="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dsp:style>
    </dsp:sp>
    <dsp:sp modelId="{5BF39C05-9EB6-C449-8E03-B8081DC74E1B}">
      <dsp:nvSpPr>
        <dsp:cNvPr id="0" name=""/>
        <dsp:cNvSpPr/>
      </dsp:nvSpPr>
      <dsp:spPr>
        <a:xfrm rot="10800000">
          <a:off x="1333498" y="1676402"/>
          <a:ext cx="607568" cy="528320"/>
        </a:xfrm>
        <a:prstGeom prst="circularArrow">
          <a:avLst/>
        </a:prstGeom>
        <a:solidFill>
          <a:schemeClr val="bg1">
            <a:alpha val="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dsp:style>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A72C80-79E1-9747-8ACB-8CE8513ACE10}">
      <dsp:nvSpPr>
        <dsp:cNvPr id="0" name=""/>
        <dsp:cNvSpPr/>
      </dsp:nvSpPr>
      <dsp:spPr>
        <a:xfrm>
          <a:off x="101843" y="944"/>
          <a:ext cx="3508142" cy="2104885"/>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dirty="0" smtClean="0"/>
            <a:t>The lifetime associated with the ticket-granting ticket creates a problem:</a:t>
          </a:r>
          <a:endParaRPr lang="en-US" sz="1700" kern="1200" dirty="0"/>
        </a:p>
        <a:p>
          <a:pPr marL="114300" lvl="1" indent="-114300" algn="l" defTabSz="577850" rtl="0">
            <a:lnSpc>
              <a:spcPct val="90000"/>
            </a:lnSpc>
            <a:spcBef>
              <a:spcPct val="0"/>
            </a:spcBef>
            <a:spcAft>
              <a:spcPct val="15000"/>
            </a:spcAft>
            <a:buChar char="••"/>
          </a:pPr>
          <a:r>
            <a:rPr lang="en-US" sz="1300" kern="1200" dirty="0" smtClean="0"/>
            <a:t>If the lifetime is very short (e.g., minutes), the user will be repeatedly asked for a password</a:t>
          </a:r>
          <a:endParaRPr lang="en-US" sz="1300" kern="1200" dirty="0"/>
        </a:p>
        <a:p>
          <a:pPr marL="114300" lvl="1" indent="-114300" algn="l" defTabSz="577850" rtl="0">
            <a:lnSpc>
              <a:spcPct val="90000"/>
            </a:lnSpc>
            <a:spcBef>
              <a:spcPct val="0"/>
            </a:spcBef>
            <a:spcAft>
              <a:spcPct val="15000"/>
            </a:spcAft>
            <a:buChar char="••"/>
          </a:pPr>
          <a:r>
            <a:rPr lang="en-US" sz="1300" kern="1200" dirty="0" smtClean="0"/>
            <a:t>If the lifetime is long (e.g., hours), then an opponent has a greater opportunity for replay</a:t>
          </a:r>
          <a:endParaRPr lang="en-US" sz="1300" kern="1200" dirty="0"/>
        </a:p>
      </dsp:txBody>
      <dsp:txXfrm>
        <a:off x="101843" y="944"/>
        <a:ext cx="3508142" cy="2104885"/>
      </dsp:txXfrm>
    </dsp:sp>
    <dsp:sp modelId="{5E4A41F0-FADE-C747-8891-9C902B675A82}">
      <dsp:nvSpPr>
        <dsp:cNvPr id="0" name=""/>
        <dsp:cNvSpPr/>
      </dsp:nvSpPr>
      <dsp:spPr>
        <a:xfrm>
          <a:off x="3960800" y="944"/>
          <a:ext cx="3508142" cy="2104885"/>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A network service (the TGS or an application service) must be able to prove that the person using a ticket is the same person to whom that ticket was issued</a:t>
          </a:r>
          <a:endParaRPr lang="en-US" sz="1700" kern="1200" dirty="0"/>
        </a:p>
      </dsp:txBody>
      <dsp:txXfrm>
        <a:off x="3960800" y="944"/>
        <a:ext cx="3508142" cy="2104885"/>
      </dsp:txXfrm>
    </dsp:sp>
    <dsp:sp modelId="{C43C3846-675A-1241-A43D-79E51B27C744}">
      <dsp:nvSpPr>
        <dsp:cNvPr id="0" name=""/>
        <dsp:cNvSpPr/>
      </dsp:nvSpPr>
      <dsp:spPr>
        <a:xfrm>
          <a:off x="2031322" y="2456644"/>
          <a:ext cx="3508142" cy="2104885"/>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Servers need to authenticate themselves to users</a:t>
          </a:r>
          <a:endParaRPr lang="en-US" sz="1700" kern="1200" dirty="0"/>
        </a:p>
      </dsp:txBody>
      <dsp:txXfrm>
        <a:off x="2031322" y="2456644"/>
        <a:ext cx="3508142" cy="2104885"/>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9DA4F58-BCAD-0441-B2AC-D13250C4BF1E}">
      <dsp:nvSpPr>
        <dsp:cNvPr id="0" name=""/>
        <dsp:cNvSpPr/>
      </dsp:nvSpPr>
      <dsp:spPr>
        <a:xfrm>
          <a:off x="968349" y="384047"/>
          <a:ext cx="3538728" cy="1228953"/>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883DEF-BC93-D442-8759-F27C5AB85A8A}">
      <dsp:nvSpPr>
        <dsp:cNvPr id="0" name=""/>
        <dsp:cNvSpPr/>
      </dsp:nvSpPr>
      <dsp:spPr>
        <a:xfrm>
          <a:off x="2400300" y="3393338"/>
          <a:ext cx="685800" cy="438912"/>
        </a:xfrm>
        <a:prstGeom prst="downArrow">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dsp:style>
    </dsp:sp>
    <dsp:sp modelId="{F7A31D04-4755-9B4F-A57F-5696E210151F}">
      <dsp:nvSpPr>
        <dsp:cNvPr id="0" name=""/>
        <dsp:cNvSpPr/>
      </dsp:nvSpPr>
      <dsp:spPr>
        <a:xfrm>
          <a:off x="1097279" y="3744468"/>
          <a:ext cx="3291840" cy="822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r>
            <a:rPr lang="en-US" sz="1900" b="1" i="0" kern="1200" dirty="0" smtClean="0"/>
            <a:t>Three parts of a principal name</a:t>
          </a:r>
          <a:endParaRPr lang="en-US" sz="1900" b="1" i="0" kern="1200" dirty="0"/>
        </a:p>
      </dsp:txBody>
      <dsp:txXfrm>
        <a:off x="1097279" y="3744468"/>
        <a:ext cx="3291840" cy="822960"/>
      </dsp:txXfrm>
    </dsp:sp>
    <dsp:sp modelId="{8B46D60C-AD58-904A-B869-B653E85DE902}">
      <dsp:nvSpPr>
        <dsp:cNvPr id="0" name=""/>
        <dsp:cNvSpPr/>
      </dsp:nvSpPr>
      <dsp:spPr>
        <a:xfrm>
          <a:off x="2254910" y="1707916"/>
          <a:ext cx="1234440" cy="1234440"/>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b="1" i="0" kern="1200" dirty="0" smtClean="0"/>
            <a:t>A realm name</a:t>
          </a:r>
          <a:endParaRPr lang="en-US" sz="1700" b="1" i="0" kern="1200" dirty="0"/>
        </a:p>
      </dsp:txBody>
      <dsp:txXfrm>
        <a:off x="2254910" y="1707916"/>
        <a:ext cx="1234440" cy="1234440"/>
      </dsp:txXfrm>
    </dsp:sp>
    <dsp:sp modelId="{751124D2-3E0B-5943-BA61-46BF18DF6EEF}">
      <dsp:nvSpPr>
        <dsp:cNvPr id="0" name=""/>
        <dsp:cNvSpPr/>
      </dsp:nvSpPr>
      <dsp:spPr>
        <a:xfrm>
          <a:off x="1371599" y="781812"/>
          <a:ext cx="1234440" cy="1234440"/>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b="1" i="0" kern="1200" dirty="0" smtClean="0"/>
            <a:t>An instance name</a:t>
          </a:r>
        </a:p>
      </dsp:txBody>
      <dsp:txXfrm>
        <a:off x="1371599" y="781812"/>
        <a:ext cx="1234440" cy="1234440"/>
      </dsp:txXfrm>
    </dsp:sp>
    <dsp:sp modelId="{26A9FFE1-F846-8B4B-B4CF-DDFB06DBEE26}">
      <dsp:nvSpPr>
        <dsp:cNvPr id="0" name=""/>
        <dsp:cNvSpPr/>
      </dsp:nvSpPr>
      <dsp:spPr>
        <a:xfrm>
          <a:off x="2633472" y="483351"/>
          <a:ext cx="1234440" cy="1234440"/>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b="1" i="0" kern="1200" dirty="0" smtClean="0"/>
            <a:t>A service or user name</a:t>
          </a:r>
        </a:p>
      </dsp:txBody>
      <dsp:txXfrm>
        <a:off x="2633472" y="483351"/>
        <a:ext cx="1234440" cy="1234440"/>
      </dsp:txXfrm>
    </dsp:sp>
    <dsp:sp modelId="{172CA894-62FE-CF43-A52D-A99AFE9AFEF7}">
      <dsp:nvSpPr>
        <dsp:cNvPr id="0" name=""/>
        <dsp:cNvSpPr/>
      </dsp:nvSpPr>
      <dsp:spPr>
        <a:xfrm>
          <a:off x="838206" y="228594"/>
          <a:ext cx="3840480" cy="3072384"/>
        </a:xfrm>
        <a:prstGeom prst="funnel">
          <a:avLst/>
        </a:prstGeom>
        <a:solidFill>
          <a:schemeClr val="lt1">
            <a:alpha val="4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8615DCA-7C3F-114C-9DEA-ACB584E59352}">
      <dsp:nvSpPr>
        <dsp:cNvPr id="0" name=""/>
        <dsp:cNvSpPr/>
      </dsp:nvSpPr>
      <dsp:spPr>
        <a:xfrm>
          <a:off x="0" y="164895"/>
          <a:ext cx="7818437" cy="4486267"/>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12928" tIns="312928" rIns="312928" bIns="312928" numCol="1" spcCol="1270" anchor="ctr" anchorCtr="0">
          <a:noAutofit/>
        </a:bodyPr>
        <a:lstStyle/>
        <a:p>
          <a:pPr lvl="0" algn="ctr" defTabSz="1955800" rtl="0">
            <a:lnSpc>
              <a:spcPct val="90000"/>
            </a:lnSpc>
            <a:spcBef>
              <a:spcPct val="0"/>
            </a:spcBef>
            <a:spcAft>
              <a:spcPct val="35000"/>
            </a:spcAft>
          </a:pPr>
          <a:r>
            <a:rPr lang="en-US" sz="4400" kern="1200" dirty="0" smtClean="0"/>
            <a:t>Version 5 is intended to address the limitations of version 4 in two areas:</a:t>
          </a:r>
          <a:endParaRPr lang="en-US" sz="4400" kern="1200" dirty="0"/>
        </a:p>
      </dsp:txBody>
      <dsp:txXfrm>
        <a:off x="0" y="164895"/>
        <a:ext cx="7818437" cy="2422584"/>
      </dsp:txXfrm>
    </dsp:sp>
    <dsp:sp modelId="{5D48EB20-6C42-834F-8457-6E3434CCF828}">
      <dsp:nvSpPr>
        <dsp:cNvPr id="0" name=""/>
        <dsp:cNvSpPr/>
      </dsp:nvSpPr>
      <dsp:spPr>
        <a:xfrm>
          <a:off x="0" y="2506801"/>
          <a:ext cx="3909218" cy="2271777"/>
        </a:xfrm>
        <a:prstGeom prst="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63576" tIns="29210" rIns="163576" bIns="29210" numCol="1" spcCol="1270" anchor="t" anchorCtr="0">
          <a:noAutofit/>
        </a:bodyPr>
        <a:lstStyle/>
        <a:p>
          <a:pPr lvl="0" algn="l" defTabSz="1022350" rtl="0">
            <a:lnSpc>
              <a:spcPct val="90000"/>
            </a:lnSpc>
            <a:spcBef>
              <a:spcPct val="0"/>
            </a:spcBef>
            <a:spcAft>
              <a:spcPct val="35000"/>
            </a:spcAft>
          </a:pPr>
          <a:r>
            <a:rPr lang="en-US" sz="2300" kern="1200" dirty="0" smtClean="0"/>
            <a:t>Environmental shortcomings</a:t>
          </a:r>
          <a:endParaRPr lang="en-US" sz="2300" kern="1200" dirty="0"/>
        </a:p>
        <a:p>
          <a:pPr marL="171450" lvl="1" indent="-171450" algn="l" defTabSz="800100" rtl="0">
            <a:lnSpc>
              <a:spcPct val="90000"/>
            </a:lnSpc>
            <a:spcBef>
              <a:spcPct val="0"/>
            </a:spcBef>
            <a:spcAft>
              <a:spcPct val="15000"/>
            </a:spcAft>
            <a:buChar char="••"/>
          </a:pPr>
          <a:r>
            <a:rPr lang="en-US" sz="1800" kern="1200" dirty="0" smtClean="0"/>
            <a:t>Encryption system dependence</a:t>
          </a:r>
          <a:endParaRPr lang="en-US" sz="1800" kern="1200" dirty="0"/>
        </a:p>
        <a:p>
          <a:pPr marL="171450" lvl="1" indent="-171450" algn="l" defTabSz="800100" rtl="0">
            <a:lnSpc>
              <a:spcPct val="90000"/>
            </a:lnSpc>
            <a:spcBef>
              <a:spcPct val="0"/>
            </a:spcBef>
            <a:spcAft>
              <a:spcPct val="15000"/>
            </a:spcAft>
            <a:buChar char="••"/>
          </a:pPr>
          <a:r>
            <a:rPr lang="en-US" sz="1800" kern="1200" dirty="0" smtClean="0"/>
            <a:t>Internet protocol dependence</a:t>
          </a:r>
          <a:endParaRPr lang="en-US" sz="1800" kern="1200" dirty="0"/>
        </a:p>
        <a:p>
          <a:pPr marL="171450" lvl="1" indent="-171450" algn="l" defTabSz="800100" rtl="0">
            <a:lnSpc>
              <a:spcPct val="90000"/>
            </a:lnSpc>
            <a:spcBef>
              <a:spcPct val="0"/>
            </a:spcBef>
            <a:spcAft>
              <a:spcPct val="15000"/>
            </a:spcAft>
            <a:buChar char="••"/>
          </a:pPr>
          <a:r>
            <a:rPr lang="en-US" sz="1800" kern="1200" dirty="0" smtClean="0"/>
            <a:t>Message byte ordering</a:t>
          </a:r>
          <a:endParaRPr lang="en-US" sz="1800" kern="1200" dirty="0"/>
        </a:p>
        <a:p>
          <a:pPr marL="171450" lvl="1" indent="-171450" algn="l" defTabSz="800100" rtl="0">
            <a:lnSpc>
              <a:spcPct val="90000"/>
            </a:lnSpc>
            <a:spcBef>
              <a:spcPct val="0"/>
            </a:spcBef>
            <a:spcAft>
              <a:spcPct val="15000"/>
            </a:spcAft>
            <a:buChar char="••"/>
          </a:pPr>
          <a:r>
            <a:rPr lang="en-US" sz="1800" kern="1200" dirty="0" smtClean="0"/>
            <a:t>Ticket lifetime</a:t>
          </a:r>
          <a:endParaRPr lang="en-US" sz="1800" kern="1200" dirty="0"/>
        </a:p>
        <a:p>
          <a:pPr marL="171450" lvl="1" indent="-171450" algn="l" defTabSz="800100" rtl="0">
            <a:lnSpc>
              <a:spcPct val="90000"/>
            </a:lnSpc>
            <a:spcBef>
              <a:spcPct val="0"/>
            </a:spcBef>
            <a:spcAft>
              <a:spcPct val="15000"/>
            </a:spcAft>
            <a:buChar char="••"/>
          </a:pPr>
          <a:r>
            <a:rPr lang="en-US" sz="1800" kern="1200" dirty="0" smtClean="0"/>
            <a:t>Authentication forwarding</a:t>
          </a:r>
          <a:endParaRPr lang="en-US" sz="1800" kern="1200" dirty="0"/>
        </a:p>
        <a:p>
          <a:pPr marL="171450" lvl="1" indent="-171450" algn="l" defTabSz="800100" rtl="0">
            <a:lnSpc>
              <a:spcPct val="90000"/>
            </a:lnSpc>
            <a:spcBef>
              <a:spcPct val="0"/>
            </a:spcBef>
            <a:spcAft>
              <a:spcPct val="15000"/>
            </a:spcAft>
            <a:buChar char="••"/>
          </a:pPr>
          <a:r>
            <a:rPr lang="en-US" sz="1800" kern="1200" dirty="0" smtClean="0"/>
            <a:t>Interrealm authentication</a:t>
          </a:r>
          <a:endParaRPr lang="en-US" sz="1800" kern="1200" dirty="0"/>
        </a:p>
      </dsp:txBody>
      <dsp:txXfrm>
        <a:off x="0" y="2506801"/>
        <a:ext cx="3909218" cy="2271777"/>
      </dsp:txXfrm>
    </dsp:sp>
    <dsp:sp modelId="{92BD13A5-1A3D-8E44-A4ED-0A07D45C046F}">
      <dsp:nvSpPr>
        <dsp:cNvPr id="0" name=""/>
        <dsp:cNvSpPr/>
      </dsp:nvSpPr>
      <dsp:spPr>
        <a:xfrm>
          <a:off x="3909218" y="2506801"/>
          <a:ext cx="3909218" cy="2271777"/>
        </a:xfrm>
        <a:prstGeom prst="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63576" tIns="29210" rIns="163576" bIns="29210" numCol="1" spcCol="1270" anchor="t" anchorCtr="0">
          <a:noAutofit/>
        </a:bodyPr>
        <a:lstStyle/>
        <a:p>
          <a:pPr lvl="0" algn="l" defTabSz="1022350" rtl="0">
            <a:lnSpc>
              <a:spcPct val="90000"/>
            </a:lnSpc>
            <a:spcBef>
              <a:spcPct val="0"/>
            </a:spcBef>
            <a:spcAft>
              <a:spcPct val="35000"/>
            </a:spcAft>
          </a:pPr>
          <a:r>
            <a:rPr lang="en-US" sz="2300" kern="1200" dirty="0" smtClean="0"/>
            <a:t>Technical deficiencies</a:t>
          </a:r>
          <a:endParaRPr lang="en-US" sz="2300" kern="1200" dirty="0"/>
        </a:p>
        <a:p>
          <a:pPr marL="171450" lvl="1" indent="-171450" algn="l" defTabSz="800100" rtl="0">
            <a:lnSpc>
              <a:spcPct val="90000"/>
            </a:lnSpc>
            <a:spcBef>
              <a:spcPct val="0"/>
            </a:spcBef>
            <a:spcAft>
              <a:spcPct val="15000"/>
            </a:spcAft>
            <a:buChar char="••"/>
          </a:pPr>
          <a:r>
            <a:rPr lang="en-US" sz="1800" kern="1200" dirty="0" smtClean="0"/>
            <a:t>Double encryption</a:t>
          </a:r>
          <a:endParaRPr lang="en-US" sz="1800" kern="1200" dirty="0"/>
        </a:p>
        <a:p>
          <a:pPr marL="171450" lvl="1" indent="-171450" algn="l" defTabSz="800100" rtl="0">
            <a:lnSpc>
              <a:spcPct val="90000"/>
            </a:lnSpc>
            <a:spcBef>
              <a:spcPct val="0"/>
            </a:spcBef>
            <a:spcAft>
              <a:spcPct val="15000"/>
            </a:spcAft>
            <a:buChar char="••"/>
          </a:pPr>
          <a:r>
            <a:rPr lang="en-US" sz="1800" kern="1200" dirty="0" smtClean="0"/>
            <a:t>PCBC encryption</a:t>
          </a:r>
          <a:endParaRPr lang="en-US" sz="1800" kern="1200" dirty="0"/>
        </a:p>
        <a:p>
          <a:pPr marL="171450" lvl="1" indent="-171450" algn="l" defTabSz="800100" rtl="0">
            <a:lnSpc>
              <a:spcPct val="90000"/>
            </a:lnSpc>
            <a:spcBef>
              <a:spcPct val="0"/>
            </a:spcBef>
            <a:spcAft>
              <a:spcPct val="15000"/>
            </a:spcAft>
            <a:buChar char="••"/>
          </a:pPr>
          <a:r>
            <a:rPr lang="en-US" sz="1800" kern="1200" dirty="0" smtClean="0"/>
            <a:t>Session keys</a:t>
          </a:r>
          <a:endParaRPr lang="en-US" sz="1800" kern="1200" dirty="0"/>
        </a:p>
        <a:p>
          <a:pPr marL="171450" lvl="1" indent="-171450" algn="l" defTabSz="800100" rtl="0">
            <a:lnSpc>
              <a:spcPct val="90000"/>
            </a:lnSpc>
            <a:spcBef>
              <a:spcPct val="0"/>
            </a:spcBef>
            <a:spcAft>
              <a:spcPct val="15000"/>
            </a:spcAft>
            <a:buChar char="••"/>
          </a:pPr>
          <a:r>
            <a:rPr lang="en-US" sz="1800" kern="1200" dirty="0" smtClean="0"/>
            <a:t>Password attacks</a:t>
          </a:r>
          <a:endParaRPr lang="en-US" sz="1800" kern="1200" dirty="0"/>
        </a:p>
      </dsp:txBody>
      <dsp:txXfrm>
        <a:off x="3909218" y="2506801"/>
        <a:ext cx="3909218" cy="2271777"/>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20B82E8-77A7-B544-9EE6-2B49635EB5F0}">
      <dsp:nvSpPr>
        <dsp:cNvPr id="0" name=""/>
        <dsp:cNvSpPr/>
      </dsp:nvSpPr>
      <dsp:spPr>
        <a:xfrm>
          <a:off x="1910" y="0"/>
          <a:ext cx="1874787" cy="48006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The Extensible Markup Language (XML)</a:t>
          </a:r>
          <a:endParaRPr lang="en-US" sz="1800" b="1" kern="1200" dirty="0"/>
        </a:p>
      </dsp:txBody>
      <dsp:txXfrm>
        <a:off x="1910" y="0"/>
        <a:ext cx="1874787" cy="1440180"/>
      </dsp:txXfrm>
    </dsp:sp>
    <dsp:sp modelId="{F88A9623-B695-3B43-9907-BC1A2CED98C0}">
      <dsp:nvSpPr>
        <dsp:cNvPr id="0" name=""/>
        <dsp:cNvSpPr/>
      </dsp:nvSpPr>
      <dsp:spPr>
        <a:xfrm>
          <a:off x="189389" y="1440180"/>
          <a:ext cx="1499830" cy="31203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b="1" kern="1200" dirty="0" smtClean="0"/>
            <a:t>A markup language that uses sets of embedded tags or labels to characterize text elements within a document so as to indicate their appearance, function, meaning, or context</a:t>
          </a:r>
          <a:endParaRPr lang="en-US" sz="1500" b="1" kern="1200" dirty="0"/>
        </a:p>
      </dsp:txBody>
      <dsp:txXfrm>
        <a:off x="189389" y="1440180"/>
        <a:ext cx="1499830" cy="3120390"/>
      </dsp:txXfrm>
    </dsp:sp>
    <dsp:sp modelId="{F7215F10-B00F-0B4B-89FD-E0D837330A4A}">
      <dsp:nvSpPr>
        <dsp:cNvPr id="0" name=""/>
        <dsp:cNvSpPr/>
      </dsp:nvSpPr>
      <dsp:spPr>
        <a:xfrm>
          <a:off x="2017307" y="0"/>
          <a:ext cx="1874787" cy="48006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The Simple Object Access Protocol (SOAP)</a:t>
          </a:r>
          <a:endParaRPr lang="en-US" sz="1800" b="1" kern="1200" dirty="0"/>
        </a:p>
      </dsp:txBody>
      <dsp:txXfrm>
        <a:off x="2017307" y="0"/>
        <a:ext cx="1874787" cy="1440180"/>
      </dsp:txXfrm>
    </dsp:sp>
    <dsp:sp modelId="{987C18A4-1DC5-6746-9B80-C63742427AFE}">
      <dsp:nvSpPr>
        <dsp:cNvPr id="0" name=""/>
        <dsp:cNvSpPr/>
      </dsp:nvSpPr>
      <dsp:spPr>
        <a:xfrm>
          <a:off x="2204786" y="1440180"/>
          <a:ext cx="1499830" cy="31203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b="1" kern="1200" dirty="0" smtClean="0"/>
            <a:t>Enables applications to request services from one another with XML-based requests and receive responses as data formatted with XML</a:t>
          </a:r>
          <a:endParaRPr lang="en-US" sz="1500" b="1" kern="1200" dirty="0"/>
        </a:p>
      </dsp:txBody>
      <dsp:txXfrm>
        <a:off x="2204786" y="1440180"/>
        <a:ext cx="1499830" cy="3120390"/>
      </dsp:txXfrm>
    </dsp:sp>
    <dsp:sp modelId="{44F32B5C-82E6-5040-BF4B-C75C9346DA49}">
      <dsp:nvSpPr>
        <dsp:cNvPr id="0" name=""/>
        <dsp:cNvSpPr/>
      </dsp:nvSpPr>
      <dsp:spPr>
        <a:xfrm>
          <a:off x="4032704" y="0"/>
          <a:ext cx="1874787" cy="48006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WS-Security</a:t>
          </a:r>
          <a:endParaRPr lang="en-US" sz="1800" b="1" kern="1200" dirty="0"/>
        </a:p>
      </dsp:txBody>
      <dsp:txXfrm>
        <a:off x="4032704" y="0"/>
        <a:ext cx="1874787" cy="1440180"/>
      </dsp:txXfrm>
    </dsp:sp>
    <dsp:sp modelId="{2171E679-C0DB-6F4F-BC0F-7FCD8C5AD0CD}">
      <dsp:nvSpPr>
        <dsp:cNvPr id="0" name=""/>
        <dsp:cNvSpPr/>
      </dsp:nvSpPr>
      <dsp:spPr>
        <a:xfrm>
          <a:off x="4220183" y="1440180"/>
          <a:ext cx="1499830" cy="31203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b="1" kern="1200" dirty="0" smtClean="0"/>
            <a:t>A set of SOAP extensions for implementing message integrity and confidentiality in Web services</a:t>
          </a:r>
          <a:endParaRPr lang="en-US" sz="1500" b="1" kern="1200" dirty="0"/>
        </a:p>
      </dsp:txBody>
      <dsp:txXfrm>
        <a:off x="4220183" y="1440180"/>
        <a:ext cx="1499830" cy="3120390"/>
      </dsp:txXfrm>
    </dsp:sp>
    <dsp:sp modelId="{58FAE8FB-3A6F-4444-AD4B-225FD98380AC}">
      <dsp:nvSpPr>
        <dsp:cNvPr id="0" name=""/>
        <dsp:cNvSpPr/>
      </dsp:nvSpPr>
      <dsp:spPr>
        <a:xfrm>
          <a:off x="6048101" y="0"/>
          <a:ext cx="1874787" cy="4800600"/>
        </a:xfrm>
        <a:prstGeom prst="roundRect">
          <a:avLst>
            <a:gd name="adj" fmla="val 10000"/>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Security Assertion Markup Language (SAML)</a:t>
          </a:r>
          <a:endParaRPr lang="en-US" sz="1800" b="1" kern="1200" dirty="0"/>
        </a:p>
      </dsp:txBody>
      <dsp:txXfrm>
        <a:off x="6048101" y="0"/>
        <a:ext cx="1874787" cy="1440180"/>
      </dsp:txXfrm>
    </dsp:sp>
    <dsp:sp modelId="{FAD7A9B7-A076-B049-BBD0-1FAE76E162B6}">
      <dsp:nvSpPr>
        <dsp:cNvPr id="0" name=""/>
        <dsp:cNvSpPr/>
      </dsp:nvSpPr>
      <dsp:spPr>
        <a:xfrm>
          <a:off x="6235580" y="1440180"/>
          <a:ext cx="1499830" cy="31203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b="1" kern="1200" dirty="0" smtClean="0"/>
            <a:t>An XML-based language for the exchange of security information between online business partners</a:t>
          </a:r>
          <a:endParaRPr lang="en-US" sz="1500" b="1" kern="1200" dirty="0"/>
        </a:p>
      </dsp:txBody>
      <dsp:txXfrm>
        <a:off x="6235580" y="1440180"/>
        <a:ext cx="1499830" cy="312039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3.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5918C6-ECC1-E441-A1B7-E3667CCD478D}" type="datetimeFigureOut">
              <a:rPr lang="en-US" smtClean="0"/>
              <a:t>4/30/16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625FDE-AC87-FA4A-AA2E-74728FAFA800}" type="slidenum">
              <a:rPr lang="en-US" smtClean="0"/>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3E8C8940-1829-FC47-815A-DB45B35373A6}"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 15 – “User </a:t>
            </a:r>
            <a:r>
              <a:rPr lang="en-AU" dirty="0" smtClean="0">
                <a:latin typeface="Arial" pitchFamily="-84" charset="0"/>
                <a:ea typeface="ＭＳ Ｐゴシック" pitchFamily="-84" charset="-128"/>
                <a:cs typeface="ＭＳ Ｐゴシック" pitchFamily="-84" charset="-128"/>
              </a:rPr>
              <a:t>Authentication</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chapter examines some of the authentication functions that have been developed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support network-based use authentication. The chapter begins with an introduction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some of the concepts and key considerations for user authentication over a network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the Internet. The next section examines user-authentication protocols that rely 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symmetric encryption. This is followed by a section on one of the earliest and also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most widely used authentication services: Kerberos. Next, the chapter looks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user-authentication protocols that rely on asymmetric encryption. This is followed by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discussion of the X.509 user-authentication protocol. Finally, the concept of federated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is introduced.</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EC5C9D6D-171C-7E47-A4F8-C0FA5C0C239C}" type="slidenum">
              <a:rPr lang="en-AU">
                <a:latin typeface="Arial" pitchFamily="-84" charset="0"/>
              </a:rPr>
              <a:pPr/>
              <a:t>3</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most computer security contexts, user authentication is the fundamental building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block and the primary line of defense. User authentication is the basis for most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types of access control and for user accountability. RFC 4949 (Internet Security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Glossary ) defines user authentication as the process of verifying an identity claimed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or for a system entity. This process consists of two steps: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Identification step:  Presenting an identifier to the security system. (Identifiers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should be assigned carefully, because authenticated identities are the basis for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other security services, such as access control service.)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Verification step:  Presenting or generating authentication information that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corroborates the binding between the entity and the identifier.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example, user Alice Toklas could have the user identifier ABTOKLAS.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information needs to be stored on any server or computer system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Alice wishes to use and could be known to system administrators and 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A typical item of authentication information associated with this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ID is a password, which is kept secret (known only to Alice and to the system).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no one is able to obtain or guess Alice’s password, then the combination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Alice’s user ID and password enables administrators to set up Alice’s access permissions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audit her activity. Because Alice’s ID is not secret, system users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send her e-mail, but because her password is secret, no one can pretend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Alice.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essence, identification is the means by which a user provides a claimed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to the system; user authentication is the means of establishing the validity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claim. Note that user authentication is distinct from message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defined in Chapter 12, message authentication is a procedure that allows communicating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parties to verify that the contents of a received message have not been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altered and that the source is authentic. This chapter is concerned solely with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NIST SP 800-63-2 (Electronic Authentication Guideline,  August 2013) defines electronic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authentication as the process of establishing confidence in user identities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are presented electronically to an information system. Systems can use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authenticated identity to determine if the authenticated individual is authorized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perform particular functions, such as database transactions or access to system resources.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many cases, the authentication and transaction or other authorized function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takes place across an open network such as the Internet. Equally authentication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subsequent authorization can take place locally, such as across a local area network.</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 800-63-2 defines a general model for user authentication that involves a number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entities and procedures. We discuss this model with reference to Figure 15.1.</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initial requirement for performing user authentication is that the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must be registered with the system. The following is a typical sequence for registration.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applicant applies to a registration authority (RA)  to become a subscriber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of a credential service provider (CSP) . In this model, the RA is a trusted entity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establishes and vouches for the identity of an applicant to a CSP. The CSP then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engages in an exchange with the subscriber. Depending on the details of the overall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system, the CSP issues some sort of electronic credential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subscriber. The credential  is a data structure that authoritatively binds an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additional attributes to a token possessed by a subscriber, and can be verified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presented to the verifier in an authentication transaction. The token could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an encryption key or an encrypted password that identifies the subscriber.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token may be issued by the CSP, generated directly by the subscriber, or provided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a third party. The token and credential may be used in subsequent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events.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Once a user is registered as a subscriber, the actual authentication process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take place between the subscriber and one or more systems that perform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subsequently, authorization. The party to be authenticated is called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claimant  and the party verifying that identity is called a verifier . When a claimant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successfully demonstrates possession and control of a token to a verifier through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protocol, the verifier can verify that the claimant is the subscriber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named in the corresponding credential. The verifier passes on an assertion about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of the subscriber to the relying party (RP) . That assertion includes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about a subscriber, such as the subscriber name, an identifier assigned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 registration, or other subscriber attributes that were verified in the registration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 The RP can use the authenticated information provided by the verifier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make access control or authorization decisions.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implemented system for authentication will differ from or be more complex</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than this simplified model, but the model illustrates the key roles and functions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needed for a secure authentication system.</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F407FB99-465D-124F-B912-E9F70161DA6F}" type="slidenum">
              <a:rPr lang="en-AU">
                <a:latin typeface="Arial" pitchFamily="-84" charset="0"/>
              </a:rPr>
              <a:pPr/>
              <a:t>5</a:t>
            </a:fld>
            <a:endParaRPr lang="en-AU" dirty="0">
              <a:latin typeface="Arial" pitchFamily="-8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are four general means of authenticating a user’s identity, which can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alone or in combination: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Something the individual knows:  Examples include a password, a personal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identification number (PIN), or answers to a prearranged set of questions.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Something the individual possesses:  Examples include cryptographic keys,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electronic keycards, smart cards, and physical keys. This type of authenticator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referred to as a token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Something the individual is (static biometrics):  Examples include recognition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fingerprint, retina, and face.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Something the individual does (dynamic biometrics):  Examples include recognition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voice pattern, handwriting characteristics, and typing rhythm.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 of these methods, properly implemented and used, can provide secure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authentication. However, each method has problems. An adversary may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able to guess or steal a password. Similarly, an adversary may be able to forge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steal a token. A user may forget a password or lose a token. Furthermore, there is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significant administrative overhead for managing password and token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systems and securing such information on systems. With respect to biometric authenticators,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are a variety of problems, including dealing with false positives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false negatives, user acceptance, cost, and convenience. For network-based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the most important methods involve cryptographic keys and something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individual knows, such as a password.</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BB19D235-5731-6642-ABA4-DE8B4FCC0827}" type="slidenum">
              <a:rPr lang="en-AU">
                <a:latin typeface="Arial" pitchFamily="-84" charset="0"/>
              </a:rPr>
              <a:pPr/>
              <a:t>6</a:t>
            </a:fld>
            <a:endParaRPr lang="en-AU" dirty="0">
              <a:latin typeface="Arial" pitchFamily="-84" charset="0"/>
            </a:endParaRPr>
          </a:p>
        </p:txBody>
      </p:sp>
      <p:sp>
        <p:nvSpPr>
          <p:cNvPr id="23555"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important application area is that of mutual authentication protocols. Such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protocols enable communicating parties to satisfy themselves mutually about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other’s identity and to exchange session keys. This topic was examined in Chapter 14.</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the focus was key distribution. We return to this topic here to consider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wider implications of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Central to the problem of authenticated key exchange are two issues: confidentiality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timeliness. To prevent masquerade and to prevent compromise of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essential identification and session-key information must be communicated in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 This requires the prior existence of secret or public keys that can be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this purpose. The second issue, timeliness, is important because of the threat of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replays. Such replays, at worst, could allow an opponent to compromise a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or successfully impersonate another party. At minimum, a successful replay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disrupt operations by presenting parties with messages that appear genuine but are not.</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6CBF610D-EE93-2E4D-8C88-748A3830A40D}" type="slidenum">
              <a:rPr lang="en-AU">
                <a:latin typeface="Arial" pitchFamily="-84" charset="0"/>
              </a:rPr>
              <a:pPr/>
              <a:t>7</a:t>
            </a:fld>
            <a:endParaRPr lang="en-AU" dirty="0">
              <a:latin typeface="Arial" pitchFamily="-8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[GONG93] lists the following examples of replay attacks: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1. The simplest replay attack is one in which the opponent simply copies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and replays it later.</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2. An opponent can replay a timestamped message within the valid time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window. If both the original and the replay arrive within then time window,</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this incident can be logged.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3. As with example (2), an opponent can replay a timestamped message within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valid time window, but in addition, the opponent suppresses the original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Thus, the repetition cannot be detected.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4. Another attack involves a backward replay without modification. This is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replay back to the message sender. This attack is possible if symmetric encryption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used and the sender cannot easily recognize the difference between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messages sent and messages received on the basis of content.</a:t>
            </a:r>
            <a:endParaRPr lang="en-US" b="0" dirty="0" smtClean="0">
              <a:latin typeface="Arial" pitchFamily="-84" charset="0"/>
              <a:ea typeface="Arial" pitchFamily="-84" charset="0"/>
              <a:cs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1D7494D5-E9FF-9141-B730-D2465E141FCB}" type="slidenum">
              <a:rPr lang="en-AU">
                <a:latin typeface="Arial" pitchFamily="-84" charset="0"/>
              </a:rPr>
              <a:pPr/>
              <a:t>8</a:t>
            </a:fld>
            <a:endParaRPr lang="en-AU" dirty="0">
              <a:latin typeface="Arial" pitchFamily="-8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approach to coping with replay attacks is to attach a sequence number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message used in an authentication exchange. A new message is accepted only if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 sequence number is in the proper order. The difficulty with this approach is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requires each party to keep track of the last sequence number for each claimant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dealt with. Because of this overhead, sequence numbers are generally not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authentication and key exchange. Instead, one of the following two general approaches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used: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Timestamps:  Party A accepts a message as fresh only if the message contains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timestamp  that, in A’s judgment, is close enough to A’s knowledge of current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This approach requires that clocks among the various participants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synchronized.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Challenge/response:  Party A, expecting a fresh message from B, first sends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 a nonce  (challenge) and requires that the subsequent message (response)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received from B contain the correct nonce value.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can be argued (e.g., [LAM92a]) that the timestamp approach should not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for connection-oriented applications because of the inherent difficulties with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technique. First, some sort of protocol is needed to maintain synchronization among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various processor clocks. This protocol must be both fault tolerant, to cope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network errors, and secure, to cope with hostile attacks. Second, the opportunity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successful attack will arise if there is a temporary loss of synchronization resulting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 fault in the clock mechanism of one of the parties. Finally, because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variable and unpredictable nature of network delays, distributed clocks cannot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expected to maintain precise synchronization. Therefore, any timestamp-based procedure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must allow for a window of time sufficiently large to accommodate network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delays yet sufficiently small to minimize the opportunity for attack.</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other hand, the challenge-response approach is unsuitable for a connectionless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 of application, because it requires the overhead of a handshake before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any connectionless transmission, effectively negating the chief characteristic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connectionless transaction. For such applications, reliance on some sort of secure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server and a consistent attempt by each party to keep its clocks in synchronization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be the best approach (e.g., [LAM92b]).</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application for which encryption is growing in popularity is electronic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The very nature of electronic mail, and its chief benefit, is that it is not necessary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sender and receiver to be online at the same time. Instead, the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is forwarded to the receiver’s electronic mailbox, where it is buffered until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receiver is available to read it.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“envelope” or header of the e-mail message must be in the clear, so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can be handled by the store-and-forward e-mail protocol, such 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Simple Mail Transfer Protocol (SMTP) or X.400. However, it is often desirable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mail-handling protocol not require access to the plaintext form of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that would require trusting the mail-handling mechanism. Accordingly,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message should be encrypted such that the mail-handling system is not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possession of the decryption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second requirement is that of authentication . Typically, the recipient wants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some assurance that the message is from the alleged sender.</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569472D-DC0B-C44F-9F2A-D3EF8A4B61C1}" type="slidenum">
              <a:rPr lang="en-AU">
                <a:latin typeface="Arial" pitchFamily="-84" charset="0"/>
              </a:rPr>
              <a:pPr/>
              <a:t>10</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was discussed in Chapter 14, a two-level hierarchy of symmetric encryption keys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be used to provide confidentiality for communication in a distributed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general, this strategy involves the use of a trusted key distribution center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(KDC). Each party in the network shares a secret key, known as a master key,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KDC. The KDC is responsible for generating keys to be used for a short time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over a connection between two parties, known as session keys, and for distributing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those keys using the master keys to protect the distribution. This approach is quite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common. As an example, we look at the Kerberos system in Section 15.3. The discussion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subsection is relevant to an understanding of the Kerberos mechanisms.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Denning protocol seems to provide an increased degree of security compared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Needham/Schroeder protocol. However, a new concern is raised: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namely, that this new scheme requires reliance on clocks that are synchronized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throughout the network. [GONG92] points out a risk involved. The risk is based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fact that the distributed clocks can become unsynchronized as a result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sabotage on or faults in the clocks or the synchronization mechanism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problem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occurs when a sender’s clock is ahead of the intended recipient’s clock. In this case,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opponent can intercept a message from the sender and replay it later when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timestamp in the message becomes current at the recipient’s site. This replay could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cause unexpected results. Gong refers to such attacks as suppress-replay attacks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One way to counter suppress-replay attacks is to enforce the requirement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parties regularly check their clocks against the KDC’s clock. The other alternative,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avoids the need for clock synchronization, is to rely on handshaking protocols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nonces. This latter alternative is not vulnerable to a suppress-replay attack,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the nonces the recipient will choose in the future are unpredictable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sender. The Needham/Schroeder protocol relies on nonces only but, as we have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seen, has other vulnerabilities.</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p>
            <a:fld id="{906052F7-850D-6C41-B056-4AA10A726ECF}" type="slidenum">
              <a:rPr lang="en-AU">
                <a:latin typeface="Arial" pitchFamily="-84" charset="0"/>
              </a:rPr>
              <a:pPr/>
              <a:t>12</a:t>
            </a:fld>
            <a:endParaRPr lang="en-AU" dirty="0">
              <a:latin typeface="Arial" pitchFamily="-8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Kerberos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is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an authentication service developed as part of Project Athena at MIT.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problem that Kerberos addresses is this: Assume an open distributed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which users at workstations wish to access services on servers distributed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throughout the network. We would like for servers to be able to restrict access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authorized users and to be able to authenticate requests for service. In this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workstation cannot be trusted to identify its users correctly to network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services. In particular, the following three threats exist: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 user may gain access to a particular workstation and pretend to be another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operating from that workstation.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user may alter the network address of a workstation so that the requests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sent from the altered workstation appear to come from the impersonated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workstation.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A user may eavesdrop on exchanges and use a replay attack to gain entrance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a server or to disrupt operations.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any of these cases, an unauthorized user may be able to gain access to services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data that he or she is not authorized to access. Rather than building in elaborate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protocols at each server, Kerberos provides a centralized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whose function is to authenticate users to servers and servers to users.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Unlike most other authentication schemes described in this book, Kerberos relies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exclusively on symmetric encryption, making no use of public-key encryption.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Two versions of Kerberos are in common use. Version 4 [MILL88, STEI88]</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implementations still exist. Version 5 [KOHL94] corrects some of the security deficiencies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version 4 and has been issued as a proposed Internet Standard (RFC 4120</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RFC 4121).</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p:spPr>
        <p:txBody>
          <a:bodyPr/>
          <a:lstStyle/>
          <a:p>
            <a:fld id="{00D5DA0E-6DD0-6D4B-A2D3-8A7345750CEE}" type="slidenum">
              <a:rPr lang="en-AU">
                <a:latin typeface="Arial" pitchFamily="-84" charset="0"/>
              </a:rPr>
              <a:pPr/>
              <a:t>13</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Kerberos assumes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 distributed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client/server architecture and employs one or more Kerberos servers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 an authentication service.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first published report on Kerberos [STEI88] listed the following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Secure:  A network eavesdropper should not be able to obtain the necessary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to impersonate a user. More generally, Kerberos should be strong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enough that a potential opponent does not find it to be the weak link.</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Reliable:  For all services that rely on Kerberos for access control, lack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availability of the Kerberos service means lack of availability of the supported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services. Hence, Kerberos should be highly reliable and should employ a distributed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architecture with one system able to back up another.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Transparent:  Ideally, the user should not be aware that authentication is taking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place beyond the requirement to enter a password.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Scalable:  The system should be capable of supporting large numbers of clients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servers. This suggests a modular, distributed architecture.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support these requirements, the overall scheme of Kerberos is that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trusted third-party authentication service that uses a protocol based on that proposed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Needham and Schroeder [NEED78], which was discussed in Section 15.2.</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It is trusted in the sense that clients and servers trust Kerberos to mediate their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mutual authentication. Assuming the Kerberos protocol is well designed, then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service is secure if the Kerberos server itself is secure.</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89DA2405-2CA9-AB46-8444-2081C71B842D}" type="slidenum">
              <a:rPr lang="en-AU">
                <a:latin typeface="Arial" pitchFamily="-84" charset="0"/>
              </a:rPr>
              <a:pPr/>
              <a:t>14</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Version 4 of Kerberos makes use of DES, in a rather elaborate protocol, to provide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authentication service. Viewing the protocol as a whole, it is difficult to see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need for the many elements contained therein. Therefore, we adopt a strategy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Bill Bryant of Project Athena [BRYA88] and build up to the full protocol by looking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first at several hypothetical dialogues. Each successive dialogue adds additional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complexity to counter security vulnerabilities revealed in the preceding dialogue.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an unprotected network environment, 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can apply to any server for service. The obvious security risk is that of impersonation.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opponent can pretend to be another client and obtain unauthorized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privileges on server machines. To counter this threat, servers must be able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confirm the identities of clients who request service. Each server can be required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undertake this task for each client/server interaction, but in an open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places a substantial burden on each 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alternative is to use an authentication server (AS) that knows the passwords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all users and stores these in a centralized database. In addition, the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shares a unique secret key with each server. These keys have been distributed physically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in some other secure manner.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AS checks its database to see if the user has supplied the proper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password for this user ID and whether this user is permitted access to server V. If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both tests are passed, the AS accepts the user as authentic and must now convince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server that this user is authentic. To do so, the AS creates a ticket  that contains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user’s ID and network address and the server’s ID. This ticket is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the secret key shared by the AS and this 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TGS, issues tickets to users who have been authenticated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Thus, the user first requests a ticket-granting ticket from the 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module in the user workstation saves this ticket. Each time the user requires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 to a new service, the client applies to the TGS, using the ticket to authenticate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itself. The TGS then grants a ticket for the particular service. The client saves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service-granting ticket and uses it to authenticate its user to a server each time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particular service is requested.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only the correct user should know the password, only the correct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recover the ticket. Thus, we have used the password to obtain credentials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Kerberos without having to transmit the password in plaintext. The ticket itself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consists of the ID and network address of the user, and the ID of the TGS.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corresponds to the first scenario. The idea is that the client can use this ticket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request multiple service</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-granting tickets. So the ticket-granting ticket is to be reusable.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However, we do not wish an opponent to be able to capture the ticket and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use it. Consider the following scenario: An opponent captures the login ticket and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waits until the user has logged off his or her workstation. Then the opponent either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gains access to that workstation or configures his workstation with the same network</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address as that of the victim. The opponent would be able to reuse the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to spoof the TGS. To counter this, the ticket includes a timestamp, indicating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date and time at which the ticket was issued, and a lifetime, indicating the length</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time for which the ticket is valid (e.g., eight hours). Thus, the client now has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reusable ticket and need not bother the user for a password for each new service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request. Finally, note that the ticket-granting ticket is encrypted with a secret key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known only to the AS and the TGS. This prevents alteration of the ticket. The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reencrypted with a key based on the user’s password. This assures that the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can be recovered only by the correct user, providing the authentication.</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The service-granting ticket has the same structure as the ticket-granting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Indeed, because the TGS is a server, we would expect that the same elements are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needed to authenticate a client to the TGS and to authenticate a client to an application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server. Again, the ticket contains a timestamp and lifetime. If the user wants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access to the same service at a later time, the client can simply use the previously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acquired service-granting ticket and need not bother the user for a password. Note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that the ticket is encrypted with a secret key known only to the TGS and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server, preventing alteration.</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heart of the first problem is the lifetime associated with the ticket-granting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this lifetime is very short (e.g., minutes), then the user will be repeatedly asked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password. If the lifetime is long (e.g., hours), then an opponent has a greater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opportunity for replay. An opponent could eavesdrop on the network and capture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copy of the ticket-granting ticket and then wait for the legitimate user to log 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Then the opponent could forge the legitimate user’s network address and send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of step (3) to the TGS. This would give the opponent unlimited access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resources and files available to the legitimate user.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Similarly, if an opponent captures a service-granting ticket and uses it before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expires, the opponent has access to the corresponding service.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we arrive at an additional requirement. A network service (the TGS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application service) must be able to prove that the person using a ticket is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same person to whom that ticket was issued.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second problem is that there may be a requirement for servers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authenticate themselves to users. Without such authentication, an opponent could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sabotage the configuration so that messages to a server were directed to another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location. The false server would then be in a position to act as a real server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capture any information from the user and deny the true service to the user.</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3F479181-DD62-3449-80D8-1B7D7FA4EBEC}" type="slidenum">
              <a:rPr lang="en-AU">
                <a:latin typeface="Arial" pitchFamily="-84" charset="0"/>
              </a:rPr>
              <a:pPr/>
              <a:t>16</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Table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15.1, shows the actual Kerberos protocol.</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Table 15.1a shows the technique for distributing the session key. As before,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client sends a message to the AS requesting access to the TGS. The AS responds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with a message, encrypted with a key derived from the user’s password that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contains the ticket. The encrypted message also contains a copy of the session key,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where the subscripts indicate that this is a session key for C and TGS. Because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this session key is inside the message encrypted with K</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c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only the user’s client can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read it. The same session key is included in the ticket, which can be read only by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TGS. Thus, the session key has been securely delivered to both C and the TGS.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Armed with the ticket and the session key, C is ready to approach the TGS.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before, C sends the TGS a message that includes the ticket plus the ID of the requested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 [message (3) in Table 15.1b].</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reply from the TGS in message (4) follows the form of message (2).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is encrypted with the session key shared by the TGS and C and includes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session key to be shared between C and the server V, the ID of V, and the timestamp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ticket. The ticket itself includes the same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 now has a reusable service-granting ticket for V. When C presents this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shown in message (5), it also sends an authenticator. The server can decrypt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 recover the session key, and decrypt the authenticator.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mutual authentication is required, the server can reply as shown in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(6) of Table 15.1. The server returns the value of the timestamp from the authenticator,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incremented by 1, and encrypted in the session key. C can decrypt this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recover the incremented timestamp. Because the message was encrypted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session key, C is assured that it could have been created only by V. The contents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message assure C that this is not a replay of an old reply.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Finally, at the conclusion of this process, the client and server share a secret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This key can be used to encrypt future messages between the two or to exchange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new random session key for that purpose.</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1031"/>
          <p:cNvSpPr>
            <a:spLocks noGrp="1" noChangeArrowheads="1"/>
          </p:cNvSpPr>
          <p:nvPr>
            <p:ph type="sldNum" sz="quarter" idx="5"/>
          </p:nvPr>
        </p:nvSpPr>
        <p:spPr>
          <a:noFill/>
        </p:spPr>
        <p:txBody>
          <a:bodyPr/>
          <a:lstStyle/>
          <a:p>
            <a:fld id="{E783429A-64D8-304B-9200-CBA63D8E1E9A}" type="slidenum">
              <a:rPr lang="en-AU">
                <a:latin typeface="Arial" pitchFamily="-84" charset="0"/>
              </a:rPr>
              <a:pPr/>
              <a:t>17</a:t>
            </a:fld>
            <a:endParaRPr lang="en-AU" dirty="0">
              <a:latin typeface="Arial" pitchFamily="-8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15.2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provides an overview.</a:t>
            </a:r>
          </a:p>
          <a:p>
            <a:pPr eaLnBrk="1" hangingPunct="1"/>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First, consider the problem of captured ticket-granting tickets and the need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determine that the ticket presenter is the same as the client for whom the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was issued. The threat is that an opponent will steal the ticket and use it before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expires. To get around this problem, let us have the AS provide both the client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TGS with a secret piece of information in a secure manner. Then the client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prove its identity to the TGS by revealing the secret information—again in a secure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manner. An efficient way of accomplishing this is to use an encryption key 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secure information; this is referred to as a session key in Kerberos.</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15.3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illustrates the Kerberos exchanges among the parties.</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Table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15.2 summarizes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the justification for each of the elements in the Kerberos protocol.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Page 1 – authentication service exchange</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Page 2 – ticket-granting service exchange</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Page 3 – client/server authentication exchange</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full-service Kerberos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consisting of a Kerberos server, a number of clients, and a number of application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servers requires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Kerberos server must have the user ID and hashed passwords of all participating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in its database. All users are registered with the Kerberos 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The Kerberos server must share a secret key with each server. All servers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registered with the Kerberos 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Networks of clients and servers under different administrative organizations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typically constitute different realms. That is, it generally is not practical or does not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conform to administrative policy to have users and servers in one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registered with a Kerberos server elsewhere. However, users in one realm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need access to servers in other realms, and some servers may be willing to provide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 to users from other realms, provided that those users are authenticated.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Kerberos provides a mechanism for supporting such interrealm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two realms to support interrealm authentication, a third requirement is added: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Kerberos server in each interoperating realm shares a secret key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in the other realm. The two Kerberos servers are registered with each other.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scheme requires that the Kerberos server in one realm trust the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in the other realm to authenticate its users. Furthermore, the participating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servers in the second realm must also be willing to trust the Kerberos server in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first realm.</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0770E327-E019-774B-9FA7-1C2C394FF967}" type="slidenum">
              <a:rPr lang="en-AU">
                <a:latin typeface="Arial" pitchFamily="-84" charset="0"/>
              </a:rPr>
              <a:pPr/>
              <a:t>23</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ln/>
        </p:spPr>
      </p:sp>
      <p:sp>
        <p:nvSpPr>
          <p:cNvPr id="4813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Kerberos realm is a set of managed nodes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share the same Kerberos database. The Kerberos database resides on the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master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computer system, which should be kept in a physically secure room. A read-only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copy of the Kerberos database might also reside on other Kerberos computer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systems. However, all changes to the database must be made on the master computer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Changing or accessing the contents of a Kerberos database requires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Kerberos master password.</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related concept is that of a Kerberos principal ,</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is a service or user that is known to the Kerberos system. Each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principal is identified by its principal name. Principal names consist of three parts: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 or user name, an instance name, and a realm name.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24</a:t>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p>
            <a:fld id="{FC0A3D1C-5268-7A44-A7CF-EE2880F80C0B}" type="slidenum">
              <a:rPr lang="en-AU">
                <a:latin typeface="Arial" pitchFamily="-84" charset="0"/>
              </a:rPr>
              <a:pPr/>
              <a:t>25</a:t>
            </a:fld>
            <a:endParaRPr lang="en-AU" dirty="0">
              <a:latin typeface="Arial" pitchFamily="-8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With these ground rules in place, we can describe the mechanism as follows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15.4)</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 user wishing service on a server in another realm needs a ticket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server. The user’s client follows the usual procedures to gain access to the local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TGS and then requests a ticket-granting ticket for a remote TGS (TGS in another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realm). The client can then apply to the remote TGS for a service-granting ticket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desired server in the realm of the remote TGS.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p>
            <a:fld id="{CE099774-B2ED-D44C-9639-30BEAA750E49}" type="slidenum">
              <a:rPr lang="en-AU">
                <a:latin typeface="Arial" pitchFamily="-84" charset="0"/>
              </a:rPr>
              <a:pPr/>
              <a:t>26</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Version 5 is intended to address the limitations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version 4 in two areas: environmental shortcomings and technical deficiencies.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Let us briefly summarize the improvements in each area.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Kerberos version 4 was developed for use within the Project Athena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accordingly, did not fully address the need to be of general purpose.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led to the following environmental shortcomings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Encryption system dependence:  Version 4 requires the use of DES. Export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restriction on DES as well as doubts about the strength of DES were thus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concern. In version 5, ciphertext is tagged with an encryption-type identifier so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any encryption technique may be used. Encryption keys are tagged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 and a length, allowing the same key to be used in different algorithms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allowing the specification of different variations on a given algorithm.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Internet protocol dependence:  Version 4 requires the use of Internet Protocol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(IP) addresses. Other address types, such as the ISO network address, are not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accommodated. Version 5 network addresses are tagged with type and length,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allowing any network address type to be used.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Message byte ordering:  In version 4, the sender of a message employs a byte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ordering of its own choosing and tags the message to indicate least significant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byte in lowest address or most significant byte in lowest address. This techniques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works but does not follow established conventions. In version 5, all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structures are defined using Abstract Syntax Notation One (ASN.1)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Basic Encoding Rules (BER), which provide an unambiguous byte ordering.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Ticket lifetime:  Lifetime values in version 4 are encoded in an 8-bit quantity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units of five minutes. Thus, the maximum lifetime that can be expressed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a:t>
            </a:r>
            <a:r>
              <a:rPr lang="en-US" sz="1200" kern="1200" baseline="30000" dirty="0" smtClean="0">
                <a:solidFill>
                  <a:schemeClr val="tx1"/>
                </a:solidFill>
                <a:latin typeface="Arial" pitchFamily="-107" charset="0"/>
                <a:ea typeface="ＭＳ Ｐゴシック" pitchFamily="-107" charset="-128"/>
                <a:cs typeface="ＭＳ Ｐゴシック" pitchFamily="-107" charset="-128"/>
              </a:rPr>
              <a:t>8</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  5 =  1280 minutes (a little over 21 hours). This may be inadequate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some applications (e.g., a long-running simulation that requires valid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throughout execution). In version 5, tickets include an explicit start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and end time, allowing tickets with arbitrary lifetimes.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Authentication forwarding:  Version 4 does not allow credentials issued to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to be forwarded to some other host and used by some other client.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capability would enable a client to access a server and have that server access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another server on behalf of the client. For example, a client issues a request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print server that then accesses the client’s file from a file server, using the client’s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for access. Version 5 provides this capability.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6. Interrealm authentication:  In version 4, interoperability among N  realms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requires on the order of N</a:t>
            </a:r>
            <a:r>
              <a:rPr lang="en-US" sz="1200" kern="1200" baseline="30000" dirty="0" smtClean="0">
                <a:solidFill>
                  <a:schemeClr val="tx1"/>
                </a:solidFill>
                <a:latin typeface="Arial" pitchFamily="-107" charset="0"/>
                <a:ea typeface="ＭＳ Ｐゴシック" pitchFamily="-107" charset="-128"/>
                <a:cs typeface="ＭＳ Ｐゴシック" pitchFamily="-107" charset="-128"/>
              </a:rPr>
              <a:t>2</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Kerberos-to-Kerberos relationships, as described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earlier. Version 5 supports a method that requires fewer relationships,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described shortly.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Apart from these environmental limitations, there are technical deficiencies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the version 4 protocol itself. Most of these deficiencies were documented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[BELL90], and version 5 attempts to address these. The deficiencies are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Double encryption:  Note in Table 15.1 [messages (2) and (4)] that tickets provided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clients are encrypted twice—once with the secret key of the target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and then again with a secret key known to the client. The second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not necessary and is computationally wasteful.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PCBC encryption:  Encryption in version 4 makes use of a nonstandard mode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 known as propagating cipher block chaining  (PCBC).  It has been demonstrated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this mode is vulnerable to an attack involving the interchange of ciphertext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blocks [KOHL89]. PCBC was intended to provide an integrity check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 of the encryption operation. Version 5 provides explicit integrity mechanisms,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allowing the standard CBC mode to be used for encryption. In particular, a checksum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hash code is attached to the message prior to encryption using CBC.</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Session keys:  Each ticket includes a session key that is used by the client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 the authenticator sent to the service associated with that ticket. In addition,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session key may subsequently be used by the client and the 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protect messages passed during that session. However, because the same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 may be used repeatedly to gain service from a particular server, there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risk that an opponent will replay messages from an old session to the client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the server. In version 5, it is possible for a client and server to negotiate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subsession key, which is to be used only for that one connection. A new access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the client would result in the use of a new subsession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Password attacks:  Both versions are vulnerable to a password attack.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the AS to the client includes material encrypted with a key based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client’s password.10  An opponent can capture this message and attempt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decrypt it by trying various passwords. If the result of a test decryption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proper form, then the opponent has discovered the client’s password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may subsequently use it to gain authentication credentials from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is the same type of password attack described in Chapter 21,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same kinds of countermeasures being applicable. Version 5 does provide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mechanism known as pre-authentication, which should make password attacks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more difficult, but it does not prevent them.</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1031"/>
          <p:cNvSpPr>
            <a:spLocks noGrp="1" noChangeArrowheads="1"/>
          </p:cNvSpPr>
          <p:nvPr>
            <p:ph type="sldNum" sz="quarter" idx="5"/>
          </p:nvPr>
        </p:nvSpPr>
        <p:spPr>
          <a:noFill/>
        </p:spPr>
        <p:txBody>
          <a:bodyPr/>
          <a:lstStyle/>
          <a:p>
            <a:fld id="{E2A600A4-1B3E-DD4E-92FC-1090F438233F}" type="slidenum">
              <a:rPr lang="en-AU">
                <a:latin typeface="Arial" pitchFamily="-84" charset="0"/>
              </a:rPr>
              <a:pPr/>
              <a:t>27</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solidFill>
            <a:srgbClr val="FFFFFF"/>
          </a:solidFill>
          <a:ln/>
        </p:spPr>
      </p:sp>
      <p:sp>
        <p:nvSpPr>
          <p:cNvPr id="5427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Table 15.3 summarizes the basic version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5 dialogue. This is best explained by comparison with version 4 (Table 15.1)</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First, consider the authentication service exchange . Message (1) is a client request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a ticket-granting ticket. As before, it includes the ID of the user and the TGS.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following new elements are added: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Realm: Indicates realm of user</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Options: Used to request that certain flags be set in the returned ticket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Times: Used by the client to request the following time settings in the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—from: the desired start time for the requested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—till: the requested expiration time for the requested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rtime</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requested renew-till time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Nonce: A random value to be repeated in message (2) to assure that the response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fresh and has not been replayed by an opponent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(2) returns a ticket-granting ticket, identifying information for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client, and a block encrypted using the encryption key based on the user’s password.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This block includes the session key to be used between the client and the TGS,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times specified in message (1), the nonce from message (1), and TGS identifying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information. The ticket itself includes the session key, identifying information for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client, the requested time values, and flags that reflect the status of this ticket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the requested options. These flags introduce significant new functionality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version 5. For now, we defer a discussion of these flags and concentrate on the overall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structure of the version 5 protocol.</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Let us now compare the ticket-granting service exchange for versions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4 and 5. We see that message (3) for both versions includes an authenticator,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ticket, and the name of the requested service. In addition, version 5 includes requested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times and options for the ticket and a nonce—all with functions similar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those of message (1). The authenticator itself is essentially the same as the one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used in version 4.</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(4) has the same structure as message (2). It returns a ticket plus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information needed by the client, with the information encrypted using the session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key now shared by the client and the TGS.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Finally, for the client/server authentication exchange , several new features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appear in version 5. In message (5), the client may request as an option that mutual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authentication is required. The authenticator includes several new fields: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Subkey</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The client’s choice for an encryption key to be used to protect this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specific application session. If this field is omitted, the session key from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ticket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K</a:t>
            </a:r>
            <a:r>
              <a:rPr lang="en-US" sz="1200" b="0" kern="1200" baseline="-25000" dirty="0" err="1" smtClean="0">
                <a:solidFill>
                  <a:schemeClr val="tx1"/>
                </a:solidFill>
                <a:latin typeface="Arial" pitchFamily="-107" charset="0"/>
                <a:ea typeface="ＭＳ Ｐゴシック" pitchFamily="-107" charset="-128"/>
                <a:cs typeface="ＭＳ Ｐゴシック" pitchFamily="-107" charset="-128"/>
              </a:rPr>
              <a:t>c,v</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is used.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Sequence number:  An optional field that specifies the starting sequence number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be used by the server for messages sent to the client during this session.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Messages may be sequence numbered to detect replays.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If mutual authentication is required, the server responds with message (6).</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This message includes the timestamp from the authenticator. Note that in version 4,</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timestamp was incremented by one. This is not necessary in version 5, because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nature of the format of messages is such that it is not possible for an opponent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create message (6) without knowledge of the appropriate encryption keys.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subkey</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field, if present, overrides the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subkey</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field, if present, in message (5).</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optional sequence number field specifies the starting sequence number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by the client.</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flags field included in tickets in version 5 supports expanded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functionality compared to that available in version 4. Table 15.4 summarizes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flags that may be included in a ticket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INITIAL flag indicates that this ticket was issued by the AS, not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TGS. When a client requests a service-granting ticket from the TGS, it presents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ticket-granting ticket obtained from the AS. In version 4, this was the only way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obtain a service-granting ticket. Version 5 provides the additional capability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client can get a service-granting ticket directly from the AS. The utility of this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follows: A server, such as a password-changing server, may wish to know that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client’s password was recently tested.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PRE-AUTHENT flag, if set, indicates that when the AS received the initial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request [message (1)], it authenticated the client before issuing a ticket.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exact form of this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preauthentication</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is left unspecified. As an example, the MIT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implementation of version 5 has encrypted timestamp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preauthentication</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enabled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default. When a user wants to get a ticket, it has to send to the AS a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preauthentication</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block containing a random confounder, a version number, and a timestamp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 encrypted in the client’s password-based key. The AS decrypts the block and will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not send a ticket-granting ticket back unless the timestamp in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preauthentication</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block is within the allowable time skew (time interval to account for clock drift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network delays). Another possibility is the use of a smart card that generates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continually changing passwords that are included in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preauthenticated</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passwords generated by the card can be based on a user’s password but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transformed by the card so that, in effect, arbitrary passwords are used. This prevents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attack based on easily guessed passwords. If a smart card or similar device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was used, this is indicated by the HW-AUTHENT flag.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a ticket has a long lifetime, there is the potential for it to be stolen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by an opponent for a considerable period. If a short lifetime is used to lessen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threat, then overhead is involved in acquiring new tickets. In the case of a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ticketgranting</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 the client would either have to store the user’s secret key, which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clearly risky, or repeatedly ask the user for a password. A compromise scheme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of renewable tickets. A ticket with the RENEWABLE flag set includes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expiration times: One for this specific ticket and one that is the latest permissible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value for an expiration time. A client can have the ticket renewed by presenting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TGS with a requested new expiration time. If the new time is within the limit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latest permissible value, the TGS can issue a new ticket with a new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and a later specific expiration time. The advantage of this mechanism is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TGS may refuse to renew a ticket reported as stolen.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client may request that the AS provide a ticket-granting ticket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MAY-POSTDATE flag set. The client can then use this ticket to request a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is flagged as POSTDATED and INVALID from the TGS. Subsequently,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may submit the postdated ticket for validation. This scheme can be useful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running a long batch job on a server that requires a ticket periodically.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can obtain a number of tickets for this session at once, with spread out time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values. All but the first ticket are initially invalid. When the execution reaches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point in time when a new ticket is required, the client can get the appropriate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validated. With this approach, the client does not have to repeatedly use its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ticketgranting</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 to obtain a service-granting ticket.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version 5, it is possible for a server to act as a proxy on behalf of a client,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effect adopting the credentials and privileges of the client to request a service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another server. If a client wishes to use this mechanism, it requests a ticket-granting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ticket with the PROXIABLE flag set. When this ticket is presented to the TGS,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TGS is permitted to issue a service-granting ticket with a different network address;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latter ticket will have its PROXY flag set. An application receiving such a ticket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accept it or require additional authentication to provide an audit trail.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proxy concept is a limited case of the more powerful forwarding procedure.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a ticket is set with the FORWARDABLE flag, a TGS can issue to the requestor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ticket-granting ticket with a different network address and the FORWARDED flag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set. This ticket then can be presented to a remote TGS. This capability allows a client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gain access to a server on another realm without requiring that each Kerberos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maintain a secret key with Kerberos servers in every other realm. For example,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realms could be structured hierarchically. Then a client could walk up the tree to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common node and then back down to reach a target realm. Each step of the walk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would involve forwarding a ticket-granting ticket to the next TGS in the path.</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ln/>
        </p:spPr>
      </p:sp>
      <p:sp>
        <p:nvSpPr>
          <p:cNvPr id="56323"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Chapter 14, we presented one approach to the use of public-key encryption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purpose of session-key distribution (Figure 14.9). This protocol assumes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of the two parties is in possession of the current public key of the other. It may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not be practical to require this assumption.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protocol using timestamps is provided in [DENN81]</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case, the central system is referred to as an authentication server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it is not actually responsible for secret-key distribution. Rather, the AS provides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public-key certificates. The session key is chosen and encrypted by A; hence,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is no risk of exposure by the AS. The timestamps protect against replays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compromised keys.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protocol is compact but, as before, requires the synchronization of clocks.</a:t>
            </a:r>
          </a:p>
          <a:p>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Another approach, proposed by Woo and Lam [WOO92a], makes use of nonces.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This seems to be a secure protocol that takes into account the various attacks.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the authors themselves spotted a flaw and submitted a revised version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algorithm.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both this example and the protocols described earlier, protocols that appeared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secure were revised after additional analysis. These examples highlight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difficulty of getting things right in the area of authentication.</a:t>
            </a:r>
            <a:endParaRPr lang="en-US" dirty="0" smtClean="0">
              <a:latin typeface="Arial" pitchFamily="-84" charset="0"/>
              <a:ea typeface="ＭＳ Ｐゴシック" pitchFamily="-84" charset="-128"/>
              <a:cs typeface="ＭＳ Ｐゴシック" pitchFamily="-84" charset="-128"/>
            </a:endParaRPr>
          </a:p>
        </p:txBody>
      </p:sp>
      <p:sp>
        <p:nvSpPr>
          <p:cNvPr id="56324" name="Slide Number Placeholder 3"/>
          <p:cNvSpPr>
            <a:spLocks noGrp="1"/>
          </p:cNvSpPr>
          <p:nvPr>
            <p:ph type="sldNum" sz="quarter" idx="5"/>
          </p:nvPr>
        </p:nvSpPr>
        <p:spPr>
          <a:noFill/>
        </p:spPr>
        <p:txBody>
          <a:bodyPr/>
          <a:lstStyle/>
          <a:p>
            <a:fld id="{03720B9D-72EE-824F-B364-B1B38F90656E}" type="slidenum">
              <a:rPr lang="en-AU" smtClean="0">
                <a:latin typeface="Arial" pitchFamily="-84" charset="0"/>
              </a:rPr>
              <a:pPr/>
              <a:t>29</a:t>
            </a:fld>
            <a:endParaRPr lang="en-AU" dirty="0" smtClean="0">
              <a:latin typeface="Arial" pitchFamily="-8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p>
            <a:fld id="{95D16CFB-C349-B34A-931A-BD25BF4B5D3E}" type="slidenum">
              <a:rPr lang="en-AU">
                <a:latin typeface="Arial" pitchFamily="-84" charset="0"/>
              </a:rPr>
              <a:pPr/>
              <a:t>30</a:t>
            </a:fld>
            <a:endParaRPr lang="en-AU" dirty="0">
              <a:latin typeface="Arial" pitchFamily="-8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 have already presented public-key encryption approaches that are suited to electronic mail, including the straightforward encryption of the entire message for confidentiality (Figure 12.1b), authentication (Figure 12.1c), or both (Figure 12.1d). These approaches require that either the sender know the recipient's public key (confidentiality) or the recipient know the sender's public key (authentication) or both (confidentiality plus authentication). In addition, the public-key algorithm must be applied once or twice to what may be a long message.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If confidentiality is the primary concern, then better to encrypt the message with a one-time secret key, and also encrypt this one-time key with B's public key. If authentication is the primary concern, then a digital signature may suffice (but could be replaced by an opponent). To counter such a scheme, both the message and signature can be encrypted with the recipient's public key. The latter two schemes require that B know A's public key and be convinced that it is timely. An effective way to provide this assurance is the digital certificate.</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sz="1200" kern="1200" baseline="0" dirty="0" smtClean="0">
                <a:solidFill>
                  <a:schemeClr val="tx1"/>
                </a:solidFill>
                <a:latin typeface="Arial" pitchFamily="-107" charset="0"/>
                <a:ea typeface="ＭＳ Ｐゴシック" pitchFamily="-107" charset="-128"/>
                <a:cs typeface="ＭＳ Ｐゴシック" pitchFamily="-107" charset="-128"/>
              </a:rPr>
              <a:t> If authentication is the primary concern, then a digital signature may suffice.</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D7EB8DC3-E3F7-9E47-A21C-DC2FDE2544A8}" type="slidenum">
              <a:rPr lang="en-AU">
                <a:latin typeface="Arial" pitchFamily="-84" charset="0"/>
              </a:rPr>
              <a:pPr/>
              <a:t>31</a:t>
            </a:fld>
            <a:endParaRPr lang="en-AU" dirty="0">
              <a:latin typeface="Arial" pitchFamily="-8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533400" y="4343400"/>
            <a:ext cx="5867400" cy="4267200"/>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Federated identity management is a relatively new concept dealing with the use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common identity management scheme across multiple enterprises and numerous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applications and supporting many thousands, even millions, of users. We begin our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overview with a discussion of the concept of identity management and then examine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federated identity management.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Typical services provided by a federated identity management system include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Point of contact:  Includes authentication that a user corresponds to the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name provided, and management of user/server sessions.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SSO protocol services:  Provides a vendor-neutral security token service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supporting a single sign on to federated services.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Trust services:  Federation relationships require a trust relationship-based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federation between business partners. A trust relationship is represented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combination of the security tokens used to exchange information about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the cryptographic information used to protect these security tokens,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optionally the identity mapping rules applied to the information contained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within this token.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services:  Management of keys and certificates.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Identity services:  services that provide the interface to local data stores,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including user registries and databases, for identity-related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management.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Authorization:  Granting access to specific services and/or resources based 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Provisioning:  Includes creating an account in each target system for the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enrollment or registration of user in accounts, establishment of access rights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to ensure the privacy and integrity of account 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Management:  Services related to runtime configuration and deployment.</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6BDB07F7-C72A-B647-A680-4DB66432963F}" type="slidenum">
              <a:rPr lang="en-AU">
                <a:latin typeface="Arial" pitchFamily="-84" charset="0"/>
              </a:rPr>
              <a:pPr/>
              <a:t>32</a:t>
            </a:fld>
            <a:endParaRPr lang="en-AU" dirty="0">
              <a:latin typeface="Arial" pitchFamily="-8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15.5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illustrates entities and data flows in a generic identity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architecture. A principal  is an identity holder. Typically, this is a human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seeks access to resources and services on the network. User devices, agent processes,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server systems may also function as principals. Principals authenticate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themselves to an identity provider . The identity provider associates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with a principal, as well as attributes and one or more identifiers.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Increasingly, digital identities incorporate attributes other than simply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identifier and authentication information (such as passwords and biometric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An attribute service  manages the creation and maintenance of such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attributes. For example, a user needs to provide a shipping address each time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order is placed at a new Web merchant, and this information needs to be revised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the user moves. Identity management enables the user to provide this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once, so that it is maintained in a single place and released to data consumers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accordance with authorization and privacy policies. Users may create some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attributes to be associated with their digital identity, such as an address.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Administrators  may also assign attributes to users, such as roles, access permissions,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employee information.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consumers  are entities that obtain and employ data maintained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provided by identity and attribute providers, which are often used to support authorization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decisions and to collect audit information. For example, a database 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or file server is a data consumer that needs a client’s credentials so as to know what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 to provide to that client.</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Slide Image Placeholder 1"/>
          <p:cNvSpPr>
            <a:spLocks noGrp="1" noRot="1" noChangeAspect="1"/>
          </p:cNvSpPr>
          <p:nvPr>
            <p:ph type="sldImg"/>
          </p:nvPr>
        </p:nvSpPr>
        <p:spPr>
          <a:ln/>
        </p:spPr>
      </p:sp>
      <p:sp>
        <p:nvSpPr>
          <p:cNvPr id="64515"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federation is, in essence, an extension of identity management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multiple security domains. Such domains include autonomous internal business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units, external business partners, and other third-party applications and services.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goal is to provide the sharing of digital identities so that a user can be authenticated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single time and then access applications and resources across multiple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domains. Because these domains are relatively autonomous or independent, no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centralized control is possible. Rather, the cooperating organizations must form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federation based on agreed standards and mutual levels of trust to securely share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digital identities.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Federated identity management refers to the agreements, standards,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technologies that enable the portability of identities, identity attributes, and entitlements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across multiple enterprises and numerous applications and supporting many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thousands, even millions, of users. When multiple organizations implement interoperable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federated identity schemes, an employee in one organization can use a single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sign-on to access services across the federation with trust relationships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the identity. For example, an employee may log onto her corporate intranet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be authenticated to perform authorized functions and access authorized services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that intranet. The employee could then access their health benefits from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outside health-care provider without having to re-authenticate.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Beyond SSO, federated identity management provides other capabilities.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standardized means of representing attributes. Increasingly, digital identities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incorporate attributes other than simply an identifier and authentication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(such as passwords and biometric information). Examples of attributes include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account numbers, organizational roles, physical location, and file ownership. A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may have multiple identifiers; for example, each identifier may be associated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unique role with its own access permissions.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Another key function of federated identity management is identity mapping.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 security domains may represent identities and attributes differently.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Further, the amount of information associated with an individual in one domain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be more than is necessary in another domain. The federated identity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protocols map identities and attributes of a user in one domain to the requirements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another domain.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15.6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illustrates entities and data flows in a generic federated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management architecture.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identity provider acquires attribute information through dialogue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exchanges with users and administrators. For example, a user needs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 a shipping address each time an order is placed at a new Web merchant,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this information needs to be revised when the user moves. Identity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enables the user to provide this information once, so that it is maintained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single place and released to data consumers in accordance with authorization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privacy policies.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Service providers are entities that obtain and employ data maintained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provided by identity providers, often to support authorization decisions and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collect audit information. For example, a database server or file server is a data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consumer that needs a client’s credentials so as to know what access to provide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client. A service provider can be in the same domain as the user and the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provider. The power of this approach is for federated identity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which the service provider is in a different domain (e.g., a vendor or supplier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network).</a:t>
            </a:r>
            <a:endParaRPr lang="en-US" dirty="0" smtClean="0">
              <a:latin typeface="Arial" pitchFamily="-84" charset="0"/>
              <a:ea typeface="ＭＳ Ｐゴシック" pitchFamily="-84" charset="-128"/>
              <a:cs typeface="ＭＳ Ｐゴシック" pitchFamily="-84" charset="-128"/>
            </a:endParaRPr>
          </a:p>
        </p:txBody>
      </p:sp>
      <p:sp>
        <p:nvSpPr>
          <p:cNvPr id="64516" name="Slide Number Placeholder 3"/>
          <p:cNvSpPr>
            <a:spLocks noGrp="1"/>
          </p:cNvSpPr>
          <p:nvPr>
            <p:ph type="sldNum" sz="quarter" idx="5"/>
          </p:nvPr>
        </p:nvSpPr>
        <p:spPr>
          <a:noFill/>
        </p:spPr>
        <p:txBody>
          <a:bodyPr/>
          <a:lstStyle/>
          <a:p>
            <a:fld id="{E90CA48C-8645-B04A-B518-0CB49ACEC07F}" type="slidenum">
              <a:rPr lang="en-AU" smtClean="0">
                <a:latin typeface="Arial" pitchFamily="-84" charset="0"/>
              </a:rPr>
              <a:pPr/>
              <a:t>33</a:t>
            </a:fld>
            <a:endParaRPr lang="en-AU" dirty="0" smtClean="0">
              <a:latin typeface="Arial" pitchFamily="-8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6B304A51-222C-0149-9C66-E63091E42E48}" type="slidenum">
              <a:rPr lang="en-AU">
                <a:latin typeface="Arial" pitchFamily="-84" charset="0"/>
              </a:rPr>
              <a:pPr/>
              <a:t>34</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Federated identity management uses a number of standards 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building blocks for secure identity exchange across different domains or heterogeneous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systems. In essence, organizations issue some form of security tickets for their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that can be processed by cooperating partners. Identity federation standards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thus concerned with defining these tickets, in terms of content and format, providing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protocols for exchanging tickets and performing a number of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tasks. These tasks include configuring systems to perform attribute transfers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mapping, and performing logging and auditing functions. The key standards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as follows: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Extensible Markup Language (XML):  A markup language that uses sets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embedded tags or labels to characterize text elements within a document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so as to indicate their appearance, function, meaning, or context. XML documents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appear similar to HTML (Hypertext Markup Language) documents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are visible as Web pages, but provide greater functionality. XML includes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strict definitions of the data type of each field, thus supporting database formats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semantics. XML provides encoding rules for commands that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transfer and update data objects.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Simple Object Access Protocol (SOAP):  A minimal set of conventions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invoking code using XML over HTTP. It enables applications to request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services from one another with XML-based requests and receive responses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data formatted with XML. Thus, XML defines data objects and structures,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SOAP provides a means of exchanging such data objects and performing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remote procedure calls related to these objects. See [ROS06] for an informative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discussion.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WS-Security:  A set of SOAP extensions for implementing message integrity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confidentiality in Web services. To provide for secure exchange of SOAP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among applications, WS-Security assigns security tokens to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for use in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Security Assertion Markup Language (SAML):  An XML-based language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exchange of security information between online business partners.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SAML conveys authentication information in the form of assertions about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subjects. Assertions are statements about the subject issued by an authoritative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challenge with federated identity management is to integrate multiple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technologies, standards, and services to provide a secure, user-friendly utility.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as in most areas of security and networking, is the reliance on a few mature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standards widely accepted by industry. Federated identity management seems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have reached this level of maturity.</a:t>
            </a:r>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4B174A15-A4BA-CF43-8FF5-628B14BB1DA5}" type="slidenum">
              <a:rPr lang="en-AU">
                <a:latin typeface="Arial" pitchFamily="-84" charset="0"/>
              </a:rPr>
              <a:pPr/>
              <a:t>35</a:t>
            </a:fld>
            <a:endParaRPr lang="en-AU" dirty="0">
              <a:latin typeface="Arial" pitchFamily="-8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Arial" pitchFamily="-84" charset="0"/>
                <a:cs typeface="Arial" pitchFamily="-84" charset="0"/>
              </a:rPr>
              <a:t>To get some feel for the functionality of identity federation, we look at three scenarios, taken from [COMP06] </a:t>
            </a:r>
            <a:endParaRPr lang="en-US" dirty="0" smtClean="0">
              <a:latin typeface="Arial" pitchFamily="-84" charset="0"/>
              <a:ea typeface="Arial" pitchFamily="-84" charset="0"/>
              <a:cs typeface="Arial" pitchFamily="-84" charset="0"/>
            </a:endParaRPr>
          </a:p>
          <a:p>
            <a:pPr eaLnBrk="1" hangingPunct="1"/>
            <a:endParaRPr lang="en-US" dirty="0" smtClean="0">
              <a:latin typeface="Arial" pitchFamily="-84" charset="0"/>
              <a:ea typeface="Arial" pitchFamily="-84" charset="0"/>
              <a:cs typeface="Arial" pitchFamily="-84" charset="0"/>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the first scenario (Figure 15.7a),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contracts with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Health.com</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provide employee health benefits. An employee uses a Web interface to sign on to</a:t>
            </a:r>
          </a:p>
          <a:p>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goes through an authentication procedure there. This enables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employee to access authorized services and resources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When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employee clicks on a link to access health benefits, her browser is redirected to</a:t>
            </a:r>
          </a:p>
          <a:p>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Health.com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At the same time,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software passes the user’s identifier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Health.com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in a secure manner. The two organizations are part of a federation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cooperatively exchanges user identifiers.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Health.com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maintains user identities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every employee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associates with each identity health-benefits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and access rights. In this example, the linkage between the two companies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based on account information and user participation is browser based.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15.7b shows a second type of browser-based scheme.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 is a regular supplier of parts to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In this case, a role-based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access-control (RBAC) scheme is used for access to information. An engineer of</a:t>
            </a:r>
          </a:p>
          <a:p>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authenticates at the employee portal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clicks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a link to access information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Because the user is authenticated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role of an engineer, he is taken to the technical documentation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troubleshooting portion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PartsSupplier.com’s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Web site without having to sign 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Similarly, an employee in a purchasing role signs on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is authorized,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that role, to place purchases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without having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authenticate to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this scenario,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PartsSupplier.com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does not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have identity information for individual employees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Rather,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linkage between the two federated partners is in terms of roles.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scenario illustrated in Figure 15.7c can be referred to as document based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rather than browser based. In this third example,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has a purchasing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agreement with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PinSupplies.com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PinSupplies.com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has a business relationship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E-</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Ship.com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 employee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signs on and is authenticated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make purchases. The employee goes to a procurement application that provides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list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Workplace.com’s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suppliers and the parts that can be ordered. The user clicks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PinSupplies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button and is presented with a purchase order Web page (HTML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page). The employee fills out the form and clicks the submit button. The procurement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 generates an XML/SOAP document that it inserts into the envelope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body of an XML-based message. The procurement application then inserts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credentials in the envelope header of the message, together with Workplace.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com’s organizational identity. The procurement application posts the message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PinSupplies.com’s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purchasing Web service. This service authenticates the incoming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and processes the request. The purchasing Web service then sends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SOAP message to its shipping partner to fulfill the order. The message includes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PinSupplies.com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security token in the envelope header and the list of items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shipped as well as the end user’s shipping information in the envelope body.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shipping Web service authenticates the request and processes the shipment order.</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authentication based on the possession of a smart card is becoming more widespread.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smart card has the appearance of a credit card, has an electronic interface,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may use a variety of authentication protocols.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smart card contains within it an entire microprocessor, including processor,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memory, and I/O ports. Some versions incorporate a special co-processing circuit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cryptographic operation to speed the task of encoding and decoding messages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generating digital signatures to validate the information transferred. In some cards,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I/O ports are directly accessible by a compatible reader by means of exposed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electrical contacts. Other cards rely instead on an embedded antenna for wireless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communication with the reader.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typical smart card includes three types of memory. Read-only memory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(ROM) stores data that does not change during the card’s life, such as the card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number and the cardholder’s name. Electrically erasable programmable 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(EEPROM) holds application data and programs, such as the protocols that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card can execute. It also holds data that may vary with time. For example, in a telephone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card, the EEPROM holds the talk time remaining. Random access memory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(RAM) holds temporary data generated when applications are executed.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practical application of smart card authentication, a wide range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vendors must conform to standards that cover smart card protocols,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access control formats and protocols, database entries, message formats, and so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An important step in this direction is FIPS 201-2 (Personal Identity Verification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[PIV] of Federal Employees and Contractors , June 2012). The standard defines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reliable, government-wide PIV system for use in applications such as access to federally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controlled facilities and information systems. The standard specifies a PIV</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within which common identification credentials can be created and later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verify a claimed identity. The standard also identifies Federal government-wide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requirements for security levels that are dependent on risks to the facility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being protected. The standard applies to private-sector contractors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well, and serves as a useful guideline for any organization.</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15.8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illustrates the major components of FIPS 201-2 compliant systems.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PIV front end defines the physical interface to a user who is requesting access to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facility, which could be either physical access to a protected physical area or logical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 to an information system. The PIV front-end subsystem  supports up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three-factor authentication; the number of factors used depends on the level of security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required. The front end makes use of a smart card, known as a PIV card,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is a dual-interface contact and contactless card. The card holds a cardholder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photograph, X.509 certificates, cryptographic keys, biometric data, and a cardholder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unique identifier (CHUID). Certain cardholder information may be read-protected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require a personal identification number (PIN) for read access by the card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reader. The biometric reader, in the current version of the standard, is a fingerprint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reader or an iris scanner.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standard defines three assurance levels for verification of the card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encoded data stored on the card, which in turn leads to verifying the authenticity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person holding the credential. A level of some confidence  corresponds to use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card reader and PIN. A level of high confidence  adds a biometric comparison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fingerprint captured and encoded on the card during the card-issuing process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 fingerprint scanned at the physical access point. A very high confidence  level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requires that the process just described is completed at a control point attended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official observer.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other major component of the PIV system is the PIV card issuance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management subsystem . This subsystem includes the components responsible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identity proofing and registration, card and key issuance and management,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various repositories and services (e.g., public key infrastructure [PKI] directory,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status servers) required as part of the verification infrastructure.</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PIV system interacts with a relying subsystem , which includes components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responsible for determining a particular PIV cardholder’s access to a physical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or logical resource. FIPS 201-2 standardizes data formats and protocols for interaction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between the PIV system and the relying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Unlike the typical card number/facility code encoded on most access control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cards, the FIPS 201 CHUID takes authentication to a new level, through the use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expiration date (a required CHUID data field) and an optional CHUID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digital signature can be checked to ensure that the CHUID recorded 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card was digitally signed by a trusted source and that the CHUID data have not been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altered since the card was signed. The CHUID expiration date can be checked to verify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the card has not expired. This is independent from whatever expiration date is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cardholder privileges. Reading and verifying the CHUID alone provides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only some assurance of identity because it authenticates the card data, not the cardholder.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PIN and biometric factors provide identity verification of the individual.</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PIV specification is quite complex, and NIST has issued a number of documents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cover a broad range of PIV topics. These are as follows: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FIPS 201-2—Personal Identity Verification (PIV) of Federal Employees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Contractors:  Specifies the physical card characteristics, storage media,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data elements that make up the identity credentials resident 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PIV card.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SP 800-73-3—Interfaces for Personal Identity Verification: Specifies the interfaces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card architecture for storing and retrieving identity credentials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smart card, and provides guidelines for the use of authentication mechanisms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protocols.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SP 800-76-2—Biometric Data Specification for Personal Identity Verification: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Describes technical acquisition and formatting specifications for the biometric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of the PIV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SP 800-78-3—Cryptographic Algorithms and Key Sizes for Personal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Verification: Identifies acceptable symmetric and asymmetric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algorithms, digital signature algorithms, and message digest algorithms,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specifies mechanisms to identify the algorithms associated with PIV keys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digital signatures.</a:t>
            </a:r>
          </a:p>
          <a:p>
            <a:endParaRPr lang="en-US" dirty="0" smtClean="0"/>
          </a:p>
          <a:p>
            <a:r>
              <a:rPr lang="en-US" dirty="0" smtClean="0"/>
              <a:t>• SP 800-104—A Scheme for PIV Visual Card Topography: Provides additional</a:t>
            </a:r>
          </a:p>
          <a:p>
            <a:r>
              <a:rPr lang="en-US" dirty="0" smtClean="0"/>
              <a:t>recommendations on the PIV card color-coding for designating employee</a:t>
            </a:r>
          </a:p>
          <a:p>
            <a:r>
              <a:rPr lang="en-US" dirty="0" smtClean="0"/>
              <a:t>affiliation.</a:t>
            </a:r>
          </a:p>
          <a:p>
            <a:endParaRPr lang="en-US" dirty="0" smtClean="0"/>
          </a:p>
          <a:p>
            <a:r>
              <a:rPr lang="en-US" dirty="0" smtClean="0"/>
              <a:t>• SP 800-116—A Recommendation for the Use of PIV Credentials in Physical</a:t>
            </a:r>
          </a:p>
          <a:p>
            <a:r>
              <a:rPr lang="en-US" dirty="0" smtClean="0"/>
              <a:t>Access Control Systems (PACS): Describes a risk-based approach for selecting</a:t>
            </a:r>
          </a:p>
          <a:p>
            <a:r>
              <a:rPr lang="en-US" dirty="0" smtClean="0"/>
              <a:t>appropriate PIV authentication mechanisms to manage physical access to</a:t>
            </a:r>
          </a:p>
          <a:p>
            <a:r>
              <a:rPr lang="en-US" dirty="0" smtClean="0"/>
              <a:t>Federal government facilities and assets.</a:t>
            </a:r>
          </a:p>
          <a:p>
            <a:endParaRPr lang="en-US" dirty="0" smtClean="0"/>
          </a:p>
          <a:p>
            <a:r>
              <a:rPr lang="en-US" dirty="0" smtClean="0"/>
              <a:t>• SP 800-79-1—Guidelines for the Accreditation of Personal Identity</a:t>
            </a:r>
          </a:p>
          <a:p>
            <a:r>
              <a:rPr lang="en-US" dirty="0" smtClean="0"/>
              <a:t>Verification Card Issuers: Provides guidelines for accrediting the reliability</a:t>
            </a:r>
          </a:p>
          <a:p>
            <a:r>
              <a:rPr lang="en-US" dirty="0" smtClean="0"/>
              <a:t>of issuers of PIV cards that collect, store, and disseminate personal identity</a:t>
            </a:r>
          </a:p>
          <a:p>
            <a:r>
              <a:rPr lang="en-US" dirty="0" smtClean="0"/>
              <a:t>credentials and issue smart cards.</a:t>
            </a:r>
          </a:p>
          <a:p>
            <a:endParaRPr lang="en-US" dirty="0" smtClean="0"/>
          </a:p>
          <a:p>
            <a:r>
              <a:rPr lang="en-US" dirty="0" smtClean="0"/>
              <a:t>• SP 800-96—PIV Card to Reader Interoperability Guidelines: Provides</a:t>
            </a:r>
          </a:p>
          <a:p>
            <a:r>
              <a:rPr lang="en-US" dirty="0" smtClean="0"/>
              <a:t>requirements</a:t>
            </a:r>
            <a:r>
              <a:rPr lang="en-US" baseline="0" dirty="0" smtClean="0"/>
              <a:t> </a:t>
            </a:r>
            <a:r>
              <a:rPr lang="en-US" dirty="0" smtClean="0"/>
              <a:t>that facilitate interoperability between any card and any</a:t>
            </a:r>
          </a:p>
          <a:p>
            <a:r>
              <a:rPr lang="en-US" dirty="0" smtClean="0"/>
              <a:t>reader.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38</a:t>
            </a:fld>
            <a:endParaRPr lang="en-AU"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PIV card contains a number of mandatory and optional data elements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 as identity credentials with varying levels of strength and assurance. These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are used singly or in sets to authenticate the holder of the PIV card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achieve the level of assurance required for a particular activity or transaction.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mandatory data elements are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Personal Identification Number (PIN):  Required to activate the card for privileged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operation.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Cardholder Unique Identifier (CHUID):  Includes the Federal Agency Smart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 Number (FASC-N) and the Global Unique Identification Number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(GUID), which uniquely identify the card and the cardholder.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PIV Authentication Key:  Asymmetric key pair and corresponding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user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Two fingerprint templates:  For biometric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Electronic facial image: For biometric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Asymmetric Card Authentication Key: Asymmetric key pair and corresponding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used for card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Optional elements include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Digital Signature Key: Asymmetric key pair and corresponding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supports document signing and signing of data elements such 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CHUID.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Management Key: Asymmetric key pair and corresponding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supporting key establishment and transport.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Symmetric Card Authentication Key: For supporting physical access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PIV Card Application Administration Key: Symmetric key associated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card management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One or two iris images: For biometric authentication.</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39</a:t>
            </a:fld>
            <a:endParaRPr lang="en-AU"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Table 15.5 lists the algorithm and key size requirements for PIV key types.</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40</a:t>
            </a:fld>
            <a:endParaRPr lang="en-AU"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Using the electronic credentials resident on a PIV card, the card supports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following authentication mechanisms: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CHUID:  The cardholder is authenticated using the signed CHUID data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element on the card. The PIN is not required. This mechanism is useful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environments where a low level of assurance is acceptable and rapid contactless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is necessary.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Card Authentication Key: The PIV card is authenticated using the Card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Key in a challenge response protocol. The PIN is not required.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mechanism allows contact (via card reader) or contactless (via radio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waves) authentication of the PIV card without the holder’s active participation,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provides a low level of assurance.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BIO: The cardholder is authenticated by matching his or her fingerprint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sample(s) to the signed biometric data element in an environment without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human attendant in view. The PIN is required to activate the card. This mechanism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achieves a high level of assurance and requires the cardholder’s active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participation is submitting the PIN as well as the biometric sample.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BIO-A: The cardholder is authenticated by matching his or her fingerprint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sample(s) to the signed biometric data element in an environment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human attendant in view. The PIN is required to activate the card. This mechanism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achieves a very high level of assurance when coupled with full trust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validation of the biometric template retrieved from the card, and requires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cardholder’s active participation is submitting the PIN as well as the biometric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sample.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PKI: The cardholder is authenticated by demonstrating control of the PIV</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private key in a challenge response protocol that can be validated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the PIV authentication certificate. The PIN is required to activate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card. This mechanism achieves a very high level of identity assurance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requires the cardholder’s knowledge of the PIN.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each of the above use cases, except the symmetric Card Authentication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case, the source and the integrity of the corresponding PIV credential are validated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verifying the digital signature on the credential, with the signature being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provided by a trusted entity.</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41</a:t>
            </a:fld>
            <a:endParaRPr lang="en-AU"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variety of protocols can be constructed for each of these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types. SP-800-78-3 gives examples for each type.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15.9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illustrates an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scenario that includes the use of the PIV Authentication Key. This scenario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provides a high level of assurance. This scenario would be appropriate for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user who possesses a PIV card and seeks access to a computer resource.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computer, designated local system  in the figure, includes PIV application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software and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communicates to the card via an application program interface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enables the use of relatively high-level procedure calls. These high-level commands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converted into PIV commands that are issued to the card through a physical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interface via a card reader or via a wireless interface. In either case, SP-800-73 refers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card command interface as the PIV card edge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process begins when the local system detects the card either through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attached card reader or wirelessly. It then selects an application on the card for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local system then requests the public-key certificate for the card’s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PIV Authentication Key. If the certificate is valid (i.e., has a valid signature, has not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expired or been revoked), authentication continues. Otherwise the card is rejected.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next step is for the local system to request that the cardholder enter the PIN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card. If the submitted PIN matches the PIN stored on the card, the card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returns a positive acknowledgment; otherwise the card returns a failure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local system either continues or rejects the card accordingly. The next phase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challenge-response protocol. The local system sends a nonce to be signed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PIV, and the PIV returns the signature. The local system uses the PIV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to verify the signature. If the signature is valid, the cardholder is accepted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being identified. Otherwise the local system rejects the card.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scenario of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15.9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accomplishes three types of authentication.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combination of possession of the card and knowledge of the PIN service authenticates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cardholder. The PIV Authentication Key certificate validates the card’s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credentials. The challenge-response protocol authenticates the card.</a:t>
            </a:r>
            <a:endParaRPr lang="en-US" dirty="0"/>
          </a:p>
        </p:txBody>
      </p:sp>
      <p:sp>
        <p:nvSpPr>
          <p:cNvPr id="4" name="Slide Number Placeholder 3"/>
          <p:cNvSpPr>
            <a:spLocks noGrp="1"/>
          </p:cNvSpPr>
          <p:nvPr>
            <p:ph type="sldNum" sz="quarter" idx="10"/>
          </p:nvPr>
        </p:nvSpPr>
        <p:spPr/>
        <p:txBody>
          <a:bodyPr/>
          <a:lstStyle/>
          <a:p>
            <a:pPr>
              <a:defRPr/>
            </a:pPr>
            <a:fld id="{3E8C8940-1829-FC47-815A-DB45B35373A6}" type="slidenum">
              <a:rPr lang="en-AU" smtClean="0"/>
              <a:pPr>
                <a:defRPr/>
              </a:pPr>
              <a:t>42</a:t>
            </a:fld>
            <a:endParaRPr lang="en-AU"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43</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Chapter 15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6866"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a:lvl1pPr>
          </a:lstStyle>
          <a:p>
            <a:pPr>
              <a:defRPr/>
            </a:pPr>
            <a:endParaRPr lang="en-US" dirty="0"/>
          </a:p>
        </p:txBody>
      </p:sp>
      <p:sp>
        <p:nvSpPr>
          <p:cNvPr id="69" name="Rectangle 69"/>
          <p:cNvSpPr>
            <a:spLocks noGrp="1" noChangeArrowheads="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70" name="Rectangle 70"/>
          <p:cNvSpPr>
            <a:spLocks noGrp="1" noChangeArrowheads="1"/>
          </p:cNvSpPr>
          <p:nvPr>
            <p:ph type="sldNum" sz="quarter" idx="12"/>
          </p:nvPr>
        </p:nvSpPr>
        <p:spPr/>
        <p:txBody>
          <a:bodyPr/>
          <a:lstStyle>
            <a:lvl1pPr>
              <a:defRPr/>
            </a:lvl1pPr>
          </a:lstStyle>
          <a:p>
            <a:pPr>
              <a:defRPr/>
            </a:pPr>
            <a:fld id="{D023A0CB-93F4-1D47-94B0-4294FC675A7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67532D9-435A-4F45-A246-8042CC86402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7F121693-C560-4640-9943-90DDF7C5B8FA}"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BAFAE56F-1DE0-D044-A970-B9FDFEBB8877}"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7CA6632F-E24C-6C42-AEF6-51C3DB867D36}"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CE1E0A51-9C0C-384C-8402-31B12AF09FDB}"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D16B6A84-8EFF-5249-9B39-0587DC30F6E3}"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2553B22E-1ABA-3940-9E9E-B1CFEA224735}"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8DBBCFDA-328E-6445-AFB2-6DC88F2BFE86}"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84F126FA-08DC-8A48-A747-9FA65644B21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168169C9-AD08-DA4C-A834-5308E9D6953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75779"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75782"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3"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4"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5"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6"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7"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8"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9"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5790"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1"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2"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3"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4"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5"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6"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7"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8"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9"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0"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1"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2"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3"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4"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5"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6"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7"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8"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9"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0"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1"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2"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3"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4"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5"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6"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7"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8"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9"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0"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1"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2"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3"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4"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5"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6"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7"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8"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9"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75831"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2"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3"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4"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5"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6"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75838"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9"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0"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1"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5842"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5844"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      </a:t>
            </a:r>
            <a:endParaRPr lang="en-US" dirty="0"/>
          </a:p>
        </p:txBody>
      </p:sp>
      <p:sp>
        <p:nvSpPr>
          <p:cNvPr id="75845"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CE4F06B9-ACCC-CA4D-B4EF-17B084D1ECD9}" type="slidenum">
              <a:rPr lang="en-US"/>
              <a:pPr>
                <a:defRPr/>
              </a:pPr>
              <a:t>‹#›</a:t>
            </a:fld>
            <a:endParaRPr lang="en-US" dirty="0"/>
          </a:p>
        </p:txBody>
      </p:sp>
      <p:sp>
        <p:nvSpPr>
          <p:cNvPr id="75846"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5" Type="http://schemas.openxmlformats.org/officeDocument/2006/relationships/image" Target="../media/image21.pdf"/><Relationship Id="rId6" Type="http://schemas.openxmlformats.org/officeDocument/2006/relationships/image" Target="../media/image22.png"/><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5" Type="http://schemas.openxmlformats.org/officeDocument/2006/relationships/image" Target="../media/image25.pdf"/><Relationship Id="rId6" Type="http://schemas.openxmlformats.org/officeDocument/2006/relationships/image" Target="../media/image26.png"/><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7.pdf"/><Relationship Id="rId4" Type="http://schemas.openxmlformats.org/officeDocument/2006/relationships/image" Target="../media/image28.png"/><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df"/><Relationship Id="rId4" Type="http://schemas.openxmlformats.org/officeDocument/2006/relationships/image" Target="../media/image30.png"/><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9.xml"/><Relationship Id="rId4" Type="http://schemas.openxmlformats.org/officeDocument/2006/relationships/diagramLayout" Target="../diagrams/layout9.xml"/><Relationship Id="rId5" Type="http://schemas.openxmlformats.org/officeDocument/2006/relationships/diagramQuickStyle" Target="../diagrams/quickStyle9.xml"/><Relationship Id="rId6" Type="http://schemas.openxmlformats.org/officeDocument/2006/relationships/diagramColors" Target="../diagrams/colors9.xml"/><Relationship Id="rId7" Type="http://schemas.microsoft.com/office/2007/relationships/diagramDrawing" Target="../diagrams/drawing9.xml"/><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df"/><Relationship Id="rId4" Type="http://schemas.openxmlformats.org/officeDocument/2006/relationships/image" Target="../media/image32.png"/><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4" Type="http://schemas.openxmlformats.org/officeDocument/2006/relationships/oleObject" Target="mclaughlinkl:Desktop:Crypto6e%20Tables:T15-UserAuthentication.doc!OLE_LINK2" TargetMode="External"/><Relationship Id="rId1" Type="http://schemas.openxmlformats.org/officeDocument/2006/relationships/vmlDrawing" Target="../drawings/vmlDrawing1.vml"/><Relationship Id="rId2"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34.wmf"/></Relationships>
</file>

<file path=ppt/slides/_rels/slide32.xml.rels><?xml version="1.0" encoding="UTF-8" standalone="yes"?>
<Relationships xmlns="http://schemas.openxmlformats.org/package/2006/relationships"><Relationship Id="rId3" Type="http://schemas.openxmlformats.org/officeDocument/2006/relationships/image" Target="../media/image35.pdf"/><Relationship Id="rId4" Type="http://schemas.openxmlformats.org/officeDocument/2006/relationships/image" Target="../media/image36.png"/><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df"/><Relationship Id="rId4" Type="http://schemas.openxmlformats.org/officeDocument/2006/relationships/image" Target="../media/image38.png"/><Relationship Id="rId1" Type="http://schemas.openxmlformats.org/officeDocument/2006/relationships/slideLayout" Target="../slideLayouts/slideLayout1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0.xml"/><Relationship Id="rId4" Type="http://schemas.openxmlformats.org/officeDocument/2006/relationships/diagramLayout" Target="../diagrams/layout10.xml"/><Relationship Id="rId5" Type="http://schemas.openxmlformats.org/officeDocument/2006/relationships/diagramQuickStyle" Target="../diagrams/quickStyle10.xml"/><Relationship Id="rId6" Type="http://schemas.openxmlformats.org/officeDocument/2006/relationships/diagramColors" Target="../diagrams/colors10.xml"/><Relationship Id="rId7" Type="http://schemas.microsoft.com/office/2007/relationships/diagramDrawing" Target="../diagrams/drawing10.xml"/><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image" Target="../media/image39.pdf"/><Relationship Id="rId4" Type="http://schemas.openxmlformats.org/officeDocument/2006/relationships/image" Target="../media/image40.png"/><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41.pdf"/><Relationship Id="rId4" Type="http://schemas.openxmlformats.org/officeDocument/2006/relationships/image" Target="../media/image42.png"/><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4" Type="http://schemas.openxmlformats.org/officeDocument/2006/relationships/oleObject" Target="mclaughlinkl:Desktop:Crypto6e%20Tables:T15-UserAuthentication.doc!OLE_LINK3" TargetMode="External"/><Relationship Id="rId1" Type="http://schemas.openxmlformats.org/officeDocument/2006/relationships/vmlDrawing" Target="../drawings/vmlDrawing2.vml"/><Relationship Id="rId2"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44.pdf"/><Relationship Id="rId4" Type="http://schemas.openxmlformats.org/officeDocument/2006/relationships/image" Target="../media/image45.png"/><Relationship Id="rId1" Type="http://schemas.openxmlformats.org/officeDocument/2006/relationships/slideLayout" Target="../slideLayouts/slideLayout1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492875"/>
            <a:ext cx="5791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15</a:t>
            </a:r>
            <a:endParaRPr lang="en-US" dirty="0">
              <a:ea typeface="+mj-ea"/>
              <a:cs typeface="+mj-cs"/>
            </a:endParaRPr>
          </a:p>
        </p:txBody>
      </p:sp>
      <p:sp>
        <p:nvSpPr>
          <p:cNvPr id="30723" name="Subtitle 13"/>
          <p:cNvSpPr>
            <a:spLocks noGrp="1"/>
          </p:cNvSpPr>
          <p:nvPr>
            <p:ph type="subTitle" idx="1"/>
          </p:nvPr>
        </p:nvSpPr>
        <p:spPr>
          <a:xfrm>
            <a:off x="1524000" y="5203825"/>
            <a:ext cx="6096000" cy="852488"/>
          </a:xfrm>
        </p:spPr>
        <p:txBody>
          <a:bodyPr>
            <a:normAutofit/>
          </a:bodyPr>
          <a:lstStyle/>
          <a:p>
            <a:r>
              <a:rPr lang="en-US" sz="3600" dirty="0" smtClean="0"/>
              <a:t>User Authentication</a:t>
            </a:r>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6096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0" y="39688"/>
            <a:ext cx="9143999" cy="1412875"/>
          </a:xfrm>
        </p:spPr>
        <p:txBody>
          <a:bodyPr/>
          <a:lstStyle/>
          <a:p>
            <a:r>
              <a:rPr lang="en-GB" dirty="0" smtClean="0"/>
              <a:t>Remote User-Authentication Principles</a:t>
            </a:r>
            <a:endParaRPr lang="en-AU" dirty="0"/>
          </a:p>
        </p:txBody>
      </p:sp>
      <p:sp>
        <p:nvSpPr>
          <p:cNvPr id="6" name="Content Placeholder 5"/>
          <p:cNvSpPr>
            <a:spLocks noGrp="1"/>
          </p:cNvSpPr>
          <p:nvPr>
            <p:ph idx="1"/>
          </p:nvPr>
        </p:nvSpPr>
        <p:spPr>
          <a:xfrm>
            <a:off x="762000" y="1828800"/>
            <a:ext cx="7570787" cy="1752600"/>
          </a:xfrm>
        </p:spPr>
        <p:txBody>
          <a:bodyPr>
            <a:normAutofit fontScale="92500"/>
          </a:bodyPr>
          <a:lstStyle/>
          <a:p>
            <a:r>
              <a:rPr lang="en-US" dirty="0" smtClean="0"/>
              <a:t>The process of verifying an identity claimed by or for a system entity</a:t>
            </a:r>
          </a:p>
          <a:p>
            <a:r>
              <a:rPr lang="en-US" dirty="0" smtClean="0"/>
              <a:t>An authentication process consists of two steps:</a:t>
            </a:r>
          </a:p>
          <a:p>
            <a:endParaRPr lang="en-US" dirty="0" smtClean="0"/>
          </a:p>
        </p:txBody>
      </p:sp>
      <p:graphicFrame>
        <p:nvGraphicFramePr>
          <p:cNvPr id="4" name="Diagram 3"/>
          <p:cNvGraphicFramePr/>
          <p:nvPr/>
        </p:nvGraphicFramePr>
        <p:xfrm>
          <a:off x="1524000" y="3200400"/>
          <a:ext cx="7086600" cy="3657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029200" cy="365125"/>
          </a:xfrm>
        </p:spPr>
        <p:txBody>
          <a:bodyPr/>
          <a:lstStyle/>
          <a:p>
            <a:pPr>
              <a:defRPr/>
            </a:pPr>
            <a:r>
              <a:rPr lang="en-US" sz="1050" dirty="0" smtClean="0"/>
              <a:t>© 2017 Pearson Education, Inc., Hoboken, NJ. All rights reserved.      </a:t>
            </a:r>
            <a:endParaRPr lang="en-US" sz="1050" dirty="0"/>
          </a:p>
        </p:txBody>
      </p:sp>
      <p:pic>
        <p:nvPicPr>
          <p:cNvPr id="5" name="Picture 4" descr="f01.pdf"/>
          <p:cNvPicPr>
            <a:picLocks noChangeAspect="1"/>
          </p:cNvPicPr>
          <p:nvPr/>
        </p:nvPicPr>
        <mc:AlternateContent>
          <mc:Choice xmlns:ma="http://schemas.microsoft.com/office/mac/drawingml/2008/main" Requires="ma">
            <p:blipFill>
              <a:blip r:embed="rId3"/>
              <a:srcRect t="20000" b="28182"/>
              <a:stretch>
                <a:fillRect/>
              </a:stretch>
            </p:blipFill>
          </mc:Choice>
          <mc:Fallback>
            <p:blipFill>
              <a:blip r:embed="rId4"/>
              <a:srcRect t="20000" b="28182"/>
              <a:stretch>
                <a:fillRect/>
              </a:stretch>
            </p:blipFill>
          </mc:Fallback>
        </mc:AlternateContent>
        <p:spPr>
          <a:xfrm>
            <a:off x="-152400" y="152400"/>
            <a:ext cx="9535618" cy="639450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0" y="39688"/>
            <a:ext cx="9143999" cy="1412875"/>
          </a:xfrm>
        </p:spPr>
        <p:txBody>
          <a:bodyPr/>
          <a:lstStyle/>
          <a:p>
            <a:r>
              <a:rPr lang="en-US" dirty="0" smtClean="0"/>
              <a:t>Means of </a:t>
            </a:r>
            <a:r>
              <a:rPr lang="en-GB" dirty="0" smtClean="0"/>
              <a:t>User Authentication</a:t>
            </a:r>
            <a:r>
              <a:rPr lang="en-US" dirty="0" smtClean="0"/>
              <a:t> </a:t>
            </a:r>
            <a:endParaRPr lang="en-US" dirty="0"/>
          </a:p>
        </p:txBody>
      </p:sp>
      <p:sp>
        <p:nvSpPr>
          <p:cNvPr id="10" name="Content Placeholder 9"/>
          <p:cNvSpPr>
            <a:spLocks noGrp="1"/>
          </p:cNvSpPr>
          <p:nvPr>
            <p:ph idx="1"/>
          </p:nvPr>
        </p:nvSpPr>
        <p:spPr>
          <a:xfrm>
            <a:off x="685800" y="1600200"/>
            <a:ext cx="7848600" cy="4943475"/>
          </a:xfrm>
        </p:spPr>
        <p:txBody>
          <a:bodyPr>
            <a:normAutofit fontScale="77500" lnSpcReduction="20000"/>
          </a:bodyPr>
          <a:lstStyle/>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endParaRPr lang="en-US" sz="2857" dirty="0" smtClean="0">
              <a:cs typeface="ＭＳ Ｐゴシック" pitchFamily="-84" charset="-128"/>
            </a:endParaRPr>
          </a:p>
          <a:p>
            <a:pPr marL="342900" lvl="2" indent="-342900">
              <a:spcBef>
                <a:spcPts val="2400"/>
              </a:spcBef>
            </a:pPr>
            <a:r>
              <a:rPr lang="en-US" sz="2857" dirty="0" smtClean="0">
                <a:cs typeface="ＭＳ Ｐゴシック" pitchFamily="-84" charset="-128"/>
              </a:rPr>
              <a:t>For network-based user authentication, the most important methods involve cryptographic keys and something the individual knows, such as a password</a:t>
            </a:r>
          </a:p>
        </p:txBody>
      </p:sp>
      <p:graphicFrame>
        <p:nvGraphicFramePr>
          <p:cNvPr id="4" name="Diagram 3"/>
          <p:cNvGraphicFramePr/>
          <p:nvPr/>
        </p:nvGraphicFramePr>
        <p:xfrm>
          <a:off x="1219200" y="1752600"/>
          <a:ext cx="7162800" cy="3708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7010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smtClean="0"/>
              <a:t>Mutual Authentication</a:t>
            </a:r>
            <a:endParaRPr lang="en-AU" dirty="0"/>
          </a:p>
        </p:txBody>
      </p:sp>
      <p:sp>
        <p:nvSpPr>
          <p:cNvPr id="6" name="Content Placeholder 5"/>
          <p:cNvSpPr>
            <a:spLocks noGrp="1"/>
          </p:cNvSpPr>
          <p:nvPr>
            <p:ph idx="1"/>
          </p:nvPr>
        </p:nvSpPr>
        <p:spPr>
          <a:xfrm>
            <a:off x="685800" y="1524000"/>
            <a:ext cx="7772399" cy="1066800"/>
          </a:xfrm>
        </p:spPr>
        <p:txBody>
          <a:bodyPr>
            <a:normAutofit fontScale="92500" lnSpcReduction="20000"/>
          </a:bodyPr>
          <a:lstStyle/>
          <a:p>
            <a:r>
              <a:rPr lang="en-US" dirty="0" smtClean="0"/>
              <a:t>Protocols which enable communicating parties to satisfy themselves mutually about each other’s identity and to exchange session keys</a:t>
            </a:r>
          </a:p>
        </p:txBody>
      </p:sp>
      <p:graphicFrame>
        <p:nvGraphicFramePr>
          <p:cNvPr id="4" name="Diagram 3"/>
          <p:cNvGraphicFramePr/>
          <p:nvPr/>
        </p:nvGraphicFramePr>
        <p:xfrm>
          <a:off x="304800" y="2590800"/>
          <a:ext cx="8686800" cy="3886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4876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smtClean="0"/>
              <a:t>Replay Attacks</a:t>
            </a:r>
            <a:endParaRPr lang="en-AU" dirty="0"/>
          </a:p>
        </p:txBody>
      </p:sp>
      <p:sp>
        <p:nvSpPr>
          <p:cNvPr id="6" name="Content Placeholder 5"/>
          <p:cNvSpPr>
            <a:spLocks noGrp="1"/>
          </p:cNvSpPr>
          <p:nvPr>
            <p:ph idx="1"/>
          </p:nvPr>
        </p:nvSpPr>
        <p:spPr>
          <a:xfrm>
            <a:off x="762000" y="1828800"/>
            <a:ext cx="7570787" cy="4800600"/>
          </a:xfrm>
        </p:spPr>
        <p:txBody>
          <a:bodyPr>
            <a:normAutofit fontScale="77500" lnSpcReduction="20000"/>
          </a:bodyPr>
          <a:lstStyle/>
          <a:p>
            <a:pPr>
              <a:buNone/>
            </a:pPr>
            <a:r>
              <a:rPr lang="en-US" dirty="0" smtClean="0"/>
              <a:t>1. The simplest replay attack is one in which the opponent simply copies a message and replays it later</a:t>
            </a:r>
          </a:p>
          <a:p>
            <a:pPr>
              <a:buNone/>
            </a:pPr>
            <a:r>
              <a:rPr lang="en-US" dirty="0" smtClean="0"/>
              <a:t>2. An opponent can replay a timestamped message within the valid time window</a:t>
            </a:r>
          </a:p>
          <a:p>
            <a:pPr>
              <a:buNone/>
            </a:pPr>
            <a:r>
              <a:rPr lang="en-US" dirty="0" smtClean="0"/>
              <a:t>3. An opponent can replay a timestamped message within the valid time window, but in addition, the opponent suppresses the original message; thus, the repetition cannot be detected</a:t>
            </a:r>
          </a:p>
          <a:p>
            <a:pPr>
              <a:buNone/>
            </a:pPr>
            <a:r>
              <a:rPr lang="en-US" dirty="0" smtClean="0"/>
              <a:t>4. Another attack involves a backward replay without modification and is possible if symmetric encryption is used and the sender cannot easily recognize the difference between messages sent and messages received on the basis of content</a:t>
            </a:r>
            <a:endParaRPr lang="en-US" dirty="0"/>
          </a:p>
        </p:txBody>
      </p:sp>
      <p:sp>
        <p:nvSpPr>
          <p:cNvPr id="4" name="Footer Placeholder 3"/>
          <p:cNvSpPr>
            <a:spLocks noGrp="1"/>
          </p:cNvSpPr>
          <p:nvPr>
            <p:ph type="ftr" sz="quarter" idx="11"/>
          </p:nvPr>
        </p:nvSpPr>
        <p:spPr>
          <a:xfrm>
            <a:off x="0" y="6492875"/>
            <a:ext cx="6858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smtClean="0"/>
              <a:t>Approaches to Coping With Replay Attacks</a:t>
            </a:r>
            <a:endParaRPr lang="en-AU" dirty="0"/>
          </a:p>
        </p:txBody>
      </p:sp>
      <p:sp>
        <p:nvSpPr>
          <p:cNvPr id="6" name="Content Placeholder 5"/>
          <p:cNvSpPr>
            <a:spLocks noGrp="1"/>
          </p:cNvSpPr>
          <p:nvPr>
            <p:ph idx="1"/>
          </p:nvPr>
        </p:nvSpPr>
        <p:spPr>
          <a:xfrm>
            <a:off x="609600" y="1600200"/>
            <a:ext cx="7848600" cy="5105400"/>
          </a:xfrm>
        </p:spPr>
        <p:txBody>
          <a:bodyPr>
            <a:normAutofit fontScale="70000" lnSpcReduction="20000"/>
          </a:bodyPr>
          <a:lstStyle/>
          <a:p>
            <a:r>
              <a:rPr lang="en-US" dirty="0" smtClean="0"/>
              <a:t>Attach a sequence number to each message used in an authentication exchange</a:t>
            </a:r>
          </a:p>
          <a:p>
            <a:pPr lvl="1"/>
            <a:r>
              <a:rPr lang="en-US" dirty="0" smtClean="0"/>
              <a:t>A new message is accepted only if its sequence number is in the proper order</a:t>
            </a:r>
          </a:p>
          <a:p>
            <a:pPr lvl="1"/>
            <a:r>
              <a:rPr lang="en-US" dirty="0" smtClean="0"/>
              <a:t>Difficulty with this approach is that it requires each party to keep track of the last sequence number for each claimant it has dealt with</a:t>
            </a:r>
          </a:p>
          <a:p>
            <a:pPr lvl="1"/>
            <a:r>
              <a:rPr lang="en-US" dirty="0" smtClean="0"/>
              <a:t>Generally not used for authentication and key exchange because of overhead</a:t>
            </a:r>
          </a:p>
          <a:p>
            <a:pPr marL="342900" lvl="1" indent="-342900">
              <a:spcBef>
                <a:spcPts val="2400"/>
              </a:spcBef>
              <a:buClr>
                <a:srgbClr val="BAABE3"/>
              </a:buClr>
            </a:pPr>
            <a:r>
              <a:rPr lang="en-US" sz="2800" dirty="0" smtClean="0">
                <a:cs typeface="ＭＳ Ｐゴシック" pitchFamily="-84" charset="-128"/>
              </a:rPr>
              <a:t>Timestamps</a:t>
            </a:r>
          </a:p>
          <a:p>
            <a:pPr lvl="1"/>
            <a:r>
              <a:rPr lang="en-US" sz="2581" dirty="0" smtClean="0"/>
              <a:t>Requires that clocks among the various participants be synchronized</a:t>
            </a:r>
          </a:p>
          <a:p>
            <a:pPr lvl="1"/>
            <a:r>
              <a:rPr lang="en-US" sz="2571" dirty="0" smtClean="0"/>
              <a:t> Party A accepts a message as fresh only if the message contains a timestamp  that, in A’s judgment, is close enough to A’s knowledge of current time</a:t>
            </a:r>
          </a:p>
          <a:p>
            <a:pPr marL="342900" lvl="1" indent="-342900">
              <a:spcBef>
                <a:spcPts val="2400"/>
              </a:spcBef>
              <a:buClr>
                <a:srgbClr val="BAABE3"/>
              </a:buClr>
            </a:pPr>
            <a:r>
              <a:rPr lang="en-US" sz="2800" dirty="0" smtClean="0">
                <a:cs typeface="ＭＳ Ｐゴシック" pitchFamily="-84" charset="-128"/>
              </a:rPr>
              <a:t>Challenge/response</a:t>
            </a:r>
          </a:p>
          <a:p>
            <a:pPr lvl="1"/>
            <a:r>
              <a:rPr lang="en-US" sz="2545" dirty="0" smtClean="0"/>
              <a:t> Party A, expecting a fresh message from B, first sends B a nonce  (challenge) and requires that the subsequent message (response) received from B contain the correct nonce value</a:t>
            </a:r>
          </a:p>
        </p:txBody>
      </p:sp>
      <p:sp>
        <p:nvSpPr>
          <p:cNvPr id="4" name="Footer Placeholder 3"/>
          <p:cNvSpPr>
            <a:spLocks noGrp="1"/>
          </p:cNvSpPr>
          <p:nvPr>
            <p:ph type="ftr" sz="quarter" idx="11"/>
          </p:nvPr>
        </p:nvSpPr>
        <p:spPr>
          <a:xfrm>
            <a:off x="0" y="6492875"/>
            <a:ext cx="5257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One-Way Authentication</a:t>
            </a:r>
            <a:endParaRPr lang="en-US" dirty="0"/>
          </a:p>
        </p:txBody>
      </p:sp>
      <p:graphicFrame>
        <p:nvGraphicFramePr>
          <p:cNvPr id="4" name="Content Placeholder 3"/>
          <p:cNvGraphicFramePr>
            <a:graphicFrameLocks noGrp="1"/>
          </p:cNvGraphicFramePr>
          <p:nvPr>
            <p:ph idx="1"/>
          </p:nvPr>
        </p:nvGraphicFramePr>
        <p:xfrm>
          <a:off x="609600" y="1676400"/>
          <a:ext cx="7924800" cy="4800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096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39688"/>
            <a:ext cx="9143999" cy="1412875"/>
          </a:xfrm>
        </p:spPr>
        <p:txBody>
          <a:bodyPr/>
          <a:lstStyle/>
          <a:p>
            <a:pPr>
              <a:lnSpc>
                <a:spcPts val="4700"/>
              </a:lnSpc>
            </a:pPr>
            <a:r>
              <a:rPr lang="en-US" sz="4800" dirty="0" smtClean="0"/>
              <a:t>Remote User-Authentication Using Symmetric Encryption</a:t>
            </a:r>
            <a:endParaRPr lang="en-AU" sz="4800" dirty="0"/>
          </a:p>
        </p:txBody>
      </p:sp>
      <p:graphicFrame>
        <p:nvGraphicFramePr>
          <p:cNvPr id="4" name="Content Placeholder 3"/>
          <p:cNvGraphicFramePr>
            <a:graphicFrameLocks noGrp="1"/>
          </p:cNvGraphicFramePr>
          <p:nvPr>
            <p:ph idx="1"/>
          </p:nvPr>
        </p:nvGraphicFramePr>
        <p:xfrm>
          <a:off x="838200" y="1828800"/>
          <a:ext cx="7570787" cy="46386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4770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Suppress-Replay Attacks</a:t>
            </a:r>
            <a:endParaRPr lang="en-US" dirty="0"/>
          </a:p>
        </p:txBody>
      </p:sp>
      <p:sp>
        <p:nvSpPr>
          <p:cNvPr id="7" name="Content Placeholder 6"/>
          <p:cNvSpPr>
            <a:spLocks noGrp="1"/>
          </p:cNvSpPr>
          <p:nvPr>
            <p:ph idx="1"/>
          </p:nvPr>
        </p:nvSpPr>
        <p:spPr>
          <a:xfrm>
            <a:off x="792163" y="1762125"/>
            <a:ext cx="7570787" cy="4714875"/>
          </a:xfrm>
        </p:spPr>
        <p:txBody>
          <a:bodyPr>
            <a:normAutofit fontScale="85000" lnSpcReduction="10000"/>
          </a:bodyPr>
          <a:lstStyle/>
          <a:p>
            <a:r>
              <a:rPr lang="en-US" dirty="0" smtClean="0"/>
              <a:t>The Denning protocol requires reliance on clocks that are synchronized throughout the network</a:t>
            </a:r>
          </a:p>
          <a:p>
            <a:r>
              <a:rPr lang="en-US" dirty="0" smtClean="0"/>
              <a:t>A risk involved is based on the fact that the distributed clocks can become unsynchronized as a result of sabotage on or faults in the clocks or the synchronization mechanism</a:t>
            </a:r>
          </a:p>
          <a:p>
            <a:r>
              <a:rPr lang="en-US" dirty="0" smtClean="0"/>
              <a:t>The problem occurs when a sender’s clock is ahead of the intended recipient’s clock</a:t>
            </a:r>
          </a:p>
          <a:p>
            <a:pPr lvl="1"/>
            <a:r>
              <a:rPr lang="en-US" dirty="0" smtClean="0"/>
              <a:t>An opponent can intercept a message from the sender and replay it later when the timestamp in the message becomes current at the recipient’s site</a:t>
            </a:r>
          </a:p>
          <a:p>
            <a:pPr lvl="1"/>
            <a:r>
              <a:rPr lang="en-US" dirty="0" smtClean="0"/>
              <a:t>Such attacks are referred to as </a:t>
            </a:r>
            <a:r>
              <a:rPr lang="en-US" i="1" dirty="0" smtClean="0"/>
              <a:t>suppress-replay attacks</a:t>
            </a:r>
            <a:endParaRPr lang="en-US" dirty="0" smtClean="0"/>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AU" dirty="0" smtClean="0"/>
              <a:t>Kerberos</a:t>
            </a:r>
            <a:endParaRPr lang="en-AU" dirty="0"/>
          </a:p>
        </p:txBody>
      </p:sp>
      <p:sp>
        <p:nvSpPr>
          <p:cNvPr id="6" name="Content Placeholder 5"/>
          <p:cNvSpPr>
            <a:spLocks noGrp="1"/>
          </p:cNvSpPr>
          <p:nvPr>
            <p:ph idx="1"/>
          </p:nvPr>
        </p:nvSpPr>
        <p:spPr>
          <a:xfrm>
            <a:off x="792163" y="1762125"/>
            <a:ext cx="7570787" cy="4638675"/>
          </a:xfrm>
        </p:spPr>
        <p:txBody>
          <a:bodyPr>
            <a:normAutofit fontScale="70000" lnSpcReduction="20000"/>
          </a:bodyPr>
          <a:lstStyle/>
          <a:p>
            <a:r>
              <a:rPr lang="en-US" dirty="0" smtClean="0"/>
              <a:t>Authentication service developed as part of Project Athena at MIT</a:t>
            </a:r>
          </a:p>
          <a:p>
            <a:r>
              <a:rPr lang="en-US" dirty="0" smtClean="0"/>
              <a:t>A workstation cannot be trusted to identify its users correctly to network services</a:t>
            </a:r>
          </a:p>
          <a:p>
            <a:pPr lvl="1"/>
            <a:r>
              <a:rPr lang="en-US" dirty="0" smtClean="0"/>
              <a:t>A user may gain access to a particular workstation and pretend to be another user operating from that workstation</a:t>
            </a:r>
          </a:p>
          <a:p>
            <a:pPr lvl="1"/>
            <a:r>
              <a:rPr lang="en-US" dirty="0" smtClean="0"/>
              <a:t>A user may alter the network address of a workstation so that the requests sent from the altered workstation appear to come from the impersonated workstation</a:t>
            </a:r>
          </a:p>
          <a:p>
            <a:pPr lvl="1"/>
            <a:r>
              <a:rPr lang="en-US" dirty="0" smtClean="0"/>
              <a:t>A user may eavesdrop on exchanges and use a replay attack to gain entrance to a server or to disrupt operations</a:t>
            </a:r>
          </a:p>
          <a:p>
            <a:pPr marL="342900" lvl="1" indent="-342900">
              <a:spcBef>
                <a:spcPts val="2400"/>
              </a:spcBef>
              <a:buClr>
                <a:srgbClr val="BAABE3"/>
              </a:buClr>
            </a:pPr>
            <a:r>
              <a:rPr lang="en-US" sz="2839" dirty="0" smtClean="0">
                <a:cs typeface="ＭＳ Ｐゴシック" pitchFamily="-84" charset="-128"/>
              </a:rPr>
              <a:t>Kerberos provides a centralized authentication server whose function is to authenticate users to servers and servers to users</a:t>
            </a:r>
          </a:p>
          <a:p>
            <a:pPr lvl="1"/>
            <a:r>
              <a:rPr lang="en-US" sz="2560" dirty="0" smtClean="0"/>
              <a:t>Relies exclusively on symmetric encryption, making no use of public-key encryption</a:t>
            </a:r>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AU" dirty="0" smtClean="0"/>
              <a:t>Kerberos Requirements</a:t>
            </a:r>
            <a:endParaRPr lang="en-AU" dirty="0"/>
          </a:p>
        </p:txBody>
      </p:sp>
      <p:sp>
        <p:nvSpPr>
          <p:cNvPr id="6" name="Content Placeholder 5"/>
          <p:cNvSpPr>
            <a:spLocks noGrp="1"/>
          </p:cNvSpPr>
          <p:nvPr>
            <p:ph idx="1"/>
          </p:nvPr>
        </p:nvSpPr>
        <p:spPr>
          <a:xfrm>
            <a:off x="838200" y="1676400"/>
            <a:ext cx="7570787" cy="828675"/>
          </a:xfrm>
        </p:spPr>
        <p:txBody>
          <a:bodyPr>
            <a:normAutofit fontScale="92500" lnSpcReduction="10000"/>
          </a:bodyPr>
          <a:lstStyle/>
          <a:p>
            <a:r>
              <a:rPr lang="en-US" dirty="0" smtClean="0"/>
              <a:t>The first published report on Kerberos listed the following requirements:</a:t>
            </a:r>
          </a:p>
        </p:txBody>
      </p:sp>
      <p:graphicFrame>
        <p:nvGraphicFramePr>
          <p:cNvPr id="4" name="Diagram 3"/>
          <p:cNvGraphicFramePr/>
          <p:nvPr/>
        </p:nvGraphicFramePr>
        <p:xfrm>
          <a:off x="609600" y="2590800"/>
          <a:ext cx="8305800" cy="4064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AU" dirty="0" smtClean="0"/>
              <a:t>Kerberos Version 4</a:t>
            </a:r>
            <a:endParaRPr lang="en-AU" dirty="0"/>
          </a:p>
        </p:txBody>
      </p:sp>
      <p:sp>
        <p:nvSpPr>
          <p:cNvPr id="8" name="Content Placeholder 7"/>
          <p:cNvSpPr>
            <a:spLocks noGrp="1"/>
          </p:cNvSpPr>
          <p:nvPr>
            <p:ph idx="1"/>
          </p:nvPr>
        </p:nvSpPr>
        <p:spPr>
          <a:xfrm>
            <a:off x="792163" y="1762125"/>
            <a:ext cx="7570787" cy="5095875"/>
          </a:xfrm>
        </p:spPr>
        <p:txBody>
          <a:bodyPr>
            <a:normAutofit fontScale="62500" lnSpcReduction="20000"/>
          </a:bodyPr>
          <a:lstStyle/>
          <a:p>
            <a:r>
              <a:rPr lang="en-US" dirty="0" smtClean="0"/>
              <a:t>Makes use of DES to provide the authentication service</a:t>
            </a:r>
          </a:p>
          <a:p>
            <a:r>
              <a:rPr lang="en-US" dirty="0" smtClean="0"/>
              <a:t>Authentication server (AS)</a:t>
            </a:r>
          </a:p>
          <a:p>
            <a:pPr lvl="1"/>
            <a:r>
              <a:rPr lang="en-US" dirty="0" smtClean="0"/>
              <a:t>Knows the passwords of all users and stores these in a centralized database</a:t>
            </a:r>
          </a:p>
          <a:p>
            <a:pPr lvl="1"/>
            <a:r>
              <a:rPr lang="en-US" dirty="0" smtClean="0"/>
              <a:t>Shares a unique secret key with each server</a:t>
            </a:r>
          </a:p>
          <a:p>
            <a:pPr marL="520700" indent="-514350"/>
            <a:r>
              <a:rPr lang="en-US" dirty="0" smtClean="0"/>
              <a:t>Ticket </a:t>
            </a:r>
          </a:p>
          <a:p>
            <a:pPr lvl="1"/>
            <a:r>
              <a:rPr lang="en-US" dirty="0" smtClean="0"/>
              <a:t>Created once the AS accepts the user as authentic; contains the user’s ID and network address and the server’s ID</a:t>
            </a:r>
          </a:p>
          <a:p>
            <a:pPr lvl="1"/>
            <a:r>
              <a:rPr lang="en-US" dirty="0" smtClean="0"/>
              <a:t>Encrypted using the secret key shared by the AS and the server</a:t>
            </a:r>
          </a:p>
          <a:p>
            <a:pPr marL="342900" lvl="1" indent="-342900">
              <a:spcBef>
                <a:spcPts val="2400"/>
              </a:spcBef>
              <a:buClr>
                <a:srgbClr val="BAABE3"/>
              </a:buClr>
            </a:pPr>
            <a:r>
              <a:rPr lang="en-US" sz="2839" dirty="0" smtClean="0">
                <a:cs typeface="ＭＳ Ｐゴシック" pitchFamily="-84" charset="-128"/>
              </a:rPr>
              <a:t>Ticket-granting server (TGS)</a:t>
            </a:r>
          </a:p>
          <a:p>
            <a:pPr lvl="1"/>
            <a:r>
              <a:rPr lang="en-US" sz="2581" dirty="0" smtClean="0"/>
              <a:t>Issues tickets to users who have been authenticated to AS</a:t>
            </a:r>
          </a:p>
          <a:p>
            <a:pPr lvl="1"/>
            <a:r>
              <a:rPr lang="en-US" sz="2581" dirty="0" smtClean="0"/>
              <a:t>Each time the user requires access to a new service the client applies to the TGS using the ticket to authenticate itself</a:t>
            </a:r>
          </a:p>
          <a:p>
            <a:pPr lvl="1"/>
            <a:r>
              <a:rPr lang="en-US" sz="2581" dirty="0" smtClean="0"/>
              <a:t>The TGS then grants a ticket for the particular service</a:t>
            </a:r>
          </a:p>
          <a:p>
            <a:pPr lvl="1"/>
            <a:r>
              <a:rPr lang="en-US" sz="2581" dirty="0" smtClean="0"/>
              <a:t>The client saves each service-granting ticket and uses it to authenticate its user to a server each time a particular service is requested</a:t>
            </a:r>
          </a:p>
          <a:p>
            <a:endParaRPr lang="en-US" dirty="0"/>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Version 4 Authentication Dialogue</a:t>
            </a:r>
            <a:endParaRPr lang="en-US" dirty="0"/>
          </a:p>
        </p:txBody>
      </p:sp>
      <p:graphicFrame>
        <p:nvGraphicFramePr>
          <p:cNvPr id="14" name="Content Placeholder 13"/>
          <p:cNvGraphicFramePr>
            <a:graphicFrameLocks noGrp="1"/>
          </p:cNvGraphicFramePr>
          <p:nvPr>
            <p:ph idx="1"/>
          </p:nvPr>
        </p:nvGraphicFramePr>
        <p:xfrm>
          <a:off x="838200" y="1905000"/>
          <a:ext cx="7570787" cy="45624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rcRect t="5347"/>
              <a:stretch>
                <a:fillRect/>
              </a:stretch>
            </p:blipFill>
          </mc:Choice>
          <mc:Fallback>
            <p:blipFill>
              <a:blip r:embed="rId4"/>
              <a:srcRect t="5347"/>
              <a:stretch>
                <a:fillRect/>
              </a:stretch>
            </p:blipFill>
          </mc:Fallback>
        </mc:AlternateContent>
        <p:spPr>
          <a:xfrm>
            <a:off x="990600" y="762000"/>
            <a:ext cx="7467597" cy="5974096"/>
          </a:xfrm>
          <a:prstGeom prst="rect">
            <a:avLst/>
          </a:prstGeom>
        </p:spPr>
      </p:pic>
      <p:sp>
        <p:nvSpPr>
          <p:cNvPr id="5" name="Rectangle 4"/>
          <p:cNvSpPr/>
          <p:nvPr/>
        </p:nvSpPr>
        <p:spPr>
          <a:xfrm>
            <a:off x="0" y="0"/>
            <a:ext cx="9144000" cy="1077218"/>
          </a:xfrm>
          <a:prstGeom prst="rect">
            <a:avLst/>
          </a:prstGeom>
        </p:spPr>
        <p:txBody>
          <a:bodyPr wrap="square">
            <a:spAutoFit/>
          </a:bodyPr>
          <a:lstStyle/>
          <a:p>
            <a:pPr algn="ctr"/>
            <a:r>
              <a:rPr lang="en-US" sz="3200" dirty="0" smtClean="0">
                <a:latin typeface="+mn-lt"/>
              </a:rPr>
              <a:t>			Table </a:t>
            </a:r>
            <a:r>
              <a:rPr lang="en-US" sz="3200" dirty="0">
                <a:latin typeface="+mn-lt"/>
              </a:rPr>
              <a:t>15.1</a:t>
            </a:r>
            <a:r>
              <a:rPr lang="en-US" sz="3200" dirty="0" smtClean="0">
                <a:latin typeface="+mn-lt"/>
              </a:rPr>
              <a:t>    </a:t>
            </a:r>
            <a:r>
              <a:rPr lang="en-US" sz="1400" dirty="0" smtClean="0">
                <a:latin typeface="+mn-lt"/>
              </a:rPr>
              <a:t>(page</a:t>
            </a:r>
            <a:r>
              <a:rPr lang="en-US" sz="1400" dirty="0" smtClean="0">
                <a:latin typeface="+mn-lt"/>
              </a:rPr>
              <a:t> 470 in </a:t>
            </a:r>
            <a:r>
              <a:rPr lang="en-US" sz="1400" dirty="0" smtClean="0">
                <a:latin typeface="+mn-lt"/>
              </a:rPr>
              <a:t>textbook)</a:t>
            </a:r>
            <a:endParaRPr lang="en-US" sz="3200" dirty="0" smtClean="0">
              <a:latin typeface="+mn-lt"/>
            </a:endParaRPr>
          </a:p>
          <a:p>
            <a:pPr algn="ctr"/>
            <a:r>
              <a:rPr lang="en-US" sz="3200" dirty="0" smtClean="0">
                <a:latin typeface="+mn-lt"/>
              </a:rPr>
              <a:t>Summary </a:t>
            </a:r>
            <a:r>
              <a:rPr lang="en-US" sz="3200" dirty="0">
                <a:latin typeface="+mn-lt"/>
              </a:rPr>
              <a:t>of Kerberos Version 4 Message Exchanges</a:t>
            </a:r>
            <a:r>
              <a:rPr lang="en-US" sz="3200" dirty="0" smtClean="0">
                <a:latin typeface="+mn-lt"/>
              </a:rPr>
              <a:t> </a:t>
            </a:r>
            <a:endParaRPr lang="en-US" sz="3200" dirty="0">
              <a:latin typeface="+mn-lt"/>
            </a:endParaRPr>
          </a:p>
        </p:txBody>
      </p:sp>
      <p:sp>
        <p:nvSpPr>
          <p:cNvPr id="6" name="Footer Placeholder 5"/>
          <p:cNvSpPr>
            <a:spLocks noGrp="1"/>
          </p:cNvSpPr>
          <p:nvPr>
            <p:ph type="ftr" sz="quarter" idx="11"/>
          </p:nvPr>
        </p:nvSpPr>
        <p:spPr>
          <a:xfrm>
            <a:off x="0" y="6492875"/>
            <a:ext cx="5486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pic>
        <p:nvPicPr>
          <p:cNvPr id="5" name="Picture 4" descr="f02.pdf"/>
          <p:cNvPicPr>
            <a:picLocks noChangeAspect="1"/>
          </p:cNvPicPr>
          <p:nvPr/>
        </p:nvPicPr>
        <mc:AlternateContent>
          <mc:Choice xmlns:ma="http://schemas.microsoft.com/office/mac/drawingml/2008/main" Requires="ma">
            <p:blipFill>
              <a:blip r:embed="rId3"/>
              <a:srcRect t="13636" b="11818"/>
              <a:stretch>
                <a:fillRect/>
              </a:stretch>
            </p:blipFill>
          </mc:Choice>
          <mc:Fallback>
            <p:blipFill>
              <a:blip r:embed="rId4"/>
              <a:srcRect t="13636" b="11818"/>
              <a:stretch>
                <a:fillRect/>
              </a:stretch>
            </p:blipFill>
          </mc:Fallback>
        </mc:AlternateContent>
        <p:spPr>
          <a:xfrm>
            <a:off x="990600" y="0"/>
            <a:ext cx="7162800" cy="6689345"/>
          </a:xfrm>
          <a:prstGeom prst="rect">
            <a:avLst/>
          </a:prstGeom>
        </p:spPr>
      </p:pic>
    </p:spTree>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pic>
        <p:nvPicPr>
          <p:cNvPr id="4" name="Picture 3" descr="f03.pdf"/>
          <p:cNvPicPr>
            <a:picLocks noChangeAspect="1"/>
          </p:cNvPicPr>
          <p:nvPr/>
        </p:nvPicPr>
        <mc:AlternateContent>
          <mc:Choice xmlns:ma="http://schemas.microsoft.com/office/mac/drawingml/2008/main" Requires="ma">
            <p:blipFill>
              <a:blip r:embed="rId3"/>
              <a:srcRect t="9091" b="25455"/>
              <a:stretch>
                <a:fillRect/>
              </a:stretch>
            </p:blipFill>
          </mc:Choice>
          <mc:Fallback>
            <p:blipFill>
              <a:blip r:embed="rId4"/>
              <a:srcRect t="9091" b="25455"/>
              <a:stretch>
                <a:fillRect/>
              </a:stretch>
            </p:blipFill>
          </mc:Fallback>
        </mc:AlternateContent>
        <p:spPr>
          <a:xfrm>
            <a:off x="533400" y="-152400"/>
            <a:ext cx="8096365" cy="6858000"/>
          </a:xfrm>
          <a:prstGeom prst="rect">
            <a:avLst/>
          </a:prstGeom>
        </p:spPr>
      </p:pic>
    </p:spTree>
  </p:cSld>
  <p:clrMapOvr>
    <a:masterClrMapping/>
  </p:clrMapOvr>
  <p:transition spd="med">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rcRect t="-5353" b="8030"/>
              <a:stretch>
                <a:fillRect/>
              </a:stretch>
            </p:blipFill>
          </mc:Choice>
          <mc:Fallback>
            <p:blipFill>
              <a:blip r:embed="rId4"/>
              <a:srcRect t="-5353" b="8030"/>
              <a:stretch>
                <a:fillRect/>
              </a:stretch>
            </p:blipFill>
          </mc:Fallback>
        </mc:AlternateContent>
        <p:spPr>
          <a:xfrm>
            <a:off x="228600" y="1295400"/>
            <a:ext cx="8701322" cy="4745838"/>
          </a:xfrm>
          <a:prstGeom prst="rect">
            <a:avLst/>
          </a:prstGeom>
        </p:spPr>
      </p:pic>
      <p:pic>
        <p:nvPicPr>
          <p:cNvPr id="4" name="Picture 3"/>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0" y="533399"/>
            <a:ext cx="9144000" cy="625231"/>
          </a:xfrm>
          <a:prstGeom prst="rect">
            <a:avLst/>
          </a:prstGeom>
        </p:spPr>
      </p:pic>
      <p:sp>
        <p:nvSpPr>
          <p:cNvPr id="5" name="TextBox 4"/>
          <p:cNvSpPr txBox="1"/>
          <p:nvPr/>
        </p:nvSpPr>
        <p:spPr>
          <a:xfrm>
            <a:off x="0" y="6172200"/>
            <a:ext cx="9144000" cy="307777"/>
          </a:xfrm>
          <a:prstGeom prst="rect">
            <a:avLst/>
          </a:prstGeom>
          <a:noFill/>
        </p:spPr>
        <p:txBody>
          <a:bodyPr wrap="square" rtlCol="0">
            <a:spAutoFit/>
          </a:bodyPr>
          <a:lstStyle/>
          <a:p>
            <a:pPr algn="ctr"/>
            <a:r>
              <a:rPr lang="en-US" sz="1400" dirty="0" smtClean="0">
                <a:latin typeface="+mn-lt"/>
              </a:rPr>
              <a:t>(This table can be found on pages </a:t>
            </a:r>
            <a:r>
              <a:rPr lang="en-US" sz="1400" dirty="0" smtClean="0">
                <a:latin typeface="+mn-lt"/>
              </a:rPr>
              <a:t>473 </a:t>
            </a:r>
            <a:r>
              <a:rPr lang="en-US" sz="1400" dirty="0" smtClean="0">
                <a:latin typeface="+mn-lt"/>
              </a:rPr>
              <a:t>– </a:t>
            </a:r>
            <a:r>
              <a:rPr lang="en-US" sz="1400" dirty="0" smtClean="0">
                <a:latin typeface="+mn-lt"/>
              </a:rPr>
              <a:t>474 </a:t>
            </a:r>
            <a:r>
              <a:rPr lang="en-US" sz="1400" dirty="0" smtClean="0">
                <a:latin typeface="+mn-lt"/>
              </a:rPr>
              <a:t>in the textbook)</a:t>
            </a:r>
            <a:endParaRPr lang="en-US" sz="1400" dirty="0">
              <a:latin typeface="+mn-lt"/>
            </a:endParaRPr>
          </a:p>
        </p:txBody>
      </p:sp>
      <p:sp>
        <p:nvSpPr>
          <p:cNvPr id="6" name="Footer Placeholder 5"/>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676400" y="152400"/>
            <a:ext cx="5791200" cy="6372795"/>
          </a:xfrm>
          <a:prstGeom prst="rect">
            <a:avLst/>
          </a:prstGeom>
        </p:spPr>
      </p:pic>
      <p:pic>
        <p:nvPicPr>
          <p:cNvPr id="4" name="Picture 3"/>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7696200" y="304800"/>
            <a:ext cx="7429500" cy="254000"/>
          </a:xfrm>
          <a:prstGeom prst="rect">
            <a:avLst/>
          </a:prstGeom>
        </p:spPr>
      </p:pic>
      <p:sp>
        <p:nvSpPr>
          <p:cNvPr id="5" name="Footer Placeholder 4"/>
          <p:cNvSpPr>
            <a:spLocks noGrp="1"/>
          </p:cNvSpPr>
          <p:nvPr>
            <p:ph type="ftr" sz="quarter" idx="11"/>
          </p:nvPr>
        </p:nvSpPr>
        <p:spPr>
          <a:xfrm>
            <a:off x="0" y="6492875"/>
            <a:ext cx="5410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Rectangle 2"/>
          <p:cNvSpPr/>
          <p:nvPr/>
        </p:nvSpPr>
        <p:spPr>
          <a:xfrm>
            <a:off x="7543800" y="152400"/>
            <a:ext cx="1277213" cy="338554"/>
          </a:xfrm>
          <a:prstGeom prst="rect">
            <a:avLst/>
          </a:prstGeom>
        </p:spPr>
        <p:txBody>
          <a:bodyPr wrap="none">
            <a:spAutoFit/>
          </a:bodyPr>
          <a:lstStyle/>
          <a:p>
            <a:r>
              <a:rPr lang="en-US" sz="1600" dirty="0">
                <a:latin typeface="+mn-lt"/>
              </a:rPr>
              <a:t>(page 3 of 3)</a:t>
            </a:r>
            <a:r>
              <a:rPr lang="en-US" sz="1600" dirty="0" smtClean="0">
                <a:latin typeface="+mn-lt"/>
              </a:rPr>
              <a:t> </a:t>
            </a:r>
            <a:endParaRPr lang="en-US" sz="1600" dirty="0">
              <a:latin typeface="+mn-lt"/>
            </a:endParaRPr>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685800" y="228600"/>
            <a:ext cx="6720412" cy="6482397"/>
          </a:xfrm>
          <a:prstGeom prst="rect">
            <a:avLst/>
          </a:prstGeom>
        </p:spPr>
      </p:pic>
      <p:sp>
        <p:nvSpPr>
          <p:cNvPr id="5" name="Footer Placeholder 4"/>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wipe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Kerberos Realms </a:t>
            </a:r>
            <a:br>
              <a:rPr lang="en-US" dirty="0" smtClean="0"/>
            </a:br>
            <a:r>
              <a:rPr lang="en-US" dirty="0" smtClean="0"/>
              <a:t>and Multiple Kerberi</a:t>
            </a:r>
          </a:p>
        </p:txBody>
      </p:sp>
      <p:sp>
        <p:nvSpPr>
          <p:cNvPr id="3" name="Content Placeholder 2"/>
          <p:cNvSpPr>
            <a:spLocks noGrp="1"/>
          </p:cNvSpPr>
          <p:nvPr>
            <p:ph idx="1"/>
          </p:nvPr>
        </p:nvSpPr>
        <p:spPr>
          <a:xfrm>
            <a:off x="838200" y="1828800"/>
            <a:ext cx="7570787" cy="4562475"/>
          </a:xfrm>
        </p:spPr>
        <p:txBody>
          <a:bodyPr>
            <a:normAutofit fontScale="92500" lnSpcReduction="20000"/>
          </a:bodyPr>
          <a:lstStyle/>
          <a:p>
            <a:r>
              <a:rPr lang="en-US" dirty="0" smtClean="0"/>
              <a:t> A full-service Kerberos environment consisting of a Kerberos server, a number of clients, and a number of application servers requires that:</a:t>
            </a:r>
          </a:p>
          <a:p>
            <a:pPr lvl="1"/>
            <a:r>
              <a:rPr lang="en-US" dirty="0" smtClean="0"/>
              <a:t>The  Kerberos server must have the user ID and hashed passwords of all participating users in its database; all users are registered with the Kerberos server</a:t>
            </a:r>
          </a:p>
          <a:p>
            <a:pPr lvl="1"/>
            <a:r>
              <a:rPr lang="en-US" dirty="0" smtClean="0"/>
              <a:t>The  Kerberos server must share a secret key with each server; all servers are registered with the Kerberos server</a:t>
            </a:r>
          </a:p>
          <a:p>
            <a:pPr lvl="1"/>
            <a:r>
              <a:rPr lang="en-US" dirty="0" smtClean="0"/>
              <a:t>The Kerberos server in each interoperating realm shares a secret key with the server in the other realm; the two Kerberos servers are registered with each other</a:t>
            </a:r>
            <a:endParaRPr lang="en-US" dirty="0"/>
          </a:p>
        </p:txBody>
      </p:sp>
      <p:sp>
        <p:nvSpPr>
          <p:cNvPr id="4" name="Footer Placeholder 3"/>
          <p:cNvSpPr>
            <a:spLocks noGrp="1"/>
          </p:cNvSpPr>
          <p:nvPr>
            <p:ph type="ftr" sz="quarter" idx="11"/>
          </p:nvPr>
        </p:nvSpPr>
        <p:spPr>
          <a:xfrm>
            <a:off x="0" y="6492875"/>
            <a:ext cx="52578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3970" name="Rectangle 1026"/>
          <p:cNvSpPr>
            <a:spLocks noGrp="1" noChangeArrowheads="1"/>
          </p:cNvSpPr>
          <p:nvPr>
            <p:ph type="title"/>
          </p:nvPr>
        </p:nvSpPr>
        <p:spPr/>
        <p:txBody>
          <a:bodyPr/>
          <a:lstStyle/>
          <a:p>
            <a:r>
              <a:rPr lang="en-AU" dirty="0" smtClean="0"/>
              <a:t>Kerberos Realm</a:t>
            </a:r>
            <a:endParaRPr lang="en-AU" dirty="0"/>
          </a:p>
        </p:txBody>
      </p:sp>
      <p:sp>
        <p:nvSpPr>
          <p:cNvPr id="6" name="Content Placeholder 5"/>
          <p:cNvSpPr>
            <a:spLocks noGrp="1"/>
          </p:cNvSpPr>
          <p:nvPr>
            <p:ph idx="1"/>
          </p:nvPr>
        </p:nvSpPr>
        <p:spPr>
          <a:xfrm>
            <a:off x="792163" y="1762125"/>
            <a:ext cx="7570787" cy="4562475"/>
          </a:xfrm>
        </p:spPr>
        <p:txBody>
          <a:bodyPr>
            <a:normAutofit fontScale="85000" lnSpcReduction="20000"/>
          </a:bodyPr>
          <a:lstStyle/>
          <a:p>
            <a:r>
              <a:rPr lang="en-US" dirty="0" smtClean="0"/>
              <a:t>A set of managed nodes that share the same Kerberos database</a:t>
            </a:r>
          </a:p>
          <a:p>
            <a:r>
              <a:rPr lang="en-US" dirty="0" smtClean="0"/>
              <a:t>The database resides on the Kerberos master computer system, which should be kept in a physically secure room</a:t>
            </a:r>
          </a:p>
          <a:p>
            <a:r>
              <a:rPr lang="en-US" dirty="0" smtClean="0"/>
              <a:t>A read-only copy of the Kerberos database might also reside on other Kerberos computer systems</a:t>
            </a:r>
          </a:p>
          <a:p>
            <a:r>
              <a:rPr lang="en-US" dirty="0" smtClean="0"/>
              <a:t>All changes to the database must be made on the master computer system</a:t>
            </a:r>
          </a:p>
          <a:p>
            <a:r>
              <a:rPr lang="en-US" dirty="0" smtClean="0"/>
              <a:t>Changing or accessing the contents of a Kerberos database requires the Kerberos master password</a:t>
            </a:r>
            <a:endParaRPr lang="en-US" dirty="0"/>
          </a:p>
        </p:txBody>
      </p:sp>
      <p:sp>
        <p:nvSpPr>
          <p:cNvPr id="4" name="Footer Placeholder 3"/>
          <p:cNvSpPr>
            <a:spLocks noGrp="1"/>
          </p:cNvSpPr>
          <p:nvPr>
            <p:ph type="ftr" sz="quarter" idx="11"/>
          </p:nvPr>
        </p:nvSpPr>
        <p:spPr>
          <a:xfrm>
            <a:off x="0" y="6492875"/>
            <a:ext cx="6477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Kerberos Principal</a:t>
            </a:r>
            <a:endParaRPr lang="en-US" dirty="0"/>
          </a:p>
        </p:txBody>
      </p:sp>
      <p:sp>
        <p:nvSpPr>
          <p:cNvPr id="3" name="Content Placeholder 2"/>
          <p:cNvSpPr>
            <a:spLocks noGrp="1"/>
          </p:cNvSpPr>
          <p:nvPr>
            <p:ph sz="half" idx="1"/>
          </p:nvPr>
        </p:nvSpPr>
        <p:spPr>
          <a:xfrm>
            <a:off x="609600" y="2133600"/>
            <a:ext cx="3566160" cy="4303713"/>
          </a:xfrm>
        </p:spPr>
        <p:txBody>
          <a:bodyPr/>
          <a:lstStyle/>
          <a:p>
            <a:r>
              <a:rPr lang="en-US" dirty="0" smtClean="0"/>
              <a:t>A service or user that is known to the Kerberos system</a:t>
            </a:r>
          </a:p>
          <a:p>
            <a:r>
              <a:rPr lang="en-US" dirty="0" smtClean="0"/>
              <a:t>Identified by its principal name</a:t>
            </a:r>
          </a:p>
        </p:txBody>
      </p:sp>
      <p:graphicFrame>
        <p:nvGraphicFramePr>
          <p:cNvPr id="4" name="Diagram 3"/>
          <p:cNvGraphicFramePr/>
          <p:nvPr/>
        </p:nvGraphicFramePr>
        <p:xfrm>
          <a:off x="3657600" y="1676400"/>
          <a:ext cx="5486400" cy="4800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8305800" cy="365125"/>
          </a:xfrm>
        </p:spPr>
        <p:txBody>
          <a:bodyPr/>
          <a:lstStyle/>
          <a:p>
            <a:pPr>
              <a:defRPr/>
            </a:pPr>
            <a:r>
              <a:rPr lang="en-US" sz="1050" dirty="0" smtClean="0"/>
              <a:t>© 2017 Pearson Education, Inc., Hoboken, NJ. All rights reserved.      </a:t>
            </a:r>
            <a:endParaRPr lang="en-US" sz="1050" dirty="0"/>
          </a:p>
        </p:txBody>
      </p:sp>
      <p:pic>
        <p:nvPicPr>
          <p:cNvPr id="5" name="Picture 4" descr="f04.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22318" y="-318247"/>
            <a:ext cx="5697682" cy="7373471"/>
          </a:xfrm>
          <a:prstGeom prst="rect">
            <a:avLst/>
          </a:prstGeom>
        </p:spPr>
      </p:pic>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dirty="0" smtClean="0"/>
              <a:t>Differences Between Versions 4 and 5</a:t>
            </a:r>
            <a:endParaRPr lang="en-AU" dirty="0"/>
          </a:p>
        </p:txBody>
      </p:sp>
      <p:graphicFrame>
        <p:nvGraphicFramePr>
          <p:cNvPr id="11" name="Content Placeholder 10"/>
          <p:cNvGraphicFramePr>
            <a:graphicFrameLocks noGrp="1"/>
          </p:cNvGraphicFramePr>
          <p:nvPr>
            <p:ph idx="1"/>
          </p:nvPr>
        </p:nvGraphicFramePr>
        <p:xfrm>
          <a:off x="838200" y="1676400"/>
          <a:ext cx="7818437" cy="49434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6400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762000" y="1143000"/>
            <a:ext cx="7856070" cy="5588000"/>
          </a:xfrm>
          <a:prstGeom prst="rect">
            <a:avLst/>
          </a:prstGeom>
        </p:spPr>
      </p:pic>
      <p:sp>
        <p:nvSpPr>
          <p:cNvPr id="7" name="TextBox 6"/>
          <p:cNvSpPr txBox="1"/>
          <p:nvPr/>
        </p:nvSpPr>
        <p:spPr>
          <a:xfrm>
            <a:off x="0" y="0"/>
            <a:ext cx="9143999" cy="954107"/>
          </a:xfrm>
          <a:prstGeom prst="rect">
            <a:avLst/>
          </a:prstGeom>
          <a:noFill/>
        </p:spPr>
        <p:txBody>
          <a:bodyPr wrap="square" rtlCol="0">
            <a:spAutoFit/>
          </a:bodyPr>
          <a:lstStyle/>
          <a:p>
            <a:pPr algn="ctr"/>
            <a:r>
              <a:rPr lang="en-US" sz="2800" dirty="0" smtClean="0">
                <a:latin typeface="+mn-lt"/>
              </a:rPr>
              <a:t>                             Table 15.3      </a:t>
            </a:r>
            <a:r>
              <a:rPr lang="en-US" sz="1400" dirty="0" smtClean="0"/>
              <a:t>(page </a:t>
            </a:r>
            <a:r>
              <a:rPr lang="en-US" sz="1400" dirty="0" smtClean="0"/>
              <a:t>479 </a:t>
            </a:r>
            <a:r>
              <a:rPr lang="en-US" sz="1400" dirty="0" smtClean="0"/>
              <a:t>in textbook)</a:t>
            </a:r>
            <a:endParaRPr lang="en-US" sz="2800" dirty="0" smtClean="0">
              <a:latin typeface="+mn-lt"/>
            </a:endParaRPr>
          </a:p>
          <a:p>
            <a:pPr algn="ctr"/>
            <a:r>
              <a:rPr lang="en-US" sz="2800" dirty="0" smtClean="0">
                <a:latin typeface="+mn-lt"/>
              </a:rPr>
              <a:t>Summary of Kerberos Version 5 Message Exchanges</a:t>
            </a:r>
            <a:endParaRPr lang="en-US" sz="2800" dirty="0">
              <a:latin typeface="+mn-lt"/>
            </a:endParaRPr>
          </a:p>
        </p:txBody>
      </p:sp>
      <p:sp>
        <p:nvSpPr>
          <p:cNvPr id="5" name="Footer Placeholder 4"/>
          <p:cNvSpPr>
            <a:spLocks noGrp="1"/>
          </p:cNvSpPr>
          <p:nvPr>
            <p:ph type="ftr" sz="quarter" idx="11"/>
          </p:nvPr>
        </p:nvSpPr>
        <p:spPr>
          <a:xfrm>
            <a:off x="0" y="6492875"/>
            <a:ext cx="5181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pull dir="l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extBox 1"/>
          <p:cNvSpPr txBox="1"/>
          <p:nvPr/>
        </p:nvSpPr>
        <p:spPr>
          <a:xfrm>
            <a:off x="6934200" y="1447800"/>
            <a:ext cx="2209800" cy="2246769"/>
          </a:xfrm>
          <a:prstGeom prst="rect">
            <a:avLst/>
          </a:prstGeom>
          <a:noFill/>
        </p:spPr>
        <p:txBody>
          <a:bodyPr wrap="square" rtlCol="0">
            <a:spAutoFit/>
          </a:bodyPr>
          <a:lstStyle/>
          <a:p>
            <a:pPr algn="ctr"/>
            <a:r>
              <a:rPr lang="en-US" sz="2800" dirty="0" smtClean="0">
                <a:latin typeface="+mn-lt"/>
              </a:rPr>
              <a:t>Table 15.4</a:t>
            </a:r>
          </a:p>
          <a:p>
            <a:pPr algn="ctr"/>
            <a:endParaRPr lang="en-US" sz="2800" dirty="0" smtClean="0">
              <a:latin typeface="+mn-lt"/>
            </a:endParaRPr>
          </a:p>
          <a:p>
            <a:pPr algn="ctr"/>
            <a:r>
              <a:rPr lang="en-US" sz="2800" dirty="0" smtClean="0">
                <a:latin typeface="+mn-lt"/>
              </a:rPr>
              <a:t>Kerberos Version 5 Flags</a:t>
            </a:r>
            <a:endParaRPr lang="en-US" sz="2800" dirty="0">
              <a:latin typeface="+mn-lt"/>
            </a:endParaRPr>
          </a:p>
        </p:txBody>
      </p:sp>
      <p:graphicFrame>
        <p:nvGraphicFramePr>
          <p:cNvPr id="124930" name="Object 2"/>
          <p:cNvGraphicFramePr>
            <a:graphicFrameLocks noChangeAspect="1"/>
          </p:cNvGraphicFramePr>
          <p:nvPr/>
        </p:nvGraphicFramePr>
        <p:xfrm>
          <a:off x="533400" y="79966"/>
          <a:ext cx="6177421" cy="6482821"/>
        </p:xfrm>
        <a:graphic>
          <a:graphicData uri="http://schemas.openxmlformats.org/presentationml/2006/ole">
            <p:oleObj spid="_x0000_s124930" name="Document" r:id="rId4" imgW="5651500" imgH="5930900" progId="Word.Document.12">
              <p:link updateAutomatic="1"/>
            </p:oleObj>
          </a:graphicData>
        </a:graphic>
      </p:graphicFrame>
      <p:sp>
        <p:nvSpPr>
          <p:cNvPr id="5" name="TextBox 4"/>
          <p:cNvSpPr txBox="1"/>
          <p:nvPr/>
        </p:nvSpPr>
        <p:spPr>
          <a:xfrm>
            <a:off x="7010400" y="6019800"/>
            <a:ext cx="2133600" cy="523220"/>
          </a:xfrm>
          <a:prstGeom prst="rect">
            <a:avLst/>
          </a:prstGeom>
          <a:noFill/>
        </p:spPr>
        <p:txBody>
          <a:bodyPr wrap="square" rtlCol="0">
            <a:spAutoFit/>
          </a:bodyPr>
          <a:lstStyle/>
          <a:p>
            <a:r>
              <a:rPr lang="en-US" sz="1400" dirty="0" smtClean="0">
                <a:latin typeface="+mn-lt"/>
              </a:rPr>
              <a:t>(Table can be found on page </a:t>
            </a:r>
            <a:r>
              <a:rPr lang="en-US" sz="1400" dirty="0" smtClean="0">
                <a:latin typeface="+mn-lt"/>
              </a:rPr>
              <a:t>480 </a:t>
            </a:r>
            <a:r>
              <a:rPr lang="en-US" sz="1400" dirty="0" smtClean="0">
                <a:latin typeface="+mn-lt"/>
              </a:rPr>
              <a:t>in textbook)</a:t>
            </a:r>
            <a:endParaRPr lang="en-US" sz="1400" dirty="0">
              <a:latin typeface="+mn-lt"/>
            </a:endParaRPr>
          </a:p>
        </p:txBody>
      </p:sp>
      <p:sp>
        <p:nvSpPr>
          <p:cNvPr id="6" name="Footer Placeholder 5"/>
          <p:cNvSpPr>
            <a:spLocks noGrp="1"/>
          </p:cNvSpPr>
          <p:nvPr>
            <p:ph type="ftr" sz="quarter" idx="11"/>
          </p:nvPr>
        </p:nvSpPr>
        <p:spPr>
          <a:xfrm>
            <a:off x="0" y="6356350"/>
            <a:ext cx="5638800" cy="365125"/>
          </a:xfrm>
        </p:spPr>
        <p:txBody>
          <a:bodyPr/>
          <a:lstStyle/>
          <a:p>
            <a:pPr>
              <a:defRPr/>
            </a:pPr>
            <a:r>
              <a:rPr lang="en-US" dirty="0" smtClean="0"/>
              <a:t>© 2017 Pearson Education, Inc., Hoboken, NJ. All rights reserved.      </a:t>
            </a:r>
            <a:endParaRPr lang="en-US" dirty="0"/>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Mutual Authentication</a:t>
            </a:r>
            <a:endParaRPr lang="en-US" dirty="0"/>
          </a:p>
        </p:txBody>
      </p:sp>
      <p:sp>
        <p:nvSpPr>
          <p:cNvPr id="3" name="Content Placeholder 2"/>
          <p:cNvSpPr>
            <a:spLocks noGrp="1"/>
          </p:cNvSpPr>
          <p:nvPr>
            <p:ph idx="1"/>
          </p:nvPr>
        </p:nvSpPr>
        <p:spPr>
          <a:xfrm>
            <a:off x="533400" y="1762125"/>
            <a:ext cx="8000999" cy="4638675"/>
          </a:xfrm>
        </p:spPr>
        <p:txBody>
          <a:bodyPr>
            <a:normAutofit fontScale="92500" lnSpcReduction="10000"/>
          </a:bodyPr>
          <a:lstStyle/>
          <a:p>
            <a:r>
              <a:rPr lang="en-US" dirty="0" smtClean="0"/>
              <a:t>Public-key encryption for session key distribution</a:t>
            </a:r>
          </a:p>
          <a:p>
            <a:pPr lvl="1"/>
            <a:r>
              <a:rPr lang="en-US" dirty="0" smtClean="0"/>
              <a:t>Assumes each of the two parties is in possession of the current public key of the other</a:t>
            </a:r>
          </a:p>
          <a:p>
            <a:pPr lvl="1"/>
            <a:r>
              <a:rPr lang="en-US" dirty="0" smtClean="0"/>
              <a:t>May not be practical to require this assumption</a:t>
            </a:r>
          </a:p>
          <a:p>
            <a:r>
              <a:rPr lang="en-US" dirty="0" smtClean="0"/>
              <a:t>Denning protocol using timestamps</a:t>
            </a:r>
          </a:p>
          <a:p>
            <a:pPr lvl="1"/>
            <a:r>
              <a:rPr lang="en-US" dirty="0" smtClean="0"/>
              <a:t>Uses an authentication server (AS) to provide public-key certificates</a:t>
            </a:r>
          </a:p>
          <a:p>
            <a:pPr lvl="1"/>
            <a:r>
              <a:rPr lang="en-US" dirty="0" smtClean="0"/>
              <a:t>Requires the synchronization of clocks</a:t>
            </a:r>
          </a:p>
          <a:p>
            <a:r>
              <a:rPr lang="en-US" dirty="0" smtClean="0"/>
              <a:t>Woo and Lam makes use of nonces</a:t>
            </a:r>
          </a:p>
          <a:p>
            <a:pPr lvl="1"/>
            <a:r>
              <a:rPr lang="en-US" dirty="0" smtClean="0"/>
              <a:t>Care needed to ensure no protocol flaws</a:t>
            </a:r>
          </a:p>
        </p:txBody>
      </p:sp>
      <p:sp>
        <p:nvSpPr>
          <p:cNvPr id="4" name="Footer Placeholder 3"/>
          <p:cNvSpPr>
            <a:spLocks noGrp="1"/>
          </p:cNvSpPr>
          <p:nvPr>
            <p:ph type="ftr" sz="quarter" idx="11"/>
          </p:nvPr>
        </p:nvSpPr>
        <p:spPr>
          <a:xfrm>
            <a:off x="0" y="6492875"/>
            <a:ext cx="6934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AU" dirty="0" smtClean="0"/>
              <a:t>One-Way Authentication</a:t>
            </a:r>
            <a:endParaRPr lang="en-AU" dirty="0"/>
          </a:p>
        </p:txBody>
      </p:sp>
      <p:sp>
        <p:nvSpPr>
          <p:cNvPr id="70659" name="Rectangle 3"/>
          <p:cNvSpPr>
            <a:spLocks noGrp="1" noChangeArrowheads="1"/>
          </p:cNvSpPr>
          <p:nvPr>
            <p:ph idx="1"/>
          </p:nvPr>
        </p:nvSpPr>
        <p:spPr>
          <a:xfrm>
            <a:off x="792163" y="1762125"/>
            <a:ext cx="7570787" cy="4638675"/>
          </a:xfrm>
        </p:spPr>
        <p:txBody>
          <a:bodyPr>
            <a:normAutofit/>
          </a:bodyPr>
          <a:lstStyle/>
          <a:p>
            <a:r>
              <a:rPr lang="en-AU" dirty="0" smtClean="0"/>
              <a:t>Have </a:t>
            </a:r>
            <a:r>
              <a:rPr lang="en-US" dirty="0" smtClean="0"/>
              <a:t>public-key approaches for e-mail</a:t>
            </a:r>
          </a:p>
          <a:p>
            <a:pPr lvl="1"/>
            <a:r>
              <a:rPr lang="en-US" dirty="0" smtClean="0"/>
              <a:t>Encryption of message for confidentiality, authentication, or both</a:t>
            </a:r>
          </a:p>
          <a:p>
            <a:pPr lvl="1"/>
            <a:r>
              <a:rPr lang="en-US" dirty="0" smtClean="0"/>
              <a:t>The public-key algorithm must be applied once or twice to what may be a long message</a:t>
            </a:r>
          </a:p>
          <a:p>
            <a:r>
              <a:rPr lang="en-US" dirty="0" smtClean="0"/>
              <a:t>For confidentiality encrypt message with one-time secret key, public-key encrypted</a:t>
            </a:r>
          </a:p>
          <a:p>
            <a:r>
              <a:rPr lang="en-US" dirty="0" smtClean="0"/>
              <a:t>If authentication is the primary concern, a digital signature may suffice</a:t>
            </a:r>
          </a:p>
        </p:txBody>
      </p:sp>
      <p:sp>
        <p:nvSpPr>
          <p:cNvPr id="4" name="Footer Placeholder 3"/>
          <p:cNvSpPr>
            <a:spLocks noGrp="1"/>
          </p:cNvSpPr>
          <p:nvPr>
            <p:ph type="ftr" sz="quarter" idx="11"/>
          </p:nvPr>
        </p:nvSpPr>
        <p:spPr>
          <a:xfrm>
            <a:off x="0" y="6492875"/>
            <a:ext cx="7391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smtClean="0"/>
              <a:t>Federated Identity Management</a:t>
            </a:r>
            <a:endParaRPr lang="en-US" dirty="0"/>
          </a:p>
        </p:txBody>
      </p:sp>
      <p:sp>
        <p:nvSpPr>
          <p:cNvPr id="6" name="Content Placeholder 5"/>
          <p:cNvSpPr>
            <a:spLocks noGrp="1"/>
          </p:cNvSpPr>
          <p:nvPr>
            <p:ph idx="1"/>
          </p:nvPr>
        </p:nvSpPr>
        <p:spPr>
          <a:xfrm>
            <a:off x="792163" y="1762125"/>
            <a:ext cx="7570787" cy="4714875"/>
          </a:xfrm>
        </p:spPr>
        <p:txBody>
          <a:bodyPr>
            <a:normAutofit fontScale="85000" lnSpcReduction="20000"/>
          </a:bodyPr>
          <a:lstStyle/>
          <a:p>
            <a:r>
              <a:rPr lang="en-US" dirty="0" smtClean="0"/>
              <a:t>Relatively new concept dealing with the use of a common identity management scheme across multiple enterprise and numerous applications and supporting many users</a:t>
            </a:r>
          </a:p>
          <a:p>
            <a:r>
              <a:rPr lang="en-US" dirty="0" smtClean="0"/>
              <a:t>Services provided include:</a:t>
            </a:r>
          </a:p>
          <a:p>
            <a:pPr lvl="1"/>
            <a:r>
              <a:rPr lang="en-US" dirty="0" smtClean="0"/>
              <a:t>Point of contact</a:t>
            </a:r>
          </a:p>
          <a:p>
            <a:pPr lvl="1"/>
            <a:r>
              <a:rPr lang="en-US" dirty="0" smtClean="0"/>
              <a:t>SSO protocol services</a:t>
            </a:r>
          </a:p>
          <a:p>
            <a:pPr lvl="1"/>
            <a:r>
              <a:rPr lang="en-US" dirty="0" smtClean="0"/>
              <a:t>Trust services</a:t>
            </a:r>
          </a:p>
          <a:p>
            <a:pPr lvl="1"/>
            <a:r>
              <a:rPr lang="en-US" dirty="0" smtClean="0"/>
              <a:t>Key services</a:t>
            </a:r>
          </a:p>
          <a:p>
            <a:pPr lvl="1"/>
            <a:r>
              <a:rPr lang="en-US" dirty="0" smtClean="0"/>
              <a:t>Identity services</a:t>
            </a:r>
          </a:p>
          <a:p>
            <a:pPr lvl="1"/>
            <a:r>
              <a:rPr lang="en-US" dirty="0" smtClean="0"/>
              <a:t>Authorization</a:t>
            </a:r>
          </a:p>
          <a:p>
            <a:pPr lvl="1"/>
            <a:r>
              <a:rPr lang="en-US" dirty="0" smtClean="0"/>
              <a:t>Provisioning</a:t>
            </a:r>
          </a:p>
          <a:p>
            <a:pPr lvl="1"/>
            <a:r>
              <a:rPr lang="en-US" dirty="0" smtClean="0"/>
              <a:t>Management </a:t>
            </a:r>
          </a:p>
          <a:p>
            <a:pPr lvl="1"/>
            <a:endParaRPr lang="en-US" dirty="0"/>
          </a:p>
        </p:txBody>
      </p:sp>
      <p:pic>
        <p:nvPicPr>
          <p:cNvPr id="5" name="Picture 4"/>
          <p:cNvPicPr>
            <a:picLocks noChangeAspect="1"/>
          </p:cNvPicPr>
          <p:nvPr/>
        </p:nvPicPr>
        <p:blipFill>
          <a:blip r:embed="rId3"/>
          <a:stretch>
            <a:fillRect/>
          </a:stretch>
        </p:blipFill>
        <p:spPr>
          <a:xfrm>
            <a:off x="5943600" y="3733800"/>
            <a:ext cx="2095500" cy="2377587"/>
          </a:xfrm>
          <a:prstGeom prst="rect">
            <a:avLst/>
          </a:prstGeom>
        </p:spPr>
      </p:pic>
      <p:sp>
        <p:nvSpPr>
          <p:cNvPr id="7" name="Footer Placeholder 6"/>
          <p:cNvSpPr>
            <a:spLocks noGrp="1"/>
          </p:cNvSpPr>
          <p:nvPr>
            <p:ph type="ftr" sz="quarter" idx="11"/>
          </p:nvPr>
        </p:nvSpPr>
        <p:spPr>
          <a:xfrm>
            <a:off x="0" y="6492875"/>
            <a:ext cx="4800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257800" cy="365125"/>
          </a:xfrm>
        </p:spPr>
        <p:txBody>
          <a:bodyPr/>
          <a:lstStyle/>
          <a:p>
            <a:pPr>
              <a:defRPr/>
            </a:pPr>
            <a:r>
              <a:rPr lang="en-US" sz="1050" dirty="0" smtClean="0"/>
              <a:t>© 2017 Pearson Education, Inc., Hoboken, NJ. All rights reserved.      </a:t>
            </a:r>
            <a:endParaRPr lang="en-US" sz="1050" dirty="0"/>
          </a:p>
        </p:txBody>
      </p:sp>
      <p:pic>
        <p:nvPicPr>
          <p:cNvPr id="5" name="Picture 4" descr="f05.pdf"/>
          <p:cNvPicPr>
            <a:picLocks noChangeAspect="1"/>
          </p:cNvPicPr>
          <p:nvPr/>
        </p:nvPicPr>
        <mc:AlternateContent>
          <mc:Choice xmlns:ma="http://schemas.microsoft.com/office/mac/drawingml/2008/main" Requires="ma">
            <p:blipFill>
              <a:blip r:embed="rId3"/>
              <a:srcRect t="10909" b="28182"/>
              <a:stretch>
                <a:fillRect/>
              </a:stretch>
            </p:blipFill>
          </mc:Choice>
          <mc:Fallback>
            <p:blipFill>
              <a:blip r:embed="rId4"/>
              <a:srcRect t="10909" b="28182"/>
              <a:stretch>
                <a:fillRect/>
              </a:stretch>
            </p:blipFill>
          </mc:Fallback>
        </mc:AlternateContent>
        <p:spPr>
          <a:xfrm>
            <a:off x="152400" y="-109393"/>
            <a:ext cx="8839200" cy="6967393"/>
          </a:xfrm>
          <a:prstGeom prst="rect">
            <a:avLst/>
          </a:prstGeom>
        </p:spPr>
      </p:pic>
    </p:spTree>
  </p:cSld>
  <p:clrMapOvr>
    <a:masterClrMapping/>
  </p:clrMapOvr>
  <p:transition spd="med">
    <p:wedg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4724400" cy="365125"/>
          </a:xfrm>
        </p:spPr>
        <p:txBody>
          <a:bodyPr/>
          <a:lstStyle/>
          <a:p>
            <a:pPr>
              <a:defRPr/>
            </a:pPr>
            <a:r>
              <a:rPr lang="en-US" sz="1050" dirty="0" smtClean="0"/>
              <a:t>© 2017 Pearson Education, Inc., Hoboken, NJ. All rights reserved.      </a:t>
            </a:r>
            <a:endParaRPr lang="en-US" sz="1050" dirty="0"/>
          </a:p>
        </p:txBody>
      </p:sp>
      <p:pic>
        <p:nvPicPr>
          <p:cNvPr id="4" name="Picture 3" descr="f06.pdf"/>
          <p:cNvPicPr>
            <a:picLocks noChangeAspect="1"/>
          </p:cNvPicPr>
          <p:nvPr/>
        </p:nvPicPr>
        <mc:AlternateContent>
          <mc:Choice xmlns:ma="http://schemas.microsoft.com/office/mac/drawingml/2008/main" Requires="ma">
            <p:blipFill>
              <a:blip r:embed="rId3"/>
              <a:srcRect t="2727" b="13636"/>
              <a:stretch>
                <a:fillRect/>
              </a:stretch>
            </p:blipFill>
          </mc:Choice>
          <mc:Fallback>
            <p:blipFill>
              <a:blip r:embed="rId4"/>
              <a:srcRect t="2727" b="13636"/>
              <a:stretch>
                <a:fillRect/>
              </a:stretch>
            </p:blipFill>
          </mc:Fallback>
        </mc:AlternateContent>
        <p:spPr>
          <a:xfrm>
            <a:off x="1752600" y="0"/>
            <a:ext cx="6248400" cy="6762826"/>
          </a:xfrm>
          <a:prstGeom prst="rect">
            <a:avLst/>
          </a:prstGeom>
        </p:spPr>
      </p:pic>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dirty="0" smtClean="0"/>
              <a:t>Key Standards</a:t>
            </a:r>
            <a:endParaRPr lang="en-US" dirty="0"/>
          </a:p>
        </p:txBody>
      </p:sp>
      <p:graphicFrame>
        <p:nvGraphicFramePr>
          <p:cNvPr id="5" name="Content Placeholder 4"/>
          <p:cNvGraphicFramePr>
            <a:graphicFrameLocks noGrp="1"/>
          </p:cNvGraphicFramePr>
          <p:nvPr>
            <p:ph idx="1"/>
          </p:nvPr>
        </p:nvGraphicFramePr>
        <p:xfrm>
          <a:off x="609600" y="1676401"/>
          <a:ext cx="7924800" cy="4800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800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pic>
        <p:nvPicPr>
          <p:cNvPr id="5" name="Picture 4" descr="f07.pdf"/>
          <p:cNvPicPr>
            <a:picLocks noChangeAspect="1"/>
          </p:cNvPicPr>
          <p:nvPr/>
        </p:nvPicPr>
        <mc:AlternateContent>
          <mc:Choice xmlns:ma="http://schemas.microsoft.com/office/mac/drawingml/2008/main" Requires="ma">
            <p:blipFill>
              <a:blip r:embed="rId3"/>
              <a:srcRect t="3636" b="16364"/>
              <a:stretch>
                <a:fillRect/>
              </a:stretch>
            </p:blipFill>
          </mc:Choice>
          <mc:Fallback>
            <p:blipFill>
              <a:blip r:embed="rId4"/>
              <a:srcRect t="3636" b="16364"/>
              <a:stretch>
                <a:fillRect/>
              </a:stretch>
            </p:blipFill>
          </mc:Fallback>
        </mc:AlternateContent>
        <p:spPr>
          <a:xfrm>
            <a:off x="1371600" y="0"/>
            <a:ext cx="6403481" cy="6629400"/>
          </a:xfrm>
          <a:prstGeom prst="rect">
            <a:avLst/>
          </a:prstGeom>
        </p:spPr>
      </p:pic>
    </p:spTree>
  </p:cSld>
  <p:clrMapOvr>
    <a:masterClrMapping/>
  </p:clrMapOvr>
  <p:transition>
    <p:dissolv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143999" cy="1412875"/>
          </a:xfrm>
        </p:spPr>
        <p:txBody>
          <a:bodyPr/>
          <a:lstStyle/>
          <a:p>
            <a:r>
              <a:rPr lang="en-US" dirty="0" smtClean="0"/>
              <a:t>Personal Identity Verification</a:t>
            </a:r>
            <a:endParaRPr lang="en-US" dirty="0"/>
          </a:p>
        </p:txBody>
      </p:sp>
      <p:sp>
        <p:nvSpPr>
          <p:cNvPr id="5" name="Content Placeholder 4"/>
          <p:cNvSpPr>
            <a:spLocks noGrp="1"/>
          </p:cNvSpPr>
          <p:nvPr>
            <p:ph idx="1"/>
          </p:nvPr>
        </p:nvSpPr>
        <p:spPr>
          <a:xfrm>
            <a:off x="792163" y="1762125"/>
            <a:ext cx="7570787" cy="4791075"/>
          </a:xfrm>
        </p:spPr>
        <p:txBody>
          <a:bodyPr>
            <a:normAutofit fontScale="70000" lnSpcReduction="20000"/>
          </a:bodyPr>
          <a:lstStyle/>
          <a:p>
            <a:r>
              <a:rPr lang="en-US" dirty="0" smtClean="0"/>
              <a:t>User authentication based on the possession of a smart card is becoming more widespread</a:t>
            </a:r>
          </a:p>
          <a:p>
            <a:pPr lvl="1"/>
            <a:r>
              <a:rPr lang="en-US" dirty="0" smtClean="0"/>
              <a:t>Has the appearance of a credit card</a:t>
            </a:r>
          </a:p>
          <a:p>
            <a:pPr lvl="1"/>
            <a:r>
              <a:rPr lang="en-US" dirty="0" smtClean="0"/>
              <a:t>Has an electronic interface</a:t>
            </a:r>
          </a:p>
          <a:p>
            <a:pPr lvl="1"/>
            <a:r>
              <a:rPr lang="en-US" dirty="0" smtClean="0"/>
              <a:t>May use a variety of authentication protocols</a:t>
            </a:r>
          </a:p>
          <a:p>
            <a:r>
              <a:rPr lang="en-US" dirty="0" smtClean="0"/>
              <a:t>A smart card contains within it an entire microprocessor, including processor, memory, and I/O ports</a:t>
            </a:r>
          </a:p>
          <a:p>
            <a:r>
              <a:rPr lang="en-US" dirty="0" smtClean="0"/>
              <a:t>A smart card includes three types of memory:</a:t>
            </a:r>
          </a:p>
          <a:p>
            <a:pPr lvl="1"/>
            <a:r>
              <a:rPr lang="en-US" dirty="0" smtClean="0"/>
              <a:t>Read-only memory (ROM) stores data that does not change during the card’s life</a:t>
            </a:r>
          </a:p>
          <a:p>
            <a:pPr lvl="1"/>
            <a:r>
              <a:rPr lang="en-US" dirty="0" smtClean="0"/>
              <a:t>Electronically erasable programmable ROM (EEPROM) holds application data and programs; also holds data that may vary with time</a:t>
            </a:r>
          </a:p>
          <a:p>
            <a:pPr lvl="1"/>
            <a:r>
              <a:rPr lang="en-US" dirty="0" smtClean="0"/>
              <a:t>Random access memory (RAM) holds temporary data generated when applications are executed</a:t>
            </a:r>
          </a:p>
          <a:p>
            <a:endParaRPr lang="en-US" dirty="0" smtClean="0"/>
          </a:p>
        </p:txBody>
      </p:sp>
      <p:sp>
        <p:nvSpPr>
          <p:cNvPr id="6" name="Footer Placeholder 5"/>
          <p:cNvSpPr>
            <a:spLocks noGrp="1"/>
          </p:cNvSpPr>
          <p:nvPr>
            <p:ph type="ftr" sz="quarter" idx="11"/>
          </p:nvPr>
        </p:nvSpPr>
        <p:spPr>
          <a:xfrm>
            <a:off x="0" y="6492875"/>
            <a:ext cx="5105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pic>
        <p:nvPicPr>
          <p:cNvPr id="4" name="Picture 3" descr="f08.pdf"/>
          <p:cNvPicPr>
            <a:picLocks noChangeAspect="1"/>
          </p:cNvPicPr>
          <p:nvPr/>
        </p:nvPicPr>
        <mc:AlternateContent>
          <mc:Choice xmlns:ma="http://schemas.microsoft.com/office/mac/drawingml/2008/main" Requires="ma">
            <p:blipFill>
              <a:blip r:embed="rId3"/>
              <a:srcRect t="19091" b="20909"/>
              <a:stretch>
                <a:fillRect/>
              </a:stretch>
            </p:blipFill>
          </mc:Choice>
          <mc:Fallback>
            <p:blipFill>
              <a:blip r:embed="rId4"/>
              <a:srcRect t="19091" b="20909"/>
              <a:stretch>
                <a:fillRect/>
              </a:stretch>
            </p:blipFill>
          </mc:Fallback>
        </mc:AlternateContent>
        <p:spPr>
          <a:xfrm>
            <a:off x="228600" y="0"/>
            <a:ext cx="8635948" cy="6705600"/>
          </a:xfrm>
          <a:prstGeom prst="rect">
            <a:avLst/>
          </a:prstGeom>
        </p:spPr>
      </p:pic>
    </p:spTree>
  </p:cSld>
  <p:clrMapOvr>
    <a:masterClrMapping/>
  </p:clrMapOvr>
  <p:transition>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PIV Documentation</a:t>
            </a:r>
            <a:endParaRPr lang="en-US" dirty="0"/>
          </a:p>
        </p:txBody>
      </p:sp>
      <p:sp>
        <p:nvSpPr>
          <p:cNvPr id="5" name="Content Placeholder 4"/>
          <p:cNvSpPr>
            <a:spLocks noGrp="1"/>
          </p:cNvSpPr>
          <p:nvPr>
            <p:ph sz="half" idx="1"/>
          </p:nvPr>
        </p:nvSpPr>
        <p:spPr>
          <a:xfrm>
            <a:off x="457200" y="1676400"/>
            <a:ext cx="3962400" cy="4854575"/>
          </a:xfrm>
        </p:spPr>
        <p:txBody>
          <a:bodyPr>
            <a:normAutofit fontScale="25000" lnSpcReduction="20000"/>
          </a:bodyPr>
          <a:lstStyle/>
          <a:p>
            <a:r>
              <a:rPr lang="en-US" sz="4800" b="1" dirty="0" smtClean="0"/>
              <a:t>FIPS 201-2—Personal Identity Verification (PIV) of Federal Employees and Contractors</a:t>
            </a:r>
          </a:p>
          <a:p>
            <a:pPr lvl="1"/>
            <a:r>
              <a:rPr lang="en-US" sz="4800" dirty="0" smtClean="0"/>
              <a:t>Specifies the physical card characteristics, storage media, and data elements that make up the identity credentials resident on the PIV card</a:t>
            </a:r>
          </a:p>
          <a:p>
            <a:r>
              <a:rPr lang="en-US" sz="4800" b="1" dirty="0" smtClean="0"/>
              <a:t>SP 800-73-3—Interfaces for Personal Identity Verification</a:t>
            </a:r>
          </a:p>
          <a:p>
            <a:pPr lvl="1"/>
            <a:r>
              <a:rPr lang="en-US" sz="4600" dirty="0" smtClean="0"/>
              <a:t>Specifies the interfaces and card architecture for storing and retrieving identity credentials from a smart card, and provides guidelines for the use of authentication mechanisms and protocols</a:t>
            </a:r>
          </a:p>
          <a:p>
            <a:r>
              <a:rPr lang="en-US" sz="4800" b="1" dirty="0" smtClean="0"/>
              <a:t>SP 800-76-2—Biometric Data Specification for Personal Identity Verification</a:t>
            </a:r>
          </a:p>
          <a:p>
            <a:pPr lvl="1"/>
            <a:r>
              <a:rPr lang="en-US" sz="4600" dirty="0" smtClean="0"/>
              <a:t>Describes technical acquisition and formatting specifications for the biometric credentials of the PIV system</a:t>
            </a:r>
          </a:p>
          <a:p>
            <a:r>
              <a:rPr lang="en-US" sz="4800" b="1" dirty="0" smtClean="0"/>
              <a:t>SP 800-78-3—Cryptographic Algorithms and Key Sizes for Personal Identity Verification</a:t>
            </a:r>
          </a:p>
          <a:p>
            <a:pPr lvl="1"/>
            <a:r>
              <a:rPr lang="en-US" sz="4600" dirty="0" smtClean="0"/>
              <a:t>Identifies acceptable symmetric and asymmetric encryption algorithms, digital signature algorithms, and message digest algorithms, and </a:t>
            </a:r>
            <a:r>
              <a:rPr lang="en-US" sz="4800" dirty="0" smtClean="0"/>
              <a:t>specifies mechanisms to identify the algorithms associated with PIV keys or digital signatures</a:t>
            </a:r>
          </a:p>
          <a:p>
            <a:pPr lvl="1"/>
            <a:endParaRPr lang="en-US" sz="4800" dirty="0"/>
          </a:p>
        </p:txBody>
      </p:sp>
      <p:sp>
        <p:nvSpPr>
          <p:cNvPr id="6" name="Content Placeholder 5"/>
          <p:cNvSpPr>
            <a:spLocks noGrp="1"/>
          </p:cNvSpPr>
          <p:nvPr>
            <p:ph sz="half" idx="2"/>
          </p:nvPr>
        </p:nvSpPr>
        <p:spPr>
          <a:xfrm>
            <a:off x="4724400" y="1676400"/>
            <a:ext cx="3886200" cy="5181600"/>
          </a:xfrm>
        </p:spPr>
        <p:txBody>
          <a:bodyPr>
            <a:normAutofit fontScale="25000" lnSpcReduction="20000"/>
          </a:bodyPr>
          <a:lstStyle/>
          <a:p>
            <a:r>
              <a:rPr lang="en-US" sz="4800" b="1" dirty="0" smtClean="0"/>
              <a:t>SP 800-104—A Scheme for PIV Visual Card Topography</a:t>
            </a:r>
          </a:p>
          <a:p>
            <a:pPr lvl="1"/>
            <a:r>
              <a:rPr lang="en-US" sz="4800" dirty="0" smtClean="0"/>
              <a:t>Provides additional recommendations on the PIV card color-coding for designating employee affiliation</a:t>
            </a:r>
          </a:p>
          <a:p>
            <a:r>
              <a:rPr lang="en-US" sz="4800" b="1" dirty="0" smtClean="0"/>
              <a:t>SP 800-116—A Recommendation for the Use of PIV Credentials in Physical Access Control Systems (PACS)</a:t>
            </a:r>
          </a:p>
          <a:p>
            <a:pPr lvl="1"/>
            <a:r>
              <a:rPr lang="en-US" sz="4800" dirty="0" smtClean="0"/>
              <a:t>Describes a risk-based approach for selecting appropriate PIV authentication mechanisms to manage physical access to Federal government facilities and assets</a:t>
            </a:r>
          </a:p>
          <a:p>
            <a:r>
              <a:rPr lang="en-US" sz="4800" b="1" dirty="0" smtClean="0"/>
              <a:t>SP 800-79-1—Guidelines for the Accreditation of Personal Identity Verification Card Issuers</a:t>
            </a:r>
          </a:p>
          <a:p>
            <a:pPr lvl="1"/>
            <a:r>
              <a:rPr lang="en-US" sz="4800" dirty="0" smtClean="0"/>
              <a:t>Provides guidelines for accrediting the reliability of issuers of PIV cards that collect, store, and disseminate personal identity credentials and issue smart cards</a:t>
            </a:r>
          </a:p>
          <a:p>
            <a:r>
              <a:rPr lang="en-US" sz="4800" b="1" dirty="0" smtClean="0"/>
              <a:t>SP 800-96—PIV Card to Reader Interoperability Guidelines</a:t>
            </a:r>
          </a:p>
          <a:p>
            <a:pPr lvl="1"/>
            <a:r>
              <a:rPr lang="en-US" sz="4600" dirty="0" smtClean="0"/>
              <a:t>Provides requirements that facilitate interoperability between any card and any reader</a:t>
            </a:r>
          </a:p>
          <a:p>
            <a:endParaRPr lang="en-US" dirty="0"/>
          </a:p>
        </p:txBody>
      </p:sp>
      <p:sp>
        <p:nvSpPr>
          <p:cNvPr id="7" name="Footer Placeholder 6"/>
          <p:cNvSpPr>
            <a:spLocks noGrp="1"/>
          </p:cNvSpPr>
          <p:nvPr>
            <p:ph type="ftr" sz="quarter" idx="11"/>
          </p:nvPr>
        </p:nvSpPr>
        <p:spPr>
          <a:xfrm>
            <a:off x="0" y="6492875"/>
            <a:ext cx="5410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PIV Credentials and Keys</a:t>
            </a:r>
            <a:endParaRPr lang="en-US" dirty="0"/>
          </a:p>
        </p:txBody>
      </p:sp>
      <p:sp>
        <p:nvSpPr>
          <p:cNvPr id="3" name="Content Placeholder 2"/>
          <p:cNvSpPr>
            <a:spLocks noGrp="1"/>
          </p:cNvSpPr>
          <p:nvPr>
            <p:ph sz="half" idx="1"/>
          </p:nvPr>
        </p:nvSpPr>
        <p:spPr>
          <a:xfrm>
            <a:off x="457200" y="1676400"/>
            <a:ext cx="3794760" cy="4876800"/>
          </a:xfrm>
        </p:spPr>
        <p:txBody>
          <a:bodyPr>
            <a:noAutofit/>
          </a:bodyPr>
          <a:lstStyle/>
          <a:p>
            <a:pPr>
              <a:lnSpc>
                <a:spcPct val="80000"/>
              </a:lnSpc>
              <a:spcAft>
                <a:spcPts val="0"/>
              </a:spcAft>
            </a:pPr>
            <a:r>
              <a:rPr lang="en-US" sz="1200" b="1" dirty="0" smtClean="0"/>
              <a:t>Personal Identification Number (PIN)</a:t>
            </a:r>
          </a:p>
          <a:p>
            <a:pPr lvl="1">
              <a:lnSpc>
                <a:spcPct val="80000"/>
              </a:lnSpc>
              <a:spcAft>
                <a:spcPts val="0"/>
              </a:spcAft>
            </a:pPr>
            <a:r>
              <a:rPr lang="en-US" sz="1200" dirty="0" smtClean="0"/>
              <a:t>Required to activate the card for privileged operation</a:t>
            </a:r>
          </a:p>
          <a:p>
            <a:pPr>
              <a:lnSpc>
                <a:spcPct val="80000"/>
              </a:lnSpc>
              <a:spcAft>
                <a:spcPts val="0"/>
              </a:spcAft>
            </a:pPr>
            <a:r>
              <a:rPr lang="en-US" sz="1200" b="1" dirty="0" smtClean="0"/>
              <a:t>Cardholder Unique Identifier (CHUID)</a:t>
            </a:r>
          </a:p>
          <a:p>
            <a:pPr lvl="1">
              <a:lnSpc>
                <a:spcPct val="80000"/>
              </a:lnSpc>
              <a:spcAft>
                <a:spcPts val="0"/>
              </a:spcAft>
            </a:pPr>
            <a:r>
              <a:rPr lang="en-US" sz="1200" dirty="0" smtClean="0"/>
              <a:t>Includes the Federal Agency Smart Credential Number (FASC-N) and the Global Unique Identification Number (GUID), which uniquely identify the card and the cardholder</a:t>
            </a:r>
          </a:p>
          <a:p>
            <a:pPr>
              <a:lnSpc>
                <a:spcPct val="80000"/>
              </a:lnSpc>
              <a:spcAft>
                <a:spcPts val="0"/>
              </a:spcAft>
            </a:pPr>
            <a:r>
              <a:rPr lang="en-US" sz="1200" b="1" dirty="0" smtClean="0"/>
              <a:t>PIV Authentication Key</a:t>
            </a:r>
          </a:p>
          <a:p>
            <a:pPr lvl="1">
              <a:lnSpc>
                <a:spcPct val="80000"/>
              </a:lnSpc>
              <a:spcAft>
                <a:spcPts val="0"/>
              </a:spcAft>
            </a:pPr>
            <a:r>
              <a:rPr lang="en-US" sz="1200" dirty="0" smtClean="0"/>
              <a:t>Asymmetric key pair and corresponding certificate for user authentication</a:t>
            </a:r>
          </a:p>
          <a:p>
            <a:pPr>
              <a:lnSpc>
                <a:spcPct val="80000"/>
              </a:lnSpc>
              <a:spcAft>
                <a:spcPts val="0"/>
              </a:spcAft>
            </a:pPr>
            <a:r>
              <a:rPr lang="en-US" sz="1200" b="1" dirty="0" smtClean="0"/>
              <a:t>Two fingerprint templates</a:t>
            </a:r>
          </a:p>
          <a:p>
            <a:pPr lvl="1">
              <a:lnSpc>
                <a:spcPct val="80000"/>
              </a:lnSpc>
              <a:spcAft>
                <a:spcPts val="0"/>
              </a:spcAft>
            </a:pPr>
            <a:r>
              <a:rPr lang="en-US" sz="1200" dirty="0" smtClean="0"/>
              <a:t>For biometric authentication</a:t>
            </a:r>
          </a:p>
          <a:p>
            <a:pPr>
              <a:lnSpc>
                <a:spcPct val="80000"/>
              </a:lnSpc>
              <a:spcAft>
                <a:spcPts val="0"/>
              </a:spcAft>
            </a:pPr>
            <a:r>
              <a:rPr lang="en-US" sz="1200" b="1" dirty="0" smtClean="0"/>
              <a:t>Electronic facial image</a:t>
            </a:r>
          </a:p>
          <a:p>
            <a:pPr lvl="1">
              <a:lnSpc>
                <a:spcPct val="80000"/>
              </a:lnSpc>
              <a:spcAft>
                <a:spcPts val="0"/>
              </a:spcAft>
            </a:pPr>
            <a:r>
              <a:rPr lang="en-US" sz="1200" dirty="0" smtClean="0"/>
              <a:t>For biometric authentication</a:t>
            </a:r>
          </a:p>
          <a:p>
            <a:pPr>
              <a:lnSpc>
                <a:spcPct val="80000"/>
              </a:lnSpc>
              <a:spcAft>
                <a:spcPts val="0"/>
              </a:spcAft>
            </a:pPr>
            <a:r>
              <a:rPr lang="en-US" sz="1200" b="1" dirty="0" smtClean="0"/>
              <a:t>Asymmetric Card Authentication Key</a:t>
            </a:r>
          </a:p>
          <a:p>
            <a:pPr lvl="1">
              <a:lnSpc>
                <a:spcPct val="80000"/>
              </a:lnSpc>
              <a:spcAft>
                <a:spcPts val="0"/>
              </a:spcAft>
            </a:pPr>
            <a:r>
              <a:rPr lang="en-US" sz="1200" dirty="0" smtClean="0"/>
              <a:t>Asymmetric key pair and corresponding certificate used for card authentication</a:t>
            </a:r>
            <a:endParaRPr lang="en-US" sz="1200" dirty="0"/>
          </a:p>
        </p:txBody>
      </p:sp>
      <p:sp>
        <p:nvSpPr>
          <p:cNvPr id="4" name="Content Placeholder 3"/>
          <p:cNvSpPr>
            <a:spLocks noGrp="1"/>
          </p:cNvSpPr>
          <p:nvPr>
            <p:ph sz="half" idx="2"/>
          </p:nvPr>
        </p:nvSpPr>
        <p:spPr>
          <a:xfrm>
            <a:off x="4766534" y="1774825"/>
            <a:ext cx="3566160" cy="4778375"/>
          </a:xfrm>
        </p:spPr>
        <p:txBody>
          <a:bodyPr>
            <a:normAutofit fontScale="55000" lnSpcReduction="20000"/>
          </a:bodyPr>
          <a:lstStyle/>
          <a:p>
            <a:pPr>
              <a:buNone/>
            </a:pPr>
            <a:r>
              <a:rPr lang="en-US" sz="2727" b="1" dirty="0" smtClean="0"/>
              <a:t> Optional elements include the following:</a:t>
            </a:r>
          </a:p>
          <a:p>
            <a:r>
              <a:rPr lang="en-US" b="1" dirty="0" smtClean="0"/>
              <a:t>Digital Signature Key</a:t>
            </a:r>
          </a:p>
          <a:p>
            <a:pPr lvl="1"/>
            <a:r>
              <a:rPr lang="en-US" dirty="0" smtClean="0"/>
              <a:t>Asymmetric key pair and corresponding certificate that supports document signing and signing of data elements such as the CHUID</a:t>
            </a:r>
          </a:p>
          <a:p>
            <a:r>
              <a:rPr lang="en-US" b="1" dirty="0" smtClean="0"/>
              <a:t>Key Management Key</a:t>
            </a:r>
          </a:p>
          <a:p>
            <a:pPr lvl="1"/>
            <a:r>
              <a:rPr lang="en-US" dirty="0" smtClean="0"/>
              <a:t>Asymmetric key pair and corresponding certificate supporting key establishment and transport</a:t>
            </a:r>
          </a:p>
          <a:p>
            <a:r>
              <a:rPr lang="en-US" b="1" dirty="0" smtClean="0"/>
              <a:t>Symmetric Card Authentication Key</a:t>
            </a:r>
          </a:p>
          <a:p>
            <a:pPr lvl="1"/>
            <a:r>
              <a:rPr lang="en-US" dirty="0" smtClean="0"/>
              <a:t>For supporting physical access applications</a:t>
            </a:r>
          </a:p>
          <a:p>
            <a:r>
              <a:rPr lang="en-US" b="1" dirty="0" smtClean="0"/>
              <a:t>PIV Card Application Administration Key</a:t>
            </a:r>
          </a:p>
          <a:p>
            <a:pPr lvl="1"/>
            <a:r>
              <a:rPr lang="en-US" dirty="0" smtClean="0"/>
              <a:t>Symmetric key associated with the card management system</a:t>
            </a:r>
          </a:p>
          <a:p>
            <a:r>
              <a:rPr lang="en-US" b="1" dirty="0" smtClean="0"/>
              <a:t>One or two iris images</a:t>
            </a:r>
          </a:p>
          <a:p>
            <a:pPr lvl="1"/>
            <a:r>
              <a:rPr lang="en-US" dirty="0" smtClean="0"/>
              <a:t>For biometric authentication</a:t>
            </a:r>
            <a:endParaRPr lang="en-US" dirty="0"/>
          </a:p>
        </p:txBody>
      </p:sp>
      <p:sp>
        <p:nvSpPr>
          <p:cNvPr id="5" name="Footer Placeholder 4"/>
          <p:cNvSpPr>
            <a:spLocks noGrp="1"/>
          </p:cNvSpPr>
          <p:nvPr>
            <p:ph type="ftr" sz="quarter" idx="11"/>
          </p:nvPr>
        </p:nvSpPr>
        <p:spPr>
          <a:xfrm>
            <a:off x="0" y="6492875"/>
            <a:ext cx="6096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131074" name="Object 2"/>
          <p:cNvGraphicFramePr>
            <a:graphicFrameLocks noChangeAspect="1"/>
          </p:cNvGraphicFramePr>
          <p:nvPr/>
        </p:nvGraphicFramePr>
        <p:xfrm>
          <a:off x="457200" y="838200"/>
          <a:ext cx="8375342" cy="5841943"/>
        </p:xfrm>
        <a:graphic>
          <a:graphicData uri="http://schemas.openxmlformats.org/presentationml/2006/ole">
            <p:oleObj spid="_x0000_s131074" name="Document" r:id="rId4" imgW="5626100" imgH="3924300" progId="Word.Document.12">
              <p:link updateAutomatic="1"/>
            </p:oleObj>
          </a:graphicData>
        </a:graphic>
      </p:graphicFrame>
      <p:sp>
        <p:nvSpPr>
          <p:cNvPr id="4" name="Footer Placeholder 3"/>
          <p:cNvSpPr>
            <a:spLocks noGrp="1"/>
          </p:cNvSpPr>
          <p:nvPr>
            <p:ph type="ftr" sz="quarter" idx="11"/>
          </p:nvPr>
        </p:nvSpPr>
        <p:spPr>
          <a:xfrm>
            <a:off x="0" y="6492875"/>
            <a:ext cx="5943600" cy="365125"/>
          </a:xfrm>
        </p:spPr>
        <p:txBody>
          <a:bodyPr/>
          <a:lstStyle/>
          <a:p>
            <a:pPr>
              <a:defRPr/>
            </a:pPr>
            <a:r>
              <a:rPr lang="en-US" sz="1050" dirty="0" smtClean="0"/>
              <a:t>© 2017 Pearson Education, Inc., Hoboken, NJ. All rights reserved.      </a:t>
            </a:r>
            <a:endParaRPr lang="en-US" sz="1050" dirty="0"/>
          </a:p>
        </p:txBody>
      </p:sp>
      <p:sp>
        <p:nvSpPr>
          <p:cNvPr id="7" name="TextBox 6"/>
          <p:cNvSpPr txBox="1"/>
          <p:nvPr/>
        </p:nvSpPr>
        <p:spPr>
          <a:xfrm>
            <a:off x="0" y="0"/>
            <a:ext cx="9144000" cy="707886"/>
          </a:xfrm>
          <a:prstGeom prst="rect">
            <a:avLst/>
          </a:prstGeom>
          <a:noFill/>
        </p:spPr>
        <p:txBody>
          <a:bodyPr wrap="square" rtlCol="0">
            <a:spAutoFit/>
          </a:bodyPr>
          <a:lstStyle/>
          <a:p>
            <a:pPr algn="ctr"/>
            <a:r>
              <a:rPr lang="en-US" sz="2000" dirty="0" smtClean="0"/>
              <a:t>Table 15.5</a:t>
            </a:r>
          </a:p>
          <a:p>
            <a:pPr algn="ctr"/>
            <a:r>
              <a:rPr lang="en-US" sz="2000" dirty="0" smtClean="0"/>
              <a:t>PIV Algorithms and Key Sizes</a:t>
            </a:r>
            <a:endParaRPr lang="en-US" sz="2000" dirty="0"/>
          </a:p>
        </p:txBody>
      </p:sp>
    </p:spTree>
  </p:cSld>
  <p:clrMapOvr>
    <a:masterClrMapping/>
  </p:clrMapOvr>
  <p:transition>
    <p:dissolv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Authentication </a:t>
            </a:r>
            <a:endParaRPr lang="en-US" dirty="0"/>
          </a:p>
        </p:txBody>
      </p:sp>
      <p:sp>
        <p:nvSpPr>
          <p:cNvPr id="6" name="Content Placeholder 5"/>
          <p:cNvSpPr>
            <a:spLocks noGrp="1"/>
          </p:cNvSpPr>
          <p:nvPr>
            <p:ph sz="half" idx="1"/>
          </p:nvPr>
        </p:nvSpPr>
        <p:spPr>
          <a:xfrm>
            <a:off x="381000" y="1676400"/>
            <a:ext cx="3566160" cy="5181600"/>
          </a:xfrm>
        </p:spPr>
        <p:txBody>
          <a:bodyPr>
            <a:normAutofit/>
          </a:bodyPr>
          <a:lstStyle/>
          <a:p>
            <a:r>
              <a:rPr lang="en-US" sz="1400" b="1" dirty="0" smtClean="0"/>
              <a:t>Using the electronic credentials resident on a PIV card, the card supports the following authentication mechanisms:</a:t>
            </a:r>
          </a:p>
          <a:p>
            <a:pPr lvl="1">
              <a:spcBef>
                <a:spcPts val="1800"/>
              </a:spcBef>
            </a:pPr>
            <a:r>
              <a:rPr lang="en-US" sz="1400" b="1" dirty="0" smtClean="0"/>
              <a:t>CHUID</a:t>
            </a:r>
          </a:p>
          <a:p>
            <a:pPr lvl="2">
              <a:buNone/>
            </a:pPr>
            <a:r>
              <a:rPr lang="en-US" sz="1050" dirty="0" smtClean="0"/>
              <a:t>	The cardholder is authenticated using the signed CHUID data element on the card. The PIN is not required. This mechanism is useful in environments where a low level of assurance is acceptable and rapid contactless authentication is necessary</a:t>
            </a:r>
          </a:p>
          <a:p>
            <a:pPr lvl="2"/>
            <a:endParaRPr lang="en-US" sz="1050" dirty="0" smtClean="0"/>
          </a:p>
          <a:p>
            <a:pPr lvl="1"/>
            <a:r>
              <a:rPr lang="en-US" sz="1400" b="1" dirty="0" smtClean="0"/>
              <a:t>Card Authentication Key</a:t>
            </a:r>
          </a:p>
          <a:p>
            <a:pPr lvl="2">
              <a:buNone/>
            </a:pPr>
            <a:r>
              <a:rPr lang="en-US" sz="1400" b="1" dirty="0" smtClean="0"/>
              <a:t>	</a:t>
            </a:r>
            <a:r>
              <a:rPr lang="en-US" sz="1050" dirty="0" smtClean="0"/>
              <a:t>The PIV card is authenticated using the Card Authentication Key in a challenge response protocol. The PIN is not required. This mechanism allows contact (via card reader) or contactless (via radio waves) authentication of the PIV card without the holder’s active participation, and provides a low level of assurance</a:t>
            </a:r>
          </a:p>
          <a:p>
            <a:pPr lvl="2">
              <a:buNone/>
            </a:pPr>
            <a:endParaRPr lang="en-US" sz="1000" dirty="0"/>
          </a:p>
        </p:txBody>
      </p:sp>
      <p:sp>
        <p:nvSpPr>
          <p:cNvPr id="7" name="Content Placeholder 6"/>
          <p:cNvSpPr>
            <a:spLocks noGrp="1"/>
          </p:cNvSpPr>
          <p:nvPr>
            <p:ph sz="half" idx="2"/>
          </p:nvPr>
        </p:nvSpPr>
        <p:spPr>
          <a:xfrm>
            <a:off x="4267200" y="1600200"/>
            <a:ext cx="4343400" cy="4800600"/>
          </a:xfrm>
        </p:spPr>
        <p:txBody>
          <a:bodyPr>
            <a:noAutofit/>
          </a:bodyPr>
          <a:lstStyle/>
          <a:p>
            <a:pPr>
              <a:buNone/>
            </a:pPr>
            <a:r>
              <a:rPr lang="en-US" sz="1400" b="1" dirty="0" smtClean="0"/>
              <a:t>	• BIO</a:t>
            </a:r>
          </a:p>
          <a:p>
            <a:pPr lvl="1">
              <a:buNone/>
            </a:pPr>
            <a:r>
              <a:rPr lang="en-US" sz="1050" dirty="0" smtClean="0"/>
              <a:t>	The cardholder is authenticated by matching his or her fingerprint sample(s) to the signed biometric data element in an environment without a human attendant in view. The PIN is required to activate the card. This mechanism achieves a high level of assurance and requires the cardholder’s active participation is submitting the PIN as well as the biometric sample</a:t>
            </a:r>
          </a:p>
          <a:p>
            <a:pPr lvl="1">
              <a:spcBef>
                <a:spcPts val="1200"/>
              </a:spcBef>
            </a:pPr>
            <a:r>
              <a:rPr lang="en-US" sz="1400" b="1" dirty="0" smtClean="0">
                <a:cs typeface="ＭＳ Ｐゴシック" pitchFamily="-84" charset="-128"/>
              </a:rPr>
              <a:t>BIO-A</a:t>
            </a:r>
            <a:endParaRPr lang="en-US" sz="1400" b="1" dirty="0" smtClean="0"/>
          </a:p>
          <a:p>
            <a:pPr lvl="1">
              <a:buNone/>
            </a:pPr>
            <a:r>
              <a:rPr lang="en-US" sz="1050" dirty="0" smtClean="0"/>
              <a:t>	The cardholder is authenticated by matching his or her fingerprint sample(s) to the signed biometric data element in an environment with a human attendant in view. The PIN is required to activate the card. This mechanism achieves a very high level of assurance when coupled with full trust validation of the biometric template retrieved from the card, and requires the cardholder’s active participation is submitting the PIN as well as the biometric sample</a:t>
            </a:r>
          </a:p>
          <a:p>
            <a:pPr>
              <a:buNone/>
            </a:pPr>
            <a:r>
              <a:rPr lang="en-US" sz="1400" b="1" dirty="0" smtClean="0"/>
              <a:t>	• PKI</a:t>
            </a:r>
          </a:p>
          <a:p>
            <a:pPr lvl="1">
              <a:buNone/>
            </a:pPr>
            <a:r>
              <a:rPr lang="en-US" sz="1050" dirty="0" smtClean="0"/>
              <a:t>	The cardholder is authenticated by demonstrating control of the PIV authentication private key in a challenge response protocol that can be validated using the PIV authentication certificate. The PIN is required to activate the card. This mechanism achieves a very high level of identity assurance and requires the cardholder’s knowledge of the PIN</a:t>
            </a:r>
            <a:endParaRPr lang="en-US" sz="1050" dirty="0"/>
          </a:p>
        </p:txBody>
      </p:sp>
      <p:sp>
        <p:nvSpPr>
          <p:cNvPr id="8" name="Footer Placeholder 7"/>
          <p:cNvSpPr>
            <a:spLocks noGrp="1"/>
          </p:cNvSpPr>
          <p:nvPr>
            <p:ph type="ftr" sz="quarter" idx="11"/>
          </p:nvPr>
        </p:nvSpPr>
        <p:spPr>
          <a:xfrm>
            <a:off x="0" y="6492875"/>
            <a:ext cx="4953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pic>
        <p:nvPicPr>
          <p:cNvPr id="4" name="Picture 3" descr="f09.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676400" y="-381000"/>
            <a:ext cx="5791200" cy="7494494"/>
          </a:xfrm>
          <a:prstGeom prst="rect">
            <a:avLst/>
          </a:prstGeom>
        </p:spPr>
      </p:pic>
    </p:spTree>
  </p:cSld>
  <p:clrMapOvr>
    <a:masterClrMapping/>
  </p:clrMapOvr>
  <p:transition>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152400" y="1600200"/>
            <a:ext cx="3641725" cy="5562600"/>
          </a:xfrm>
        </p:spPr>
        <p:txBody>
          <a:bodyPr>
            <a:normAutofit fontScale="85000" lnSpcReduction="20000"/>
          </a:bodyPr>
          <a:lstStyle/>
          <a:p>
            <a:r>
              <a:rPr lang="en-US" dirty="0" smtClean="0"/>
              <a:t>Remote user-authentication </a:t>
            </a:r>
            <a:r>
              <a:rPr lang="en-US" dirty="0" smtClean="0"/>
              <a:t>principles</a:t>
            </a:r>
          </a:p>
          <a:p>
            <a:pPr lvl="1"/>
            <a:r>
              <a:rPr lang="en-US" sz="2235" dirty="0" smtClean="0"/>
              <a:t>The NIST model for electronic user </a:t>
            </a:r>
            <a:r>
              <a:rPr lang="en-US" sz="2235" dirty="0" smtClean="0"/>
              <a:t>authentication</a:t>
            </a:r>
          </a:p>
          <a:p>
            <a:pPr lvl="1"/>
            <a:r>
              <a:rPr lang="en-US" sz="2235" dirty="0" smtClean="0"/>
              <a:t>Means of authentication</a:t>
            </a:r>
          </a:p>
          <a:p>
            <a:pPr lvl="1"/>
            <a:r>
              <a:rPr lang="en-US" dirty="0" smtClean="0"/>
              <a:t>Mutual authentication</a:t>
            </a:r>
          </a:p>
          <a:p>
            <a:pPr lvl="1"/>
            <a:r>
              <a:rPr lang="en-US" dirty="0" smtClean="0"/>
              <a:t>One-way authentication</a:t>
            </a:r>
          </a:p>
          <a:p>
            <a:r>
              <a:rPr lang="en-US" dirty="0" smtClean="0"/>
              <a:t>Remote user-authentication using symmetric encryption</a:t>
            </a:r>
          </a:p>
          <a:p>
            <a:pPr lvl="1"/>
            <a:r>
              <a:rPr lang="en-US" dirty="0" smtClean="0"/>
              <a:t>Mutual authentication</a:t>
            </a:r>
          </a:p>
          <a:p>
            <a:pPr lvl="1"/>
            <a:r>
              <a:rPr lang="en-US" dirty="0" smtClean="0"/>
              <a:t>One-way authentication</a:t>
            </a:r>
          </a:p>
          <a:p>
            <a:r>
              <a:rPr lang="en-US" dirty="0" smtClean="0"/>
              <a:t>Kerberos</a:t>
            </a:r>
          </a:p>
          <a:p>
            <a:pPr lvl="1"/>
            <a:r>
              <a:rPr lang="en-US" dirty="0" smtClean="0"/>
              <a:t>Motivation</a:t>
            </a:r>
          </a:p>
          <a:p>
            <a:pPr lvl="1"/>
            <a:r>
              <a:rPr lang="en-US" dirty="0" smtClean="0"/>
              <a:t>Kerberos V4</a:t>
            </a:r>
            <a:r>
              <a:rPr lang="en-AU" dirty="0" smtClean="0"/>
              <a:t> and V5</a:t>
            </a:r>
            <a:endParaRPr lang="en-US" dirty="0" smtClean="0"/>
          </a:p>
        </p:txBody>
      </p:sp>
      <p:sp>
        <p:nvSpPr>
          <p:cNvPr id="76804" name="Content Placeholder 11"/>
          <p:cNvSpPr>
            <a:spLocks noGrp="1"/>
          </p:cNvSpPr>
          <p:nvPr>
            <p:ph sz="half" idx="2"/>
          </p:nvPr>
        </p:nvSpPr>
        <p:spPr>
          <a:xfrm>
            <a:off x="5578475" y="1752600"/>
            <a:ext cx="3565525" cy="4876800"/>
          </a:xfrm>
        </p:spPr>
        <p:txBody>
          <a:bodyPr rtlCol="0">
            <a:normAutofit fontScale="85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Remote user-authentication using asymmetric encryption</a:t>
            </a:r>
          </a:p>
          <a:p>
            <a:pPr lvl="1"/>
            <a:r>
              <a:rPr lang="en-US" dirty="0" smtClean="0"/>
              <a:t>Mutual authentication</a:t>
            </a:r>
          </a:p>
          <a:p>
            <a:pPr lvl="1"/>
            <a:r>
              <a:rPr lang="en-US" dirty="0" smtClean="0"/>
              <a:t>One-way authentication</a:t>
            </a: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Federated identity management</a:t>
            </a:r>
          </a:p>
          <a:p>
            <a:pPr lvl="1" fontAlgn="auto">
              <a:spcAft>
                <a:spcPts val="0"/>
              </a:spcAft>
              <a:buClr>
                <a:schemeClr val="accent1">
                  <a:lumMod val="60000"/>
                  <a:lumOff val="40000"/>
                </a:schemeClr>
              </a:buClr>
              <a:buFont typeface="Candara" pitchFamily="34" charset="0"/>
              <a:buChar char="•"/>
              <a:defRPr/>
            </a:pPr>
            <a:r>
              <a:rPr lang="en-US" dirty="0" smtClean="0">
                <a:ea typeface="+mn-ea"/>
              </a:rPr>
              <a:t>Identity management</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Identity federation</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Personal identity verification</a:t>
            </a:r>
          </a:p>
          <a:p>
            <a:pPr lvl="1" fontAlgn="auto">
              <a:spcAft>
                <a:spcPts val="0"/>
              </a:spcAft>
              <a:buClr>
                <a:schemeClr val="accent1">
                  <a:lumMod val="60000"/>
                  <a:lumOff val="40000"/>
                </a:schemeClr>
              </a:buClr>
              <a:buFont typeface="Candara" pitchFamily="34" charset="0"/>
              <a:buChar char="•"/>
              <a:defRPr/>
            </a:pPr>
            <a:r>
              <a:rPr lang="en-US" dirty="0" smtClean="0">
                <a:ea typeface="+mn-ea"/>
              </a:rPr>
              <a:t>PIV system model</a:t>
            </a:r>
          </a:p>
          <a:p>
            <a:pPr lvl="1" fontAlgn="auto">
              <a:spcAft>
                <a:spcPts val="0"/>
              </a:spcAft>
              <a:buClr>
                <a:schemeClr val="accent1">
                  <a:lumMod val="60000"/>
                  <a:lumOff val="40000"/>
                </a:schemeClr>
              </a:buClr>
              <a:buFont typeface="Candara" pitchFamily="34" charset="0"/>
              <a:buChar char="•"/>
              <a:defRPr/>
            </a:pPr>
            <a:r>
              <a:rPr lang="en-US" dirty="0" smtClean="0">
                <a:ea typeface="+mn-ea"/>
              </a:rPr>
              <a:t>PIV documentation</a:t>
            </a:r>
          </a:p>
          <a:p>
            <a:pPr lvl="1" fontAlgn="auto">
              <a:spcAft>
                <a:spcPts val="0"/>
              </a:spcAft>
              <a:buClr>
                <a:schemeClr val="accent1">
                  <a:lumMod val="60000"/>
                  <a:lumOff val="40000"/>
                </a:schemeClr>
              </a:buClr>
              <a:buFont typeface="Candara" pitchFamily="34" charset="0"/>
              <a:buChar char="•"/>
              <a:defRPr/>
            </a:pPr>
            <a:r>
              <a:rPr lang="en-US" dirty="0" smtClean="0">
                <a:ea typeface="+mn-ea"/>
              </a:rPr>
              <a:t>PIV credentials and keys</a:t>
            </a:r>
            <a:endParaRPr lang="en-US" dirty="0" smtClean="0">
              <a:ea typeface="+mn-ea"/>
            </a:endParaRPr>
          </a:p>
          <a:p>
            <a:pPr lvl="1" fontAlgn="auto">
              <a:spcAft>
                <a:spcPts val="0"/>
              </a:spcAft>
              <a:buClr>
                <a:schemeClr val="accent1">
                  <a:lumMod val="60000"/>
                  <a:lumOff val="40000"/>
                </a:schemeClr>
              </a:buClr>
              <a:buFont typeface="Candara" pitchFamily="34" charset="0"/>
              <a:buChar char="•"/>
              <a:defRPr/>
            </a:pPr>
            <a:r>
              <a:rPr lang="en-US" dirty="0" smtClean="0">
                <a:ea typeface="+mn-ea"/>
              </a:rPr>
              <a:t>A</a:t>
            </a:r>
            <a:r>
              <a:rPr lang="en-US" dirty="0" smtClean="0">
                <a:ea typeface="+mn-ea"/>
              </a:rPr>
              <a:t>uthentication</a:t>
            </a:r>
            <a:endParaRPr lang="en-US" dirty="0" smtClean="0">
              <a:ea typeface="+mn-ea"/>
            </a:endParaRP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429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5486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10258</TotalTime>
  <Words>16774</Words>
  <Application>Microsoft Macintosh PowerPoint</Application>
  <PresentationFormat>On-screen Show (4:3)</PresentationFormat>
  <Paragraphs>1488</Paragraphs>
  <Slides>43</Slides>
  <Notes>43</Notes>
  <HiddenSlides>0</HiddenSlides>
  <MMClips>0</MMClips>
  <ScaleCrop>false</ScaleCrop>
  <HeadingPairs>
    <vt:vector size="6" baseType="variant">
      <vt:variant>
        <vt:lpstr>Design Template</vt:lpstr>
      </vt:variant>
      <vt:variant>
        <vt:i4>2</vt:i4>
      </vt:variant>
      <vt:variant>
        <vt:lpstr>Links</vt:lpstr>
      </vt:variant>
      <vt:variant>
        <vt:i4>2</vt:i4>
      </vt:variant>
      <vt:variant>
        <vt:lpstr>Slide Titles</vt:lpstr>
      </vt:variant>
      <vt:variant>
        <vt:i4>43</vt:i4>
      </vt:variant>
    </vt:vector>
  </HeadingPairs>
  <TitlesOfParts>
    <vt:vector size="47" baseType="lpstr">
      <vt:lpstr>ch01</vt:lpstr>
      <vt:lpstr>Infusion</vt:lpstr>
      <vt:lpstr>mclaughlinkl:Desktop:Crypto6e%20Tables:T15-UserAuthentication.doc!OLE_LINK2</vt:lpstr>
      <vt:lpstr>mclaughlinkl:Desktop:Crypto6e%20Tables:T15-UserAuthentication.doc!OLE_LINK3</vt:lpstr>
      <vt:lpstr>Cryptography and Network Security</vt:lpstr>
      <vt:lpstr>Chapter 15</vt:lpstr>
      <vt:lpstr>Remote User-Authentication Principles</vt:lpstr>
      <vt:lpstr>Slide 4</vt:lpstr>
      <vt:lpstr>Means of User Authentication </vt:lpstr>
      <vt:lpstr>Mutual Authentication</vt:lpstr>
      <vt:lpstr>Replay Attacks</vt:lpstr>
      <vt:lpstr>Approaches to Coping With Replay Attacks</vt:lpstr>
      <vt:lpstr>One-Way Authentication</vt:lpstr>
      <vt:lpstr>Remote User-Authentication Using Symmetric Encryption</vt:lpstr>
      <vt:lpstr>Suppress-Replay Attacks</vt:lpstr>
      <vt:lpstr>Kerberos</vt:lpstr>
      <vt:lpstr>Kerberos Requirements</vt:lpstr>
      <vt:lpstr>Kerberos Version 4</vt:lpstr>
      <vt:lpstr>The Version 4 Authentication Dialogue</vt:lpstr>
      <vt:lpstr>Slide 16</vt:lpstr>
      <vt:lpstr>Slide 17</vt:lpstr>
      <vt:lpstr>Slide 18</vt:lpstr>
      <vt:lpstr>Slide 19</vt:lpstr>
      <vt:lpstr>Slide 20</vt:lpstr>
      <vt:lpstr>Slide 21</vt:lpstr>
      <vt:lpstr>Kerberos Realms  and Multiple Kerberi</vt:lpstr>
      <vt:lpstr>Kerberos Realm</vt:lpstr>
      <vt:lpstr>Kerberos Principal</vt:lpstr>
      <vt:lpstr>Slide 25</vt:lpstr>
      <vt:lpstr>Differences Between Versions 4 and 5</vt:lpstr>
      <vt:lpstr>Slide 27</vt:lpstr>
      <vt:lpstr>Slide 28</vt:lpstr>
      <vt:lpstr>Mutual Authentication</vt:lpstr>
      <vt:lpstr>One-Way Authentication</vt:lpstr>
      <vt:lpstr>Federated Identity Management</vt:lpstr>
      <vt:lpstr>Slide 32</vt:lpstr>
      <vt:lpstr>Slide 33</vt:lpstr>
      <vt:lpstr>Key Standards</vt:lpstr>
      <vt:lpstr>Slide 35</vt:lpstr>
      <vt:lpstr>Personal Identity Verification</vt:lpstr>
      <vt:lpstr>Slide 37</vt:lpstr>
      <vt:lpstr>PIV Documentation</vt:lpstr>
      <vt:lpstr>PIV Credentials and Keys</vt:lpstr>
      <vt:lpstr>Slide 40</vt:lpstr>
      <vt:lpstr>Authentication </vt:lpstr>
      <vt:lpstr>Slide 42</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15</dc:subject>
  <dc:creator>Dr Lawrie Brown</dc:creator>
  <cp:keywords/>
  <dc:description/>
  <cp:lastModifiedBy>Kevin McLaughlin</cp:lastModifiedBy>
  <cp:revision>54</cp:revision>
  <dcterms:created xsi:type="dcterms:W3CDTF">2016-05-01T01:47:55Z</dcterms:created>
  <dcterms:modified xsi:type="dcterms:W3CDTF">2016-05-03T16:09:11Z</dcterms:modified>
  <cp:category/>
</cp:coreProperties>
</file>