
<file path=[Content_Types].xml><?xml version="1.0" encoding="utf-8"?>
<Types xmlns="http://schemas.openxmlformats.org/package/2006/content-types">
  <Override PartName="/ppt/slides/slide14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33.xml" ContentType="application/vnd.openxmlformats-officedocument.presentationml.slide+xml"/>
  <Override PartName="/ppt/diagrams/colors2.xml" ContentType="application/vnd.openxmlformats-officedocument.drawingml.diagramColors+xml"/>
  <Override PartName="/ppt/notesSlides/notesSlide30.xml" ContentType="application/vnd.openxmlformats-officedocument.presentationml.notesSlide+xml"/>
  <Default Extension="bin" ContentType="application/vnd.openxmlformats-officedocument.presentationml.printerSettings"/>
  <Override PartName="/ppt/slideLayouts/slideLayout20.xml" ContentType="application/vnd.openxmlformats-officedocument.presentationml.slideLayout+xml"/>
  <Override PartName="/ppt/slideLayouts/slideLayout17.xml" ContentType="application/vnd.openxmlformats-officedocument.presentationml.slideLayout+xml"/>
  <Override PartName="/ppt/notesSlides/notesSlide13.xml" ContentType="application/vnd.openxmlformats-officedocument.presentationml.notesSlide+xml"/>
  <Default Extension="wmf" ContentType="image/x-wmf"/>
  <Override PartName="/ppt/notesSlides/notesSlide29.xml" ContentType="application/vnd.openxmlformats-officedocument.presentationml.notesSlide+xml"/>
  <Override PartName="/ppt/notesSlides/notesSlide2.xml" ContentType="application/vnd.openxmlformats-officedocument.presentationml.notesSlide+xml"/>
  <Override PartName="/ppt/slides/slide18.xml" ContentType="application/vnd.openxmlformats-officedocument.presentationml.slide+xml"/>
  <Override PartName="/ppt/slides/slide3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34.xml" ContentType="application/vnd.openxmlformats-officedocument.presentationml.notesSlide+xml"/>
  <Override PartName="/ppt/slides/slide23.xml" ContentType="application/vnd.openxmlformats-officedocument.presentationml.slide+xml"/>
  <Override PartName="/ppt/theme/theme1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10.xml" ContentType="application/vnd.openxmlformats-officedocument.presentationml.slideLayout+xml"/>
  <Override PartName="/ppt/diagrams/layout1.xml" ContentType="application/vnd.openxmlformats-officedocument.drawingml.diagramLayout+xml"/>
  <Override PartName="/ppt/notesSlides/notesSlide17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2.xml" ContentType="application/vnd.openxmlformats-officedocument.drawingml.diagramData+xml"/>
  <Override PartName="/ppt/diagrams/quickStyle1.xml" ContentType="application/vnd.openxmlformats-officedocument.drawingml.diagramStyle+xml"/>
  <Override PartName="/ppt/notesSlides/notesSlide22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30.xml" ContentType="application/vnd.openxmlformats-officedocument.presentationml.slide+xml"/>
  <Override PartName="/ppt/slides/slide27.xml" ContentType="application/vnd.openxmlformats-officedocument.presentationml.slide+xml"/>
  <Override PartName="/ppt/slides/slide11.xml" ContentType="application/vnd.openxmlformats-officedocument.presentationml.slide+xml"/>
  <Override PartName="/ppt/notesSlides/notesSlide8.xml" ContentType="application/vnd.openxmlformats-officedocument.presentationml.notesSlide+xml"/>
  <Override PartName="/ppt/slideLayouts/slideLayout14.xml" ContentType="application/vnd.openxmlformats-officedocument.presentationml.slideLayout+xml"/>
  <Override PartName="/ppt/notesSlides/notesSlide26.xml" ContentType="application/vnd.openxmlformats-officedocument.presentationml.notesSlide+xml"/>
  <Override PartName="/ppt/slideLayouts/slideLayout9.xml" ContentType="application/vnd.openxmlformats-officedocument.presentationml.slideLayout+xml"/>
  <Override PartName="/ppt/slides/slide34.xml" ContentType="application/vnd.openxmlformats-officedocument.presentationml.slide+xml"/>
  <Override PartName="/ppt/slides/slide15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20.xml" ContentType="application/vnd.openxmlformats-officedocument.presentationml.slide+xml"/>
  <Override PartName="/ppt/slideLayouts/slideLayout21.xml" ContentType="application/vnd.openxmlformats-officedocument.presentationml.slideLayout+xml"/>
  <Override PartName="/ppt/slideLayouts/slideLayout18.xml" ContentType="application/vnd.openxmlformats-officedocument.presentationml.slideLayout+xml"/>
  <Override PartName="/ppt/presProps.xml" ContentType="application/vnd.openxmlformats-officedocument.presentationml.presProps+xml"/>
  <Override PartName="/ppt/notesSlides/notesSlide14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19.xml" ContentType="application/vnd.openxmlformats-officedocument.presentationml.slide+xml"/>
  <Override PartName="/ppt/slides/slide4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24.xml" ContentType="application/vnd.openxmlformats-officedocument.presentationml.slide+xml"/>
  <Override PartName="/ppt/theme/theme2.xml" ContentType="application/vnd.openxmlformats-officedocument.theme+xml"/>
  <Override PartName="/ppt/handoutMasters/handoutMaster1.xml" ContentType="application/vnd.openxmlformats-officedocument.presentationml.handoutMaster+xml"/>
  <Override PartName="/ppt/slideLayouts/slideLayout11.xml" ContentType="application/vnd.openxmlformats-officedocument.presentationml.slideLayout+xml"/>
  <Override PartName="/ppt/diagrams/layout2.xml" ContentType="application/vnd.openxmlformats-officedocument.drawingml.diagramLayout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ppt/notesSlides/notesSlide7.xml" ContentType="application/vnd.openxmlformats-officedocument.presentationml.notesSlide+xml"/>
  <Override PartName="/ppt/diagrams/quickStyle2.xml" ContentType="application/vnd.openxmlformats-officedocument.drawingml.diagramStyle+xml"/>
  <Default Extension="jpeg" ContentType="image/jpeg"/>
  <Override PartName="/ppt/notesSlides/notesSlide23.xml" ContentType="application/vnd.openxmlformats-officedocument.presentationml.notesSlide+xml"/>
  <Override PartName="/ppt/slides/slide8.xml" ContentType="application/vnd.openxmlformats-officedocument.presentationml.slide+xml"/>
  <Override PartName="/ppt/slides/slide12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28.xml" ContentType="application/vnd.openxmlformats-officedocument.presentationml.slide+xml"/>
  <Override PartName="/ppt/slides/slide31.xml" ContentType="application/vnd.openxmlformats-officedocument.presentationml.slide+xml"/>
  <Override PartName="/ppt/notesSlides/notesSlide9.xml" ContentType="application/vnd.openxmlformats-officedocument.presentationml.notesSlide+xml"/>
  <Override PartName="/ppt/slideLayouts/slideLayout15.xml" ContentType="application/vnd.openxmlformats-officedocument.presentationml.slideLayout+xml"/>
  <Override PartName="/ppt/notesSlides/notesSlide11.xml" ContentType="application/vnd.openxmlformats-officedocument.presentationml.notesSlide+xml"/>
  <Default Extension="rels" ContentType="application/vnd.openxmlformats-package.relationships+xml"/>
  <Override PartName="/ppt/notesSlides/notesSlide27.xml" ContentType="application/vnd.openxmlformats-officedocument.presentationml.notesSlide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21.xml" ContentType="application/vnd.openxmlformats-officedocument.presentationml.slide+xml"/>
  <Override PartName="/ppt/slideLayouts/slideLayout22.xml" ContentType="application/vnd.openxmlformats-officedocument.presentationml.slideLayout+xml"/>
  <Override PartName="/ppt/slideLayouts/slideLayout19.xml" ContentType="application/vnd.openxmlformats-officedocument.presentationml.slideLayout+xml"/>
  <Override PartName="/ppt/diagrams/drawing1.xml" ContentType="application/vnd.ms-office.drawingml.diagramDrawing+xml"/>
  <Override PartName="/ppt/notesSlides/notesSlide1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20.xml" ContentType="application/vnd.openxmlformats-officedocument.presentationml.notesSlide+xml"/>
  <Override PartName="/ppt/slides/slide5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3.xml" ContentType="application/vnd.openxmlformats-officedocument.presentationml.slideLayout+xml"/>
  <Override PartName="/ppt/slides/slide25.xml" ContentType="application/vnd.openxmlformats-officedocument.presentationml.slide+xml"/>
  <Override PartName="/ppt/theme/theme3.xml" ContentType="application/vnd.openxmlformats-officedocument.theme+xml"/>
  <Override PartName="/ppt/slideLayouts/slideLayout12.xml" ContentType="application/vnd.openxmlformats-officedocument.presentationml.slideLayout+xml"/>
  <Override PartName="/ppt/notesSlides/notesSlide19.xml" ContentType="application/vnd.openxmlformats-officedocument.presentationml.notesSlide+xml"/>
  <Override PartName="/ppt/notesSlides/notesSlide24.xml" ContentType="application/vnd.openxmlformats-officedocument.presentationml.notesSlide+xml"/>
  <Override PartName="/ppt/slides/slide9.xml" ContentType="application/vnd.openxmlformats-officedocument.presentationml.slide+xml"/>
  <Override PartName="/ppt/slides/slide13.xml" ContentType="application/vnd.openxmlformats-officedocument.presentationml.slide+xml"/>
  <Default Extension="xml" ContentType="application/xml"/>
  <Override PartName="/ppt/tableStyles.xml" ContentType="application/vnd.openxmlformats-officedocument.presentationml.tableStyles+xml"/>
  <Override PartName="/ppt/diagrams/colors1.xml" ContentType="application/vnd.openxmlformats-officedocument.drawingml.diagramColors+xml"/>
  <Override PartName="/ppt/notesSlides/notesSlide10.xml" ContentType="application/vnd.openxmlformats-officedocument.presentationml.notesSlide+xml"/>
  <Override PartName="/ppt/slideLayouts/slideLayout7.xml" ContentType="application/vnd.openxmlformats-officedocument.presentationml.slideLayout+xml"/>
  <Override PartName="/ppt/slides/slide32.xml" ContentType="application/vnd.openxmlformats-officedocument.presentationml.slide+xml"/>
  <Override PartName="/ppt/slides/slide29.xml" ContentType="application/vnd.openxmlformats-officedocument.presentationml.slide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slideLayouts/slideLayout1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Slides/notesSlide12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17.xml" ContentType="application/vnd.openxmlformats-officedocument.presentationml.slide+xml"/>
  <Override PartName="/ppt/presentation.xml" ContentType="application/vnd.openxmlformats-officedocument.presentationml.presentation.main+xml"/>
  <Override PartName="/ppt/slides/slide2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22.xml" ContentType="application/vnd.openxmlformats-officedocument.presentationml.slide+xml"/>
  <Override PartName="/ppt/slideLayouts/slideLayout23.xml" ContentType="application/vnd.openxmlformats-officedocument.presentationml.slideLayout+xml"/>
  <Override PartName="/ppt/diagrams/drawing2.xml" ContentType="application/vnd.ms-office.drawingml.diagramDrawing+xml"/>
  <Override PartName="/ppt/notesSlides/notesSlide16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notesSlides/notesSlide21.xml" ContentType="application/vnd.openxmlformats-officedocument.presentationml.notesSlide+xml"/>
  <Override PartName="/ppt/slides/slide6.xml" ContentType="application/vnd.openxmlformats-officedocument.presentationml.slide+xml"/>
  <Override PartName="/ppt/slideMasters/slideMaster2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s/slide26.xml" ContentType="application/vnd.openxmlformats-officedocument.presentationml.slide+xml"/>
  <Override PartName="/ppt/theme/theme4.xml" ContentType="application/vnd.openxmlformats-officedocument.theme+xml"/>
  <Override PartName="/ppt/slides/slide10.xml" ContentType="application/vnd.openxmlformats-officedocument.presentationml.slide+xml"/>
  <Override PartName="/ppt/slideLayouts/slideLayout13.xml" ContentType="application/vnd.openxmlformats-officedocument.presentationml.slideLayout+xml"/>
  <Default Extension="pdf" ContentType="application/pdf"/>
  <Default Extension="png" ContentType="image/png"/>
  <Override PartName="/ppt/notesSlides/notesSlide25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aveSubsetFonts="1" autoCompressPictures="0">
  <p:sldMasterIdLst>
    <p:sldMasterId id="2147483649" r:id="rId1"/>
    <p:sldMasterId id="2147483697" r:id="rId2"/>
  </p:sldMasterIdLst>
  <p:notesMasterIdLst>
    <p:notesMasterId r:id="rId37"/>
  </p:notesMasterIdLst>
  <p:handoutMasterIdLst>
    <p:handoutMasterId r:id="rId38"/>
  </p:handoutMasterIdLst>
  <p:sldIdLst>
    <p:sldId id="324" r:id="rId3"/>
    <p:sldId id="325" r:id="rId4"/>
    <p:sldId id="281" r:id="rId5"/>
    <p:sldId id="305" r:id="rId6"/>
    <p:sldId id="328" r:id="rId7"/>
    <p:sldId id="306" r:id="rId8"/>
    <p:sldId id="329" r:id="rId9"/>
    <p:sldId id="286" r:id="rId10"/>
    <p:sldId id="330" r:id="rId11"/>
    <p:sldId id="331" r:id="rId12"/>
    <p:sldId id="360" r:id="rId13"/>
    <p:sldId id="361" r:id="rId14"/>
    <p:sldId id="332" r:id="rId15"/>
    <p:sldId id="333" r:id="rId16"/>
    <p:sldId id="334" r:id="rId17"/>
    <p:sldId id="335" r:id="rId18"/>
    <p:sldId id="336" r:id="rId19"/>
    <p:sldId id="337" r:id="rId20"/>
    <p:sldId id="343" r:id="rId21"/>
    <p:sldId id="345" r:id="rId22"/>
    <p:sldId id="344" r:id="rId23"/>
    <p:sldId id="314" r:id="rId24"/>
    <p:sldId id="339" r:id="rId25"/>
    <p:sldId id="365" r:id="rId26"/>
    <p:sldId id="366" r:id="rId27"/>
    <p:sldId id="367" r:id="rId28"/>
    <p:sldId id="368" r:id="rId29"/>
    <p:sldId id="369" r:id="rId30"/>
    <p:sldId id="370" r:id="rId31"/>
    <p:sldId id="371" r:id="rId32"/>
    <p:sldId id="372" r:id="rId33"/>
    <p:sldId id="373" r:id="rId34"/>
    <p:sldId id="374" r:id="rId35"/>
    <p:sldId id="327" r:id="rId36"/>
  </p:sldIdLst>
  <p:sldSz cx="9144000" cy="6858000" type="screen4x3"/>
  <p:notesSz cx="6858000" cy="9144000"/>
  <p:defaultTextStyle>
    <a:defPPr>
      <a:defRPr lang="en-A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8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8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8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8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84" charset="0"/>
        <a:ea typeface="+mn-ea"/>
        <a:cs typeface="+mn-cs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pitchFamily="-84" charset="0"/>
        <a:ea typeface="+mn-ea"/>
        <a:cs typeface="+mn-cs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pitchFamily="-84" charset="0"/>
        <a:ea typeface="+mn-ea"/>
        <a:cs typeface="+mn-cs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pitchFamily="-84" charset="0"/>
        <a:ea typeface="+mn-ea"/>
        <a:cs typeface="+mn-cs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pitchFamily="-8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prnPr clrMode="gray"/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lastView="sldThumbnailView">
  <p:normalViewPr>
    <p:restoredLeft sz="15620"/>
    <p:restoredTop sz="89196" autoAdjust="0"/>
  </p:normalViewPr>
  <p:slideViewPr>
    <p:cSldViewPr>
      <p:cViewPr>
        <p:scale>
          <a:sx n="100" d="100"/>
          <a:sy n="100" d="100"/>
        </p:scale>
        <p:origin x="-2696" y="-68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27" d="100"/>
          <a:sy n="127" d="100"/>
        </p:scale>
        <p:origin x="-1496" y="-120"/>
      </p:cViewPr>
      <p:guideLst>
        <p:guide orient="horz" pos="2880"/>
        <p:guide pos="216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9" Type="http://schemas.openxmlformats.org/officeDocument/2006/relationships/slide" Target="slides/slide7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37" Type="http://schemas.openxmlformats.org/officeDocument/2006/relationships/notesMaster" Target="notesMasters/notesMaster1.xml"/><Relationship Id="rId38" Type="http://schemas.openxmlformats.org/officeDocument/2006/relationships/handoutMaster" Target="handoutMasters/handoutMaster1.xml"/><Relationship Id="rId39" Type="http://schemas.openxmlformats.org/officeDocument/2006/relationships/printerSettings" Target="printerSettings/printerSettings1.bin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E09D6F4-BC36-0D42-9828-50A4B5F57A5B}" type="doc">
      <dgm:prSet loTypeId="urn:microsoft.com/office/officeart/2005/8/layout/chevron2" loCatId="process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17F2861-8603-1749-8905-36222D71F47A}">
      <dgm:prSet phldrT="[Text]" custT="1"/>
      <dgm:spPr/>
      <dgm:t>
        <a:bodyPr/>
        <a:lstStyle/>
        <a:p>
          <a:r>
            <a:rPr lang="en-AU" sz="1600" b="1" i="0" dirty="0" smtClean="0">
              <a:ea typeface="+mn-ea"/>
            </a:rPr>
            <a:t>1.</a:t>
          </a:r>
          <a:endParaRPr lang="en-US" sz="1600" b="1" i="0" dirty="0"/>
        </a:p>
      </dgm:t>
    </dgm:pt>
    <dgm:pt modelId="{4BC56C73-5124-D046-9848-B78AA5F456F7}" type="parTrans" cxnId="{795A9BD3-8C52-584C-B3C5-4A6457088198}">
      <dgm:prSet/>
      <dgm:spPr/>
      <dgm:t>
        <a:bodyPr/>
        <a:lstStyle/>
        <a:p>
          <a:endParaRPr lang="en-US"/>
        </a:p>
      </dgm:t>
    </dgm:pt>
    <dgm:pt modelId="{D8BD60E9-60E2-BB49-BA41-B7BC874F1D2E}" type="sibTrans" cxnId="{795A9BD3-8C52-584C-B3C5-4A6457088198}">
      <dgm:prSet/>
      <dgm:spPr/>
      <dgm:t>
        <a:bodyPr/>
        <a:lstStyle/>
        <a:p>
          <a:endParaRPr lang="en-US"/>
        </a:p>
      </dgm:t>
    </dgm:pt>
    <dgm:pt modelId="{E7BEE5E9-B068-F440-AA78-C06B5DA31F9F}">
      <dgm:prSet custT="1"/>
      <dgm:spPr/>
      <dgm:t>
        <a:bodyPr/>
        <a:lstStyle/>
        <a:p>
          <a:r>
            <a:rPr lang="en-AU" sz="1600" b="1" i="0" dirty="0" smtClean="0">
              <a:ea typeface="+mn-ea"/>
            </a:rPr>
            <a:t>2.</a:t>
          </a:r>
        </a:p>
      </dgm:t>
    </dgm:pt>
    <dgm:pt modelId="{3BD7872B-5311-4C46-BE7D-1A43595322FD}" type="parTrans" cxnId="{E6F4BD6A-E71B-C348-A7C5-892E30686EF6}">
      <dgm:prSet/>
      <dgm:spPr/>
      <dgm:t>
        <a:bodyPr/>
        <a:lstStyle/>
        <a:p>
          <a:endParaRPr lang="en-US"/>
        </a:p>
      </dgm:t>
    </dgm:pt>
    <dgm:pt modelId="{8200FAE9-38A0-794A-9C45-0A523EBC6CD8}" type="sibTrans" cxnId="{E6F4BD6A-E71B-C348-A7C5-892E30686EF6}">
      <dgm:prSet/>
      <dgm:spPr/>
      <dgm:t>
        <a:bodyPr/>
        <a:lstStyle/>
        <a:p>
          <a:endParaRPr lang="en-US"/>
        </a:p>
      </dgm:t>
    </dgm:pt>
    <dgm:pt modelId="{09D346F8-9EAF-5B4F-878E-A6E389AE9980}">
      <dgm:prSet custT="1"/>
      <dgm:spPr/>
      <dgm:t>
        <a:bodyPr/>
        <a:lstStyle/>
        <a:p>
          <a:r>
            <a:rPr lang="en-AU" sz="1600" b="1" i="0" dirty="0" smtClean="0">
              <a:ea typeface="+mn-ea"/>
            </a:rPr>
            <a:t>3.</a:t>
          </a:r>
        </a:p>
      </dgm:t>
    </dgm:pt>
    <dgm:pt modelId="{8595B2C8-0405-7B4C-ABDE-A21DE2E1B6B4}" type="parTrans" cxnId="{8E3C383C-CB97-CB49-89EB-176D995223F0}">
      <dgm:prSet/>
      <dgm:spPr/>
      <dgm:t>
        <a:bodyPr/>
        <a:lstStyle/>
        <a:p>
          <a:endParaRPr lang="en-US"/>
        </a:p>
      </dgm:t>
    </dgm:pt>
    <dgm:pt modelId="{84008035-451E-244B-9822-9BFB0C54B9B1}" type="sibTrans" cxnId="{8E3C383C-CB97-CB49-89EB-176D995223F0}">
      <dgm:prSet/>
      <dgm:spPr/>
      <dgm:t>
        <a:bodyPr/>
        <a:lstStyle/>
        <a:p>
          <a:endParaRPr lang="en-US"/>
        </a:p>
      </dgm:t>
    </dgm:pt>
    <dgm:pt modelId="{49EFE361-CF40-C647-A532-3DB806AF13A5}">
      <dgm:prSet custT="1"/>
      <dgm:spPr/>
      <dgm:t>
        <a:bodyPr/>
        <a:lstStyle/>
        <a:p>
          <a:r>
            <a:rPr lang="en-AU" sz="1600" b="1" i="0" dirty="0" smtClean="0">
              <a:ea typeface="+mn-ea"/>
            </a:rPr>
            <a:t>4.</a:t>
          </a:r>
        </a:p>
      </dgm:t>
    </dgm:pt>
    <dgm:pt modelId="{CFE636A9-8EBA-A545-B381-D1901F80C1F8}" type="parTrans" cxnId="{AB94D550-4FC1-BD4D-A19A-3F4C3AB52280}">
      <dgm:prSet/>
      <dgm:spPr/>
      <dgm:t>
        <a:bodyPr/>
        <a:lstStyle/>
        <a:p>
          <a:endParaRPr lang="en-US"/>
        </a:p>
      </dgm:t>
    </dgm:pt>
    <dgm:pt modelId="{38E7586E-E1E7-6641-B699-FC69EF62FCB4}" type="sibTrans" cxnId="{AB94D550-4FC1-BD4D-A19A-3F4C3AB52280}">
      <dgm:prSet/>
      <dgm:spPr/>
      <dgm:t>
        <a:bodyPr/>
        <a:lstStyle/>
        <a:p>
          <a:endParaRPr lang="en-US"/>
        </a:p>
      </dgm:t>
    </dgm:pt>
    <dgm:pt modelId="{DE800D88-AFC2-C748-95A6-84274571450D}">
      <dgm:prSet custT="1"/>
      <dgm:spPr/>
      <dgm:t>
        <a:bodyPr/>
        <a:lstStyle/>
        <a:p>
          <a:r>
            <a:rPr lang="en-AU" sz="1600" b="1" i="0" dirty="0" smtClean="0">
              <a:ea typeface="+mn-ea"/>
            </a:rPr>
            <a:t>5. </a:t>
          </a:r>
        </a:p>
      </dgm:t>
    </dgm:pt>
    <dgm:pt modelId="{2AB82780-A93F-2241-82C5-044F7C113A5B}" type="parTrans" cxnId="{D309BC2B-2C28-5D4F-A167-B5C8489E062B}">
      <dgm:prSet/>
      <dgm:spPr/>
      <dgm:t>
        <a:bodyPr/>
        <a:lstStyle/>
        <a:p>
          <a:endParaRPr lang="en-US"/>
        </a:p>
      </dgm:t>
    </dgm:pt>
    <dgm:pt modelId="{56A0522B-1198-1A4B-95EF-8273C6411250}" type="sibTrans" cxnId="{D309BC2B-2C28-5D4F-A167-B5C8489E062B}">
      <dgm:prSet/>
      <dgm:spPr/>
      <dgm:t>
        <a:bodyPr/>
        <a:lstStyle/>
        <a:p>
          <a:endParaRPr lang="en-US"/>
        </a:p>
      </dgm:t>
    </dgm:pt>
    <dgm:pt modelId="{1C83C87B-222E-0647-A9B1-678C74EE72FB}">
      <dgm:prSet custT="1"/>
      <dgm:spPr/>
      <dgm:t>
        <a:bodyPr/>
        <a:lstStyle/>
        <a:p>
          <a:r>
            <a:rPr lang="en-AU" sz="1600" b="1" i="0" dirty="0" smtClean="0">
              <a:ea typeface="+mn-ea"/>
            </a:rPr>
            <a:t>6.</a:t>
          </a:r>
        </a:p>
      </dgm:t>
    </dgm:pt>
    <dgm:pt modelId="{5175E942-C08B-5340-8A93-6316416F3C04}" type="parTrans" cxnId="{D9B66B88-B454-7740-A110-89C2A8F7895B}">
      <dgm:prSet/>
      <dgm:spPr/>
      <dgm:t>
        <a:bodyPr/>
        <a:lstStyle/>
        <a:p>
          <a:endParaRPr lang="en-US"/>
        </a:p>
      </dgm:t>
    </dgm:pt>
    <dgm:pt modelId="{A1A4982E-B916-3545-B228-858E66705963}" type="sibTrans" cxnId="{D9B66B88-B454-7740-A110-89C2A8F7895B}">
      <dgm:prSet/>
      <dgm:spPr/>
      <dgm:t>
        <a:bodyPr/>
        <a:lstStyle/>
        <a:p>
          <a:endParaRPr lang="en-US"/>
        </a:p>
      </dgm:t>
    </dgm:pt>
    <dgm:pt modelId="{84085882-6E9C-1740-A09E-E5D012E12456}">
      <dgm:prSet phldrT="[Text]"/>
      <dgm:spPr/>
      <dgm:t>
        <a:bodyPr/>
        <a:lstStyle/>
        <a:p>
          <a:r>
            <a:rPr lang="en-AU" dirty="0" smtClean="0">
              <a:ea typeface="+mn-ea"/>
            </a:rPr>
            <a:t> Find integers </a:t>
          </a:r>
          <a:r>
            <a:rPr lang="en-AU" i="1" dirty="0" err="1" smtClean="0">
              <a:ea typeface="+mn-ea"/>
            </a:rPr>
            <a:t>k</a:t>
          </a:r>
          <a:r>
            <a:rPr lang="en-AU" i="1" dirty="0" smtClean="0">
              <a:ea typeface="+mn-ea"/>
            </a:rPr>
            <a:t>, </a:t>
          </a:r>
          <a:r>
            <a:rPr lang="en-AU" i="1" dirty="0" err="1" smtClean="0">
              <a:ea typeface="+mn-ea"/>
            </a:rPr>
            <a:t>q</a:t>
          </a:r>
          <a:r>
            <a:rPr lang="en-AU" dirty="0" smtClean="0">
              <a:ea typeface="+mn-ea"/>
            </a:rPr>
            <a:t>, with </a:t>
          </a:r>
          <a:r>
            <a:rPr lang="en-AU" i="1" dirty="0" err="1" smtClean="0">
              <a:ea typeface="+mn-ea"/>
            </a:rPr>
            <a:t>k</a:t>
          </a:r>
          <a:r>
            <a:rPr lang="en-AU" i="1" dirty="0" smtClean="0">
              <a:ea typeface="+mn-ea"/>
            </a:rPr>
            <a:t> &gt; 0</a:t>
          </a:r>
          <a:r>
            <a:rPr lang="en-AU" dirty="0" smtClean="0">
              <a:ea typeface="+mn-ea"/>
            </a:rPr>
            <a:t>, </a:t>
          </a:r>
          <a:r>
            <a:rPr lang="en-AU" i="1" dirty="0" err="1" smtClean="0">
              <a:ea typeface="+mn-ea"/>
            </a:rPr>
            <a:t>q</a:t>
          </a:r>
          <a:r>
            <a:rPr lang="en-AU" dirty="0" smtClean="0">
              <a:ea typeface="+mn-ea"/>
            </a:rPr>
            <a:t> odd, so that </a:t>
          </a:r>
          <a:r>
            <a:rPr lang="en-AU" i="1" dirty="0" smtClean="0">
              <a:ea typeface="+mn-ea"/>
            </a:rPr>
            <a:t>(</a:t>
          </a:r>
          <a:r>
            <a:rPr lang="en-AU" i="1" dirty="0" err="1" smtClean="0">
              <a:ea typeface="+mn-ea"/>
            </a:rPr>
            <a:t>n</a:t>
          </a:r>
          <a:r>
            <a:rPr lang="en-AU" i="1" dirty="0" smtClean="0">
              <a:ea typeface="+mn-ea"/>
            </a:rPr>
            <a:t> – 1)=2</a:t>
          </a:r>
          <a:r>
            <a:rPr lang="en-AU" i="1" baseline="30000" dirty="0" smtClean="0">
              <a:ea typeface="+mn-ea"/>
            </a:rPr>
            <a:t>k</a:t>
          </a:r>
          <a:r>
            <a:rPr lang="en-AU" i="1" dirty="0" smtClean="0">
              <a:ea typeface="+mn-ea"/>
            </a:rPr>
            <a:t>q ;</a:t>
          </a:r>
          <a:endParaRPr lang="en-US" dirty="0"/>
        </a:p>
      </dgm:t>
    </dgm:pt>
    <dgm:pt modelId="{29773E85-45B9-6045-9824-C7CE37D7B132}" type="parTrans" cxnId="{46B25CDD-CA2A-524E-A3E7-D09D1B833BFE}">
      <dgm:prSet/>
      <dgm:spPr/>
      <dgm:t>
        <a:bodyPr/>
        <a:lstStyle/>
        <a:p>
          <a:endParaRPr lang="en-US"/>
        </a:p>
      </dgm:t>
    </dgm:pt>
    <dgm:pt modelId="{522EEFD0-741F-6844-B11C-0193E8A0AD51}" type="sibTrans" cxnId="{46B25CDD-CA2A-524E-A3E7-D09D1B833BFE}">
      <dgm:prSet/>
      <dgm:spPr/>
      <dgm:t>
        <a:bodyPr/>
        <a:lstStyle/>
        <a:p>
          <a:endParaRPr lang="en-US"/>
        </a:p>
      </dgm:t>
    </dgm:pt>
    <dgm:pt modelId="{ADC67CD4-5024-4449-B1E2-58B28F85B9A6}">
      <dgm:prSet/>
      <dgm:spPr/>
      <dgm:t>
        <a:bodyPr/>
        <a:lstStyle/>
        <a:p>
          <a:r>
            <a:rPr lang="en-AU" dirty="0" smtClean="0">
              <a:ea typeface="+mn-ea"/>
            </a:rPr>
            <a:t> Select a random integer </a:t>
          </a:r>
          <a:r>
            <a:rPr lang="en-AU" i="1" dirty="0" smtClean="0">
              <a:ea typeface="+mn-ea"/>
            </a:rPr>
            <a:t>a, 1 &lt; a &lt; </a:t>
          </a:r>
          <a:r>
            <a:rPr lang="en-AU" i="1" dirty="0" err="1" smtClean="0">
              <a:ea typeface="+mn-ea"/>
            </a:rPr>
            <a:t>n</a:t>
          </a:r>
          <a:r>
            <a:rPr lang="en-AU" i="1" dirty="0" smtClean="0">
              <a:ea typeface="+mn-ea"/>
            </a:rPr>
            <a:t> – 1 ;</a:t>
          </a:r>
        </a:p>
      </dgm:t>
    </dgm:pt>
    <dgm:pt modelId="{E4D2A74A-25BA-ED49-935E-32E7C5909C8F}" type="parTrans" cxnId="{A5458707-6149-AE4C-A4B3-D6287B953BCC}">
      <dgm:prSet/>
      <dgm:spPr/>
      <dgm:t>
        <a:bodyPr/>
        <a:lstStyle/>
        <a:p>
          <a:endParaRPr lang="en-US"/>
        </a:p>
      </dgm:t>
    </dgm:pt>
    <dgm:pt modelId="{052867FB-C570-EE47-8D47-84A7FFD9AFE5}" type="sibTrans" cxnId="{A5458707-6149-AE4C-A4B3-D6287B953BCC}">
      <dgm:prSet/>
      <dgm:spPr/>
      <dgm:t>
        <a:bodyPr/>
        <a:lstStyle/>
        <a:p>
          <a:endParaRPr lang="en-US"/>
        </a:p>
      </dgm:t>
    </dgm:pt>
    <dgm:pt modelId="{3D7D89BD-3593-1D4F-8698-91E73EF5D182}">
      <dgm:prSet/>
      <dgm:spPr/>
      <dgm:t>
        <a:bodyPr/>
        <a:lstStyle/>
        <a:p>
          <a:r>
            <a:rPr lang="en-AU" dirty="0" smtClean="0">
              <a:ea typeface="+mn-ea"/>
            </a:rPr>
            <a:t> </a:t>
          </a:r>
          <a:r>
            <a:rPr lang="en-AU" b="1" dirty="0" smtClean="0">
              <a:ea typeface="+mn-ea"/>
            </a:rPr>
            <a:t>if</a:t>
          </a:r>
          <a:r>
            <a:rPr lang="en-AU" dirty="0" smtClean="0">
              <a:ea typeface="+mn-ea"/>
            </a:rPr>
            <a:t> </a:t>
          </a:r>
          <a:r>
            <a:rPr lang="en-AU" i="1" dirty="0" err="1" smtClean="0">
              <a:ea typeface="+mn-ea"/>
            </a:rPr>
            <a:t>a</a:t>
          </a:r>
          <a:r>
            <a:rPr lang="en-AU" i="1" baseline="30000" dirty="0" err="1" smtClean="0">
              <a:ea typeface="+mn-ea"/>
            </a:rPr>
            <a:t>q</a:t>
          </a:r>
          <a:r>
            <a:rPr lang="en-AU" i="1" dirty="0" smtClean="0">
              <a:ea typeface="+mn-ea"/>
            </a:rPr>
            <a:t> mod </a:t>
          </a:r>
          <a:r>
            <a:rPr lang="en-AU" i="1" dirty="0" err="1" smtClean="0">
              <a:ea typeface="+mn-ea"/>
            </a:rPr>
            <a:t>n</a:t>
          </a:r>
          <a:r>
            <a:rPr lang="en-AU" i="1" dirty="0" smtClean="0">
              <a:ea typeface="+mn-ea"/>
            </a:rPr>
            <a:t> = 1 </a:t>
          </a:r>
          <a:r>
            <a:rPr lang="en-AU" b="1" dirty="0" smtClean="0">
              <a:ea typeface="+mn-ea"/>
            </a:rPr>
            <a:t>then</a:t>
          </a:r>
          <a:r>
            <a:rPr lang="en-AU" dirty="0" smtClean="0">
              <a:ea typeface="+mn-ea"/>
            </a:rPr>
            <a:t> return (“</a:t>
          </a:r>
          <a:r>
            <a:rPr lang="en-US" dirty="0" smtClean="0">
              <a:ea typeface="+mn-ea"/>
            </a:rPr>
            <a:t>inconclusive</a:t>
          </a:r>
          <a:r>
            <a:rPr lang="en-AU" dirty="0" smtClean="0">
              <a:ea typeface="+mn-ea"/>
            </a:rPr>
            <a:t>") ;</a:t>
          </a:r>
        </a:p>
      </dgm:t>
    </dgm:pt>
    <dgm:pt modelId="{DB8B4F9B-009D-1448-AB53-DE3DEAA28659}" type="parTrans" cxnId="{2BCF0FD8-3469-7845-89AA-5616D5E2B633}">
      <dgm:prSet/>
      <dgm:spPr/>
      <dgm:t>
        <a:bodyPr/>
        <a:lstStyle/>
        <a:p>
          <a:endParaRPr lang="en-US"/>
        </a:p>
      </dgm:t>
    </dgm:pt>
    <dgm:pt modelId="{135EC791-B2DD-B848-80AC-3D9E557FAF51}" type="sibTrans" cxnId="{2BCF0FD8-3469-7845-89AA-5616D5E2B633}">
      <dgm:prSet/>
      <dgm:spPr/>
      <dgm:t>
        <a:bodyPr/>
        <a:lstStyle/>
        <a:p>
          <a:endParaRPr lang="en-US"/>
        </a:p>
      </dgm:t>
    </dgm:pt>
    <dgm:pt modelId="{192186F6-7AF8-3145-9D3A-B172FA14B83E}">
      <dgm:prSet/>
      <dgm:spPr/>
      <dgm:t>
        <a:bodyPr/>
        <a:lstStyle/>
        <a:p>
          <a:r>
            <a:rPr lang="en-AU" dirty="0" smtClean="0">
              <a:ea typeface="+mn-ea"/>
            </a:rPr>
            <a:t> </a:t>
          </a:r>
          <a:r>
            <a:rPr lang="en-AU" b="1" dirty="0" smtClean="0">
              <a:ea typeface="+mn-ea"/>
            </a:rPr>
            <a:t>for</a:t>
          </a:r>
          <a:r>
            <a:rPr lang="en-AU" dirty="0" smtClean="0">
              <a:ea typeface="+mn-ea"/>
            </a:rPr>
            <a:t> </a:t>
          </a:r>
          <a:r>
            <a:rPr lang="en-AU" i="1" dirty="0" err="1" smtClean="0">
              <a:ea typeface="+mn-ea"/>
            </a:rPr>
            <a:t>j</a:t>
          </a:r>
          <a:r>
            <a:rPr lang="en-AU" i="1" dirty="0" smtClean="0">
              <a:ea typeface="+mn-ea"/>
            </a:rPr>
            <a:t> = 0 </a:t>
          </a:r>
          <a:r>
            <a:rPr lang="en-AU" b="1" dirty="0" smtClean="0">
              <a:ea typeface="+mn-ea"/>
            </a:rPr>
            <a:t>to</a:t>
          </a:r>
          <a:r>
            <a:rPr lang="en-AU" dirty="0" smtClean="0">
              <a:ea typeface="+mn-ea"/>
            </a:rPr>
            <a:t> </a:t>
          </a:r>
          <a:r>
            <a:rPr lang="en-AU" i="1" dirty="0" err="1" smtClean="0">
              <a:ea typeface="+mn-ea"/>
            </a:rPr>
            <a:t>k</a:t>
          </a:r>
          <a:r>
            <a:rPr lang="en-AU" i="1" dirty="0" smtClean="0">
              <a:ea typeface="+mn-ea"/>
            </a:rPr>
            <a:t> – 1 </a:t>
          </a:r>
          <a:r>
            <a:rPr lang="en-AU" b="1" dirty="0" smtClean="0">
              <a:ea typeface="+mn-ea"/>
            </a:rPr>
            <a:t>do</a:t>
          </a:r>
        </a:p>
      </dgm:t>
    </dgm:pt>
    <dgm:pt modelId="{EDE528E3-FAAB-184A-B521-906B172CBC25}" type="parTrans" cxnId="{3BF51E6E-EE78-8E4B-A13F-8D9EAE33BD38}">
      <dgm:prSet/>
      <dgm:spPr/>
      <dgm:t>
        <a:bodyPr/>
        <a:lstStyle/>
        <a:p>
          <a:endParaRPr lang="en-US"/>
        </a:p>
      </dgm:t>
    </dgm:pt>
    <dgm:pt modelId="{BEA016D0-03A7-C946-B73B-108307CE6788}" type="sibTrans" cxnId="{3BF51E6E-EE78-8E4B-A13F-8D9EAE33BD38}">
      <dgm:prSet/>
      <dgm:spPr/>
      <dgm:t>
        <a:bodyPr/>
        <a:lstStyle/>
        <a:p>
          <a:endParaRPr lang="en-US"/>
        </a:p>
      </dgm:t>
    </dgm:pt>
    <dgm:pt modelId="{69541EC2-EEAC-F24D-B49B-E8C172D9D351}">
      <dgm:prSet/>
      <dgm:spPr/>
      <dgm:t>
        <a:bodyPr/>
        <a:lstStyle/>
        <a:p>
          <a:r>
            <a:rPr lang="en-AU" b="1" dirty="0" smtClean="0">
              <a:ea typeface="+mn-ea"/>
            </a:rPr>
            <a:t>if</a:t>
          </a:r>
          <a:r>
            <a:rPr lang="en-AU" dirty="0" smtClean="0">
              <a:ea typeface="+mn-ea"/>
            </a:rPr>
            <a:t> </a:t>
          </a:r>
          <a:r>
            <a:rPr lang="en-AU" i="1" dirty="0" smtClean="0">
              <a:ea typeface="+mn-ea"/>
            </a:rPr>
            <a:t>(a</a:t>
          </a:r>
          <a:r>
            <a:rPr lang="en-AU" i="1" baseline="30000" dirty="0" smtClean="0">
              <a:ea typeface="+mn-ea"/>
            </a:rPr>
            <a:t>2jq</a:t>
          </a:r>
          <a:r>
            <a:rPr lang="en-AU" i="1" dirty="0" smtClean="0">
              <a:ea typeface="+mn-ea"/>
            </a:rPr>
            <a:t> mod </a:t>
          </a:r>
          <a:r>
            <a:rPr lang="en-AU" i="1" dirty="0" err="1" smtClean="0">
              <a:ea typeface="+mn-ea"/>
            </a:rPr>
            <a:t>n</a:t>
          </a:r>
          <a:r>
            <a:rPr lang="en-AU" i="1" dirty="0" smtClean="0">
              <a:ea typeface="+mn-ea"/>
            </a:rPr>
            <a:t> = </a:t>
          </a:r>
          <a:r>
            <a:rPr lang="en-AU" i="1" dirty="0" err="1" smtClean="0">
              <a:ea typeface="+mn-ea"/>
            </a:rPr>
            <a:t>n</a:t>
          </a:r>
          <a:r>
            <a:rPr lang="en-AU" i="1" dirty="0" smtClean="0">
              <a:ea typeface="+mn-ea"/>
            </a:rPr>
            <a:t> – 1) </a:t>
          </a:r>
          <a:r>
            <a:rPr lang="en-AU" b="1" dirty="0" smtClean="0">
              <a:ea typeface="+mn-ea"/>
            </a:rPr>
            <a:t>then</a:t>
          </a:r>
          <a:r>
            <a:rPr lang="en-AU" dirty="0" smtClean="0">
              <a:ea typeface="+mn-ea"/>
            </a:rPr>
            <a:t> return (“</a:t>
          </a:r>
          <a:r>
            <a:rPr lang="en-US" dirty="0" smtClean="0">
              <a:ea typeface="+mn-ea"/>
            </a:rPr>
            <a:t>inconclusive</a:t>
          </a:r>
          <a:r>
            <a:rPr lang="en-AU" dirty="0" smtClean="0">
              <a:ea typeface="+mn-ea"/>
            </a:rPr>
            <a:t>") ;</a:t>
          </a:r>
        </a:p>
      </dgm:t>
    </dgm:pt>
    <dgm:pt modelId="{84CBE7AA-88E8-7342-8170-07F040767286}" type="parTrans" cxnId="{ABC98552-FA43-F342-95C8-A0AF8548403C}">
      <dgm:prSet/>
      <dgm:spPr/>
      <dgm:t>
        <a:bodyPr/>
        <a:lstStyle/>
        <a:p>
          <a:endParaRPr lang="en-US"/>
        </a:p>
      </dgm:t>
    </dgm:pt>
    <dgm:pt modelId="{E8351854-FC35-C643-BB4A-B61C8918F414}" type="sibTrans" cxnId="{ABC98552-FA43-F342-95C8-A0AF8548403C}">
      <dgm:prSet/>
      <dgm:spPr/>
      <dgm:t>
        <a:bodyPr/>
        <a:lstStyle/>
        <a:p>
          <a:endParaRPr lang="en-US"/>
        </a:p>
      </dgm:t>
    </dgm:pt>
    <dgm:pt modelId="{372DA5CB-9EB6-8B4D-97BA-01A5AB4F4F57}">
      <dgm:prSet/>
      <dgm:spPr/>
      <dgm:t>
        <a:bodyPr/>
        <a:lstStyle/>
        <a:p>
          <a:r>
            <a:rPr lang="en-AU" dirty="0" smtClean="0">
              <a:ea typeface="+mn-ea"/>
            </a:rPr>
            <a:t> return (“composite") ;</a:t>
          </a:r>
        </a:p>
      </dgm:t>
    </dgm:pt>
    <dgm:pt modelId="{45440A3E-C467-F24B-AE80-333CB8E50EA8}" type="parTrans" cxnId="{23A7B482-FB0F-F543-B352-0DD89D1F69F4}">
      <dgm:prSet/>
      <dgm:spPr/>
      <dgm:t>
        <a:bodyPr/>
        <a:lstStyle/>
        <a:p>
          <a:endParaRPr lang="en-US"/>
        </a:p>
      </dgm:t>
    </dgm:pt>
    <dgm:pt modelId="{3D0CCDC6-B23B-8143-B71B-FD3D01BA0255}" type="sibTrans" cxnId="{23A7B482-FB0F-F543-B352-0DD89D1F69F4}">
      <dgm:prSet/>
      <dgm:spPr/>
      <dgm:t>
        <a:bodyPr/>
        <a:lstStyle/>
        <a:p>
          <a:endParaRPr lang="en-US"/>
        </a:p>
      </dgm:t>
    </dgm:pt>
    <dgm:pt modelId="{D7D118A1-74CC-6C4F-B831-3685DF19C48D}" type="pres">
      <dgm:prSet presAssocID="{DE09D6F4-BC36-0D42-9828-50A4B5F57A5B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7DBAE230-6AF8-7A47-B5A6-8624F47456AE}" type="pres">
      <dgm:prSet presAssocID="{217F2861-8603-1749-8905-36222D71F47A}" presName="composite" presStyleCnt="0"/>
      <dgm:spPr/>
    </dgm:pt>
    <dgm:pt modelId="{D7A1E9D5-302B-694D-869C-A3ABA0C4A5D6}" type="pres">
      <dgm:prSet presAssocID="{217F2861-8603-1749-8905-36222D71F47A}" presName="parentText" presStyleLbl="alignNode1" presStyleIdx="0" presStyleCnt="6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9F965AD-C2D4-B047-B721-29B9E3EC90ED}" type="pres">
      <dgm:prSet presAssocID="{217F2861-8603-1749-8905-36222D71F47A}" presName="descendantText" presStyleLbl="alignAcc1" presStyleIdx="0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CD26310-B59C-CB48-8080-F86AF6178FD8}" type="pres">
      <dgm:prSet presAssocID="{D8BD60E9-60E2-BB49-BA41-B7BC874F1D2E}" presName="sp" presStyleCnt="0"/>
      <dgm:spPr/>
    </dgm:pt>
    <dgm:pt modelId="{33EE43DC-34BE-A840-BD1C-AE38AAA55524}" type="pres">
      <dgm:prSet presAssocID="{E7BEE5E9-B068-F440-AA78-C06B5DA31F9F}" presName="composite" presStyleCnt="0"/>
      <dgm:spPr/>
    </dgm:pt>
    <dgm:pt modelId="{2F49BE34-3DD4-D442-BEA2-FF0D8EE8E178}" type="pres">
      <dgm:prSet presAssocID="{E7BEE5E9-B068-F440-AA78-C06B5DA31F9F}" presName="parentText" presStyleLbl="alignNode1" presStyleIdx="1" presStyleCnt="6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185ABA3-9ACF-FA4D-9D6C-AD4636C47777}" type="pres">
      <dgm:prSet presAssocID="{E7BEE5E9-B068-F440-AA78-C06B5DA31F9F}" presName="descendantText" presStyleLbl="alignAcc1" presStyleIdx="1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8534DD1-E48D-9F49-9F10-C9BFBD29C4CD}" type="pres">
      <dgm:prSet presAssocID="{8200FAE9-38A0-794A-9C45-0A523EBC6CD8}" presName="sp" presStyleCnt="0"/>
      <dgm:spPr/>
    </dgm:pt>
    <dgm:pt modelId="{7E85EF86-6CCB-6D4E-B305-07C60A71FA80}" type="pres">
      <dgm:prSet presAssocID="{09D346F8-9EAF-5B4F-878E-A6E389AE9980}" presName="composite" presStyleCnt="0"/>
      <dgm:spPr/>
    </dgm:pt>
    <dgm:pt modelId="{CDFA1110-DB91-3342-8A3D-179A837BBA12}" type="pres">
      <dgm:prSet presAssocID="{09D346F8-9EAF-5B4F-878E-A6E389AE9980}" presName="parentText" presStyleLbl="alignNode1" presStyleIdx="2" presStyleCnt="6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EA74246-F6BC-5046-AA33-638FD8E71F46}" type="pres">
      <dgm:prSet presAssocID="{09D346F8-9EAF-5B4F-878E-A6E389AE9980}" presName="descendantText" presStyleLbl="alignAcc1" presStyleIdx="2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F3A862C-6535-E844-BD7C-1C965B86A6DC}" type="pres">
      <dgm:prSet presAssocID="{84008035-451E-244B-9822-9BFB0C54B9B1}" presName="sp" presStyleCnt="0"/>
      <dgm:spPr/>
    </dgm:pt>
    <dgm:pt modelId="{20D2E5A2-495E-CE45-B454-2F2C99F11F10}" type="pres">
      <dgm:prSet presAssocID="{49EFE361-CF40-C647-A532-3DB806AF13A5}" presName="composite" presStyleCnt="0"/>
      <dgm:spPr/>
    </dgm:pt>
    <dgm:pt modelId="{6CDAECC0-63B0-4043-8086-E12AC2EBF14F}" type="pres">
      <dgm:prSet presAssocID="{49EFE361-CF40-C647-A532-3DB806AF13A5}" presName="parentText" presStyleLbl="alignNode1" presStyleIdx="3" presStyleCnt="6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EB0E9CA-38E0-294D-BA1D-ABDC8F904BF8}" type="pres">
      <dgm:prSet presAssocID="{49EFE361-CF40-C647-A532-3DB806AF13A5}" presName="descendantText" presStyleLbl="alignAcc1" presStyleIdx="3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787DBBF-077B-AB45-9CCA-2DCBD66F11A2}" type="pres">
      <dgm:prSet presAssocID="{38E7586E-E1E7-6641-B699-FC69EF62FCB4}" presName="sp" presStyleCnt="0"/>
      <dgm:spPr/>
    </dgm:pt>
    <dgm:pt modelId="{9952EB10-1BAF-9C4E-82BC-013884F3CD0B}" type="pres">
      <dgm:prSet presAssocID="{DE800D88-AFC2-C748-95A6-84274571450D}" presName="composite" presStyleCnt="0"/>
      <dgm:spPr/>
    </dgm:pt>
    <dgm:pt modelId="{7A51B00A-7D2E-CB40-B681-149F0CD6A739}" type="pres">
      <dgm:prSet presAssocID="{DE800D88-AFC2-C748-95A6-84274571450D}" presName="parentText" presStyleLbl="alignNode1" presStyleIdx="4" presStyleCnt="6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31AD66C-6EA6-8E42-90F0-37439CBC6540}" type="pres">
      <dgm:prSet presAssocID="{DE800D88-AFC2-C748-95A6-84274571450D}" presName="descendantText" presStyleLbl="alignAcc1" presStyleIdx="4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BB8B7A7-DB29-3E4D-8B25-6A3EFF5A49E1}" type="pres">
      <dgm:prSet presAssocID="{56A0522B-1198-1A4B-95EF-8273C6411250}" presName="sp" presStyleCnt="0"/>
      <dgm:spPr/>
    </dgm:pt>
    <dgm:pt modelId="{81671323-D572-BA41-8D74-434926E9198C}" type="pres">
      <dgm:prSet presAssocID="{1C83C87B-222E-0647-A9B1-678C74EE72FB}" presName="composite" presStyleCnt="0"/>
      <dgm:spPr/>
    </dgm:pt>
    <dgm:pt modelId="{095298D9-91B6-C442-9E68-491C82CAAEDB}" type="pres">
      <dgm:prSet presAssocID="{1C83C87B-222E-0647-A9B1-678C74EE72FB}" presName="parentText" presStyleLbl="alignNode1" presStyleIdx="5" presStyleCnt="6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5652334-D05E-924B-BE13-85008940BE0E}" type="pres">
      <dgm:prSet presAssocID="{1C83C87B-222E-0647-A9B1-678C74EE72FB}" presName="descendantText" presStyleLbl="alignAcc1" presStyleIdx="5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8E3C383C-CB97-CB49-89EB-176D995223F0}" srcId="{DE09D6F4-BC36-0D42-9828-50A4B5F57A5B}" destId="{09D346F8-9EAF-5B4F-878E-A6E389AE9980}" srcOrd="2" destOrd="0" parTransId="{8595B2C8-0405-7B4C-ABDE-A21DE2E1B6B4}" sibTransId="{84008035-451E-244B-9822-9BFB0C54B9B1}"/>
    <dgm:cxn modelId="{3BF51E6E-EE78-8E4B-A13F-8D9EAE33BD38}" srcId="{49EFE361-CF40-C647-A532-3DB806AF13A5}" destId="{192186F6-7AF8-3145-9D3A-B172FA14B83E}" srcOrd="0" destOrd="0" parTransId="{EDE528E3-FAAB-184A-B521-906B172CBC25}" sibTransId="{BEA016D0-03A7-C946-B73B-108307CE6788}"/>
    <dgm:cxn modelId="{795A9BD3-8C52-584C-B3C5-4A6457088198}" srcId="{DE09D6F4-BC36-0D42-9828-50A4B5F57A5B}" destId="{217F2861-8603-1749-8905-36222D71F47A}" srcOrd="0" destOrd="0" parTransId="{4BC56C73-5124-D046-9848-B78AA5F456F7}" sibTransId="{D8BD60E9-60E2-BB49-BA41-B7BC874F1D2E}"/>
    <dgm:cxn modelId="{3C5A9D7D-2FED-4041-B84B-D9B4753FDE99}" type="presOf" srcId="{192186F6-7AF8-3145-9D3A-B172FA14B83E}" destId="{8EB0E9CA-38E0-294D-BA1D-ABDC8F904BF8}" srcOrd="0" destOrd="0" presId="urn:microsoft.com/office/officeart/2005/8/layout/chevron2"/>
    <dgm:cxn modelId="{2C88F999-6410-0D4C-915A-6ABBCA3FEAAB}" type="presOf" srcId="{217F2861-8603-1749-8905-36222D71F47A}" destId="{D7A1E9D5-302B-694D-869C-A3ABA0C4A5D6}" srcOrd="0" destOrd="0" presId="urn:microsoft.com/office/officeart/2005/8/layout/chevron2"/>
    <dgm:cxn modelId="{23A7B482-FB0F-F543-B352-0DD89D1F69F4}" srcId="{1C83C87B-222E-0647-A9B1-678C74EE72FB}" destId="{372DA5CB-9EB6-8B4D-97BA-01A5AB4F4F57}" srcOrd="0" destOrd="0" parTransId="{45440A3E-C467-F24B-AE80-333CB8E50EA8}" sibTransId="{3D0CCDC6-B23B-8143-B71B-FD3D01BA0255}"/>
    <dgm:cxn modelId="{D9B66B88-B454-7740-A110-89C2A8F7895B}" srcId="{DE09D6F4-BC36-0D42-9828-50A4B5F57A5B}" destId="{1C83C87B-222E-0647-A9B1-678C74EE72FB}" srcOrd="5" destOrd="0" parTransId="{5175E942-C08B-5340-8A93-6316416F3C04}" sibTransId="{A1A4982E-B916-3545-B228-858E66705963}"/>
    <dgm:cxn modelId="{805B940A-E3C3-ED4B-AF15-2A9EE036FA63}" type="presOf" srcId="{84085882-6E9C-1740-A09E-E5D012E12456}" destId="{29F965AD-C2D4-B047-B721-29B9E3EC90ED}" srcOrd="0" destOrd="0" presId="urn:microsoft.com/office/officeart/2005/8/layout/chevron2"/>
    <dgm:cxn modelId="{46B25CDD-CA2A-524E-A3E7-D09D1B833BFE}" srcId="{217F2861-8603-1749-8905-36222D71F47A}" destId="{84085882-6E9C-1740-A09E-E5D012E12456}" srcOrd="0" destOrd="0" parTransId="{29773E85-45B9-6045-9824-C7CE37D7B132}" sibTransId="{522EEFD0-741F-6844-B11C-0193E8A0AD51}"/>
    <dgm:cxn modelId="{1DDD25BF-821F-7446-BD05-358F6CA41DBD}" type="presOf" srcId="{DE800D88-AFC2-C748-95A6-84274571450D}" destId="{7A51B00A-7D2E-CB40-B681-149F0CD6A739}" srcOrd="0" destOrd="0" presId="urn:microsoft.com/office/officeart/2005/8/layout/chevron2"/>
    <dgm:cxn modelId="{398F3714-A634-254E-A3FC-DAF9E7BBF23F}" type="presOf" srcId="{69541EC2-EEAC-F24D-B49B-E8C172D9D351}" destId="{631AD66C-6EA6-8E42-90F0-37439CBC6540}" srcOrd="0" destOrd="0" presId="urn:microsoft.com/office/officeart/2005/8/layout/chevron2"/>
    <dgm:cxn modelId="{8A61245E-BAE3-204E-A619-2878E353EA4D}" type="presOf" srcId="{DE09D6F4-BC36-0D42-9828-50A4B5F57A5B}" destId="{D7D118A1-74CC-6C4F-B831-3685DF19C48D}" srcOrd="0" destOrd="0" presId="urn:microsoft.com/office/officeart/2005/8/layout/chevron2"/>
    <dgm:cxn modelId="{4BC6184E-4A68-BE4C-9A34-B3B9F0CE3A82}" type="presOf" srcId="{ADC67CD4-5024-4449-B1E2-58B28F85B9A6}" destId="{9185ABA3-9ACF-FA4D-9D6C-AD4636C47777}" srcOrd="0" destOrd="0" presId="urn:microsoft.com/office/officeart/2005/8/layout/chevron2"/>
    <dgm:cxn modelId="{AB94D550-4FC1-BD4D-A19A-3F4C3AB52280}" srcId="{DE09D6F4-BC36-0D42-9828-50A4B5F57A5B}" destId="{49EFE361-CF40-C647-A532-3DB806AF13A5}" srcOrd="3" destOrd="0" parTransId="{CFE636A9-8EBA-A545-B381-D1901F80C1F8}" sibTransId="{38E7586E-E1E7-6641-B699-FC69EF62FCB4}"/>
    <dgm:cxn modelId="{E6F4BD6A-E71B-C348-A7C5-892E30686EF6}" srcId="{DE09D6F4-BC36-0D42-9828-50A4B5F57A5B}" destId="{E7BEE5E9-B068-F440-AA78-C06B5DA31F9F}" srcOrd="1" destOrd="0" parTransId="{3BD7872B-5311-4C46-BE7D-1A43595322FD}" sibTransId="{8200FAE9-38A0-794A-9C45-0A523EBC6CD8}"/>
    <dgm:cxn modelId="{DBCBA72D-55FC-7C44-98C3-BD1CECA29BB7}" type="presOf" srcId="{3D7D89BD-3593-1D4F-8698-91E73EF5D182}" destId="{EEA74246-F6BC-5046-AA33-638FD8E71F46}" srcOrd="0" destOrd="0" presId="urn:microsoft.com/office/officeart/2005/8/layout/chevron2"/>
    <dgm:cxn modelId="{A5458707-6149-AE4C-A4B3-D6287B953BCC}" srcId="{E7BEE5E9-B068-F440-AA78-C06B5DA31F9F}" destId="{ADC67CD4-5024-4449-B1E2-58B28F85B9A6}" srcOrd="0" destOrd="0" parTransId="{E4D2A74A-25BA-ED49-935E-32E7C5909C8F}" sibTransId="{052867FB-C570-EE47-8D47-84A7FFD9AFE5}"/>
    <dgm:cxn modelId="{ABC98552-FA43-F342-95C8-A0AF8548403C}" srcId="{DE800D88-AFC2-C748-95A6-84274571450D}" destId="{69541EC2-EEAC-F24D-B49B-E8C172D9D351}" srcOrd="0" destOrd="0" parTransId="{84CBE7AA-88E8-7342-8170-07F040767286}" sibTransId="{E8351854-FC35-C643-BB4A-B61C8918F414}"/>
    <dgm:cxn modelId="{D309BC2B-2C28-5D4F-A167-B5C8489E062B}" srcId="{DE09D6F4-BC36-0D42-9828-50A4B5F57A5B}" destId="{DE800D88-AFC2-C748-95A6-84274571450D}" srcOrd="4" destOrd="0" parTransId="{2AB82780-A93F-2241-82C5-044F7C113A5B}" sibTransId="{56A0522B-1198-1A4B-95EF-8273C6411250}"/>
    <dgm:cxn modelId="{2BCF0FD8-3469-7845-89AA-5616D5E2B633}" srcId="{09D346F8-9EAF-5B4F-878E-A6E389AE9980}" destId="{3D7D89BD-3593-1D4F-8698-91E73EF5D182}" srcOrd="0" destOrd="0" parTransId="{DB8B4F9B-009D-1448-AB53-DE3DEAA28659}" sibTransId="{135EC791-B2DD-B848-80AC-3D9E557FAF51}"/>
    <dgm:cxn modelId="{D2A6E9A1-692B-2A48-B076-CE28EEEBD53E}" type="presOf" srcId="{372DA5CB-9EB6-8B4D-97BA-01A5AB4F4F57}" destId="{C5652334-D05E-924B-BE13-85008940BE0E}" srcOrd="0" destOrd="0" presId="urn:microsoft.com/office/officeart/2005/8/layout/chevron2"/>
    <dgm:cxn modelId="{EB4997BD-2C40-5B49-9E80-0A6A4022022E}" type="presOf" srcId="{E7BEE5E9-B068-F440-AA78-C06B5DA31F9F}" destId="{2F49BE34-3DD4-D442-BEA2-FF0D8EE8E178}" srcOrd="0" destOrd="0" presId="urn:microsoft.com/office/officeart/2005/8/layout/chevron2"/>
    <dgm:cxn modelId="{7868A433-F81F-0649-AC17-E1D0B037957D}" type="presOf" srcId="{1C83C87B-222E-0647-A9B1-678C74EE72FB}" destId="{095298D9-91B6-C442-9E68-491C82CAAEDB}" srcOrd="0" destOrd="0" presId="urn:microsoft.com/office/officeart/2005/8/layout/chevron2"/>
    <dgm:cxn modelId="{C1CCB8E5-F762-CF48-92C9-0CFA8FF7AB6A}" type="presOf" srcId="{09D346F8-9EAF-5B4F-878E-A6E389AE9980}" destId="{CDFA1110-DB91-3342-8A3D-179A837BBA12}" srcOrd="0" destOrd="0" presId="urn:microsoft.com/office/officeart/2005/8/layout/chevron2"/>
    <dgm:cxn modelId="{69FF8F50-2CCE-D844-9D09-1A5957AA7D21}" type="presOf" srcId="{49EFE361-CF40-C647-A532-3DB806AF13A5}" destId="{6CDAECC0-63B0-4043-8086-E12AC2EBF14F}" srcOrd="0" destOrd="0" presId="urn:microsoft.com/office/officeart/2005/8/layout/chevron2"/>
    <dgm:cxn modelId="{4D59FE7A-08C8-224F-BD7E-A30DCA0D0A5B}" type="presParOf" srcId="{D7D118A1-74CC-6C4F-B831-3685DF19C48D}" destId="{7DBAE230-6AF8-7A47-B5A6-8624F47456AE}" srcOrd="0" destOrd="0" presId="urn:microsoft.com/office/officeart/2005/8/layout/chevron2"/>
    <dgm:cxn modelId="{A1189274-A1F1-6B43-AE32-ED332D008F88}" type="presParOf" srcId="{7DBAE230-6AF8-7A47-B5A6-8624F47456AE}" destId="{D7A1E9D5-302B-694D-869C-A3ABA0C4A5D6}" srcOrd="0" destOrd="0" presId="urn:microsoft.com/office/officeart/2005/8/layout/chevron2"/>
    <dgm:cxn modelId="{26086A09-77FB-5945-9064-F5EC27AE1259}" type="presParOf" srcId="{7DBAE230-6AF8-7A47-B5A6-8624F47456AE}" destId="{29F965AD-C2D4-B047-B721-29B9E3EC90ED}" srcOrd="1" destOrd="0" presId="urn:microsoft.com/office/officeart/2005/8/layout/chevron2"/>
    <dgm:cxn modelId="{AD7601BE-5D6C-1E4F-B974-1ECA8A4122D0}" type="presParOf" srcId="{D7D118A1-74CC-6C4F-B831-3685DF19C48D}" destId="{1CD26310-B59C-CB48-8080-F86AF6178FD8}" srcOrd="1" destOrd="0" presId="urn:microsoft.com/office/officeart/2005/8/layout/chevron2"/>
    <dgm:cxn modelId="{4E0A75F4-F18F-0F41-BF6F-920B94E64734}" type="presParOf" srcId="{D7D118A1-74CC-6C4F-B831-3685DF19C48D}" destId="{33EE43DC-34BE-A840-BD1C-AE38AAA55524}" srcOrd="2" destOrd="0" presId="urn:microsoft.com/office/officeart/2005/8/layout/chevron2"/>
    <dgm:cxn modelId="{8FB19EB5-18D6-5E46-B7E1-2A6AF37E04D1}" type="presParOf" srcId="{33EE43DC-34BE-A840-BD1C-AE38AAA55524}" destId="{2F49BE34-3DD4-D442-BEA2-FF0D8EE8E178}" srcOrd="0" destOrd="0" presId="urn:microsoft.com/office/officeart/2005/8/layout/chevron2"/>
    <dgm:cxn modelId="{B0A6E01F-C874-4E41-B051-9682729DE48C}" type="presParOf" srcId="{33EE43DC-34BE-A840-BD1C-AE38AAA55524}" destId="{9185ABA3-9ACF-FA4D-9D6C-AD4636C47777}" srcOrd="1" destOrd="0" presId="urn:microsoft.com/office/officeart/2005/8/layout/chevron2"/>
    <dgm:cxn modelId="{99BC8511-0C96-B045-8572-7D7383031F96}" type="presParOf" srcId="{D7D118A1-74CC-6C4F-B831-3685DF19C48D}" destId="{68534DD1-E48D-9F49-9F10-C9BFBD29C4CD}" srcOrd="3" destOrd="0" presId="urn:microsoft.com/office/officeart/2005/8/layout/chevron2"/>
    <dgm:cxn modelId="{8E7374B7-2E22-1840-9DF2-0A6DFB078E4C}" type="presParOf" srcId="{D7D118A1-74CC-6C4F-B831-3685DF19C48D}" destId="{7E85EF86-6CCB-6D4E-B305-07C60A71FA80}" srcOrd="4" destOrd="0" presId="urn:microsoft.com/office/officeart/2005/8/layout/chevron2"/>
    <dgm:cxn modelId="{C3BB8BE0-2B24-3243-B6E0-7C62CE08AF47}" type="presParOf" srcId="{7E85EF86-6CCB-6D4E-B305-07C60A71FA80}" destId="{CDFA1110-DB91-3342-8A3D-179A837BBA12}" srcOrd="0" destOrd="0" presId="urn:microsoft.com/office/officeart/2005/8/layout/chevron2"/>
    <dgm:cxn modelId="{B919F964-EFBE-1A4B-B326-ED408EDB578C}" type="presParOf" srcId="{7E85EF86-6CCB-6D4E-B305-07C60A71FA80}" destId="{EEA74246-F6BC-5046-AA33-638FD8E71F46}" srcOrd="1" destOrd="0" presId="urn:microsoft.com/office/officeart/2005/8/layout/chevron2"/>
    <dgm:cxn modelId="{DAF0FC02-51C2-7F46-BD98-95AEF443E4D6}" type="presParOf" srcId="{D7D118A1-74CC-6C4F-B831-3685DF19C48D}" destId="{6F3A862C-6535-E844-BD7C-1C965B86A6DC}" srcOrd="5" destOrd="0" presId="urn:microsoft.com/office/officeart/2005/8/layout/chevron2"/>
    <dgm:cxn modelId="{F388BE6F-E816-684A-BF47-043E2B6774B2}" type="presParOf" srcId="{D7D118A1-74CC-6C4F-B831-3685DF19C48D}" destId="{20D2E5A2-495E-CE45-B454-2F2C99F11F10}" srcOrd="6" destOrd="0" presId="urn:microsoft.com/office/officeart/2005/8/layout/chevron2"/>
    <dgm:cxn modelId="{3B906096-DFDA-D347-85EA-E57A13F93EFA}" type="presParOf" srcId="{20D2E5A2-495E-CE45-B454-2F2C99F11F10}" destId="{6CDAECC0-63B0-4043-8086-E12AC2EBF14F}" srcOrd="0" destOrd="0" presId="urn:microsoft.com/office/officeart/2005/8/layout/chevron2"/>
    <dgm:cxn modelId="{3FDD3DAC-6AE9-634B-BF03-944DCA4443F1}" type="presParOf" srcId="{20D2E5A2-495E-CE45-B454-2F2C99F11F10}" destId="{8EB0E9CA-38E0-294D-BA1D-ABDC8F904BF8}" srcOrd="1" destOrd="0" presId="urn:microsoft.com/office/officeart/2005/8/layout/chevron2"/>
    <dgm:cxn modelId="{4989A152-E468-4640-86D2-9BE44F91ADEC}" type="presParOf" srcId="{D7D118A1-74CC-6C4F-B831-3685DF19C48D}" destId="{3787DBBF-077B-AB45-9CCA-2DCBD66F11A2}" srcOrd="7" destOrd="0" presId="urn:microsoft.com/office/officeart/2005/8/layout/chevron2"/>
    <dgm:cxn modelId="{56BE0A0B-3CB1-AD4C-A3D9-4BEC4A04F624}" type="presParOf" srcId="{D7D118A1-74CC-6C4F-B831-3685DF19C48D}" destId="{9952EB10-1BAF-9C4E-82BC-013884F3CD0B}" srcOrd="8" destOrd="0" presId="urn:microsoft.com/office/officeart/2005/8/layout/chevron2"/>
    <dgm:cxn modelId="{2A43EA4D-6ADD-6943-ACF2-C06F16E93B5C}" type="presParOf" srcId="{9952EB10-1BAF-9C4E-82BC-013884F3CD0B}" destId="{7A51B00A-7D2E-CB40-B681-149F0CD6A739}" srcOrd="0" destOrd="0" presId="urn:microsoft.com/office/officeart/2005/8/layout/chevron2"/>
    <dgm:cxn modelId="{8CA6B8ED-87FB-1440-8AA4-D65123FD4C04}" type="presParOf" srcId="{9952EB10-1BAF-9C4E-82BC-013884F3CD0B}" destId="{631AD66C-6EA6-8E42-90F0-37439CBC6540}" srcOrd="1" destOrd="0" presId="urn:microsoft.com/office/officeart/2005/8/layout/chevron2"/>
    <dgm:cxn modelId="{6E2A944C-F3A5-CB4E-BE1D-88EC4CC7171B}" type="presParOf" srcId="{D7D118A1-74CC-6C4F-B831-3685DF19C48D}" destId="{1BB8B7A7-DB29-3E4D-8B25-6A3EFF5A49E1}" srcOrd="9" destOrd="0" presId="urn:microsoft.com/office/officeart/2005/8/layout/chevron2"/>
    <dgm:cxn modelId="{A3795EE3-7245-7440-BF9C-2A34F8DBBB23}" type="presParOf" srcId="{D7D118A1-74CC-6C4F-B831-3685DF19C48D}" destId="{81671323-D572-BA41-8D74-434926E9198C}" srcOrd="10" destOrd="0" presId="urn:microsoft.com/office/officeart/2005/8/layout/chevron2"/>
    <dgm:cxn modelId="{02F4A663-63AD-EA49-88BB-530B989B43D0}" type="presParOf" srcId="{81671323-D572-BA41-8D74-434926E9198C}" destId="{095298D9-91B6-C442-9E68-491C82CAAEDB}" srcOrd="0" destOrd="0" presId="urn:microsoft.com/office/officeart/2005/8/layout/chevron2"/>
    <dgm:cxn modelId="{7B692212-FF64-DF44-AFBB-DCD67D7B1947}" type="presParOf" srcId="{81671323-D572-BA41-8D74-434926E9198C}" destId="{C5652334-D05E-924B-BE13-85008940BE0E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9579336-3EDD-504A-BEEF-A11AC624ED8E}" type="doc">
      <dgm:prSet loTypeId="urn:microsoft.com/office/officeart/2005/8/layout/hList1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6269044-1E7A-0C41-802D-2DA78E58FD2B}">
      <dgm:prSet phldrT="[Text]"/>
      <dgm:spPr>
        <a:ln>
          <a:solidFill>
            <a:schemeClr val="accent1">
              <a:lumMod val="75000"/>
            </a:schemeClr>
          </a:solidFill>
        </a:ln>
      </dgm:spPr>
      <dgm:t>
        <a:bodyPr/>
        <a:lstStyle/>
        <a:p>
          <a:r>
            <a:rPr lang="en-AU" dirty="0" smtClean="0">
              <a:ea typeface="+mn-ea"/>
              <a:cs typeface="+mn-cs"/>
            </a:rPr>
            <a:t>Provides a way to manipulate (potentially very large) numbers mod </a:t>
          </a:r>
          <a:r>
            <a:rPr lang="en-AU" i="1" dirty="0" smtClean="0">
              <a:ea typeface="+mn-ea"/>
              <a:cs typeface="+mn-cs"/>
            </a:rPr>
            <a:t>M </a:t>
          </a:r>
          <a:r>
            <a:rPr lang="en-AU" dirty="0" smtClean="0">
              <a:ea typeface="+mn-ea"/>
              <a:cs typeface="+mn-cs"/>
            </a:rPr>
            <a:t>in terms of </a:t>
          </a:r>
          <a:r>
            <a:rPr lang="en-AU" dirty="0" err="1" smtClean="0">
              <a:ea typeface="+mn-ea"/>
              <a:cs typeface="+mn-cs"/>
            </a:rPr>
            <a:t>tuples</a:t>
          </a:r>
          <a:r>
            <a:rPr lang="en-AU" dirty="0" smtClean="0">
              <a:ea typeface="+mn-ea"/>
              <a:cs typeface="+mn-cs"/>
            </a:rPr>
            <a:t> of smaller numbers</a:t>
          </a:r>
          <a:endParaRPr lang="en-US" dirty="0"/>
        </a:p>
      </dgm:t>
    </dgm:pt>
    <dgm:pt modelId="{ED5A64B5-EFE2-2E40-96AB-68006603D201}" type="parTrans" cxnId="{94106BBF-8DE6-DB41-BC8A-DE48E852D137}">
      <dgm:prSet/>
      <dgm:spPr/>
      <dgm:t>
        <a:bodyPr/>
        <a:lstStyle/>
        <a:p>
          <a:endParaRPr lang="en-US"/>
        </a:p>
      </dgm:t>
    </dgm:pt>
    <dgm:pt modelId="{1CACCCBD-35A5-7E40-8528-08C6D4A4EFE4}" type="sibTrans" cxnId="{94106BBF-8DE6-DB41-BC8A-DE48E852D137}">
      <dgm:prSet/>
      <dgm:spPr/>
      <dgm:t>
        <a:bodyPr/>
        <a:lstStyle/>
        <a:p>
          <a:endParaRPr lang="en-US"/>
        </a:p>
      </dgm:t>
    </dgm:pt>
    <dgm:pt modelId="{A9B72FEC-E322-8D47-80DF-A7E41D4DDE9B}">
      <dgm:prSet/>
      <dgm:spPr>
        <a:ln>
          <a:solidFill>
            <a:schemeClr val="accent1">
              <a:lumMod val="75000"/>
            </a:schemeClr>
          </a:solidFill>
        </a:ln>
      </dgm:spPr>
      <dgm:t>
        <a:bodyPr/>
        <a:lstStyle/>
        <a:p>
          <a:r>
            <a:rPr lang="en-AU" dirty="0" smtClean="0">
              <a:ea typeface="+mn-ea"/>
            </a:rPr>
            <a:t>This can be useful when </a:t>
          </a:r>
          <a:r>
            <a:rPr lang="en-AU" i="1" dirty="0" smtClean="0">
              <a:ea typeface="+mn-ea"/>
            </a:rPr>
            <a:t>M </a:t>
          </a:r>
          <a:r>
            <a:rPr lang="en-AU" dirty="0" smtClean="0">
              <a:ea typeface="+mn-ea"/>
            </a:rPr>
            <a:t>is 150 digits or more</a:t>
          </a:r>
        </a:p>
      </dgm:t>
    </dgm:pt>
    <dgm:pt modelId="{B300D083-4B1B-DD48-BD68-F0FE22D3BCE8}" type="parTrans" cxnId="{442B01CF-1B47-BA46-8F5C-CE17C2B2E367}">
      <dgm:prSet/>
      <dgm:spPr/>
      <dgm:t>
        <a:bodyPr/>
        <a:lstStyle/>
        <a:p>
          <a:endParaRPr lang="en-US"/>
        </a:p>
      </dgm:t>
    </dgm:pt>
    <dgm:pt modelId="{7A0A9B0B-0D94-C942-9111-83E93925DB2F}" type="sibTrans" cxnId="{442B01CF-1B47-BA46-8F5C-CE17C2B2E367}">
      <dgm:prSet/>
      <dgm:spPr/>
      <dgm:t>
        <a:bodyPr/>
        <a:lstStyle/>
        <a:p>
          <a:endParaRPr lang="en-US"/>
        </a:p>
      </dgm:t>
    </dgm:pt>
    <dgm:pt modelId="{70B3C10C-A4AF-5B49-9C1C-C13364F5573B}">
      <dgm:prSet/>
      <dgm:spPr>
        <a:ln>
          <a:solidFill>
            <a:schemeClr val="accent1">
              <a:lumMod val="75000"/>
            </a:schemeClr>
          </a:solidFill>
        </a:ln>
      </dgm:spPr>
      <dgm:t>
        <a:bodyPr/>
        <a:lstStyle/>
        <a:p>
          <a:r>
            <a:rPr lang="en-AU" dirty="0" smtClean="0">
              <a:ea typeface="+mn-ea"/>
            </a:rPr>
            <a:t>However, it is necessary to know beforehand the factorization of </a:t>
          </a:r>
          <a:r>
            <a:rPr lang="en-AU" i="1" dirty="0" smtClean="0">
              <a:ea typeface="+mn-ea"/>
            </a:rPr>
            <a:t>M</a:t>
          </a:r>
          <a:endParaRPr lang="en-AU" dirty="0" smtClean="0">
            <a:ea typeface="+mn-ea"/>
          </a:endParaRPr>
        </a:p>
      </dgm:t>
    </dgm:pt>
    <dgm:pt modelId="{B75E28C2-B101-464A-95A2-E3F4BDF5452B}" type="parTrans" cxnId="{9665BCE8-EF01-914A-B553-A03D141D4190}">
      <dgm:prSet/>
      <dgm:spPr/>
      <dgm:t>
        <a:bodyPr/>
        <a:lstStyle/>
        <a:p>
          <a:endParaRPr lang="en-US"/>
        </a:p>
      </dgm:t>
    </dgm:pt>
    <dgm:pt modelId="{06C987B2-05BD-0040-9F19-DCB771E65FBC}" type="sibTrans" cxnId="{9665BCE8-EF01-914A-B553-A03D141D4190}">
      <dgm:prSet/>
      <dgm:spPr/>
      <dgm:t>
        <a:bodyPr/>
        <a:lstStyle/>
        <a:p>
          <a:endParaRPr lang="en-US"/>
        </a:p>
      </dgm:t>
    </dgm:pt>
    <dgm:pt modelId="{E0D33B3F-4090-674E-9CE3-48A9DB04631B}" type="pres">
      <dgm:prSet presAssocID="{E9579336-3EDD-504A-BEEF-A11AC624ED8E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134D492F-354E-2F4F-8BB7-0DEDAC2CAD25}" type="pres">
      <dgm:prSet presAssocID="{26269044-1E7A-0C41-802D-2DA78E58FD2B}" presName="composite" presStyleCnt="0"/>
      <dgm:spPr/>
    </dgm:pt>
    <dgm:pt modelId="{BA6348B4-F7A9-2B49-A2C4-F1F1F2B3A08C}" type="pres">
      <dgm:prSet presAssocID="{26269044-1E7A-0C41-802D-2DA78E58FD2B}" presName="parTx" presStyleLbl="alignNode1" presStyleIdx="0" presStyleCnt="1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15F77BB-9FDE-7E4A-B50C-8417DFBCAFC9}" type="pres">
      <dgm:prSet presAssocID="{26269044-1E7A-0C41-802D-2DA78E58FD2B}" presName="desTx" presStyleLbl="alignAccFollowNode1" presStyleIdx="0" presStyleCnt="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584E3633-B1D9-E84C-A27C-F8AC092FD81E}" type="presOf" srcId="{E9579336-3EDD-504A-BEEF-A11AC624ED8E}" destId="{E0D33B3F-4090-674E-9CE3-48A9DB04631B}" srcOrd="0" destOrd="0" presId="urn:microsoft.com/office/officeart/2005/8/layout/hList1"/>
    <dgm:cxn modelId="{9665BCE8-EF01-914A-B553-A03D141D4190}" srcId="{26269044-1E7A-0C41-802D-2DA78E58FD2B}" destId="{70B3C10C-A4AF-5B49-9C1C-C13364F5573B}" srcOrd="1" destOrd="0" parTransId="{B75E28C2-B101-464A-95A2-E3F4BDF5452B}" sibTransId="{06C987B2-05BD-0040-9F19-DCB771E65FBC}"/>
    <dgm:cxn modelId="{94106BBF-8DE6-DB41-BC8A-DE48E852D137}" srcId="{E9579336-3EDD-504A-BEEF-A11AC624ED8E}" destId="{26269044-1E7A-0C41-802D-2DA78E58FD2B}" srcOrd="0" destOrd="0" parTransId="{ED5A64B5-EFE2-2E40-96AB-68006603D201}" sibTransId="{1CACCCBD-35A5-7E40-8528-08C6D4A4EFE4}"/>
    <dgm:cxn modelId="{99442113-26FB-AA4B-BEC3-4AC363032F0E}" type="presOf" srcId="{70B3C10C-A4AF-5B49-9C1C-C13364F5573B}" destId="{215F77BB-9FDE-7E4A-B50C-8417DFBCAFC9}" srcOrd="0" destOrd="1" presId="urn:microsoft.com/office/officeart/2005/8/layout/hList1"/>
    <dgm:cxn modelId="{12D63164-B370-2B4F-8A34-344DBF9F1475}" type="presOf" srcId="{A9B72FEC-E322-8D47-80DF-A7E41D4DDE9B}" destId="{215F77BB-9FDE-7E4A-B50C-8417DFBCAFC9}" srcOrd="0" destOrd="0" presId="urn:microsoft.com/office/officeart/2005/8/layout/hList1"/>
    <dgm:cxn modelId="{5A76B26C-F843-BA4C-B779-186BC68D1217}" type="presOf" srcId="{26269044-1E7A-0C41-802D-2DA78E58FD2B}" destId="{BA6348B4-F7A9-2B49-A2C4-F1F1F2B3A08C}" srcOrd="0" destOrd="0" presId="urn:microsoft.com/office/officeart/2005/8/layout/hList1"/>
    <dgm:cxn modelId="{442B01CF-1B47-BA46-8F5C-CE17C2B2E367}" srcId="{26269044-1E7A-0C41-802D-2DA78E58FD2B}" destId="{A9B72FEC-E322-8D47-80DF-A7E41D4DDE9B}" srcOrd="0" destOrd="0" parTransId="{B300D083-4B1B-DD48-BD68-F0FE22D3BCE8}" sibTransId="{7A0A9B0B-0D94-C942-9111-83E93925DB2F}"/>
    <dgm:cxn modelId="{7819138F-31AD-D046-BBAD-E447F08A02B0}" type="presParOf" srcId="{E0D33B3F-4090-674E-9CE3-48A9DB04631B}" destId="{134D492F-354E-2F4F-8BB7-0DEDAC2CAD25}" srcOrd="0" destOrd="0" presId="urn:microsoft.com/office/officeart/2005/8/layout/hList1"/>
    <dgm:cxn modelId="{9783B5E2-0B6B-FA48-B533-5BDCAEC6C146}" type="presParOf" srcId="{134D492F-354E-2F4F-8BB7-0DEDAC2CAD25}" destId="{BA6348B4-F7A9-2B49-A2C4-F1F1F2B3A08C}" srcOrd="0" destOrd="0" presId="urn:microsoft.com/office/officeart/2005/8/layout/hList1"/>
    <dgm:cxn modelId="{BBF2A2C1-0AA8-C345-A1E3-977D2A809B89}" type="presParOf" srcId="{134D492F-354E-2F4F-8BB7-0DEDAC2CAD25}" destId="{215F77BB-9FDE-7E4A-B50C-8417DFBCAFC9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</dsp:spTree>
</dsp:drawing>
</file>

<file path=ppt/diagrams/drawing2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dirty="0">
                <a:latin typeface="Arial" pitchFamily="-107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dirty="0">
                <a:latin typeface="Arial" pitchFamily="-107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49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dirty="0">
                <a:latin typeface="Arial" pitchFamily="-107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49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-107" charset="0"/>
              </a:defRPr>
            </a:lvl1pPr>
          </a:lstStyle>
          <a:p>
            <a:pPr>
              <a:defRPr/>
            </a:pPr>
            <a:fld id="{F217DA43-F7AE-7641-96F9-03D7730E69DC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dirty="0">
                <a:latin typeface="Arial" pitchFamily="-107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dirty="0">
                <a:latin typeface="Arial" pitchFamily="-107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86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25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AU" noProof="0"/>
              <a:t>Click to edit Master text styles</a:t>
            </a:r>
          </a:p>
          <a:p>
            <a:pPr lvl="1"/>
            <a:r>
              <a:rPr lang="en-AU" noProof="0"/>
              <a:t>Second level</a:t>
            </a:r>
          </a:p>
          <a:p>
            <a:pPr lvl="2"/>
            <a:r>
              <a:rPr lang="en-AU" noProof="0"/>
              <a:t>Third level</a:t>
            </a:r>
          </a:p>
          <a:p>
            <a:pPr lvl="3"/>
            <a:r>
              <a:rPr lang="en-AU" noProof="0"/>
              <a:t>Fourth level</a:t>
            </a:r>
          </a:p>
          <a:p>
            <a:pPr lvl="4"/>
            <a:r>
              <a:rPr lang="en-AU" noProof="0"/>
              <a:t>Fifth level</a:t>
            </a:r>
          </a:p>
        </p:txBody>
      </p:sp>
      <p:sp>
        <p:nvSpPr>
          <p:cNvPr id="225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dirty="0">
                <a:latin typeface="Arial" pitchFamily="-107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5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-107" charset="0"/>
              </a:defRPr>
            </a:lvl1pPr>
          </a:lstStyle>
          <a:p>
            <a:pPr>
              <a:defRPr/>
            </a:pPr>
            <a:fld id="{B1B765E1-EB55-3F42-96E6-9BC39CDD5E78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-107" charset="-128"/>
        <a:cs typeface="ＭＳ Ｐゴシック" pitchFamily="-107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8213168-CBB8-004E-B161-E3C8E26BC09B}" type="slidenum">
              <a:rPr lang="en-AU">
                <a:latin typeface="Arial" pitchFamily="-84" charset="0"/>
              </a:rPr>
              <a:pPr/>
              <a:t>1</a:t>
            </a:fld>
            <a:endParaRPr lang="en-AU">
              <a:latin typeface="Arial" pitchFamily="-84" charset="0"/>
            </a:endParaRPr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dirty="0" smtClean="0">
                <a:latin typeface="Times New Roman" pitchFamily="-84" charset="0"/>
                <a:ea typeface="ＭＳ Ｐゴシック" pitchFamily="-84" charset="-128"/>
                <a:cs typeface="ＭＳ Ｐゴシック" pitchFamily="-84" charset="-128"/>
              </a:rPr>
              <a:t>Lecture slides prepared for “Cryptography and Network Security”, 7/e, by William Stallings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, Chapter 2 – “Introduction</a:t>
            </a:r>
            <a:r>
              <a:rPr lang="en-US" baseline="0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to Number Theory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”.</a:t>
            </a:r>
            <a:endParaRPr lang="en-AU" dirty="0" smtClean="0">
              <a:latin typeface="Times New Roman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pPr eaLnBrk="1" hangingPunct="1"/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3277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Number theory is pervasive in cryptographic algorithms. This chapter provides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sufficient breadth and depth of coverage of relevant number theory topics for understanding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the wide range of applications in cryptography. The reader familiar with these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topics can safely skip this chapter.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The first three sections introduce basic concepts from number theory that are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needed for understanding finite fields; these include divisibility, the Euclidian algorithm,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and modular arithmetic. The reader may study these sections now or wait until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ready to tackle Chapter 5 on finite fields.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Sections 2.4 through 2.8 discuss aspects of number theory related to prime numbers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and discrete logarithms. These topics are fundamental to the design of asymmetric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(public-key) cryptographic algorithms. The reader may study these sections now or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wait until ready to read Part Three.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The concepts and techniques of number theory are quite abstract, and it is often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difficult to grasp them intuitively without examples. Accordingly, this chapter includes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a number of examples, each of which is highlighted in a shaded box.</a:t>
            </a:r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</p:txBody>
      </p:sp>
      <p:sp>
        <p:nvSpPr>
          <p:cNvPr id="3277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80C2CB9-0E3F-284F-82E5-C13EA3B1B06E}" type="slidenum">
              <a:rPr lang="en-AU" smtClean="0">
                <a:latin typeface="Arial" pitchFamily="-84" charset="0"/>
              </a:rPr>
              <a:pPr/>
              <a:t>2</a:t>
            </a:fld>
            <a:endParaRPr lang="en-AU" smtClean="0">
              <a:latin typeface="Arial" pitchFamily="-8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7702A24-FA59-FB47-B5ED-F3B289B39302}" type="slidenum">
              <a:rPr lang="en-AU">
                <a:latin typeface="Arial" pitchFamily="-84" charset="0"/>
              </a:rPr>
              <a:pPr/>
              <a:t>3</a:t>
            </a:fld>
            <a:endParaRPr lang="en-AU">
              <a:latin typeface="Arial" pitchFamily="-84" charset="0"/>
            </a:endParaRPr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smtClean="0">
                <a:latin typeface="Arial" pitchFamily="-84" charset="0"/>
                <a:ea typeface="Arial" pitchFamily="-84" charset="0"/>
                <a:cs typeface="Arial" pitchFamily="-84" charset="0"/>
              </a:rPr>
              <a:t>We say that a nonzero b divides a if a=mb for some m, where a, b, and m are integers. That is, b divides a if there is no remainder on division.</a:t>
            </a:r>
          </a:p>
          <a:p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The notation b | a is commonly used to mean b  divides a . Also, if b | a , we say that b is a divisor of a .</a:t>
            </a:r>
            <a:endParaRPr lang="en-US" smtClean="0">
              <a:latin typeface="Arial" pitchFamily="-84" charset="0"/>
              <a:ea typeface="Arial" pitchFamily="-84" charset="0"/>
              <a:cs typeface="Arial" pitchFamily="-8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3891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Subsequently, we will need some simple properties of divisibility for integers, which are as follows: </a:t>
            </a:r>
          </a:p>
          <a:p>
            <a:pPr eaLnBrk="1" hangingPunct="1"/>
            <a:endParaRPr lang="en-US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pPr eaLnBrk="1" hangingPunct="1"/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• If </a:t>
            </a:r>
            <a:r>
              <a:rPr lang="en-US" i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a|1, then a = ±1.</a:t>
            </a:r>
          </a:p>
          <a:p>
            <a:pPr eaLnBrk="1" hangingPunct="1"/>
            <a:endParaRPr lang="en-US" i="1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pPr eaLnBrk="1" hangingPunct="1"/>
            <a:r>
              <a:rPr lang="en-US" i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• If a|b and b|a, then a = ±b.</a:t>
            </a:r>
          </a:p>
          <a:p>
            <a:pPr eaLnBrk="1" hangingPunct="1"/>
            <a:endParaRPr lang="en-US" i="1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pPr eaLnBrk="1" hangingPunct="1"/>
            <a:r>
              <a:rPr lang="en-US" i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• Any b ≠ 0 divides 0. </a:t>
            </a:r>
          </a:p>
          <a:p>
            <a:pPr eaLnBrk="1" hangingPunct="1"/>
            <a:endParaRPr lang="en-US" i="1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pPr eaLnBrk="1" hangingPunct="1"/>
            <a:r>
              <a:rPr lang="en-US" i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• If a | b and b | c, then a | c </a:t>
            </a:r>
          </a:p>
          <a:p>
            <a:pPr eaLnBrk="1" hangingPunct="1"/>
            <a:endParaRPr lang="en-US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pPr eaLnBrk="1" hangingPunct="1"/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• If </a:t>
            </a:r>
            <a:r>
              <a:rPr lang="en-US" i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b|g and b|h, then b|(mg + nh) for arbitrary integers m and n. </a:t>
            </a:r>
          </a:p>
        </p:txBody>
      </p:sp>
      <p:sp>
        <p:nvSpPr>
          <p:cNvPr id="3891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7D348B4-5558-1C4E-9943-D091830B32AF}" type="slidenum">
              <a:rPr lang="en-AU" smtClean="0">
                <a:latin typeface="Arial" pitchFamily="-84" charset="0"/>
              </a:rPr>
              <a:pPr/>
              <a:t>4</a:t>
            </a:fld>
            <a:endParaRPr lang="en-AU" smtClean="0">
              <a:latin typeface="Arial" pitchFamily="-8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To see this last point, note that</a:t>
            </a:r>
          </a:p>
          <a:p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•  If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b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|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g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, then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g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 is of the form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g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=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b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* g</a:t>
            </a:r>
            <a:r>
              <a:rPr lang="en-US" baseline="-25000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1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 for some integer g</a:t>
            </a:r>
            <a:r>
              <a:rPr lang="en-US" baseline="-25000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1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.</a:t>
            </a:r>
          </a:p>
          <a:p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•  If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b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|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h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, then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h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 is of the form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h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=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b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* h</a:t>
            </a:r>
            <a:r>
              <a:rPr lang="en-US" baseline="-25000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1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 for some integer h</a:t>
            </a:r>
            <a:r>
              <a:rPr lang="en-US" baseline="-25000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1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.</a:t>
            </a:r>
          </a:p>
          <a:p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So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mg +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nh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= mbg</a:t>
            </a:r>
            <a:r>
              <a:rPr lang="en-US" baseline="-25000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1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+ nbh</a:t>
            </a:r>
            <a:r>
              <a:rPr lang="en-US" baseline="-25000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1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=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b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*  (mg</a:t>
            </a:r>
            <a:r>
              <a:rPr lang="en-US" baseline="-25000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1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+ nh</a:t>
            </a:r>
            <a:r>
              <a:rPr lang="en-US" baseline="-25000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1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)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and therefore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b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 divides mg +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nh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.</a:t>
            </a:r>
          </a:p>
        </p:txBody>
      </p:sp>
      <p:sp>
        <p:nvSpPr>
          <p:cNvPr id="4096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C46235F-3FA9-AE45-89D1-A58CF8B779DB}" type="slidenum">
              <a:rPr lang="en-AU" smtClean="0">
                <a:latin typeface="Arial" pitchFamily="-84" charset="0"/>
              </a:rPr>
              <a:pPr/>
              <a:t>5</a:t>
            </a:fld>
            <a:endParaRPr lang="en-AU" smtClean="0">
              <a:latin typeface="Arial" pitchFamily="-8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4301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Given any positive integer </a:t>
            </a:r>
            <a:r>
              <a:rPr lang="en-US" i="1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n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and any nonnegative integer </a:t>
            </a:r>
            <a:r>
              <a:rPr lang="en-US" i="1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, if we divide </a:t>
            </a:r>
            <a:r>
              <a:rPr lang="en-US" i="1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by </a:t>
            </a:r>
            <a:r>
              <a:rPr lang="en-US" i="1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n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, we get an integer quotient </a:t>
            </a:r>
            <a:r>
              <a:rPr lang="en-US" i="1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q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and an integer remainder </a:t>
            </a:r>
            <a:r>
              <a:rPr lang="en-US" i="1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r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that obey the following relationship</a:t>
            </a:r>
            <a:r>
              <a:rPr lang="en-US" i="1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:</a:t>
            </a:r>
          </a:p>
          <a:p>
            <a:pPr eaLnBrk="1" hangingPunct="1"/>
            <a:endParaRPr lang="en-US" i="1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pPr eaLnBrk="1" hangingPunct="1"/>
            <a:r>
              <a:rPr lang="en-US" i="1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a = </a:t>
            </a:r>
            <a:r>
              <a:rPr lang="en-US" i="1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qn</a:t>
            </a:r>
            <a:r>
              <a:rPr lang="en-US" i="1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+ </a:t>
            </a:r>
            <a:r>
              <a:rPr lang="en-US" i="1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r</a:t>
            </a:r>
            <a:r>
              <a:rPr lang="en-US" i="1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, 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    </a:t>
            </a:r>
            <a:r>
              <a:rPr lang="en-US" i="1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0 ≤ </a:t>
            </a:r>
            <a:r>
              <a:rPr lang="en-US" i="1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r</a:t>
            </a:r>
            <a:r>
              <a:rPr lang="en-US" i="1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&lt; </a:t>
            </a:r>
            <a:r>
              <a:rPr lang="en-US" i="1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n</a:t>
            </a:r>
            <a:r>
              <a:rPr lang="en-US" i="1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; </a:t>
            </a:r>
            <a:r>
              <a:rPr lang="en-US" i="1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q</a:t>
            </a:r>
            <a:r>
              <a:rPr lang="en-US" i="1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= [a/</a:t>
            </a:r>
            <a:r>
              <a:rPr lang="en-US" i="1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n</a:t>
            </a:r>
            <a:r>
              <a:rPr lang="en-US" i="1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] 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which is referred to as the division algorithm. </a:t>
            </a:r>
          </a:p>
          <a:p>
            <a:pPr eaLnBrk="1" hangingPunct="1"/>
            <a:endParaRPr lang="en-US" b="1" i="1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</p:txBody>
      </p:sp>
      <p:sp>
        <p:nvSpPr>
          <p:cNvPr id="4301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13DC2E6-EEFD-874E-B170-9A85AC6E093F}" type="slidenum">
              <a:rPr lang="en-AU" smtClean="0">
                <a:latin typeface="Arial" pitchFamily="-84" charset="0"/>
              </a:rPr>
              <a:pPr/>
              <a:t>6</a:t>
            </a:fld>
            <a:endParaRPr lang="en-AU" smtClean="0">
              <a:latin typeface="Arial" pitchFamily="-8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4505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Figure 2.1a demonstrates that, given a and positive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n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, it is always possible to find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q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and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r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that satisfy the preceding relationship. Represent the integers on the number line; a will fall somewhere on that line (positive a is shown, a similar demonstration can be made for negative a). Starting at 0, proceed to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n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, 2n, up to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qn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such that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qn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≤ a and (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q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+ 1)n &gt; a. The distance from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qn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to a is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r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, and we have found the unique values of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q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and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r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. The remainder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r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 is often referred to as a residue .</a:t>
            </a:r>
          </a:p>
          <a:p>
            <a:pPr eaLnBrk="1" hangingPunct="1"/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pPr eaLnBrk="1" hangingPunct="1"/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For example: </a:t>
            </a:r>
          </a:p>
          <a:p>
            <a:pPr eaLnBrk="1" hangingPunct="1"/>
            <a:r>
              <a:rPr lang="en-US" i="1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   a = 11; </a:t>
            </a:r>
            <a:r>
              <a:rPr lang="en-US" i="1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n</a:t>
            </a:r>
            <a:r>
              <a:rPr lang="en-US" i="1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= 7; 	11 = 1 </a:t>
            </a:r>
            <a:r>
              <a:rPr lang="en-US" i="1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x</a:t>
            </a:r>
            <a:r>
              <a:rPr lang="en-US" i="1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7 + 4; 	</a:t>
            </a:r>
            <a:r>
              <a:rPr lang="en-US" i="1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r</a:t>
            </a:r>
            <a:r>
              <a:rPr lang="en-US" i="1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= 4 </a:t>
            </a:r>
            <a:r>
              <a:rPr lang="en-US" i="1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q</a:t>
            </a:r>
            <a:r>
              <a:rPr lang="en-US" i="1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= 1 </a:t>
            </a:r>
          </a:p>
          <a:p>
            <a:pPr eaLnBrk="1" hangingPunct="1"/>
            <a:r>
              <a:rPr lang="en-US" i="1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   a = –11; </a:t>
            </a:r>
            <a:r>
              <a:rPr lang="en-US" i="1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n</a:t>
            </a:r>
            <a:r>
              <a:rPr lang="en-US" i="1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= 7; 	–11 = (–2) </a:t>
            </a:r>
            <a:r>
              <a:rPr lang="en-US" i="1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x</a:t>
            </a:r>
            <a:r>
              <a:rPr lang="en-US" i="1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7 + 3; 	</a:t>
            </a:r>
            <a:r>
              <a:rPr lang="en-US" i="1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r</a:t>
            </a:r>
            <a:r>
              <a:rPr lang="en-US" i="1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= 3 </a:t>
            </a:r>
            <a:r>
              <a:rPr lang="en-US" i="1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q</a:t>
            </a:r>
            <a:r>
              <a:rPr lang="en-US" i="1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= –2 </a:t>
            </a:r>
          </a:p>
          <a:p>
            <a:pPr eaLnBrk="1" hangingPunct="1"/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Figure 4.1b provides another example. </a:t>
            </a:r>
          </a:p>
          <a:p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</p:txBody>
      </p:sp>
      <p:sp>
        <p:nvSpPr>
          <p:cNvPr id="4506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A372CBD-66AF-E241-A037-ABBDAFF689DC}" type="slidenum">
              <a:rPr lang="en-AU" smtClean="0">
                <a:latin typeface="Arial" pitchFamily="-84" charset="0"/>
              </a:rPr>
              <a:pPr/>
              <a:t>7</a:t>
            </a:fld>
            <a:endParaRPr lang="en-AU" smtClean="0">
              <a:latin typeface="Arial" pitchFamily="-8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E6F37AB-E29E-B94D-B797-40264BDA9EBB}" type="slidenum">
              <a:rPr lang="en-AU">
                <a:latin typeface="Arial" pitchFamily="-84" charset="0"/>
              </a:rPr>
              <a:pPr/>
              <a:t>8</a:t>
            </a:fld>
            <a:endParaRPr lang="en-AU">
              <a:latin typeface="Arial" pitchFamily="-84" charset="0"/>
            </a:endParaRPr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One of the basic techniques of number theory is the Euclidean algorithm, which</a:t>
            </a:r>
          </a:p>
          <a:p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is a simple procedure for determining the greatest common divisor of two positive</a:t>
            </a:r>
          </a:p>
          <a:p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integers. First, we need a simple definition: Two integers are relatively prime  if their</a:t>
            </a:r>
          </a:p>
          <a:p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only common positive integer factor is 1.</a:t>
            </a:r>
            <a:endParaRPr lang="en-US" smtClean="0">
              <a:latin typeface="Arial" pitchFamily="-84" charset="0"/>
              <a:ea typeface="Arial" pitchFamily="-84" charset="0"/>
              <a:cs typeface="Arial" pitchFamily="-8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>
              <a:defRPr/>
            </a:pPr>
            <a:r>
              <a:rPr lang="en-US" dirty="0" smtClean="0"/>
              <a:t> Recall that nonzero b  is defined to be a divisor of a  if a = mb  for some m , where a , b , and</a:t>
            </a:r>
          </a:p>
          <a:p>
            <a:pPr>
              <a:defRPr/>
            </a:pPr>
            <a:r>
              <a:rPr lang="en-US" dirty="0" smtClean="0"/>
              <a:t>m  are integers. We will use the notation gcd(a , b ) to mean the greatest common divisor</a:t>
            </a:r>
          </a:p>
          <a:p>
            <a:pPr>
              <a:defRPr/>
            </a:pPr>
            <a:r>
              <a:rPr lang="en-US" dirty="0" smtClean="0"/>
              <a:t> of a  and b . The greatest common divisor of a  and b  is the largest integer that divides</a:t>
            </a:r>
          </a:p>
          <a:p>
            <a:pPr>
              <a:defRPr/>
            </a:pPr>
            <a:r>
              <a:rPr lang="en-US" dirty="0" smtClean="0"/>
              <a:t>both a  and b . We also define gcd(0, 0) =  0.</a:t>
            </a:r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r>
              <a:rPr lang="en-US" dirty="0" smtClean="0"/>
              <a:t> More formally, the positive integer c  is said to be the greatest common divisor</a:t>
            </a:r>
          </a:p>
          <a:p>
            <a:pPr>
              <a:defRPr/>
            </a:pPr>
            <a:r>
              <a:rPr lang="en-US" dirty="0" smtClean="0"/>
              <a:t>of a  and b  if</a:t>
            </a:r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r>
              <a:rPr lang="en-US" dirty="0" smtClean="0"/>
              <a:t>1. c  is a divisor of a  and of b .</a:t>
            </a:r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r>
              <a:rPr lang="en-US" dirty="0" smtClean="0"/>
              <a:t>2.  Any divisor of a  and b  is a divisor of c .</a:t>
            </a:r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r>
              <a:rPr lang="en-US" dirty="0" smtClean="0"/>
              <a:t>An equivalent definition is the following:</a:t>
            </a:r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r>
              <a:rPr lang="en-US" dirty="0" smtClean="0"/>
              <a:t>gcd(a , b ) =  max[k , such that k | a  and k | b ]</a:t>
            </a:r>
          </a:p>
          <a:p>
            <a:pPr>
              <a:defRPr/>
            </a:pPr>
            <a:endParaRPr lang="en-US" dirty="0" smtClean="0"/>
          </a:p>
        </p:txBody>
      </p:sp>
      <p:sp>
        <p:nvSpPr>
          <p:cNvPr id="4915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7D3896B-A8FC-4A47-B28C-34D1D9795B34}" type="slidenum">
              <a:rPr lang="en-AU" smtClean="0">
                <a:latin typeface="Arial" pitchFamily="-84" charset="0"/>
              </a:rPr>
              <a:pPr/>
              <a:t>9</a:t>
            </a:fld>
            <a:endParaRPr lang="en-AU" smtClean="0">
              <a:latin typeface="Arial" pitchFamily="-8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Because we require that the greatest common divisor be positive, gcd(a , b ) =</a:t>
            </a:r>
          </a:p>
          <a:p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gcd(a , -b ) =  gcd(-a , b ) =  gcd(-a ,-b ). In general, gcd(a , b ) =  gcd( | a | , | b |  ).</a:t>
            </a:r>
          </a:p>
          <a:p>
            <a:endParaRPr lang="en-US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Also, because all nonzero integers divide 0, we have gcd(a , 0) =  a  .</a:t>
            </a:r>
          </a:p>
          <a:p>
            <a:endParaRPr lang="en-US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We stated that two integers a  and b  are relatively prime if their only common</a:t>
            </a:r>
          </a:p>
          <a:p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positive integer factor is 1. This is equivalent to saying that a  and b  are relatively</a:t>
            </a:r>
          </a:p>
          <a:p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prime if gcd(a , b ) =  1.</a:t>
            </a:r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93B5EFD-BDF2-DC42-8674-BFFF97780EEF}" type="slidenum">
              <a:rPr lang="en-AU" smtClean="0">
                <a:latin typeface="Arial" pitchFamily="-84" charset="0"/>
              </a:rPr>
              <a:pPr/>
              <a:t>10</a:t>
            </a:fld>
            <a:endParaRPr lang="en-AU" smtClean="0">
              <a:latin typeface="Arial" pitchFamily="-8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We now describe an algorithm credited to Euclid for easily finding the greatest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common divisor of two integers (Figure 2.2). This algorithm has broad significance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in cryptography.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B765E1-EB55-3F42-96E6-9BC39CDD5E78}" type="slidenum">
              <a:rPr lang="en-AU" smtClean="0"/>
              <a:pPr>
                <a:defRPr/>
              </a:pPr>
              <a:t>11</a:t>
            </a:fld>
            <a:endParaRPr lang="en-AU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We can find the greatest common divisor of two integers by repetitive application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of the division algorithm. This scheme is known as the Euclidean algorithm.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Figure 2.3 illustrates a simple example.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B765E1-EB55-3F42-96E6-9BC39CDD5E78}" type="slidenum">
              <a:rPr lang="en-AU" smtClean="0"/>
              <a:pPr>
                <a:defRPr/>
              </a:pPr>
              <a:t>12</a:t>
            </a:fld>
            <a:endParaRPr lang="en-AU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5325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In this example, we begin by dividing 1160718174 by 316258250, which gives 3</a:t>
            </a:r>
          </a:p>
          <a:p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with a remainder of 211943424. Next we take 316258250 and divide it by 211943424.</a:t>
            </a:r>
          </a:p>
          <a:p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The process continues until we get a remainder of 0, yielding a result of 1078.</a:t>
            </a:r>
          </a:p>
        </p:txBody>
      </p:sp>
      <p:sp>
        <p:nvSpPr>
          <p:cNvPr id="5325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E0E76CD-330F-DD41-BA79-88804F486D86}" type="slidenum">
              <a:rPr lang="en-AU" smtClean="0">
                <a:latin typeface="Arial" pitchFamily="-84" charset="0"/>
              </a:rPr>
              <a:pPr/>
              <a:t>13</a:t>
            </a:fld>
            <a:endParaRPr lang="en-AU" smtClean="0">
              <a:latin typeface="Arial" pitchFamily="-8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5529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If a  is an integer and n  is a positive integer, we define a  mod n  to be the remainder</a:t>
            </a:r>
          </a:p>
          <a:p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when a  is divided by n . The integer n  is called the modulus . Thus, for any integer a:</a:t>
            </a:r>
          </a:p>
          <a:p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a =  qn +  r   0 ≤ r &lt;  n;  q = [ a/ n]</a:t>
            </a:r>
          </a:p>
          <a:p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a = [a/ n] *  n + ( a mod  n)</a:t>
            </a:r>
          </a:p>
        </p:txBody>
      </p:sp>
      <p:sp>
        <p:nvSpPr>
          <p:cNvPr id="553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90118FC-DFA6-EC48-AF68-EC43E4DB831B}" type="slidenum">
              <a:rPr lang="en-AU" smtClean="0">
                <a:latin typeface="Arial" pitchFamily="-84" charset="0"/>
              </a:rPr>
              <a:pPr/>
              <a:t>14</a:t>
            </a:fld>
            <a:endParaRPr lang="en-AU" smtClean="0">
              <a:latin typeface="Arial" pitchFamily="-84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5734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Two integers a  and b  are said to be congruent modulo n , if (a  mod n ) =</a:t>
            </a:r>
          </a:p>
          <a:p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(b  mod n ). This is written as a K b  (mod n ).</a:t>
            </a:r>
            <a:r>
              <a:rPr lang="en-US" baseline="3000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2</a:t>
            </a:r>
          </a:p>
          <a:p>
            <a:endParaRPr lang="en-US" baseline="3000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Note that if a = 0 (mod n ), then n | a .</a:t>
            </a:r>
            <a:endParaRPr lang="en-US" baseline="3000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</p:txBody>
      </p:sp>
      <p:sp>
        <p:nvSpPr>
          <p:cNvPr id="5734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A0F70A2-E83B-B941-A8BF-73D587A67417}" type="slidenum">
              <a:rPr lang="en-AU" smtClean="0">
                <a:latin typeface="Arial" pitchFamily="-84" charset="0"/>
              </a:rPr>
              <a:pPr/>
              <a:t>15</a:t>
            </a:fld>
            <a:endParaRPr lang="en-AU" smtClean="0">
              <a:latin typeface="Arial" pitchFamily="-84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5939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Congruences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have the following properties: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		1</a:t>
            </a:r>
            <a:r>
              <a:rPr lang="en-US" i="1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. a = b (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mod</a:t>
            </a:r>
            <a:r>
              <a:rPr lang="en-US" i="1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n)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if </a:t>
            </a:r>
            <a:r>
              <a:rPr lang="en-US" i="1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n (a – b)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		2. </a:t>
            </a:r>
            <a:r>
              <a:rPr lang="en-US" i="1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 = b 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(mod </a:t>
            </a:r>
            <a:r>
              <a:rPr lang="en-US" i="1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n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) implies </a:t>
            </a:r>
            <a:r>
              <a:rPr lang="en-US" i="1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b = a 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(mod </a:t>
            </a:r>
            <a:r>
              <a:rPr lang="en-US" i="1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n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)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		3</a:t>
            </a:r>
            <a:r>
              <a:rPr lang="en-US" i="1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. a = b 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(mod </a:t>
            </a:r>
            <a:r>
              <a:rPr lang="en-US" i="1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n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) and </a:t>
            </a:r>
            <a:r>
              <a:rPr lang="en-US" i="1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b = c 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(mod </a:t>
            </a:r>
            <a:r>
              <a:rPr lang="en-US" i="1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n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) imply </a:t>
            </a:r>
            <a:r>
              <a:rPr lang="en-US" i="1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 = c 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(mod </a:t>
            </a:r>
            <a:r>
              <a:rPr lang="en-US" i="1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n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)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To demonstrate the first point, if </a:t>
            </a:r>
            <a:r>
              <a:rPr lang="en-US" i="1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n (a - b)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, then </a:t>
            </a:r>
            <a:r>
              <a:rPr lang="en-US" i="1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(a - b) = </a:t>
            </a:r>
            <a:r>
              <a:rPr lang="en-US" i="1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kn</a:t>
            </a:r>
            <a:r>
              <a:rPr lang="en-US" i="1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for some </a:t>
            </a:r>
            <a:r>
              <a:rPr lang="en-US" i="1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k</a:t>
            </a:r>
          </a:p>
          <a:p>
            <a:pPr lvl="1"/>
            <a:r>
              <a:rPr lang="en-US" dirty="0" smtClean="0">
                <a:latin typeface="Arial" pitchFamily="-84" charset="0"/>
              </a:rPr>
              <a:t>So we can write </a:t>
            </a:r>
            <a:r>
              <a:rPr lang="en-US" i="1" dirty="0" smtClean="0">
                <a:latin typeface="Arial" pitchFamily="-84" charset="0"/>
              </a:rPr>
              <a:t>a = b + </a:t>
            </a:r>
            <a:r>
              <a:rPr lang="en-US" i="1" dirty="0" err="1" smtClean="0">
                <a:latin typeface="Arial" pitchFamily="-84" charset="0"/>
              </a:rPr>
              <a:t>kn</a:t>
            </a:r>
            <a:r>
              <a:rPr lang="en-US" dirty="0" smtClean="0">
                <a:latin typeface="Arial" pitchFamily="-84" charset="0"/>
              </a:rPr>
              <a:t> </a:t>
            </a:r>
          </a:p>
          <a:p>
            <a:pPr lvl="1"/>
            <a:r>
              <a:rPr lang="en-US" dirty="0" smtClean="0">
                <a:latin typeface="Arial" pitchFamily="-84" charset="0"/>
              </a:rPr>
              <a:t>Therefore, (</a:t>
            </a:r>
            <a:r>
              <a:rPr lang="en-US" i="1" dirty="0" smtClean="0">
                <a:latin typeface="Arial" pitchFamily="-84" charset="0"/>
              </a:rPr>
              <a:t>a </a:t>
            </a:r>
            <a:r>
              <a:rPr lang="en-US" dirty="0" smtClean="0">
                <a:latin typeface="Arial" pitchFamily="-84" charset="0"/>
              </a:rPr>
              <a:t>mod </a:t>
            </a:r>
            <a:r>
              <a:rPr lang="en-US" i="1" dirty="0" smtClean="0">
                <a:latin typeface="Arial" pitchFamily="-84" charset="0"/>
              </a:rPr>
              <a:t>n</a:t>
            </a:r>
            <a:r>
              <a:rPr lang="en-US" dirty="0" smtClean="0">
                <a:latin typeface="Arial" pitchFamily="-84" charset="0"/>
              </a:rPr>
              <a:t>) = (remainder when </a:t>
            </a:r>
            <a:r>
              <a:rPr lang="en-US" i="1" dirty="0" smtClean="0">
                <a:latin typeface="Arial" pitchFamily="-84" charset="0"/>
              </a:rPr>
              <a:t>b + </a:t>
            </a:r>
            <a:r>
              <a:rPr lang="en-US" i="1" dirty="0" err="1" smtClean="0">
                <a:latin typeface="Arial" pitchFamily="-84" charset="0"/>
              </a:rPr>
              <a:t>kn</a:t>
            </a:r>
            <a:r>
              <a:rPr lang="en-US" i="1" dirty="0" smtClean="0">
                <a:latin typeface="Arial" pitchFamily="-84" charset="0"/>
              </a:rPr>
              <a:t> </a:t>
            </a:r>
            <a:r>
              <a:rPr lang="en-US" dirty="0" smtClean="0">
                <a:latin typeface="Arial" pitchFamily="-84" charset="0"/>
              </a:rPr>
              <a:t>is divided by </a:t>
            </a:r>
            <a:r>
              <a:rPr lang="en-US" i="1" dirty="0" smtClean="0">
                <a:latin typeface="Arial" pitchFamily="-84" charset="0"/>
              </a:rPr>
              <a:t>n</a:t>
            </a:r>
            <a:r>
              <a:rPr lang="en-US" dirty="0" smtClean="0">
                <a:latin typeface="Arial" pitchFamily="-84" charset="0"/>
              </a:rPr>
              <a:t>) = (remainder when </a:t>
            </a:r>
            <a:r>
              <a:rPr lang="en-US" i="1" dirty="0" smtClean="0">
                <a:latin typeface="Arial" pitchFamily="-84" charset="0"/>
              </a:rPr>
              <a:t>b</a:t>
            </a:r>
            <a:r>
              <a:rPr lang="en-US" dirty="0" smtClean="0">
                <a:latin typeface="Arial" pitchFamily="-84" charset="0"/>
              </a:rPr>
              <a:t> is divided by </a:t>
            </a:r>
            <a:r>
              <a:rPr lang="en-US" i="1" dirty="0" smtClean="0">
                <a:latin typeface="Arial" pitchFamily="-84" charset="0"/>
              </a:rPr>
              <a:t>n</a:t>
            </a:r>
            <a:r>
              <a:rPr lang="en-US" dirty="0" smtClean="0">
                <a:latin typeface="Arial" pitchFamily="-84" charset="0"/>
              </a:rPr>
              <a:t>) = (</a:t>
            </a:r>
            <a:r>
              <a:rPr lang="en-US" i="1" dirty="0" smtClean="0">
                <a:latin typeface="Arial" pitchFamily="-84" charset="0"/>
              </a:rPr>
              <a:t>b</a:t>
            </a:r>
            <a:r>
              <a:rPr lang="en-US" dirty="0" smtClean="0">
                <a:latin typeface="Arial" pitchFamily="-84" charset="0"/>
              </a:rPr>
              <a:t> mod </a:t>
            </a:r>
            <a:r>
              <a:rPr lang="en-US" i="1" dirty="0" smtClean="0">
                <a:latin typeface="Arial" pitchFamily="-84" charset="0"/>
              </a:rPr>
              <a:t>n</a:t>
            </a:r>
            <a:r>
              <a:rPr lang="en-US" dirty="0" smtClean="0">
                <a:latin typeface="Arial" pitchFamily="-84" charset="0"/>
              </a:rPr>
              <a:t>)</a:t>
            </a:r>
          </a:p>
          <a:p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</p:txBody>
      </p:sp>
      <p:sp>
        <p:nvSpPr>
          <p:cNvPr id="593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6F94C3A-2C59-124A-9480-A1DD054BCF2A}" type="slidenum">
              <a:rPr lang="en-AU" smtClean="0">
                <a:latin typeface="Arial" pitchFamily="-84" charset="0"/>
              </a:rPr>
              <a:pPr/>
              <a:t>16</a:t>
            </a:fld>
            <a:endParaRPr lang="en-AU" smtClean="0">
              <a:latin typeface="Arial" pitchFamily="-84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en-US" sz="3200" dirty="0" smtClean="0"/>
              <a:t>Modular arithmetic exhibits the following properties:</a:t>
            </a:r>
          </a:p>
          <a:p>
            <a:pPr>
              <a:lnSpc>
                <a:spcPct val="120000"/>
              </a:lnSpc>
              <a:spcBef>
                <a:spcPts val="2000"/>
              </a:spcBef>
              <a:defRPr/>
            </a:pPr>
            <a:r>
              <a:rPr lang="en-US" dirty="0" smtClean="0"/>
              <a:t>		1.  [(</a:t>
            </a:r>
            <a:r>
              <a:rPr lang="en-US" i="1" dirty="0" smtClean="0"/>
              <a:t>a</a:t>
            </a:r>
            <a:r>
              <a:rPr lang="en-US" dirty="0" smtClean="0"/>
              <a:t> mod </a:t>
            </a:r>
            <a:r>
              <a:rPr lang="en-US" i="1" dirty="0" smtClean="0"/>
              <a:t>n</a:t>
            </a:r>
            <a:r>
              <a:rPr lang="en-US" dirty="0" smtClean="0"/>
              <a:t>) + (</a:t>
            </a:r>
            <a:r>
              <a:rPr lang="en-US" i="1" dirty="0" smtClean="0"/>
              <a:t>b</a:t>
            </a:r>
            <a:r>
              <a:rPr lang="en-US" dirty="0" smtClean="0"/>
              <a:t> mod </a:t>
            </a:r>
            <a:r>
              <a:rPr lang="en-US" i="1" dirty="0" smtClean="0"/>
              <a:t>n</a:t>
            </a:r>
            <a:r>
              <a:rPr lang="en-US" dirty="0" smtClean="0"/>
              <a:t>)] mod </a:t>
            </a:r>
            <a:r>
              <a:rPr lang="en-US" i="1" dirty="0" smtClean="0"/>
              <a:t>n</a:t>
            </a:r>
            <a:r>
              <a:rPr lang="en-US" dirty="0" smtClean="0"/>
              <a:t> </a:t>
            </a:r>
            <a:r>
              <a:rPr lang="en-US" i="1" dirty="0" smtClean="0"/>
              <a:t>= (a + b) </a:t>
            </a:r>
            <a:r>
              <a:rPr lang="en-US" dirty="0" smtClean="0"/>
              <a:t>mod </a:t>
            </a:r>
            <a:r>
              <a:rPr lang="en-US" i="1" dirty="0" smtClean="0"/>
              <a:t>n</a:t>
            </a:r>
          </a:p>
          <a:p>
            <a:pPr>
              <a:lnSpc>
                <a:spcPct val="120000"/>
              </a:lnSpc>
              <a:spcBef>
                <a:spcPts val="2000"/>
              </a:spcBef>
              <a:defRPr/>
            </a:pPr>
            <a:r>
              <a:rPr lang="en-US" dirty="0" smtClean="0"/>
              <a:t>		2.  [(</a:t>
            </a:r>
            <a:r>
              <a:rPr lang="en-US" i="1" dirty="0" smtClean="0"/>
              <a:t>a</a:t>
            </a:r>
            <a:r>
              <a:rPr lang="en-US" dirty="0" smtClean="0"/>
              <a:t> mod </a:t>
            </a:r>
            <a:r>
              <a:rPr lang="en-US" i="1" dirty="0" smtClean="0"/>
              <a:t>n</a:t>
            </a:r>
            <a:r>
              <a:rPr lang="en-US" dirty="0" smtClean="0"/>
              <a:t>) - (</a:t>
            </a:r>
            <a:r>
              <a:rPr lang="en-US" i="1" dirty="0" smtClean="0"/>
              <a:t>b</a:t>
            </a:r>
            <a:r>
              <a:rPr lang="en-US" dirty="0" smtClean="0"/>
              <a:t> mod </a:t>
            </a:r>
            <a:r>
              <a:rPr lang="en-US" i="1" dirty="0" smtClean="0"/>
              <a:t>n</a:t>
            </a:r>
            <a:r>
              <a:rPr lang="en-US" dirty="0" smtClean="0"/>
              <a:t>)] mod </a:t>
            </a:r>
            <a:r>
              <a:rPr lang="en-US" i="1" dirty="0" smtClean="0"/>
              <a:t>n = (a - b) </a:t>
            </a:r>
            <a:r>
              <a:rPr lang="en-US" dirty="0" smtClean="0"/>
              <a:t>mod </a:t>
            </a:r>
            <a:r>
              <a:rPr lang="en-US" i="1" dirty="0" smtClean="0"/>
              <a:t>n</a:t>
            </a:r>
          </a:p>
          <a:p>
            <a:pPr>
              <a:lnSpc>
                <a:spcPct val="120000"/>
              </a:lnSpc>
              <a:spcBef>
                <a:spcPts val="2000"/>
              </a:spcBef>
              <a:defRPr/>
            </a:pPr>
            <a:r>
              <a:rPr lang="en-US" dirty="0" smtClean="0"/>
              <a:t>		3.  [(</a:t>
            </a:r>
            <a:r>
              <a:rPr lang="en-US" i="1" dirty="0" smtClean="0"/>
              <a:t>a</a:t>
            </a:r>
            <a:r>
              <a:rPr lang="en-US" dirty="0" smtClean="0"/>
              <a:t> mod </a:t>
            </a:r>
            <a:r>
              <a:rPr lang="en-US" i="1" dirty="0" smtClean="0"/>
              <a:t>n</a:t>
            </a:r>
            <a:r>
              <a:rPr lang="en-US" dirty="0" smtClean="0"/>
              <a:t>) * (</a:t>
            </a:r>
            <a:r>
              <a:rPr lang="en-US" i="1" dirty="0" smtClean="0"/>
              <a:t>b</a:t>
            </a:r>
            <a:r>
              <a:rPr lang="en-US" dirty="0" smtClean="0"/>
              <a:t> mod </a:t>
            </a:r>
            <a:r>
              <a:rPr lang="en-US" i="1" dirty="0" smtClean="0"/>
              <a:t>n</a:t>
            </a:r>
            <a:r>
              <a:rPr lang="en-US" dirty="0" smtClean="0"/>
              <a:t>)] mod </a:t>
            </a:r>
            <a:r>
              <a:rPr lang="en-US" i="1" dirty="0" smtClean="0"/>
              <a:t>n = (a * b) </a:t>
            </a:r>
            <a:r>
              <a:rPr lang="en-US" dirty="0" smtClean="0"/>
              <a:t>mod </a:t>
            </a:r>
            <a:r>
              <a:rPr lang="en-US" i="1" dirty="0" smtClean="0"/>
              <a:t>n</a:t>
            </a:r>
          </a:p>
          <a:p>
            <a:pPr>
              <a:lnSpc>
                <a:spcPct val="120000"/>
              </a:lnSpc>
              <a:defRPr/>
            </a:pPr>
            <a:r>
              <a:rPr lang="en-US" sz="3200" dirty="0" smtClean="0"/>
              <a:t>We demonstrate the first property:</a:t>
            </a:r>
          </a:p>
          <a:p>
            <a:pPr lvl="1">
              <a:lnSpc>
                <a:spcPct val="120000"/>
              </a:lnSpc>
              <a:defRPr/>
            </a:pPr>
            <a:r>
              <a:rPr lang="en-US" sz="3000" dirty="0" smtClean="0"/>
              <a:t>Define (</a:t>
            </a:r>
            <a:r>
              <a:rPr lang="en-US" sz="3000" i="1" dirty="0" smtClean="0"/>
              <a:t>a</a:t>
            </a:r>
            <a:r>
              <a:rPr lang="en-US" sz="3000" dirty="0" smtClean="0"/>
              <a:t> mod </a:t>
            </a:r>
            <a:r>
              <a:rPr lang="en-US" sz="3000" i="1" dirty="0" smtClean="0"/>
              <a:t>n)</a:t>
            </a:r>
            <a:r>
              <a:rPr lang="en-US" sz="3000" dirty="0" smtClean="0"/>
              <a:t> = </a:t>
            </a:r>
            <a:r>
              <a:rPr lang="en-US" sz="3000" i="1" dirty="0" smtClean="0"/>
              <a:t>r</a:t>
            </a:r>
            <a:r>
              <a:rPr lang="en-US" sz="3000" i="1" baseline="-25000" dirty="0" smtClean="0"/>
              <a:t>a</a:t>
            </a:r>
            <a:r>
              <a:rPr lang="en-US" sz="3000" i="1" dirty="0" smtClean="0"/>
              <a:t> </a:t>
            </a:r>
            <a:r>
              <a:rPr lang="en-US" sz="3000" dirty="0" smtClean="0"/>
              <a:t>and (</a:t>
            </a:r>
            <a:r>
              <a:rPr lang="en-US" sz="3000" i="1" dirty="0" smtClean="0"/>
              <a:t>b</a:t>
            </a:r>
            <a:r>
              <a:rPr lang="en-US" sz="3000" dirty="0" smtClean="0"/>
              <a:t> mod </a:t>
            </a:r>
            <a:r>
              <a:rPr lang="en-US" sz="3000" i="1" dirty="0" smtClean="0"/>
              <a:t>n</a:t>
            </a:r>
            <a:r>
              <a:rPr lang="en-US" sz="3000" dirty="0" smtClean="0"/>
              <a:t>) = </a:t>
            </a:r>
            <a:r>
              <a:rPr lang="en-US" sz="3000" i="1" dirty="0" smtClean="0"/>
              <a:t>r</a:t>
            </a:r>
            <a:r>
              <a:rPr lang="en-US" sz="3000" i="1" baseline="-25000" dirty="0" smtClean="0"/>
              <a:t>b</a:t>
            </a:r>
            <a:r>
              <a:rPr lang="en-US" sz="3000" dirty="0" smtClean="0"/>
              <a:t>. Then we can write </a:t>
            </a:r>
            <a:r>
              <a:rPr lang="en-US" sz="3000" i="1" dirty="0" smtClean="0"/>
              <a:t>a = r</a:t>
            </a:r>
            <a:r>
              <a:rPr lang="en-US" sz="3000" i="1" baseline="-25000" dirty="0" smtClean="0"/>
              <a:t>a</a:t>
            </a:r>
            <a:r>
              <a:rPr lang="en-US" sz="3000" i="1" dirty="0" smtClean="0"/>
              <a:t> </a:t>
            </a:r>
            <a:r>
              <a:rPr lang="en-US" sz="3000" dirty="0" smtClean="0"/>
              <a:t>+ </a:t>
            </a:r>
            <a:r>
              <a:rPr lang="en-US" sz="3000" i="1" dirty="0" smtClean="0"/>
              <a:t>jn</a:t>
            </a:r>
            <a:r>
              <a:rPr lang="en-US" sz="3000" dirty="0" smtClean="0"/>
              <a:t> for some integer</a:t>
            </a:r>
            <a:r>
              <a:rPr lang="en-US" sz="3000" i="1" dirty="0" smtClean="0"/>
              <a:t> j </a:t>
            </a:r>
            <a:r>
              <a:rPr lang="en-US" sz="3000" dirty="0" smtClean="0"/>
              <a:t>and </a:t>
            </a:r>
            <a:r>
              <a:rPr lang="en-US" sz="3000" i="1" dirty="0" smtClean="0"/>
              <a:t>b = r</a:t>
            </a:r>
            <a:r>
              <a:rPr lang="en-US" sz="3000" i="1" baseline="-25000" dirty="0" smtClean="0"/>
              <a:t>b</a:t>
            </a:r>
            <a:r>
              <a:rPr lang="en-US" sz="3000" i="1" dirty="0" smtClean="0"/>
              <a:t> + kn </a:t>
            </a:r>
            <a:r>
              <a:rPr lang="en-US" sz="3000" dirty="0" smtClean="0"/>
              <a:t>for some integer </a:t>
            </a:r>
            <a:r>
              <a:rPr lang="en-US" sz="3000" i="1" dirty="0" smtClean="0"/>
              <a:t>k</a:t>
            </a:r>
            <a:r>
              <a:rPr lang="en-US" sz="3000" dirty="0" smtClean="0"/>
              <a:t>. </a:t>
            </a:r>
          </a:p>
          <a:p>
            <a:pPr lvl="1">
              <a:lnSpc>
                <a:spcPct val="120000"/>
              </a:lnSpc>
              <a:defRPr/>
            </a:pPr>
            <a:r>
              <a:rPr lang="en-US" sz="3000" dirty="0" smtClean="0"/>
              <a:t>Then:</a:t>
            </a:r>
          </a:p>
          <a:p>
            <a:pPr>
              <a:spcBef>
                <a:spcPts val="1200"/>
              </a:spcBef>
              <a:defRPr/>
            </a:pPr>
            <a:r>
              <a:rPr lang="en-US" dirty="0" smtClean="0"/>
              <a:t>		(a + b) mod n = (ra + jn + rb + kn) mod n</a:t>
            </a:r>
          </a:p>
          <a:p>
            <a:pPr>
              <a:spcBef>
                <a:spcPts val="1200"/>
              </a:spcBef>
              <a:defRPr/>
            </a:pPr>
            <a:r>
              <a:rPr lang="en-US" dirty="0" smtClean="0"/>
              <a:t>			        = (ra + rb + (k + j)n) mod n</a:t>
            </a:r>
          </a:p>
          <a:p>
            <a:pPr>
              <a:spcBef>
                <a:spcPts val="1200"/>
              </a:spcBef>
              <a:defRPr/>
            </a:pPr>
            <a:r>
              <a:rPr lang="en-US" dirty="0" smtClean="0"/>
              <a:t>			        = (ra + rb) mod n</a:t>
            </a:r>
          </a:p>
          <a:p>
            <a:pPr>
              <a:spcBef>
                <a:spcPts val="1200"/>
              </a:spcBef>
              <a:defRPr/>
            </a:pPr>
            <a:r>
              <a:rPr lang="en-US" dirty="0" smtClean="0"/>
              <a:t>			        = [(a mod n) + (b mod n)] mod n</a:t>
            </a:r>
          </a:p>
          <a:p>
            <a:pPr>
              <a:defRPr/>
            </a:pPr>
            <a:endParaRPr lang="en-US" dirty="0"/>
          </a:p>
        </p:txBody>
      </p:sp>
      <p:sp>
        <p:nvSpPr>
          <p:cNvPr id="6144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05B2419-3275-C04F-8FDC-CEB8F0A9BFC5}" type="slidenum">
              <a:rPr lang="en-AU" smtClean="0">
                <a:latin typeface="Arial" pitchFamily="-84" charset="0"/>
              </a:rPr>
              <a:pPr/>
              <a:t>17</a:t>
            </a:fld>
            <a:endParaRPr lang="en-AU" smtClean="0">
              <a:latin typeface="Arial" pitchFamily="-84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6349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The remaining properties are proven as easily. Here are examples of the three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properties.</a:t>
            </a:r>
          </a:p>
        </p:txBody>
      </p:sp>
      <p:sp>
        <p:nvSpPr>
          <p:cNvPr id="6349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5165EDC-6161-8D44-86F9-56C4889C6689}" type="slidenum">
              <a:rPr lang="en-AU" smtClean="0">
                <a:latin typeface="Arial" pitchFamily="-84" charset="0"/>
              </a:rPr>
              <a:pPr/>
              <a:t>18</a:t>
            </a:fld>
            <a:endParaRPr lang="en-AU" smtClean="0">
              <a:latin typeface="Arial" pitchFamily="-84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6553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Table 2.2a and Table 2.2b provide an illustration of modular addition and multiplication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modulo 8. Looking at addition, the results are straightforward, and there is a regular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pattern to the matrix. Both matrices are symmetric about the main diagonal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in conformance to the commutative property of addition and multiplication. </a:t>
            </a:r>
            <a:endParaRPr lang="en-AU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</p:txBody>
      </p:sp>
      <p:sp>
        <p:nvSpPr>
          <p:cNvPr id="655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4812EAA-F774-4A4F-8A80-46A3893DE848}" type="slidenum">
              <a:rPr lang="en-AU" smtClean="0">
                <a:latin typeface="Arial" pitchFamily="-84" charset="0"/>
              </a:rPr>
              <a:pPr/>
              <a:t>19</a:t>
            </a:fld>
            <a:endParaRPr lang="en-AU" smtClean="0">
              <a:latin typeface="Arial" pitchFamily="-84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6758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Similarly, the entries in the multiplication table are straightforward. In ordinary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arithmetic, there is a multiplicative inverse, or reciprocal, to each integer. In modular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arithmetic mod 8, the multiplicative inverse of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x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 is the integer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y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 such that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(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x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*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y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) mod 8 =  1 mod 8. Now, to find the multiplicative inverse of an integer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from the multiplication table, scan across the matrix in the row for that integer to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find the value 1; the integer at the top of that column is the multiplicative inverse;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thus, (3 *  3) mod 8 =  1. Note that not all integers mod 8 have a multiplicative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inverse; more about that later.</a:t>
            </a:r>
            <a:endParaRPr lang="en-AU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</p:txBody>
      </p:sp>
      <p:sp>
        <p:nvSpPr>
          <p:cNvPr id="6758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01755E3-5E80-4046-B358-B8EC7915C077}" type="slidenum">
              <a:rPr lang="en-AU" smtClean="0">
                <a:latin typeface="Arial" pitchFamily="-84" charset="0"/>
              </a:rPr>
              <a:pPr/>
              <a:t>20</a:t>
            </a:fld>
            <a:endParaRPr lang="en-AU" smtClean="0">
              <a:latin typeface="Arial" pitchFamily="-84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6963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As in ordinary addition, there is an additive inverse, or negative, to each integer in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modular arithmetic. In this case, the negative of an integer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x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 is the integer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y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 such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that (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x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+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y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) mod 8 =  0. To find the additive inverse of an integer in the left-hand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column, scan across the corresponding row of the matrix to find the value 0; the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integer at the top of that column is the additive inverse; thus, (2 +  6) mod 8 =  0.</a:t>
            </a:r>
            <a:endParaRPr lang="en-AU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</p:txBody>
      </p:sp>
      <p:sp>
        <p:nvSpPr>
          <p:cNvPr id="6963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8B5FE4E-337E-8542-8758-D390F14993B4}" type="slidenum">
              <a:rPr lang="en-AU" smtClean="0">
                <a:latin typeface="Arial" pitchFamily="-84" charset="0"/>
              </a:rPr>
              <a:pPr/>
              <a:t>21</a:t>
            </a:fld>
            <a:endParaRPr lang="en-AU" smtClean="0">
              <a:latin typeface="Arial" pitchFamily="-84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7168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If we perform modular arithmetic within Z</a:t>
            </a:r>
            <a:r>
              <a:rPr lang="en-US" baseline="-25000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n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, the properties shown in Table 2.3 hold for integers in Z</a:t>
            </a:r>
            <a:r>
              <a:rPr lang="en-US" baseline="-25000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n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We show in the next section that this implies that Z</a:t>
            </a:r>
            <a:r>
              <a:rPr lang="en-US" baseline="-25000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n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is a commutative ring with a multiplicative identity element. </a:t>
            </a:r>
          </a:p>
          <a:p>
            <a:pPr eaLnBrk="1" hangingPunct="1"/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pPr eaLnBrk="1" hangingPunct="1"/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In general, an integer has a multiplicative inverse in Z</a:t>
            </a:r>
            <a:r>
              <a:rPr lang="en-US" baseline="-25000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n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if that integer is relatively prime to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n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. Table 2.2c in the text shows that the integers 1, 3, 5, and 7 have a multiplicative inverse in Z </a:t>
            </a:r>
            <a:r>
              <a:rPr lang="en-US" baseline="-25000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8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, but 2, 4, and 6 do not. </a:t>
            </a:r>
          </a:p>
        </p:txBody>
      </p:sp>
      <p:sp>
        <p:nvSpPr>
          <p:cNvPr id="7168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E666F9F-413C-7D4C-A627-B4D99621AA15}" type="slidenum">
              <a:rPr lang="en-AU" smtClean="0">
                <a:latin typeface="Arial" pitchFamily="-84" charset="0"/>
              </a:rPr>
              <a:pPr/>
              <a:t>22</a:t>
            </a:fld>
            <a:endParaRPr lang="en-AU" smtClean="0">
              <a:latin typeface="Arial" pitchFamily="-84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7373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Example of the Extended Euclidean Algorithm.  (See pages 97 – 99 in textbook for details.)</a:t>
            </a:r>
          </a:p>
        </p:txBody>
      </p:sp>
      <p:sp>
        <p:nvSpPr>
          <p:cNvPr id="7373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B4220B7-2036-6648-AF1F-6DFB8489BAC3}" type="slidenum">
              <a:rPr lang="en-AU" smtClean="0">
                <a:latin typeface="Arial" pitchFamily="-84" charset="0"/>
              </a:rPr>
              <a:pPr/>
              <a:t>23</a:t>
            </a:fld>
            <a:endParaRPr lang="en-AU" smtClean="0">
              <a:latin typeface="Arial" pitchFamily="-84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520D566-8A83-4341-A217-7A6B709D4AE3}" type="slidenum">
              <a:rPr lang="en-AU">
                <a:latin typeface="Arial" pitchFamily="-84" charset="0"/>
              </a:rPr>
              <a:pPr/>
              <a:t>24</a:t>
            </a:fld>
            <a:endParaRPr lang="en-AU">
              <a:latin typeface="Arial" pitchFamily="-84" charset="0"/>
            </a:endParaRPr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An integer p &gt; 1 is a prime number if and only if its only divisors are ±1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and ± p . Prime numbers  play a critical role in number theory and in the techniques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discussed in this chapter.</a:t>
            </a:r>
          </a:p>
          <a:p>
            <a:endParaRPr lang="en-US" sz="3600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sz="3600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Any integer a &gt; 1 can be factored in a unique way as</a:t>
            </a:r>
          </a:p>
          <a:p>
            <a:r>
              <a:rPr lang="en-US" sz="3600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			a = </a:t>
            </a:r>
            <a:r>
              <a:rPr lang="en-US" sz="3600" baseline="-25000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p1</a:t>
            </a:r>
            <a:r>
              <a:rPr lang="en-US" sz="3600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</a:t>
            </a:r>
            <a:r>
              <a:rPr lang="en-US" sz="3600" baseline="30000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a1</a:t>
            </a:r>
            <a:r>
              <a:rPr lang="en-US" sz="3600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* p</a:t>
            </a:r>
            <a:r>
              <a:rPr lang="en-US" sz="3600" baseline="-25000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2</a:t>
            </a:r>
            <a:r>
              <a:rPr lang="en-US" sz="3600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</a:t>
            </a:r>
            <a:r>
              <a:rPr lang="en-US" sz="3600" baseline="30000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a2</a:t>
            </a:r>
            <a:r>
              <a:rPr lang="en-US" sz="3600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* . . . * p</a:t>
            </a:r>
            <a:r>
              <a:rPr lang="en-US" sz="3600" baseline="-25000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p1</a:t>
            </a:r>
            <a:r>
              <a:rPr lang="en-US" sz="3600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</a:t>
            </a:r>
            <a:r>
              <a:rPr lang="en-US" sz="3600" baseline="30000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a1</a:t>
            </a:r>
            <a:r>
              <a:rPr lang="en-US" sz="3600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</a:t>
            </a:r>
          </a:p>
          <a:p>
            <a:r>
              <a:rPr lang="en-US" sz="3600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	where p</a:t>
            </a:r>
            <a:r>
              <a:rPr lang="en-US" sz="3600" baseline="-25000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1</a:t>
            </a:r>
            <a:r>
              <a:rPr lang="en-US" sz="3600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&lt; p</a:t>
            </a:r>
            <a:r>
              <a:rPr lang="en-US" sz="3600" baseline="-25000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2</a:t>
            </a:r>
            <a:r>
              <a:rPr lang="en-US" sz="3600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&lt; . . .  &lt; p</a:t>
            </a:r>
            <a:r>
              <a:rPr lang="en-US" sz="3600" baseline="-25000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</a:t>
            </a:r>
            <a:r>
              <a:rPr lang="en-US" sz="3600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 are prime numbers and where each a</a:t>
            </a:r>
            <a:r>
              <a:rPr lang="en-US" sz="3600" baseline="-25000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i</a:t>
            </a:r>
            <a:r>
              <a:rPr lang="en-US" sz="3600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 is a positive integer</a:t>
            </a:r>
          </a:p>
          <a:p>
            <a:r>
              <a:rPr lang="en-US" sz="3600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This is known as the fundamental theorem of arithmetic; a proof can be found in any text</a:t>
            </a:r>
            <a:r>
              <a:rPr lang="en-US" sz="3600" baseline="0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on number theory.</a:t>
            </a:r>
            <a:endParaRPr lang="en-AU" sz="3600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endParaRPr lang="en-US" dirty="0" smtClean="0">
              <a:latin typeface="Arial" pitchFamily="-84" charset="0"/>
              <a:ea typeface="Arial" pitchFamily="-84" charset="0"/>
              <a:cs typeface="Arial" pitchFamily="-84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3891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Table 2.5 shows the primes less than 2000. Note the way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the primes are distributed. In particular, note the number of primes in each range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of 100 numbers.</a:t>
            </a:r>
          </a:p>
        </p:txBody>
      </p:sp>
      <p:sp>
        <p:nvSpPr>
          <p:cNvPr id="3891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EF2214A-C138-A847-BDBA-33769045B979}" type="slidenum">
              <a:rPr lang="en-AU" smtClean="0">
                <a:latin typeface="Arial" pitchFamily="-84" charset="0"/>
              </a:rPr>
              <a:pPr/>
              <a:t>25</a:t>
            </a:fld>
            <a:endParaRPr lang="en-AU" smtClean="0">
              <a:latin typeface="Arial" pitchFamily="-84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321AA34-FB19-C14C-BCB4-272FDD16AD93}" type="slidenum">
              <a:rPr lang="en-AU">
                <a:latin typeface="Arial" pitchFamily="-84" charset="0"/>
              </a:rPr>
              <a:pPr/>
              <a:t>26</a:t>
            </a:fld>
            <a:endParaRPr lang="en-AU">
              <a:latin typeface="Arial" pitchFamily="-84" charset="0"/>
            </a:endParaRPr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Two theorems that play important roles in public-key cryptography are Fermat’s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theorem and Euler’s theorem.</a:t>
            </a:r>
          </a:p>
          <a:p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Fermat’s theorem states the following: If </a:t>
            </a:r>
            <a:r>
              <a:rPr lang="en-US" i="1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p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is prime and </a:t>
            </a:r>
            <a:r>
              <a:rPr lang="en-US" i="1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is a positive integer not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divisible by </a:t>
            </a:r>
            <a:r>
              <a:rPr lang="en-US" i="1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p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, then</a:t>
            </a:r>
          </a:p>
          <a:p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	</a:t>
            </a:r>
            <a:r>
              <a:rPr lang="en-US" i="1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</a:t>
            </a:r>
            <a:r>
              <a:rPr lang="en-US" baseline="30000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p-1 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= 1 (mod </a:t>
            </a:r>
            <a:r>
              <a:rPr lang="en-US" i="1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p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)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An alternative form of Fermat’s theorem is also useful: If </a:t>
            </a:r>
            <a:r>
              <a:rPr lang="en-US" i="1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p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is prime and </a:t>
            </a:r>
            <a:r>
              <a:rPr lang="en-US" i="1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is a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positive integer, then</a:t>
            </a:r>
          </a:p>
          <a:p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	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</a:t>
            </a:r>
            <a:r>
              <a:rPr lang="en-US" baseline="30000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p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= </a:t>
            </a:r>
            <a:r>
              <a:rPr lang="en-US" i="1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(mod </a:t>
            </a:r>
            <a:r>
              <a:rPr lang="en-US" i="1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p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)</a:t>
            </a:r>
            <a:endParaRPr lang="en-US" dirty="0" smtClean="0">
              <a:solidFill>
                <a:srgbClr val="000000"/>
              </a:solidFill>
              <a:latin typeface="Arial" pitchFamily="-84" charset="0"/>
              <a:ea typeface="Arial" pitchFamily="-84" charset="0"/>
              <a:cs typeface="Arial" pitchFamily="-84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73BE424-E5B0-6142-BFBD-BBEB599409A8}" type="slidenum">
              <a:rPr lang="en-AU">
                <a:latin typeface="Arial" pitchFamily="-84" charset="0"/>
              </a:rPr>
              <a:pPr/>
              <a:t>27</a:t>
            </a:fld>
            <a:endParaRPr lang="en-AU">
              <a:latin typeface="Arial" pitchFamily="-84" charset="0"/>
            </a:endParaRPr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Before presenting Euler’s theorem, we need to introduce an important quantity in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number theory, referred to as Euler’s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totient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function, written </a:t>
            </a:r>
            <a:r>
              <a:rPr lang="en-AU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ø</a:t>
            </a:r>
            <a:r>
              <a:rPr lang="en-AU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(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n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), and defined as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the number of positive integers less than </a:t>
            </a:r>
            <a:r>
              <a:rPr lang="en-US" i="1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n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 and relatively prime to </a:t>
            </a:r>
            <a:r>
              <a:rPr lang="en-US" i="1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n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. By convention,</a:t>
            </a:r>
          </a:p>
          <a:p>
            <a:r>
              <a:rPr lang="en-AU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ø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(1) =  1.</a:t>
            </a:r>
          </a:p>
          <a:p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Table 2.6 lists the first 30 values of </a:t>
            </a:r>
            <a:r>
              <a:rPr lang="en-AU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ø</a:t>
            </a:r>
            <a:r>
              <a:rPr lang="en-AU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(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n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). The value </a:t>
            </a:r>
            <a:r>
              <a:rPr lang="en-AU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ø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(1) is without meaning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but is defined to have the value 1.</a:t>
            </a:r>
          </a:p>
          <a:p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It should be clear that, for a prime number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p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,</a:t>
            </a:r>
          </a:p>
          <a:p>
            <a:r>
              <a:rPr lang="en-AU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ø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(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p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) =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p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-  1</a:t>
            </a:r>
          </a:p>
          <a:p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3C152BB-3289-B54C-B77C-5536B430B290}" type="slidenum">
              <a:rPr lang="en-AU">
                <a:latin typeface="Arial" pitchFamily="-84" charset="0"/>
              </a:rPr>
              <a:pPr/>
              <a:t>28</a:t>
            </a:fld>
            <a:endParaRPr lang="en-AU">
              <a:latin typeface="Arial" pitchFamily="-84" charset="0"/>
            </a:endParaRPr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Euler’s theorem states that for every </a:t>
            </a:r>
            <a:r>
              <a:rPr lang="en-US" i="1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and </a:t>
            </a:r>
            <a:r>
              <a:rPr lang="en-US" i="1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n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that are relatively prime:</a:t>
            </a:r>
          </a:p>
          <a:p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i="1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</a:t>
            </a:r>
            <a:r>
              <a:rPr lang="en-AU" baseline="30000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ø</a:t>
            </a:r>
            <a:r>
              <a:rPr lang="en-US" baseline="30000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(</a:t>
            </a:r>
            <a:r>
              <a:rPr lang="en-US" baseline="30000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n</a:t>
            </a:r>
            <a:r>
              <a:rPr lang="en-US" baseline="30000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) 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=  1(mod </a:t>
            </a:r>
            <a:r>
              <a:rPr lang="en-US" i="1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n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)</a:t>
            </a:r>
          </a:p>
          <a:p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As is the case for Fermat’s theorem, an alternative form of the theorem is also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Useful:</a:t>
            </a:r>
          </a:p>
          <a:p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i="1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</a:t>
            </a:r>
            <a:r>
              <a:rPr lang="en-AU" baseline="30000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ø</a:t>
            </a:r>
            <a:r>
              <a:rPr lang="en-US" baseline="30000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(n)+1 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=  </a:t>
            </a:r>
            <a:r>
              <a:rPr lang="en-US" i="1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(mod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</a:t>
            </a:r>
            <a:r>
              <a:rPr lang="en-US" i="1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n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)</a:t>
            </a:r>
          </a:p>
          <a:p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C027762-5641-D348-AF5A-03C56F213ADC}" type="slidenum">
              <a:rPr lang="en-AU">
                <a:latin typeface="Arial" pitchFamily="-84" charset="0"/>
              </a:rPr>
              <a:pPr/>
              <a:t>29</a:t>
            </a:fld>
            <a:endParaRPr lang="en-AU">
              <a:latin typeface="Arial" pitchFamily="-84" charset="0"/>
            </a:endParaRPr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The algorithm due to Miller and Rabin [MILL75, RABI80] is typically used to test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 large number for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primality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.</a:t>
            </a:r>
          </a:p>
          <a:p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The procedure TEST takes a candidate integer </a:t>
            </a:r>
            <a:r>
              <a:rPr lang="en-US" i="1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n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as input and returns the result </a:t>
            </a:r>
            <a:r>
              <a:rPr lang="en-US" b="1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composite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if </a:t>
            </a:r>
            <a:r>
              <a:rPr lang="en-US" i="1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n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is definitely not a prime, and the result </a:t>
            </a:r>
            <a:r>
              <a:rPr lang="en-US" b="1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inconclusive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 if </a:t>
            </a:r>
            <a:r>
              <a:rPr lang="en-US" i="1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n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may or may not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be a prime.</a:t>
            </a:r>
          </a:p>
          <a:p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How can we use the Miller-Rabin algorithm to determine with a high degree of confidence whether or not an integer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is prime? It can be shown [KNUT98] that given an odd number </a:t>
            </a:r>
            <a:r>
              <a:rPr lang="en-US" i="1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n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that is not prime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and a randomly chosen integer, </a:t>
            </a:r>
            <a:r>
              <a:rPr lang="en-US" i="1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with </a:t>
            </a:r>
            <a:r>
              <a:rPr lang="en-US" i="1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1 &lt; a &lt; </a:t>
            </a:r>
            <a:r>
              <a:rPr lang="en-US" i="1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n</a:t>
            </a:r>
            <a:r>
              <a:rPr lang="en-US" i="1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-  1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, the probability that TEST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will return </a:t>
            </a:r>
            <a:r>
              <a:rPr lang="en-US" b="1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inconclusive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 (i.e., fail to detect that </a:t>
            </a:r>
            <a:r>
              <a:rPr lang="en-US" i="1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n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 is not prime) is less than 1/4.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Thus, if </a:t>
            </a:r>
            <a:r>
              <a:rPr lang="en-US" i="1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</a:t>
            </a:r>
            <a:r>
              <a:rPr lang="en-US" i="1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different values of </a:t>
            </a:r>
            <a:r>
              <a:rPr lang="en-US" i="1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are chosen, the probability that all of them will pass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TEST (return inconclusive) for </a:t>
            </a:r>
            <a:r>
              <a:rPr lang="en-US" i="1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n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is less than (1/4)</a:t>
            </a:r>
            <a:r>
              <a:rPr lang="en-US" baseline="30000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. For example, for </a:t>
            </a:r>
            <a:r>
              <a:rPr lang="en-US" i="1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=  10, the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probability that a nonprime number will pass all ten tests is less than 10</a:t>
            </a:r>
            <a:r>
              <a:rPr lang="en-US" baseline="30000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-6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. Thus,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for a sufficiently large value of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, we can be confident that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n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is prime if Miller’s test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always returns </a:t>
            </a:r>
            <a:r>
              <a:rPr lang="en-US" b="1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inconclusive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.</a:t>
            </a:r>
          </a:p>
          <a:p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This gives us a basis for determining whether an odd integer </a:t>
            </a:r>
            <a:r>
              <a:rPr lang="en-US" i="1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n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is prime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with a reasonable degree of confidence. The procedure is as follows: Repeatedly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invoke TEST (</a:t>
            </a:r>
            <a:r>
              <a:rPr lang="en-US" i="1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n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) using randomly chosen values for </a:t>
            </a:r>
            <a:r>
              <a:rPr lang="en-US" i="1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. If, at any point, TEST returns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composite , then </a:t>
            </a:r>
            <a:r>
              <a:rPr lang="en-US" i="1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n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is determined to be nonprime. If TEST continues to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return </a:t>
            </a:r>
            <a:r>
              <a:rPr lang="en-US" b="1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inconclusive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 for</a:t>
            </a:r>
            <a:r>
              <a:rPr lang="en-US" i="1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</a:t>
            </a:r>
            <a:r>
              <a:rPr lang="en-US" i="1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</a:t>
            </a:r>
            <a:r>
              <a:rPr lang="en-US" i="1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tests, then for a sufficiently large value of</a:t>
            </a:r>
            <a:r>
              <a:rPr lang="en-US" i="1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</a:t>
            </a:r>
            <a:r>
              <a:rPr lang="en-US" i="1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</a:t>
            </a:r>
            <a:r>
              <a:rPr lang="en-US" i="1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, assume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that </a:t>
            </a:r>
            <a:r>
              <a:rPr lang="en-US" i="1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n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is prime.</a:t>
            </a:r>
            <a:endParaRPr lang="en-US" dirty="0" smtClean="0">
              <a:latin typeface="Arial" pitchFamily="-84" charset="0"/>
              <a:ea typeface="Arial" pitchFamily="-84" charset="0"/>
              <a:cs typeface="Arial" pitchFamily="-84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4915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Prior to 2002, there was no known method of efficiently proving the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primality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of very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large numbers. All of the algorithms in use, including the most popular (Miller-Rabin),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produced a probabilistic result. In 2002 (announced in 2002, published in 2004),</a:t>
            </a:r>
          </a:p>
          <a:p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Agrawal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,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Kayal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, and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Saxena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[AGRA04] developed a relatively simple deterministic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algorithm that efficiently determines whether a given large number is a prime. The algorithm,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known as the AKS algorithm, does not appear to be as efficient as the Miller-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Rabin algorithm. Thus far, it has not supplanted this older, probabilistic technique.</a:t>
            </a:r>
          </a:p>
        </p:txBody>
      </p:sp>
      <p:sp>
        <p:nvSpPr>
          <p:cNvPr id="4915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F82B013-62D1-194A-B230-76FBB108D621}" type="slidenum">
              <a:rPr lang="en-AU" smtClean="0">
                <a:latin typeface="Arial" pitchFamily="-84" charset="0"/>
              </a:rPr>
              <a:pPr/>
              <a:t>30</a:t>
            </a:fld>
            <a:endParaRPr lang="en-AU" smtClean="0">
              <a:latin typeface="Arial" pitchFamily="-84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3893D91-8EA2-3449-B649-5F467F3288A1}" type="slidenum">
              <a:rPr lang="en-AU">
                <a:latin typeface="Arial" pitchFamily="-84" charset="0"/>
              </a:rPr>
              <a:pPr/>
              <a:t>31</a:t>
            </a:fld>
            <a:endParaRPr lang="en-AU">
              <a:latin typeface="Arial" pitchFamily="-84" charset="0"/>
            </a:endParaRPr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One of the most useful results of number theory is the Chinese remainder theorem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(CRT).  In essence, the CRT says it is possible to reconstruct integers in a certain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range from their residues modulo a set of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pairwise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relatively prime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moduli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.</a:t>
            </a:r>
          </a:p>
          <a:p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The CRT can be stated in several ways. We present here a formulation that is most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useful from the point of view of this text. An alternative formulation is explored in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Problem 2.33.</a:t>
            </a:r>
          </a:p>
          <a:p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One of the useful features of the Chinese remainder theorem is that it provides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 way to manipulate (potentially very large) numbers mod M  in terms of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tuples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of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smaller numbers. This can be useful when M  is 150 digits or more. However, note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that it is necessary to know beforehand the factorization of M .</a:t>
            </a:r>
            <a:endParaRPr lang="en-AU" dirty="0" smtClean="0">
              <a:latin typeface="Arial" pitchFamily="-84" charset="0"/>
              <a:ea typeface="Arial" pitchFamily="-84" charset="0"/>
              <a:cs typeface="Arial" pitchFamily="-84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5325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Table 2.7 shows all the powers of a, modulo 19 for all positive </a:t>
            </a:r>
            <a:r>
              <a:rPr lang="en-AU" i="1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&lt;19. The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length of the sequence for each base value is indicated by shading. Note the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following:</a:t>
            </a:r>
          </a:p>
          <a:p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1.  All sequences end in 1. This is consistent with the reasoning of the preceding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few paragraphs.</a:t>
            </a:r>
          </a:p>
          <a:p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2.  The length of a sequence divides </a:t>
            </a:r>
            <a:r>
              <a:rPr lang="en-AU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ø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(19) =  18. That is, an integral number of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sequences occur in each row of the table.</a:t>
            </a:r>
          </a:p>
          <a:p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3.  Some of the sequences are of length 18. In this case, it is said that the base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integer a  generates (via powers) the set of nonzero integers modulo 19. Each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such integer is called a primitive root of the modulus 19.</a:t>
            </a:r>
          </a:p>
          <a:p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More generally, we can say that the highest possible exponent to which a number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can belong (mod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n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) is </a:t>
            </a:r>
            <a:r>
              <a:rPr lang="en-AU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ø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(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n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). If a number is of this order, it is referred to as a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primitive root  of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n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. The importance of this notion is that if a  is a primitive root of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n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,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then its powers</a:t>
            </a:r>
          </a:p>
          <a:p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 , a</a:t>
            </a:r>
            <a:r>
              <a:rPr lang="en-US" baseline="30000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2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,. . . , a</a:t>
            </a:r>
            <a:r>
              <a:rPr lang="en-AU" baseline="30000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ø</a:t>
            </a:r>
            <a:r>
              <a:rPr lang="en-US" baseline="30000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(</a:t>
            </a:r>
            <a:r>
              <a:rPr lang="en-US" baseline="30000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n</a:t>
            </a:r>
            <a:r>
              <a:rPr lang="en-US" baseline="30000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)</a:t>
            </a:r>
          </a:p>
          <a:p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are distinct (mod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n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) and are all relatively prime to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n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. In particular, for a prime number</a:t>
            </a:r>
          </a:p>
          <a:p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p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, if a  is a primitive root of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p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, then</a:t>
            </a:r>
          </a:p>
          <a:p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 , a</a:t>
            </a:r>
            <a:r>
              <a:rPr lang="en-US" baseline="30000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2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,. . .  , a</a:t>
            </a:r>
            <a:r>
              <a:rPr lang="en-US" baseline="30000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p-1</a:t>
            </a:r>
          </a:p>
          <a:p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are distinct (mod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p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). For the prime number 19, its primitive roots are 2, 3, 10, 13, 14,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and 15.</a:t>
            </a:r>
          </a:p>
          <a:p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Not all integers have primitive roots. In fact, the only integers with primitive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roots are those of the form 2, 4, p</a:t>
            </a:r>
            <a:r>
              <a:rPr lang="en-US" baseline="30000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, and 2p</a:t>
            </a:r>
            <a:r>
              <a:rPr lang="en-US" baseline="30000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, where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p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 is any odd prime and a  is a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positive integer. The proof is not simple but can be found in many number theory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books, including [ORE76].</a:t>
            </a:r>
          </a:p>
        </p:txBody>
      </p:sp>
      <p:sp>
        <p:nvSpPr>
          <p:cNvPr id="5325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6C975D5-504D-EE48-B465-2A5BB37414DA}" type="slidenum">
              <a:rPr lang="en-AU" smtClean="0">
                <a:latin typeface="Arial" pitchFamily="-84" charset="0"/>
              </a:rPr>
              <a:pPr/>
              <a:t>32</a:t>
            </a:fld>
            <a:endParaRPr lang="en-AU" smtClean="0">
              <a:latin typeface="Arial" pitchFamily="-84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5529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Table 2.8, which is directly derived from Table 2.7, shows the sets of discrete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logarithms that can be defined for modulus 19.</a:t>
            </a:r>
          </a:p>
        </p:txBody>
      </p:sp>
      <p:sp>
        <p:nvSpPr>
          <p:cNvPr id="553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BD45CBD-3D6A-9E4D-BDA8-665711DF5647}" type="slidenum">
              <a:rPr lang="en-AU" smtClean="0">
                <a:latin typeface="Arial" pitchFamily="-84" charset="0"/>
              </a:rPr>
              <a:pPr/>
              <a:t>33</a:t>
            </a:fld>
            <a:endParaRPr lang="en-AU" smtClean="0">
              <a:latin typeface="Arial" pitchFamily="-84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00FD7ED-C008-874C-A44A-6FBCC1FFE7C2}" type="slidenum">
              <a:rPr lang="en-AU">
                <a:latin typeface="Arial" pitchFamily="-84" charset="0"/>
              </a:rPr>
              <a:pPr/>
              <a:t>34</a:t>
            </a:fld>
            <a:endParaRPr lang="en-AU">
              <a:latin typeface="Arial" pitchFamily="-84" charset="0"/>
            </a:endParaRPr>
          </a:p>
        </p:txBody>
      </p:sp>
      <p:sp>
        <p:nvSpPr>
          <p:cNvPr id="1310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10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Chapter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2 </a:t>
            </a:r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summary.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e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eg"/><Relationship Id="rId3" Type="http://schemas.openxmlformats.org/officeDocument/2006/relationships/image" Target="../media/image9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e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4" Type="http://schemas.openxmlformats.org/officeDocument/2006/relationships/image" Target="../media/image8.png"/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eg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eg"/><Relationship Id="rId3" Type="http://schemas.openxmlformats.org/officeDocument/2006/relationships/image" Target="../media/image9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eg"/><Relationship Id="rId3" Type="http://schemas.openxmlformats.org/officeDocument/2006/relationships/image" Target="../media/image9.pn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eg"/><Relationship Id="rId3" Type="http://schemas.openxmlformats.org/officeDocument/2006/relationships/image" Target="../media/image9.png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eg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eg"/><Relationship Id="rId3" Type="http://schemas.openxmlformats.org/officeDocument/2006/relationships/image" Target="../media/image7.png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eg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eg"/><Relationship Id="rId3" Type="http://schemas.openxmlformats.org/officeDocument/2006/relationships/image" Target="../media/image7.png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eg"/><Relationship Id="rId3" Type="http://schemas.openxmlformats.org/officeDocument/2006/relationships/image" Target="../media/image9.png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eg"/><Relationship Id="rId3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3175" y="4267200"/>
            <a:ext cx="9140825" cy="2590800"/>
            <a:chOff x="2" y="2688"/>
            <a:chExt cx="5758" cy="1632"/>
          </a:xfrm>
        </p:grpSpPr>
        <p:sp>
          <p:nvSpPr>
            <p:cNvPr id="5" name="Freeform 3"/>
            <p:cNvSpPr>
              <a:spLocks/>
            </p:cNvSpPr>
            <p:nvPr/>
          </p:nvSpPr>
          <p:spPr bwMode="hidden">
            <a:xfrm>
              <a:off x="2" y="2688"/>
              <a:ext cx="5758" cy="1632"/>
            </a:xfrm>
            <a:custGeom>
              <a:avLst/>
              <a:gdLst/>
              <a:ahLst/>
              <a:cxnLst>
                <a:cxn ang="0">
                  <a:pos x="5740" y="4316"/>
                </a:cxn>
                <a:cxn ang="0">
                  <a:pos x="0" y="4316"/>
                </a:cxn>
                <a:cxn ang="0">
                  <a:pos x="0" y="0"/>
                </a:cxn>
                <a:cxn ang="0">
                  <a:pos x="5740" y="0"/>
                </a:cxn>
                <a:cxn ang="0">
                  <a:pos x="5740" y="4316"/>
                </a:cxn>
                <a:cxn ang="0">
                  <a:pos x="5740" y="4316"/>
                </a:cxn>
              </a:cxnLst>
              <a:rect l="0" t="0" r="r" b="b"/>
              <a:pathLst>
                <a:path w="5740" h="4316">
                  <a:moveTo>
                    <a:pt x="5740" y="4316"/>
                  </a:moveTo>
                  <a:lnTo>
                    <a:pt x="0" y="4316"/>
                  </a:lnTo>
                  <a:lnTo>
                    <a:pt x="0" y="0"/>
                  </a:lnTo>
                  <a:lnTo>
                    <a:pt x="5740" y="0"/>
                  </a:lnTo>
                  <a:lnTo>
                    <a:pt x="5740" y="4316"/>
                  </a:lnTo>
                  <a:lnTo>
                    <a:pt x="5740" y="431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accent1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US" dirty="0">
                <a:latin typeface="Arial" pitchFamily="-107" charset="0"/>
              </a:endParaRPr>
            </a:p>
          </p:txBody>
        </p:sp>
        <p:grpSp>
          <p:nvGrpSpPr>
            <p:cNvPr id="6" name="Group 4"/>
            <p:cNvGrpSpPr>
              <a:grpSpLocks/>
            </p:cNvGrpSpPr>
            <p:nvPr/>
          </p:nvGrpSpPr>
          <p:grpSpPr bwMode="auto">
            <a:xfrm>
              <a:off x="1776" y="3024"/>
              <a:ext cx="3929" cy="1290"/>
              <a:chOff x="1776" y="3024"/>
              <a:chExt cx="3929" cy="1290"/>
            </a:xfrm>
          </p:grpSpPr>
          <p:grpSp>
            <p:nvGrpSpPr>
              <p:cNvPr id="7" name="Group 5"/>
              <p:cNvGrpSpPr>
                <a:grpSpLocks/>
              </p:cNvGrpSpPr>
              <p:nvPr/>
            </p:nvGrpSpPr>
            <p:grpSpPr bwMode="auto">
              <a:xfrm>
                <a:off x="2268" y="3934"/>
                <a:ext cx="638" cy="377"/>
                <a:chOff x="2268" y="3934"/>
                <a:chExt cx="638" cy="377"/>
              </a:xfrm>
            </p:grpSpPr>
            <p:sp>
              <p:nvSpPr>
                <p:cNvPr id="60" name="Oval 6"/>
                <p:cNvSpPr>
                  <a:spLocks noChangeArrowheads="1"/>
                </p:cNvSpPr>
                <p:nvPr/>
              </p:nvSpPr>
              <p:spPr bwMode="hidden">
                <a:xfrm>
                  <a:off x="2268" y="3934"/>
                  <a:ext cx="638" cy="377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87843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27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61" name="Oval 7"/>
                <p:cNvSpPr>
                  <a:spLocks noChangeArrowheads="1"/>
                </p:cNvSpPr>
                <p:nvPr/>
              </p:nvSpPr>
              <p:spPr bwMode="hidden">
                <a:xfrm>
                  <a:off x="2314" y="3958"/>
                  <a:ext cx="543" cy="33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87843"/>
                        <a:invGamma/>
                      </a:schemeClr>
                    </a:gs>
                  </a:gsLst>
                  <a:lin ang="27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62" name="Oval 8"/>
                <p:cNvSpPr>
                  <a:spLocks noChangeArrowheads="1"/>
                </p:cNvSpPr>
                <p:nvPr/>
              </p:nvSpPr>
              <p:spPr bwMode="hidden">
                <a:xfrm>
                  <a:off x="2341" y="3979"/>
                  <a:ext cx="501" cy="299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90980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27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63" name="Oval 9"/>
                <p:cNvSpPr>
                  <a:spLocks noChangeArrowheads="1"/>
                </p:cNvSpPr>
                <p:nvPr/>
              </p:nvSpPr>
              <p:spPr bwMode="hidden">
                <a:xfrm>
                  <a:off x="2368" y="3997"/>
                  <a:ext cx="444" cy="258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87843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64" name="Oval 10"/>
                <p:cNvSpPr>
                  <a:spLocks noChangeArrowheads="1"/>
                </p:cNvSpPr>
                <p:nvPr/>
              </p:nvSpPr>
              <p:spPr bwMode="hidden">
                <a:xfrm>
                  <a:off x="2385" y="4005"/>
                  <a:ext cx="413" cy="240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94118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65" name="Oval 11"/>
                <p:cNvSpPr>
                  <a:spLocks noChangeArrowheads="1"/>
                </p:cNvSpPr>
                <p:nvPr/>
              </p:nvSpPr>
              <p:spPr bwMode="hidden">
                <a:xfrm>
                  <a:off x="2437" y="4026"/>
                  <a:ext cx="306" cy="19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87843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66" name="Oval 12"/>
                <p:cNvSpPr>
                  <a:spLocks noChangeArrowheads="1"/>
                </p:cNvSpPr>
                <p:nvPr/>
              </p:nvSpPr>
              <p:spPr bwMode="hidden">
                <a:xfrm>
                  <a:off x="2476" y="4056"/>
                  <a:ext cx="227" cy="135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90980"/>
                        <a:invGamma/>
                      </a:schemeClr>
                    </a:gs>
                  </a:gsLst>
                  <a:lin ang="27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67" name="Oval 13"/>
                <p:cNvSpPr>
                  <a:spLocks noChangeArrowheads="1"/>
                </p:cNvSpPr>
                <p:nvPr/>
              </p:nvSpPr>
              <p:spPr bwMode="hidden">
                <a:xfrm>
                  <a:off x="2542" y="4097"/>
                  <a:ext cx="90" cy="60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90980"/>
                        <a:invGamma/>
                      </a:schemeClr>
                    </a:gs>
                  </a:gsLst>
                  <a:lin ang="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</p:grpSp>
          <p:sp>
            <p:nvSpPr>
              <p:cNvPr id="8" name="Oval 14"/>
              <p:cNvSpPr>
                <a:spLocks noChangeArrowheads="1"/>
              </p:cNvSpPr>
              <p:nvPr/>
            </p:nvSpPr>
            <p:spPr bwMode="hidden">
              <a:xfrm>
                <a:off x="3686" y="3810"/>
                <a:ext cx="532" cy="327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0980"/>
                      <a:invGamma/>
                    </a:schemeClr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9" name="Oval 15"/>
              <p:cNvSpPr>
                <a:spLocks noChangeArrowheads="1"/>
              </p:cNvSpPr>
              <p:nvPr/>
            </p:nvSpPr>
            <p:spPr bwMode="hidden">
              <a:xfrm>
                <a:off x="3726" y="3840"/>
                <a:ext cx="452" cy="275"/>
              </a:xfrm>
              <a:prstGeom prst="ellipse">
                <a:avLst/>
              </a:prstGeom>
              <a:gradFill rotWithShape="0">
                <a:gsLst>
                  <a:gs pos="0">
                    <a:schemeClr val="accent1">
                      <a:gamma/>
                      <a:shade val="90980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10" name="Oval 16"/>
              <p:cNvSpPr>
                <a:spLocks noChangeArrowheads="1"/>
              </p:cNvSpPr>
              <p:nvPr/>
            </p:nvSpPr>
            <p:spPr bwMode="hidden">
              <a:xfrm>
                <a:off x="3782" y="3872"/>
                <a:ext cx="344" cy="207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11" name="Oval 17"/>
              <p:cNvSpPr>
                <a:spLocks noChangeArrowheads="1"/>
              </p:cNvSpPr>
              <p:nvPr/>
            </p:nvSpPr>
            <p:spPr bwMode="hidden">
              <a:xfrm>
                <a:off x="3822" y="3896"/>
                <a:ext cx="262" cy="159"/>
              </a:xfrm>
              <a:prstGeom prst="ellipse">
                <a:avLst/>
              </a:prstGeom>
              <a:gradFill rotWithShape="0">
                <a:gsLst>
                  <a:gs pos="0">
                    <a:schemeClr val="accent1">
                      <a:gamma/>
                      <a:shade val="96863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12" name="Oval 18"/>
              <p:cNvSpPr>
                <a:spLocks noChangeArrowheads="1"/>
              </p:cNvSpPr>
              <p:nvPr/>
            </p:nvSpPr>
            <p:spPr bwMode="hidden">
              <a:xfrm>
                <a:off x="3856" y="3922"/>
                <a:ext cx="192" cy="107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13" name="Freeform 19"/>
              <p:cNvSpPr>
                <a:spLocks/>
              </p:cNvSpPr>
              <p:nvPr/>
            </p:nvSpPr>
            <p:spPr bwMode="hidden">
              <a:xfrm>
                <a:off x="3575" y="3715"/>
                <a:ext cx="383" cy="161"/>
              </a:xfrm>
              <a:custGeom>
                <a:avLst/>
                <a:gdLst/>
                <a:ahLst/>
                <a:cxnLst>
                  <a:cxn ang="0">
                    <a:pos x="376" y="12"/>
                  </a:cxn>
                  <a:cxn ang="0">
                    <a:pos x="257" y="24"/>
                  </a:cxn>
                  <a:cxn ang="0">
                    <a:pos x="149" y="54"/>
                  </a:cxn>
                  <a:cxn ang="0">
                    <a:pos x="101" y="77"/>
                  </a:cxn>
                  <a:cxn ang="0">
                    <a:pos x="59" y="101"/>
                  </a:cxn>
                  <a:cxn ang="0">
                    <a:pos x="24" y="131"/>
                  </a:cxn>
                  <a:cxn ang="0">
                    <a:pos x="0" y="161"/>
                  </a:cxn>
                  <a:cxn ang="0">
                    <a:pos x="0" y="137"/>
                  </a:cxn>
                  <a:cxn ang="0">
                    <a:pos x="29" y="107"/>
                  </a:cxn>
                  <a:cxn ang="0">
                    <a:pos x="65" y="83"/>
                  </a:cxn>
                  <a:cxn ang="0">
                    <a:pos x="155" y="36"/>
                  </a:cxn>
                  <a:cxn ang="0">
                    <a:pos x="257" y="12"/>
                  </a:cxn>
                  <a:cxn ang="0">
                    <a:pos x="376" y="0"/>
                  </a:cxn>
                  <a:cxn ang="0">
                    <a:pos x="376" y="0"/>
                  </a:cxn>
                  <a:cxn ang="0">
                    <a:pos x="382" y="0"/>
                  </a:cxn>
                  <a:cxn ang="0">
                    <a:pos x="382" y="12"/>
                  </a:cxn>
                  <a:cxn ang="0">
                    <a:pos x="376" y="12"/>
                  </a:cxn>
                  <a:cxn ang="0">
                    <a:pos x="376" y="12"/>
                  </a:cxn>
                  <a:cxn ang="0">
                    <a:pos x="376" y="12"/>
                  </a:cxn>
                </a:cxnLst>
                <a:rect l="0" t="0" r="r" b="b"/>
                <a:pathLst>
                  <a:path w="382" h="161">
                    <a:moveTo>
                      <a:pt x="376" y="12"/>
                    </a:moveTo>
                    <a:lnTo>
                      <a:pt x="257" y="24"/>
                    </a:lnTo>
                    <a:lnTo>
                      <a:pt x="149" y="54"/>
                    </a:lnTo>
                    <a:lnTo>
                      <a:pt x="101" y="77"/>
                    </a:lnTo>
                    <a:lnTo>
                      <a:pt x="59" y="101"/>
                    </a:lnTo>
                    <a:lnTo>
                      <a:pt x="24" y="131"/>
                    </a:lnTo>
                    <a:lnTo>
                      <a:pt x="0" y="161"/>
                    </a:lnTo>
                    <a:lnTo>
                      <a:pt x="0" y="137"/>
                    </a:lnTo>
                    <a:lnTo>
                      <a:pt x="29" y="107"/>
                    </a:lnTo>
                    <a:lnTo>
                      <a:pt x="65" y="83"/>
                    </a:lnTo>
                    <a:lnTo>
                      <a:pt x="155" y="36"/>
                    </a:lnTo>
                    <a:lnTo>
                      <a:pt x="257" y="12"/>
                    </a:lnTo>
                    <a:lnTo>
                      <a:pt x="376" y="0"/>
                    </a:lnTo>
                    <a:lnTo>
                      <a:pt x="376" y="0"/>
                    </a:lnTo>
                    <a:lnTo>
                      <a:pt x="382" y="0"/>
                    </a:lnTo>
                    <a:lnTo>
                      <a:pt x="382" y="12"/>
                    </a:lnTo>
                    <a:lnTo>
                      <a:pt x="376" y="12"/>
                    </a:lnTo>
                    <a:lnTo>
                      <a:pt x="376" y="12"/>
                    </a:lnTo>
                    <a:lnTo>
                      <a:pt x="376" y="1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shade val="94118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14" name="Freeform 20"/>
              <p:cNvSpPr>
                <a:spLocks/>
              </p:cNvSpPr>
              <p:nvPr/>
            </p:nvSpPr>
            <p:spPr bwMode="hidden">
              <a:xfrm>
                <a:off x="3695" y="4170"/>
                <a:ext cx="444" cy="66"/>
              </a:xfrm>
              <a:custGeom>
                <a:avLst/>
                <a:gdLst/>
                <a:ahLst/>
                <a:cxnLst>
                  <a:cxn ang="0">
                    <a:pos x="257" y="54"/>
                  </a:cxn>
                  <a:cxn ang="0">
                    <a:pos x="353" y="48"/>
                  </a:cxn>
                  <a:cxn ang="0">
                    <a:pos x="443" y="24"/>
                  </a:cxn>
                  <a:cxn ang="0">
                    <a:pos x="443" y="36"/>
                  </a:cxn>
                  <a:cxn ang="0">
                    <a:pos x="353" y="60"/>
                  </a:cxn>
                  <a:cxn ang="0">
                    <a:pos x="257" y="66"/>
                  </a:cxn>
                  <a:cxn ang="0">
                    <a:pos x="186" y="60"/>
                  </a:cxn>
                  <a:cxn ang="0">
                    <a:pos x="120" y="48"/>
                  </a:cxn>
                  <a:cxn ang="0">
                    <a:pos x="60" y="36"/>
                  </a:cxn>
                  <a:cxn ang="0">
                    <a:pos x="0" y="12"/>
                  </a:cxn>
                  <a:cxn ang="0">
                    <a:pos x="0" y="0"/>
                  </a:cxn>
                  <a:cxn ang="0">
                    <a:pos x="54" y="24"/>
                  </a:cxn>
                  <a:cxn ang="0">
                    <a:pos x="120" y="36"/>
                  </a:cxn>
                  <a:cxn ang="0">
                    <a:pos x="186" y="48"/>
                  </a:cxn>
                  <a:cxn ang="0">
                    <a:pos x="257" y="54"/>
                  </a:cxn>
                  <a:cxn ang="0">
                    <a:pos x="257" y="54"/>
                  </a:cxn>
                </a:cxnLst>
                <a:rect l="0" t="0" r="r" b="b"/>
                <a:pathLst>
                  <a:path w="443" h="66">
                    <a:moveTo>
                      <a:pt x="257" y="54"/>
                    </a:moveTo>
                    <a:lnTo>
                      <a:pt x="353" y="48"/>
                    </a:lnTo>
                    <a:lnTo>
                      <a:pt x="443" y="24"/>
                    </a:lnTo>
                    <a:lnTo>
                      <a:pt x="443" y="36"/>
                    </a:lnTo>
                    <a:lnTo>
                      <a:pt x="353" y="60"/>
                    </a:lnTo>
                    <a:lnTo>
                      <a:pt x="257" y="66"/>
                    </a:lnTo>
                    <a:lnTo>
                      <a:pt x="186" y="60"/>
                    </a:lnTo>
                    <a:lnTo>
                      <a:pt x="120" y="48"/>
                    </a:lnTo>
                    <a:lnTo>
                      <a:pt x="60" y="36"/>
                    </a:lnTo>
                    <a:lnTo>
                      <a:pt x="0" y="12"/>
                    </a:lnTo>
                    <a:lnTo>
                      <a:pt x="0" y="0"/>
                    </a:lnTo>
                    <a:lnTo>
                      <a:pt x="54" y="24"/>
                    </a:lnTo>
                    <a:lnTo>
                      <a:pt x="120" y="36"/>
                    </a:lnTo>
                    <a:lnTo>
                      <a:pt x="186" y="48"/>
                    </a:lnTo>
                    <a:lnTo>
                      <a:pt x="257" y="54"/>
                    </a:lnTo>
                    <a:lnTo>
                      <a:pt x="257" y="5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shade val="84706"/>
                      <a:invGamma/>
                    </a:schemeClr>
                  </a:gs>
                  <a:gs pos="100000">
                    <a:schemeClr val="accent1"/>
                  </a:gs>
                </a:gsLst>
                <a:lin ang="189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15" name="Freeform 21"/>
              <p:cNvSpPr>
                <a:spLocks/>
              </p:cNvSpPr>
              <p:nvPr/>
            </p:nvSpPr>
            <p:spPr bwMode="hidden">
              <a:xfrm>
                <a:off x="3527" y="3906"/>
                <a:ext cx="89" cy="216"/>
              </a:xfrm>
              <a:custGeom>
                <a:avLst/>
                <a:gdLst/>
                <a:ahLst/>
                <a:cxnLst>
                  <a:cxn ang="0">
                    <a:pos x="12" y="66"/>
                  </a:cxn>
                  <a:cxn ang="0">
                    <a:pos x="18" y="108"/>
                  </a:cxn>
                  <a:cxn ang="0">
                    <a:pos x="36" y="144"/>
                  </a:cxn>
                  <a:cxn ang="0">
                    <a:pos x="60" y="180"/>
                  </a:cxn>
                  <a:cxn ang="0">
                    <a:pos x="89" y="216"/>
                  </a:cxn>
                  <a:cxn ang="0">
                    <a:pos x="72" y="216"/>
                  </a:cxn>
                  <a:cxn ang="0">
                    <a:pos x="42" y="180"/>
                  </a:cxn>
                  <a:cxn ang="0">
                    <a:pos x="18" y="144"/>
                  </a:cxn>
                  <a:cxn ang="0">
                    <a:pos x="6" y="108"/>
                  </a:cxn>
                  <a:cxn ang="0">
                    <a:pos x="0" y="66"/>
                  </a:cxn>
                  <a:cxn ang="0">
                    <a:pos x="0" y="30"/>
                  </a:cxn>
                  <a:cxn ang="0">
                    <a:pos x="12" y="0"/>
                  </a:cxn>
                  <a:cxn ang="0">
                    <a:pos x="30" y="0"/>
                  </a:cxn>
                  <a:cxn ang="0">
                    <a:pos x="18" y="30"/>
                  </a:cxn>
                  <a:cxn ang="0">
                    <a:pos x="12" y="66"/>
                  </a:cxn>
                  <a:cxn ang="0">
                    <a:pos x="12" y="66"/>
                  </a:cxn>
                </a:cxnLst>
                <a:rect l="0" t="0" r="r" b="b"/>
                <a:pathLst>
                  <a:path w="89" h="216">
                    <a:moveTo>
                      <a:pt x="12" y="66"/>
                    </a:moveTo>
                    <a:lnTo>
                      <a:pt x="18" y="108"/>
                    </a:lnTo>
                    <a:lnTo>
                      <a:pt x="36" y="144"/>
                    </a:lnTo>
                    <a:lnTo>
                      <a:pt x="60" y="180"/>
                    </a:lnTo>
                    <a:lnTo>
                      <a:pt x="89" y="216"/>
                    </a:lnTo>
                    <a:lnTo>
                      <a:pt x="72" y="216"/>
                    </a:lnTo>
                    <a:lnTo>
                      <a:pt x="42" y="180"/>
                    </a:lnTo>
                    <a:lnTo>
                      <a:pt x="18" y="144"/>
                    </a:lnTo>
                    <a:lnTo>
                      <a:pt x="6" y="108"/>
                    </a:lnTo>
                    <a:lnTo>
                      <a:pt x="0" y="66"/>
                    </a:lnTo>
                    <a:lnTo>
                      <a:pt x="0" y="30"/>
                    </a:lnTo>
                    <a:lnTo>
                      <a:pt x="12" y="0"/>
                    </a:lnTo>
                    <a:lnTo>
                      <a:pt x="30" y="0"/>
                    </a:lnTo>
                    <a:lnTo>
                      <a:pt x="18" y="30"/>
                    </a:lnTo>
                    <a:lnTo>
                      <a:pt x="12" y="66"/>
                    </a:lnTo>
                    <a:lnTo>
                      <a:pt x="12" y="6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7843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16" name="Freeform 22"/>
              <p:cNvSpPr>
                <a:spLocks/>
              </p:cNvSpPr>
              <p:nvPr/>
            </p:nvSpPr>
            <p:spPr bwMode="hidden">
              <a:xfrm>
                <a:off x="3569" y="3745"/>
                <a:ext cx="750" cy="461"/>
              </a:xfrm>
              <a:custGeom>
                <a:avLst/>
                <a:gdLst/>
                <a:ahLst/>
                <a:cxnLst>
                  <a:cxn ang="0">
                    <a:pos x="382" y="443"/>
                  </a:cxn>
                  <a:cxn ang="0">
                    <a:pos x="311" y="437"/>
                  </a:cxn>
                  <a:cxn ang="0">
                    <a:pos x="245" y="425"/>
                  </a:cxn>
                  <a:cxn ang="0">
                    <a:pos x="185" y="407"/>
                  </a:cxn>
                  <a:cxn ang="0">
                    <a:pos x="131" y="383"/>
                  </a:cxn>
                  <a:cxn ang="0">
                    <a:pos x="83" y="347"/>
                  </a:cxn>
                  <a:cxn ang="0">
                    <a:pos x="53" y="311"/>
                  </a:cxn>
                  <a:cxn ang="0">
                    <a:pos x="30" y="269"/>
                  </a:cxn>
                  <a:cxn ang="0">
                    <a:pos x="24" y="227"/>
                  </a:cxn>
                  <a:cxn ang="0">
                    <a:pos x="30" y="185"/>
                  </a:cxn>
                  <a:cxn ang="0">
                    <a:pos x="53" y="143"/>
                  </a:cxn>
                  <a:cxn ang="0">
                    <a:pos x="83" y="107"/>
                  </a:cxn>
                  <a:cxn ang="0">
                    <a:pos x="131" y="77"/>
                  </a:cxn>
                  <a:cxn ang="0">
                    <a:pos x="185" y="47"/>
                  </a:cxn>
                  <a:cxn ang="0">
                    <a:pos x="245" y="30"/>
                  </a:cxn>
                  <a:cxn ang="0">
                    <a:pos x="311" y="18"/>
                  </a:cxn>
                  <a:cxn ang="0">
                    <a:pos x="382" y="12"/>
                  </a:cxn>
                  <a:cxn ang="0">
                    <a:pos x="478" y="18"/>
                  </a:cxn>
                  <a:cxn ang="0">
                    <a:pos x="562" y="41"/>
                  </a:cxn>
                  <a:cxn ang="0">
                    <a:pos x="562" y="36"/>
                  </a:cxn>
                  <a:cxn ang="0">
                    <a:pos x="562" y="30"/>
                  </a:cxn>
                  <a:cxn ang="0">
                    <a:pos x="478" y="6"/>
                  </a:cxn>
                  <a:cxn ang="0">
                    <a:pos x="382" y="0"/>
                  </a:cxn>
                  <a:cxn ang="0">
                    <a:pos x="305" y="6"/>
                  </a:cxn>
                  <a:cxn ang="0">
                    <a:pos x="233" y="18"/>
                  </a:cxn>
                  <a:cxn ang="0">
                    <a:pos x="167" y="41"/>
                  </a:cxn>
                  <a:cxn ang="0">
                    <a:pos x="113" y="65"/>
                  </a:cxn>
                  <a:cxn ang="0">
                    <a:pos x="65" y="101"/>
                  </a:cxn>
                  <a:cxn ang="0">
                    <a:pos x="30" y="137"/>
                  </a:cxn>
                  <a:cxn ang="0">
                    <a:pos x="6" y="179"/>
                  </a:cxn>
                  <a:cxn ang="0">
                    <a:pos x="0" y="227"/>
                  </a:cxn>
                  <a:cxn ang="0">
                    <a:pos x="6" y="275"/>
                  </a:cxn>
                  <a:cxn ang="0">
                    <a:pos x="30" y="317"/>
                  </a:cxn>
                  <a:cxn ang="0">
                    <a:pos x="65" y="359"/>
                  </a:cxn>
                  <a:cxn ang="0">
                    <a:pos x="113" y="395"/>
                  </a:cxn>
                  <a:cxn ang="0">
                    <a:pos x="167" y="419"/>
                  </a:cxn>
                  <a:cxn ang="0">
                    <a:pos x="233" y="443"/>
                  </a:cxn>
                  <a:cxn ang="0">
                    <a:pos x="305" y="455"/>
                  </a:cxn>
                  <a:cxn ang="0">
                    <a:pos x="382" y="461"/>
                  </a:cxn>
                  <a:cxn ang="0">
                    <a:pos x="448" y="455"/>
                  </a:cxn>
                  <a:cxn ang="0">
                    <a:pos x="508" y="449"/>
                  </a:cxn>
                  <a:cxn ang="0">
                    <a:pos x="609" y="413"/>
                  </a:cxn>
                  <a:cxn ang="0">
                    <a:pos x="657" y="389"/>
                  </a:cxn>
                  <a:cxn ang="0">
                    <a:pos x="693" y="359"/>
                  </a:cxn>
                  <a:cxn ang="0">
                    <a:pos x="723" y="329"/>
                  </a:cxn>
                  <a:cxn ang="0">
                    <a:pos x="747" y="293"/>
                  </a:cxn>
                  <a:cxn ang="0">
                    <a:pos x="741" y="287"/>
                  </a:cxn>
                  <a:cxn ang="0">
                    <a:pos x="729" y="281"/>
                  </a:cxn>
                  <a:cxn ang="0">
                    <a:pos x="711" y="317"/>
                  </a:cxn>
                  <a:cxn ang="0">
                    <a:pos x="681" y="347"/>
                  </a:cxn>
                  <a:cxn ang="0">
                    <a:pos x="645" y="377"/>
                  </a:cxn>
                  <a:cxn ang="0">
                    <a:pos x="604" y="401"/>
                  </a:cxn>
                  <a:cxn ang="0">
                    <a:pos x="502" y="431"/>
                  </a:cxn>
                  <a:cxn ang="0">
                    <a:pos x="442" y="443"/>
                  </a:cxn>
                  <a:cxn ang="0">
                    <a:pos x="382" y="443"/>
                  </a:cxn>
                  <a:cxn ang="0">
                    <a:pos x="382" y="443"/>
                  </a:cxn>
                </a:cxnLst>
                <a:rect l="0" t="0" r="r" b="b"/>
                <a:pathLst>
                  <a:path w="747" h="461">
                    <a:moveTo>
                      <a:pt x="382" y="443"/>
                    </a:moveTo>
                    <a:lnTo>
                      <a:pt x="311" y="437"/>
                    </a:lnTo>
                    <a:lnTo>
                      <a:pt x="245" y="425"/>
                    </a:lnTo>
                    <a:lnTo>
                      <a:pt x="185" y="407"/>
                    </a:lnTo>
                    <a:lnTo>
                      <a:pt x="131" y="383"/>
                    </a:lnTo>
                    <a:lnTo>
                      <a:pt x="83" y="347"/>
                    </a:lnTo>
                    <a:lnTo>
                      <a:pt x="53" y="311"/>
                    </a:lnTo>
                    <a:lnTo>
                      <a:pt x="30" y="269"/>
                    </a:lnTo>
                    <a:lnTo>
                      <a:pt x="24" y="227"/>
                    </a:lnTo>
                    <a:lnTo>
                      <a:pt x="30" y="185"/>
                    </a:lnTo>
                    <a:lnTo>
                      <a:pt x="53" y="143"/>
                    </a:lnTo>
                    <a:lnTo>
                      <a:pt x="83" y="107"/>
                    </a:lnTo>
                    <a:lnTo>
                      <a:pt x="131" y="77"/>
                    </a:lnTo>
                    <a:lnTo>
                      <a:pt x="185" y="47"/>
                    </a:lnTo>
                    <a:lnTo>
                      <a:pt x="245" y="30"/>
                    </a:lnTo>
                    <a:lnTo>
                      <a:pt x="311" y="18"/>
                    </a:lnTo>
                    <a:lnTo>
                      <a:pt x="382" y="12"/>
                    </a:lnTo>
                    <a:lnTo>
                      <a:pt x="478" y="18"/>
                    </a:lnTo>
                    <a:lnTo>
                      <a:pt x="562" y="41"/>
                    </a:lnTo>
                    <a:lnTo>
                      <a:pt x="562" y="36"/>
                    </a:lnTo>
                    <a:lnTo>
                      <a:pt x="562" y="30"/>
                    </a:lnTo>
                    <a:lnTo>
                      <a:pt x="478" y="6"/>
                    </a:lnTo>
                    <a:lnTo>
                      <a:pt x="382" y="0"/>
                    </a:lnTo>
                    <a:lnTo>
                      <a:pt x="305" y="6"/>
                    </a:lnTo>
                    <a:lnTo>
                      <a:pt x="233" y="18"/>
                    </a:lnTo>
                    <a:lnTo>
                      <a:pt x="167" y="41"/>
                    </a:lnTo>
                    <a:lnTo>
                      <a:pt x="113" y="65"/>
                    </a:lnTo>
                    <a:lnTo>
                      <a:pt x="65" y="101"/>
                    </a:lnTo>
                    <a:lnTo>
                      <a:pt x="30" y="137"/>
                    </a:lnTo>
                    <a:lnTo>
                      <a:pt x="6" y="179"/>
                    </a:lnTo>
                    <a:lnTo>
                      <a:pt x="0" y="227"/>
                    </a:lnTo>
                    <a:lnTo>
                      <a:pt x="6" y="275"/>
                    </a:lnTo>
                    <a:lnTo>
                      <a:pt x="30" y="317"/>
                    </a:lnTo>
                    <a:lnTo>
                      <a:pt x="65" y="359"/>
                    </a:lnTo>
                    <a:lnTo>
                      <a:pt x="113" y="395"/>
                    </a:lnTo>
                    <a:lnTo>
                      <a:pt x="167" y="419"/>
                    </a:lnTo>
                    <a:lnTo>
                      <a:pt x="233" y="443"/>
                    </a:lnTo>
                    <a:lnTo>
                      <a:pt x="305" y="455"/>
                    </a:lnTo>
                    <a:lnTo>
                      <a:pt x="382" y="461"/>
                    </a:lnTo>
                    <a:lnTo>
                      <a:pt x="448" y="455"/>
                    </a:lnTo>
                    <a:lnTo>
                      <a:pt x="508" y="449"/>
                    </a:lnTo>
                    <a:lnTo>
                      <a:pt x="609" y="413"/>
                    </a:lnTo>
                    <a:lnTo>
                      <a:pt x="657" y="389"/>
                    </a:lnTo>
                    <a:lnTo>
                      <a:pt x="693" y="359"/>
                    </a:lnTo>
                    <a:lnTo>
                      <a:pt x="723" y="329"/>
                    </a:lnTo>
                    <a:lnTo>
                      <a:pt x="747" y="293"/>
                    </a:lnTo>
                    <a:lnTo>
                      <a:pt x="741" y="287"/>
                    </a:lnTo>
                    <a:lnTo>
                      <a:pt x="729" y="281"/>
                    </a:lnTo>
                    <a:lnTo>
                      <a:pt x="711" y="317"/>
                    </a:lnTo>
                    <a:lnTo>
                      <a:pt x="681" y="347"/>
                    </a:lnTo>
                    <a:lnTo>
                      <a:pt x="645" y="377"/>
                    </a:lnTo>
                    <a:lnTo>
                      <a:pt x="604" y="401"/>
                    </a:lnTo>
                    <a:lnTo>
                      <a:pt x="502" y="431"/>
                    </a:lnTo>
                    <a:lnTo>
                      <a:pt x="442" y="443"/>
                    </a:lnTo>
                    <a:lnTo>
                      <a:pt x="382" y="443"/>
                    </a:lnTo>
                    <a:lnTo>
                      <a:pt x="382" y="443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0980"/>
                      <a:invGamma/>
                    </a:schemeClr>
                  </a:gs>
                </a:gsLst>
                <a:path path="rect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17" name="Freeform 23"/>
              <p:cNvSpPr>
                <a:spLocks/>
              </p:cNvSpPr>
              <p:nvPr/>
            </p:nvSpPr>
            <p:spPr bwMode="hidden">
              <a:xfrm>
                <a:off x="4037" y="3721"/>
                <a:ext cx="96" cy="3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12"/>
                  </a:cxn>
                  <a:cxn ang="0">
                    <a:pos x="48" y="18"/>
                  </a:cxn>
                  <a:cxn ang="0">
                    <a:pos x="96" y="30"/>
                  </a:cxn>
                  <a:cxn ang="0">
                    <a:pos x="96" y="24"/>
                  </a:cxn>
                  <a:cxn ang="0">
                    <a:pos x="96" y="18"/>
                  </a:cxn>
                  <a:cxn ang="0">
                    <a:pos x="48" y="12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96" h="30">
                    <a:moveTo>
                      <a:pt x="0" y="0"/>
                    </a:moveTo>
                    <a:lnTo>
                      <a:pt x="0" y="12"/>
                    </a:lnTo>
                    <a:lnTo>
                      <a:pt x="48" y="18"/>
                    </a:lnTo>
                    <a:lnTo>
                      <a:pt x="96" y="30"/>
                    </a:lnTo>
                    <a:lnTo>
                      <a:pt x="96" y="24"/>
                    </a:lnTo>
                    <a:lnTo>
                      <a:pt x="96" y="18"/>
                    </a:lnTo>
                    <a:lnTo>
                      <a:pt x="48" y="12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7843"/>
                      <a:invGamma/>
                    </a:schemeClr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18" name="Freeform 24"/>
              <p:cNvSpPr>
                <a:spLocks/>
              </p:cNvSpPr>
              <p:nvPr/>
            </p:nvSpPr>
            <p:spPr bwMode="hidden">
              <a:xfrm>
                <a:off x="4175" y="4050"/>
                <a:ext cx="180" cy="132"/>
              </a:xfrm>
              <a:custGeom>
                <a:avLst/>
                <a:gdLst/>
                <a:ahLst/>
                <a:cxnLst>
                  <a:cxn ang="0">
                    <a:pos x="0" y="132"/>
                  </a:cxn>
                  <a:cxn ang="0">
                    <a:pos x="29" y="132"/>
                  </a:cxn>
                  <a:cxn ang="0">
                    <a:pos x="77" y="108"/>
                  </a:cxn>
                  <a:cxn ang="0">
                    <a:pos x="119" y="78"/>
                  </a:cxn>
                  <a:cxn ang="0">
                    <a:pos x="155" y="48"/>
                  </a:cxn>
                  <a:cxn ang="0">
                    <a:pos x="179" y="12"/>
                  </a:cxn>
                  <a:cxn ang="0">
                    <a:pos x="173" y="6"/>
                  </a:cxn>
                  <a:cxn ang="0">
                    <a:pos x="167" y="0"/>
                  </a:cxn>
                  <a:cxn ang="0">
                    <a:pos x="137" y="42"/>
                  </a:cxn>
                  <a:cxn ang="0">
                    <a:pos x="101" y="78"/>
                  </a:cxn>
                  <a:cxn ang="0">
                    <a:pos x="53" y="108"/>
                  </a:cxn>
                  <a:cxn ang="0">
                    <a:pos x="0" y="132"/>
                  </a:cxn>
                  <a:cxn ang="0">
                    <a:pos x="0" y="132"/>
                  </a:cxn>
                </a:cxnLst>
                <a:rect l="0" t="0" r="r" b="b"/>
                <a:pathLst>
                  <a:path w="179" h="132">
                    <a:moveTo>
                      <a:pt x="0" y="132"/>
                    </a:moveTo>
                    <a:lnTo>
                      <a:pt x="29" y="132"/>
                    </a:lnTo>
                    <a:lnTo>
                      <a:pt x="77" y="108"/>
                    </a:lnTo>
                    <a:lnTo>
                      <a:pt x="119" y="78"/>
                    </a:lnTo>
                    <a:lnTo>
                      <a:pt x="155" y="48"/>
                    </a:lnTo>
                    <a:lnTo>
                      <a:pt x="179" y="12"/>
                    </a:lnTo>
                    <a:lnTo>
                      <a:pt x="173" y="6"/>
                    </a:lnTo>
                    <a:lnTo>
                      <a:pt x="167" y="0"/>
                    </a:lnTo>
                    <a:lnTo>
                      <a:pt x="137" y="42"/>
                    </a:lnTo>
                    <a:lnTo>
                      <a:pt x="101" y="78"/>
                    </a:lnTo>
                    <a:lnTo>
                      <a:pt x="53" y="108"/>
                    </a:lnTo>
                    <a:lnTo>
                      <a:pt x="0" y="132"/>
                    </a:lnTo>
                    <a:lnTo>
                      <a:pt x="0" y="13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7843"/>
                      <a:invGamma/>
                    </a:schemeClr>
                  </a:gs>
                </a:gsLst>
                <a:lin ang="189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19" name="Freeform 25"/>
              <p:cNvSpPr>
                <a:spLocks/>
              </p:cNvSpPr>
              <p:nvPr/>
            </p:nvSpPr>
            <p:spPr bwMode="hidden">
              <a:xfrm>
                <a:off x="2585" y="3822"/>
                <a:ext cx="449" cy="186"/>
              </a:xfrm>
              <a:custGeom>
                <a:avLst/>
                <a:gdLst/>
                <a:ahLst/>
                <a:cxnLst>
                  <a:cxn ang="0">
                    <a:pos x="6" y="6"/>
                  </a:cxn>
                  <a:cxn ang="0">
                    <a:pos x="78" y="12"/>
                  </a:cxn>
                  <a:cxn ang="0">
                    <a:pos x="150" y="18"/>
                  </a:cxn>
                  <a:cxn ang="0">
                    <a:pos x="215" y="36"/>
                  </a:cxn>
                  <a:cxn ang="0">
                    <a:pos x="275" y="60"/>
                  </a:cxn>
                  <a:cxn ang="0">
                    <a:pos x="329" y="84"/>
                  </a:cxn>
                  <a:cxn ang="0">
                    <a:pos x="377" y="114"/>
                  </a:cxn>
                  <a:cxn ang="0">
                    <a:pos x="419" y="150"/>
                  </a:cxn>
                  <a:cxn ang="0">
                    <a:pos x="448" y="186"/>
                  </a:cxn>
                  <a:cxn ang="0">
                    <a:pos x="448" y="162"/>
                  </a:cxn>
                  <a:cxn ang="0">
                    <a:pos x="413" y="126"/>
                  </a:cxn>
                  <a:cxn ang="0">
                    <a:pos x="371" y="96"/>
                  </a:cxn>
                  <a:cxn ang="0">
                    <a:pos x="323" y="66"/>
                  </a:cxn>
                  <a:cxn ang="0">
                    <a:pos x="269" y="48"/>
                  </a:cxn>
                  <a:cxn ang="0">
                    <a:pos x="144" y="12"/>
                  </a:cxn>
                  <a:cxn ang="0">
                    <a:pos x="78" y="6"/>
                  </a:cxn>
                  <a:cxn ang="0">
                    <a:pos x="6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6"/>
                  </a:cxn>
                  <a:cxn ang="0">
                    <a:pos x="0" y="6"/>
                  </a:cxn>
                  <a:cxn ang="0">
                    <a:pos x="6" y="6"/>
                  </a:cxn>
                  <a:cxn ang="0">
                    <a:pos x="6" y="6"/>
                  </a:cxn>
                </a:cxnLst>
                <a:rect l="0" t="0" r="r" b="b"/>
                <a:pathLst>
                  <a:path w="448" h="186">
                    <a:moveTo>
                      <a:pt x="6" y="6"/>
                    </a:moveTo>
                    <a:lnTo>
                      <a:pt x="78" y="12"/>
                    </a:lnTo>
                    <a:lnTo>
                      <a:pt x="150" y="18"/>
                    </a:lnTo>
                    <a:lnTo>
                      <a:pt x="215" y="36"/>
                    </a:lnTo>
                    <a:lnTo>
                      <a:pt x="275" y="60"/>
                    </a:lnTo>
                    <a:lnTo>
                      <a:pt x="329" y="84"/>
                    </a:lnTo>
                    <a:lnTo>
                      <a:pt x="377" y="114"/>
                    </a:lnTo>
                    <a:lnTo>
                      <a:pt x="419" y="150"/>
                    </a:lnTo>
                    <a:lnTo>
                      <a:pt x="448" y="186"/>
                    </a:lnTo>
                    <a:lnTo>
                      <a:pt x="448" y="162"/>
                    </a:lnTo>
                    <a:lnTo>
                      <a:pt x="413" y="126"/>
                    </a:lnTo>
                    <a:lnTo>
                      <a:pt x="371" y="96"/>
                    </a:lnTo>
                    <a:lnTo>
                      <a:pt x="323" y="66"/>
                    </a:lnTo>
                    <a:lnTo>
                      <a:pt x="269" y="48"/>
                    </a:lnTo>
                    <a:lnTo>
                      <a:pt x="144" y="12"/>
                    </a:lnTo>
                    <a:lnTo>
                      <a:pt x="78" y="6"/>
                    </a:lnTo>
                    <a:lnTo>
                      <a:pt x="6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6" y="6"/>
                    </a:lnTo>
                    <a:lnTo>
                      <a:pt x="6" y="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shade val="90980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20" name="Freeform 26"/>
              <p:cNvSpPr>
                <a:spLocks/>
              </p:cNvSpPr>
              <p:nvPr/>
            </p:nvSpPr>
            <p:spPr bwMode="hidden">
              <a:xfrm>
                <a:off x="2142" y="3852"/>
                <a:ext cx="892" cy="462"/>
              </a:xfrm>
              <a:custGeom>
                <a:avLst/>
                <a:gdLst/>
                <a:ahLst/>
                <a:cxnLst>
                  <a:cxn ang="0">
                    <a:pos x="23" y="276"/>
                  </a:cxn>
                  <a:cxn ang="0">
                    <a:pos x="29" y="222"/>
                  </a:cxn>
                  <a:cxn ang="0">
                    <a:pos x="59" y="174"/>
                  </a:cxn>
                  <a:cxn ang="0">
                    <a:pos x="95" y="132"/>
                  </a:cxn>
                  <a:cxn ang="0">
                    <a:pos x="149" y="96"/>
                  </a:cxn>
                  <a:cxn ang="0">
                    <a:pos x="209" y="60"/>
                  </a:cxn>
                  <a:cxn ang="0">
                    <a:pos x="281" y="36"/>
                  </a:cxn>
                  <a:cxn ang="0">
                    <a:pos x="364" y="24"/>
                  </a:cxn>
                  <a:cxn ang="0">
                    <a:pos x="448" y="18"/>
                  </a:cxn>
                  <a:cxn ang="0">
                    <a:pos x="532" y="24"/>
                  </a:cxn>
                  <a:cxn ang="0">
                    <a:pos x="609" y="36"/>
                  </a:cxn>
                  <a:cxn ang="0">
                    <a:pos x="681" y="60"/>
                  </a:cxn>
                  <a:cxn ang="0">
                    <a:pos x="741" y="96"/>
                  </a:cxn>
                  <a:cxn ang="0">
                    <a:pos x="795" y="132"/>
                  </a:cxn>
                  <a:cxn ang="0">
                    <a:pos x="831" y="174"/>
                  </a:cxn>
                  <a:cxn ang="0">
                    <a:pos x="861" y="222"/>
                  </a:cxn>
                  <a:cxn ang="0">
                    <a:pos x="867" y="276"/>
                  </a:cxn>
                  <a:cxn ang="0">
                    <a:pos x="855" y="330"/>
                  </a:cxn>
                  <a:cxn ang="0">
                    <a:pos x="831" y="378"/>
                  </a:cxn>
                  <a:cxn ang="0">
                    <a:pos x="783" y="426"/>
                  </a:cxn>
                  <a:cxn ang="0">
                    <a:pos x="723" y="462"/>
                  </a:cxn>
                  <a:cxn ang="0">
                    <a:pos x="765" y="462"/>
                  </a:cxn>
                  <a:cxn ang="0">
                    <a:pos x="819" y="426"/>
                  </a:cxn>
                  <a:cxn ang="0">
                    <a:pos x="855" y="378"/>
                  </a:cxn>
                  <a:cxn ang="0">
                    <a:pos x="884" y="330"/>
                  </a:cxn>
                  <a:cxn ang="0">
                    <a:pos x="890" y="276"/>
                  </a:cxn>
                  <a:cxn ang="0">
                    <a:pos x="884" y="222"/>
                  </a:cxn>
                  <a:cxn ang="0">
                    <a:pos x="855" y="168"/>
                  </a:cxn>
                  <a:cxn ang="0">
                    <a:pos x="813" y="120"/>
                  </a:cxn>
                  <a:cxn ang="0">
                    <a:pos x="759" y="84"/>
                  </a:cxn>
                  <a:cxn ang="0">
                    <a:pos x="693" y="48"/>
                  </a:cxn>
                  <a:cxn ang="0">
                    <a:pos x="621" y="24"/>
                  </a:cxn>
                  <a:cxn ang="0">
                    <a:pos x="538" y="6"/>
                  </a:cxn>
                  <a:cxn ang="0">
                    <a:pos x="448" y="0"/>
                  </a:cxn>
                  <a:cxn ang="0">
                    <a:pos x="358" y="6"/>
                  </a:cxn>
                  <a:cxn ang="0">
                    <a:pos x="275" y="24"/>
                  </a:cxn>
                  <a:cxn ang="0">
                    <a:pos x="197" y="48"/>
                  </a:cxn>
                  <a:cxn ang="0">
                    <a:pos x="131" y="84"/>
                  </a:cxn>
                  <a:cxn ang="0">
                    <a:pos x="77" y="120"/>
                  </a:cxn>
                  <a:cxn ang="0">
                    <a:pos x="35" y="168"/>
                  </a:cxn>
                  <a:cxn ang="0">
                    <a:pos x="12" y="222"/>
                  </a:cxn>
                  <a:cxn ang="0">
                    <a:pos x="0" y="276"/>
                  </a:cxn>
                  <a:cxn ang="0">
                    <a:pos x="6" y="330"/>
                  </a:cxn>
                  <a:cxn ang="0">
                    <a:pos x="35" y="378"/>
                  </a:cxn>
                  <a:cxn ang="0">
                    <a:pos x="71" y="426"/>
                  </a:cxn>
                  <a:cxn ang="0">
                    <a:pos x="125" y="462"/>
                  </a:cxn>
                  <a:cxn ang="0">
                    <a:pos x="167" y="462"/>
                  </a:cxn>
                  <a:cxn ang="0">
                    <a:pos x="107" y="426"/>
                  </a:cxn>
                  <a:cxn ang="0">
                    <a:pos x="59" y="378"/>
                  </a:cxn>
                  <a:cxn ang="0">
                    <a:pos x="35" y="330"/>
                  </a:cxn>
                  <a:cxn ang="0">
                    <a:pos x="23" y="276"/>
                  </a:cxn>
                  <a:cxn ang="0">
                    <a:pos x="23" y="276"/>
                  </a:cxn>
                </a:cxnLst>
                <a:rect l="0" t="0" r="r" b="b"/>
                <a:pathLst>
                  <a:path w="890" h="462">
                    <a:moveTo>
                      <a:pt x="23" y="276"/>
                    </a:moveTo>
                    <a:lnTo>
                      <a:pt x="29" y="222"/>
                    </a:lnTo>
                    <a:lnTo>
                      <a:pt x="59" y="174"/>
                    </a:lnTo>
                    <a:lnTo>
                      <a:pt x="95" y="132"/>
                    </a:lnTo>
                    <a:lnTo>
                      <a:pt x="149" y="96"/>
                    </a:lnTo>
                    <a:lnTo>
                      <a:pt x="209" y="60"/>
                    </a:lnTo>
                    <a:lnTo>
                      <a:pt x="281" y="36"/>
                    </a:lnTo>
                    <a:lnTo>
                      <a:pt x="364" y="24"/>
                    </a:lnTo>
                    <a:lnTo>
                      <a:pt x="448" y="18"/>
                    </a:lnTo>
                    <a:lnTo>
                      <a:pt x="532" y="24"/>
                    </a:lnTo>
                    <a:lnTo>
                      <a:pt x="609" y="36"/>
                    </a:lnTo>
                    <a:lnTo>
                      <a:pt x="681" y="60"/>
                    </a:lnTo>
                    <a:lnTo>
                      <a:pt x="741" y="96"/>
                    </a:lnTo>
                    <a:lnTo>
                      <a:pt x="795" y="132"/>
                    </a:lnTo>
                    <a:lnTo>
                      <a:pt x="831" y="174"/>
                    </a:lnTo>
                    <a:lnTo>
                      <a:pt x="861" y="222"/>
                    </a:lnTo>
                    <a:lnTo>
                      <a:pt x="867" y="276"/>
                    </a:lnTo>
                    <a:lnTo>
                      <a:pt x="855" y="330"/>
                    </a:lnTo>
                    <a:lnTo>
                      <a:pt x="831" y="378"/>
                    </a:lnTo>
                    <a:lnTo>
                      <a:pt x="783" y="426"/>
                    </a:lnTo>
                    <a:lnTo>
                      <a:pt x="723" y="462"/>
                    </a:lnTo>
                    <a:lnTo>
                      <a:pt x="765" y="462"/>
                    </a:lnTo>
                    <a:lnTo>
                      <a:pt x="819" y="426"/>
                    </a:lnTo>
                    <a:lnTo>
                      <a:pt x="855" y="378"/>
                    </a:lnTo>
                    <a:lnTo>
                      <a:pt x="884" y="330"/>
                    </a:lnTo>
                    <a:lnTo>
                      <a:pt x="890" y="276"/>
                    </a:lnTo>
                    <a:lnTo>
                      <a:pt x="884" y="222"/>
                    </a:lnTo>
                    <a:lnTo>
                      <a:pt x="855" y="168"/>
                    </a:lnTo>
                    <a:lnTo>
                      <a:pt x="813" y="120"/>
                    </a:lnTo>
                    <a:lnTo>
                      <a:pt x="759" y="84"/>
                    </a:lnTo>
                    <a:lnTo>
                      <a:pt x="693" y="48"/>
                    </a:lnTo>
                    <a:lnTo>
                      <a:pt x="621" y="24"/>
                    </a:lnTo>
                    <a:lnTo>
                      <a:pt x="538" y="6"/>
                    </a:lnTo>
                    <a:lnTo>
                      <a:pt x="448" y="0"/>
                    </a:lnTo>
                    <a:lnTo>
                      <a:pt x="358" y="6"/>
                    </a:lnTo>
                    <a:lnTo>
                      <a:pt x="275" y="24"/>
                    </a:lnTo>
                    <a:lnTo>
                      <a:pt x="197" y="48"/>
                    </a:lnTo>
                    <a:lnTo>
                      <a:pt x="131" y="84"/>
                    </a:lnTo>
                    <a:lnTo>
                      <a:pt x="77" y="120"/>
                    </a:lnTo>
                    <a:lnTo>
                      <a:pt x="35" y="168"/>
                    </a:lnTo>
                    <a:lnTo>
                      <a:pt x="12" y="222"/>
                    </a:lnTo>
                    <a:lnTo>
                      <a:pt x="0" y="276"/>
                    </a:lnTo>
                    <a:lnTo>
                      <a:pt x="6" y="330"/>
                    </a:lnTo>
                    <a:lnTo>
                      <a:pt x="35" y="378"/>
                    </a:lnTo>
                    <a:lnTo>
                      <a:pt x="71" y="426"/>
                    </a:lnTo>
                    <a:lnTo>
                      <a:pt x="125" y="462"/>
                    </a:lnTo>
                    <a:lnTo>
                      <a:pt x="167" y="462"/>
                    </a:lnTo>
                    <a:lnTo>
                      <a:pt x="107" y="426"/>
                    </a:lnTo>
                    <a:lnTo>
                      <a:pt x="59" y="378"/>
                    </a:lnTo>
                    <a:lnTo>
                      <a:pt x="35" y="330"/>
                    </a:lnTo>
                    <a:lnTo>
                      <a:pt x="23" y="276"/>
                    </a:lnTo>
                    <a:lnTo>
                      <a:pt x="23" y="27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4706"/>
                      <a:invGamma/>
                    </a:schemeClr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21" name="Freeform 27"/>
              <p:cNvSpPr>
                <a:spLocks/>
              </p:cNvSpPr>
              <p:nvPr/>
            </p:nvSpPr>
            <p:spPr bwMode="hidden">
              <a:xfrm>
                <a:off x="2082" y="3828"/>
                <a:ext cx="407" cy="486"/>
              </a:xfrm>
              <a:custGeom>
                <a:avLst/>
                <a:gdLst/>
                <a:ahLst/>
                <a:cxnLst>
                  <a:cxn ang="0">
                    <a:pos x="18" y="300"/>
                  </a:cxn>
                  <a:cxn ang="0">
                    <a:pos x="24" y="246"/>
                  </a:cxn>
                  <a:cxn ang="0">
                    <a:pos x="48" y="198"/>
                  </a:cxn>
                  <a:cxn ang="0">
                    <a:pos x="83" y="150"/>
                  </a:cxn>
                  <a:cxn ang="0">
                    <a:pos x="131" y="108"/>
                  </a:cxn>
                  <a:cxn ang="0">
                    <a:pos x="185" y="72"/>
                  </a:cxn>
                  <a:cxn ang="0">
                    <a:pos x="251" y="42"/>
                  </a:cxn>
                  <a:cxn ang="0">
                    <a:pos x="329" y="24"/>
                  </a:cxn>
                  <a:cxn ang="0">
                    <a:pos x="406" y="6"/>
                  </a:cxn>
                  <a:cxn ang="0">
                    <a:pos x="406" y="0"/>
                  </a:cxn>
                  <a:cxn ang="0">
                    <a:pos x="323" y="12"/>
                  </a:cxn>
                  <a:cxn ang="0">
                    <a:pos x="245" y="36"/>
                  </a:cxn>
                  <a:cxn ang="0">
                    <a:pos x="179" y="66"/>
                  </a:cxn>
                  <a:cxn ang="0">
                    <a:pos x="119" y="102"/>
                  </a:cxn>
                  <a:cxn ang="0">
                    <a:pos x="72" y="144"/>
                  </a:cxn>
                  <a:cxn ang="0">
                    <a:pos x="30" y="192"/>
                  </a:cxn>
                  <a:cxn ang="0">
                    <a:pos x="6" y="246"/>
                  </a:cxn>
                  <a:cxn ang="0">
                    <a:pos x="0" y="300"/>
                  </a:cxn>
                  <a:cxn ang="0">
                    <a:pos x="6" y="348"/>
                  </a:cxn>
                  <a:cxn ang="0">
                    <a:pos x="30" y="396"/>
                  </a:cxn>
                  <a:cxn ang="0">
                    <a:pos x="66" y="444"/>
                  </a:cxn>
                  <a:cxn ang="0">
                    <a:pos x="107" y="486"/>
                  </a:cxn>
                  <a:cxn ang="0">
                    <a:pos x="131" y="486"/>
                  </a:cxn>
                  <a:cxn ang="0">
                    <a:pos x="83" y="450"/>
                  </a:cxn>
                  <a:cxn ang="0">
                    <a:pos x="48" y="402"/>
                  </a:cxn>
                  <a:cxn ang="0">
                    <a:pos x="24" y="354"/>
                  </a:cxn>
                  <a:cxn ang="0">
                    <a:pos x="18" y="300"/>
                  </a:cxn>
                  <a:cxn ang="0">
                    <a:pos x="18" y="300"/>
                  </a:cxn>
                </a:cxnLst>
                <a:rect l="0" t="0" r="r" b="b"/>
                <a:pathLst>
                  <a:path w="406" h="486">
                    <a:moveTo>
                      <a:pt x="18" y="300"/>
                    </a:moveTo>
                    <a:lnTo>
                      <a:pt x="24" y="246"/>
                    </a:lnTo>
                    <a:lnTo>
                      <a:pt x="48" y="198"/>
                    </a:lnTo>
                    <a:lnTo>
                      <a:pt x="83" y="150"/>
                    </a:lnTo>
                    <a:lnTo>
                      <a:pt x="131" y="108"/>
                    </a:lnTo>
                    <a:lnTo>
                      <a:pt x="185" y="72"/>
                    </a:lnTo>
                    <a:lnTo>
                      <a:pt x="251" y="42"/>
                    </a:lnTo>
                    <a:lnTo>
                      <a:pt x="329" y="24"/>
                    </a:lnTo>
                    <a:lnTo>
                      <a:pt x="406" y="6"/>
                    </a:lnTo>
                    <a:lnTo>
                      <a:pt x="406" y="0"/>
                    </a:lnTo>
                    <a:lnTo>
                      <a:pt x="323" y="12"/>
                    </a:lnTo>
                    <a:lnTo>
                      <a:pt x="245" y="36"/>
                    </a:lnTo>
                    <a:lnTo>
                      <a:pt x="179" y="66"/>
                    </a:lnTo>
                    <a:lnTo>
                      <a:pt x="119" y="102"/>
                    </a:lnTo>
                    <a:lnTo>
                      <a:pt x="72" y="144"/>
                    </a:lnTo>
                    <a:lnTo>
                      <a:pt x="30" y="192"/>
                    </a:lnTo>
                    <a:lnTo>
                      <a:pt x="6" y="246"/>
                    </a:lnTo>
                    <a:lnTo>
                      <a:pt x="0" y="300"/>
                    </a:lnTo>
                    <a:lnTo>
                      <a:pt x="6" y="348"/>
                    </a:lnTo>
                    <a:lnTo>
                      <a:pt x="30" y="396"/>
                    </a:lnTo>
                    <a:lnTo>
                      <a:pt x="66" y="444"/>
                    </a:lnTo>
                    <a:lnTo>
                      <a:pt x="107" y="486"/>
                    </a:lnTo>
                    <a:lnTo>
                      <a:pt x="131" y="486"/>
                    </a:lnTo>
                    <a:lnTo>
                      <a:pt x="83" y="450"/>
                    </a:lnTo>
                    <a:lnTo>
                      <a:pt x="48" y="402"/>
                    </a:lnTo>
                    <a:lnTo>
                      <a:pt x="24" y="354"/>
                    </a:lnTo>
                    <a:lnTo>
                      <a:pt x="18" y="300"/>
                    </a:lnTo>
                    <a:lnTo>
                      <a:pt x="18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0980"/>
                      <a:invGamma/>
                    </a:schemeClr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22" name="Freeform 28"/>
              <p:cNvSpPr>
                <a:spLocks/>
              </p:cNvSpPr>
              <p:nvPr/>
            </p:nvSpPr>
            <p:spPr bwMode="hidden">
              <a:xfrm>
                <a:off x="2987" y="4044"/>
                <a:ext cx="108" cy="252"/>
              </a:xfrm>
              <a:custGeom>
                <a:avLst/>
                <a:gdLst/>
                <a:ahLst/>
                <a:cxnLst>
                  <a:cxn ang="0">
                    <a:pos x="89" y="84"/>
                  </a:cxn>
                  <a:cxn ang="0">
                    <a:pos x="83" y="132"/>
                  </a:cxn>
                  <a:cxn ang="0">
                    <a:pos x="65" y="174"/>
                  </a:cxn>
                  <a:cxn ang="0">
                    <a:pos x="36" y="216"/>
                  </a:cxn>
                  <a:cxn ang="0">
                    <a:pos x="0" y="252"/>
                  </a:cxn>
                  <a:cxn ang="0">
                    <a:pos x="18" y="252"/>
                  </a:cxn>
                  <a:cxn ang="0">
                    <a:pos x="53" y="216"/>
                  </a:cxn>
                  <a:cxn ang="0">
                    <a:pos x="83" y="174"/>
                  </a:cxn>
                  <a:cxn ang="0">
                    <a:pos x="101" y="132"/>
                  </a:cxn>
                  <a:cxn ang="0">
                    <a:pos x="107" y="84"/>
                  </a:cxn>
                  <a:cxn ang="0">
                    <a:pos x="101" y="42"/>
                  </a:cxn>
                  <a:cxn ang="0">
                    <a:pos x="89" y="0"/>
                  </a:cxn>
                  <a:cxn ang="0">
                    <a:pos x="65" y="0"/>
                  </a:cxn>
                  <a:cxn ang="0">
                    <a:pos x="83" y="42"/>
                  </a:cxn>
                  <a:cxn ang="0">
                    <a:pos x="89" y="84"/>
                  </a:cxn>
                  <a:cxn ang="0">
                    <a:pos x="89" y="84"/>
                  </a:cxn>
                </a:cxnLst>
                <a:rect l="0" t="0" r="r" b="b"/>
                <a:pathLst>
                  <a:path w="107" h="252">
                    <a:moveTo>
                      <a:pt x="89" y="84"/>
                    </a:moveTo>
                    <a:lnTo>
                      <a:pt x="83" y="132"/>
                    </a:lnTo>
                    <a:lnTo>
                      <a:pt x="65" y="174"/>
                    </a:lnTo>
                    <a:lnTo>
                      <a:pt x="36" y="216"/>
                    </a:lnTo>
                    <a:lnTo>
                      <a:pt x="0" y="252"/>
                    </a:lnTo>
                    <a:lnTo>
                      <a:pt x="18" y="252"/>
                    </a:lnTo>
                    <a:lnTo>
                      <a:pt x="53" y="216"/>
                    </a:lnTo>
                    <a:lnTo>
                      <a:pt x="83" y="174"/>
                    </a:lnTo>
                    <a:lnTo>
                      <a:pt x="101" y="132"/>
                    </a:lnTo>
                    <a:lnTo>
                      <a:pt x="107" y="84"/>
                    </a:lnTo>
                    <a:lnTo>
                      <a:pt x="101" y="42"/>
                    </a:lnTo>
                    <a:lnTo>
                      <a:pt x="89" y="0"/>
                    </a:lnTo>
                    <a:lnTo>
                      <a:pt x="65" y="0"/>
                    </a:lnTo>
                    <a:lnTo>
                      <a:pt x="83" y="42"/>
                    </a:lnTo>
                    <a:lnTo>
                      <a:pt x="89" y="84"/>
                    </a:lnTo>
                    <a:lnTo>
                      <a:pt x="89" y="8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1961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23" name="Freeform 29"/>
              <p:cNvSpPr>
                <a:spLocks/>
              </p:cNvSpPr>
              <p:nvPr/>
            </p:nvSpPr>
            <p:spPr bwMode="hidden">
              <a:xfrm>
                <a:off x="2068" y="3685"/>
                <a:ext cx="835" cy="150"/>
              </a:xfrm>
              <a:custGeom>
                <a:avLst/>
                <a:gdLst/>
                <a:ahLst/>
                <a:cxnLst>
                  <a:cxn ang="0">
                    <a:pos x="518" y="18"/>
                  </a:cxn>
                  <a:cxn ang="0">
                    <a:pos x="597" y="24"/>
                  </a:cxn>
                  <a:cxn ang="0">
                    <a:pos x="682" y="30"/>
                  </a:cxn>
                  <a:cxn ang="0">
                    <a:pos x="755" y="42"/>
                  </a:cxn>
                  <a:cxn ang="0">
                    <a:pos x="828" y="60"/>
                  </a:cxn>
                  <a:cxn ang="0">
                    <a:pos x="835" y="42"/>
                  </a:cxn>
                  <a:cxn ang="0">
                    <a:pos x="761" y="24"/>
                  </a:cxn>
                  <a:cxn ang="0">
                    <a:pos x="688" y="12"/>
                  </a:cxn>
                  <a:cxn ang="0">
                    <a:pos x="603" y="6"/>
                  </a:cxn>
                  <a:cxn ang="0">
                    <a:pos x="518" y="0"/>
                  </a:cxn>
                  <a:cxn ang="0">
                    <a:pos x="372" y="12"/>
                  </a:cxn>
                  <a:cxn ang="0">
                    <a:pos x="232" y="36"/>
                  </a:cxn>
                  <a:cxn ang="0">
                    <a:pos x="110" y="78"/>
                  </a:cxn>
                  <a:cxn ang="0">
                    <a:pos x="0" y="132"/>
                  </a:cxn>
                  <a:cxn ang="0">
                    <a:pos x="19" y="150"/>
                  </a:cxn>
                  <a:cxn ang="0">
                    <a:pos x="122" y="96"/>
                  </a:cxn>
                  <a:cxn ang="0">
                    <a:pos x="244" y="54"/>
                  </a:cxn>
                  <a:cxn ang="0">
                    <a:pos x="378" y="30"/>
                  </a:cxn>
                  <a:cxn ang="0">
                    <a:pos x="518" y="18"/>
                  </a:cxn>
                  <a:cxn ang="0">
                    <a:pos x="518" y="18"/>
                  </a:cxn>
                </a:cxnLst>
                <a:rect l="0" t="0" r="r" b="b"/>
                <a:pathLst>
                  <a:path w="835" h="150">
                    <a:moveTo>
                      <a:pt x="518" y="18"/>
                    </a:moveTo>
                    <a:lnTo>
                      <a:pt x="597" y="24"/>
                    </a:lnTo>
                    <a:lnTo>
                      <a:pt x="682" y="30"/>
                    </a:lnTo>
                    <a:lnTo>
                      <a:pt x="755" y="42"/>
                    </a:lnTo>
                    <a:lnTo>
                      <a:pt x="828" y="60"/>
                    </a:lnTo>
                    <a:lnTo>
                      <a:pt x="835" y="42"/>
                    </a:lnTo>
                    <a:lnTo>
                      <a:pt x="761" y="24"/>
                    </a:lnTo>
                    <a:lnTo>
                      <a:pt x="688" y="12"/>
                    </a:lnTo>
                    <a:lnTo>
                      <a:pt x="603" y="6"/>
                    </a:lnTo>
                    <a:lnTo>
                      <a:pt x="518" y="0"/>
                    </a:lnTo>
                    <a:lnTo>
                      <a:pt x="372" y="12"/>
                    </a:lnTo>
                    <a:lnTo>
                      <a:pt x="232" y="36"/>
                    </a:lnTo>
                    <a:lnTo>
                      <a:pt x="110" y="78"/>
                    </a:lnTo>
                    <a:lnTo>
                      <a:pt x="0" y="132"/>
                    </a:lnTo>
                    <a:lnTo>
                      <a:pt x="19" y="150"/>
                    </a:lnTo>
                    <a:lnTo>
                      <a:pt x="122" y="96"/>
                    </a:lnTo>
                    <a:lnTo>
                      <a:pt x="244" y="54"/>
                    </a:lnTo>
                    <a:lnTo>
                      <a:pt x="378" y="30"/>
                    </a:lnTo>
                    <a:lnTo>
                      <a:pt x="518" y="18"/>
                    </a:lnTo>
                    <a:lnTo>
                      <a:pt x="518" y="18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24" name="Freeform 30"/>
              <p:cNvSpPr>
                <a:spLocks/>
              </p:cNvSpPr>
              <p:nvPr/>
            </p:nvSpPr>
            <p:spPr bwMode="hidden">
              <a:xfrm>
                <a:off x="1867" y="3853"/>
                <a:ext cx="171" cy="461"/>
              </a:xfrm>
              <a:custGeom>
                <a:avLst/>
                <a:gdLst/>
                <a:ahLst/>
                <a:cxnLst>
                  <a:cxn ang="0">
                    <a:pos x="31" y="263"/>
                  </a:cxn>
                  <a:cxn ang="0">
                    <a:pos x="43" y="191"/>
                  </a:cxn>
                  <a:cxn ang="0">
                    <a:pos x="67" y="131"/>
                  </a:cxn>
                  <a:cxn ang="0">
                    <a:pos x="116" y="72"/>
                  </a:cxn>
                  <a:cxn ang="0">
                    <a:pos x="171" y="18"/>
                  </a:cxn>
                  <a:cxn ang="0">
                    <a:pos x="153" y="0"/>
                  </a:cxn>
                  <a:cxn ang="0">
                    <a:pos x="86" y="60"/>
                  </a:cxn>
                  <a:cxn ang="0">
                    <a:pos x="43" y="120"/>
                  </a:cxn>
                  <a:cxn ang="0">
                    <a:pos x="13" y="191"/>
                  </a:cxn>
                  <a:cxn ang="0">
                    <a:pos x="0" y="263"/>
                  </a:cxn>
                  <a:cxn ang="0">
                    <a:pos x="6" y="317"/>
                  </a:cxn>
                  <a:cxn ang="0">
                    <a:pos x="25" y="365"/>
                  </a:cxn>
                  <a:cxn ang="0">
                    <a:pos x="49" y="413"/>
                  </a:cxn>
                  <a:cxn ang="0">
                    <a:pos x="86" y="461"/>
                  </a:cxn>
                  <a:cxn ang="0">
                    <a:pos x="122" y="461"/>
                  </a:cxn>
                  <a:cxn ang="0">
                    <a:pos x="86" y="413"/>
                  </a:cxn>
                  <a:cxn ang="0">
                    <a:pos x="55" y="365"/>
                  </a:cxn>
                  <a:cxn ang="0">
                    <a:pos x="37" y="317"/>
                  </a:cxn>
                  <a:cxn ang="0">
                    <a:pos x="31" y="263"/>
                  </a:cxn>
                  <a:cxn ang="0">
                    <a:pos x="31" y="263"/>
                  </a:cxn>
                </a:cxnLst>
                <a:rect l="0" t="0" r="r" b="b"/>
                <a:pathLst>
                  <a:path w="171" h="461">
                    <a:moveTo>
                      <a:pt x="31" y="263"/>
                    </a:moveTo>
                    <a:lnTo>
                      <a:pt x="43" y="191"/>
                    </a:lnTo>
                    <a:lnTo>
                      <a:pt x="67" y="131"/>
                    </a:lnTo>
                    <a:lnTo>
                      <a:pt x="116" y="72"/>
                    </a:lnTo>
                    <a:lnTo>
                      <a:pt x="171" y="18"/>
                    </a:lnTo>
                    <a:lnTo>
                      <a:pt x="153" y="0"/>
                    </a:lnTo>
                    <a:lnTo>
                      <a:pt x="86" y="60"/>
                    </a:lnTo>
                    <a:lnTo>
                      <a:pt x="43" y="120"/>
                    </a:lnTo>
                    <a:lnTo>
                      <a:pt x="13" y="191"/>
                    </a:lnTo>
                    <a:lnTo>
                      <a:pt x="0" y="263"/>
                    </a:lnTo>
                    <a:lnTo>
                      <a:pt x="6" y="317"/>
                    </a:lnTo>
                    <a:lnTo>
                      <a:pt x="25" y="365"/>
                    </a:lnTo>
                    <a:lnTo>
                      <a:pt x="49" y="413"/>
                    </a:lnTo>
                    <a:lnTo>
                      <a:pt x="86" y="461"/>
                    </a:lnTo>
                    <a:lnTo>
                      <a:pt x="122" y="461"/>
                    </a:lnTo>
                    <a:lnTo>
                      <a:pt x="86" y="413"/>
                    </a:lnTo>
                    <a:lnTo>
                      <a:pt x="55" y="365"/>
                    </a:lnTo>
                    <a:lnTo>
                      <a:pt x="37" y="317"/>
                    </a:lnTo>
                    <a:lnTo>
                      <a:pt x="31" y="263"/>
                    </a:lnTo>
                    <a:lnTo>
                      <a:pt x="31" y="263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25" name="Freeform 31"/>
              <p:cNvSpPr>
                <a:spLocks/>
              </p:cNvSpPr>
              <p:nvPr/>
            </p:nvSpPr>
            <p:spPr bwMode="hidden">
              <a:xfrm>
                <a:off x="2951" y="3751"/>
                <a:ext cx="360" cy="563"/>
              </a:xfrm>
              <a:custGeom>
                <a:avLst/>
                <a:gdLst/>
                <a:ahLst/>
                <a:cxnLst>
                  <a:cxn ang="0">
                    <a:pos x="360" y="365"/>
                  </a:cxn>
                  <a:cxn ang="0">
                    <a:pos x="353" y="305"/>
                  </a:cxn>
                  <a:cxn ang="0">
                    <a:pos x="335" y="251"/>
                  </a:cxn>
                  <a:cxn ang="0">
                    <a:pos x="305" y="204"/>
                  </a:cxn>
                  <a:cxn ang="0">
                    <a:pos x="262" y="156"/>
                  </a:cxn>
                  <a:cxn ang="0">
                    <a:pos x="213" y="108"/>
                  </a:cxn>
                  <a:cxn ang="0">
                    <a:pos x="159" y="66"/>
                  </a:cxn>
                  <a:cxn ang="0">
                    <a:pos x="92" y="30"/>
                  </a:cxn>
                  <a:cxn ang="0">
                    <a:pos x="19" y="0"/>
                  </a:cxn>
                  <a:cxn ang="0">
                    <a:pos x="0" y="12"/>
                  </a:cxn>
                  <a:cxn ang="0">
                    <a:pos x="67" y="42"/>
                  </a:cxn>
                  <a:cxn ang="0">
                    <a:pos x="134" y="78"/>
                  </a:cxn>
                  <a:cxn ang="0">
                    <a:pos x="189" y="114"/>
                  </a:cxn>
                  <a:cxn ang="0">
                    <a:pos x="238" y="162"/>
                  </a:cxn>
                  <a:cxn ang="0">
                    <a:pos x="274" y="210"/>
                  </a:cxn>
                  <a:cxn ang="0">
                    <a:pos x="299" y="257"/>
                  </a:cxn>
                  <a:cxn ang="0">
                    <a:pos x="317" y="311"/>
                  </a:cxn>
                  <a:cxn ang="0">
                    <a:pos x="323" y="365"/>
                  </a:cxn>
                  <a:cxn ang="0">
                    <a:pos x="317" y="419"/>
                  </a:cxn>
                  <a:cxn ang="0">
                    <a:pos x="299" y="467"/>
                  </a:cxn>
                  <a:cxn ang="0">
                    <a:pos x="274" y="515"/>
                  </a:cxn>
                  <a:cxn ang="0">
                    <a:pos x="238" y="563"/>
                  </a:cxn>
                  <a:cxn ang="0">
                    <a:pos x="268" y="563"/>
                  </a:cxn>
                  <a:cxn ang="0">
                    <a:pos x="311" y="515"/>
                  </a:cxn>
                  <a:cxn ang="0">
                    <a:pos x="335" y="467"/>
                  </a:cxn>
                  <a:cxn ang="0">
                    <a:pos x="353" y="419"/>
                  </a:cxn>
                  <a:cxn ang="0">
                    <a:pos x="360" y="365"/>
                  </a:cxn>
                  <a:cxn ang="0">
                    <a:pos x="360" y="365"/>
                  </a:cxn>
                </a:cxnLst>
                <a:rect l="0" t="0" r="r" b="b"/>
                <a:pathLst>
                  <a:path w="360" h="563">
                    <a:moveTo>
                      <a:pt x="360" y="365"/>
                    </a:moveTo>
                    <a:lnTo>
                      <a:pt x="353" y="305"/>
                    </a:lnTo>
                    <a:lnTo>
                      <a:pt x="335" y="251"/>
                    </a:lnTo>
                    <a:lnTo>
                      <a:pt x="305" y="204"/>
                    </a:lnTo>
                    <a:lnTo>
                      <a:pt x="262" y="156"/>
                    </a:lnTo>
                    <a:lnTo>
                      <a:pt x="213" y="108"/>
                    </a:lnTo>
                    <a:lnTo>
                      <a:pt x="159" y="66"/>
                    </a:lnTo>
                    <a:lnTo>
                      <a:pt x="92" y="30"/>
                    </a:lnTo>
                    <a:lnTo>
                      <a:pt x="19" y="0"/>
                    </a:lnTo>
                    <a:lnTo>
                      <a:pt x="0" y="12"/>
                    </a:lnTo>
                    <a:lnTo>
                      <a:pt x="67" y="42"/>
                    </a:lnTo>
                    <a:lnTo>
                      <a:pt x="134" y="78"/>
                    </a:lnTo>
                    <a:lnTo>
                      <a:pt x="189" y="114"/>
                    </a:lnTo>
                    <a:lnTo>
                      <a:pt x="238" y="162"/>
                    </a:lnTo>
                    <a:lnTo>
                      <a:pt x="274" y="210"/>
                    </a:lnTo>
                    <a:lnTo>
                      <a:pt x="299" y="257"/>
                    </a:lnTo>
                    <a:lnTo>
                      <a:pt x="317" y="311"/>
                    </a:lnTo>
                    <a:lnTo>
                      <a:pt x="323" y="365"/>
                    </a:lnTo>
                    <a:lnTo>
                      <a:pt x="317" y="419"/>
                    </a:lnTo>
                    <a:lnTo>
                      <a:pt x="299" y="467"/>
                    </a:lnTo>
                    <a:lnTo>
                      <a:pt x="274" y="515"/>
                    </a:lnTo>
                    <a:lnTo>
                      <a:pt x="238" y="563"/>
                    </a:lnTo>
                    <a:lnTo>
                      <a:pt x="268" y="563"/>
                    </a:lnTo>
                    <a:lnTo>
                      <a:pt x="311" y="515"/>
                    </a:lnTo>
                    <a:lnTo>
                      <a:pt x="335" y="467"/>
                    </a:lnTo>
                    <a:lnTo>
                      <a:pt x="353" y="419"/>
                    </a:lnTo>
                    <a:lnTo>
                      <a:pt x="360" y="365"/>
                    </a:lnTo>
                    <a:lnTo>
                      <a:pt x="360" y="3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7843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26" name="Freeform 32"/>
              <p:cNvSpPr>
                <a:spLocks/>
              </p:cNvSpPr>
              <p:nvPr/>
            </p:nvSpPr>
            <p:spPr bwMode="hidden">
              <a:xfrm>
                <a:off x="2318" y="3631"/>
                <a:ext cx="1078" cy="425"/>
              </a:xfrm>
              <a:custGeom>
                <a:avLst/>
                <a:gdLst/>
                <a:ahLst/>
                <a:cxnLst>
                  <a:cxn ang="0">
                    <a:pos x="1053" y="425"/>
                  </a:cxn>
                  <a:cxn ang="0">
                    <a:pos x="1078" y="419"/>
                  </a:cxn>
                  <a:cxn ang="0">
                    <a:pos x="1066" y="377"/>
                  </a:cxn>
                  <a:cxn ang="0">
                    <a:pos x="1047" y="336"/>
                  </a:cxn>
                  <a:cxn ang="0">
                    <a:pos x="986" y="252"/>
                  </a:cxn>
                  <a:cxn ang="0">
                    <a:pos x="907" y="180"/>
                  </a:cxn>
                  <a:cxn ang="0">
                    <a:pos x="810" y="120"/>
                  </a:cxn>
                  <a:cxn ang="0">
                    <a:pos x="694" y="72"/>
                  </a:cxn>
                  <a:cxn ang="0">
                    <a:pos x="560" y="30"/>
                  </a:cxn>
                  <a:cxn ang="0">
                    <a:pos x="420" y="6"/>
                  </a:cxn>
                  <a:cxn ang="0">
                    <a:pos x="268" y="0"/>
                  </a:cxn>
                  <a:cxn ang="0">
                    <a:pos x="134" y="6"/>
                  </a:cxn>
                  <a:cxn ang="0">
                    <a:pos x="0" y="24"/>
                  </a:cxn>
                  <a:cxn ang="0">
                    <a:pos x="12" y="36"/>
                  </a:cxn>
                  <a:cxn ang="0">
                    <a:pos x="134" y="18"/>
                  </a:cxn>
                  <a:cxn ang="0">
                    <a:pos x="268" y="12"/>
                  </a:cxn>
                  <a:cxn ang="0">
                    <a:pos x="420" y="18"/>
                  </a:cxn>
                  <a:cxn ang="0">
                    <a:pos x="554" y="42"/>
                  </a:cxn>
                  <a:cxn ang="0">
                    <a:pos x="682" y="84"/>
                  </a:cxn>
                  <a:cxn ang="0">
                    <a:pos x="798" y="132"/>
                  </a:cxn>
                  <a:cxn ang="0">
                    <a:pos x="895" y="192"/>
                  </a:cxn>
                  <a:cxn ang="0">
                    <a:pos x="968" y="264"/>
                  </a:cxn>
                  <a:cxn ang="0">
                    <a:pos x="999" y="300"/>
                  </a:cxn>
                  <a:cxn ang="0">
                    <a:pos x="1023" y="342"/>
                  </a:cxn>
                  <a:cxn ang="0">
                    <a:pos x="1041" y="383"/>
                  </a:cxn>
                  <a:cxn ang="0">
                    <a:pos x="1053" y="425"/>
                  </a:cxn>
                  <a:cxn ang="0">
                    <a:pos x="1053" y="425"/>
                  </a:cxn>
                </a:cxnLst>
                <a:rect l="0" t="0" r="r" b="b"/>
                <a:pathLst>
                  <a:path w="1078" h="425">
                    <a:moveTo>
                      <a:pt x="1053" y="425"/>
                    </a:moveTo>
                    <a:lnTo>
                      <a:pt x="1078" y="419"/>
                    </a:lnTo>
                    <a:lnTo>
                      <a:pt x="1066" y="377"/>
                    </a:lnTo>
                    <a:lnTo>
                      <a:pt x="1047" y="336"/>
                    </a:lnTo>
                    <a:lnTo>
                      <a:pt x="986" y="252"/>
                    </a:lnTo>
                    <a:lnTo>
                      <a:pt x="907" y="180"/>
                    </a:lnTo>
                    <a:lnTo>
                      <a:pt x="810" y="120"/>
                    </a:lnTo>
                    <a:lnTo>
                      <a:pt x="694" y="72"/>
                    </a:lnTo>
                    <a:lnTo>
                      <a:pt x="560" y="30"/>
                    </a:lnTo>
                    <a:lnTo>
                      <a:pt x="420" y="6"/>
                    </a:lnTo>
                    <a:lnTo>
                      <a:pt x="268" y="0"/>
                    </a:lnTo>
                    <a:lnTo>
                      <a:pt x="134" y="6"/>
                    </a:lnTo>
                    <a:lnTo>
                      <a:pt x="0" y="24"/>
                    </a:lnTo>
                    <a:lnTo>
                      <a:pt x="12" y="36"/>
                    </a:lnTo>
                    <a:lnTo>
                      <a:pt x="134" y="18"/>
                    </a:lnTo>
                    <a:lnTo>
                      <a:pt x="268" y="12"/>
                    </a:lnTo>
                    <a:lnTo>
                      <a:pt x="420" y="18"/>
                    </a:lnTo>
                    <a:lnTo>
                      <a:pt x="554" y="42"/>
                    </a:lnTo>
                    <a:lnTo>
                      <a:pt x="682" y="84"/>
                    </a:lnTo>
                    <a:lnTo>
                      <a:pt x="798" y="132"/>
                    </a:lnTo>
                    <a:lnTo>
                      <a:pt x="895" y="192"/>
                    </a:lnTo>
                    <a:lnTo>
                      <a:pt x="968" y="264"/>
                    </a:lnTo>
                    <a:lnTo>
                      <a:pt x="999" y="300"/>
                    </a:lnTo>
                    <a:lnTo>
                      <a:pt x="1023" y="342"/>
                    </a:lnTo>
                    <a:lnTo>
                      <a:pt x="1041" y="383"/>
                    </a:lnTo>
                    <a:lnTo>
                      <a:pt x="1053" y="425"/>
                    </a:lnTo>
                    <a:lnTo>
                      <a:pt x="1053" y="42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7843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27" name="Freeform 33"/>
              <p:cNvSpPr>
                <a:spLocks/>
              </p:cNvSpPr>
              <p:nvPr/>
            </p:nvSpPr>
            <p:spPr bwMode="hidden">
              <a:xfrm>
                <a:off x="3304" y="4080"/>
                <a:ext cx="98" cy="234"/>
              </a:xfrm>
              <a:custGeom>
                <a:avLst/>
                <a:gdLst/>
                <a:ahLst/>
                <a:cxnLst>
                  <a:cxn ang="0">
                    <a:pos x="0" y="234"/>
                  </a:cxn>
                  <a:cxn ang="0">
                    <a:pos x="25" y="234"/>
                  </a:cxn>
                  <a:cxn ang="0">
                    <a:pos x="55" y="186"/>
                  </a:cxn>
                  <a:cxn ang="0">
                    <a:pos x="80" y="138"/>
                  </a:cxn>
                  <a:cxn ang="0">
                    <a:pos x="92" y="90"/>
                  </a:cxn>
                  <a:cxn ang="0">
                    <a:pos x="98" y="36"/>
                  </a:cxn>
                  <a:cxn ang="0">
                    <a:pos x="98" y="0"/>
                  </a:cxn>
                  <a:cxn ang="0">
                    <a:pos x="74" y="0"/>
                  </a:cxn>
                  <a:cxn ang="0">
                    <a:pos x="74" y="36"/>
                  </a:cxn>
                  <a:cxn ang="0">
                    <a:pos x="67" y="90"/>
                  </a:cxn>
                  <a:cxn ang="0">
                    <a:pos x="55" y="138"/>
                  </a:cxn>
                  <a:cxn ang="0">
                    <a:pos x="31" y="186"/>
                  </a:cxn>
                  <a:cxn ang="0">
                    <a:pos x="0" y="234"/>
                  </a:cxn>
                  <a:cxn ang="0">
                    <a:pos x="0" y="234"/>
                  </a:cxn>
                </a:cxnLst>
                <a:rect l="0" t="0" r="r" b="b"/>
                <a:pathLst>
                  <a:path w="98" h="234">
                    <a:moveTo>
                      <a:pt x="0" y="234"/>
                    </a:moveTo>
                    <a:lnTo>
                      <a:pt x="25" y="234"/>
                    </a:lnTo>
                    <a:lnTo>
                      <a:pt x="55" y="186"/>
                    </a:lnTo>
                    <a:lnTo>
                      <a:pt x="80" y="138"/>
                    </a:lnTo>
                    <a:lnTo>
                      <a:pt x="92" y="90"/>
                    </a:lnTo>
                    <a:lnTo>
                      <a:pt x="98" y="36"/>
                    </a:lnTo>
                    <a:lnTo>
                      <a:pt x="98" y="0"/>
                    </a:lnTo>
                    <a:lnTo>
                      <a:pt x="74" y="0"/>
                    </a:lnTo>
                    <a:lnTo>
                      <a:pt x="74" y="36"/>
                    </a:lnTo>
                    <a:lnTo>
                      <a:pt x="67" y="90"/>
                    </a:lnTo>
                    <a:lnTo>
                      <a:pt x="55" y="138"/>
                    </a:lnTo>
                    <a:lnTo>
                      <a:pt x="31" y="186"/>
                    </a:lnTo>
                    <a:lnTo>
                      <a:pt x="0" y="234"/>
                    </a:lnTo>
                    <a:lnTo>
                      <a:pt x="0" y="23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7843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28" name="Freeform 34"/>
              <p:cNvSpPr>
                <a:spLocks/>
              </p:cNvSpPr>
              <p:nvPr/>
            </p:nvSpPr>
            <p:spPr bwMode="hidden">
              <a:xfrm>
                <a:off x="1776" y="3673"/>
                <a:ext cx="481" cy="641"/>
              </a:xfrm>
              <a:custGeom>
                <a:avLst/>
                <a:gdLst/>
                <a:ahLst/>
                <a:cxnLst>
                  <a:cxn ang="0">
                    <a:pos x="18" y="443"/>
                  </a:cxn>
                  <a:cxn ang="0">
                    <a:pos x="24" y="371"/>
                  </a:cxn>
                  <a:cxn ang="0">
                    <a:pos x="55" y="305"/>
                  </a:cxn>
                  <a:cxn ang="0">
                    <a:pos x="91" y="246"/>
                  </a:cxn>
                  <a:cxn ang="0">
                    <a:pos x="146" y="186"/>
                  </a:cxn>
                  <a:cxn ang="0">
                    <a:pos x="213" y="132"/>
                  </a:cxn>
                  <a:cxn ang="0">
                    <a:pos x="292" y="84"/>
                  </a:cxn>
                  <a:cxn ang="0">
                    <a:pos x="384" y="48"/>
                  </a:cxn>
                  <a:cxn ang="0">
                    <a:pos x="481" y="12"/>
                  </a:cxn>
                  <a:cxn ang="0">
                    <a:pos x="457" y="0"/>
                  </a:cxn>
                  <a:cxn ang="0">
                    <a:pos x="359" y="36"/>
                  </a:cxn>
                  <a:cxn ang="0">
                    <a:pos x="274" y="78"/>
                  </a:cxn>
                  <a:cxn ang="0">
                    <a:pos x="195" y="126"/>
                  </a:cxn>
                  <a:cxn ang="0">
                    <a:pos x="128" y="180"/>
                  </a:cxn>
                  <a:cxn ang="0">
                    <a:pos x="73" y="240"/>
                  </a:cxn>
                  <a:cxn ang="0">
                    <a:pos x="37" y="305"/>
                  </a:cxn>
                  <a:cxn ang="0">
                    <a:pos x="6" y="371"/>
                  </a:cxn>
                  <a:cxn ang="0">
                    <a:pos x="0" y="443"/>
                  </a:cxn>
                  <a:cxn ang="0">
                    <a:pos x="6" y="497"/>
                  </a:cxn>
                  <a:cxn ang="0">
                    <a:pos x="18" y="545"/>
                  </a:cxn>
                  <a:cxn ang="0">
                    <a:pos x="43" y="593"/>
                  </a:cxn>
                  <a:cxn ang="0">
                    <a:pos x="73" y="641"/>
                  </a:cxn>
                  <a:cxn ang="0">
                    <a:pos x="97" y="641"/>
                  </a:cxn>
                  <a:cxn ang="0">
                    <a:pos x="67" y="593"/>
                  </a:cxn>
                  <a:cxn ang="0">
                    <a:pos x="43" y="545"/>
                  </a:cxn>
                  <a:cxn ang="0">
                    <a:pos x="24" y="497"/>
                  </a:cxn>
                  <a:cxn ang="0">
                    <a:pos x="18" y="443"/>
                  </a:cxn>
                  <a:cxn ang="0">
                    <a:pos x="18" y="443"/>
                  </a:cxn>
                </a:cxnLst>
                <a:rect l="0" t="0" r="r" b="b"/>
                <a:pathLst>
                  <a:path w="481" h="641">
                    <a:moveTo>
                      <a:pt x="18" y="443"/>
                    </a:moveTo>
                    <a:lnTo>
                      <a:pt x="24" y="371"/>
                    </a:lnTo>
                    <a:lnTo>
                      <a:pt x="55" y="305"/>
                    </a:lnTo>
                    <a:lnTo>
                      <a:pt x="91" y="246"/>
                    </a:lnTo>
                    <a:lnTo>
                      <a:pt x="146" y="186"/>
                    </a:lnTo>
                    <a:lnTo>
                      <a:pt x="213" y="132"/>
                    </a:lnTo>
                    <a:lnTo>
                      <a:pt x="292" y="84"/>
                    </a:lnTo>
                    <a:lnTo>
                      <a:pt x="384" y="48"/>
                    </a:lnTo>
                    <a:lnTo>
                      <a:pt x="481" y="12"/>
                    </a:lnTo>
                    <a:lnTo>
                      <a:pt x="457" y="0"/>
                    </a:lnTo>
                    <a:lnTo>
                      <a:pt x="359" y="36"/>
                    </a:lnTo>
                    <a:lnTo>
                      <a:pt x="274" y="78"/>
                    </a:lnTo>
                    <a:lnTo>
                      <a:pt x="195" y="126"/>
                    </a:lnTo>
                    <a:lnTo>
                      <a:pt x="128" y="180"/>
                    </a:lnTo>
                    <a:lnTo>
                      <a:pt x="73" y="240"/>
                    </a:lnTo>
                    <a:lnTo>
                      <a:pt x="37" y="305"/>
                    </a:lnTo>
                    <a:lnTo>
                      <a:pt x="6" y="371"/>
                    </a:lnTo>
                    <a:lnTo>
                      <a:pt x="0" y="443"/>
                    </a:lnTo>
                    <a:lnTo>
                      <a:pt x="6" y="497"/>
                    </a:lnTo>
                    <a:lnTo>
                      <a:pt x="18" y="545"/>
                    </a:lnTo>
                    <a:lnTo>
                      <a:pt x="43" y="593"/>
                    </a:lnTo>
                    <a:lnTo>
                      <a:pt x="73" y="641"/>
                    </a:lnTo>
                    <a:lnTo>
                      <a:pt x="97" y="641"/>
                    </a:lnTo>
                    <a:lnTo>
                      <a:pt x="67" y="593"/>
                    </a:lnTo>
                    <a:lnTo>
                      <a:pt x="43" y="545"/>
                    </a:lnTo>
                    <a:lnTo>
                      <a:pt x="24" y="497"/>
                    </a:lnTo>
                    <a:lnTo>
                      <a:pt x="18" y="443"/>
                    </a:lnTo>
                    <a:lnTo>
                      <a:pt x="18" y="443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29" name="Freeform 35"/>
              <p:cNvSpPr>
                <a:spLocks noEditPoints="1"/>
              </p:cNvSpPr>
              <p:nvPr/>
            </p:nvSpPr>
            <p:spPr bwMode="hidden">
              <a:xfrm>
                <a:off x="4200" y="3402"/>
                <a:ext cx="1201" cy="731"/>
              </a:xfrm>
              <a:custGeom>
                <a:avLst/>
                <a:gdLst/>
                <a:ahLst/>
                <a:cxnLst>
                  <a:cxn ang="0">
                    <a:pos x="484" y="6"/>
                  </a:cxn>
                  <a:cxn ang="0">
                    <a:pos x="263" y="60"/>
                  </a:cxn>
                  <a:cxn ang="0">
                    <a:pos x="101" y="162"/>
                  </a:cxn>
                  <a:cxn ang="0">
                    <a:pos x="12" y="294"/>
                  </a:cxn>
                  <a:cxn ang="0">
                    <a:pos x="0" y="366"/>
                  </a:cxn>
                  <a:cxn ang="0">
                    <a:pos x="12" y="437"/>
                  </a:cxn>
                  <a:cxn ang="0">
                    <a:pos x="101" y="569"/>
                  </a:cxn>
                  <a:cxn ang="0">
                    <a:pos x="263" y="671"/>
                  </a:cxn>
                  <a:cxn ang="0">
                    <a:pos x="484" y="725"/>
                  </a:cxn>
                  <a:cxn ang="0">
                    <a:pos x="723" y="725"/>
                  </a:cxn>
                  <a:cxn ang="0">
                    <a:pos x="938" y="671"/>
                  </a:cxn>
                  <a:cxn ang="0">
                    <a:pos x="1100" y="569"/>
                  </a:cxn>
                  <a:cxn ang="0">
                    <a:pos x="1189" y="437"/>
                  </a:cxn>
                  <a:cxn ang="0">
                    <a:pos x="1201" y="366"/>
                  </a:cxn>
                  <a:cxn ang="0">
                    <a:pos x="1189" y="294"/>
                  </a:cxn>
                  <a:cxn ang="0">
                    <a:pos x="1100" y="162"/>
                  </a:cxn>
                  <a:cxn ang="0">
                    <a:pos x="938" y="60"/>
                  </a:cxn>
                  <a:cxn ang="0">
                    <a:pos x="723" y="6"/>
                  </a:cxn>
                  <a:cxn ang="0">
                    <a:pos x="604" y="0"/>
                  </a:cxn>
                  <a:cxn ang="0">
                    <a:pos x="490" y="701"/>
                  </a:cxn>
                  <a:cxn ang="0">
                    <a:pos x="287" y="647"/>
                  </a:cxn>
                  <a:cxn ang="0">
                    <a:pos x="131" y="557"/>
                  </a:cxn>
                  <a:cxn ang="0">
                    <a:pos x="48" y="437"/>
                  </a:cxn>
                  <a:cxn ang="0">
                    <a:pos x="36" y="366"/>
                  </a:cxn>
                  <a:cxn ang="0">
                    <a:pos x="48" y="300"/>
                  </a:cxn>
                  <a:cxn ang="0">
                    <a:pos x="131" y="174"/>
                  </a:cxn>
                  <a:cxn ang="0">
                    <a:pos x="287" y="84"/>
                  </a:cxn>
                  <a:cxn ang="0">
                    <a:pos x="490" y="30"/>
                  </a:cxn>
                  <a:cxn ang="0">
                    <a:pos x="717" y="30"/>
                  </a:cxn>
                  <a:cxn ang="0">
                    <a:pos x="920" y="84"/>
                  </a:cxn>
                  <a:cxn ang="0">
                    <a:pos x="1070" y="174"/>
                  </a:cxn>
                  <a:cxn ang="0">
                    <a:pos x="1153" y="300"/>
                  </a:cxn>
                  <a:cxn ang="0">
                    <a:pos x="1153" y="437"/>
                  </a:cxn>
                  <a:cxn ang="0">
                    <a:pos x="1070" y="557"/>
                  </a:cxn>
                  <a:cxn ang="0">
                    <a:pos x="920" y="647"/>
                  </a:cxn>
                  <a:cxn ang="0">
                    <a:pos x="717" y="701"/>
                  </a:cxn>
                  <a:cxn ang="0">
                    <a:pos x="604" y="707"/>
                  </a:cxn>
                </a:cxnLst>
                <a:rect l="0" t="0" r="r" b="b"/>
                <a:pathLst>
                  <a:path w="1201" h="731">
                    <a:moveTo>
                      <a:pt x="604" y="0"/>
                    </a:moveTo>
                    <a:lnTo>
                      <a:pt x="484" y="6"/>
                    </a:lnTo>
                    <a:lnTo>
                      <a:pt x="370" y="30"/>
                    </a:lnTo>
                    <a:lnTo>
                      <a:pt x="263" y="60"/>
                    </a:lnTo>
                    <a:lnTo>
                      <a:pt x="179" y="108"/>
                    </a:lnTo>
                    <a:lnTo>
                      <a:pt x="101" y="162"/>
                    </a:lnTo>
                    <a:lnTo>
                      <a:pt x="48" y="222"/>
                    </a:lnTo>
                    <a:lnTo>
                      <a:pt x="12" y="294"/>
                    </a:lnTo>
                    <a:lnTo>
                      <a:pt x="6" y="330"/>
                    </a:lnTo>
                    <a:lnTo>
                      <a:pt x="0" y="366"/>
                    </a:lnTo>
                    <a:lnTo>
                      <a:pt x="6" y="401"/>
                    </a:lnTo>
                    <a:lnTo>
                      <a:pt x="12" y="437"/>
                    </a:lnTo>
                    <a:lnTo>
                      <a:pt x="48" y="509"/>
                    </a:lnTo>
                    <a:lnTo>
                      <a:pt x="101" y="569"/>
                    </a:lnTo>
                    <a:lnTo>
                      <a:pt x="179" y="623"/>
                    </a:lnTo>
                    <a:lnTo>
                      <a:pt x="263" y="671"/>
                    </a:lnTo>
                    <a:lnTo>
                      <a:pt x="370" y="701"/>
                    </a:lnTo>
                    <a:lnTo>
                      <a:pt x="484" y="725"/>
                    </a:lnTo>
                    <a:lnTo>
                      <a:pt x="604" y="731"/>
                    </a:lnTo>
                    <a:lnTo>
                      <a:pt x="723" y="725"/>
                    </a:lnTo>
                    <a:lnTo>
                      <a:pt x="837" y="701"/>
                    </a:lnTo>
                    <a:lnTo>
                      <a:pt x="938" y="671"/>
                    </a:lnTo>
                    <a:lnTo>
                      <a:pt x="1028" y="623"/>
                    </a:lnTo>
                    <a:lnTo>
                      <a:pt x="1100" y="569"/>
                    </a:lnTo>
                    <a:lnTo>
                      <a:pt x="1153" y="509"/>
                    </a:lnTo>
                    <a:lnTo>
                      <a:pt x="1189" y="437"/>
                    </a:lnTo>
                    <a:lnTo>
                      <a:pt x="1201" y="401"/>
                    </a:lnTo>
                    <a:lnTo>
                      <a:pt x="1201" y="366"/>
                    </a:lnTo>
                    <a:lnTo>
                      <a:pt x="1201" y="330"/>
                    </a:lnTo>
                    <a:lnTo>
                      <a:pt x="1189" y="294"/>
                    </a:lnTo>
                    <a:lnTo>
                      <a:pt x="1153" y="222"/>
                    </a:lnTo>
                    <a:lnTo>
                      <a:pt x="1100" y="162"/>
                    </a:lnTo>
                    <a:lnTo>
                      <a:pt x="1028" y="108"/>
                    </a:lnTo>
                    <a:lnTo>
                      <a:pt x="938" y="60"/>
                    </a:lnTo>
                    <a:lnTo>
                      <a:pt x="837" y="30"/>
                    </a:lnTo>
                    <a:lnTo>
                      <a:pt x="723" y="6"/>
                    </a:lnTo>
                    <a:lnTo>
                      <a:pt x="604" y="0"/>
                    </a:lnTo>
                    <a:lnTo>
                      <a:pt x="604" y="0"/>
                    </a:lnTo>
                    <a:close/>
                    <a:moveTo>
                      <a:pt x="604" y="707"/>
                    </a:moveTo>
                    <a:lnTo>
                      <a:pt x="490" y="701"/>
                    </a:lnTo>
                    <a:lnTo>
                      <a:pt x="382" y="683"/>
                    </a:lnTo>
                    <a:lnTo>
                      <a:pt x="287" y="647"/>
                    </a:lnTo>
                    <a:lnTo>
                      <a:pt x="203" y="611"/>
                    </a:lnTo>
                    <a:lnTo>
                      <a:pt x="131" y="557"/>
                    </a:lnTo>
                    <a:lnTo>
                      <a:pt x="83" y="497"/>
                    </a:lnTo>
                    <a:lnTo>
                      <a:pt x="48" y="437"/>
                    </a:lnTo>
                    <a:lnTo>
                      <a:pt x="42" y="401"/>
                    </a:lnTo>
                    <a:lnTo>
                      <a:pt x="36" y="366"/>
                    </a:lnTo>
                    <a:lnTo>
                      <a:pt x="42" y="330"/>
                    </a:lnTo>
                    <a:lnTo>
                      <a:pt x="48" y="300"/>
                    </a:lnTo>
                    <a:lnTo>
                      <a:pt x="83" y="234"/>
                    </a:lnTo>
                    <a:lnTo>
                      <a:pt x="131" y="174"/>
                    </a:lnTo>
                    <a:lnTo>
                      <a:pt x="203" y="126"/>
                    </a:lnTo>
                    <a:lnTo>
                      <a:pt x="287" y="84"/>
                    </a:lnTo>
                    <a:lnTo>
                      <a:pt x="382" y="54"/>
                    </a:lnTo>
                    <a:lnTo>
                      <a:pt x="490" y="30"/>
                    </a:lnTo>
                    <a:lnTo>
                      <a:pt x="604" y="24"/>
                    </a:lnTo>
                    <a:lnTo>
                      <a:pt x="717" y="30"/>
                    </a:lnTo>
                    <a:lnTo>
                      <a:pt x="825" y="54"/>
                    </a:lnTo>
                    <a:lnTo>
                      <a:pt x="920" y="84"/>
                    </a:lnTo>
                    <a:lnTo>
                      <a:pt x="1004" y="126"/>
                    </a:lnTo>
                    <a:lnTo>
                      <a:pt x="1070" y="174"/>
                    </a:lnTo>
                    <a:lnTo>
                      <a:pt x="1124" y="234"/>
                    </a:lnTo>
                    <a:lnTo>
                      <a:pt x="1153" y="300"/>
                    </a:lnTo>
                    <a:lnTo>
                      <a:pt x="1165" y="366"/>
                    </a:lnTo>
                    <a:lnTo>
                      <a:pt x="1153" y="437"/>
                    </a:lnTo>
                    <a:lnTo>
                      <a:pt x="1124" y="497"/>
                    </a:lnTo>
                    <a:lnTo>
                      <a:pt x="1070" y="557"/>
                    </a:lnTo>
                    <a:lnTo>
                      <a:pt x="1004" y="611"/>
                    </a:lnTo>
                    <a:lnTo>
                      <a:pt x="920" y="647"/>
                    </a:lnTo>
                    <a:lnTo>
                      <a:pt x="825" y="683"/>
                    </a:lnTo>
                    <a:lnTo>
                      <a:pt x="717" y="701"/>
                    </a:lnTo>
                    <a:lnTo>
                      <a:pt x="604" y="707"/>
                    </a:lnTo>
                    <a:lnTo>
                      <a:pt x="604" y="707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tint val="96863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30" name="Freeform 36"/>
              <p:cNvSpPr>
                <a:spLocks/>
              </p:cNvSpPr>
              <p:nvPr/>
            </p:nvSpPr>
            <p:spPr bwMode="hidden">
              <a:xfrm>
                <a:off x="4128" y="3366"/>
                <a:ext cx="544" cy="737"/>
              </a:xfrm>
              <a:custGeom>
                <a:avLst/>
                <a:gdLst/>
                <a:ahLst/>
                <a:cxnLst>
                  <a:cxn ang="0">
                    <a:pos x="24" y="402"/>
                  </a:cxn>
                  <a:cxn ang="0">
                    <a:pos x="36" y="330"/>
                  </a:cxn>
                  <a:cxn ang="0">
                    <a:pos x="66" y="264"/>
                  </a:cxn>
                  <a:cxn ang="0">
                    <a:pos x="108" y="204"/>
                  </a:cxn>
                  <a:cxn ang="0">
                    <a:pos x="173" y="150"/>
                  </a:cxn>
                  <a:cxn ang="0">
                    <a:pos x="251" y="102"/>
                  </a:cxn>
                  <a:cxn ang="0">
                    <a:pos x="335" y="60"/>
                  </a:cxn>
                  <a:cxn ang="0">
                    <a:pos x="436" y="30"/>
                  </a:cxn>
                  <a:cxn ang="0">
                    <a:pos x="544" y="12"/>
                  </a:cxn>
                  <a:cxn ang="0">
                    <a:pos x="544" y="0"/>
                  </a:cxn>
                  <a:cxn ang="0">
                    <a:pos x="430" y="18"/>
                  </a:cxn>
                  <a:cxn ang="0">
                    <a:pos x="329" y="48"/>
                  </a:cxn>
                  <a:cxn ang="0">
                    <a:pos x="233" y="90"/>
                  </a:cxn>
                  <a:cxn ang="0">
                    <a:pos x="155" y="138"/>
                  </a:cxn>
                  <a:cxn ang="0">
                    <a:pos x="90" y="198"/>
                  </a:cxn>
                  <a:cxn ang="0">
                    <a:pos x="42" y="258"/>
                  </a:cxn>
                  <a:cxn ang="0">
                    <a:pos x="12" y="330"/>
                  </a:cxn>
                  <a:cxn ang="0">
                    <a:pos x="0" y="402"/>
                  </a:cxn>
                  <a:cxn ang="0">
                    <a:pos x="6" y="455"/>
                  </a:cxn>
                  <a:cxn ang="0">
                    <a:pos x="18" y="503"/>
                  </a:cxn>
                  <a:cxn ang="0">
                    <a:pos x="42" y="545"/>
                  </a:cxn>
                  <a:cxn ang="0">
                    <a:pos x="78" y="593"/>
                  </a:cxn>
                  <a:cxn ang="0">
                    <a:pos x="114" y="635"/>
                  </a:cxn>
                  <a:cxn ang="0">
                    <a:pos x="161" y="671"/>
                  </a:cxn>
                  <a:cxn ang="0">
                    <a:pos x="221" y="707"/>
                  </a:cxn>
                  <a:cxn ang="0">
                    <a:pos x="281" y="737"/>
                  </a:cxn>
                  <a:cxn ang="0">
                    <a:pos x="323" y="737"/>
                  </a:cxn>
                  <a:cxn ang="0">
                    <a:pos x="257" y="707"/>
                  </a:cxn>
                  <a:cxn ang="0">
                    <a:pos x="203" y="671"/>
                  </a:cxn>
                  <a:cxn ang="0">
                    <a:pos x="149" y="635"/>
                  </a:cxn>
                  <a:cxn ang="0">
                    <a:pos x="108" y="593"/>
                  </a:cxn>
                  <a:cxn ang="0">
                    <a:pos x="72" y="551"/>
                  </a:cxn>
                  <a:cxn ang="0">
                    <a:pos x="48" y="503"/>
                  </a:cxn>
                  <a:cxn ang="0">
                    <a:pos x="30" y="455"/>
                  </a:cxn>
                  <a:cxn ang="0">
                    <a:pos x="24" y="402"/>
                  </a:cxn>
                  <a:cxn ang="0">
                    <a:pos x="24" y="402"/>
                  </a:cxn>
                </a:cxnLst>
                <a:rect l="0" t="0" r="r" b="b"/>
                <a:pathLst>
                  <a:path w="544" h="737">
                    <a:moveTo>
                      <a:pt x="24" y="402"/>
                    </a:moveTo>
                    <a:lnTo>
                      <a:pt x="36" y="330"/>
                    </a:lnTo>
                    <a:lnTo>
                      <a:pt x="66" y="264"/>
                    </a:lnTo>
                    <a:lnTo>
                      <a:pt x="108" y="204"/>
                    </a:lnTo>
                    <a:lnTo>
                      <a:pt x="173" y="150"/>
                    </a:lnTo>
                    <a:lnTo>
                      <a:pt x="251" y="102"/>
                    </a:lnTo>
                    <a:lnTo>
                      <a:pt x="335" y="60"/>
                    </a:lnTo>
                    <a:lnTo>
                      <a:pt x="436" y="30"/>
                    </a:lnTo>
                    <a:lnTo>
                      <a:pt x="544" y="12"/>
                    </a:lnTo>
                    <a:lnTo>
                      <a:pt x="544" y="0"/>
                    </a:lnTo>
                    <a:lnTo>
                      <a:pt x="430" y="18"/>
                    </a:lnTo>
                    <a:lnTo>
                      <a:pt x="329" y="48"/>
                    </a:lnTo>
                    <a:lnTo>
                      <a:pt x="233" y="90"/>
                    </a:lnTo>
                    <a:lnTo>
                      <a:pt x="155" y="138"/>
                    </a:lnTo>
                    <a:lnTo>
                      <a:pt x="90" y="198"/>
                    </a:lnTo>
                    <a:lnTo>
                      <a:pt x="42" y="258"/>
                    </a:lnTo>
                    <a:lnTo>
                      <a:pt x="12" y="330"/>
                    </a:lnTo>
                    <a:lnTo>
                      <a:pt x="0" y="402"/>
                    </a:lnTo>
                    <a:lnTo>
                      <a:pt x="6" y="455"/>
                    </a:lnTo>
                    <a:lnTo>
                      <a:pt x="18" y="503"/>
                    </a:lnTo>
                    <a:lnTo>
                      <a:pt x="42" y="545"/>
                    </a:lnTo>
                    <a:lnTo>
                      <a:pt x="78" y="593"/>
                    </a:lnTo>
                    <a:lnTo>
                      <a:pt x="114" y="635"/>
                    </a:lnTo>
                    <a:lnTo>
                      <a:pt x="161" y="671"/>
                    </a:lnTo>
                    <a:lnTo>
                      <a:pt x="221" y="707"/>
                    </a:lnTo>
                    <a:lnTo>
                      <a:pt x="281" y="737"/>
                    </a:lnTo>
                    <a:lnTo>
                      <a:pt x="323" y="737"/>
                    </a:lnTo>
                    <a:lnTo>
                      <a:pt x="257" y="707"/>
                    </a:lnTo>
                    <a:lnTo>
                      <a:pt x="203" y="671"/>
                    </a:lnTo>
                    <a:lnTo>
                      <a:pt x="149" y="635"/>
                    </a:lnTo>
                    <a:lnTo>
                      <a:pt x="108" y="593"/>
                    </a:lnTo>
                    <a:lnTo>
                      <a:pt x="72" y="551"/>
                    </a:lnTo>
                    <a:lnTo>
                      <a:pt x="48" y="503"/>
                    </a:lnTo>
                    <a:lnTo>
                      <a:pt x="30" y="455"/>
                    </a:lnTo>
                    <a:lnTo>
                      <a:pt x="24" y="402"/>
                    </a:lnTo>
                    <a:lnTo>
                      <a:pt x="24" y="40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tint val="96863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31" name="Freeform 37"/>
              <p:cNvSpPr>
                <a:spLocks/>
              </p:cNvSpPr>
              <p:nvPr/>
            </p:nvSpPr>
            <p:spPr bwMode="hidden">
              <a:xfrm>
                <a:off x="4792" y="3360"/>
                <a:ext cx="609" cy="252"/>
              </a:xfrm>
              <a:custGeom>
                <a:avLst/>
                <a:gdLst/>
                <a:ahLst/>
                <a:cxnLst>
                  <a:cxn ang="0">
                    <a:pos x="12" y="12"/>
                  </a:cxn>
                  <a:cxn ang="0">
                    <a:pos x="113" y="18"/>
                  </a:cxn>
                  <a:cxn ang="0">
                    <a:pos x="203" y="30"/>
                  </a:cxn>
                  <a:cxn ang="0">
                    <a:pos x="292" y="48"/>
                  </a:cxn>
                  <a:cxn ang="0">
                    <a:pos x="376" y="78"/>
                  </a:cxn>
                  <a:cxn ang="0">
                    <a:pos x="448" y="114"/>
                  </a:cxn>
                  <a:cxn ang="0">
                    <a:pos x="514" y="156"/>
                  </a:cxn>
                  <a:cxn ang="0">
                    <a:pos x="567" y="198"/>
                  </a:cxn>
                  <a:cxn ang="0">
                    <a:pos x="609" y="252"/>
                  </a:cxn>
                  <a:cxn ang="0">
                    <a:pos x="609" y="216"/>
                  </a:cxn>
                  <a:cxn ang="0">
                    <a:pos x="561" y="168"/>
                  </a:cxn>
                  <a:cxn ang="0">
                    <a:pos x="502" y="126"/>
                  </a:cxn>
                  <a:cxn ang="0">
                    <a:pos x="436" y="90"/>
                  </a:cxn>
                  <a:cxn ang="0">
                    <a:pos x="364" y="60"/>
                  </a:cxn>
                  <a:cxn ang="0">
                    <a:pos x="286" y="36"/>
                  </a:cxn>
                  <a:cxn ang="0">
                    <a:pos x="197" y="18"/>
                  </a:cxn>
                  <a:cxn ang="0">
                    <a:pos x="107" y="6"/>
                  </a:cxn>
                  <a:cxn ang="0">
                    <a:pos x="12" y="0"/>
                  </a:cxn>
                  <a:cxn ang="0">
                    <a:pos x="6" y="0"/>
                  </a:cxn>
                  <a:cxn ang="0">
                    <a:pos x="0" y="0"/>
                  </a:cxn>
                  <a:cxn ang="0">
                    <a:pos x="0" y="12"/>
                  </a:cxn>
                  <a:cxn ang="0">
                    <a:pos x="6" y="12"/>
                  </a:cxn>
                  <a:cxn ang="0">
                    <a:pos x="12" y="12"/>
                  </a:cxn>
                  <a:cxn ang="0">
                    <a:pos x="12" y="12"/>
                  </a:cxn>
                </a:cxnLst>
                <a:rect l="0" t="0" r="r" b="b"/>
                <a:pathLst>
                  <a:path w="609" h="252">
                    <a:moveTo>
                      <a:pt x="12" y="12"/>
                    </a:moveTo>
                    <a:lnTo>
                      <a:pt x="113" y="18"/>
                    </a:lnTo>
                    <a:lnTo>
                      <a:pt x="203" y="30"/>
                    </a:lnTo>
                    <a:lnTo>
                      <a:pt x="292" y="48"/>
                    </a:lnTo>
                    <a:lnTo>
                      <a:pt x="376" y="78"/>
                    </a:lnTo>
                    <a:lnTo>
                      <a:pt x="448" y="114"/>
                    </a:lnTo>
                    <a:lnTo>
                      <a:pt x="514" y="156"/>
                    </a:lnTo>
                    <a:lnTo>
                      <a:pt x="567" y="198"/>
                    </a:lnTo>
                    <a:lnTo>
                      <a:pt x="609" y="252"/>
                    </a:lnTo>
                    <a:lnTo>
                      <a:pt x="609" y="216"/>
                    </a:lnTo>
                    <a:lnTo>
                      <a:pt x="561" y="168"/>
                    </a:lnTo>
                    <a:lnTo>
                      <a:pt x="502" y="126"/>
                    </a:lnTo>
                    <a:lnTo>
                      <a:pt x="436" y="90"/>
                    </a:lnTo>
                    <a:lnTo>
                      <a:pt x="364" y="60"/>
                    </a:lnTo>
                    <a:lnTo>
                      <a:pt x="286" y="36"/>
                    </a:lnTo>
                    <a:lnTo>
                      <a:pt x="197" y="18"/>
                    </a:lnTo>
                    <a:lnTo>
                      <a:pt x="107" y="6"/>
                    </a:lnTo>
                    <a:lnTo>
                      <a:pt x="12" y="0"/>
                    </a:lnTo>
                    <a:lnTo>
                      <a:pt x="6" y="0"/>
                    </a:lnTo>
                    <a:lnTo>
                      <a:pt x="0" y="0"/>
                    </a:lnTo>
                    <a:lnTo>
                      <a:pt x="0" y="12"/>
                    </a:lnTo>
                    <a:lnTo>
                      <a:pt x="6" y="12"/>
                    </a:lnTo>
                    <a:lnTo>
                      <a:pt x="12" y="12"/>
                    </a:lnTo>
                    <a:lnTo>
                      <a:pt x="12" y="1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tint val="94118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32" name="Freeform 38"/>
              <p:cNvSpPr>
                <a:spLocks/>
              </p:cNvSpPr>
              <p:nvPr/>
            </p:nvSpPr>
            <p:spPr bwMode="hidden">
              <a:xfrm>
                <a:off x="5246" y="4007"/>
                <a:ext cx="72" cy="54"/>
              </a:xfrm>
              <a:custGeom>
                <a:avLst/>
                <a:gdLst/>
                <a:ahLst/>
                <a:cxnLst>
                  <a:cxn ang="0">
                    <a:pos x="72" y="0"/>
                  </a:cxn>
                  <a:cxn ang="0">
                    <a:pos x="36" y="30"/>
                  </a:cxn>
                  <a:cxn ang="0">
                    <a:pos x="0" y="54"/>
                  </a:cxn>
                  <a:cxn ang="0">
                    <a:pos x="36" y="54"/>
                  </a:cxn>
                  <a:cxn ang="0">
                    <a:pos x="54" y="42"/>
                  </a:cxn>
                  <a:cxn ang="0">
                    <a:pos x="72" y="24"/>
                  </a:cxn>
                  <a:cxn ang="0">
                    <a:pos x="72" y="24"/>
                  </a:cxn>
                  <a:cxn ang="0">
                    <a:pos x="72" y="0"/>
                  </a:cxn>
                  <a:cxn ang="0">
                    <a:pos x="72" y="0"/>
                  </a:cxn>
                </a:cxnLst>
                <a:rect l="0" t="0" r="r" b="b"/>
                <a:pathLst>
                  <a:path w="72" h="54">
                    <a:moveTo>
                      <a:pt x="72" y="0"/>
                    </a:moveTo>
                    <a:lnTo>
                      <a:pt x="36" y="30"/>
                    </a:lnTo>
                    <a:lnTo>
                      <a:pt x="0" y="54"/>
                    </a:lnTo>
                    <a:lnTo>
                      <a:pt x="36" y="54"/>
                    </a:lnTo>
                    <a:lnTo>
                      <a:pt x="54" y="42"/>
                    </a:lnTo>
                    <a:lnTo>
                      <a:pt x="72" y="24"/>
                    </a:lnTo>
                    <a:lnTo>
                      <a:pt x="72" y="24"/>
                    </a:lnTo>
                    <a:lnTo>
                      <a:pt x="72" y="0"/>
                    </a:lnTo>
                    <a:lnTo>
                      <a:pt x="7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33" name="Freeform 39"/>
              <p:cNvSpPr>
                <a:spLocks/>
              </p:cNvSpPr>
              <p:nvPr/>
            </p:nvSpPr>
            <p:spPr bwMode="hidden">
              <a:xfrm>
                <a:off x="4505" y="4073"/>
                <a:ext cx="705" cy="108"/>
              </a:xfrm>
              <a:custGeom>
                <a:avLst/>
                <a:gdLst/>
                <a:ahLst/>
                <a:cxnLst>
                  <a:cxn ang="0">
                    <a:pos x="299" y="90"/>
                  </a:cxn>
                  <a:cxn ang="0">
                    <a:pos x="221" y="90"/>
                  </a:cxn>
                  <a:cxn ang="0">
                    <a:pos x="143" y="78"/>
                  </a:cxn>
                  <a:cxn ang="0">
                    <a:pos x="0" y="48"/>
                  </a:cxn>
                  <a:cxn ang="0">
                    <a:pos x="0" y="66"/>
                  </a:cxn>
                  <a:cxn ang="0">
                    <a:pos x="143" y="96"/>
                  </a:cxn>
                  <a:cxn ang="0">
                    <a:pos x="221" y="108"/>
                  </a:cxn>
                  <a:cxn ang="0">
                    <a:pos x="299" y="108"/>
                  </a:cxn>
                  <a:cxn ang="0">
                    <a:pos x="412" y="102"/>
                  </a:cxn>
                  <a:cxn ang="0">
                    <a:pos x="520" y="84"/>
                  </a:cxn>
                  <a:cxn ang="0">
                    <a:pos x="615" y="60"/>
                  </a:cxn>
                  <a:cxn ang="0">
                    <a:pos x="705" y="24"/>
                  </a:cxn>
                  <a:cxn ang="0">
                    <a:pos x="705" y="0"/>
                  </a:cxn>
                  <a:cxn ang="0">
                    <a:pos x="615" y="42"/>
                  </a:cxn>
                  <a:cxn ang="0">
                    <a:pos x="520" y="66"/>
                  </a:cxn>
                  <a:cxn ang="0">
                    <a:pos x="412" y="84"/>
                  </a:cxn>
                  <a:cxn ang="0">
                    <a:pos x="299" y="90"/>
                  </a:cxn>
                  <a:cxn ang="0">
                    <a:pos x="299" y="90"/>
                  </a:cxn>
                </a:cxnLst>
                <a:rect l="0" t="0" r="r" b="b"/>
                <a:pathLst>
                  <a:path w="705" h="108">
                    <a:moveTo>
                      <a:pt x="299" y="90"/>
                    </a:moveTo>
                    <a:lnTo>
                      <a:pt x="221" y="90"/>
                    </a:lnTo>
                    <a:lnTo>
                      <a:pt x="143" y="78"/>
                    </a:lnTo>
                    <a:lnTo>
                      <a:pt x="0" y="48"/>
                    </a:lnTo>
                    <a:lnTo>
                      <a:pt x="0" y="66"/>
                    </a:lnTo>
                    <a:lnTo>
                      <a:pt x="143" y="96"/>
                    </a:lnTo>
                    <a:lnTo>
                      <a:pt x="221" y="108"/>
                    </a:lnTo>
                    <a:lnTo>
                      <a:pt x="299" y="108"/>
                    </a:lnTo>
                    <a:lnTo>
                      <a:pt x="412" y="102"/>
                    </a:lnTo>
                    <a:lnTo>
                      <a:pt x="520" y="84"/>
                    </a:lnTo>
                    <a:lnTo>
                      <a:pt x="615" y="60"/>
                    </a:lnTo>
                    <a:lnTo>
                      <a:pt x="705" y="24"/>
                    </a:lnTo>
                    <a:lnTo>
                      <a:pt x="705" y="0"/>
                    </a:lnTo>
                    <a:lnTo>
                      <a:pt x="615" y="42"/>
                    </a:lnTo>
                    <a:lnTo>
                      <a:pt x="520" y="66"/>
                    </a:lnTo>
                    <a:lnTo>
                      <a:pt x="412" y="84"/>
                    </a:lnTo>
                    <a:lnTo>
                      <a:pt x="299" y="90"/>
                    </a:lnTo>
                    <a:lnTo>
                      <a:pt x="299" y="9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34" name="Freeform 40"/>
              <p:cNvSpPr>
                <a:spLocks/>
              </p:cNvSpPr>
              <p:nvPr/>
            </p:nvSpPr>
            <p:spPr bwMode="hidden">
              <a:xfrm>
                <a:off x="5336" y="3654"/>
                <a:ext cx="143" cy="341"/>
              </a:xfrm>
              <a:custGeom>
                <a:avLst/>
                <a:gdLst/>
                <a:ahLst/>
                <a:cxnLst>
                  <a:cxn ang="0">
                    <a:pos x="119" y="114"/>
                  </a:cxn>
                  <a:cxn ang="0">
                    <a:pos x="113" y="173"/>
                  </a:cxn>
                  <a:cxn ang="0">
                    <a:pos x="89" y="239"/>
                  </a:cxn>
                  <a:cxn ang="0">
                    <a:pos x="47" y="293"/>
                  </a:cxn>
                  <a:cxn ang="0">
                    <a:pos x="0" y="341"/>
                  </a:cxn>
                  <a:cxn ang="0">
                    <a:pos x="29" y="341"/>
                  </a:cxn>
                  <a:cxn ang="0">
                    <a:pos x="77" y="287"/>
                  </a:cxn>
                  <a:cxn ang="0">
                    <a:pos x="113" y="233"/>
                  </a:cxn>
                  <a:cxn ang="0">
                    <a:pos x="137" y="173"/>
                  </a:cxn>
                  <a:cxn ang="0">
                    <a:pos x="143" y="114"/>
                  </a:cxn>
                  <a:cxn ang="0">
                    <a:pos x="137" y="60"/>
                  </a:cxn>
                  <a:cxn ang="0">
                    <a:pos x="119" y="0"/>
                  </a:cxn>
                  <a:cxn ang="0">
                    <a:pos x="89" y="0"/>
                  </a:cxn>
                  <a:cxn ang="0">
                    <a:pos x="113" y="60"/>
                  </a:cxn>
                  <a:cxn ang="0">
                    <a:pos x="119" y="114"/>
                  </a:cxn>
                  <a:cxn ang="0">
                    <a:pos x="119" y="114"/>
                  </a:cxn>
                </a:cxnLst>
                <a:rect l="0" t="0" r="r" b="b"/>
                <a:pathLst>
                  <a:path w="143" h="341">
                    <a:moveTo>
                      <a:pt x="119" y="114"/>
                    </a:moveTo>
                    <a:lnTo>
                      <a:pt x="113" y="173"/>
                    </a:lnTo>
                    <a:lnTo>
                      <a:pt x="89" y="239"/>
                    </a:lnTo>
                    <a:lnTo>
                      <a:pt x="47" y="293"/>
                    </a:lnTo>
                    <a:lnTo>
                      <a:pt x="0" y="341"/>
                    </a:lnTo>
                    <a:lnTo>
                      <a:pt x="29" y="341"/>
                    </a:lnTo>
                    <a:lnTo>
                      <a:pt x="77" y="287"/>
                    </a:lnTo>
                    <a:lnTo>
                      <a:pt x="113" y="233"/>
                    </a:lnTo>
                    <a:lnTo>
                      <a:pt x="137" y="173"/>
                    </a:lnTo>
                    <a:lnTo>
                      <a:pt x="143" y="114"/>
                    </a:lnTo>
                    <a:lnTo>
                      <a:pt x="137" y="60"/>
                    </a:lnTo>
                    <a:lnTo>
                      <a:pt x="119" y="0"/>
                    </a:lnTo>
                    <a:lnTo>
                      <a:pt x="89" y="0"/>
                    </a:lnTo>
                    <a:lnTo>
                      <a:pt x="113" y="60"/>
                    </a:lnTo>
                    <a:lnTo>
                      <a:pt x="119" y="114"/>
                    </a:lnTo>
                    <a:lnTo>
                      <a:pt x="119" y="1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35" name="Freeform 41"/>
              <p:cNvSpPr>
                <a:spLocks/>
              </p:cNvSpPr>
              <p:nvPr/>
            </p:nvSpPr>
            <p:spPr bwMode="hidden">
              <a:xfrm>
                <a:off x="5061" y="3624"/>
                <a:ext cx="83" cy="90"/>
              </a:xfrm>
              <a:custGeom>
                <a:avLst/>
                <a:gdLst/>
                <a:ahLst/>
                <a:cxnLst>
                  <a:cxn ang="0">
                    <a:pos x="59" y="90"/>
                  </a:cxn>
                  <a:cxn ang="0">
                    <a:pos x="83" y="84"/>
                  </a:cxn>
                  <a:cxn ang="0">
                    <a:pos x="71" y="60"/>
                  </a:cxn>
                  <a:cxn ang="0">
                    <a:pos x="53" y="42"/>
                  </a:cxn>
                  <a:cxn ang="0">
                    <a:pos x="6" y="0"/>
                  </a:cxn>
                  <a:cxn ang="0">
                    <a:pos x="0" y="18"/>
                  </a:cxn>
                  <a:cxn ang="0">
                    <a:pos x="35" y="48"/>
                  </a:cxn>
                  <a:cxn ang="0">
                    <a:pos x="59" y="90"/>
                  </a:cxn>
                  <a:cxn ang="0">
                    <a:pos x="59" y="90"/>
                  </a:cxn>
                </a:cxnLst>
                <a:rect l="0" t="0" r="r" b="b"/>
                <a:pathLst>
                  <a:path w="83" h="90">
                    <a:moveTo>
                      <a:pt x="59" y="90"/>
                    </a:moveTo>
                    <a:lnTo>
                      <a:pt x="83" y="84"/>
                    </a:lnTo>
                    <a:lnTo>
                      <a:pt x="71" y="60"/>
                    </a:lnTo>
                    <a:lnTo>
                      <a:pt x="53" y="42"/>
                    </a:lnTo>
                    <a:lnTo>
                      <a:pt x="6" y="0"/>
                    </a:lnTo>
                    <a:lnTo>
                      <a:pt x="0" y="18"/>
                    </a:lnTo>
                    <a:lnTo>
                      <a:pt x="35" y="48"/>
                    </a:lnTo>
                    <a:lnTo>
                      <a:pt x="59" y="90"/>
                    </a:lnTo>
                    <a:lnTo>
                      <a:pt x="59" y="9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36" name="Freeform 42"/>
              <p:cNvSpPr>
                <a:spLocks/>
              </p:cNvSpPr>
              <p:nvPr/>
            </p:nvSpPr>
            <p:spPr bwMode="hidden">
              <a:xfrm>
                <a:off x="4445" y="3552"/>
                <a:ext cx="717" cy="431"/>
              </a:xfrm>
              <a:custGeom>
                <a:avLst/>
                <a:gdLst/>
                <a:ahLst/>
                <a:cxnLst>
                  <a:cxn ang="0">
                    <a:pos x="693" y="216"/>
                  </a:cxn>
                  <a:cxn ang="0">
                    <a:pos x="687" y="257"/>
                  </a:cxn>
                  <a:cxn ang="0">
                    <a:pos x="669" y="293"/>
                  </a:cxn>
                  <a:cxn ang="0">
                    <a:pos x="633" y="329"/>
                  </a:cxn>
                  <a:cxn ang="0">
                    <a:pos x="598" y="359"/>
                  </a:cxn>
                  <a:cxn ang="0">
                    <a:pos x="544" y="383"/>
                  </a:cxn>
                  <a:cxn ang="0">
                    <a:pos x="490" y="401"/>
                  </a:cxn>
                  <a:cxn ang="0">
                    <a:pos x="424" y="413"/>
                  </a:cxn>
                  <a:cxn ang="0">
                    <a:pos x="359" y="419"/>
                  </a:cxn>
                  <a:cxn ang="0">
                    <a:pos x="293" y="413"/>
                  </a:cxn>
                  <a:cxn ang="0">
                    <a:pos x="227" y="401"/>
                  </a:cxn>
                  <a:cxn ang="0">
                    <a:pos x="173" y="383"/>
                  </a:cxn>
                  <a:cxn ang="0">
                    <a:pos x="119" y="359"/>
                  </a:cxn>
                  <a:cxn ang="0">
                    <a:pos x="84" y="329"/>
                  </a:cxn>
                  <a:cxn ang="0">
                    <a:pos x="48" y="293"/>
                  </a:cxn>
                  <a:cxn ang="0">
                    <a:pos x="30" y="257"/>
                  </a:cxn>
                  <a:cxn ang="0">
                    <a:pos x="24" y="216"/>
                  </a:cxn>
                  <a:cxn ang="0">
                    <a:pos x="30" y="174"/>
                  </a:cxn>
                  <a:cxn ang="0">
                    <a:pos x="48" y="138"/>
                  </a:cxn>
                  <a:cxn ang="0">
                    <a:pos x="84" y="102"/>
                  </a:cxn>
                  <a:cxn ang="0">
                    <a:pos x="119" y="72"/>
                  </a:cxn>
                  <a:cxn ang="0">
                    <a:pos x="173" y="48"/>
                  </a:cxn>
                  <a:cxn ang="0">
                    <a:pos x="227" y="30"/>
                  </a:cxn>
                  <a:cxn ang="0">
                    <a:pos x="293" y="18"/>
                  </a:cxn>
                  <a:cxn ang="0">
                    <a:pos x="359" y="12"/>
                  </a:cxn>
                  <a:cxn ang="0">
                    <a:pos x="418" y="18"/>
                  </a:cxn>
                  <a:cxn ang="0">
                    <a:pos x="478" y="30"/>
                  </a:cxn>
                  <a:cxn ang="0">
                    <a:pos x="532" y="48"/>
                  </a:cxn>
                  <a:cxn ang="0">
                    <a:pos x="580" y="66"/>
                  </a:cxn>
                  <a:cxn ang="0">
                    <a:pos x="586" y="48"/>
                  </a:cxn>
                  <a:cxn ang="0">
                    <a:pos x="478" y="12"/>
                  </a:cxn>
                  <a:cxn ang="0">
                    <a:pos x="418" y="6"/>
                  </a:cxn>
                  <a:cxn ang="0">
                    <a:pos x="359" y="0"/>
                  </a:cxn>
                  <a:cxn ang="0">
                    <a:pos x="287" y="6"/>
                  </a:cxn>
                  <a:cxn ang="0">
                    <a:pos x="221" y="18"/>
                  </a:cxn>
                  <a:cxn ang="0">
                    <a:pos x="161" y="36"/>
                  </a:cxn>
                  <a:cxn ang="0">
                    <a:pos x="107" y="66"/>
                  </a:cxn>
                  <a:cxn ang="0">
                    <a:pos x="60" y="96"/>
                  </a:cxn>
                  <a:cxn ang="0">
                    <a:pos x="30" y="132"/>
                  </a:cxn>
                  <a:cxn ang="0">
                    <a:pos x="6" y="174"/>
                  </a:cxn>
                  <a:cxn ang="0">
                    <a:pos x="0" y="216"/>
                  </a:cxn>
                  <a:cxn ang="0">
                    <a:pos x="6" y="257"/>
                  </a:cxn>
                  <a:cxn ang="0">
                    <a:pos x="30" y="299"/>
                  </a:cxn>
                  <a:cxn ang="0">
                    <a:pos x="60" y="335"/>
                  </a:cxn>
                  <a:cxn ang="0">
                    <a:pos x="107" y="371"/>
                  </a:cxn>
                  <a:cxn ang="0">
                    <a:pos x="161" y="395"/>
                  </a:cxn>
                  <a:cxn ang="0">
                    <a:pos x="221" y="413"/>
                  </a:cxn>
                  <a:cxn ang="0">
                    <a:pos x="287" y="425"/>
                  </a:cxn>
                  <a:cxn ang="0">
                    <a:pos x="359" y="431"/>
                  </a:cxn>
                  <a:cxn ang="0">
                    <a:pos x="430" y="425"/>
                  </a:cxn>
                  <a:cxn ang="0">
                    <a:pos x="496" y="413"/>
                  </a:cxn>
                  <a:cxn ang="0">
                    <a:pos x="562" y="395"/>
                  </a:cxn>
                  <a:cxn ang="0">
                    <a:pos x="610" y="371"/>
                  </a:cxn>
                  <a:cxn ang="0">
                    <a:pos x="657" y="335"/>
                  </a:cxn>
                  <a:cxn ang="0">
                    <a:pos x="687" y="299"/>
                  </a:cxn>
                  <a:cxn ang="0">
                    <a:pos x="711" y="257"/>
                  </a:cxn>
                  <a:cxn ang="0">
                    <a:pos x="717" y="216"/>
                  </a:cxn>
                  <a:cxn ang="0">
                    <a:pos x="717" y="204"/>
                  </a:cxn>
                  <a:cxn ang="0">
                    <a:pos x="711" y="192"/>
                  </a:cxn>
                  <a:cxn ang="0">
                    <a:pos x="687" y="198"/>
                  </a:cxn>
                  <a:cxn ang="0">
                    <a:pos x="693" y="210"/>
                  </a:cxn>
                  <a:cxn ang="0">
                    <a:pos x="693" y="216"/>
                  </a:cxn>
                  <a:cxn ang="0">
                    <a:pos x="693" y="216"/>
                  </a:cxn>
                </a:cxnLst>
                <a:rect l="0" t="0" r="r" b="b"/>
                <a:pathLst>
                  <a:path w="717" h="431">
                    <a:moveTo>
                      <a:pt x="693" y="216"/>
                    </a:moveTo>
                    <a:lnTo>
                      <a:pt x="687" y="257"/>
                    </a:lnTo>
                    <a:lnTo>
                      <a:pt x="669" y="293"/>
                    </a:lnTo>
                    <a:lnTo>
                      <a:pt x="633" y="329"/>
                    </a:lnTo>
                    <a:lnTo>
                      <a:pt x="598" y="359"/>
                    </a:lnTo>
                    <a:lnTo>
                      <a:pt x="544" y="383"/>
                    </a:lnTo>
                    <a:lnTo>
                      <a:pt x="490" y="401"/>
                    </a:lnTo>
                    <a:lnTo>
                      <a:pt x="424" y="413"/>
                    </a:lnTo>
                    <a:lnTo>
                      <a:pt x="359" y="419"/>
                    </a:lnTo>
                    <a:lnTo>
                      <a:pt x="293" y="413"/>
                    </a:lnTo>
                    <a:lnTo>
                      <a:pt x="227" y="401"/>
                    </a:lnTo>
                    <a:lnTo>
                      <a:pt x="173" y="383"/>
                    </a:lnTo>
                    <a:lnTo>
                      <a:pt x="119" y="359"/>
                    </a:lnTo>
                    <a:lnTo>
                      <a:pt x="84" y="329"/>
                    </a:lnTo>
                    <a:lnTo>
                      <a:pt x="48" y="293"/>
                    </a:lnTo>
                    <a:lnTo>
                      <a:pt x="30" y="257"/>
                    </a:lnTo>
                    <a:lnTo>
                      <a:pt x="24" y="216"/>
                    </a:lnTo>
                    <a:lnTo>
                      <a:pt x="30" y="174"/>
                    </a:lnTo>
                    <a:lnTo>
                      <a:pt x="48" y="138"/>
                    </a:lnTo>
                    <a:lnTo>
                      <a:pt x="84" y="102"/>
                    </a:lnTo>
                    <a:lnTo>
                      <a:pt x="119" y="72"/>
                    </a:lnTo>
                    <a:lnTo>
                      <a:pt x="173" y="48"/>
                    </a:lnTo>
                    <a:lnTo>
                      <a:pt x="227" y="30"/>
                    </a:lnTo>
                    <a:lnTo>
                      <a:pt x="293" y="18"/>
                    </a:lnTo>
                    <a:lnTo>
                      <a:pt x="359" y="12"/>
                    </a:lnTo>
                    <a:lnTo>
                      <a:pt x="418" y="18"/>
                    </a:lnTo>
                    <a:lnTo>
                      <a:pt x="478" y="30"/>
                    </a:lnTo>
                    <a:lnTo>
                      <a:pt x="532" y="48"/>
                    </a:lnTo>
                    <a:lnTo>
                      <a:pt x="580" y="66"/>
                    </a:lnTo>
                    <a:lnTo>
                      <a:pt x="586" y="48"/>
                    </a:lnTo>
                    <a:lnTo>
                      <a:pt x="478" y="12"/>
                    </a:lnTo>
                    <a:lnTo>
                      <a:pt x="418" y="6"/>
                    </a:lnTo>
                    <a:lnTo>
                      <a:pt x="359" y="0"/>
                    </a:lnTo>
                    <a:lnTo>
                      <a:pt x="287" y="6"/>
                    </a:lnTo>
                    <a:lnTo>
                      <a:pt x="221" y="18"/>
                    </a:lnTo>
                    <a:lnTo>
                      <a:pt x="161" y="36"/>
                    </a:lnTo>
                    <a:lnTo>
                      <a:pt x="107" y="66"/>
                    </a:lnTo>
                    <a:lnTo>
                      <a:pt x="60" y="96"/>
                    </a:lnTo>
                    <a:lnTo>
                      <a:pt x="30" y="132"/>
                    </a:lnTo>
                    <a:lnTo>
                      <a:pt x="6" y="174"/>
                    </a:lnTo>
                    <a:lnTo>
                      <a:pt x="0" y="216"/>
                    </a:lnTo>
                    <a:lnTo>
                      <a:pt x="6" y="257"/>
                    </a:lnTo>
                    <a:lnTo>
                      <a:pt x="30" y="299"/>
                    </a:lnTo>
                    <a:lnTo>
                      <a:pt x="60" y="335"/>
                    </a:lnTo>
                    <a:lnTo>
                      <a:pt x="107" y="371"/>
                    </a:lnTo>
                    <a:lnTo>
                      <a:pt x="161" y="395"/>
                    </a:lnTo>
                    <a:lnTo>
                      <a:pt x="221" y="413"/>
                    </a:lnTo>
                    <a:lnTo>
                      <a:pt x="287" y="425"/>
                    </a:lnTo>
                    <a:lnTo>
                      <a:pt x="359" y="431"/>
                    </a:lnTo>
                    <a:lnTo>
                      <a:pt x="430" y="425"/>
                    </a:lnTo>
                    <a:lnTo>
                      <a:pt x="496" y="413"/>
                    </a:lnTo>
                    <a:lnTo>
                      <a:pt x="562" y="395"/>
                    </a:lnTo>
                    <a:lnTo>
                      <a:pt x="610" y="371"/>
                    </a:lnTo>
                    <a:lnTo>
                      <a:pt x="657" y="335"/>
                    </a:lnTo>
                    <a:lnTo>
                      <a:pt x="687" y="299"/>
                    </a:lnTo>
                    <a:lnTo>
                      <a:pt x="711" y="257"/>
                    </a:lnTo>
                    <a:lnTo>
                      <a:pt x="717" y="216"/>
                    </a:lnTo>
                    <a:lnTo>
                      <a:pt x="717" y="204"/>
                    </a:lnTo>
                    <a:lnTo>
                      <a:pt x="711" y="192"/>
                    </a:lnTo>
                    <a:lnTo>
                      <a:pt x="687" y="198"/>
                    </a:lnTo>
                    <a:lnTo>
                      <a:pt x="693" y="210"/>
                    </a:lnTo>
                    <a:lnTo>
                      <a:pt x="693" y="216"/>
                    </a:lnTo>
                    <a:lnTo>
                      <a:pt x="693" y="21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6863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37" name="Freeform 43"/>
              <p:cNvSpPr>
                <a:spLocks/>
              </p:cNvSpPr>
              <p:nvPr/>
            </p:nvSpPr>
            <p:spPr bwMode="hidden">
              <a:xfrm>
                <a:off x="4349" y="3510"/>
                <a:ext cx="909" cy="533"/>
              </a:xfrm>
              <a:custGeom>
                <a:avLst/>
                <a:gdLst/>
                <a:ahLst/>
                <a:cxnLst>
                  <a:cxn ang="0">
                    <a:pos x="616" y="0"/>
                  </a:cxn>
                  <a:cxn ang="0">
                    <a:pos x="616" y="18"/>
                  </a:cxn>
                  <a:cxn ang="0">
                    <a:pos x="724" y="60"/>
                  </a:cxn>
                  <a:cxn ang="0">
                    <a:pos x="765" y="84"/>
                  </a:cxn>
                  <a:cxn ang="0">
                    <a:pos x="807" y="114"/>
                  </a:cxn>
                  <a:cxn ang="0">
                    <a:pos x="837" y="144"/>
                  </a:cxn>
                  <a:cxn ang="0">
                    <a:pos x="861" y="180"/>
                  </a:cxn>
                  <a:cxn ang="0">
                    <a:pos x="873" y="216"/>
                  </a:cxn>
                  <a:cxn ang="0">
                    <a:pos x="879" y="258"/>
                  </a:cxn>
                  <a:cxn ang="0">
                    <a:pos x="873" y="311"/>
                  </a:cxn>
                  <a:cxn ang="0">
                    <a:pos x="843" y="359"/>
                  </a:cxn>
                  <a:cxn ang="0">
                    <a:pos x="807" y="401"/>
                  </a:cxn>
                  <a:cxn ang="0">
                    <a:pos x="753" y="443"/>
                  </a:cxn>
                  <a:cxn ang="0">
                    <a:pos x="694" y="473"/>
                  </a:cxn>
                  <a:cxn ang="0">
                    <a:pos x="622" y="497"/>
                  </a:cxn>
                  <a:cxn ang="0">
                    <a:pos x="538" y="509"/>
                  </a:cxn>
                  <a:cxn ang="0">
                    <a:pos x="455" y="515"/>
                  </a:cxn>
                  <a:cxn ang="0">
                    <a:pos x="371" y="509"/>
                  </a:cxn>
                  <a:cxn ang="0">
                    <a:pos x="287" y="497"/>
                  </a:cxn>
                  <a:cxn ang="0">
                    <a:pos x="215" y="473"/>
                  </a:cxn>
                  <a:cxn ang="0">
                    <a:pos x="156" y="443"/>
                  </a:cxn>
                  <a:cxn ang="0">
                    <a:pos x="102" y="401"/>
                  </a:cxn>
                  <a:cxn ang="0">
                    <a:pos x="66" y="359"/>
                  </a:cxn>
                  <a:cxn ang="0">
                    <a:pos x="36" y="311"/>
                  </a:cxn>
                  <a:cxn ang="0">
                    <a:pos x="30" y="258"/>
                  </a:cxn>
                  <a:cxn ang="0">
                    <a:pos x="36" y="222"/>
                  </a:cxn>
                  <a:cxn ang="0">
                    <a:pos x="48" y="186"/>
                  </a:cxn>
                  <a:cxn ang="0">
                    <a:pos x="66" y="156"/>
                  </a:cxn>
                  <a:cxn ang="0">
                    <a:pos x="90" y="126"/>
                  </a:cxn>
                  <a:cxn ang="0">
                    <a:pos x="66" y="114"/>
                  </a:cxn>
                  <a:cxn ang="0">
                    <a:pos x="36" y="144"/>
                  </a:cxn>
                  <a:cxn ang="0">
                    <a:pos x="18" y="180"/>
                  </a:cxn>
                  <a:cxn ang="0">
                    <a:pos x="6" y="216"/>
                  </a:cxn>
                  <a:cxn ang="0">
                    <a:pos x="0" y="258"/>
                  </a:cxn>
                  <a:cxn ang="0">
                    <a:pos x="12" y="311"/>
                  </a:cxn>
                  <a:cxn ang="0">
                    <a:pos x="36" y="365"/>
                  </a:cxn>
                  <a:cxn ang="0">
                    <a:pos x="78" y="413"/>
                  </a:cxn>
                  <a:cxn ang="0">
                    <a:pos x="132" y="449"/>
                  </a:cxn>
                  <a:cxn ang="0">
                    <a:pos x="203" y="485"/>
                  </a:cxn>
                  <a:cxn ang="0">
                    <a:pos x="275" y="509"/>
                  </a:cxn>
                  <a:cxn ang="0">
                    <a:pos x="365" y="527"/>
                  </a:cxn>
                  <a:cxn ang="0">
                    <a:pos x="455" y="533"/>
                  </a:cxn>
                  <a:cxn ang="0">
                    <a:pos x="544" y="527"/>
                  </a:cxn>
                  <a:cxn ang="0">
                    <a:pos x="634" y="509"/>
                  </a:cxn>
                  <a:cxn ang="0">
                    <a:pos x="712" y="485"/>
                  </a:cxn>
                  <a:cxn ang="0">
                    <a:pos x="777" y="449"/>
                  </a:cxn>
                  <a:cxn ang="0">
                    <a:pos x="831" y="413"/>
                  </a:cxn>
                  <a:cxn ang="0">
                    <a:pos x="873" y="365"/>
                  </a:cxn>
                  <a:cxn ang="0">
                    <a:pos x="897" y="311"/>
                  </a:cxn>
                  <a:cxn ang="0">
                    <a:pos x="909" y="258"/>
                  </a:cxn>
                  <a:cxn ang="0">
                    <a:pos x="903" y="216"/>
                  </a:cxn>
                  <a:cxn ang="0">
                    <a:pos x="885" y="174"/>
                  </a:cxn>
                  <a:cxn ang="0">
                    <a:pos x="861" y="132"/>
                  </a:cxn>
                  <a:cxn ang="0">
                    <a:pos x="825" y="102"/>
                  </a:cxn>
                  <a:cxn ang="0">
                    <a:pos x="783" y="66"/>
                  </a:cxn>
                  <a:cxn ang="0">
                    <a:pos x="735" y="42"/>
                  </a:cxn>
                  <a:cxn ang="0">
                    <a:pos x="616" y="0"/>
                  </a:cxn>
                  <a:cxn ang="0">
                    <a:pos x="616" y="0"/>
                  </a:cxn>
                </a:cxnLst>
                <a:rect l="0" t="0" r="r" b="b"/>
                <a:pathLst>
                  <a:path w="909" h="533">
                    <a:moveTo>
                      <a:pt x="616" y="0"/>
                    </a:moveTo>
                    <a:lnTo>
                      <a:pt x="616" y="18"/>
                    </a:lnTo>
                    <a:lnTo>
                      <a:pt x="724" y="60"/>
                    </a:lnTo>
                    <a:lnTo>
                      <a:pt x="765" y="84"/>
                    </a:lnTo>
                    <a:lnTo>
                      <a:pt x="807" y="114"/>
                    </a:lnTo>
                    <a:lnTo>
                      <a:pt x="837" y="144"/>
                    </a:lnTo>
                    <a:lnTo>
                      <a:pt x="861" y="180"/>
                    </a:lnTo>
                    <a:lnTo>
                      <a:pt x="873" y="216"/>
                    </a:lnTo>
                    <a:lnTo>
                      <a:pt x="879" y="258"/>
                    </a:lnTo>
                    <a:lnTo>
                      <a:pt x="873" y="311"/>
                    </a:lnTo>
                    <a:lnTo>
                      <a:pt x="843" y="359"/>
                    </a:lnTo>
                    <a:lnTo>
                      <a:pt x="807" y="401"/>
                    </a:lnTo>
                    <a:lnTo>
                      <a:pt x="753" y="443"/>
                    </a:lnTo>
                    <a:lnTo>
                      <a:pt x="694" y="473"/>
                    </a:lnTo>
                    <a:lnTo>
                      <a:pt x="622" y="497"/>
                    </a:lnTo>
                    <a:lnTo>
                      <a:pt x="538" y="509"/>
                    </a:lnTo>
                    <a:lnTo>
                      <a:pt x="455" y="515"/>
                    </a:lnTo>
                    <a:lnTo>
                      <a:pt x="371" y="509"/>
                    </a:lnTo>
                    <a:lnTo>
                      <a:pt x="287" y="497"/>
                    </a:lnTo>
                    <a:lnTo>
                      <a:pt x="215" y="473"/>
                    </a:lnTo>
                    <a:lnTo>
                      <a:pt x="156" y="443"/>
                    </a:lnTo>
                    <a:lnTo>
                      <a:pt x="102" y="401"/>
                    </a:lnTo>
                    <a:lnTo>
                      <a:pt x="66" y="359"/>
                    </a:lnTo>
                    <a:lnTo>
                      <a:pt x="36" y="311"/>
                    </a:lnTo>
                    <a:lnTo>
                      <a:pt x="30" y="258"/>
                    </a:lnTo>
                    <a:lnTo>
                      <a:pt x="36" y="222"/>
                    </a:lnTo>
                    <a:lnTo>
                      <a:pt x="48" y="186"/>
                    </a:lnTo>
                    <a:lnTo>
                      <a:pt x="66" y="156"/>
                    </a:lnTo>
                    <a:lnTo>
                      <a:pt x="90" y="126"/>
                    </a:lnTo>
                    <a:lnTo>
                      <a:pt x="66" y="114"/>
                    </a:lnTo>
                    <a:lnTo>
                      <a:pt x="36" y="144"/>
                    </a:lnTo>
                    <a:lnTo>
                      <a:pt x="18" y="180"/>
                    </a:lnTo>
                    <a:lnTo>
                      <a:pt x="6" y="216"/>
                    </a:lnTo>
                    <a:lnTo>
                      <a:pt x="0" y="258"/>
                    </a:lnTo>
                    <a:lnTo>
                      <a:pt x="12" y="311"/>
                    </a:lnTo>
                    <a:lnTo>
                      <a:pt x="36" y="365"/>
                    </a:lnTo>
                    <a:lnTo>
                      <a:pt x="78" y="413"/>
                    </a:lnTo>
                    <a:lnTo>
                      <a:pt x="132" y="449"/>
                    </a:lnTo>
                    <a:lnTo>
                      <a:pt x="203" y="485"/>
                    </a:lnTo>
                    <a:lnTo>
                      <a:pt x="275" y="509"/>
                    </a:lnTo>
                    <a:lnTo>
                      <a:pt x="365" y="527"/>
                    </a:lnTo>
                    <a:lnTo>
                      <a:pt x="455" y="533"/>
                    </a:lnTo>
                    <a:lnTo>
                      <a:pt x="544" y="527"/>
                    </a:lnTo>
                    <a:lnTo>
                      <a:pt x="634" y="509"/>
                    </a:lnTo>
                    <a:lnTo>
                      <a:pt x="712" y="485"/>
                    </a:lnTo>
                    <a:lnTo>
                      <a:pt x="777" y="449"/>
                    </a:lnTo>
                    <a:lnTo>
                      <a:pt x="831" y="413"/>
                    </a:lnTo>
                    <a:lnTo>
                      <a:pt x="873" y="365"/>
                    </a:lnTo>
                    <a:lnTo>
                      <a:pt x="897" y="311"/>
                    </a:lnTo>
                    <a:lnTo>
                      <a:pt x="909" y="258"/>
                    </a:lnTo>
                    <a:lnTo>
                      <a:pt x="903" y="216"/>
                    </a:lnTo>
                    <a:lnTo>
                      <a:pt x="885" y="174"/>
                    </a:lnTo>
                    <a:lnTo>
                      <a:pt x="861" y="132"/>
                    </a:lnTo>
                    <a:lnTo>
                      <a:pt x="825" y="102"/>
                    </a:lnTo>
                    <a:lnTo>
                      <a:pt x="783" y="66"/>
                    </a:lnTo>
                    <a:lnTo>
                      <a:pt x="735" y="42"/>
                    </a:lnTo>
                    <a:lnTo>
                      <a:pt x="616" y="0"/>
                    </a:lnTo>
                    <a:lnTo>
                      <a:pt x="616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tint val="96863"/>
                      <a:invGamma/>
                    </a:schemeClr>
                  </a:gs>
                  <a:gs pos="100000">
                    <a:schemeClr val="accent1"/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38" name="Freeform 44"/>
              <p:cNvSpPr>
                <a:spLocks/>
              </p:cNvSpPr>
              <p:nvPr/>
            </p:nvSpPr>
            <p:spPr bwMode="hidden">
              <a:xfrm>
                <a:off x="4564" y="3492"/>
                <a:ext cx="365" cy="66"/>
              </a:xfrm>
              <a:custGeom>
                <a:avLst/>
                <a:gdLst/>
                <a:ahLst/>
                <a:cxnLst>
                  <a:cxn ang="0">
                    <a:pos x="240" y="18"/>
                  </a:cxn>
                  <a:cxn ang="0">
                    <a:pos x="299" y="24"/>
                  </a:cxn>
                  <a:cxn ang="0">
                    <a:pos x="359" y="30"/>
                  </a:cxn>
                  <a:cxn ang="0">
                    <a:pos x="365" y="12"/>
                  </a:cxn>
                  <a:cxn ang="0">
                    <a:pos x="305" y="6"/>
                  </a:cxn>
                  <a:cxn ang="0">
                    <a:pos x="240" y="0"/>
                  </a:cxn>
                  <a:cxn ang="0">
                    <a:pos x="174" y="6"/>
                  </a:cxn>
                  <a:cxn ang="0">
                    <a:pos x="114" y="12"/>
                  </a:cxn>
                  <a:cxn ang="0">
                    <a:pos x="0" y="42"/>
                  </a:cxn>
                  <a:cxn ang="0">
                    <a:pos x="0" y="66"/>
                  </a:cxn>
                  <a:cxn ang="0">
                    <a:pos x="54" y="48"/>
                  </a:cxn>
                  <a:cxn ang="0">
                    <a:pos x="114" y="30"/>
                  </a:cxn>
                  <a:cxn ang="0">
                    <a:pos x="174" y="24"/>
                  </a:cxn>
                  <a:cxn ang="0">
                    <a:pos x="240" y="18"/>
                  </a:cxn>
                  <a:cxn ang="0">
                    <a:pos x="240" y="18"/>
                  </a:cxn>
                </a:cxnLst>
                <a:rect l="0" t="0" r="r" b="b"/>
                <a:pathLst>
                  <a:path w="365" h="66">
                    <a:moveTo>
                      <a:pt x="240" y="18"/>
                    </a:moveTo>
                    <a:lnTo>
                      <a:pt x="299" y="24"/>
                    </a:lnTo>
                    <a:lnTo>
                      <a:pt x="359" y="30"/>
                    </a:lnTo>
                    <a:lnTo>
                      <a:pt x="365" y="12"/>
                    </a:lnTo>
                    <a:lnTo>
                      <a:pt x="305" y="6"/>
                    </a:lnTo>
                    <a:lnTo>
                      <a:pt x="240" y="0"/>
                    </a:lnTo>
                    <a:lnTo>
                      <a:pt x="174" y="6"/>
                    </a:lnTo>
                    <a:lnTo>
                      <a:pt x="114" y="12"/>
                    </a:lnTo>
                    <a:lnTo>
                      <a:pt x="0" y="42"/>
                    </a:lnTo>
                    <a:lnTo>
                      <a:pt x="0" y="66"/>
                    </a:lnTo>
                    <a:lnTo>
                      <a:pt x="54" y="48"/>
                    </a:lnTo>
                    <a:lnTo>
                      <a:pt x="114" y="30"/>
                    </a:lnTo>
                    <a:lnTo>
                      <a:pt x="174" y="24"/>
                    </a:lnTo>
                    <a:lnTo>
                      <a:pt x="240" y="18"/>
                    </a:lnTo>
                    <a:lnTo>
                      <a:pt x="240" y="1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tint val="96863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39" name="Freeform 45"/>
              <p:cNvSpPr>
                <a:spLocks/>
              </p:cNvSpPr>
              <p:nvPr/>
            </p:nvSpPr>
            <p:spPr bwMode="hidden">
              <a:xfrm>
                <a:off x="4463" y="3558"/>
                <a:ext cx="66" cy="48"/>
              </a:xfrm>
              <a:custGeom>
                <a:avLst/>
                <a:gdLst/>
                <a:ahLst/>
                <a:cxnLst>
                  <a:cxn ang="0">
                    <a:pos x="66" y="18"/>
                  </a:cxn>
                  <a:cxn ang="0">
                    <a:pos x="48" y="0"/>
                  </a:cxn>
                  <a:cxn ang="0">
                    <a:pos x="24" y="12"/>
                  </a:cxn>
                  <a:cxn ang="0">
                    <a:pos x="0" y="30"/>
                  </a:cxn>
                  <a:cxn ang="0">
                    <a:pos x="12" y="48"/>
                  </a:cxn>
                  <a:cxn ang="0">
                    <a:pos x="42" y="30"/>
                  </a:cxn>
                  <a:cxn ang="0">
                    <a:pos x="66" y="18"/>
                  </a:cxn>
                  <a:cxn ang="0">
                    <a:pos x="66" y="18"/>
                  </a:cxn>
                </a:cxnLst>
                <a:rect l="0" t="0" r="r" b="b"/>
                <a:pathLst>
                  <a:path w="66" h="48">
                    <a:moveTo>
                      <a:pt x="66" y="18"/>
                    </a:moveTo>
                    <a:lnTo>
                      <a:pt x="48" y="0"/>
                    </a:lnTo>
                    <a:lnTo>
                      <a:pt x="24" y="12"/>
                    </a:lnTo>
                    <a:lnTo>
                      <a:pt x="0" y="30"/>
                    </a:lnTo>
                    <a:lnTo>
                      <a:pt x="12" y="48"/>
                    </a:lnTo>
                    <a:lnTo>
                      <a:pt x="42" y="30"/>
                    </a:lnTo>
                    <a:lnTo>
                      <a:pt x="66" y="18"/>
                    </a:lnTo>
                    <a:lnTo>
                      <a:pt x="66" y="1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tint val="96863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40" name="Freeform 46"/>
              <p:cNvSpPr>
                <a:spLocks/>
              </p:cNvSpPr>
              <p:nvPr/>
            </p:nvSpPr>
            <p:spPr bwMode="hidden">
              <a:xfrm>
                <a:off x="5280" y="3186"/>
                <a:ext cx="383" cy="96"/>
              </a:xfrm>
              <a:custGeom>
                <a:avLst/>
                <a:gdLst/>
                <a:ahLst/>
                <a:cxnLst>
                  <a:cxn ang="0">
                    <a:pos x="209" y="96"/>
                  </a:cxn>
                  <a:cxn ang="0">
                    <a:pos x="143" y="90"/>
                  </a:cxn>
                  <a:cxn ang="0">
                    <a:pos x="83" y="66"/>
                  </a:cxn>
                  <a:cxn ang="0">
                    <a:pos x="35" y="36"/>
                  </a:cxn>
                  <a:cxn ang="0">
                    <a:pos x="6" y="0"/>
                  </a:cxn>
                  <a:cxn ang="0">
                    <a:pos x="0" y="6"/>
                  </a:cxn>
                  <a:cxn ang="0">
                    <a:pos x="29" y="42"/>
                  </a:cxn>
                  <a:cxn ang="0">
                    <a:pos x="77" y="72"/>
                  </a:cxn>
                  <a:cxn ang="0">
                    <a:pos x="137" y="90"/>
                  </a:cxn>
                  <a:cxn ang="0">
                    <a:pos x="209" y="96"/>
                  </a:cxn>
                  <a:cxn ang="0">
                    <a:pos x="263" y="90"/>
                  </a:cxn>
                  <a:cxn ang="0">
                    <a:pos x="311" y="84"/>
                  </a:cxn>
                  <a:cxn ang="0">
                    <a:pos x="352" y="66"/>
                  </a:cxn>
                  <a:cxn ang="0">
                    <a:pos x="382" y="42"/>
                  </a:cxn>
                  <a:cxn ang="0">
                    <a:pos x="376" y="42"/>
                  </a:cxn>
                  <a:cxn ang="0">
                    <a:pos x="346" y="66"/>
                  </a:cxn>
                  <a:cxn ang="0">
                    <a:pos x="305" y="78"/>
                  </a:cxn>
                  <a:cxn ang="0">
                    <a:pos x="263" y="90"/>
                  </a:cxn>
                  <a:cxn ang="0">
                    <a:pos x="209" y="96"/>
                  </a:cxn>
                  <a:cxn ang="0">
                    <a:pos x="209" y="96"/>
                  </a:cxn>
                </a:cxnLst>
                <a:rect l="0" t="0" r="r" b="b"/>
                <a:pathLst>
                  <a:path w="382" h="96">
                    <a:moveTo>
                      <a:pt x="209" y="96"/>
                    </a:moveTo>
                    <a:lnTo>
                      <a:pt x="143" y="90"/>
                    </a:lnTo>
                    <a:lnTo>
                      <a:pt x="83" y="66"/>
                    </a:lnTo>
                    <a:lnTo>
                      <a:pt x="35" y="36"/>
                    </a:lnTo>
                    <a:lnTo>
                      <a:pt x="6" y="0"/>
                    </a:lnTo>
                    <a:lnTo>
                      <a:pt x="0" y="6"/>
                    </a:lnTo>
                    <a:lnTo>
                      <a:pt x="29" y="42"/>
                    </a:lnTo>
                    <a:lnTo>
                      <a:pt x="77" y="72"/>
                    </a:lnTo>
                    <a:lnTo>
                      <a:pt x="137" y="90"/>
                    </a:lnTo>
                    <a:lnTo>
                      <a:pt x="209" y="96"/>
                    </a:lnTo>
                    <a:lnTo>
                      <a:pt x="263" y="90"/>
                    </a:lnTo>
                    <a:lnTo>
                      <a:pt x="311" y="84"/>
                    </a:lnTo>
                    <a:lnTo>
                      <a:pt x="352" y="66"/>
                    </a:lnTo>
                    <a:lnTo>
                      <a:pt x="382" y="42"/>
                    </a:lnTo>
                    <a:lnTo>
                      <a:pt x="376" y="42"/>
                    </a:lnTo>
                    <a:lnTo>
                      <a:pt x="346" y="66"/>
                    </a:lnTo>
                    <a:lnTo>
                      <a:pt x="305" y="78"/>
                    </a:lnTo>
                    <a:lnTo>
                      <a:pt x="263" y="90"/>
                    </a:lnTo>
                    <a:lnTo>
                      <a:pt x="209" y="96"/>
                    </a:lnTo>
                    <a:lnTo>
                      <a:pt x="209" y="9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41" name="Freeform 47"/>
              <p:cNvSpPr>
                <a:spLocks/>
              </p:cNvSpPr>
              <p:nvPr/>
            </p:nvSpPr>
            <p:spPr bwMode="hidden">
              <a:xfrm>
                <a:off x="5315" y="3024"/>
                <a:ext cx="258" cy="54"/>
              </a:xfrm>
              <a:custGeom>
                <a:avLst/>
                <a:gdLst/>
                <a:ahLst/>
                <a:cxnLst>
                  <a:cxn ang="0">
                    <a:pos x="174" y="0"/>
                  </a:cxn>
                  <a:cxn ang="0">
                    <a:pos x="216" y="6"/>
                  </a:cxn>
                  <a:cxn ang="0">
                    <a:pos x="258" y="12"/>
                  </a:cxn>
                  <a:cxn ang="0">
                    <a:pos x="252" y="6"/>
                  </a:cxn>
                  <a:cxn ang="0">
                    <a:pos x="216" y="0"/>
                  </a:cxn>
                  <a:cxn ang="0">
                    <a:pos x="174" y="0"/>
                  </a:cxn>
                  <a:cxn ang="0">
                    <a:pos x="120" y="6"/>
                  </a:cxn>
                  <a:cxn ang="0">
                    <a:pos x="78" y="12"/>
                  </a:cxn>
                  <a:cxn ang="0">
                    <a:pos x="36" y="30"/>
                  </a:cxn>
                  <a:cxn ang="0">
                    <a:pos x="0" y="48"/>
                  </a:cxn>
                  <a:cxn ang="0">
                    <a:pos x="6" y="54"/>
                  </a:cxn>
                  <a:cxn ang="0">
                    <a:pos x="36" y="36"/>
                  </a:cxn>
                  <a:cxn ang="0">
                    <a:pos x="78" y="18"/>
                  </a:cxn>
                  <a:cxn ang="0">
                    <a:pos x="120" y="6"/>
                  </a:cxn>
                  <a:cxn ang="0">
                    <a:pos x="174" y="0"/>
                  </a:cxn>
                  <a:cxn ang="0">
                    <a:pos x="174" y="0"/>
                  </a:cxn>
                </a:cxnLst>
                <a:rect l="0" t="0" r="r" b="b"/>
                <a:pathLst>
                  <a:path w="258" h="54">
                    <a:moveTo>
                      <a:pt x="174" y="0"/>
                    </a:moveTo>
                    <a:lnTo>
                      <a:pt x="216" y="6"/>
                    </a:lnTo>
                    <a:lnTo>
                      <a:pt x="258" y="12"/>
                    </a:lnTo>
                    <a:lnTo>
                      <a:pt x="252" y="6"/>
                    </a:lnTo>
                    <a:lnTo>
                      <a:pt x="216" y="0"/>
                    </a:lnTo>
                    <a:lnTo>
                      <a:pt x="174" y="0"/>
                    </a:lnTo>
                    <a:lnTo>
                      <a:pt x="120" y="6"/>
                    </a:lnTo>
                    <a:lnTo>
                      <a:pt x="78" y="12"/>
                    </a:lnTo>
                    <a:lnTo>
                      <a:pt x="36" y="30"/>
                    </a:lnTo>
                    <a:lnTo>
                      <a:pt x="0" y="48"/>
                    </a:lnTo>
                    <a:lnTo>
                      <a:pt x="6" y="54"/>
                    </a:lnTo>
                    <a:lnTo>
                      <a:pt x="36" y="36"/>
                    </a:lnTo>
                    <a:lnTo>
                      <a:pt x="78" y="18"/>
                    </a:lnTo>
                    <a:lnTo>
                      <a:pt x="120" y="6"/>
                    </a:lnTo>
                    <a:lnTo>
                      <a:pt x="174" y="0"/>
                    </a:lnTo>
                    <a:lnTo>
                      <a:pt x="17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42" name="Freeform 48"/>
              <p:cNvSpPr>
                <a:spLocks/>
              </p:cNvSpPr>
              <p:nvPr/>
            </p:nvSpPr>
            <p:spPr bwMode="hidden">
              <a:xfrm>
                <a:off x="5645" y="3066"/>
                <a:ext cx="60" cy="156"/>
              </a:xfrm>
              <a:custGeom>
                <a:avLst/>
                <a:gdLst/>
                <a:ahLst/>
                <a:cxnLst>
                  <a:cxn ang="0">
                    <a:pos x="54" y="90"/>
                  </a:cxn>
                  <a:cxn ang="0">
                    <a:pos x="48" y="126"/>
                  </a:cxn>
                  <a:cxn ang="0">
                    <a:pos x="24" y="156"/>
                  </a:cxn>
                  <a:cxn ang="0">
                    <a:pos x="30" y="156"/>
                  </a:cxn>
                  <a:cxn ang="0">
                    <a:pos x="54" y="126"/>
                  </a:cxn>
                  <a:cxn ang="0">
                    <a:pos x="60" y="90"/>
                  </a:cxn>
                  <a:cxn ang="0">
                    <a:pos x="54" y="66"/>
                  </a:cxn>
                  <a:cxn ang="0">
                    <a:pos x="48" y="42"/>
                  </a:cxn>
                  <a:cxn ang="0">
                    <a:pos x="30" y="18"/>
                  </a:cxn>
                  <a:cxn ang="0">
                    <a:pos x="6" y="0"/>
                  </a:cxn>
                  <a:cxn ang="0">
                    <a:pos x="0" y="6"/>
                  </a:cxn>
                  <a:cxn ang="0">
                    <a:pos x="24" y="24"/>
                  </a:cxn>
                  <a:cxn ang="0">
                    <a:pos x="42" y="42"/>
                  </a:cxn>
                  <a:cxn ang="0">
                    <a:pos x="48" y="66"/>
                  </a:cxn>
                  <a:cxn ang="0">
                    <a:pos x="54" y="90"/>
                  </a:cxn>
                  <a:cxn ang="0">
                    <a:pos x="54" y="90"/>
                  </a:cxn>
                </a:cxnLst>
                <a:rect l="0" t="0" r="r" b="b"/>
                <a:pathLst>
                  <a:path w="60" h="156">
                    <a:moveTo>
                      <a:pt x="54" y="90"/>
                    </a:moveTo>
                    <a:lnTo>
                      <a:pt x="48" y="126"/>
                    </a:lnTo>
                    <a:lnTo>
                      <a:pt x="24" y="156"/>
                    </a:lnTo>
                    <a:lnTo>
                      <a:pt x="30" y="156"/>
                    </a:lnTo>
                    <a:lnTo>
                      <a:pt x="54" y="126"/>
                    </a:lnTo>
                    <a:lnTo>
                      <a:pt x="60" y="90"/>
                    </a:lnTo>
                    <a:lnTo>
                      <a:pt x="54" y="66"/>
                    </a:lnTo>
                    <a:lnTo>
                      <a:pt x="48" y="42"/>
                    </a:lnTo>
                    <a:lnTo>
                      <a:pt x="30" y="18"/>
                    </a:lnTo>
                    <a:lnTo>
                      <a:pt x="6" y="0"/>
                    </a:lnTo>
                    <a:lnTo>
                      <a:pt x="0" y="6"/>
                    </a:lnTo>
                    <a:lnTo>
                      <a:pt x="24" y="24"/>
                    </a:lnTo>
                    <a:lnTo>
                      <a:pt x="42" y="42"/>
                    </a:lnTo>
                    <a:lnTo>
                      <a:pt x="48" y="66"/>
                    </a:lnTo>
                    <a:lnTo>
                      <a:pt x="54" y="90"/>
                    </a:lnTo>
                    <a:lnTo>
                      <a:pt x="54" y="9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43" name="Freeform 49"/>
              <p:cNvSpPr>
                <a:spLocks/>
              </p:cNvSpPr>
              <p:nvPr/>
            </p:nvSpPr>
            <p:spPr bwMode="hidden">
              <a:xfrm>
                <a:off x="5375" y="3246"/>
                <a:ext cx="192" cy="18"/>
              </a:xfrm>
              <a:custGeom>
                <a:avLst/>
                <a:gdLst/>
                <a:ahLst/>
                <a:cxnLst>
                  <a:cxn ang="0">
                    <a:pos x="114" y="12"/>
                  </a:cxn>
                  <a:cxn ang="0">
                    <a:pos x="72" y="6"/>
                  </a:cxn>
                  <a:cxn ang="0">
                    <a:pos x="30" y="0"/>
                  </a:cxn>
                  <a:cxn ang="0">
                    <a:pos x="0" y="0"/>
                  </a:cxn>
                  <a:cxn ang="0">
                    <a:pos x="54" y="12"/>
                  </a:cxn>
                  <a:cxn ang="0">
                    <a:pos x="114" y="18"/>
                  </a:cxn>
                  <a:cxn ang="0">
                    <a:pos x="156" y="18"/>
                  </a:cxn>
                  <a:cxn ang="0">
                    <a:pos x="192" y="12"/>
                  </a:cxn>
                  <a:cxn ang="0">
                    <a:pos x="186" y="0"/>
                  </a:cxn>
                  <a:cxn ang="0">
                    <a:pos x="150" y="6"/>
                  </a:cxn>
                  <a:cxn ang="0">
                    <a:pos x="114" y="12"/>
                  </a:cxn>
                  <a:cxn ang="0">
                    <a:pos x="114" y="12"/>
                  </a:cxn>
                </a:cxnLst>
                <a:rect l="0" t="0" r="r" b="b"/>
                <a:pathLst>
                  <a:path w="192" h="18">
                    <a:moveTo>
                      <a:pt x="114" y="12"/>
                    </a:moveTo>
                    <a:lnTo>
                      <a:pt x="72" y="6"/>
                    </a:lnTo>
                    <a:lnTo>
                      <a:pt x="30" y="0"/>
                    </a:lnTo>
                    <a:lnTo>
                      <a:pt x="0" y="0"/>
                    </a:lnTo>
                    <a:lnTo>
                      <a:pt x="54" y="12"/>
                    </a:lnTo>
                    <a:lnTo>
                      <a:pt x="114" y="18"/>
                    </a:lnTo>
                    <a:lnTo>
                      <a:pt x="156" y="18"/>
                    </a:lnTo>
                    <a:lnTo>
                      <a:pt x="192" y="12"/>
                    </a:lnTo>
                    <a:lnTo>
                      <a:pt x="186" y="0"/>
                    </a:lnTo>
                    <a:lnTo>
                      <a:pt x="150" y="6"/>
                    </a:lnTo>
                    <a:lnTo>
                      <a:pt x="114" y="12"/>
                    </a:lnTo>
                    <a:lnTo>
                      <a:pt x="114" y="1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44" name="Freeform 50"/>
              <p:cNvSpPr>
                <a:spLocks/>
              </p:cNvSpPr>
              <p:nvPr/>
            </p:nvSpPr>
            <p:spPr bwMode="hidden">
              <a:xfrm>
                <a:off x="5304" y="3042"/>
                <a:ext cx="161" cy="186"/>
              </a:xfrm>
              <a:custGeom>
                <a:avLst/>
                <a:gdLst/>
                <a:ahLst/>
                <a:cxnLst>
                  <a:cxn ang="0">
                    <a:pos x="11" y="114"/>
                  </a:cxn>
                  <a:cxn ang="0">
                    <a:pos x="17" y="96"/>
                  </a:cxn>
                  <a:cxn ang="0">
                    <a:pos x="23" y="78"/>
                  </a:cxn>
                  <a:cxn ang="0">
                    <a:pos x="53" y="42"/>
                  </a:cxn>
                  <a:cxn ang="0">
                    <a:pos x="101" y="18"/>
                  </a:cxn>
                  <a:cxn ang="0">
                    <a:pos x="155" y="6"/>
                  </a:cxn>
                  <a:cxn ang="0">
                    <a:pos x="161" y="0"/>
                  </a:cxn>
                  <a:cxn ang="0">
                    <a:pos x="95" y="12"/>
                  </a:cxn>
                  <a:cxn ang="0">
                    <a:pos x="47" y="36"/>
                  </a:cxn>
                  <a:cxn ang="0">
                    <a:pos x="11" y="72"/>
                  </a:cxn>
                  <a:cxn ang="0">
                    <a:pos x="5" y="90"/>
                  </a:cxn>
                  <a:cxn ang="0">
                    <a:pos x="0" y="114"/>
                  </a:cxn>
                  <a:cxn ang="0">
                    <a:pos x="11" y="150"/>
                  </a:cxn>
                  <a:cxn ang="0">
                    <a:pos x="23" y="168"/>
                  </a:cxn>
                  <a:cxn ang="0">
                    <a:pos x="41" y="186"/>
                  </a:cxn>
                  <a:cxn ang="0">
                    <a:pos x="65" y="186"/>
                  </a:cxn>
                  <a:cxn ang="0">
                    <a:pos x="41" y="168"/>
                  </a:cxn>
                  <a:cxn ang="0">
                    <a:pos x="23" y="150"/>
                  </a:cxn>
                  <a:cxn ang="0">
                    <a:pos x="17" y="132"/>
                  </a:cxn>
                  <a:cxn ang="0">
                    <a:pos x="11" y="114"/>
                  </a:cxn>
                  <a:cxn ang="0">
                    <a:pos x="11" y="114"/>
                  </a:cxn>
                </a:cxnLst>
                <a:rect l="0" t="0" r="r" b="b"/>
                <a:pathLst>
                  <a:path w="161" h="186">
                    <a:moveTo>
                      <a:pt x="11" y="114"/>
                    </a:moveTo>
                    <a:lnTo>
                      <a:pt x="17" y="96"/>
                    </a:lnTo>
                    <a:lnTo>
                      <a:pt x="23" y="78"/>
                    </a:lnTo>
                    <a:lnTo>
                      <a:pt x="53" y="42"/>
                    </a:lnTo>
                    <a:lnTo>
                      <a:pt x="101" y="18"/>
                    </a:lnTo>
                    <a:lnTo>
                      <a:pt x="155" y="6"/>
                    </a:lnTo>
                    <a:lnTo>
                      <a:pt x="161" y="0"/>
                    </a:lnTo>
                    <a:lnTo>
                      <a:pt x="95" y="12"/>
                    </a:lnTo>
                    <a:lnTo>
                      <a:pt x="47" y="36"/>
                    </a:lnTo>
                    <a:lnTo>
                      <a:pt x="11" y="72"/>
                    </a:lnTo>
                    <a:lnTo>
                      <a:pt x="5" y="90"/>
                    </a:lnTo>
                    <a:lnTo>
                      <a:pt x="0" y="114"/>
                    </a:lnTo>
                    <a:lnTo>
                      <a:pt x="11" y="150"/>
                    </a:lnTo>
                    <a:lnTo>
                      <a:pt x="23" y="168"/>
                    </a:lnTo>
                    <a:lnTo>
                      <a:pt x="41" y="186"/>
                    </a:lnTo>
                    <a:lnTo>
                      <a:pt x="65" y="186"/>
                    </a:lnTo>
                    <a:lnTo>
                      <a:pt x="41" y="168"/>
                    </a:lnTo>
                    <a:lnTo>
                      <a:pt x="23" y="150"/>
                    </a:lnTo>
                    <a:lnTo>
                      <a:pt x="17" y="132"/>
                    </a:lnTo>
                    <a:lnTo>
                      <a:pt x="11" y="114"/>
                    </a:lnTo>
                    <a:lnTo>
                      <a:pt x="11" y="1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45" name="Freeform 51"/>
              <p:cNvSpPr>
                <a:spLocks/>
              </p:cNvSpPr>
              <p:nvPr/>
            </p:nvSpPr>
            <p:spPr bwMode="hidden">
              <a:xfrm>
                <a:off x="5489" y="3042"/>
                <a:ext cx="186" cy="210"/>
              </a:xfrm>
              <a:custGeom>
                <a:avLst/>
                <a:gdLst/>
                <a:ahLst/>
                <a:cxnLst>
                  <a:cxn ang="0">
                    <a:pos x="0" y="6"/>
                  </a:cxn>
                  <a:cxn ang="0">
                    <a:pos x="66" y="12"/>
                  </a:cxn>
                  <a:cxn ang="0">
                    <a:pos x="119" y="36"/>
                  </a:cxn>
                  <a:cxn ang="0">
                    <a:pos x="155" y="72"/>
                  </a:cxn>
                  <a:cxn ang="0">
                    <a:pos x="161" y="90"/>
                  </a:cxn>
                  <a:cxn ang="0">
                    <a:pos x="167" y="114"/>
                  </a:cxn>
                  <a:cxn ang="0">
                    <a:pos x="161" y="138"/>
                  </a:cxn>
                  <a:cxn ang="0">
                    <a:pos x="149" y="162"/>
                  </a:cxn>
                  <a:cxn ang="0">
                    <a:pos x="119" y="180"/>
                  </a:cxn>
                  <a:cxn ang="0">
                    <a:pos x="90" y="198"/>
                  </a:cxn>
                  <a:cxn ang="0">
                    <a:pos x="96" y="210"/>
                  </a:cxn>
                  <a:cxn ang="0">
                    <a:pos x="131" y="192"/>
                  </a:cxn>
                  <a:cxn ang="0">
                    <a:pos x="161" y="168"/>
                  </a:cxn>
                  <a:cxn ang="0">
                    <a:pos x="179" y="144"/>
                  </a:cxn>
                  <a:cxn ang="0">
                    <a:pos x="185" y="114"/>
                  </a:cxn>
                  <a:cxn ang="0">
                    <a:pos x="179" y="90"/>
                  </a:cxn>
                  <a:cxn ang="0">
                    <a:pos x="173" y="66"/>
                  </a:cxn>
                  <a:cxn ang="0">
                    <a:pos x="155" y="48"/>
                  </a:cxn>
                  <a:cxn ang="0">
                    <a:pos x="131" y="30"/>
                  </a:cxn>
                  <a:cxn ang="0">
                    <a:pos x="72" y="6"/>
                  </a:cxn>
                  <a:cxn ang="0">
                    <a:pos x="0" y="0"/>
                  </a:cxn>
                  <a:cxn ang="0">
                    <a:pos x="0" y="6"/>
                  </a:cxn>
                  <a:cxn ang="0">
                    <a:pos x="0" y="6"/>
                  </a:cxn>
                  <a:cxn ang="0">
                    <a:pos x="0" y="6"/>
                  </a:cxn>
                </a:cxnLst>
                <a:rect l="0" t="0" r="r" b="b"/>
                <a:pathLst>
                  <a:path w="185" h="210">
                    <a:moveTo>
                      <a:pt x="0" y="6"/>
                    </a:moveTo>
                    <a:lnTo>
                      <a:pt x="66" y="12"/>
                    </a:lnTo>
                    <a:lnTo>
                      <a:pt x="119" y="36"/>
                    </a:lnTo>
                    <a:lnTo>
                      <a:pt x="155" y="72"/>
                    </a:lnTo>
                    <a:lnTo>
                      <a:pt x="161" y="90"/>
                    </a:lnTo>
                    <a:lnTo>
                      <a:pt x="167" y="114"/>
                    </a:lnTo>
                    <a:lnTo>
                      <a:pt x="161" y="138"/>
                    </a:lnTo>
                    <a:lnTo>
                      <a:pt x="149" y="162"/>
                    </a:lnTo>
                    <a:lnTo>
                      <a:pt x="119" y="180"/>
                    </a:lnTo>
                    <a:lnTo>
                      <a:pt x="90" y="198"/>
                    </a:lnTo>
                    <a:lnTo>
                      <a:pt x="96" y="210"/>
                    </a:lnTo>
                    <a:lnTo>
                      <a:pt x="131" y="192"/>
                    </a:lnTo>
                    <a:lnTo>
                      <a:pt x="161" y="168"/>
                    </a:lnTo>
                    <a:lnTo>
                      <a:pt x="179" y="144"/>
                    </a:lnTo>
                    <a:lnTo>
                      <a:pt x="185" y="114"/>
                    </a:lnTo>
                    <a:lnTo>
                      <a:pt x="179" y="90"/>
                    </a:lnTo>
                    <a:lnTo>
                      <a:pt x="173" y="66"/>
                    </a:lnTo>
                    <a:lnTo>
                      <a:pt x="155" y="48"/>
                    </a:lnTo>
                    <a:lnTo>
                      <a:pt x="131" y="30"/>
                    </a:lnTo>
                    <a:lnTo>
                      <a:pt x="72" y="6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0" y="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46" name="Freeform 52"/>
              <p:cNvSpPr>
                <a:spLocks noEditPoints="1"/>
              </p:cNvSpPr>
              <p:nvPr/>
            </p:nvSpPr>
            <p:spPr bwMode="hidden">
              <a:xfrm>
                <a:off x="5345" y="3058"/>
                <a:ext cx="299" cy="186"/>
              </a:xfrm>
              <a:custGeom>
                <a:avLst/>
                <a:gdLst/>
                <a:ahLst/>
                <a:cxnLst>
                  <a:cxn ang="0">
                    <a:pos x="150" y="0"/>
                  </a:cxn>
                  <a:cxn ang="0">
                    <a:pos x="90" y="6"/>
                  </a:cxn>
                  <a:cxn ang="0">
                    <a:pos x="42" y="30"/>
                  </a:cxn>
                  <a:cxn ang="0">
                    <a:pos x="12" y="54"/>
                  </a:cxn>
                  <a:cxn ang="0">
                    <a:pos x="6" y="72"/>
                  </a:cxn>
                  <a:cxn ang="0">
                    <a:pos x="0" y="90"/>
                  </a:cxn>
                  <a:cxn ang="0">
                    <a:pos x="6" y="108"/>
                  </a:cxn>
                  <a:cxn ang="0">
                    <a:pos x="12" y="126"/>
                  </a:cxn>
                  <a:cxn ang="0">
                    <a:pos x="42" y="156"/>
                  </a:cxn>
                  <a:cxn ang="0">
                    <a:pos x="90" y="180"/>
                  </a:cxn>
                  <a:cxn ang="0">
                    <a:pos x="150" y="186"/>
                  </a:cxn>
                  <a:cxn ang="0">
                    <a:pos x="209" y="180"/>
                  </a:cxn>
                  <a:cxn ang="0">
                    <a:pos x="257" y="156"/>
                  </a:cxn>
                  <a:cxn ang="0">
                    <a:pos x="287" y="126"/>
                  </a:cxn>
                  <a:cxn ang="0">
                    <a:pos x="299" y="108"/>
                  </a:cxn>
                  <a:cxn ang="0">
                    <a:pos x="299" y="90"/>
                  </a:cxn>
                  <a:cxn ang="0">
                    <a:pos x="299" y="72"/>
                  </a:cxn>
                  <a:cxn ang="0">
                    <a:pos x="287" y="54"/>
                  </a:cxn>
                  <a:cxn ang="0">
                    <a:pos x="257" y="30"/>
                  </a:cxn>
                  <a:cxn ang="0">
                    <a:pos x="209" y="6"/>
                  </a:cxn>
                  <a:cxn ang="0">
                    <a:pos x="150" y="0"/>
                  </a:cxn>
                  <a:cxn ang="0">
                    <a:pos x="150" y="0"/>
                  </a:cxn>
                  <a:cxn ang="0">
                    <a:pos x="150" y="180"/>
                  </a:cxn>
                  <a:cxn ang="0">
                    <a:pos x="96" y="174"/>
                  </a:cxn>
                  <a:cxn ang="0">
                    <a:pos x="48" y="156"/>
                  </a:cxn>
                  <a:cxn ang="0">
                    <a:pos x="18" y="126"/>
                  </a:cxn>
                  <a:cxn ang="0">
                    <a:pos x="12" y="108"/>
                  </a:cxn>
                  <a:cxn ang="0">
                    <a:pos x="6" y="90"/>
                  </a:cxn>
                  <a:cxn ang="0">
                    <a:pos x="12" y="72"/>
                  </a:cxn>
                  <a:cxn ang="0">
                    <a:pos x="18" y="54"/>
                  </a:cxn>
                  <a:cxn ang="0">
                    <a:pos x="48" y="30"/>
                  </a:cxn>
                  <a:cxn ang="0">
                    <a:pos x="96" y="12"/>
                  </a:cxn>
                  <a:cxn ang="0">
                    <a:pos x="150" y="6"/>
                  </a:cxn>
                  <a:cxn ang="0">
                    <a:pos x="203" y="12"/>
                  </a:cxn>
                  <a:cxn ang="0">
                    <a:pos x="251" y="30"/>
                  </a:cxn>
                  <a:cxn ang="0">
                    <a:pos x="281" y="54"/>
                  </a:cxn>
                  <a:cxn ang="0">
                    <a:pos x="293" y="72"/>
                  </a:cxn>
                  <a:cxn ang="0">
                    <a:pos x="293" y="90"/>
                  </a:cxn>
                  <a:cxn ang="0">
                    <a:pos x="293" y="108"/>
                  </a:cxn>
                  <a:cxn ang="0">
                    <a:pos x="281" y="126"/>
                  </a:cxn>
                  <a:cxn ang="0">
                    <a:pos x="251" y="156"/>
                  </a:cxn>
                  <a:cxn ang="0">
                    <a:pos x="203" y="174"/>
                  </a:cxn>
                  <a:cxn ang="0">
                    <a:pos x="150" y="180"/>
                  </a:cxn>
                  <a:cxn ang="0">
                    <a:pos x="150" y="180"/>
                  </a:cxn>
                </a:cxnLst>
                <a:rect l="0" t="0" r="r" b="b"/>
                <a:pathLst>
                  <a:path w="299" h="186">
                    <a:moveTo>
                      <a:pt x="150" y="0"/>
                    </a:moveTo>
                    <a:lnTo>
                      <a:pt x="90" y="6"/>
                    </a:lnTo>
                    <a:lnTo>
                      <a:pt x="42" y="30"/>
                    </a:lnTo>
                    <a:lnTo>
                      <a:pt x="12" y="54"/>
                    </a:lnTo>
                    <a:lnTo>
                      <a:pt x="6" y="72"/>
                    </a:lnTo>
                    <a:lnTo>
                      <a:pt x="0" y="90"/>
                    </a:lnTo>
                    <a:lnTo>
                      <a:pt x="6" y="108"/>
                    </a:lnTo>
                    <a:lnTo>
                      <a:pt x="12" y="126"/>
                    </a:lnTo>
                    <a:lnTo>
                      <a:pt x="42" y="156"/>
                    </a:lnTo>
                    <a:lnTo>
                      <a:pt x="90" y="180"/>
                    </a:lnTo>
                    <a:lnTo>
                      <a:pt x="150" y="186"/>
                    </a:lnTo>
                    <a:lnTo>
                      <a:pt x="209" y="180"/>
                    </a:lnTo>
                    <a:lnTo>
                      <a:pt x="257" y="156"/>
                    </a:lnTo>
                    <a:lnTo>
                      <a:pt x="287" y="126"/>
                    </a:lnTo>
                    <a:lnTo>
                      <a:pt x="299" y="108"/>
                    </a:lnTo>
                    <a:lnTo>
                      <a:pt x="299" y="90"/>
                    </a:lnTo>
                    <a:lnTo>
                      <a:pt x="299" y="72"/>
                    </a:lnTo>
                    <a:lnTo>
                      <a:pt x="287" y="54"/>
                    </a:lnTo>
                    <a:lnTo>
                      <a:pt x="257" y="30"/>
                    </a:lnTo>
                    <a:lnTo>
                      <a:pt x="209" y="6"/>
                    </a:lnTo>
                    <a:lnTo>
                      <a:pt x="150" y="0"/>
                    </a:lnTo>
                    <a:lnTo>
                      <a:pt x="150" y="0"/>
                    </a:lnTo>
                    <a:close/>
                    <a:moveTo>
                      <a:pt x="150" y="180"/>
                    </a:moveTo>
                    <a:lnTo>
                      <a:pt x="96" y="174"/>
                    </a:lnTo>
                    <a:lnTo>
                      <a:pt x="48" y="156"/>
                    </a:lnTo>
                    <a:lnTo>
                      <a:pt x="18" y="126"/>
                    </a:lnTo>
                    <a:lnTo>
                      <a:pt x="12" y="108"/>
                    </a:lnTo>
                    <a:lnTo>
                      <a:pt x="6" y="90"/>
                    </a:lnTo>
                    <a:lnTo>
                      <a:pt x="12" y="72"/>
                    </a:lnTo>
                    <a:lnTo>
                      <a:pt x="18" y="54"/>
                    </a:lnTo>
                    <a:lnTo>
                      <a:pt x="48" y="30"/>
                    </a:lnTo>
                    <a:lnTo>
                      <a:pt x="96" y="12"/>
                    </a:lnTo>
                    <a:lnTo>
                      <a:pt x="150" y="6"/>
                    </a:lnTo>
                    <a:lnTo>
                      <a:pt x="203" y="12"/>
                    </a:lnTo>
                    <a:lnTo>
                      <a:pt x="251" y="30"/>
                    </a:lnTo>
                    <a:lnTo>
                      <a:pt x="281" y="54"/>
                    </a:lnTo>
                    <a:lnTo>
                      <a:pt x="293" y="72"/>
                    </a:lnTo>
                    <a:lnTo>
                      <a:pt x="293" y="90"/>
                    </a:lnTo>
                    <a:lnTo>
                      <a:pt x="293" y="108"/>
                    </a:lnTo>
                    <a:lnTo>
                      <a:pt x="281" y="126"/>
                    </a:lnTo>
                    <a:lnTo>
                      <a:pt x="251" y="156"/>
                    </a:lnTo>
                    <a:lnTo>
                      <a:pt x="203" y="174"/>
                    </a:lnTo>
                    <a:lnTo>
                      <a:pt x="150" y="180"/>
                    </a:lnTo>
                    <a:lnTo>
                      <a:pt x="150" y="18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47" name="Oval 53"/>
              <p:cNvSpPr>
                <a:spLocks noChangeArrowheads="1"/>
              </p:cNvSpPr>
              <p:nvPr/>
            </p:nvSpPr>
            <p:spPr bwMode="hidden">
              <a:xfrm>
                <a:off x="3910" y="3948"/>
                <a:ext cx="84" cy="53"/>
              </a:xfrm>
              <a:prstGeom prst="ellipse">
                <a:avLst/>
              </a:prstGeom>
              <a:gradFill rotWithShape="0">
                <a:gsLst>
                  <a:gs pos="0">
                    <a:schemeClr val="accent1">
                      <a:gamma/>
                      <a:shade val="94118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grpSp>
            <p:nvGrpSpPr>
              <p:cNvPr id="48" name="Group 54"/>
              <p:cNvGrpSpPr>
                <a:grpSpLocks/>
              </p:cNvGrpSpPr>
              <p:nvPr/>
            </p:nvGrpSpPr>
            <p:grpSpPr bwMode="auto">
              <a:xfrm>
                <a:off x="4546" y="3608"/>
                <a:ext cx="518" cy="319"/>
                <a:chOff x="4546" y="3608"/>
                <a:chExt cx="518" cy="319"/>
              </a:xfrm>
            </p:grpSpPr>
            <p:sp>
              <p:nvSpPr>
                <p:cNvPr id="54" name="Oval 55"/>
                <p:cNvSpPr>
                  <a:spLocks noChangeArrowheads="1"/>
                </p:cNvSpPr>
                <p:nvPr/>
              </p:nvSpPr>
              <p:spPr bwMode="hidden">
                <a:xfrm>
                  <a:off x="4546" y="3608"/>
                  <a:ext cx="518" cy="319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94118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55" name="Oval 56"/>
                <p:cNvSpPr>
                  <a:spLocks noChangeArrowheads="1"/>
                </p:cNvSpPr>
                <p:nvPr/>
              </p:nvSpPr>
              <p:spPr bwMode="hidden">
                <a:xfrm>
                  <a:off x="4578" y="3630"/>
                  <a:ext cx="446" cy="271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tint val="96863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56" name="Oval 57"/>
                <p:cNvSpPr>
                  <a:spLocks noChangeArrowheads="1"/>
                </p:cNvSpPr>
                <p:nvPr/>
              </p:nvSpPr>
              <p:spPr bwMode="hidden">
                <a:xfrm>
                  <a:off x="4610" y="3650"/>
                  <a:ext cx="386" cy="233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94118"/>
                        <a:invGamma/>
                      </a:schemeClr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57" name="Oval 58"/>
                <p:cNvSpPr>
                  <a:spLocks noChangeArrowheads="1"/>
                </p:cNvSpPr>
                <p:nvPr/>
              </p:nvSpPr>
              <p:spPr bwMode="hidden">
                <a:xfrm>
                  <a:off x="4654" y="3678"/>
                  <a:ext cx="298" cy="177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94118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58" name="Oval 59"/>
                <p:cNvSpPr>
                  <a:spLocks noChangeArrowheads="1"/>
                </p:cNvSpPr>
                <p:nvPr/>
              </p:nvSpPr>
              <p:spPr bwMode="hidden">
                <a:xfrm>
                  <a:off x="4690" y="3698"/>
                  <a:ext cx="222" cy="139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94118"/>
                        <a:invGamma/>
                      </a:schemeClr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59" name="Oval 60"/>
                <p:cNvSpPr>
                  <a:spLocks noChangeArrowheads="1"/>
                </p:cNvSpPr>
                <p:nvPr/>
              </p:nvSpPr>
              <p:spPr bwMode="hidden">
                <a:xfrm>
                  <a:off x="4738" y="3728"/>
                  <a:ext cx="126" cy="81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96863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</p:grpSp>
          <p:grpSp>
            <p:nvGrpSpPr>
              <p:cNvPr id="49" name="Group 61"/>
              <p:cNvGrpSpPr>
                <a:grpSpLocks/>
              </p:cNvGrpSpPr>
              <p:nvPr/>
            </p:nvGrpSpPr>
            <p:grpSpPr bwMode="auto">
              <a:xfrm>
                <a:off x="5381" y="3085"/>
                <a:ext cx="227" cy="132"/>
                <a:chOff x="5381" y="3085"/>
                <a:chExt cx="227" cy="132"/>
              </a:xfrm>
            </p:grpSpPr>
            <p:sp>
              <p:nvSpPr>
                <p:cNvPr id="50" name="Oval 62"/>
                <p:cNvSpPr>
                  <a:spLocks noChangeArrowheads="1"/>
                </p:cNvSpPr>
                <p:nvPr/>
              </p:nvSpPr>
              <p:spPr bwMode="hidden">
                <a:xfrm>
                  <a:off x="5381" y="3085"/>
                  <a:ext cx="227" cy="13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bg1"/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51" name="Oval 63"/>
                <p:cNvSpPr>
                  <a:spLocks noChangeArrowheads="1"/>
                </p:cNvSpPr>
                <p:nvPr/>
              </p:nvSpPr>
              <p:spPr bwMode="hidden">
                <a:xfrm>
                  <a:off x="5403" y="3099"/>
                  <a:ext cx="182" cy="10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52" name="Oval 64"/>
                <p:cNvSpPr>
                  <a:spLocks noChangeArrowheads="1"/>
                </p:cNvSpPr>
                <p:nvPr/>
              </p:nvSpPr>
              <p:spPr bwMode="hidden">
                <a:xfrm>
                  <a:off x="5431" y="3109"/>
                  <a:ext cx="125" cy="8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bg1"/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53" name="Oval 65"/>
                <p:cNvSpPr>
                  <a:spLocks noChangeArrowheads="1"/>
                </p:cNvSpPr>
                <p:nvPr/>
              </p:nvSpPr>
              <p:spPr bwMode="hidden">
                <a:xfrm>
                  <a:off x="5458" y="3125"/>
                  <a:ext cx="73" cy="47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</p:grpSp>
        </p:grpSp>
      </p:grpSp>
      <p:sp>
        <p:nvSpPr>
          <p:cNvPr id="90178" name="Rectangle 66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692275"/>
            <a:ext cx="7772400" cy="1736725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0179" name="Rectangle 67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8" name="Rectangle 68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9" name="Rectangle 69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 </a:t>
            </a:r>
            <a:endParaRPr lang="en-US"/>
          </a:p>
        </p:txBody>
      </p:sp>
      <p:sp>
        <p:nvSpPr>
          <p:cNvPr id="70" name="Rectangle 7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5EF581-0E8B-1644-973A-58ABAC7E08A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Rectangle 6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 </a:t>
            </a:r>
            <a:endParaRPr lang="en-US"/>
          </a:p>
        </p:txBody>
      </p:sp>
      <p:sp>
        <p:nvSpPr>
          <p:cNvPr id="6" name="Rectangle 6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BB294C-D295-9A41-A644-AA4385FA015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4" name="Rectangle 6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 </a:t>
            </a:r>
            <a:endParaRPr lang="en-US"/>
          </a:p>
        </p:txBody>
      </p:sp>
      <p:sp>
        <p:nvSpPr>
          <p:cNvPr id="6" name="Rectangle 6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0B9FC7-6686-5347-9CB0-1546F2BC5E3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6400"/>
            <a:ext cx="4038600" cy="44545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6400"/>
            <a:ext cx="4038600" cy="44545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5" name="Rectangle 6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 </a:t>
            </a:r>
            <a:endParaRPr lang="en-US"/>
          </a:p>
        </p:txBody>
      </p:sp>
      <p:sp>
        <p:nvSpPr>
          <p:cNvPr id="7" name="Rectangle 6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B5C8B5-2ACE-8D46-AC11-C6D02B882DB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7" name="Rectangle 6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 </a:t>
            </a:r>
            <a:endParaRPr lang="en-US"/>
          </a:p>
        </p:txBody>
      </p:sp>
      <p:sp>
        <p:nvSpPr>
          <p:cNvPr id="9" name="Rectangle 6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9E763C-3782-2941-8360-E3F03AEA7D0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Rectangle 6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 </a:t>
            </a:r>
            <a:endParaRPr lang="en-US"/>
          </a:p>
        </p:txBody>
      </p:sp>
      <p:sp>
        <p:nvSpPr>
          <p:cNvPr id="5" name="Rectangle 6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240AA3-233B-FB4A-9F8F-C96C5A6CF6E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6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 </a:t>
            </a:r>
            <a:endParaRPr lang="en-US"/>
          </a:p>
        </p:txBody>
      </p:sp>
      <p:sp>
        <p:nvSpPr>
          <p:cNvPr id="4" name="Rectangle 6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5D372B-D420-C54D-8767-D73AC5A101C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5" name="Rectangle 6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 </a:t>
            </a:r>
            <a:endParaRPr lang="en-US"/>
          </a:p>
        </p:txBody>
      </p:sp>
      <p:sp>
        <p:nvSpPr>
          <p:cNvPr id="7" name="Rectangle 6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9642DF-26EE-714A-A24A-028B6D17627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5" name="Rectangle 6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 </a:t>
            </a:r>
            <a:endParaRPr lang="en-US"/>
          </a:p>
        </p:txBody>
      </p:sp>
      <p:sp>
        <p:nvSpPr>
          <p:cNvPr id="7" name="Rectangle 6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07D039-DE9B-EB48-B3A9-EAE8E52898D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Rectangle 6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 </a:t>
            </a:r>
            <a:endParaRPr lang="en-US"/>
          </a:p>
        </p:txBody>
      </p:sp>
      <p:sp>
        <p:nvSpPr>
          <p:cNvPr id="6" name="Rectangle 6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E571F1-141D-9947-B89B-C71570E7C7A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Rectangle 6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 </a:t>
            </a:r>
            <a:endParaRPr lang="en-US"/>
          </a:p>
        </p:txBody>
      </p:sp>
      <p:sp>
        <p:nvSpPr>
          <p:cNvPr id="6" name="Rectangle 6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9F3187-063D-B44F-AB3F-7977ABF9E09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5"/>
          <p:cNvGrpSpPr>
            <a:grpSpLocks/>
          </p:cNvGrpSpPr>
          <p:nvPr/>
        </p:nvGrpSpPr>
        <p:grpSpPr bwMode="auto">
          <a:xfrm>
            <a:off x="0" y="0"/>
            <a:ext cx="1581150" cy="6858000"/>
            <a:chOff x="134471" y="0"/>
            <a:chExt cx="1581220" cy="6858000"/>
          </a:xfrm>
        </p:grpSpPr>
        <p:pic>
          <p:nvPicPr>
            <p:cNvPr id="5" name="Picture 7" descr="Overlay-Blank.jpg"/>
            <p:cNvPicPr>
              <a:picLocks noChangeAspect="1"/>
            </p:cNvPicPr>
            <p:nvPr userDrawn="1"/>
          </p:nvPicPr>
          <p:blipFill>
            <a:blip r:embed="rId2"/>
            <a:srcRect l="1471" r="83676"/>
            <a:stretch>
              <a:fillRect/>
            </a:stretch>
          </p:blipFill>
          <p:spPr bwMode="auto">
            <a:xfrm>
              <a:off x="134471" y="0"/>
              <a:ext cx="1358153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6" name="Picture 8" descr="Overlay-Vertic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447800" y="0"/>
              <a:ext cx="267891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7" name="Group 16"/>
          <p:cNvGrpSpPr>
            <a:grpSpLocks/>
          </p:cNvGrpSpPr>
          <p:nvPr/>
        </p:nvGrpSpPr>
        <p:grpSpPr bwMode="auto">
          <a:xfrm>
            <a:off x="7546975" y="0"/>
            <a:ext cx="1597025" cy="6858000"/>
            <a:chOff x="7413812" y="0"/>
            <a:chExt cx="1597734" cy="6858000"/>
          </a:xfrm>
        </p:grpSpPr>
        <p:pic>
          <p:nvPicPr>
            <p:cNvPr id="8" name="Picture 10" descr="Overlay-Blank.jpg"/>
            <p:cNvPicPr>
              <a:picLocks noChangeAspect="1"/>
            </p:cNvPicPr>
            <p:nvPr userDrawn="1"/>
          </p:nvPicPr>
          <p:blipFill>
            <a:blip r:embed="rId2"/>
            <a:srcRect r="85126"/>
            <a:stretch>
              <a:fillRect/>
            </a:stretch>
          </p:blipFill>
          <p:spPr bwMode="auto">
            <a:xfrm>
              <a:off x="7651376" y="0"/>
              <a:ext cx="1360170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9" name="Picture 11" descr="Overlay-Vertic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 flipH="1">
              <a:off x="7413812" y="0"/>
              <a:ext cx="267891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pic>
        <p:nvPicPr>
          <p:cNvPr id="10" name="Picture 12" descr="HR-Color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554163" y="4841875"/>
            <a:ext cx="6035675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54200" y="3693645"/>
            <a:ext cx="5446713" cy="1470025"/>
          </a:xfrm>
        </p:spPr>
        <p:txBody>
          <a:bodyPr anchor="b"/>
          <a:lstStyle>
            <a:lvl1pPr>
              <a:lnSpc>
                <a:spcPts val="6800"/>
              </a:lnSpc>
              <a:defRPr sz="6500"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54200" y="5204011"/>
            <a:ext cx="5446713" cy="851647"/>
          </a:xfrm>
        </p:spPr>
        <p:txBody>
          <a:bodyPr>
            <a:normAutofit/>
          </a:bodyPr>
          <a:lstStyle>
            <a:lvl1pPr marL="0" indent="0" algn="ctr">
              <a:spcBef>
                <a:spcPts val="300"/>
              </a:spcBef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>
          <a:xfrm>
            <a:off x="5257800" y="6356350"/>
            <a:ext cx="2133600" cy="365125"/>
          </a:xfrm>
        </p:spPr>
        <p:txBody>
          <a:bodyPr/>
          <a:lstStyle>
            <a:lvl1pPr>
              <a:defRPr smtClean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2600" y="6356350"/>
            <a:ext cx="2895600" cy="365125"/>
          </a:xfrm>
        </p:spPr>
        <p:txBody>
          <a:bodyPr/>
          <a:lstStyle>
            <a:lvl1pPr>
              <a:defRPr dirty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 </a:t>
            </a:r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6"/>
          <p:cNvGrpSpPr>
            <a:grpSpLocks/>
          </p:cNvGrpSpPr>
          <p:nvPr/>
        </p:nvGrpSpPr>
        <p:grpSpPr bwMode="auto">
          <a:xfrm>
            <a:off x="0" y="1373188"/>
            <a:ext cx="9144000" cy="5484812"/>
            <a:chOff x="0" y="1372650"/>
            <a:chExt cx="9144000" cy="5485350"/>
          </a:xfrm>
        </p:grpSpPr>
        <p:pic>
          <p:nvPicPr>
            <p:cNvPr id="5" name="Picture 7" descr="Overlay-Blank.jpg"/>
            <p:cNvPicPr>
              <a:picLocks noChangeAspect="1"/>
            </p:cNvPicPr>
            <p:nvPr userDrawn="1"/>
          </p:nvPicPr>
          <p:blipFill>
            <a:blip r:embed="rId2"/>
            <a:srcRect t="23334"/>
            <a:stretch>
              <a:fillRect/>
            </a:stretch>
          </p:blipFill>
          <p:spPr bwMode="auto">
            <a:xfrm>
              <a:off x="0" y="1600200"/>
              <a:ext cx="9144000" cy="5257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6" name="Picture 8" descr="Overlay-Horizont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0" y="1372650"/>
              <a:ext cx="9144000" cy="2678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 </a:t>
            </a: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E293-5757-B443-AD77-BD23F0D77BC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preserve="1">
  <p:cSld name="Title Slide with Pictur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15"/>
          <p:cNvGrpSpPr>
            <a:grpSpLocks/>
          </p:cNvGrpSpPr>
          <p:nvPr/>
        </p:nvGrpSpPr>
        <p:grpSpPr bwMode="auto">
          <a:xfrm>
            <a:off x="0" y="0"/>
            <a:ext cx="1581150" cy="6858000"/>
            <a:chOff x="134471" y="0"/>
            <a:chExt cx="1581220" cy="6858000"/>
          </a:xfrm>
        </p:grpSpPr>
        <p:pic>
          <p:nvPicPr>
            <p:cNvPr id="6" name="Picture 7" descr="Overlay-Blank.jpg"/>
            <p:cNvPicPr>
              <a:picLocks noChangeAspect="1"/>
            </p:cNvPicPr>
            <p:nvPr userDrawn="1"/>
          </p:nvPicPr>
          <p:blipFill>
            <a:blip r:embed="rId2"/>
            <a:srcRect l="1471" r="83676"/>
            <a:stretch>
              <a:fillRect/>
            </a:stretch>
          </p:blipFill>
          <p:spPr bwMode="auto">
            <a:xfrm>
              <a:off x="134471" y="0"/>
              <a:ext cx="1358153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" name="Picture 8" descr="Overlay-Vertic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447800" y="0"/>
              <a:ext cx="267891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8" name="Group 16"/>
          <p:cNvGrpSpPr>
            <a:grpSpLocks/>
          </p:cNvGrpSpPr>
          <p:nvPr/>
        </p:nvGrpSpPr>
        <p:grpSpPr bwMode="auto">
          <a:xfrm>
            <a:off x="7546975" y="0"/>
            <a:ext cx="1597025" cy="6858000"/>
            <a:chOff x="7413812" y="0"/>
            <a:chExt cx="1597734" cy="6858000"/>
          </a:xfrm>
        </p:grpSpPr>
        <p:pic>
          <p:nvPicPr>
            <p:cNvPr id="9" name="Picture 10" descr="Overlay-Blank.jpg"/>
            <p:cNvPicPr>
              <a:picLocks noChangeAspect="1"/>
            </p:cNvPicPr>
            <p:nvPr userDrawn="1"/>
          </p:nvPicPr>
          <p:blipFill>
            <a:blip r:embed="rId2"/>
            <a:srcRect r="85126"/>
            <a:stretch>
              <a:fillRect/>
            </a:stretch>
          </p:blipFill>
          <p:spPr bwMode="auto">
            <a:xfrm>
              <a:off x="7651376" y="0"/>
              <a:ext cx="1360170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0" name="Picture 11" descr="Overlay-Vertic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 flipH="1">
              <a:off x="7413812" y="0"/>
              <a:ext cx="267891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pic>
        <p:nvPicPr>
          <p:cNvPr id="11" name="Picture 12" descr="HR-Color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554163" y="4841875"/>
            <a:ext cx="6035675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54200" y="3693645"/>
            <a:ext cx="5446713" cy="1470025"/>
          </a:xfrm>
        </p:spPr>
        <p:txBody>
          <a:bodyPr anchor="b"/>
          <a:lstStyle>
            <a:lvl1pPr>
              <a:lnSpc>
                <a:spcPts val="6800"/>
              </a:lnSpc>
              <a:defRPr sz="6500"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54200" y="5204011"/>
            <a:ext cx="5446713" cy="851647"/>
          </a:xfrm>
        </p:spPr>
        <p:txBody>
          <a:bodyPr>
            <a:normAutofit/>
          </a:bodyPr>
          <a:lstStyle>
            <a:lvl1pPr marL="0" indent="0" algn="ctr">
              <a:spcBef>
                <a:spcPts val="300"/>
              </a:spcBef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2"/>
          </p:nvPr>
        </p:nvSpPr>
        <p:spPr>
          <a:xfrm>
            <a:off x="3307977" y="950260"/>
            <a:ext cx="2528046" cy="2528046"/>
          </a:xfrm>
          <a:prstGeom prst="ellipse">
            <a:avLst/>
          </a:prstGeom>
          <a:solidFill>
            <a:schemeClr val="bg1">
              <a:lumMod val="85000"/>
            </a:schemeClr>
          </a:solidFill>
          <a:ln w="101600">
            <a:noFill/>
            <a:miter lim="800000"/>
          </a:ln>
          <a:effectLst>
            <a:innerShdw blurRad="762000">
              <a:schemeClr val="accent1">
                <a:alpha val="80000"/>
              </a:schemeClr>
            </a:innerShdw>
            <a:softEdge rad="317500"/>
          </a:effectLst>
        </p:spPr>
        <p:txBody>
          <a:bodyPr rtlCol="0">
            <a:normAutofit/>
          </a:bodyPr>
          <a:lstStyle>
            <a:lvl1pPr marL="0" indent="0" algn="ctr" defTabSz="914400" rtl="0" eaLnBrk="1" latinLnBrk="0" hangingPunct="1">
              <a:spcBef>
                <a:spcPts val="2400"/>
              </a:spcBef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None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 smtClean="0"/>
              <a:t>Click icon to add picture</a:t>
            </a:r>
            <a:endParaRPr noProof="0" dirty="0"/>
          </a:p>
        </p:txBody>
      </p:sp>
      <p:sp>
        <p:nvSpPr>
          <p:cNvPr id="12" name="Date Placeholder 3"/>
          <p:cNvSpPr>
            <a:spLocks noGrp="1"/>
          </p:cNvSpPr>
          <p:nvPr>
            <p:ph type="dt" sz="half" idx="13"/>
          </p:nvPr>
        </p:nvSpPr>
        <p:spPr>
          <a:xfrm>
            <a:off x="5257800" y="6356350"/>
            <a:ext cx="2133600" cy="365125"/>
          </a:xfrm>
        </p:spPr>
        <p:txBody>
          <a:bodyPr/>
          <a:lstStyle>
            <a:lvl1pPr>
              <a:defRPr dirty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" name="Footer Placeholder 4"/>
          <p:cNvSpPr>
            <a:spLocks noGrp="1"/>
          </p:cNvSpPr>
          <p:nvPr>
            <p:ph type="ftr" sz="quarter" idx="14"/>
          </p:nvPr>
        </p:nvSpPr>
        <p:spPr>
          <a:xfrm>
            <a:off x="1752600" y="6356350"/>
            <a:ext cx="2895600" cy="365125"/>
          </a:xfrm>
        </p:spPr>
        <p:txBody>
          <a:bodyPr/>
          <a:lstStyle>
            <a:lvl1pPr>
              <a:defRPr dirty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 </a:t>
            </a:r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secHead" preserve="1">
  <p:cSld name="Section Header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9"/>
          <p:cNvGrpSpPr>
            <a:grpSpLocks/>
          </p:cNvGrpSpPr>
          <p:nvPr/>
        </p:nvGrpSpPr>
        <p:grpSpPr bwMode="auto">
          <a:xfrm>
            <a:off x="0" y="0"/>
            <a:ext cx="9144000" cy="1190625"/>
            <a:chOff x="0" y="0"/>
            <a:chExt cx="9144000" cy="1191256"/>
          </a:xfrm>
        </p:grpSpPr>
        <p:pic>
          <p:nvPicPr>
            <p:cNvPr id="5" name="Picture 7" descr="Overlay-Blank.jpg"/>
            <p:cNvPicPr>
              <a:picLocks noChangeAspect="1"/>
            </p:cNvPicPr>
            <p:nvPr userDrawn="1"/>
          </p:nvPicPr>
          <p:blipFill>
            <a:blip r:embed="rId2"/>
            <a:srcRect b="85555"/>
            <a:stretch>
              <a:fillRect/>
            </a:stretch>
          </p:blipFill>
          <p:spPr bwMode="auto">
            <a:xfrm>
              <a:off x="0" y="0"/>
              <a:ext cx="9144000" cy="990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6" name="Picture 8" descr="Overlay-Horizont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 flipV="1">
              <a:off x="0" y="923365"/>
              <a:ext cx="9144000" cy="2678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7" name="Group 10"/>
          <p:cNvGrpSpPr>
            <a:grpSpLocks/>
          </p:cNvGrpSpPr>
          <p:nvPr/>
        </p:nvGrpSpPr>
        <p:grpSpPr bwMode="auto">
          <a:xfrm flipV="1">
            <a:off x="0" y="5667375"/>
            <a:ext cx="9144000" cy="1190625"/>
            <a:chOff x="0" y="0"/>
            <a:chExt cx="9144000" cy="1191256"/>
          </a:xfrm>
        </p:grpSpPr>
        <p:pic>
          <p:nvPicPr>
            <p:cNvPr id="8" name="Picture 10" descr="Overlay-Blank.jpg"/>
            <p:cNvPicPr>
              <a:picLocks noChangeAspect="1"/>
            </p:cNvPicPr>
            <p:nvPr userDrawn="1"/>
          </p:nvPicPr>
          <p:blipFill>
            <a:blip r:embed="rId2"/>
            <a:srcRect b="85555"/>
            <a:stretch>
              <a:fillRect/>
            </a:stretch>
          </p:blipFill>
          <p:spPr bwMode="auto">
            <a:xfrm>
              <a:off x="0" y="0"/>
              <a:ext cx="9144000" cy="990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9" name="Picture 11" descr="Overlay-Horizont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 flipV="1">
              <a:off x="0" y="923365"/>
              <a:ext cx="9144000" cy="2678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pic>
        <p:nvPicPr>
          <p:cNvPr id="10" name="Picture 12" descr="HR-Color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554163" y="3259138"/>
            <a:ext cx="6035675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54200" y="1851212"/>
            <a:ext cx="5446714" cy="1730375"/>
          </a:xfrm>
        </p:spPr>
        <p:txBody>
          <a:bodyPr anchor="b"/>
          <a:lstStyle>
            <a:lvl1pPr algn="ctr">
              <a:lnSpc>
                <a:spcPts val="6800"/>
              </a:lnSpc>
              <a:defRPr sz="6500" b="0" cap="none" baseline="0"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54200" y="3576918"/>
            <a:ext cx="5446714" cy="829982"/>
          </a:xfrm>
        </p:spPr>
        <p:txBody>
          <a:bodyPr>
            <a:normAutofit/>
          </a:bodyPr>
          <a:lstStyle>
            <a:lvl1pPr marL="0" indent="0" algn="ctr">
              <a:spcBef>
                <a:spcPts val="300"/>
              </a:spcBef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 </a:t>
            </a:r>
            <a:endParaRPr lang="en-US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38D00E-85F4-444E-87C2-78E53B8874D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6"/>
          <p:cNvGrpSpPr>
            <a:grpSpLocks/>
          </p:cNvGrpSpPr>
          <p:nvPr/>
        </p:nvGrpSpPr>
        <p:grpSpPr bwMode="auto">
          <a:xfrm>
            <a:off x="0" y="1373188"/>
            <a:ext cx="9144000" cy="5484812"/>
            <a:chOff x="0" y="1372650"/>
            <a:chExt cx="9144000" cy="5485350"/>
          </a:xfrm>
        </p:grpSpPr>
        <p:pic>
          <p:nvPicPr>
            <p:cNvPr id="6" name="Picture 7" descr="Overlay-Blank.jpg"/>
            <p:cNvPicPr>
              <a:picLocks noChangeAspect="1"/>
            </p:cNvPicPr>
            <p:nvPr userDrawn="1"/>
          </p:nvPicPr>
          <p:blipFill>
            <a:blip r:embed="rId2"/>
            <a:srcRect t="23334"/>
            <a:stretch>
              <a:fillRect/>
            </a:stretch>
          </p:blipFill>
          <p:spPr bwMode="auto">
            <a:xfrm>
              <a:off x="0" y="1600200"/>
              <a:ext cx="9144000" cy="5257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" name="Picture 8" descr="Overlay-Horizont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0" y="1372650"/>
              <a:ext cx="9144000" cy="2678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92162" y="1774825"/>
            <a:ext cx="3566160" cy="430371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6534" y="1774825"/>
            <a:ext cx="3566160" cy="430371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 </a:t>
            </a:r>
            <a:endParaRPr lang="en-US"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EC1D24-2EC1-FF44-89DA-12B55CC0C8D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>
            <a:grpSpLocks/>
          </p:cNvGrpSpPr>
          <p:nvPr/>
        </p:nvGrpSpPr>
        <p:grpSpPr bwMode="auto">
          <a:xfrm>
            <a:off x="0" y="1373188"/>
            <a:ext cx="9144000" cy="5484812"/>
            <a:chOff x="0" y="1372650"/>
            <a:chExt cx="9144000" cy="5485350"/>
          </a:xfrm>
        </p:grpSpPr>
        <p:pic>
          <p:nvPicPr>
            <p:cNvPr id="8" name="Picture 7" descr="Overlay-Blank.jpg"/>
            <p:cNvPicPr>
              <a:picLocks noChangeAspect="1"/>
            </p:cNvPicPr>
            <p:nvPr userDrawn="1"/>
          </p:nvPicPr>
          <p:blipFill>
            <a:blip r:embed="rId2"/>
            <a:srcRect t="23334"/>
            <a:stretch>
              <a:fillRect/>
            </a:stretch>
          </p:blipFill>
          <p:spPr bwMode="auto">
            <a:xfrm>
              <a:off x="0" y="1600200"/>
              <a:ext cx="9144000" cy="5257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9" name="Picture 8" descr="Overlay-Horizont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0" y="1372650"/>
              <a:ext cx="9144000" cy="2678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pic>
        <p:nvPicPr>
          <p:cNvPr id="10" name="Picture 9" descr="Overlay-HorizontalBridge.jpg"/>
          <p:cNvPicPr>
            <a:picLocks noChangeAspect="1"/>
          </p:cNvPicPr>
          <p:nvPr/>
        </p:nvPicPr>
        <p:blipFill>
          <a:blip r:embed="rId3"/>
          <a:srcRect t="23425" r="61031" b="39764"/>
          <a:stretch>
            <a:fillRect/>
          </a:stretch>
        </p:blipFill>
        <p:spPr>
          <a:xfrm>
            <a:off x="4765675" y="2460625"/>
            <a:ext cx="3563938" cy="9842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</p:pic>
      <p:pic>
        <p:nvPicPr>
          <p:cNvPr id="11" name="Picture 10" descr="Overlay-HorizontalBridge.jpg"/>
          <p:cNvPicPr>
            <a:picLocks noChangeAspect="1"/>
          </p:cNvPicPr>
          <p:nvPr/>
        </p:nvPicPr>
        <p:blipFill>
          <a:blip r:embed="rId3"/>
          <a:srcRect t="23425" r="61031" b="39764"/>
          <a:stretch>
            <a:fillRect/>
          </a:stretch>
        </p:blipFill>
        <p:spPr>
          <a:xfrm>
            <a:off x="779463" y="2460625"/>
            <a:ext cx="3563937" cy="9842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77240" y="1879320"/>
            <a:ext cx="3566160" cy="639762"/>
          </a:xfrm>
        </p:spPr>
        <p:txBody>
          <a:bodyPr anchor="b">
            <a:noAutofit/>
          </a:bodyPr>
          <a:lstStyle>
            <a:lvl1pPr marL="0" indent="0" algn="ctr">
              <a:spcBef>
                <a:spcPts val="0"/>
              </a:spcBef>
              <a:buNone/>
              <a:defRPr sz="2800" b="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77240" y="2590799"/>
            <a:ext cx="3566160" cy="3487739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66048" y="1879320"/>
            <a:ext cx="3566160" cy="639762"/>
          </a:xfrm>
        </p:spPr>
        <p:txBody>
          <a:bodyPr anchor="b">
            <a:noAutofit/>
          </a:bodyPr>
          <a:lstStyle>
            <a:lvl1pPr marL="0" indent="0" algn="ctr">
              <a:spcBef>
                <a:spcPts val="0"/>
              </a:spcBef>
              <a:buNone/>
              <a:defRPr sz="2800" b="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66048" y="2590799"/>
            <a:ext cx="3566160" cy="3487739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12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 </a:t>
            </a:r>
            <a:endParaRPr lang="en-US"/>
          </a:p>
        </p:txBody>
      </p:sp>
      <p:sp>
        <p:nvSpPr>
          <p:cNvPr id="14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751168-E824-D04D-83FF-C98F1CA6593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6"/>
          <p:cNvGrpSpPr>
            <a:grpSpLocks/>
          </p:cNvGrpSpPr>
          <p:nvPr/>
        </p:nvGrpSpPr>
        <p:grpSpPr bwMode="auto">
          <a:xfrm>
            <a:off x="0" y="1373188"/>
            <a:ext cx="9144000" cy="5484812"/>
            <a:chOff x="0" y="1372650"/>
            <a:chExt cx="9144000" cy="5485350"/>
          </a:xfrm>
        </p:grpSpPr>
        <p:pic>
          <p:nvPicPr>
            <p:cNvPr id="4" name="Picture 7" descr="Overlay-Blank.jpg"/>
            <p:cNvPicPr>
              <a:picLocks noChangeAspect="1"/>
            </p:cNvPicPr>
            <p:nvPr userDrawn="1"/>
          </p:nvPicPr>
          <p:blipFill>
            <a:blip r:embed="rId2"/>
            <a:srcRect t="23334"/>
            <a:stretch>
              <a:fillRect/>
            </a:stretch>
          </p:blipFill>
          <p:spPr bwMode="auto">
            <a:xfrm>
              <a:off x="0" y="1600200"/>
              <a:ext cx="9144000" cy="5257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5" name="Picture 8" descr="Overlay-Horizont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0" y="1372650"/>
              <a:ext cx="9144000" cy="2678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 </a:t>
            </a:r>
            <a:endParaRPr lang="en-US"/>
          </a:p>
        </p:txBody>
      </p:sp>
      <p:sp>
        <p:nvSpPr>
          <p:cNvPr id="8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30744C-4E5E-B44F-858E-4DFAADC1692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 descr="Overlay-Blank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 </a:t>
            </a:r>
            <a:endParaRPr lang="en-US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50C4C7-E6BB-984E-935A-7BAFFF217E5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11"/>
          <p:cNvGrpSpPr>
            <a:grpSpLocks/>
          </p:cNvGrpSpPr>
          <p:nvPr/>
        </p:nvGrpSpPr>
        <p:grpSpPr bwMode="auto">
          <a:xfrm>
            <a:off x="4267200" y="0"/>
            <a:ext cx="4876800" cy="6858000"/>
            <a:chOff x="4267200" y="0"/>
            <a:chExt cx="4876800" cy="6858000"/>
          </a:xfrm>
        </p:grpSpPr>
        <p:pic>
          <p:nvPicPr>
            <p:cNvPr id="6" name="Picture 7" descr="Overlay-Blank.jpg"/>
            <p:cNvPicPr>
              <a:picLocks noChangeAspect="1"/>
            </p:cNvPicPr>
            <p:nvPr userDrawn="1"/>
          </p:nvPicPr>
          <p:blipFill>
            <a:blip r:embed="rId2"/>
            <a:srcRect l="4301" r="46875"/>
            <a:stretch>
              <a:fillRect/>
            </a:stretch>
          </p:blipFill>
          <p:spPr bwMode="auto">
            <a:xfrm>
              <a:off x="4495800" y="0"/>
              <a:ext cx="4648200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" name="Picture 8" descr="Overlay-Vertic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 flipH="1">
              <a:off x="4267200" y="0"/>
              <a:ext cx="267891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609600"/>
            <a:ext cx="3612776" cy="1537447"/>
          </a:xfrm>
        </p:spPr>
        <p:txBody>
          <a:bodyPr anchor="b"/>
          <a:lstStyle>
            <a:lvl1pPr algn="ctr">
              <a:lnSpc>
                <a:spcPct val="100000"/>
              </a:lnSpc>
              <a:defRPr sz="3600" b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85859" y="381001"/>
            <a:ext cx="3813174" cy="5697537"/>
          </a:xfrm>
        </p:spPr>
        <p:txBody>
          <a:bodyPr>
            <a:normAutofit/>
          </a:bodyPr>
          <a:lstStyle>
            <a:lvl1pPr>
              <a:defRPr sz="2400" b="0"/>
            </a:lvl1pPr>
            <a:lvl2pPr>
              <a:defRPr sz="2200" b="0"/>
            </a:lvl2pPr>
            <a:lvl3pPr>
              <a:defRPr sz="2000" b="0"/>
            </a:lvl3pPr>
            <a:lvl4pPr>
              <a:defRPr sz="1800" b="0"/>
            </a:lvl4pPr>
            <a:lvl5pPr>
              <a:defRPr sz="1800" b="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00" y="2209801"/>
            <a:ext cx="3612776" cy="3200400"/>
          </a:xfrm>
        </p:spPr>
        <p:txBody>
          <a:bodyPr>
            <a:normAutofit/>
          </a:bodyPr>
          <a:lstStyle>
            <a:lvl1pPr marL="0" indent="0" algn="ctr">
              <a:buNone/>
              <a:defRPr sz="1800" b="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 </a:t>
            </a:r>
            <a:endParaRPr lang="en-US"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 smtClean="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</a:lstStyle>
          <a:p>
            <a:pPr>
              <a:defRPr/>
            </a:pPr>
            <a:fld id="{F471B74E-94C9-3A46-BDDD-4A5C29C0C52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 descr="Overlay-Blank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609600"/>
            <a:ext cx="3612822" cy="1536192"/>
          </a:xfrm>
        </p:spPr>
        <p:txBody>
          <a:bodyPr rtlCol="0" anchor="b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873625" y="381000"/>
            <a:ext cx="3813175" cy="5697538"/>
          </a:xfrm>
          <a:solidFill>
            <a:schemeClr val="bg1">
              <a:lumMod val="85000"/>
            </a:schemeClr>
          </a:solidFill>
          <a:ln w="101600">
            <a:solidFill>
              <a:schemeClr val="accent1">
                <a:lumMod val="40000"/>
                <a:lumOff val="60000"/>
                <a:alpha val="40000"/>
              </a:schemeClr>
            </a:solidFill>
            <a:miter lim="800000"/>
          </a:ln>
          <a:effectLst>
            <a:innerShdw blurRad="457200">
              <a:schemeClr val="accent1">
                <a:alpha val="80000"/>
              </a:schemeClr>
            </a:innerShdw>
            <a:softEdge rad="31750"/>
          </a:effectLst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 smtClean="0"/>
              <a:t>Click icon to add picture</a:t>
            </a:r>
            <a:endParaRPr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9984" y="2209799"/>
            <a:ext cx="3613792" cy="3222625"/>
          </a:xfrm>
        </p:spPr>
        <p:txBody>
          <a:bodyPr rtlCol="0">
            <a:normAutofit/>
          </a:bodyPr>
          <a:lstStyle>
            <a:lvl1pPr marL="0" indent="0" algn="ctr">
              <a:buNone/>
              <a:defRPr sz="18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 </a:t>
            </a:r>
            <a:endParaRPr lang="en-US"/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EC72D9-0234-0849-A78E-7C9F74E65B5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4267200" y="0"/>
            <a:ext cx="4876800" cy="6858000"/>
            <a:chOff x="4267200" y="0"/>
            <a:chExt cx="4876800" cy="6858000"/>
          </a:xfrm>
        </p:grpSpPr>
        <p:pic>
          <p:nvPicPr>
            <p:cNvPr id="6" name="Picture 7" descr="Overlay-Blank.jpg"/>
            <p:cNvPicPr>
              <a:picLocks noChangeAspect="1"/>
            </p:cNvPicPr>
            <p:nvPr userDrawn="1"/>
          </p:nvPicPr>
          <p:blipFill>
            <a:blip r:embed="rId2"/>
            <a:srcRect l="4301" r="46875"/>
            <a:stretch>
              <a:fillRect/>
            </a:stretch>
          </p:blipFill>
          <p:spPr bwMode="auto">
            <a:xfrm>
              <a:off x="4495800" y="0"/>
              <a:ext cx="4648200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" name="Picture 8" descr="Overlay-Vertic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 flipH="1">
              <a:off x="4267200" y="0"/>
              <a:ext cx="267891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609600"/>
            <a:ext cx="3612822" cy="1536192"/>
          </a:xfrm>
        </p:spPr>
        <p:txBody>
          <a:bodyPr rtlCol="0" anchor="b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873625" y="381000"/>
            <a:ext cx="3813175" cy="5697538"/>
          </a:xfrm>
          <a:solidFill>
            <a:schemeClr val="bg1">
              <a:lumMod val="85000"/>
            </a:schemeClr>
          </a:solidFill>
          <a:ln w="101600">
            <a:noFill/>
            <a:miter lim="800000"/>
          </a:ln>
          <a:effectLst>
            <a:innerShdw blurRad="457200">
              <a:schemeClr val="tx1">
                <a:lumMod val="50000"/>
                <a:lumOff val="50000"/>
                <a:alpha val="80000"/>
              </a:schemeClr>
            </a:innerShdw>
            <a:softEdge rad="127000"/>
          </a:effectLst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 smtClean="0"/>
              <a:t>Click icon to add picture</a:t>
            </a:r>
            <a:endParaRPr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9984" y="2209799"/>
            <a:ext cx="3613792" cy="3222625"/>
          </a:xfrm>
        </p:spPr>
        <p:txBody>
          <a:bodyPr rtlCol="0">
            <a:normAutofit/>
          </a:bodyPr>
          <a:lstStyle>
            <a:lvl1pPr marL="0" indent="0" algn="ctr">
              <a:buNone/>
              <a:defRPr sz="18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 </a:t>
            </a:r>
            <a:endParaRPr lang="en-US"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B14F31-650F-F846-B7A6-35BA09D1AFF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6"/>
          <p:cNvGrpSpPr>
            <a:grpSpLocks/>
          </p:cNvGrpSpPr>
          <p:nvPr/>
        </p:nvGrpSpPr>
        <p:grpSpPr bwMode="auto">
          <a:xfrm>
            <a:off x="0" y="1373188"/>
            <a:ext cx="9144000" cy="5484812"/>
            <a:chOff x="0" y="1372650"/>
            <a:chExt cx="9144000" cy="5485350"/>
          </a:xfrm>
        </p:grpSpPr>
        <p:pic>
          <p:nvPicPr>
            <p:cNvPr id="5" name="Picture 7" descr="Overlay-Blank.jpg"/>
            <p:cNvPicPr>
              <a:picLocks noChangeAspect="1"/>
            </p:cNvPicPr>
            <p:nvPr userDrawn="1"/>
          </p:nvPicPr>
          <p:blipFill>
            <a:blip r:embed="rId2"/>
            <a:srcRect t="23334"/>
            <a:stretch>
              <a:fillRect/>
            </a:stretch>
          </p:blipFill>
          <p:spPr bwMode="auto">
            <a:xfrm>
              <a:off x="0" y="1600200"/>
              <a:ext cx="9144000" cy="5257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6" name="Picture 8" descr="Overlay-Horizont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0" y="1372650"/>
              <a:ext cx="9144000" cy="2678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 </a:t>
            </a: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86FEB9-CF7A-B848-AF2F-BE9E1FDF15D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0"/>
          <p:cNvGrpSpPr>
            <a:grpSpLocks/>
          </p:cNvGrpSpPr>
          <p:nvPr/>
        </p:nvGrpSpPr>
        <p:grpSpPr bwMode="auto">
          <a:xfrm>
            <a:off x="0" y="0"/>
            <a:ext cx="7696200" cy="6858000"/>
            <a:chOff x="0" y="0"/>
            <a:chExt cx="7696200" cy="6858000"/>
          </a:xfrm>
        </p:grpSpPr>
        <p:pic>
          <p:nvPicPr>
            <p:cNvPr id="5" name="Picture 7" descr="Overlay-Blank.jpg"/>
            <p:cNvPicPr>
              <a:picLocks noChangeAspect="1"/>
            </p:cNvPicPr>
            <p:nvPr userDrawn="1"/>
          </p:nvPicPr>
          <p:blipFill>
            <a:blip r:embed="rId2"/>
            <a:srcRect l="1471" r="16862"/>
            <a:stretch>
              <a:fillRect/>
            </a:stretch>
          </p:blipFill>
          <p:spPr bwMode="auto">
            <a:xfrm>
              <a:off x="0" y="0"/>
              <a:ext cx="7467600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6" name="Picture 8" descr="Overlay-Vertic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7428309" y="0"/>
              <a:ext cx="267891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20000" y="381001"/>
            <a:ext cx="1447800" cy="56975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381001"/>
            <a:ext cx="6705600" cy="569753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 </a:t>
            </a: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8130B2-53C1-C742-BB72-C65A7D6485D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_rels/slideMaster2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<Relationship Id="rId14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>
            <a:grpSpLocks/>
          </p:cNvGrpSpPr>
          <p:nvPr/>
        </p:nvGrpSpPr>
        <p:grpSpPr bwMode="auto">
          <a:xfrm>
            <a:off x="3175" y="4267200"/>
            <a:ext cx="9140825" cy="2590800"/>
            <a:chOff x="2" y="2688"/>
            <a:chExt cx="5758" cy="1632"/>
          </a:xfrm>
        </p:grpSpPr>
        <p:sp>
          <p:nvSpPr>
            <p:cNvPr id="89091" name="Freeform 3"/>
            <p:cNvSpPr>
              <a:spLocks/>
            </p:cNvSpPr>
            <p:nvPr/>
          </p:nvSpPr>
          <p:spPr bwMode="hidden">
            <a:xfrm>
              <a:off x="2" y="2688"/>
              <a:ext cx="5758" cy="1632"/>
            </a:xfrm>
            <a:custGeom>
              <a:avLst/>
              <a:gdLst/>
              <a:ahLst/>
              <a:cxnLst>
                <a:cxn ang="0">
                  <a:pos x="5740" y="4316"/>
                </a:cxn>
                <a:cxn ang="0">
                  <a:pos x="0" y="4316"/>
                </a:cxn>
                <a:cxn ang="0">
                  <a:pos x="0" y="0"/>
                </a:cxn>
                <a:cxn ang="0">
                  <a:pos x="5740" y="0"/>
                </a:cxn>
                <a:cxn ang="0">
                  <a:pos x="5740" y="4316"/>
                </a:cxn>
                <a:cxn ang="0">
                  <a:pos x="5740" y="4316"/>
                </a:cxn>
              </a:cxnLst>
              <a:rect l="0" t="0" r="r" b="b"/>
              <a:pathLst>
                <a:path w="5740" h="4316">
                  <a:moveTo>
                    <a:pt x="5740" y="4316"/>
                  </a:moveTo>
                  <a:lnTo>
                    <a:pt x="0" y="4316"/>
                  </a:lnTo>
                  <a:lnTo>
                    <a:pt x="0" y="0"/>
                  </a:lnTo>
                  <a:lnTo>
                    <a:pt x="5740" y="0"/>
                  </a:lnTo>
                  <a:lnTo>
                    <a:pt x="5740" y="4316"/>
                  </a:lnTo>
                  <a:lnTo>
                    <a:pt x="5740" y="431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accent1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US" dirty="0">
                <a:latin typeface="Arial" pitchFamily="-107" charset="0"/>
              </a:endParaRPr>
            </a:p>
          </p:txBody>
        </p:sp>
        <p:grpSp>
          <p:nvGrpSpPr>
            <p:cNvPr id="1033" name="Group 4"/>
            <p:cNvGrpSpPr>
              <a:grpSpLocks/>
            </p:cNvGrpSpPr>
            <p:nvPr/>
          </p:nvGrpSpPr>
          <p:grpSpPr bwMode="auto">
            <a:xfrm>
              <a:off x="1776" y="3024"/>
              <a:ext cx="3929" cy="1290"/>
              <a:chOff x="1776" y="3024"/>
              <a:chExt cx="3929" cy="1290"/>
            </a:xfrm>
          </p:grpSpPr>
          <p:grpSp>
            <p:nvGrpSpPr>
              <p:cNvPr id="1034" name="Group 5"/>
              <p:cNvGrpSpPr>
                <a:grpSpLocks/>
              </p:cNvGrpSpPr>
              <p:nvPr userDrawn="1"/>
            </p:nvGrpSpPr>
            <p:grpSpPr bwMode="auto">
              <a:xfrm>
                <a:off x="2268" y="3934"/>
                <a:ext cx="638" cy="377"/>
                <a:chOff x="2268" y="3934"/>
                <a:chExt cx="638" cy="377"/>
              </a:xfrm>
            </p:grpSpPr>
            <p:sp>
              <p:nvSpPr>
                <p:cNvPr id="89094" name="Oval 6"/>
                <p:cNvSpPr>
                  <a:spLocks noChangeArrowheads="1"/>
                </p:cNvSpPr>
                <p:nvPr/>
              </p:nvSpPr>
              <p:spPr bwMode="hidden">
                <a:xfrm>
                  <a:off x="2268" y="3934"/>
                  <a:ext cx="638" cy="377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87843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27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89095" name="Oval 7"/>
                <p:cNvSpPr>
                  <a:spLocks noChangeArrowheads="1"/>
                </p:cNvSpPr>
                <p:nvPr/>
              </p:nvSpPr>
              <p:spPr bwMode="hidden">
                <a:xfrm>
                  <a:off x="2314" y="3958"/>
                  <a:ext cx="543" cy="33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87843"/>
                        <a:invGamma/>
                      </a:schemeClr>
                    </a:gs>
                  </a:gsLst>
                  <a:lin ang="27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89096" name="Oval 8"/>
                <p:cNvSpPr>
                  <a:spLocks noChangeArrowheads="1"/>
                </p:cNvSpPr>
                <p:nvPr/>
              </p:nvSpPr>
              <p:spPr bwMode="hidden">
                <a:xfrm>
                  <a:off x="2341" y="3979"/>
                  <a:ext cx="501" cy="299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90980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27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89097" name="Oval 9"/>
                <p:cNvSpPr>
                  <a:spLocks noChangeArrowheads="1"/>
                </p:cNvSpPr>
                <p:nvPr/>
              </p:nvSpPr>
              <p:spPr bwMode="hidden">
                <a:xfrm>
                  <a:off x="2368" y="3997"/>
                  <a:ext cx="444" cy="258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87843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89098" name="Oval 10"/>
                <p:cNvSpPr>
                  <a:spLocks noChangeArrowheads="1"/>
                </p:cNvSpPr>
                <p:nvPr/>
              </p:nvSpPr>
              <p:spPr bwMode="hidden">
                <a:xfrm>
                  <a:off x="2385" y="4005"/>
                  <a:ext cx="413" cy="240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94118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89099" name="Oval 11"/>
                <p:cNvSpPr>
                  <a:spLocks noChangeArrowheads="1"/>
                </p:cNvSpPr>
                <p:nvPr/>
              </p:nvSpPr>
              <p:spPr bwMode="hidden">
                <a:xfrm>
                  <a:off x="2437" y="4026"/>
                  <a:ext cx="306" cy="19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87843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89100" name="Oval 12"/>
                <p:cNvSpPr>
                  <a:spLocks noChangeArrowheads="1"/>
                </p:cNvSpPr>
                <p:nvPr/>
              </p:nvSpPr>
              <p:spPr bwMode="hidden">
                <a:xfrm>
                  <a:off x="2476" y="4056"/>
                  <a:ext cx="227" cy="135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90980"/>
                        <a:invGamma/>
                      </a:schemeClr>
                    </a:gs>
                  </a:gsLst>
                  <a:lin ang="27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89101" name="Oval 13"/>
                <p:cNvSpPr>
                  <a:spLocks noChangeArrowheads="1"/>
                </p:cNvSpPr>
                <p:nvPr/>
              </p:nvSpPr>
              <p:spPr bwMode="hidden">
                <a:xfrm>
                  <a:off x="2542" y="4097"/>
                  <a:ext cx="90" cy="60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90980"/>
                        <a:invGamma/>
                      </a:schemeClr>
                    </a:gs>
                  </a:gsLst>
                  <a:lin ang="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</p:grpSp>
          <p:sp>
            <p:nvSpPr>
              <p:cNvPr id="89102" name="Oval 14"/>
              <p:cNvSpPr>
                <a:spLocks noChangeArrowheads="1"/>
              </p:cNvSpPr>
              <p:nvPr/>
            </p:nvSpPr>
            <p:spPr bwMode="hidden">
              <a:xfrm>
                <a:off x="3686" y="3810"/>
                <a:ext cx="532" cy="327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0980"/>
                      <a:invGamma/>
                    </a:schemeClr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89103" name="Oval 15"/>
              <p:cNvSpPr>
                <a:spLocks noChangeArrowheads="1"/>
              </p:cNvSpPr>
              <p:nvPr/>
            </p:nvSpPr>
            <p:spPr bwMode="hidden">
              <a:xfrm>
                <a:off x="3726" y="3840"/>
                <a:ext cx="452" cy="275"/>
              </a:xfrm>
              <a:prstGeom prst="ellipse">
                <a:avLst/>
              </a:prstGeom>
              <a:gradFill rotWithShape="0">
                <a:gsLst>
                  <a:gs pos="0">
                    <a:schemeClr val="accent1">
                      <a:gamma/>
                      <a:shade val="90980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89104" name="Oval 16"/>
              <p:cNvSpPr>
                <a:spLocks noChangeArrowheads="1"/>
              </p:cNvSpPr>
              <p:nvPr/>
            </p:nvSpPr>
            <p:spPr bwMode="hidden">
              <a:xfrm>
                <a:off x="3782" y="3872"/>
                <a:ext cx="344" cy="207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89105" name="Oval 17"/>
              <p:cNvSpPr>
                <a:spLocks noChangeArrowheads="1"/>
              </p:cNvSpPr>
              <p:nvPr/>
            </p:nvSpPr>
            <p:spPr bwMode="hidden">
              <a:xfrm>
                <a:off x="3822" y="3896"/>
                <a:ext cx="262" cy="159"/>
              </a:xfrm>
              <a:prstGeom prst="ellipse">
                <a:avLst/>
              </a:prstGeom>
              <a:gradFill rotWithShape="0">
                <a:gsLst>
                  <a:gs pos="0">
                    <a:schemeClr val="accent1">
                      <a:gamma/>
                      <a:shade val="96863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89106" name="Oval 18"/>
              <p:cNvSpPr>
                <a:spLocks noChangeArrowheads="1"/>
              </p:cNvSpPr>
              <p:nvPr/>
            </p:nvSpPr>
            <p:spPr bwMode="hidden">
              <a:xfrm>
                <a:off x="3856" y="3922"/>
                <a:ext cx="192" cy="107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89107" name="Freeform 19"/>
              <p:cNvSpPr>
                <a:spLocks/>
              </p:cNvSpPr>
              <p:nvPr/>
            </p:nvSpPr>
            <p:spPr bwMode="hidden">
              <a:xfrm>
                <a:off x="3575" y="3715"/>
                <a:ext cx="383" cy="161"/>
              </a:xfrm>
              <a:custGeom>
                <a:avLst/>
                <a:gdLst/>
                <a:ahLst/>
                <a:cxnLst>
                  <a:cxn ang="0">
                    <a:pos x="376" y="12"/>
                  </a:cxn>
                  <a:cxn ang="0">
                    <a:pos x="257" y="24"/>
                  </a:cxn>
                  <a:cxn ang="0">
                    <a:pos x="149" y="54"/>
                  </a:cxn>
                  <a:cxn ang="0">
                    <a:pos x="101" y="77"/>
                  </a:cxn>
                  <a:cxn ang="0">
                    <a:pos x="59" y="101"/>
                  </a:cxn>
                  <a:cxn ang="0">
                    <a:pos x="24" y="131"/>
                  </a:cxn>
                  <a:cxn ang="0">
                    <a:pos x="0" y="161"/>
                  </a:cxn>
                  <a:cxn ang="0">
                    <a:pos x="0" y="137"/>
                  </a:cxn>
                  <a:cxn ang="0">
                    <a:pos x="29" y="107"/>
                  </a:cxn>
                  <a:cxn ang="0">
                    <a:pos x="65" y="83"/>
                  </a:cxn>
                  <a:cxn ang="0">
                    <a:pos x="155" y="36"/>
                  </a:cxn>
                  <a:cxn ang="0">
                    <a:pos x="257" y="12"/>
                  </a:cxn>
                  <a:cxn ang="0">
                    <a:pos x="376" y="0"/>
                  </a:cxn>
                  <a:cxn ang="0">
                    <a:pos x="376" y="0"/>
                  </a:cxn>
                  <a:cxn ang="0">
                    <a:pos x="382" y="0"/>
                  </a:cxn>
                  <a:cxn ang="0">
                    <a:pos x="382" y="12"/>
                  </a:cxn>
                  <a:cxn ang="0">
                    <a:pos x="376" y="12"/>
                  </a:cxn>
                  <a:cxn ang="0">
                    <a:pos x="376" y="12"/>
                  </a:cxn>
                  <a:cxn ang="0">
                    <a:pos x="376" y="12"/>
                  </a:cxn>
                </a:cxnLst>
                <a:rect l="0" t="0" r="r" b="b"/>
                <a:pathLst>
                  <a:path w="382" h="161">
                    <a:moveTo>
                      <a:pt x="376" y="12"/>
                    </a:moveTo>
                    <a:lnTo>
                      <a:pt x="257" y="24"/>
                    </a:lnTo>
                    <a:lnTo>
                      <a:pt x="149" y="54"/>
                    </a:lnTo>
                    <a:lnTo>
                      <a:pt x="101" y="77"/>
                    </a:lnTo>
                    <a:lnTo>
                      <a:pt x="59" y="101"/>
                    </a:lnTo>
                    <a:lnTo>
                      <a:pt x="24" y="131"/>
                    </a:lnTo>
                    <a:lnTo>
                      <a:pt x="0" y="161"/>
                    </a:lnTo>
                    <a:lnTo>
                      <a:pt x="0" y="137"/>
                    </a:lnTo>
                    <a:lnTo>
                      <a:pt x="29" y="107"/>
                    </a:lnTo>
                    <a:lnTo>
                      <a:pt x="65" y="83"/>
                    </a:lnTo>
                    <a:lnTo>
                      <a:pt x="155" y="36"/>
                    </a:lnTo>
                    <a:lnTo>
                      <a:pt x="257" y="12"/>
                    </a:lnTo>
                    <a:lnTo>
                      <a:pt x="376" y="0"/>
                    </a:lnTo>
                    <a:lnTo>
                      <a:pt x="376" y="0"/>
                    </a:lnTo>
                    <a:lnTo>
                      <a:pt x="382" y="0"/>
                    </a:lnTo>
                    <a:lnTo>
                      <a:pt x="382" y="12"/>
                    </a:lnTo>
                    <a:lnTo>
                      <a:pt x="376" y="12"/>
                    </a:lnTo>
                    <a:lnTo>
                      <a:pt x="376" y="12"/>
                    </a:lnTo>
                    <a:lnTo>
                      <a:pt x="376" y="1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shade val="94118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89108" name="Freeform 20"/>
              <p:cNvSpPr>
                <a:spLocks/>
              </p:cNvSpPr>
              <p:nvPr/>
            </p:nvSpPr>
            <p:spPr bwMode="hidden">
              <a:xfrm>
                <a:off x="3695" y="4170"/>
                <a:ext cx="444" cy="66"/>
              </a:xfrm>
              <a:custGeom>
                <a:avLst/>
                <a:gdLst/>
                <a:ahLst/>
                <a:cxnLst>
                  <a:cxn ang="0">
                    <a:pos x="257" y="54"/>
                  </a:cxn>
                  <a:cxn ang="0">
                    <a:pos x="353" y="48"/>
                  </a:cxn>
                  <a:cxn ang="0">
                    <a:pos x="443" y="24"/>
                  </a:cxn>
                  <a:cxn ang="0">
                    <a:pos x="443" y="36"/>
                  </a:cxn>
                  <a:cxn ang="0">
                    <a:pos x="353" y="60"/>
                  </a:cxn>
                  <a:cxn ang="0">
                    <a:pos x="257" y="66"/>
                  </a:cxn>
                  <a:cxn ang="0">
                    <a:pos x="186" y="60"/>
                  </a:cxn>
                  <a:cxn ang="0">
                    <a:pos x="120" y="48"/>
                  </a:cxn>
                  <a:cxn ang="0">
                    <a:pos x="60" y="36"/>
                  </a:cxn>
                  <a:cxn ang="0">
                    <a:pos x="0" y="12"/>
                  </a:cxn>
                  <a:cxn ang="0">
                    <a:pos x="0" y="0"/>
                  </a:cxn>
                  <a:cxn ang="0">
                    <a:pos x="54" y="24"/>
                  </a:cxn>
                  <a:cxn ang="0">
                    <a:pos x="120" y="36"/>
                  </a:cxn>
                  <a:cxn ang="0">
                    <a:pos x="186" y="48"/>
                  </a:cxn>
                  <a:cxn ang="0">
                    <a:pos x="257" y="54"/>
                  </a:cxn>
                  <a:cxn ang="0">
                    <a:pos x="257" y="54"/>
                  </a:cxn>
                </a:cxnLst>
                <a:rect l="0" t="0" r="r" b="b"/>
                <a:pathLst>
                  <a:path w="443" h="66">
                    <a:moveTo>
                      <a:pt x="257" y="54"/>
                    </a:moveTo>
                    <a:lnTo>
                      <a:pt x="353" y="48"/>
                    </a:lnTo>
                    <a:lnTo>
                      <a:pt x="443" y="24"/>
                    </a:lnTo>
                    <a:lnTo>
                      <a:pt x="443" y="36"/>
                    </a:lnTo>
                    <a:lnTo>
                      <a:pt x="353" y="60"/>
                    </a:lnTo>
                    <a:lnTo>
                      <a:pt x="257" y="66"/>
                    </a:lnTo>
                    <a:lnTo>
                      <a:pt x="186" y="60"/>
                    </a:lnTo>
                    <a:lnTo>
                      <a:pt x="120" y="48"/>
                    </a:lnTo>
                    <a:lnTo>
                      <a:pt x="60" y="36"/>
                    </a:lnTo>
                    <a:lnTo>
                      <a:pt x="0" y="12"/>
                    </a:lnTo>
                    <a:lnTo>
                      <a:pt x="0" y="0"/>
                    </a:lnTo>
                    <a:lnTo>
                      <a:pt x="54" y="24"/>
                    </a:lnTo>
                    <a:lnTo>
                      <a:pt x="120" y="36"/>
                    </a:lnTo>
                    <a:lnTo>
                      <a:pt x="186" y="48"/>
                    </a:lnTo>
                    <a:lnTo>
                      <a:pt x="257" y="54"/>
                    </a:lnTo>
                    <a:lnTo>
                      <a:pt x="257" y="5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shade val="84706"/>
                      <a:invGamma/>
                    </a:schemeClr>
                  </a:gs>
                  <a:gs pos="100000">
                    <a:schemeClr val="accent1"/>
                  </a:gs>
                </a:gsLst>
                <a:lin ang="189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89109" name="Freeform 21"/>
              <p:cNvSpPr>
                <a:spLocks/>
              </p:cNvSpPr>
              <p:nvPr/>
            </p:nvSpPr>
            <p:spPr bwMode="hidden">
              <a:xfrm>
                <a:off x="3527" y="3906"/>
                <a:ext cx="89" cy="216"/>
              </a:xfrm>
              <a:custGeom>
                <a:avLst/>
                <a:gdLst/>
                <a:ahLst/>
                <a:cxnLst>
                  <a:cxn ang="0">
                    <a:pos x="12" y="66"/>
                  </a:cxn>
                  <a:cxn ang="0">
                    <a:pos x="18" y="108"/>
                  </a:cxn>
                  <a:cxn ang="0">
                    <a:pos x="36" y="144"/>
                  </a:cxn>
                  <a:cxn ang="0">
                    <a:pos x="60" y="180"/>
                  </a:cxn>
                  <a:cxn ang="0">
                    <a:pos x="89" y="216"/>
                  </a:cxn>
                  <a:cxn ang="0">
                    <a:pos x="72" y="216"/>
                  </a:cxn>
                  <a:cxn ang="0">
                    <a:pos x="42" y="180"/>
                  </a:cxn>
                  <a:cxn ang="0">
                    <a:pos x="18" y="144"/>
                  </a:cxn>
                  <a:cxn ang="0">
                    <a:pos x="6" y="108"/>
                  </a:cxn>
                  <a:cxn ang="0">
                    <a:pos x="0" y="66"/>
                  </a:cxn>
                  <a:cxn ang="0">
                    <a:pos x="0" y="30"/>
                  </a:cxn>
                  <a:cxn ang="0">
                    <a:pos x="12" y="0"/>
                  </a:cxn>
                  <a:cxn ang="0">
                    <a:pos x="30" y="0"/>
                  </a:cxn>
                  <a:cxn ang="0">
                    <a:pos x="18" y="30"/>
                  </a:cxn>
                  <a:cxn ang="0">
                    <a:pos x="12" y="66"/>
                  </a:cxn>
                  <a:cxn ang="0">
                    <a:pos x="12" y="66"/>
                  </a:cxn>
                </a:cxnLst>
                <a:rect l="0" t="0" r="r" b="b"/>
                <a:pathLst>
                  <a:path w="89" h="216">
                    <a:moveTo>
                      <a:pt x="12" y="66"/>
                    </a:moveTo>
                    <a:lnTo>
                      <a:pt x="18" y="108"/>
                    </a:lnTo>
                    <a:lnTo>
                      <a:pt x="36" y="144"/>
                    </a:lnTo>
                    <a:lnTo>
                      <a:pt x="60" y="180"/>
                    </a:lnTo>
                    <a:lnTo>
                      <a:pt x="89" y="216"/>
                    </a:lnTo>
                    <a:lnTo>
                      <a:pt x="72" y="216"/>
                    </a:lnTo>
                    <a:lnTo>
                      <a:pt x="42" y="180"/>
                    </a:lnTo>
                    <a:lnTo>
                      <a:pt x="18" y="144"/>
                    </a:lnTo>
                    <a:lnTo>
                      <a:pt x="6" y="108"/>
                    </a:lnTo>
                    <a:lnTo>
                      <a:pt x="0" y="66"/>
                    </a:lnTo>
                    <a:lnTo>
                      <a:pt x="0" y="30"/>
                    </a:lnTo>
                    <a:lnTo>
                      <a:pt x="12" y="0"/>
                    </a:lnTo>
                    <a:lnTo>
                      <a:pt x="30" y="0"/>
                    </a:lnTo>
                    <a:lnTo>
                      <a:pt x="18" y="30"/>
                    </a:lnTo>
                    <a:lnTo>
                      <a:pt x="12" y="66"/>
                    </a:lnTo>
                    <a:lnTo>
                      <a:pt x="12" y="6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7843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89110" name="Freeform 22"/>
              <p:cNvSpPr>
                <a:spLocks/>
              </p:cNvSpPr>
              <p:nvPr/>
            </p:nvSpPr>
            <p:spPr bwMode="hidden">
              <a:xfrm>
                <a:off x="3569" y="3745"/>
                <a:ext cx="750" cy="461"/>
              </a:xfrm>
              <a:custGeom>
                <a:avLst/>
                <a:gdLst/>
                <a:ahLst/>
                <a:cxnLst>
                  <a:cxn ang="0">
                    <a:pos x="382" y="443"/>
                  </a:cxn>
                  <a:cxn ang="0">
                    <a:pos x="311" y="437"/>
                  </a:cxn>
                  <a:cxn ang="0">
                    <a:pos x="245" y="425"/>
                  </a:cxn>
                  <a:cxn ang="0">
                    <a:pos x="185" y="407"/>
                  </a:cxn>
                  <a:cxn ang="0">
                    <a:pos x="131" y="383"/>
                  </a:cxn>
                  <a:cxn ang="0">
                    <a:pos x="83" y="347"/>
                  </a:cxn>
                  <a:cxn ang="0">
                    <a:pos x="53" y="311"/>
                  </a:cxn>
                  <a:cxn ang="0">
                    <a:pos x="30" y="269"/>
                  </a:cxn>
                  <a:cxn ang="0">
                    <a:pos x="24" y="227"/>
                  </a:cxn>
                  <a:cxn ang="0">
                    <a:pos x="30" y="185"/>
                  </a:cxn>
                  <a:cxn ang="0">
                    <a:pos x="53" y="143"/>
                  </a:cxn>
                  <a:cxn ang="0">
                    <a:pos x="83" y="107"/>
                  </a:cxn>
                  <a:cxn ang="0">
                    <a:pos x="131" y="77"/>
                  </a:cxn>
                  <a:cxn ang="0">
                    <a:pos x="185" y="47"/>
                  </a:cxn>
                  <a:cxn ang="0">
                    <a:pos x="245" y="30"/>
                  </a:cxn>
                  <a:cxn ang="0">
                    <a:pos x="311" y="18"/>
                  </a:cxn>
                  <a:cxn ang="0">
                    <a:pos x="382" y="12"/>
                  </a:cxn>
                  <a:cxn ang="0">
                    <a:pos x="478" y="18"/>
                  </a:cxn>
                  <a:cxn ang="0">
                    <a:pos x="562" y="41"/>
                  </a:cxn>
                  <a:cxn ang="0">
                    <a:pos x="562" y="36"/>
                  </a:cxn>
                  <a:cxn ang="0">
                    <a:pos x="562" y="30"/>
                  </a:cxn>
                  <a:cxn ang="0">
                    <a:pos x="478" y="6"/>
                  </a:cxn>
                  <a:cxn ang="0">
                    <a:pos x="382" y="0"/>
                  </a:cxn>
                  <a:cxn ang="0">
                    <a:pos x="305" y="6"/>
                  </a:cxn>
                  <a:cxn ang="0">
                    <a:pos x="233" y="18"/>
                  </a:cxn>
                  <a:cxn ang="0">
                    <a:pos x="167" y="41"/>
                  </a:cxn>
                  <a:cxn ang="0">
                    <a:pos x="113" y="65"/>
                  </a:cxn>
                  <a:cxn ang="0">
                    <a:pos x="65" y="101"/>
                  </a:cxn>
                  <a:cxn ang="0">
                    <a:pos x="30" y="137"/>
                  </a:cxn>
                  <a:cxn ang="0">
                    <a:pos x="6" y="179"/>
                  </a:cxn>
                  <a:cxn ang="0">
                    <a:pos x="0" y="227"/>
                  </a:cxn>
                  <a:cxn ang="0">
                    <a:pos x="6" y="275"/>
                  </a:cxn>
                  <a:cxn ang="0">
                    <a:pos x="30" y="317"/>
                  </a:cxn>
                  <a:cxn ang="0">
                    <a:pos x="65" y="359"/>
                  </a:cxn>
                  <a:cxn ang="0">
                    <a:pos x="113" y="395"/>
                  </a:cxn>
                  <a:cxn ang="0">
                    <a:pos x="167" y="419"/>
                  </a:cxn>
                  <a:cxn ang="0">
                    <a:pos x="233" y="443"/>
                  </a:cxn>
                  <a:cxn ang="0">
                    <a:pos x="305" y="455"/>
                  </a:cxn>
                  <a:cxn ang="0">
                    <a:pos x="382" y="461"/>
                  </a:cxn>
                  <a:cxn ang="0">
                    <a:pos x="448" y="455"/>
                  </a:cxn>
                  <a:cxn ang="0">
                    <a:pos x="508" y="449"/>
                  </a:cxn>
                  <a:cxn ang="0">
                    <a:pos x="609" y="413"/>
                  </a:cxn>
                  <a:cxn ang="0">
                    <a:pos x="657" y="389"/>
                  </a:cxn>
                  <a:cxn ang="0">
                    <a:pos x="693" y="359"/>
                  </a:cxn>
                  <a:cxn ang="0">
                    <a:pos x="723" y="329"/>
                  </a:cxn>
                  <a:cxn ang="0">
                    <a:pos x="747" y="293"/>
                  </a:cxn>
                  <a:cxn ang="0">
                    <a:pos x="741" y="287"/>
                  </a:cxn>
                  <a:cxn ang="0">
                    <a:pos x="729" y="281"/>
                  </a:cxn>
                  <a:cxn ang="0">
                    <a:pos x="711" y="317"/>
                  </a:cxn>
                  <a:cxn ang="0">
                    <a:pos x="681" y="347"/>
                  </a:cxn>
                  <a:cxn ang="0">
                    <a:pos x="645" y="377"/>
                  </a:cxn>
                  <a:cxn ang="0">
                    <a:pos x="604" y="401"/>
                  </a:cxn>
                  <a:cxn ang="0">
                    <a:pos x="502" y="431"/>
                  </a:cxn>
                  <a:cxn ang="0">
                    <a:pos x="442" y="443"/>
                  </a:cxn>
                  <a:cxn ang="0">
                    <a:pos x="382" y="443"/>
                  </a:cxn>
                  <a:cxn ang="0">
                    <a:pos x="382" y="443"/>
                  </a:cxn>
                </a:cxnLst>
                <a:rect l="0" t="0" r="r" b="b"/>
                <a:pathLst>
                  <a:path w="747" h="461">
                    <a:moveTo>
                      <a:pt x="382" y="443"/>
                    </a:moveTo>
                    <a:lnTo>
                      <a:pt x="311" y="437"/>
                    </a:lnTo>
                    <a:lnTo>
                      <a:pt x="245" y="425"/>
                    </a:lnTo>
                    <a:lnTo>
                      <a:pt x="185" y="407"/>
                    </a:lnTo>
                    <a:lnTo>
                      <a:pt x="131" y="383"/>
                    </a:lnTo>
                    <a:lnTo>
                      <a:pt x="83" y="347"/>
                    </a:lnTo>
                    <a:lnTo>
                      <a:pt x="53" y="311"/>
                    </a:lnTo>
                    <a:lnTo>
                      <a:pt x="30" y="269"/>
                    </a:lnTo>
                    <a:lnTo>
                      <a:pt x="24" y="227"/>
                    </a:lnTo>
                    <a:lnTo>
                      <a:pt x="30" y="185"/>
                    </a:lnTo>
                    <a:lnTo>
                      <a:pt x="53" y="143"/>
                    </a:lnTo>
                    <a:lnTo>
                      <a:pt x="83" y="107"/>
                    </a:lnTo>
                    <a:lnTo>
                      <a:pt x="131" y="77"/>
                    </a:lnTo>
                    <a:lnTo>
                      <a:pt x="185" y="47"/>
                    </a:lnTo>
                    <a:lnTo>
                      <a:pt x="245" y="30"/>
                    </a:lnTo>
                    <a:lnTo>
                      <a:pt x="311" y="18"/>
                    </a:lnTo>
                    <a:lnTo>
                      <a:pt x="382" y="12"/>
                    </a:lnTo>
                    <a:lnTo>
                      <a:pt x="478" y="18"/>
                    </a:lnTo>
                    <a:lnTo>
                      <a:pt x="562" y="41"/>
                    </a:lnTo>
                    <a:lnTo>
                      <a:pt x="562" y="36"/>
                    </a:lnTo>
                    <a:lnTo>
                      <a:pt x="562" y="30"/>
                    </a:lnTo>
                    <a:lnTo>
                      <a:pt x="478" y="6"/>
                    </a:lnTo>
                    <a:lnTo>
                      <a:pt x="382" y="0"/>
                    </a:lnTo>
                    <a:lnTo>
                      <a:pt x="305" y="6"/>
                    </a:lnTo>
                    <a:lnTo>
                      <a:pt x="233" y="18"/>
                    </a:lnTo>
                    <a:lnTo>
                      <a:pt x="167" y="41"/>
                    </a:lnTo>
                    <a:lnTo>
                      <a:pt x="113" y="65"/>
                    </a:lnTo>
                    <a:lnTo>
                      <a:pt x="65" y="101"/>
                    </a:lnTo>
                    <a:lnTo>
                      <a:pt x="30" y="137"/>
                    </a:lnTo>
                    <a:lnTo>
                      <a:pt x="6" y="179"/>
                    </a:lnTo>
                    <a:lnTo>
                      <a:pt x="0" y="227"/>
                    </a:lnTo>
                    <a:lnTo>
                      <a:pt x="6" y="275"/>
                    </a:lnTo>
                    <a:lnTo>
                      <a:pt x="30" y="317"/>
                    </a:lnTo>
                    <a:lnTo>
                      <a:pt x="65" y="359"/>
                    </a:lnTo>
                    <a:lnTo>
                      <a:pt x="113" y="395"/>
                    </a:lnTo>
                    <a:lnTo>
                      <a:pt x="167" y="419"/>
                    </a:lnTo>
                    <a:lnTo>
                      <a:pt x="233" y="443"/>
                    </a:lnTo>
                    <a:lnTo>
                      <a:pt x="305" y="455"/>
                    </a:lnTo>
                    <a:lnTo>
                      <a:pt x="382" y="461"/>
                    </a:lnTo>
                    <a:lnTo>
                      <a:pt x="448" y="455"/>
                    </a:lnTo>
                    <a:lnTo>
                      <a:pt x="508" y="449"/>
                    </a:lnTo>
                    <a:lnTo>
                      <a:pt x="609" y="413"/>
                    </a:lnTo>
                    <a:lnTo>
                      <a:pt x="657" y="389"/>
                    </a:lnTo>
                    <a:lnTo>
                      <a:pt x="693" y="359"/>
                    </a:lnTo>
                    <a:lnTo>
                      <a:pt x="723" y="329"/>
                    </a:lnTo>
                    <a:lnTo>
                      <a:pt x="747" y="293"/>
                    </a:lnTo>
                    <a:lnTo>
                      <a:pt x="741" y="287"/>
                    </a:lnTo>
                    <a:lnTo>
                      <a:pt x="729" y="281"/>
                    </a:lnTo>
                    <a:lnTo>
                      <a:pt x="711" y="317"/>
                    </a:lnTo>
                    <a:lnTo>
                      <a:pt x="681" y="347"/>
                    </a:lnTo>
                    <a:lnTo>
                      <a:pt x="645" y="377"/>
                    </a:lnTo>
                    <a:lnTo>
                      <a:pt x="604" y="401"/>
                    </a:lnTo>
                    <a:lnTo>
                      <a:pt x="502" y="431"/>
                    </a:lnTo>
                    <a:lnTo>
                      <a:pt x="442" y="443"/>
                    </a:lnTo>
                    <a:lnTo>
                      <a:pt x="382" y="443"/>
                    </a:lnTo>
                    <a:lnTo>
                      <a:pt x="382" y="443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0980"/>
                      <a:invGamma/>
                    </a:schemeClr>
                  </a:gs>
                </a:gsLst>
                <a:path path="rect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89111" name="Freeform 23"/>
              <p:cNvSpPr>
                <a:spLocks/>
              </p:cNvSpPr>
              <p:nvPr/>
            </p:nvSpPr>
            <p:spPr bwMode="hidden">
              <a:xfrm>
                <a:off x="4037" y="3721"/>
                <a:ext cx="96" cy="3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12"/>
                  </a:cxn>
                  <a:cxn ang="0">
                    <a:pos x="48" y="18"/>
                  </a:cxn>
                  <a:cxn ang="0">
                    <a:pos x="96" y="30"/>
                  </a:cxn>
                  <a:cxn ang="0">
                    <a:pos x="96" y="24"/>
                  </a:cxn>
                  <a:cxn ang="0">
                    <a:pos x="96" y="18"/>
                  </a:cxn>
                  <a:cxn ang="0">
                    <a:pos x="48" y="12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96" h="30">
                    <a:moveTo>
                      <a:pt x="0" y="0"/>
                    </a:moveTo>
                    <a:lnTo>
                      <a:pt x="0" y="12"/>
                    </a:lnTo>
                    <a:lnTo>
                      <a:pt x="48" y="18"/>
                    </a:lnTo>
                    <a:lnTo>
                      <a:pt x="96" y="30"/>
                    </a:lnTo>
                    <a:lnTo>
                      <a:pt x="96" y="24"/>
                    </a:lnTo>
                    <a:lnTo>
                      <a:pt x="96" y="18"/>
                    </a:lnTo>
                    <a:lnTo>
                      <a:pt x="48" y="12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7843"/>
                      <a:invGamma/>
                    </a:schemeClr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89112" name="Freeform 24"/>
              <p:cNvSpPr>
                <a:spLocks/>
              </p:cNvSpPr>
              <p:nvPr/>
            </p:nvSpPr>
            <p:spPr bwMode="hidden">
              <a:xfrm>
                <a:off x="4175" y="4050"/>
                <a:ext cx="180" cy="132"/>
              </a:xfrm>
              <a:custGeom>
                <a:avLst/>
                <a:gdLst/>
                <a:ahLst/>
                <a:cxnLst>
                  <a:cxn ang="0">
                    <a:pos x="0" y="132"/>
                  </a:cxn>
                  <a:cxn ang="0">
                    <a:pos x="29" y="132"/>
                  </a:cxn>
                  <a:cxn ang="0">
                    <a:pos x="77" y="108"/>
                  </a:cxn>
                  <a:cxn ang="0">
                    <a:pos x="119" y="78"/>
                  </a:cxn>
                  <a:cxn ang="0">
                    <a:pos x="155" y="48"/>
                  </a:cxn>
                  <a:cxn ang="0">
                    <a:pos x="179" y="12"/>
                  </a:cxn>
                  <a:cxn ang="0">
                    <a:pos x="173" y="6"/>
                  </a:cxn>
                  <a:cxn ang="0">
                    <a:pos x="167" y="0"/>
                  </a:cxn>
                  <a:cxn ang="0">
                    <a:pos x="137" y="42"/>
                  </a:cxn>
                  <a:cxn ang="0">
                    <a:pos x="101" y="78"/>
                  </a:cxn>
                  <a:cxn ang="0">
                    <a:pos x="53" y="108"/>
                  </a:cxn>
                  <a:cxn ang="0">
                    <a:pos x="0" y="132"/>
                  </a:cxn>
                  <a:cxn ang="0">
                    <a:pos x="0" y="132"/>
                  </a:cxn>
                </a:cxnLst>
                <a:rect l="0" t="0" r="r" b="b"/>
                <a:pathLst>
                  <a:path w="179" h="132">
                    <a:moveTo>
                      <a:pt x="0" y="132"/>
                    </a:moveTo>
                    <a:lnTo>
                      <a:pt x="29" y="132"/>
                    </a:lnTo>
                    <a:lnTo>
                      <a:pt x="77" y="108"/>
                    </a:lnTo>
                    <a:lnTo>
                      <a:pt x="119" y="78"/>
                    </a:lnTo>
                    <a:lnTo>
                      <a:pt x="155" y="48"/>
                    </a:lnTo>
                    <a:lnTo>
                      <a:pt x="179" y="12"/>
                    </a:lnTo>
                    <a:lnTo>
                      <a:pt x="173" y="6"/>
                    </a:lnTo>
                    <a:lnTo>
                      <a:pt x="167" y="0"/>
                    </a:lnTo>
                    <a:lnTo>
                      <a:pt x="137" y="42"/>
                    </a:lnTo>
                    <a:lnTo>
                      <a:pt x="101" y="78"/>
                    </a:lnTo>
                    <a:lnTo>
                      <a:pt x="53" y="108"/>
                    </a:lnTo>
                    <a:lnTo>
                      <a:pt x="0" y="132"/>
                    </a:lnTo>
                    <a:lnTo>
                      <a:pt x="0" y="13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7843"/>
                      <a:invGamma/>
                    </a:schemeClr>
                  </a:gs>
                </a:gsLst>
                <a:lin ang="189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89113" name="Freeform 25"/>
              <p:cNvSpPr>
                <a:spLocks/>
              </p:cNvSpPr>
              <p:nvPr/>
            </p:nvSpPr>
            <p:spPr bwMode="hidden">
              <a:xfrm>
                <a:off x="2585" y="3822"/>
                <a:ext cx="449" cy="186"/>
              </a:xfrm>
              <a:custGeom>
                <a:avLst/>
                <a:gdLst/>
                <a:ahLst/>
                <a:cxnLst>
                  <a:cxn ang="0">
                    <a:pos x="6" y="6"/>
                  </a:cxn>
                  <a:cxn ang="0">
                    <a:pos x="78" y="12"/>
                  </a:cxn>
                  <a:cxn ang="0">
                    <a:pos x="150" y="18"/>
                  </a:cxn>
                  <a:cxn ang="0">
                    <a:pos x="215" y="36"/>
                  </a:cxn>
                  <a:cxn ang="0">
                    <a:pos x="275" y="60"/>
                  </a:cxn>
                  <a:cxn ang="0">
                    <a:pos x="329" y="84"/>
                  </a:cxn>
                  <a:cxn ang="0">
                    <a:pos x="377" y="114"/>
                  </a:cxn>
                  <a:cxn ang="0">
                    <a:pos x="419" y="150"/>
                  </a:cxn>
                  <a:cxn ang="0">
                    <a:pos x="448" y="186"/>
                  </a:cxn>
                  <a:cxn ang="0">
                    <a:pos x="448" y="162"/>
                  </a:cxn>
                  <a:cxn ang="0">
                    <a:pos x="413" y="126"/>
                  </a:cxn>
                  <a:cxn ang="0">
                    <a:pos x="371" y="96"/>
                  </a:cxn>
                  <a:cxn ang="0">
                    <a:pos x="323" y="66"/>
                  </a:cxn>
                  <a:cxn ang="0">
                    <a:pos x="269" y="48"/>
                  </a:cxn>
                  <a:cxn ang="0">
                    <a:pos x="144" y="12"/>
                  </a:cxn>
                  <a:cxn ang="0">
                    <a:pos x="78" y="6"/>
                  </a:cxn>
                  <a:cxn ang="0">
                    <a:pos x="6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6"/>
                  </a:cxn>
                  <a:cxn ang="0">
                    <a:pos x="0" y="6"/>
                  </a:cxn>
                  <a:cxn ang="0">
                    <a:pos x="6" y="6"/>
                  </a:cxn>
                  <a:cxn ang="0">
                    <a:pos x="6" y="6"/>
                  </a:cxn>
                </a:cxnLst>
                <a:rect l="0" t="0" r="r" b="b"/>
                <a:pathLst>
                  <a:path w="448" h="186">
                    <a:moveTo>
                      <a:pt x="6" y="6"/>
                    </a:moveTo>
                    <a:lnTo>
                      <a:pt x="78" y="12"/>
                    </a:lnTo>
                    <a:lnTo>
                      <a:pt x="150" y="18"/>
                    </a:lnTo>
                    <a:lnTo>
                      <a:pt x="215" y="36"/>
                    </a:lnTo>
                    <a:lnTo>
                      <a:pt x="275" y="60"/>
                    </a:lnTo>
                    <a:lnTo>
                      <a:pt x="329" y="84"/>
                    </a:lnTo>
                    <a:lnTo>
                      <a:pt x="377" y="114"/>
                    </a:lnTo>
                    <a:lnTo>
                      <a:pt x="419" y="150"/>
                    </a:lnTo>
                    <a:lnTo>
                      <a:pt x="448" y="186"/>
                    </a:lnTo>
                    <a:lnTo>
                      <a:pt x="448" y="162"/>
                    </a:lnTo>
                    <a:lnTo>
                      <a:pt x="413" y="126"/>
                    </a:lnTo>
                    <a:lnTo>
                      <a:pt x="371" y="96"/>
                    </a:lnTo>
                    <a:lnTo>
                      <a:pt x="323" y="66"/>
                    </a:lnTo>
                    <a:lnTo>
                      <a:pt x="269" y="48"/>
                    </a:lnTo>
                    <a:lnTo>
                      <a:pt x="144" y="12"/>
                    </a:lnTo>
                    <a:lnTo>
                      <a:pt x="78" y="6"/>
                    </a:lnTo>
                    <a:lnTo>
                      <a:pt x="6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6" y="6"/>
                    </a:lnTo>
                    <a:lnTo>
                      <a:pt x="6" y="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shade val="90980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89114" name="Freeform 26"/>
              <p:cNvSpPr>
                <a:spLocks/>
              </p:cNvSpPr>
              <p:nvPr/>
            </p:nvSpPr>
            <p:spPr bwMode="hidden">
              <a:xfrm>
                <a:off x="2142" y="3852"/>
                <a:ext cx="892" cy="462"/>
              </a:xfrm>
              <a:custGeom>
                <a:avLst/>
                <a:gdLst/>
                <a:ahLst/>
                <a:cxnLst>
                  <a:cxn ang="0">
                    <a:pos x="23" y="276"/>
                  </a:cxn>
                  <a:cxn ang="0">
                    <a:pos x="29" y="222"/>
                  </a:cxn>
                  <a:cxn ang="0">
                    <a:pos x="59" y="174"/>
                  </a:cxn>
                  <a:cxn ang="0">
                    <a:pos x="95" y="132"/>
                  </a:cxn>
                  <a:cxn ang="0">
                    <a:pos x="149" y="96"/>
                  </a:cxn>
                  <a:cxn ang="0">
                    <a:pos x="209" y="60"/>
                  </a:cxn>
                  <a:cxn ang="0">
                    <a:pos x="281" y="36"/>
                  </a:cxn>
                  <a:cxn ang="0">
                    <a:pos x="364" y="24"/>
                  </a:cxn>
                  <a:cxn ang="0">
                    <a:pos x="448" y="18"/>
                  </a:cxn>
                  <a:cxn ang="0">
                    <a:pos x="532" y="24"/>
                  </a:cxn>
                  <a:cxn ang="0">
                    <a:pos x="609" y="36"/>
                  </a:cxn>
                  <a:cxn ang="0">
                    <a:pos x="681" y="60"/>
                  </a:cxn>
                  <a:cxn ang="0">
                    <a:pos x="741" y="96"/>
                  </a:cxn>
                  <a:cxn ang="0">
                    <a:pos x="795" y="132"/>
                  </a:cxn>
                  <a:cxn ang="0">
                    <a:pos x="831" y="174"/>
                  </a:cxn>
                  <a:cxn ang="0">
                    <a:pos x="861" y="222"/>
                  </a:cxn>
                  <a:cxn ang="0">
                    <a:pos x="867" y="276"/>
                  </a:cxn>
                  <a:cxn ang="0">
                    <a:pos x="855" y="330"/>
                  </a:cxn>
                  <a:cxn ang="0">
                    <a:pos x="831" y="378"/>
                  </a:cxn>
                  <a:cxn ang="0">
                    <a:pos x="783" y="426"/>
                  </a:cxn>
                  <a:cxn ang="0">
                    <a:pos x="723" y="462"/>
                  </a:cxn>
                  <a:cxn ang="0">
                    <a:pos x="765" y="462"/>
                  </a:cxn>
                  <a:cxn ang="0">
                    <a:pos x="819" y="426"/>
                  </a:cxn>
                  <a:cxn ang="0">
                    <a:pos x="855" y="378"/>
                  </a:cxn>
                  <a:cxn ang="0">
                    <a:pos x="884" y="330"/>
                  </a:cxn>
                  <a:cxn ang="0">
                    <a:pos x="890" y="276"/>
                  </a:cxn>
                  <a:cxn ang="0">
                    <a:pos x="884" y="222"/>
                  </a:cxn>
                  <a:cxn ang="0">
                    <a:pos x="855" y="168"/>
                  </a:cxn>
                  <a:cxn ang="0">
                    <a:pos x="813" y="120"/>
                  </a:cxn>
                  <a:cxn ang="0">
                    <a:pos x="759" y="84"/>
                  </a:cxn>
                  <a:cxn ang="0">
                    <a:pos x="693" y="48"/>
                  </a:cxn>
                  <a:cxn ang="0">
                    <a:pos x="621" y="24"/>
                  </a:cxn>
                  <a:cxn ang="0">
                    <a:pos x="538" y="6"/>
                  </a:cxn>
                  <a:cxn ang="0">
                    <a:pos x="448" y="0"/>
                  </a:cxn>
                  <a:cxn ang="0">
                    <a:pos x="358" y="6"/>
                  </a:cxn>
                  <a:cxn ang="0">
                    <a:pos x="275" y="24"/>
                  </a:cxn>
                  <a:cxn ang="0">
                    <a:pos x="197" y="48"/>
                  </a:cxn>
                  <a:cxn ang="0">
                    <a:pos x="131" y="84"/>
                  </a:cxn>
                  <a:cxn ang="0">
                    <a:pos x="77" y="120"/>
                  </a:cxn>
                  <a:cxn ang="0">
                    <a:pos x="35" y="168"/>
                  </a:cxn>
                  <a:cxn ang="0">
                    <a:pos x="12" y="222"/>
                  </a:cxn>
                  <a:cxn ang="0">
                    <a:pos x="0" y="276"/>
                  </a:cxn>
                  <a:cxn ang="0">
                    <a:pos x="6" y="330"/>
                  </a:cxn>
                  <a:cxn ang="0">
                    <a:pos x="35" y="378"/>
                  </a:cxn>
                  <a:cxn ang="0">
                    <a:pos x="71" y="426"/>
                  </a:cxn>
                  <a:cxn ang="0">
                    <a:pos x="125" y="462"/>
                  </a:cxn>
                  <a:cxn ang="0">
                    <a:pos x="167" y="462"/>
                  </a:cxn>
                  <a:cxn ang="0">
                    <a:pos x="107" y="426"/>
                  </a:cxn>
                  <a:cxn ang="0">
                    <a:pos x="59" y="378"/>
                  </a:cxn>
                  <a:cxn ang="0">
                    <a:pos x="35" y="330"/>
                  </a:cxn>
                  <a:cxn ang="0">
                    <a:pos x="23" y="276"/>
                  </a:cxn>
                  <a:cxn ang="0">
                    <a:pos x="23" y="276"/>
                  </a:cxn>
                </a:cxnLst>
                <a:rect l="0" t="0" r="r" b="b"/>
                <a:pathLst>
                  <a:path w="890" h="462">
                    <a:moveTo>
                      <a:pt x="23" y="276"/>
                    </a:moveTo>
                    <a:lnTo>
                      <a:pt x="29" y="222"/>
                    </a:lnTo>
                    <a:lnTo>
                      <a:pt x="59" y="174"/>
                    </a:lnTo>
                    <a:lnTo>
                      <a:pt x="95" y="132"/>
                    </a:lnTo>
                    <a:lnTo>
                      <a:pt x="149" y="96"/>
                    </a:lnTo>
                    <a:lnTo>
                      <a:pt x="209" y="60"/>
                    </a:lnTo>
                    <a:lnTo>
                      <a:pt x="281" y="36"/>
                    </a:lnTo>
                    <a:lnTo>
                      <a:pt x="364" y="24"/>
                    </a:lnTo>
                    <a:lnTo>
                      <a:pt x="448" y="18"/>
                    </a:lnTo>
                    <a:lnTo>
                      <a:pt x="532" y="24"/>
                    </a:lnTo>
                    <a:lnTo>
                      <a:pt x="609" y="36"/>
                    </a:lnTo>
                    <a:lnTo>
                      <a:pt x="681" y="60"/>
                    </a:lnTo>
                    <a:lnTo>
                      <a:pt x="741" y="96"/>
                    </a:lnTo>
                    <a:lnTo>
                      <a:pt x="795" y="132"/>
                    </a:lnTo>
                    <a:lnTo>
                      <a:pt x="831" y="174"/>
                    </a:lnTo>
                    <a:lnTo>
                      <a:pt x="861" y="222"/>
                    </a:lnTo>
                    <a:lnTo>
                      <a:pt x="867" y="276"/>
                    </a:lnTo>
                    <a:lnTo>
                      <a:pt x="855" y="330"/>
                    </a:lnTo>
                    <a:lnTo>
                      <a:pt x="831" y="378"/>
                    </a:lnTo>
                    <a:lnTo>
                      <a:pt x="783" y="426"/>
                    </a:lnTo>
                    <a:lnTo>
                      <a:pt x="723" y="462"/>
                    </a:lnTo>
                    <a:lnTo>
                      <a:pt x="765" y="462"/>
                    </a:lnTo>
                    <a:lnTo>
                      <a:pt x="819" y="426"/>
                    </a:lnTo>
                    <a:lnTo>
                      <a:pt x="855" y="378"/>
                    </a:lnTo>
                    <a:lnTo>
                      <a:pt x="884" y="330"/>
                    </a:lnTo>
                    <a:lnTo>
                      <a:pt x="890" y="276"/>
                    </a:lnTo>
                    <a:lnTo>
                      <a:pt x="884" y="222"/>
                    </a:lnTo>
                    <a:lnTo>
                      <a:pt x="855" y="168"/>
                    </a:lnTo>
                    <a:lnTo>
                      <a:pt x="813" y="120"/>
                    </a:lnTo>
                    <a:lnTo>
                      <a:pt x="759" y="84"/>
                    </a:lnTo>
                    <a:lnTo>
                      <a:pt x="693" y="48"/>
                    </a:lnTo>
                    <a:lnTo>
                      <a:pt x="621" y="24"/>
                    </a:lnTo>
                    <a:lnTo>
                      <a:pt x="538" y="6"/>
                    </a:lnTo>
                    <a:lnTo>
                      <a:pt x="448" y="0"/>
                    </a:lnTo>
                    <a:lnTo>
                      <a:pt x="358" y="6"/>
                    </a:lnTo>
                    <a:lnTo>
                      <a:pt x="275" y="24"/>
                    </a:lnTo>
                    <a:lnTo>
                      <a:pt x="197" y="48"/>
                    </a:lnTo>
                    <a:lnTo>
                      <a:pt x="131" y="84"/>
                    </a:lnTo>
                    <a:lnTo>
                      <a:pt x="77" y="120"/>
                    </a:lnTo>
                    <a:lnTo>
                      <a:pt x="35" y="168"/>
                    </a:lnTo>
                    <a:lnTo>
                      <a:pt x="12" y="222"/>
                    </a:lnTo>
                    <a:lnTo>
                      <a:pt x="0" y="276"/>
                    </a:lnTo>
                    <a:lnTo>
                      <a:pt x="6" y="330"/>
                    </a:lnTo>
                    <a:lnTo>
                      <a:pt x="35" y="378"/>
                    </a:lnTo>
                    <a:lnTo>
                      <a:pt x="71" y="426"/>
                    </a:lnTo>
                    <a:lnTo>
                      <a:pt x="125" y="462"/>
                    </a:lnTo>
                    <a:lnTo>
                      <a:pt x="167" y="462"/>
                    </a:lnTo>
                    <a:lnTo>
                      <a:pt x="107" y="426"/>
                    </a:lnTo>
                    <a:lnTo>
                      <a:pt x="59" y="378"/>
                    </a:lnTo>
                    <a:lnTo>
                      <a:pt x="35" y="330"/>
                    </a:lnTo>
                    <a:lnTo>
                      <a:pt x="23" y="276"/>
                    </a:lnTo>
                    <a:lnTo>
                      <a:pt x="23" y="27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4706"/>
                      <a:invGamma/>
                    </a:schemeClr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89115" name="Freeform 27"/>
              <p:cNvSpPr>
                <a:spLocks/>
              </p:cNvSpPr>
              <p:nvPr/>
            </p:nvSpPr>
            <p:spPr bwMode="hidden">
              <a:xfrm>
                <a:off x="2082" y="3828"/>
                <a:ext cx="407" cy="486"/>
              </a:xfrm>
              <a:custGeom>
                <a:avLst/>
                <a:gdLst/>
                <a:ahLst/>
                <a:cxnLst>
                  <a:cxn ang="0">
                    <a:pos x="18" y="300"/>
                  </a:cxn>
                  <a:cxn ang="0">
                    <a:pos x="24" y="246"/>
                  </a:cxn>
                  <a:cxn ang="0">
                    <a:pos x="48" y="198"/>
                  </a:cxn>
                  <a:cxn ang="0">
                    <a:pos x="83" y="150"/>
                  </a:cxn>
                  <a:cxn ang="0">
                    <a:pos x="131" y="108"/>
                  </a:cxn>
                  <a:cxn ang="0">
                    <a:pos x="185" y="72"/>
                  </a:cxn>
                  <a:cxn ang="0">
                    <a:pos x="251" y="42"/>
                  </a:cxn>
                  <a:cxn ang="0">
                    <a:pos x="329" y="24"/>
                  </a:cxn>
                  <a:cxn ang="0">
                    <a:pos x="406" y="6"/>
                  </a:cxn>
                  <a:cxn ang="0">
                    <a:pos x="406" y="0"/>
                  </a:cxn>
                  <a:cxn ang="0">
                    <a:pos x="323" y="12"/>
                  </a:cxn>
                  <a:cxn ang="0">
                    <a:pos x="245" y="36"/>
                  </a:cxn>
                  <a:cxn ang="0">
                    <a:pos x="179" y="66"/>
                  </a:cxn>
                  <a:cxn ang="0">
                    <a:pos x="119" y="102"/>
                  </a:cxn>
                  <a:cxn ang="0">
                    <a:pos x="72" y="144"/>
                  </a:cxn>
                  <a:cxn ang="0">
                    <a:pos x="30" y="192"/>
                  </a:cxn>
                  <a:cxn ang="0">
                    <a:pos x="6" y="246"/>
                  </a:cxn>
                  <a:cxn ang="0">
                    <a:pos x="0" y="300"/>
                  </a:cxn>
                  <a:cxn ang="0">
                    <a:pos x="6" y="348"/>
                  </a:cxn>
                  <a:cxn ang="0">
                    <a:pos x="30" y="396"/>
                  </a:cxn>
                  <a:cxn ang="0">
                    <a:pos x="66" y="444"/>
                  </a:cxn>
                  <a:cxn ang="0">
                    <a:pos x="107" y="486"/>
                  </a:cxn>
                  <a:cxn ang="0">
                    <a:pos x="131" y="486"/>
                  </a:cxn>
                  <a:cxn ang="0">
                    <a:pos x="83" y="450"/>
                  </a:cxn>
                  <a:cxn ang="0">
                    <a:pos x="48" y="402"/>
                  </a:cxn>
                  <a:cxn ang="0">
                    <a:pos x="24" y="354"/>
                  </a:cxn>
                  <a:cxn ang="0">
                    <a:pos x="18" y="300"/>
                  </a:cxn>
                  <a:cxn ang="0">
                    <a:pos x="18" y="300"/>
                  </a:cxn>
                </a:cxnLst>
                <a:rect l="0" t="0" r="r" b="b"/>
                <a:pathLst>
                  <a:path w="406" h="486">
                    <a:moveTo>
                      <a:pt x="18" y="300"/>
                    </a:moveTo>
                    <a:lnTo>
                      <a:pt x="24" y="246"/>
                    </a:lnTo>
                    <a:lnTo>
                      <a:pt x="48" y="198"/>
                    </a:lnTo>
                    <a:lnTo>
                      <a:pt x="83" y="150"/>
                    </a:lnTo>
                    <a:lnTo>
                      <a:pt x="131" y="108"/>
                    </a:lnTo>
                    <a:lnTo>
                      <a:pt x="185" y="72"/>
                    </a:lnTo>
                    <a:lnTo>
                      <a:pt x="251" y="42"/>
                    </a:lnTo>
                    <a:lnTo>
                      <a:pt x="329" y="24"/>
                    </a:lnTo>
                    <a:lnTo>
                      <a:pt x="406" y="6"/>
                    </a:lnTo>
                    <a:lnTo>
                      <a:pt x="406" y="0"/>
                    </a:lnTo>
                    <a:lnTo>
                      <a:pt x="323" y="12"/>
                    </a:lnTo>
                    <a:lnTo>
                      <a:pt x="245" y="36"/>
                    </a:lnTo>
                    <a:lnTo>
                      <a:pt x="179" y="66"/>
                    </a:lnTo>
                    <a:lnTo>
                      <a:pt x="119" y="102"/>
                    </a:lnTo>
                    <a:lnTo>
                      <a:pt x="72" y="144"/>
                    </a:lnTo>
                    <a:lnTo>
                      <a:pt x="30" y="192"/>
                    </a:lnTo>
                    <a:lnTo>
                      <a:pt x="6" y="246"/>
                    </a:lnTo>
                    <a:lnTo>
                      <a:pt x="0" y="300"/>
                    </a:lnTo>
                    <a:lnTo>
                      <a:pt x="6" y="348"/>
                    </a:lnTo>
                    <a:lnTo>
                      <a:pt x="30" y="396"/>
                    </a:lnTo>
                    <a:lnTo>
                      <a:pt x="66" y="444"/>
                    </a:lnTo>
                    <a:lnTo>
                      <a:pt x="107" y="486"/>
                    </a:lnTo>
                    <a:lnTo>
                      <a:pt x="131" y="486"/>
                    </a:lnTo>
                    <a:lnTo>
                      <a:pt x="83" y="450"/>
                    </a:lnTo>
                    <a:lnTo>
                      <a:pt x="48" y="402"/>
                    </a:lnTo>
                    <a:lnTo>
                      <a:pt x="24" y="354"/>
                    </a:lnTo>
                    <a:lnTo>
                      <a:pt x="18" y="300"/>
                    </a:lnTo>
                    <a:lnTo>
                      <a:pt x="18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0980"/>
                      <a:invGamma/>
                    </a:schemeClr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89116" name="Freeform 28"/>
              <p:cNvSpPr>
                <a:spLocks/>
              </p:cNvSpPr>
              <p:nvPr/>
            </p:nvSpPr>
            <p:spPr bwMode="hidden">
              <a:xfrm>
                <a:off x="2987" y="4044"/>
                <a:ext cx="108" cy="252"/>
              </a:xfrm>
              <a:custGeom>
                <a:avLst/>
                <a:gdLst/>
                <a:ahLst/>
                <a:cxnLst>
                  <a:cxn ang="0">
                    <a:pos x="89" y="84"/>
                  </a:cxn>
                  <a:cxn ang="0">
                    <a:pos x="83" y="132"/>
                  </a:cxn>
                  <a:cxn ang="0">
                    <a:pos x="65" y="174"/>
                  </a:cxn>
                  <a:cxn ang="0">
                    <a:pos x="36" y="216"/>
                  </a:cxn>
                  <a:cxn ang="0">
                    <a:pos x="0" y="252"/>
                  </a:cxn>
                  <a:cxn ang="0">
                    <a:pos x="18" y="252"/>
                  </a:cxn>
                  <a:cxn ang="0">
                    <a:pos x="53" y="216"/>
                  </a:cxn>
                  <a:cxn ang="0">
                    <a:pos x="83" y="174"/>
                  </a:cxn>
                  <a:cxn ang="0">
                    <a:pos x="101" y="132"/>
                  </a:cxn>
                  <a:cxn ang="0">
                    <a:pos x="107" y="84"/>
                  </a:cxn>
                  <a:cxn ang="0">
                    <a:pos x="101" y="42"/>
                  </a:cxn>
                  <a:cxn ang="0">
                    <a:pos x="89" y="0"/>
                  </a:cxn>
                  <a:cxn ang="0">
                    <a:pos x="65" y="0"/>
                  </a:cxn>
                  <a:cxn ang="0">
                    <a:pos x="83" y="42"/>
                  </a:cxn>
                  <a:cxn ang="0">
                    <a:pos x="89" y="84"/>
                  </a:cxn>
                  <a:cxn ang="0">
                    <a:pos x="89" y="84"/>
                  </a:cxn>
                </a:cxnLst>
                <a:rect l="0" t="0" r="r" b="b"/>
                <a:pathLst>
                  <a:path w="107" h="252">
                    <a:moveTo>
                      <a:pt x="89" y="84"/>
                    </a:moveTo>
                    <a:lnTo>
                      <a:pt x="83" y="132"/>
                    </a:lnTo>
                    <a:lnTo>
                      <a:pt x="65" y="174"/>
                    </a:lnTo>
                    <a:lnTo>
                      <a:pt x="36" y="216"/>
                    </a:lnTo>
                    <a:lnTo>
                      <a:pt x="0" y="252"/>
                    </a:lnTo>
                    <a:lnTo>
                      <a:pt x="18" y="252"/>
                    </a:lnTo>
                    <a:lnTo>
                      <a:pt x="53" y="216"/>
                    </a:lnTo>
                    <a:lnTo>
                      <a:pt x="83" y="174"/>
                    </a:lnTo>
                    <a:lnTo>
                      <a:pt x="101" y="132"/>
                    </a:lnTo>
                    <a:lnTo>
                      <a:pt x="107" y="84"/>
                    </a:lnTo>
                    <a:lnTo>
                      <a:pt x="101" y="42"/>
                    </a:lnTo>
                    <a:lnTo>
                      <a:pt x="89" y="0"/>
                    </a:lnTo>
                    <a:lnTo>
                      <a:pt x="65" y="0"/>
                    </a:lnTo>
                    <a:lnTo>
                      <a:pt x="83" y="42"/>
                    </a:lnTo>
                    <a:lnTo>
                      <a:pt x="89" y="84"/>
                    </a:lnTo>
                    <a:lnTo>
                      <a:pt x="89" y="8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1961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89117" name="Freeform 29"/>
              <p:cNvSpPr>
                <a:spLocks/>
              </p:cNvSpPr>
              <p:nvPr/>
            </p:nvSpPr>
            <p:spPr bwMode="hidden">
              <a:xfrm>
                <a:off x="2068" y="3685"/>
                <a:ext cx="835" cy="150"/>
              </a:xfrm>
              <a:custGeom>
                <a:avLst/>
                <a:gdLst/>
                <a:ahLst/>
                <a:cxnLst>
                  <a:cxn ang="0">
                    <a:pos x="518" y="18"/>
                  </a:cxn>
                  <a:cxn ang="0">
                    <a:pos x="597" y="24"/>
                  </a:cxn>
                  <a:cxn ang="0">
                    <a:pos x="682" y="30"/>
                  </a:cxn>
                  <a:cxn ang="0">
                    <a:pos x="755" y="42"/>
                  </a:cxn>
                  <a:cxn ang="0">
                    <a:pos x="828" y="60"/>
                  </a:cxn>
                  <a:cxn ang="0">
                    <a:pos x="835" y="42"/>
                  </a:cxn>
                  <a:cxn ang="0">
                    <a:pos x="761" y="24"/>
                  </a:cxn>
                  <a:cxn ang="0">
                    <a:pos x="688" y="12"/>
                  </a:cxn>
                  <a:cxn ang="0">
                    <a:pos x="603" y="6"/>
                  </a:cxn>
                  <a:cxn ang="0">
                    <a:pos x="518" y="0"/>
                  </a:cxn>
                  <a:cxn ang="0">
                    <a:pos x="372" y="12"/>
                  </a:cxn>
                  <a:cxn ang="0">
                    <a:pos x="232" y="36"/>
                  </a:cxn>
                  <a:cxn ang="0">
                    <a:pos x="110" y="78"/>
                  </a:cxn>
                  <a:cxn ang="0">
                    <a:pos x="0" y="132"/>
                  </a:cxn>
                  <a:cxn ang="0">
                    <a:pos x="19" y="150"/>
                  </a:cxn>
                  <a:cxn ang="0">
                    <a:pos x="122" y="96"/>
                  </a:cxn>
                  <a:cxn ang="0">
                    <a:pos x="244" y="54"/>
                  </a:cxn>
                  <a:cxn ang="0">
                    <a:pos x="378" y="30"/>
                  </a:cxn>
                  <a:cxn ang="0">
                    <a:pos x="518" y="18"/>
                  </a:cxn>
                  <a:cxn ang="0">
                    <a:pos x="518" y="18"/>
                  </a:cxn>
                </a:cxnLst>
                <a:rect l="0" t="0" r="r" b="b"/>
                <a:pathLst>
                  <a:path w="835" h="150">
                    <a:moveTo>
                      <a:pt x="518" y="18"/>
                    </a:moveTo>
                    <a:lnTo>
                      <a:pt x="597" y="24"/>
                    </a:lnTo>
                    <a:lnTo>
                      <a:pt x="682" y="30"/>
                    </a:lnTo>
                    <a:lnTo>
                      <a:pt x="755" y="42"/>
                    </a:lnTo>
                    <a:lnTo>
                      <a:pt x="828" y="60"/>
                    </a:lnTo>
                    <a:lnTo>
                      <a:pt x="835" y="42"/>
                    </a:lnTo>
                    <a:lnTo>
                      <a:pt x="761" y="24"/>
                    </a:lnTo>
                    <a:lnTo>
                      <a:pt x="688" y="12"/>
                    </a:lnTo>
                    <a:lnTo>
                      <a:pt x="603" y="6"/>
                    </a:lnTo>
                    <a:lnTo>
                      <a:pt x="518" y="0"/>
                    </a:lnTo>
                    <a:lnTo>
                      <a:pt x="372" y="12"/>
                    </a:lnTo>
                    <a:lnTo>
                      <a:pt x="232" y="36"/>
                    </a:lnTo>
                    <a:lnTo>
                      <a:pt x="110" y="78"/>
                    </a:lnTo>
                    <a:lnTo>
                      <a:pt x="0" y="132"/>
                    </a:lnTo>
                    <a:lnTo>
                      <a:pt x="19" y="150"/>
                    </a:lnTo>
                    <a:lnTo>
                      <a:pt x="122" y="96"/>
                    </a:lnTo>
                    <a:lnTo>
                      <a:pt x="244" y="54"/>
                    </a:lnTo>
                    <a:lnTo>
                      <a:pt x="378" y="30"/>
                    </a:lnTo>
                    <a:lnTo>
                      <a:pt x="518" y="18"/>
                    </a:lnTo>
                    <a:lnTo>
                      <a:pt x="518" y="18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89118" name="Freeform 30"/>
              <p:cNvSpPr>
                <a:spLocks/>
              </p:cNvSpPr>
              <p:nvPr/>
            </p:nvSpPr>
            <p:spPr bwMode="hidden">
              <a:xfrm>
                <a:off x="1867" y="3853"/>
                <a:ext cx="171" cy="461"/>
              </a:xfrm>
              <a:custGeom>
                <a:avLst/>
                <a:gdLst/>
                <a:ahLst/>
                <a:cxnLst>
                  <a:cxn ang="0">
                    <a:pos x="31" y="263"/>
                  </a:cxn>
                  <a:cxn ang="0">
                    <a:pos x="43" y="191"/>
                  </a:cxn>
                  <a:cxn ang="0">
                    <a:pos x="67" y="131"/>
                  </a:cxn>
                  <a:cxn ang="0">
                    <a:pos x="116" y="72"/>
                  </a:cxn>
                  <a:cxn ang="0">
                    <a:pos x="171" y="18"/>
                  </a:cxn>
                  <a:cxn ang="0">
                    <a:pos x="153" y="0"/>
                  </a:cxn>
                  <a:cxn ang="0">
                    <a:pos x="86" y="60"/>
                  </a:cxn>
                  <a:cxn ang="0">
                    <a:pos x="43" y="120"/>
                  </a:cxn>
                  <a:cxn ang="0">
                    <a:pos x="13" y="191"/>
                  </a:cxn>
                  <a:cxn ang="0">
                    <a:pos x="0" y="263"/>
                  </a:cxn>
                  <a:cxn ang="0">
                    <a:pos x="6" y="317"/>
                  </a:cxn>
                  <a:cxn ang="0">
                    <a:pos x="25" y="365"/>
                  </a:cxn>
                  <a:cxn ang="0">
                    <a:pos x="49" y="413"/>
                  </a:cxn>
                  <a:cxn ang="0">
                    <a:pos x="86" y="461"/>
                  </a:cxn>
                  <a:cxn ang="0">
                    <a:pos x="122" y="461"/>
                  </a:cxn>
                  <a:cxn ang="0">
                    <a:pos x="86" y="413"/>
                  </a:cxn>
                  <a:cxn ang="0">
                    <a:pos x="55" y="365"/>
                  </a:cxn>
                  <a:cxn ang="0">
                    <a:pos x="37" y="317"/>
                  </a:cxn>
                  <a:cxn ang="0">
                    <a:pos x="31" y="263"/>
                  </a:cxn>
                  <a:cxn ang="0">
                    <a:pos x="31" y="263"/>
                  </a:cxn>
                </a:cxnLst>
                <a:rect l="0" t="0" r="r" b="b"/>
                <a:pathLst>
                  <a:path w="171" h="461">
                    <a:moveTo>
                      <a:pt x="31" y="263"/>
                    </a:moveTo>
                    <a:lnTo>
                      <a:pt x="43" y="191"/>
                    </a:lnTo>
                    <a:lnTo>
                      <a:pt x="67" y="131"/>
                    </a:lnTo>
                    <a:lnTo>
                      <a:pt x="116" y="72"/>
                    </a:lnTo>
                    <a:lnTo>
                      <a:pt x="171" y="18"/>
                    </a:lnTo>
                    <a:lnTo>
                      <a:pt x="153" y="0"/>
                    </a:lnTo>
                    <a:lnTo>
                      <a:pt x="86" y="60"/>
                    </a:lnTo>
                    <a:lnTo>
                      <a:pt x="43" y="120"/>
                    </a:lnTo>
                    <a:lnTo>
                      <a:pt x="13" y="191"/>
                    </a:lnTo>
                    <a:lnTo>
                      <a:pt x="0" y="263"/>
                    </a:lnTo>
                    <a:lnTo>
                      <a:pt x="6" y="317"/>
                    </a:lnTo>
                    <a:lnTo>
                      <a:pt x="25" y="365"/>
                    </a:lnTo>
                    <a:lnTo>
                      <a:pt x="49" y="413"/>
                    </a:lnTo>
                    <a:lnTo>
                      <a:pt x="86" y="461"/>
                    </a:lnTo>
                    <a:lnTo>
                      <a:pt x="122" y="461"/>
                    </a:lnTo>
                    <a:lnTo>
                      <a:pt x="86" y="413"/>
                    </a:lnTo>
                    <a:lnTo>
                      <a:pt x="55" y="365"/>
                    </a:lnTo>
                    <a:lnTo>
                      <a:pt x="37" y="317"/>
                    </a:lnTo>
                    <a:lnTo>
                      <a:pt x="31" y="263"/>
                    </a:lnTo>
                    <a:lnTo>
                      <a:pt x="31" y="263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89119" name="Freeform 31"/>
              <p:cNvSpPr>
                <a:spLocks/>
              </p:cNvSpPr>
              <p:nvPr/>
            </p:nvSpPr>
            <p:spPr bwMode="hidden">
              <a:xfrm>
                <a:off x="2951" y="3751"/>
                <a:ext cx="360" cy="563"/>
              </a:xfrm>
              <a:custGeom>
                <a:avLst/>
                <a:gdLst/>
                <a:ahLst/>
                <a:cxnLst>
                  <a:cxn ang="0">
                    <a:pos x="360" y="365"/>
                  </a:cxn>
                  <a:cxn ang="0">
                    <a:pos x="353" y="305"/>
                  </a:cxn>
                  <a:cxn ang="0">
                    <a:pos x="335" y="251"/>
                  </a:cxn>
                  <a:cxn ang="0">
                    <a:pos x="305" y="204"/>
                  </a:cxn>
                  <a:cxn ang="0">
                    <a:pos x="262" y="156"/>
                  </a:cxn>
                  <a:cxn ang="0">
                    <a:pos x="213" y="108"/>
                  </a:cxn>
                  <a:cxn ang="0">
                    <a:pos x="159" y="66"/>
                  </a:cxn>
                  <a:cxn ang="0">
                    <a:pos x="92" y="30"/>
                  </a:cxn>
                  <a:cxn ang="0">
                    <a:pos x="19" y="0"/>
                  </a:cxn>
                  <a:cxn ang="0">
                    <a:pos x="0" y="12"/>
                  </a:cxn>
                  <a:cxn ang="0">
                    <a:pos x="67" y="42"/>
                  </a:cxn>
                  <a:cxn ang="0">
                    <a:pos x="134" y="78"/>
                  </a:cxn>
                  <a:cxn ang="0">
                    <a:pos x="189" y="114"/>
                  </a:cxn>
                  <a:cxn ang="0">
                    <a:pos x="238" y="162"/>
                  </a:cxn>
                  <a:cxn ang="0">
                    <a:pos x="274" y="210"/>
                  </a:cxn>
                  <a:cxn ang="0">
                    <a:pos x="299" y="257"/>
                  </a:cxn>
                  <a:cxn ang="0">
                    <a:pos x="317" y="311"/>
                  </a:cxn>
                  <a:cxn ang="0">
                    <a:pos x="323" y="365"/>
                  </a:cxn>
                  <a:cxn ang="0">
                    <a:pos x="317" y="419"/>
                  </a:cxn>
                  <a:cxn ang="0">
                    <a:pos x="299" y="467"/>
                  </a:cxn>
                  <a:cxn ang="0">
                    <a:pos x="274" y="515"/>
                  </a:cxn>
                  <a:cxn ang="0">
                    <a:pos x="238" y="563"/>
                  </a:cxn>
                  <a:cxn ang="0">
                    <a:pos x="268" y="563"/>
                  </a:cxn>
                  <a:cxn ang="0">
                    <a:pos x="311" y="515"/>
                  </a:cxn>
                  <a:cxn ang="0">
                    <a:pos x="335" y="467"/>
                  </a:cxn>
                  <a:cxn ang="0">
                    <a:pos x="353" y="419"/>
                  </a:cxn>
                  <a:cxn ang="0">
                    <a:pos x="360" y="365"/>
                  </a:cxn>
                  <a:cxn ang="0">
                    <a:pos x="360" y="365"/>
                  </a:cxn>
                </a:cxnLst>
                <a:rect l="0" t="0" r="r" b="b"/>
                <a:pathLst>
                  <a:path w="360" h="563">
                    <a:moveTo>
                      <a:pt x="360" y="365"/>
                    </a:moveTo>
                    <a:lnTo>
                      <a:pt x="353" y="305"/>
                    </a:lnTo>
                    <a:lnTo>
                      <a:pt x="335" y="251"/>
                    </a:lnTo>
                    <a:lnTo>
                      <a:pt x="305" y="204"/>
                    </a:lnTo>
                    <a:lnTo>
                      <a:pt x="262" y="156"/>
                    </a:lnTo>
                    <a:lnTo>
                      <a:pt x="213" y="108"/>
                    </a:lnTo>
                    <a:lnTo>
                      <a:pt x="159" y="66"/>
                    </a:lnTo>
                    <a:lnTo>
                      <a:pt x="92" y="30"/>
                    </a:lnTo>
                    <a:lnTo>
                      <a:pt x="19" y="0"/>
                    </a:lnTo>
                    <a:lnTo>
                      <a:pt x="0" y="12"/>
                    </a:lnTo>
                    <a:lnTo>
                      <a:pt x="67" y="42"/>
                    </a:lnTo>
                    <a:lnTo>
                      <a:pt x="134" y="78"/>
                    </a:lnTo>
                    <a:lnTo>
                      <a:pt x="189" y="114"/>
                    </a:lnTo>
                    <a:lnTo>
                      <a:pt x="238" y="162"/>
                    </a:lnTo>
                    <a:lnTo>
                      <a:pt x="274" y="210"/>
                    </a:lnTo>
                    <a:lnTo>
                      <a:pt x="299" y="257"/>
                    </a:lnTo>
                    <a:lnTo>
                      <a:pt x="317" y="311"/>
                    </a:lnTo>
                    <a:lnTo>
                      <a:pt x="323" y="365"/>
                    </a:lnTo>
                    <a:lnTo>
                      <a:pt x="317" y="419"/>
                    </a:lnTo>
                    <a:lnTo>
                      <a:pt x="299" y="467"/>
                    </a:lnTo>
                    <a:lnTo>
                      <a:pt x="274" y="515"/>
                    </a:lnTo>
                    <a:lnTo>
                      <a:pt x="238" y="563"/>
                    </a:lnTo>
                    <a:lnTo>
                      <a:pt x="268" y="563"/>
                    </a:lnTo>
                    <a:lnTo>
                      <a:pt x="311" y="515"/>
                    </a:lnTo>
                    <a:lnTo>
                      <a:pt x="335" y="467"/>
                    </a:lnTo>
                    <a:lnTo>
                      <a:pt x="353" y="419"/>
                    </a:lnTo>
                    <a:lnTo>
                      <a:pt x="360" y="365"/>
                    </a:lnTo>
                    <a:lnTo>
                      <a:pt x="360" y="3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7843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89120" name="Freeform 32"/>
              <p:cNvSpPr>
                <a:spLocks/>
              </p:cNvSpPr>
              <p:nvPr/>
            </p:nvSpPr>
            <p:spPr bwMode="hidden">
              <a:xfrm>
                <a:off x="2318" y="3631"/>
                <a:ext cx="1078" cy="425"/>
              </a:xfrm>
              <a:custGeom>
                <a:avLst/>
                <a:gdLst/>
                <a:ahLst/>
                <a:cxnLst>
                  <a:cxn ang="0">
                    <a:pos x="1053" y="425"/>
                  </a:cxn>
                  <a:cxn ang="0">
                    <a:pos x="1078" y="419"/>
                  </a:cxn>
                  <a:cxn ang="0">
                    <a:pos x="1066" y="377"/>
                  </a:cxn>
                  <a:cxn ang="0">
                    <a:pos x="1047" y="336"/>
                  </a:cxn>
                  <a:cxn ang="0">
                    <a:pos x="986" y="252"/>
                  </a:cxn>
                  <a:cxn ang="0">
                    <a:pos x="907" y="180"/>
                  </a:cxn>
                  <a:cxn ang="0">
                    <a:pos x="810" y="120"/>
                  </a:cxn>
                  <a:cxn ang="0">
                    <a:pos x="694" y="72"/>
                  </a:cxn>
                  <a:cxn ang="0">
                    <a:pos x="560" y="30"/>
                  </a:cxn>
                  <a:cxn ang="0">
                    <a:pos x="420" y="6"/>
                  </a:cxn>
                  <a:cxn ang="0">
                    <a:pos x="268" y="0"/>
                  </a:cxn>
                  <a:cxn ang="0">
                    <a:pos x="134" y="6"/>
                  </a:cxn>
                  <a:cxn ang="0">
                    <a:pos x="0" y="24"/>
                  </a:cxn>
                  <a:cxn ang="0">
                    <a:pos x="12" y="36"/>
                  </a:cxn>
                  <a:cxn ang="0">
                    <a:pos x="134" y="18"/>
                  </a:cxn>
                  <a:cxn ang="0">
                    <a:pos x="268" y="12"/>
                  </a:cxn>
                  <a:cxn ang="0">
                    <a:pos x="420" y="18"/>
                  </a:cxn>
                  <a:cxn ang="0">
                    <a:pos x="554" y="42"/>
                  </a:cxn>
                  <a:cxn ang="0">
                    <a:pos x="682" y="84"/>
                  </a:cxn>
                  <a:cxn ang="0">
                    <a:pos x="798" y="132"/>
                  </a:cxn>
                  <a:cxn ang="0">
                    <a:pos x="895" y="192"/>
                  </a:cxn>
                  <a:cxn ang="0">
                    <a:pos x="968" y="264"/>
                  </a:cxn>
                  <a:cxn ang="0">
                    <a:pos x="999" y="300"/>
                  </a:cxn>
                  <a:cxn ang="0">
                    <a:pos x="1023" y="342"/>
                  </a:cxn>
                  <a:cxn ang="0">
                    <a:pos x="1041" y="383"/>
                  </a:cxn>
                  <a:cxn ang="0">
                    <a:pos x="1053" y="425"/>
                  </a:cxn>
                  <a:cxn ang="0">
                    <a:pos x="1053" y="425"/>
                  </a:cxn>
                </a:cxnLst>
                <a:rect l="0" t="0" r="r" b="b"/>
                <a:pathLst>
                  <a:path w="1078" h="425">
                    <a:moveTo>
                      <a:pt x="1053" y="425"/>
                    </a:moveTo>
                    <a:lnTo>
                      <a:pt x="1078" y="419"/>
                    </a:lnTo>
                    <a:lnTo>
                      <a:pt x="1066" y="377"/>
                    </a:lnTo>
                    <a:lnTo>
                      <a:pt x="1047" y="336"/>
                    </a:lnTo>
                    <a:lnTo>
                      <a:pt x="986" y="252"/>
                    </a:lnTo>
                    <a:lnTo>
                      <a:pt x="907" y="180"/>
                    </a:lnTo>
                    <a:lnTo>
                      <a:pt x="810" y="120"/>
                    </a:lnTo>
                    <a:lnTo>
                      <a:pt x="694" y="72"/>
                    </a:lnTo>
                    <a:lnTo>
                      <a:pt x="560" y="30"/>
                    </a:lnTo>
                    <a:lnTo>
                      <a:pt x="420" y="6"/>
                    </a:lnTo>
                    <a:lnTo>
                      <a:pt x="268" y="0"/>
                    </a:lnTo>
                    <a:lnTo>
                      <a:pt x="134" y="6"/>
                    </a:lnTo>
                    <a:lnTo>
                      <a:pt x="0" y="24"/>
                    </a:lnTo>
                    <a:lnTo>
                      <a:pt x="12" y="36"/>
                    </a:lnTo>
                    <a:lnTo>
                      <a:pt x="134" y="18"/>
                    </a:lnTo>
                    <a:lnTo>
                      <a:pt x="268" y="12"/>
                    </a:lnTo>
                    <a:lnTo>
                      <a:pt x="420" y="18"/>
                    </a:lnTo>
                    <a:lnTo>
                      <a:pt x="554" y="42"/>
                    </a:lnTo>
                    <a:lnTo>
                      <a:pt x="682" y="84"/>
                    </a:lnTo>
                    <a:lnTo>
                      <a:pt x="798" y="132"/>
                    </a:lnTo>
                    <a:lnTo>
                      <a:pt x="895" y="192"/>
                    </a:lnTo>
                    <a:lnTo>
                      <a:pt x="968" y="264"/>
                    </a:lnTo>
                    <a:lnTo>
                      <a:pt x="999" y="300"/>
                    </a:lnTo>
                    <a:lnTo>
                      <a:pt x="1023" y="342"/>
                    </a:lnTo>
                    <a:lnTo>
                      <a:pt x="1041" y="383"/>
                    </a:lnTo>
                    <a:lnTo>
                      <a:pt x="1053" y="425"/>
                    </a:lnTo>
                    <a:lnTo>
                      <a:pt x="1053" y="42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7843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89121" name="Freeform 33"/>
              <p:cNvSpPr>
                <a:spLocks/>
              </p:cNvSpPr>
              <p:nvPr/>
            </p:nvSpPr>
            <p:spPr bwMode="hidden">
              <a:xfrm>
                <a:off x="3304" y="4080"/>
                <a:ext cx="98" cy="234"/>
              </a:xfrm>
              <a:custGeom>
                <a:avLst/>
                <a:gdLst/>
                <a:ahLst/>
                <a:cxnLst>
                  <a:cxn ang="0">
                    <a:pos x="0" y="234"/>
                  </a:cxn>
                  <a:cxn ang="0">
                    <a:pos x="25" y="234"/>
                  </a:cxn>
                  <a:cxn ang="0">
                    <a:pos x="55" y="186"/>
                  </a:cxn>
                  <a:cxn ang="0">
                    <a:pos x="80" y="138"/>
                  </a:cxn>
                  <a:cxn ang="0">
                    <a:pos x="92" y="90"/>
                  </a:cxn>
                  <a:cxn ang="0">
                    <a:pos x="98" y="36"/>
                  </a:cxn>
                  <a:cxn ang="0">
                    <a:pos x="98" y="0"/>
                  </a:cxn>
                  <a:cxn ang="0">
                    <a:pos x="74" y="0"/>
                  </a:cxn>
                  <a:cxn ang="0">
                    <a:pos x="74" y="36"/>
                  </a:cxn>
                  <a:cxn ang="0">
                    <a:pos x="67" y="90"/>
                  </a:cxn>
                  <a:cxn ang="0">
                    <a:pos x="55" y="138"/>
                  </a:cxn>
                  <a:cxn ang="0">
                    <a:pos x="31" y="186"/>
                  </a:cxn>
                  <a:cxn ang="0">
                    <a:pos x="0" y="234"/>
                  </a:cxn>
                  <a:cxn ang="0">
                    <a:pos x="0" y="234"/>
                  </a:cxn>
                </a:cxnLst>
                <a:rect l="0" t="0" r="r" b="b"/>
                <a:pathLst>
                  <a:path w="98" h="234">
                    <a:moveTo>
                      <a:pt x="0" y="234"/>
                    </a:moveTo>
                    <a:lnTo>
                      <a:pt x="25" y="234"/>
                    </a:lnTo>
                    <a:lnTo>
                      <a:pt x="55" y="186"/>
                    </a:lnTo>
                    <a:lnTo>
                      <a:pt x="80" y="138"/>
                    </a:lnTo>
                    <a:lnTo>
                      <a:pt x="92" y="90"/>
                    </a:lnTo>
                    <a:lnTo>
                      <a:pt x="98" y="36"/>
                    </a:lnTo>
                    <a:lnTo>
                      <a:pt x="98" y="0"/>
                    </a:lnTo>
                    <a:lnTo>
                      <a:pt x="74" y="0"/>
                    </a:lnTo>
                    <a:lnTo>
                      <a:pt x="74" y="36"/>
                    </a:lnTo>
                    <a:lnTo>
                      <a:pt x="67" y="90"/>
                    </a:lnTo>
                    <a:lnTo>
                      <a:pt x="55" y="138"/>
                    </a:lnTo>
                    <a:lnTo>
                      <a:pt x="31" y="186"/>
                    </a:lnTo>
                    <a:lnTo>
                      <a:pt x="0" y="234"/>
                    </a:lnTo>
                    <a:lnTo>
                      <a:pt x="0" y="23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7843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89122" name="Freeform 34"/>
              <p:cNvSpPr>
                <a:spLocks/>
              </p:cNvSpPr>
              <p:nvPr/>
            </p:nvSpPr>
            <p:spPr bwMode="hidden">
              <a:xfrm>
                <a:off x="1776" y="3673"/>
                <a:ext cx="481" cy="641"/>
              </a:xfrm>
              <a:custGeom>
                <a:avLst/>
                <a:gdLst/>
                <a:ahLst/>
                <a:cxnLst>
                  <a:cxn ang="0">
                    <a:pos x="18" y="443"/>
                  </a:cxn>
                  <a:cxn ang="0">
                    <a:pos x="24" y="371"/>
                  </a:cxn>
                  <a:cxn ang="0">
                    <a:pos x="55" y="305"/>
                  </a:cxn>
                  <a:cxn ang="0">
                    <a:pos x="91" y="246"/>
                  </a:cxn>
                  <a:cxn ang="0">
                    <a:pos x="146" y="186"/>
                  </a:cxn>
                  <a:cxn ang="0">
                    <a:pos x="213" y="132"/>
                  </a:cxn>
                  <a:cxn ang="0">
                    <a:pos x="292" y="84"/>
                  </a:cxn>
                  <a:cxn ang="0">
                    <a:pos x="384" y="48"/>
                  </a:cxn>
                  <a:cxn ang="0">
                    <a:pos x="481" y="12"/>
                  </a:cxn>
                  <a:cxn ang="0">
                    <a:pos x="457" y="0"/>
                  </a:cxn>
                  <a:cxn ang="0">
                    <a:pos x="359" y="36"/>
                  </a:cxn>
                  <a:cxn ang="0">
                    <a:pos x="274" y="78"/>
                  </a:cxn>
                  <a:cxn ang="0">
                    <a:pos x="195" y="126"/>
                  </a:cxn>
                  <a:cxn ang="0">
                    <a:pos x="128" y="180"/>
                  </a:cxn>
                  <a:cxn ang="0">
                    <a:pos x="73" y="240"/>
                  </a:cxn>
                  <a:cxn ang="0">
                    <a:pos x="37" y="305"/>
                  </a:cxn>
                  <a:cxn ang="0">
                    <a:pos x="6" y="371"/>
                  </a:cxn>
                  <a:cxn ang="0">
                    <a:pos x="0" y="443"/>
                  </a:cxn>
                  <a:cxn ang="0">
                    <a:pos x="6" y="497"/>
                  </a:cxn>
                  <a:cxn ang="0">
                    <a:pos x="18" y="545"/>
                  </a:cxn>
                  <a:cxn ang="0">
                    <a:pos x="43" y="593"/>
                  </a:cxn>
                  <a:cxn ang="0">
                    <a:pos x="73" y="641"/>
                  </a:cxn>
                  <a:cxn ang="0">
                    <a:pos x="97" y="641"/>
                  </a:cxn>
                  <a:cxn ang="0">
                    <a:pos x="67" y="593"/>
                  </a:cxn>
                  <a:cxn ang="0">
                    <a:pos x="43" y="545"/>
                  </a:cxn>
                  <a:cxn ang="0">
                    <a:pos x="24" y="497"/>
                  </a:cxn>
                  <a:cxn ang="0">
                    <a:pos x="18" y="443"/>
                  </a:cxn>
                  <a:cxn ang="0">
                    <a:pos x="18" y="443"/>
                  </a:cxn>
                </a:cxnLst>
                <a:rect l="0" t="0" r="r" b="b"/>
                <a:pathLst>
                  <a:path w="481" h="641">
                    <a:moveTo>
                      <a:pt x="18" y="443"/>
                    </a:moveTo>
                    <a:lnTo>
                      <a:pt x="24" y="371"/>
                    </a:lnTo>
                    <a:lnTo>
                      <a:pt x="55" y="305"/>
                    </a:lnTo>
                    <a:lnTo>
                      <a:pt x="91" y="246"/>
                    </a:lnTo>
                    <a:lnTo>
                      <a:pt x="146" y="186"/>
                    </a:lnTo>
                    <a:lnTo>
                      <a:pt x="213" y="132"/>
                    </a:lnTo>
                    <a:lnTo>
                      <a:pt x="292" y="84"/>
                    </a:lnTo>
                    <a:lnTo>
                      <a:pt x="384" y="48"/>
                    </a:lnTo>
                    <a:lnTo>
                      <a:pt x="481" y="12"/>
                    </a:lnTo>
                    <a:lnTo>
                      <a:pt x="457" y="0"/>
                    </a:lnTo>
                    <a:lnTo>
                      <a:pt x="359" y="36"/>
                    </a:lnTo>
                    <a:lnTo>
                      <a:pt x="274" y="78"/>
                    </a:lnTo>
                    <a:lnTo>
                      <a:pt x="195" y="126"/>
                    </a:lnTo>
                    <a:lnTo>
                      <a:pt x="128" y="180"/>
                    </a:lnTo>
                    <a:lnTo>
                      <a:pt x="73" y="240"/>
                    </a:lnTo>
                    <a:lnTo>
                      <a:pt x="37" y="305"/>
                    </a:lnTo>
                    <a:lnTo>
                      <a:pt x="6" y="371"/>
                    </a:lnTo>
                    <a:lnTo>
                      <a:pt x="0" y="443"/>
                    </a:lnTo>
                    <a:lnTo>
                      <a:pt x="6" y="497"/>
                    </a:lnTo>
                    <a:lnTo>
                      <a:pt x="18" y="545"/>
                    </a:lnTo>
                    <a:lnTo>
                      <a:pt x="43" y="593"/>
                    </a:lnTo>
                    <a:lnTo>
                      <a:pt x="73" y="641"/>
                    </a:lnTo>
                    <a:lnTo>
                      <a:pt x="97" y="641"/>
                    </a:lnTo>
                    <a:lnTo>
                      <a:pt x="67" y="593"/>
                    </a:lnTo>
                    <a:lnTo>
                      <a:pt x="43" y="545"/>
                    </a:lnTo>
                    <a:lnTo>
                      <a:pt x="24" y="497"/>
                    </a:lnTo>
                    <a:lnTo>
                      <a:pt x="18" y="443"/>
                    </a:lnTo>
                    <a:lnTo>
                      <a:pt x="18" y="443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89123" name="Freeform 35"/>
              <p:cNvSpPr>
                <a:spLocks noEditPoints="1"/>
              </p:cNvSpPr>
              <p:nvPr/>
            </p:nvSpPr>
            <p:spPr bwMode="hidden">
              <a:xfrm>
                <a:off x="4200" y="3402"/>
                <a:ext cx="1201" cy="731"/>
              </a:xfrm>
              <a:custGeom>
                <a:avLst/>
                <a:gdLst/>
                <a:ahLst/>
                <a:cxnLst>
                  <a:cxn ang="0">
                    <a:pos x="484" y="6"/>
                  </a:cxn>
                  <a:cxn ang="0">
                    <a:pos x="263" y="60"/>
                  </a:cxn>
                  <a:cxn ang="0">
                    <a:pos x="101" y="162"/>
                  </a:cxn>
                  <a:cxn ang="0">
                    <a:pos x="12" y="294"/>
                  </a:cxn>
                  <a:cxn ang="0">
                    <a:pos x="0" y="366"/>
                  </a:cxn>
                  <a:cxn ang="0">
                    <a:pos x="12" y="437"/>
                  </a:cxn>
                  <a:cxn ang="0">
                    <a:pos x="101" y="569"/>
                  </a:cxn>
                  <a:cxn ang="0">
                    <a:pos x="263" y="671"/>
                  </a:cxn>
                  <a:cxn ang="0">
                    <a:pos x="484" y="725"/>
                  </a:cxn>
                  <a:cxn ang="0">
                    <a:pos x="723" y="725"/>
                  </a:cxn>
                  <a:cxn ang="0">
                    <a:pos x="938" y="671"/>
                  </a:cxn>
                  <a:cxn ang="0">
                    <a:pos x="1100" y="569"/>
                  </a:cxn>
                  <a:cxn ang="0">
                    <a:pos x="1189" y="437"/>
                  </a:cxn>
                  <a:cxn ang="0">
                    <a:pos x="1201" y="366"/>
                  </a:cxn>
                  <a:cxn ang="0">
                    <a:pos x="1189" y="294"/>
                  </a:cxn>
                  <a:cxn ang="0">
                    <a:pos x="1100" y="162"/>
                  </a:cxn>
                  <a:cxn ang="0">
                    <a:pos x="938" y="60"/>
                  </a:cxn>
                  <a:cxn ang="0">
                    <a:pos x="723" y="6"/>
                  </a:cxn>
                  <a:cxn ang="0">
                    <a:pos x="604" y="0"/>
                  </a:cxn>
                  <a:cxn ang="0">
                    <a:pos x="490" y="701"/>
                  </a:cxn>
                  <a:cxn ang="0">
                    <a:pos x="287" y="647"/>
                  </a:cxn>
                  <a:cxn ang="0">
                    <a:pos x="131" y="557"/>
                  </a:cxn>
                  <a:cxn ang="0">
                    <a:pos x="48" y="437"/>
                  </a:cxn>
                  <a:cxn ang="0">
                    <a:pos x="36" y="366"/>
                  </a:cxn>
                  <a:cxn ang="0">
                    <a:pos x="48" y="300"/>
                  </a:cxn>
                  <a:cxn ang="0">
                    <a:pos x="131" y="174"/>
                  </a:cxn>
                  <a:cxn ang="0">
                    <a:pos x="287" y="84"/>
                  </a:cxn>
                  <a:cxn ang="0">
                    <a:pos x="490" y="30"/>
                  </a:cxn>
                  <a:cxn ang="0">
                    <a:pos x="717" y="30"/>
                  </a:cxn>
                  <a:cxn ang="0">
                    <a:pos x="920" y="84"/>
                  </a:cxn>
                  <a:cxn ang="0">
                    <a:pos x="1070" y="174"/>
                  </a:cxn>
                  <a:cxn ang="0">
                    <a:pos x="1153" y="300"/>
                  </a:cxn>
                  <a:cxn ang="0">
                    <a:pos x="1153" y="437"/>
                  </a:cxn>
                  <a:cxn ang="0">
                    <a:pos x="1070" y="557"/>
                  </a:cxn>
                  <a:cxn ang="0">
                    <a:pos x="920" y="647"/>
                  </a:cxn>
                  <a:cxn ang="0">
                    <a:pos x="717" y="701"/>
                  </a:cxn>
                  <a:cxn ang="0">
                    <a:pos x="604" y="707"/>
                  </a:cxn>
                </a:cxnLst>
                <a:rect l="0" t="0" r="r" b="b"/>
                <a:pathLst>
                  <a:path w="1201" h="731">
                    <a:moveTo>
                      <a:pt x="604" y="0"/>
                    </a:moveTo>
                    <a:lnTo>
                      <a:pt x="484" y="6"/>
                    </a:lnTo>
                    <a:lnTo>
                      <a:pt x="370" y="30"/>
                    </a:lnTo>
                    <a:lnTo>
                      <a:pt x="263" y="60"/>
                    </a:lnTo>
                    <a:lnTo>
                      <a:pt x="179" y="108"/>
                    </a:lnTo>
                    <a:lnTo>
                      <a:pt x="101" y="162"/>
                    </a:lnTo>
                    <a:lnTo>
                      <a:pt x="48" y="222"/>
                    </a:lnTo>
                    <a:lnTo>
                      <a:pt x="12" y="294"/>
                    </a:lnTo>
                    <a:lnTo>
                      <a:pt x="6" y="330"/>
                    </a:lnTo>
                    <a:lnTo>
                      <a:pt x="0" y="366"/>
                    </a:lnTo>
                    <a:lnTo>
                      <a:pt x="6" y="401"/>
                    </a:lnTo>
                    <a:lnTo>
                      <a:pt x="12" y="437"/>
                    </a:lnTo>
                    <a:lnTo>
                      <a:pt x="48" y="509"/>
                    </a:lnTo>
                    <a:lnTo>
                      <a:pt x="101" y="569"/>
                    </a:lnTo>
                    <a:lnTo>
                      <a:pt x="179" y="623"/>
                    </a:lnTo>
                    <a:lnTo>
                      <a:pt x="263" y="671"/>
                    </a:lnTo>
                    <a:lnTo>
                      <a:pt x="370" y="701"/>
                    </a:lnTo>
                    <a:lnTo>
                      <a:pt x="484" y="725"/>
                    </a:lnTo>
                    <a:lnTo>
                      <a:pt x="604" y="731"/>
                    </a:lnTo>
                    <a:lnTo>
                      <a:pt x="723" y="725"/>
                    </a:lnTo>
                    <a:lnTo>
                      <a:pt x="837" y="701"/>
                    </a:lnTo>
                    <a:lnTo>
                      <a:pt x="938" y="671"/>
                    </a:lnTo>
                    <a:lnTo>
                      <a:pt x="1028" y="623"/>
                    </a:lnTo>
                    <a:lnTo>
                      <a:pt x="1100" y="569"/>
                    </a:lnTo>
                    <a:lnTo>
                      <a:pt x="1153" y="509"/>
                    </a:lnTo>
                    <a:lnTo>
                      <a:pt x="1189" y="437"/>
                    </a:lnTo>
                    <a:lnTo>
                      <a:pt x="1201" y="401"/>
                    </a:lnTo>
                    <a:lnTo>
                      <a:pt x="1201" y="366"/>
                    </a:lnTo>
                    <a:lnTo>
                      <a:pt x="1201" y="330"/>
                    </a:lnTo>
                    <a:lnTo>
                      <a:pt x="1189" y="294"/>
                    </a:lnTo>
                    <a:lnTo>
                      <a:pt x="1153" y="222"/>
                    </a:lnTo>
                    <a:lnTo>
                      <a:pt x="1100" y="162"/>
                    </a:lnTo>
                    <a:lnTo>
                      <a:pt x="1028" y="108"/>
                    </a:lnTo>
                    <a:lnTo>
                      <a:pt x="938" y="60"/>
                    </a:lnTo>
                    <a:lnTo>
                      <a:pt x="837" y="30"/>
                    </a:lnTo>
                    <a:lnTo>
                      <a:pt x="723" y="6"/>
                    </a:lnTo>
                    <a:lnTo>
                      <a:pt x="604" y="0"/>
                    </a:lnTo>
                    <a:lnTo>
                      <a:pt x="604" y="0"/>
                    </a:lnTo>
                    <a:close/>
                    <a:moveTo>
                      <a:pt x="604" y="707"/>
                    </a:moveTo>
                    <a:lnTo>
                      <a:pt x="490" y="701"/>
                    </a:lnTo>
                    <a:lnTo>
                      <a:pt x="382" y="683"/>
                    </a:lnTo>
                    <a:lnTo>
                      <a:pt x="287" y="647"/>
                    </a:lnTo>
                    <a:lnTo>
                      <a:pt x="203" y="611"/>
                    </a:lnTo>
                    <a:lnTo>
                      <a:pt x="131" y="557"/>
                    </a:lnTo>
                    <a:lnTo>
                      <a:pt x="83" y="497"/>
                    </a:lnTo>
                    <a:lnTo>
                      <a:pt x="48" y="437"/>
                    </a:lnTo>
                    <a:lnTo>
                      <a:pt x="42" y="401"/>
                    </a:lnTo>
                    <a:lnTo>
                      <a:pt x="36" y="366"/>
                    </a:lnTo>
                    <a:lnTo>
                      <a:pt x="42" y="330"/>
                    </a:lnTo>
                    <a:lnTo>
                      <a:pt x="48" y="300"/>
                    </a:lnTo>
                    <a:lnTo>
                      <a:pt x="83" y="234"/>
                    </a:lnTo>
                    <a:lnTo>
                      <a:pt x="131" y="174"/>
                    </a:lnTo>
                    <a:lnTo>
                      <a:pt x="203" y="126"/>
                    </a:lnTo>
                    <a:lnTo>
                      <a:pt x="287" y="84"/>
                    </a:lnTo>
                    <a:lnTo>
                      <a:pt x="382" y="54"/>
                    </a:lnTo>
                    <a:lnTo>
                      <a:pt x="490" y="30"/>
                    </a:lnTo>
                    <a:lnTo>
                      <a:pt x="604" y="24"/>
                    </a:lnTo>
                    <a:lnTo>
                      <a:pt x="717" y="30"/>
                    </a:lnTo>
                    <a:lnTo>
                      <a:pt x="825" y="54"/>
                    </a:lnTo>
                    <a:lnTo>
                      <a:pt x="920" y="84"/>
                    </a:lnTo>
                    <a:lnTo>
                      <a:pt x="1004" y="126"/>
                    </a:lnTo>
                    <a:lnTo>
                      <a:pt x="1070" y="174"/>
                    </a:lnTo>
                    <a:lnTo>
                      <a:pt x="1124" y="234"/>
                    </a:lnTo>
                    <a:lnTo>
                      <a:pt x="1153" y="300"/>
                    </a:lnTo>
                    <a:lnTo>
                      <a:pt x="1165" y="366"/>
                    </a:lnTo>
                    <a:lnTo>
                      <a:pt x="1153" y="437"/>
                    </a:lnTo>
                    <a:lnTo>
                      <a:pt x="1124" y="497"/>
                    </a:lnTo>
                    <a:lnTo>
                      <a:pt x="1070" y="557"/>
                    </a:lnTo>
                    <a:lnTo>
                      <a:pt x="1004" y="611"/>
                    </a:lnTo>
                    <a:lnTo>
                      <a:pt x="920" y="647"/>
                    </a:lnTo>
                    <a:lnTo>
                      <a:pt x="825" y="683"/>
                    </a:lnTo>
                    <a:lnTo>
                      <a:pt x="717" y="701"/>
                    </a:lnTo>
                    <a:lnTo>
                      <a:pt x="604" y="707"/>
                    </a:lnTo>
                    <a:lnTo>
                      <a:pt x="604" y="707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tint val="96863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89124" name="Freeform 36"/>
              <p:cNvSpPr>
                <a:spLocks/>
              </p:cNvSpPr>
              <p:nvPr/>
            </p:nvSpPr>
            <p:spPr bwMode="hidden">
              <a:xfrm>
                <a:off x="4128" y="3366"/>
                <a:ext cx="544" cy="737"/>
              </a:xfrm>
              <a:custGeom>
                <a:avLst/>
                <a:gdLst/>
                <a:ahLst/>
                <a:cxnLst>
                  <a:cxn ang="0">
                    <a:pos x="24" y="402"/>
                  </a:cxn>
                  <a:cxn ang="0">
                    <a:pos x="36" y="330"/>
                  </a:cxn>
                  <a:cxn ang="0">
                    <a:pos x="66" y="264"/>
                  </a:cxn>
                  <a:cxn ang="0">
                    <a:pos x="108" y="204"/>
                  </a:cxn>
                  <a:cxn ang="0">
                    <a:pos x="173" y="150"/>
                  </a:cxn>
                  <a:cxn ang="0">
                    <a:pos x="251" y="102"/>
                  </a:cxn>
                  <a:cxn ang="0">
                    <a:pos x="335" y="60"/>
                  </a:cxn>
                  <a:cxn ang="0">
                    <a:pos x="436" y="30"/>
                  </a:cxn>
                  <a:cxn ang="0">
                    <a:pos x="544" y="12"/>
                  </a:cxn>
                  <a:cxn ang="0">
                    <a:pos x="544" y="0"/>
                  </a:cxn>
                  <a:cxn ang="0">
                    <a:pos x="430" y="18"/>
                  </a:cxn>
                  <a:cxn ang="0">
                    <a:pos x="329" y="48"/>
                  </a:cxn>
                  <a:cxn ang="0">
                    <a:pos x="233" y="90"/>
                  </a:cxn>
                  <a:cxn ang="0">
                    <a:pos x="155" y="138"/>
                  </a:cxn>
                  <a:cxn ang="0">
                    <a:pos x="90" y="198"/>
                  </a:cxn>
                  <a:cxn ang="0">
                    <a:pos x="42" y="258"/>
                  </a:cxn>
                  <a:cxn ang="0">
                    <a:pos x="12" y="330"/>
                  </a:cxn>
                  <a:cxn ang="0">
                    <a:pos x="0" y="402"/>
                  </a:cxn>
                  <a:cxn ang="0">
                    <a:pos x="6" y="455"/>
                  </a:cxn>
                  <a:cxn ang="0">
                    <a:pos x="18" y="503"/>
                  </a:cxn>
                  <a:cxn ang="0">
                    <a:pos x="42" y="545"/>
                  </a:cxn>
                  <a:cxn ang="0">
                    <a:pos x="78" y="593"/>
                  </a:cxn>
                  <a:cxn ang="0">
                    <a:pos x="114" y="635"/>
                  </a:cxn>
                  <a:cxn ang="0">
                    <a:pos x="161" y="671"/>
                  </a:cxn>
                  <a:cxn ang="0">
                    <a:pos x="221" y="707"/>
                  </a:cxn>
                  <a:cxn ang="0">
                    <a:pos x="281" y="737"/>
                  </a:cxn>
                  <a:cxn ang="0">
                    <a:pos x="323" y="737"/>
                  </a:cxn>
                  <a:cxn ang="0">
                    <a:pos x="257" y="707"/>
                  </a:cxn>
                  <a:cxn ang="0">
                    <a:pos x="203" y="671"/>
                  </a:cxn>
                  <a:cxn ang="0">
                    <a:pos x="149" y="635"/>
                  </a:cxn>
                  <a:cxn ang="0">
                    <a:pos x="108" y="593"/>
                  </a:cxn>
                  <a:cxn ang="0">
                    <a:pos x="72" y="551"/>
                  </a:cxn>
                  <a:cxn ang="0">
                    <a:pos x="48" y="503"/>
                  </a:cxn>
                  <a:cxn ang="0">
                    <a:pos x="30" y="455"/>
                  </a:cxn>
                  <a:cxn ang="0">
                    <a:pos x="24" y="402"/>
                  </a:cxn>
                  <a:cxn ang="0">
                    <a:pos x="24" y="402"/>
                  </a:cxn>
                </a:cxnLst>
                <a:rect l="0" t="0" r="r" b="b"/>
                <a:pathLst>
                  <a:path w="544" h="737">
                    <a:moveTo>
                      <a:pt x="24" y="402"/>
                    </a:moveTo>
                    <a:lnTo>
                      <a:pt x="36" y="330"/>
                    </a:lnTo>
                    <a:lnTo>
                      <a:pt x="66" y="264"/>
                    </a:lnTo>
                    <a:lnTo>
                      <a:pt x="108" y="204"/>
                    </a:lnTo>
                    <a:lnTo>
                      <a:pt x="173" y="150"/>
                    </a:lnTo>
                    <a:lnTo>
                      <a:pt x="251" y="102"/>
                    </a:lnTo>
                    <a:lnTo>
                      <a:pt x="335" y="60"/>
                    </a:lnTo>
                    <a:lnTo>
                      <a:pt x="436" y="30"/>
                    </a:lnTo>
                    <a:lnTo>
                      <a:pt x="544" y="12"/>
                    </a:lnTo>
                    <a:lnTo>
                      <a:pt x="544" y="0"/>
                    </a:lnTo>
                    <a:lnTo>
                      <a:pt x="430" y="18"/>
                    </a:lnTo>
                    <a:lnTo>
                      <a:pt x="329" y="48"/>
                    </a:lnTo>
                    <a:lnTo>
                      <a:pt x="233" y="90"/>
                    </a:lnTo>
                    <a:lnTo>
                      <a:pt x="155" y="138"/>
                    </a:lnTo>
                    <a:lnTo>
                      <a:pt x="90" y="198"/>
                    </a:lnTo>
                    <a:lnTo>
                      <a:pt x="42" y="258"/>
                    </a:lnTo>
                    <a:lnTo>
                      <a:pt x="12" y="330"/>
                    </a:lnTo>
                    <a:lnTo>
                      <a:pt x="0" y="402"/>
                    </a:lnTo>
                    <a:lnTo>
                      <a:pt x="6" y="455"/>
                    </a:lnTo>
                    <a:lnTo>
                      <a:pt x="18" y="503"/>
                    </a:lnTo>
                    <a:lnTo>
                      <a:pt x="42" y="545"/>
                    </a:lnTo>
                    <a:lnTo>
                      <a:pt x="78" y="593"/>
                    </a:lnTo>
                    <a:lnTo>
                      <a:pt x="114" y="635"/>
                    </a:lnTo>
                    <a:lnTo>
                      <a:pt x="161" y="671"/>
                    </a:lnTo>
                    <a:lnTo>
                      <a:pt x="221" y="707"/>
                    </a:lnTo>
                    <a:lnTo>
                      <a:pt x="281" y="737"/>
                    </a:lnTo>
                    <a:lnTo>
                      <a:pt x="323" y="737"/>
                    </a:lnTo>
                    <a:lnTo>
                      <a:pt x="257" y="707"/>
                    </a:lnTo>
                    <a:lnTo>
                      <a:pt x="203" y="671"/>
                    </a:lnTo>
                    <a:lnTo>
                      <a:pt x="149" y="635"/>
                    </a:lnTo>
                    <a:lnTo>
                      <a:pt x="108" y="593"/>
                    </a:lnTo>
                    <a:lnTo>
                      <a:pt x="72" y="551"/>
                    </a:lnTo>
                    <a:lnTo>
                      <a:pt x="48" y="503"/>
                    </a:lnTo>
                    <a:lnTo>
                      <a:pt x="30" y="455"/>
                    </a:lnTo>
                    <a:lnTo>
                      <a:pt x="24" y="402"/>
                    </a:lnTo>
                    <a:lnTo>
                      <a:pt x="24" y="40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tint val="96863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89125" name="Freeform 37"/>
              <p:cNvSpPr>
                <a:spLocks/>
              </p:cNvSpPr>
              <p:nvPr/>
            </p:nvSpPr>
            <p:spPr bwMode="hidden">
              <a:xfrm>
                <a:off x="4792" y="3360"/>
                <a:ext cx="609" cy="252"/>
              </a:xfrm>
              <a:custGeom>
                <a:avLst/>
                <a:gdLst/>
                <a:ahLst/>
                <a:cxnLst>
                  <a:cxn ang="0">
                    <a:pos x="12" y="12"/>
                  </a:cxn>
                  <a:cxn ang="0">
                    <a:pos x="113" y="18"/>
                  </a:cxn>
                  <a:cxn ang="0">
                    <a:pos x="203" y="30"/>
                  </a:cxn>
                  <a:cxn ang="0">
                    <a:pos x="292" y="48"/>
                  </a:cxn>
                  <a:cxn ang="0">
                    <a:pos x="376" y="78"/>
                  </a:cxn>
                  <a:cxn ang="0">
                    <a:pos x="448" y="114"/>
                  </a:cxn>
                  <a:cxn ang="0">
                    <a:pos x="514" y="156"/>
                  </a:cxn>
                  <a:cxn ang="0">
                    <a:pos x="567" y="198"/>
                  </a:cxn>
                  <a:cxn ang="0">
                    <a:pos x="609" y="252"/>
                  </a:cxn>
                  <a:cxn ang="0">
                    <a:pos x="609" y="216"/>
                  </a:cxn>
                  <a:cxn ang="0">
                    <a:pos x="561" y="168"/>
                  </a:cxn>
                  <a:cxn ang="0">
                    <a:pos x="502" y="126"/>
                  </a:cxn>
                  <a:cxn ang="0">
                    <a:pos x="436" y="90"/>
                  </a:cxn>
                  <a:cxn ang="0">
                    <a:pos x="364" y="60"/>
                  </a:cxn>
                  <a:cxn ang="0">
                    <a:pos x="286" y="36"/>
                  </a:cxn>
                  <a:cxn ang="0">
                    <a:pos x="197" y="18"/>
                  </a:cxn>
                  <a:cxn ang="0">
                    <a:pos x="107" y="6"/>
                  </a:cxn>
                  <a:cxn ang="0">
                    <a:pos x="12" y="0"/>
                  </a:cxn>
                  <a:cxn ang="0">
                    <a:pos x="6" y="0"/>
                  </a:cxn>
                  <a:cxn ang="0">
                    <a:pos x="0" y="0"/>
                  </a:cxn>
                  <a:cxn ang="0">
                    <a:pos x="0" y="12"/>
                  </a:cxn>
                  <a:cxn ang="0">
                    <a:pos x="6" y="12"/>
                  </a:cxn>
                  <a:cxn ang="0">
                    <a:pos x="12" y="12"/>
                  </a:cxn>
                  <a:cxn ang="0">
                    <a:pos x="12" y="12"/>
                  </a:cxn>
                </a:cxnLst>
                <a:rect l="0" t="0" r="r" b="b"/>
                <a:pathLst>
                  <a:path w="609" h="252">
                    <a:moveTo>
                      <a:pt x="12" y="12"/>
                    </a:moveTo>
                    <a:lnTo>
                      <a:pt x="113" y="18"/>
                    </a:lnTo>
                    <a:lnTo>
                      <a:pt x="203" y="30"/>
                    </a:lnTo>
                    <a:lnTo>
                      <a:pt x="292" y="48"/>
                    </a:lnTo>
                    <a:lnTo>
                      <a:pt x="376" y="78"/>
                    </a:lnTo>
                    <a:lnTo>
                      <a:pt x="448" y="114"/>
                    </a:lnTo>
                    <a:lnTo>
                      <a:pt x="514" y="156"/>
                    </a:lnTo>
                    <a:lnTo>
                      <a:pt x="567" y="198"/>
                    </a:lnTo>
                    <a:lnTo>
                      <a:pt x="609" y="252"/>
                    </a:lnTo>
                    <a:lnTo>
                      <a:pt x="609" y="216"/>
                    </a:lnTo>
                    <a:lnTo>
                      <a:pt x="561" y="168"/>
                    </a:lnTo>
                    <a:lnTo>
                      <a:pt x="502" y="126"/>
                    </a:lnTo>
                    <a:lnTo>
                      <a:pt x="436" y="90"/>
                    </a:lnTo>
                    <a:lnTo>
                      <a:pt x="364" y="60"/>
                    </a:lnTo>
                    <a:lnTo>
                      <a:pt x="286" y="36"/>
                    </a:lnTo>
                    <a:lnTo>
                      <a:pt x="197" y="18"/>
                    </a:lnTo>
                    <a:lnTo>
                      <a:pt x="107" y="6"/>
                    </a:lnTo>
                    <a:lnTo>
                      <a:pt x="12" y="0"/>
                    </a:lnTo>
                    <a:lnTo>
                      <a:pt x="6" y="0"/>
                    </a:lnTo>
                    <a:lnTo>
                      <a:pt x="0" y="0"/>
                    </a:lnTo>
                    <a:lnTo>
                      <a:pt x="0" y="12"/>
                    </a:lnTo>
                    <a:lnTo>
                      <a:pt x="6" y="12"/>
                    </a:lnTo>
                    <a:lnTo>
                      <a:pt x="12" y="12"/>
                    </a:lnTo>
                    <a:lnTo>
                      <a:pt x="12" y="1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tint val="94118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89126" name="Freeform 38"/>
              <p:cNvSpPr>
                <a:spLocks/>
              </p:cNvSpPr>
              <p:nvPr/>
            </p:nvSpPr>
            <p:spPr bwMode="hidden">
              <a:xfrm>
                <a:off x="5246" y="4007"/>
                <a:ext cx="72" cy="54"/>
              </a:xfrm>
              <a:custGeom>
                <a:avLst/>
                <a:gdLst/>
                <a:ahLst/>
                <a:cxnLst>
                  <a:cxn ang="0">
                    <a:pos x="72" y="0"/>
                  </a:cxn>
                  <a:cxn ang="0">
                    <a:pos x="36" y="30"/>
                  </a:cxn>
                  <a:cxn ang="0">
                    <a:pos x="0" y="54"/>
                  </a:cxn>
                  <a:cxn ang="0">
                    <a:pos x="36" y="54"/>
                  </a:cxn>
                  <a:cxn ang="0">
                    <a:pos x="54" y="42"/>
                  </a:cxn>
                  <a:cxn ang="0">
                    <a:pos x="72" y="24"/>
                  </a:cxn>
                  <a:cxn ang="0">
                    <a:pos x="72" y="24"/>
                  </a:cxn>
                  <a:cxn ang="0">
                    <a:pos x="72" y="0"/>
                  </a:cxn>
                  <a:cxn ang="0">
                    <a:pos x="72" y="0"/>
                  </a:cxn>
                </a:cxnLst>
                <a:rect l="0" t="0" r="r" b="b"/>
                <a:pathLst>
                  <a:path w="72" h="54">
                    <a:moveTo>
                      <a:pt x="72" y="0"/>
                    </a:moveTo>
                    <a:lnTo>
                      <a:pt x="36" y="30"/>
                    </a:lnTo>
                    <a:lnTo>
                      <a:pt x="0" y="54"/>
                    </a:lnTo>
                    <a:lnTo>
                      <a:pt x="36" y="54"/>
                    </a:lnTo>
                    <a:lnTo>
                      <a:pt x="54" y="42"/>
                    </a:lnTo>
                    <a:lnTo>
                      <a:pt x="72" y="24"/>
                    </a:lnTo>
                    <a:lnTo>
                      <a:pt x="72" y="24"/>
                    </a:lnTo>
                    <a:lnTo>
                      <a:pt x="72" y="0"/>
                    </a:lnTo>
                    <a:lnTo>
                      <a:pt x="7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89127" name="Freeform 39"/>
              <p:cNvSpPr>
                <a:spLocks/>
              </p:cNvSpPr>
              <p:nvPr/>
            </p:nvSpPr>
            <p:spPr bwMode="hidden">
              <a:xfrm>
                <a:off x="4505" y="4073"/>
                <a:ext cx="705" cy="108"/>
              </a:xfrm>
              <a:custGeom>
                <a:avLst/>
                <a:gdLst/>
                <a:ahLst/>
                <a:cxnLst>
                  <a:cxn ang="0">
                    <a:pos x="299" y="90"/>
                  </a:cxn>
                  <a:cxn ang="0">
                    <a:pos x="221" y="90"/>
                  </a:cxn>
                  <a:cxn ang="0">
                    <a:pos x="143" y="78"/>
                  </a:cxn>
                  <a:cxn ang="0">
                    <a:pos x="0" y="48"/>
                  </a:cxn>
                  <a:cxn ang="0">
                    <a:pos x="0" y="66"/>
                  </a:cxn>
                  <a:cxn ang="0">
                    <a:pos x="143" y="96"/>
                  </a:cxn>
                  <a:cxn ang="0">
                    <a:pos x="221" y="108"/>
                  </a:cxn>
                  <a:cxn ang="0">
                    <a:pos x="299" y="108"/>
                  </a:cxn>
                  <a:cxn ang="0">
                    <a:pos x="412" y="102"/>
                  </a:cxn>
                  <a:cxn ang="0">
                    <a:pos x="520" y="84"/>
                  </a:cxn>
                  <a:cxn ang="0">
                    <a:pos x="615" y="60"/>
                  </a:cxn>
                  <a:cxn ang="0">
                    <a:pos x="705" y="24"/>
                  </a:cxn>
                  <a:cxn ang="0">
                    <a:pos x="705" y="0"/>
                  </a:cxn>
                  <a:cxn ang="0">
                    <a:pos x="615" y="42"/>
                  </a:cxn>
                  <a:cxn ang="0">
                    <a:pos x="520" y="66"/>
                  </a:cxn>
                  <a:cxn ang="0">
                    <a:pos x="412" y="84"/>
                  </a:cxn>
                  <a:cxn ang="0">
                    <a:pos x="299" y="90"/>
                  </a:cxn>
                  <a:cxn ang="0">
                    <a:pos x="299" y="90"/>
                  </a:cxn>
                </a:cxnLst>
                <a:rect l="0" t="0" r="r" b="b"/>
                <a:pathLst>
                  <a:path w="705" h="108">
                    <a:moveTo>
                      <a:pt x="299" y="90"/>
                    </a:moveTo>
                    <a:lnTo>
                      <a:pt x="221" y="90"/>
                    </a:lnTo>
                    <a:lnTo>
                      <a:pt x="143" y="78"/>
                    </a:lnTo>
                    <a:lnTo>
                      <a:pt x="0" y="48"/>
                    </a:lnTo>
                    <a:lnTo>
                      <a:pt x="0" y="66"/>
                    </a:lnTo>
                    <a:lnTo>
                      <a:pt x="143" y="96"/>
                    </a:lnTo>
                    <a:lnTo>
                      <a:pt x="221" y="108"/>
                    </a:lnTo>
                    <a:lnTo>
                      <a:pt x="299" y="108"/>
                    </a:lnTo>
                    <a:lnTo>
                      <a:pt x="412" y="102"/>
                    </a:lnTo>
                    <a:lnTo>
                      <a:pt x="520" y="84"/>
                    </a:lnTo>
                    <a:lnTo>
                      <a:pt x="615" y="60"/>
                    </a:lnTo>
                    <a:lnTo>
                      <a:pt x="705" y="24"/>
                    </a:lnTo>
                    <a:lnTo>
                      <a:pt x="705" y="0"/>
                    </a:lnTo>
                    <a:lnTo>
                      <a:pt x="615" y="42"/>
                    </a:lnTo>
                    <a:lnTo>
                      <a:pt x="520" y="66"/>
                    </a:lnTo>
                    <a:lnTo>
                      <a:pt x="412" y="84"/>
                    </a:lnTo>
                    <a:lnTo>
                      <a:pt x="299" y="90"/>
                    </a:lnTo>
                    <a:lnTo>
                      <a:pt x="299" y="9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89128" name="Freeform 40"/>
              <p:cNvSpPr>
                <a:spLocks/>
              </p:cNvSpPr>
              <p:nvPr/>
            </p:nvSpPr>
            <p:spPr bwMode="hidden">
              <a:xfrm>
                <a:off x="5336" y="3654"/>
                <a:ext cx="143" cy="341"/>
              </a:xfrm>
              <a:custGeom>
                <a:avLst/>
                <a:gdLst/>
                <a:ahLst/>
                <a:cxnLst>
                  <a:cxn ang="0">
                    <a:pos x="119" y="114"/>
                  </a:cxn>
                  <a:cxn ang="0">
                    <a:pos x="113" y="173"/>
                  </a:cxn>
                  <a:cxn ang="0">
                    <a:pos x="89" y="239"/>
                  </a:cxn>
                  <a:cxn ang="0">
                    <a:pos x="47" y="293"/>
                  </a:cxn>
                  <a:cxn ang="0">
                    <a:pos x="0" y="341"/>
                  </a:cxn>
                  <a:cxn ang="0">
                    <a:pos x="29" y="341"/>
                  </a:cxn>
                  <a:cxn ang="0">
                    <a:pos x="77" y="287"/>
                  </a:cxn>
                  <a:cxn ang="0">
                    <a:pos x="113" y="233"/>
                  </a:cxn>
                  <a:cxn ang="0">
                    <a:pos x="137" y="173"/>
                  </a:cxn>
                  <a:cxn ang="0">
                    <a:pos x="143" y="114"/>
                  </a:cxn>
                  <a:cxn ang="0">
                    <a:pos x="137" y="60"/>
                  </a:cxn>
                  <a:cxn ang="0">
                    <a:pos x="119" y="0"/>
                  </a:cxn>
                  <a:cxn ang="0">
                    <a:pos x="89" y="0"/>
                  </a:cxn>
                  <a:cxn ang="0">
                    <a:pos x="113" y="60"/>
                  </a:cxn>
                  <a:cxn ang="0">
                    <a:pos x="119" y="114"/>
                  </a:cxn>
                  <a:cxn ang="0">
                    <a:pos x="119" y="114"/>
                  </a:cxn>
                </a:cxnLst>
                <a:rect l="0" t="0" r="r" b="b"/>
                <a:pathLst>
                  <a:path w="143" h="341">
                    <a:moveTo>
                      <a:pt x="119" y="114"/>
                    </a:moveTo>
                    <a:lnTo>
                      <a:pt x="113" y="173"/>
                    </a:lnTo>
                    <a:lnTo>
                      <a:pt x="89" y="239"/>
                    </a:lnTo>
                    <a:lnTo>
                      <a:pt x="47" y="293"/>
                    </a:lnTo>
                    <a:lnTo>
                      <a:pt x="0" y="341"/>
                    </a:lnTo>
                    <a:lnTo>
                      <a:pt x="29" y="341"/>
                    </a:lnTo>
                    <a:lnTo>
                      <a:pt x="77" y="287"/>
                    </a:lnTo>
                    <a:lnTo>
                      <a:pt x="113" y="233"/>
                    </a:lnTo>
                    <a:lnTo>
                      <a:pt x="137" y="173"/>
                    </a:lnTo>
                    <a:lnTo>
                      <a:pt x="143" y="114"/>
                    </a:lnTo>
                    <a:lnTo>
                      <a:pt x="137" y="60"/>
                    </a:lnTo>
                    <a:lnTo>
                      <a:pt x="119" y="0"/>
                    </a:lnTo>
                    <a:lnTo>
                      <a:pt x="89" y="0"/>
                    </a:lnTo>
                    <a:lnTo>
                      <a:pt x="113" y="60"/>
                    </a:lnTo>
                    <a:lnTo>
                      <a:pt x="119" y="114"/>
                    </a:lnTo>
                    <a:lnTo>
                      <a:pt x="119" y="1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89129" name="Freeform 41"/>
              <p:cNvSpPr>
                <a:spLocks/>
              </p:cNvSpPr>
              <p:nvPr/>
            </p:nvSpPr>
            <p:spPr bwMode="hidden">
              <a:xfrm>
                <a:off x="5061" y="3624"/>
                <a:ext cx="83" cy="90"/>
              </a:xfrm>
              <a:custGeom>
                <a:avLst/>
                <a:gdLst/>
                <a:ahLst/>
                <a:cxnLst>
                  <a:cxn ang="0">
                    <a:pos x="59" y="90"/>
                  </a:cxn>
                  <a:cxn ang="0">
                    <a:pos x="83" y="84"/>
                  </a:cxn>
                  <a:cxn ang="0">
                    <a:pos x="71" y="60"/>
                  </a:cxn>
                  <a:cxn ang="0">
                    <a:pos x="53" y="42"/>
                  </a:cxn>
                  <a:cxn ang="0">
                    <a:pos x="6" y="0"/>
                  </a:cxn>
                  <a:cxn ang="0">
                    <a:pos x="0" y="18"/>
                  </a:cxn>
                  <a:cxn ang="0">
                    <a:pos x="35" y="48"/>
                  </a:cxn>
                  <a:cxn ang="0">
                    <a:pos x="59" y="90"/>
                  </a:cxn>
                  <a:cxn ang="0">
                    <a:pos x="59" y="90"/>
                  </a:cxn>
                </a:cxnLst>
                <a:rect l="0" t="0" r="r" b="b"/>
                <a:pathLst>
                  <a:path w="83" h="90">
                    <a:moveTo>
                      <a:pt x="59" y="90"/>
                    </a:moveTo>
                    <a:lnTo>
                      <a:pt x="83" y="84"/>
                    </a:lnTo>
                    <a:lnTo>
                      <a:pt x="71" y="60"/>
                    </a:lnTo>
                    <a:lnTo>
                      <a:pt x="53" y="42"/>
                    </a:lnTo>
                    <a:lnTo>
                      <a:pt x="6" y="0"/>
                    </a:lnTo>
                    <a:lnTo>
                      <a:pt x="0" y="18"/>
                    </a:lnTo>
                    <a:lnTo>
                      <a:pt x="35" y="48"/>
                    </a:lnTo>
                    <a:lnTo>
                      <a:pt x="59" y="90"/>
                    </a:lnTo>
                    <a:lnTo>
                      <a:pt x="59" y="9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89130" name="Freeform 42"/>
              <p:cNvSpPr>
                <a:spLocks/>
              </p:cNvSpPr>
              <p:nvPr/>
            </p:nvSpPr>
            <p:spPr bwMode="hidden">
              <a:xfrm>
                <a:off x="4445" y="3552"/>
                <a:ext cx="717" cy="431"/>
              </a:xfrm>
              <a:custGeom>
                <a:avLst/>
                <a:gdLst/>
                <a:ahLst/>
                <a:cxnLst>
                  <a:cxn ang="0">
                    <a:pos x="693" y="216"/>
                  </a:cxn>
                  <a:cxn ang="0">
                    <a:pos x="687" y="257"/>
                  </a:cxn>
                  <a:cxn ang="0">
                    <a:pos x="669" y="293"/>
                  </a:cxn>
                  <a:cxn ang="0">
                    <a:pos x="633" y="329"/>
                  </a:cxn>
                  <a:cxn ang="0">
                    <a:pos x="598" y="359"/>
                  </a:cxn>
                  <a:cxn ang="0">
                    <a:pos x="544" y="383"/>
                  </a:cxn>
                  <a:cxn ang="0">
                    <a:pos x="490" y="401"/>
                  </a:cxn>
                  <a:cxn ang="0">
                    <a:pos x="424" y="413"/>
                  </a:cxn>
                  <a:cxn ang="0">
                    <a:pos x="359" y="419"/>
                  </a:cxn>
                  <a:cxn ang="0">
                    <a:pos x="293" y="413"/>
                  </a:cxn>
                  <a:cxn ang="0">
                    <a:pos x="227" y="401"/>
                  </a:cxn>
                  <a:cxn ang="0">
                    <a:pos x="173" y="383"/>
                  </a:cxn>
                  <a:cxn ang="0">
                    <a:pos x="119" y="359"/>
                  </a:cxn>
                  <a:cxn ang="0">
                    <a:pos x="84" y="329"/>
                  </a:cxn>
                  <a:cxn ang="0">
                    <a:pos x="48" y="293"/>
                  </a:cxn>
                  <a:cxn ang="0">
                    <a:pos x="30" y="257"/>
                  </a:cxn>
                  <a:cxn ang="0">
                    <a:pos x="24" y="216"/>
                  </a:cxn>
                  <a:cxn ang="0">
                    <a:pos x="30" y="174"/>
                  </a:cxn>
                  <a:cxn ang="0">
                    <a:pos x="48" y="138"/>
                  </a:cxn>
                  <a:cxn ang="0">
                    <a:pos x="84" y="102"/>
                  </a:cxn>
                  <a:cxn ang="0">
                    <a:pos x="119" y="72"/>
                  </a:cxn>
                  <a:cxn ang="0">
                    <a:pos x="173" y="48"/>
                  </a:cxn>
                  <a:cxn ang="0">
                    <a:pos x="227" y="30"/>
                  </a:cxn>
                  <a:cxn ang="0">
                    <a:pos x="293" y="18"/>
                  </a:cxn>
                  <a:cxn ang="0">
                    <a:pos x="359" y="12"/>
                  </a:cxn>
                  <a:cxn ang="0">
                    <a:pos x="418" y="18"/>
                  </a:cxn>
                  <a:cxn ang="0">
                    <a:pos x="478" y="30"/>
                  </a:cxn>
                  <a:cxn ang="0">
                    <a:pos x="532" y="48"/>
                  </a:cxn>
                  <a:cxn ang="0">
                    <a:pos x="580" y="66"/>
                  </a:cxn>
                  <a:cxn ang="0">
                    <a:pos x="586" y="48"/>
                  </a:cxn>
                  <a:cxn ang="0">
                    <a:pos x="478" y="12"/>
                  </a:cxn>
                  <a:cxn ang="0">
                    <a:pos x="418" y="6"/>
                  </a:cxn>
                  <a:cxn ang="0">
                    <a:pos x="359" y="0"/>
                  </a:cxn>
                  <a:cxn ang="0">
                    <a:pos x="287" y="6"/>
                  </a:cxn>
                  <a:cxn ang="0">
                    <a:pos x="221" y="18"/>
                  </a:cxn>
                  <a:cxn ang="0">
                    <a:pos x="161" y="36"/>
                  </a:cxn>
                  <a:cxn ang="0">
                    <a:pos x="107" y="66"/>
                  </a:cxn>
                  <a:cxn ang="0">
                    <a:pos x="60" y="96"/>
                  </a:cxn>
                  <a:cxn ang="0">
                    <a:pos x="30" y="132"/>
                  </a:cxn>
                  <a:cxn ang="0">
                    <a:pos x="6" y="174"/>
                  </a:cxn>
                  <a:cxn ang="0">
                    <a:pos x="0" y="216"/>
                  </a:cxn>
                  <a:cxn ang="0">
                    <a:pos x="6" y="257"/>
                  </a:cxn>
                  <a:cxn ang="0">
                    <a:pos x="30" y="299"/>
                  </a:cxn>
                  <a:cxn ang="0">
                    <a:pos x="60" y="335"/>
                  </a:cxn>
                  <a:cxn ang="0">
                    <a:pos x="107" y="371"/>
                  </a:cxn>
                  <a:cxn ang="0">
                    <a:pos x="161" y="395"/>
                  </a:cxn>
                  <a:cxn ang="0">
                    <a:pos x="221" y="413"/>
                  </a:cxn>
                  <a:cxn ang="0">
                    <a:pos x="287" y="425"/>
                  </a:cxn>
                  <a:cxn ang="0">
                    <a:pos x="359" y="431"/>
                  </a:cxn>
                  <a:cxn ang="0">
                    <a:pos x="430" y="425"/>
                  </a:cxn>
                  <a:cxn ang="0">
                    <a:pos x="496" y="413"/>
                  </a:cxn>
                  <a:cxn ang="0">
                    <a:pos x="562" y="395"/>
                  </a:cxn>
                  <a:cxn ang="0">
                    <a:pos x="610" y="371"/>
                  </a:cxn>
                  <a:cxn ang="0">
                    <a:pos x="657" y="335"/>
                  </a:cxn>
                  <a:cxn ang="0">
                    <a:pos x="687" y="299"/>
                  </a:cxn>
                  <a:cxn ang="0">
                    <a:pos x="711" y="257"/>
                  </a:cxn>
                  <a:cxn ang="0">
                    <a:pos x="717" y="216"/>
                  </a:cxn>
                  <a:cxn ang="0">
                    <a:pos x="717" y="204"/>
                  </a:cxn>
                  <a:cxn ang="0">
                    <a:pos x="711" y="192"/>
                  </a:cxn>
                  <a:cxn ang="0">
                    <a:pos x="687" y="198"/>
                  </a:cxn>
                  <a:cxn ang="0">
                    <a:pos x="693" y="210"/>
                  </a:cxn>
                  <a:cxn ang="0">
                    <a:pos x="693" y="216"/>
                  </a:cxn>
                  <a:cxn ang="0">
                    <a:pos x="693" y="216"/>
                  </a:cxn>
                </a:cxnLst>
                <a:rect l="0" t="0" r="r" b="b"/>
                <a:pathLst>
                  <a:path w="717" h="431">
                    <a:moveTo>
                      <a:pt x="693" y="216"/>
                    </a:moveTo>
                    <a:lnTo>
                      <a:pt x="687" y="257"/>
                    </a:lnTo>
                    <a:lnTo>
                      <a:pt x="669" y="293"/>
                    </a:lnTo>
                    <a:lnTo>
                      <a:pt x="633" y="329"/>
                    </a:lnTo>
                    <a:lnTo>
                      <a:pt x="598" y="359"/>
                    </a:lnTo>
                    <a:lnTo>
                      <a:pt x="544" y="383"/>
                    </a:lnTo>
                    <a:lnTo>
                      <a:pt x="490" y="401"/>
                    </a:lnTo>
                    <a:lnTo>
                      <a:pt x="424" y="413"/>
                    </a:lnTo>
                    <a:lnTo>
                      <a:pt x="359" y="419"/>
                    </a:lnTo>
                    <a:lnTo>
                      <a:pt x="293" y="413"/>
                    </a:lnTo>
                    <a:lnTo>
                      <a:pt x="227" y="401"/>
                    </a:lnTo>
                    <a:lnTo>
                      <a:pt x="173" y="383"/>
                    </a:lnTo>
                    <a:lnTo>
                      <a:pt x="119" y="359"/>
                    </a:lnTo>
                    <a:lnTo>
                      <a:pt x="84" y="329"/>
                    </a:lnTo>
                    <a:lnTo>
                      <a:pt x="48" y="293"/>
                    </a:lnTo>
                    <a:lnTo>
                      <a:pt x="30" y="257"/>
                    </a:lnTo>
                    <a:lnTo>
                      <a:pt x="24" y="216"/>
                    </a:lnTo>
                    <a:lnTo>
                      <a:pt x="30" y="174"/>
                    </a:lnTo>
                    <a:lnTo>
                      <a:pt x="48" y="138"/>
                    </a:lnTo>
                    <a:lnTo>
                      <a:pt x="84" y="102"/>
                    </a:lnTo>
                    <a:lnTo>
                      <a:pt x="119" y="72"/>
                    </a:lnTo>
                    <a:lnTo>
                      <a:pt x="173" y="48"/>
                    </a:lnTo>
                    <a:lnTo>
                      <a:pt x="227" y="30"/>
                    </a:lnTo>
                    <a:lnTo>
                      <a:pt x="293" y="18"/>
                    </a:lnTo>
                    <a:lnTo>
                      <a:pt x="359" y="12"/>
                    </a:lnTo>
                    <a:lnTo>
                      <a:pt x="418" y="18"/>
                    </a:lnTo>
                    <a:lnTo>
                      <a:pt x="478" y="30"/>
                    </a:lnTo>
                    <a:lnTo>
                      <a:pt x="532" y="48"/>
                    </a:lnTo>
                    <a:lnTo>
                      <a:pt x="580" y="66"/>
                    </a:lnTo>
                    <a:lnTo>
                      <a:pt x="586" y="48"/>
                    </a:lnTo>
                    <a:lnTo>
                      <a:pt x="478" y="12"/>
                    </a:lnTo>
                    <a:lnTo>
                      <a:pt x="418" y="6"/>
                    </a:lnTo>
                    <a:lnTo>
                      <a:pt x="359" y="0"/>
                    </a:lnTo>
                    <a:lnTo>
                      <a:pt x="287" y="6"/>
                    </a:lnTo>
                    <a:lnTo>
                      <a:pt x="221" y="18"/>
                    </a:lnTo>
                    <a:lnTo>
                      <a:pt x="161" y="36"/>
                    </a:lnTo>
                    <a:lnTo>
                      <a:pt x="107" y="66"/>
                    </a:lnTo>
                    <a:lnTo>
                      <a:pt x="60" y="96"/>
                    </a:lnTo>
                    <a:lnTo>
                      <a:pt x="30" y="132"/>
                    </a:lnTo>
                    <a:lnTo>
                      <a:pt x="6" y="174"/>
                    </a:lnTo>
                    <a:lnTo>
                      <a:pt x="0" y="216"/>
                    </a:lnTo>
                    <a:lnTo>
                      <a:pt x="6" y="257"/>
                    </a:lnTo>
                    <a:lnTo>
                      <a:pt x="30" y="299"/>
                    </a:lnTo>
                    <a:lnTo>
                      <a:pt x="60" y="335"/>
                    </a:lnTo>
                    <a:lnTo>
                      <a:pt x="107" y="371"/>
                    </a:lnTo>
                    <a:lnTo>
                      <a:pt x="161" y="395"/>
                    </a:lnTo>
                    <a:lnTo>
                      <a:pt x="221" y="413"/>
                    </a:lnTo>
                    <a:lnTo>
                      <a:pt x="287" y="425"/>
                    </a:lnTo>
                    <a:lnTo>
                      <a:pt x="359" y="431"/>
                    </a:lnTo>
                    <a:lnTo>
                      <a:pt x="430" y="425"/>
                    </a:lnTo>
                    <a:lnTo>
                      <a:pt x="496" y="413"/>
                    </a:lnTo>
                    <a:lnTo>
                      <a:pt x="562" y="395"/>
                    </a:lnTo>
                    <a:lnTo>
                      <a:pt x="610" y="371"/>
                    </a:lnTo>
                    <a:lnTo>
                      <a:pt x="657" y="335"/>
                    </a:lnTo>
                    <a:lnTo>
                      <a:pt x="687" y="299"/>
                    </a:lnTo>
                    <a:lnTo>
                      <a:pt x="711" y="257"/>
                    </a:lnTo>
                    <a:lnTo>
                      <a:pt x="717" y="216"/>
                    </a:lnTo>
                    <a:lnTo>
                      <a:pt x="717" y="204"/>
                    </a:lnTo>
                    <a:lnTo>
                      <a:pt x="711" y="192"/>
                    </a:lnTo>
                    <a:lnTo>
                      <a:pt x="687" y="198"/>
                    </a:lnTo>
                    <a:lnTo>
                      <a:pt x="693" y="210"/>
                    </a:lnTo>
                    <a:lnTo>
                      <a:pt x="693" y="216"/>
                    </a:lnTo>
                    <a:lnTo>
                      <a:pt x="693" y="21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6863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89131" name="Freeform 43"/>
              <p:cNvSpPr>
                <a:spLocks/>
              </p:cNvSpPr>
              <p:nvPr/>
            </p:nvSpPr>
            <p:spPr bwMode="hidden">
              <a:xfrm>
                <a:off x="4349" y="3510"/>
                <a:ext cx="909" cy="533"/>
              </a:xfrm>
              <a:custGeom>
                <a:avLst/>
                <a:gdLst/>
                <a:ahLst/>
                <a:cxnLst>
                  <a:cxn ang="0">
                    <a:pos x="616" y="0"/>
                  </a:cxn>
                  <a:cxn ang="0">
                    <a:pos x="616" y="18"/>
                  </a:cxn>
                  <a:cxn ang="0">
                    <a:pos x="724" y="60"/>
                  </a:cxn>
                  <a:cxn ang="0">
                    <a:pos x="765" y="84"/>
                  </a:cxn>
                  <a:cxn ang="0">
                    <a:pos x="807" y="114"/>
                  </a:cxn>
                  <a:cxn ang="0">
                    <a:pos x="837" y="144"/>
                  </a:cxn>
                  <a:cxn ang="0">
                    <a:pos x="861" y="180"/>
                  </a:cxn>
                  <a:cxn ang="0">
                    <a:pos x="873" y="216"/>
                  </a:cxn>
                  <a:cxn ang="0">
                    <a:pos x="879" y="258"/>
                  </a:cxn>
                  <a:cxn ang="0">
                    <a:pos x="873" y="311"/>
                  </a:cxn>
                  <a:cxn ang="0">
                    <a:pos x="843" y="359"/>
                  </a:cxn>
                  <a:cxn ang="0">
                    <a:pos x="807" y="401"/>
                  </a:cxn>
                  <a:cxn ang="0">
                    <a:pos x="753" y="443"/>
                  </a:cxn>
                  <a:cxn ang="0">
                    <a:pos x="694" y="473"/>
                  </a:cxn>
                  <a:cxn ang="0">
                    <a:pos x="622" y="497"/>
                  </a:cxn>
                  <a:cxn ang="0">
                    <a:pos x="538" y="509"/>
                  </a:cxn>
                  <a:cxn ang="0">
                    <a:pos x="455" y="515"/>
                  </a:cxn>
                  <a:cxn ang="0">
                    <a:pos x="371" y="509"/>
                  </a:cxn>
                  <a:cxn ang="0">
                    <a:pos x="287" y="497"/>
                  </a:cxn>
                  <a:cxn ang="0">
                    <a:pos x="215" y="473"/>
                  </a:cxn>
                  <a:cxn ang="0">
                    <a:pos x="156" y="443"/>
                  </a:cxn>
                  <a:cxn ang="0">
                    <a:pos x="102" y="401"/>
                  </a:cxn>
                  <a:cxn ang="0">
                    <a:pos x="66" y="359"/>
                  </a:cxn>
                  <a:cxn ang="0">
                    <a:pos x="36" y="311"/>
                  </a:cxn>
                  <a:cxn ang="0">
                    <a:pos x="30" y="258"/>
                  </a:cxn>
                  <a:cxn ang="0">
                    <a:pos x="36" y="222"/>
                  </a:cxn>
                  <a:cxn ang="0">
                    <a:pos x="48" y="186"/>
                  </a:cxn>
                  <a:cxn ang="0">
                    <a:pos x="66" y="156"/>
                  </a:cxn>
                  <a:cxn ang="0">
                    <a:pos x="90" y="126"/>
                  </a:cxn>
                  <a:cxn ang="0">
                    <a:pos x="66" y="114"/>
                  </a:cxn>
                  <a:cxn ang="0">
                    <a:pos x="36" y="144"/>
                  </a:cxn>
                  <a:cxn ang="0">
                    <a:pos x="18" y="180"/>
                  </a:cxn>
                  <a:cxn ang="0">
                    <a:pos x="6" y="216"/>
                  </a:cxn>
                  <a:cxn ang="0">
                    <a:pos x="0" y="258"/>
                  </a:cxn>
                  <a:cxn ang="0">
                    <a:pos x="12" y="311"/>
                  </a:cxn>
                  <a:cxn ang="0">
                    <a:pos x="36" y="365"/>
                  </a:cxn>
                  <a:cxn ang="0">
                    <a:pos x="78" y="413"/>
                  </a:cxn>
                  <a:cxn ang="0">
                    <a:pos x="132" y="449"/>
                  </a:cxn>
                  <a:cxn ang="0">
                    <a:pos x="203" y="485"/>
                  </a:cxn>
                  <a:cxn ang="0">
                    <a:pos x="275" y="509"/>
                  </a:cxn>
                  <a:cxn ang="0">
                    <a:pos x="365" y="527"/>
                  </a:cxn>
                  <a:cxn ang="0">
                    <a:pos x="455" y="533"/>
                  </a:cxn>
                  <a:cxn ang="0">
                    <a:pos x="544" y="527"/>
                  </a:cxn>
                  <a:cxn ang="0">
                    <a:pos x="634" y="509"/>
                  </a:cxn>
                  <a:cxn ang="0">
                    <a:pos x="712" y="485"/>
                  </a:cxn>
                  <a:cxn ang="0">
                    <a:pos x="777" y="449"/>
                  </a:cxn>
                  <a:cxn ang="0">
                    <a:pos x="831" y="413"/>
                  </a:cxn>
                  <a:cxn ang="0">
                    <a:pos x="873" y="365"/>
                  </a:cxn>
                  <a:cxn ang="0">
                    <a:pos x="897" y="311"/>
                  </a:cxn>
                  <a:cxn ang="0">
                    <a:pos x="909" y="258"/>
                  </a:cxn>
                  <a:cxn ang="0">
                    <a:pos x="903" y="216"/>
                  </a:cxn>
                  <a:cxn ang="0">
                    <a:pos x="885" y="174"/>
                  </a:cxn>
                  <a:cxn ang="0">
                    <a:pos x="861" y="132"/>
                  </a:cxn>
                  <a:cxn ang="0">
                    <a:pos x="825" y="102"/>
                  </a:cxn>
                  <a:cxn ang="0">
                    <a:pos x="783" y="66"/>
                  </a:cxn>
                  <a:cxn ang="0">
                    <a:pos x="735" y="42"/>
                  </a:cxn>
                  <a:cxn ang="0">
                    <a:pos x="616" y="0"/>
                  </a:cxn>
                  <a:cxn ang="0">
                    <a:pos x="616" y="0"/>
                  </a:cxn>
                </a:cxnLst>
                <a:rect l="0" t="0" r="r" b="b"/>
                <a:pathLst>
                  <a:path w="909" h="533">
                    <a:moveTo>
                      <a:pt x="616" y="0"/>
                    </a:moveTo>
                    <a:lnTo>
                      <a:pt x="616" y="18"/>
                    </a:lnTo>
                    <a:lnTo>
                      <a:pt x="724" y="60"/>
                    </a:lnTo>
                    <a:lnTo>
                      <a:pt x="765" y="84"/>
                    </a:lnTo>
                    <a:lnTo>
                      <a:pt x="807" y="114"/>
                    </a:lnTo>
                    <a:lnTo>
                      <a:pt x="837" y="144"/>
                    </a:lnTo>
                    <a:lnTo>
                      <a:pt x="861" y="180"/>
                    </a:lnTo>
                    <a:lnTo>
                      <a:pt x="873" y="216"/>
                    </a:lnTo>
                    <a:lnTo>
                      <a:pt x="879" y="258"/>
                    </a:lnTo>
                    <a:lnTo>
                      <a:pt x="873" y="311"/>
                    </a:lnTo>
                    <a:lnTo>
                      <a:pt x="843" y="359"/>
                    </a:lnTo>
                    <a:lnTo>
                      <a:pt x="807" y="401"/>
                    </a:lnTo>
                    <a:lnTo>
                      <a:pt x="753" y="443"/>
                    </a:lnTo>
                    <a:lnTo>
                      <a:pt x="694" y="473"/>
                    </a:lnTo>
                    <a:lnTo>
                      <a:pt x="622" y="497"/>
                    </a:lnTo>
                    <a:lnTo>
                      <a:pt x="538" y="509"/>
                    </a:lnTo>
                    <a:lnTo>
                      <a:pt x="455" y="515"/>
                    </a:lnTo>
                    <a:lnTo>
                      <a:pt x="371" y="509"/>
                    </a:lnTo>
                    <a:lnTo>
                      <a:pt x="287" y="497"/>
                    </a:lnTo>
                    <a:lnTo>
                      <a:pt x="215" y="473"/>
                    </a:lnTo>
                    <a:lnTo>
                      <a:pt x="156" y="443"/>
                    </a:lnTo>
                    <a:lnTo>
                      <a:pt x="102" y="401"/>
                    </a:lnTo>
                    <a:lnTo>
                      <a:pt x="66" y="359"/>
                    </a:lnTo>
                    <a:lnTo>
                      <a:pt x="36" y="311"/>
                    </a:lnTo>
                    <a:lnTo>
                      <a:pt x="30" y="258"/>
                    </a:lnTo>
                    <a:lnTo>
                      <a:pt x="36" y="222"/>
                    </a:lnTo>
                    <a:lnTo>
                      <a:pt x="48" y="186"/>
                    </a:lnTo>
                    <a:lnTo>
                      <a:pt x="66" y="156"/>
                    </a:lnTo>
                    <a:lnTo>
                      <a:pt x="90" y="126"/>
                    </a:lnTo>
                    <a:lnTo>
                      <a:pt x="66" y="114"/>
                    </a:lnTo>
                    <a:lnTo>
                      <a:pt x="36" y="144"/>
                    </a:lnTo>
                    <a:lnTo>
                      <a:pt x="18" y="180"/>
                    </a:lnTo>
                    <a:lnTo>
                      <a:pt x="6" y="216"/>
                    </a:lnTo>
                    <a:lnTo>
                      <a:pt x="0" y="258"/>
                    </a:lnTo>
                    <a:lnTo>
                      <a:pt x="12" y="311"/>
                    </a:lnTo>
                    <a:lnTo>
                      <a:pt x="36" y="365"/>
                    </a:lnTo>
                    <a:lnTo>
                      <a:pt x="78" y="413"/>
                    </a:lnTo>
                    <a:lnTo>
                      <a:pt x="132" y="449"/>
                    </a:lnTo>
                    <a:lnTo>
                      <a:pt x="203" y="485"/>
                    </a:lnTo>
                    <a:lnTo>
                      <a:pt x="275" y="509"/>
                    </a:lnTo>
                    <a:lnTo>
                      <a:pt x="365" y="527"/>
                    </a:lnTo>
                    <a:lnTo>
                      <a:pt x="455" y="533"/>
                    </a:lnTo>
                    <a:lnTo>
                      <a:pt x="544" y="527"/>
                    </a:lnTo>
                    <a:lnTo>
                      <a:pt x="634" y="509"/>
                    </a:lnTo>
                    <a:lnTo>
                      <a:pt x="712" y="485"/>
                    </a:lnTo>
                    <a:lnTo>
                      <a:pt x="777" y="449"/>
                    </a:lnTo>
                    <a:lnTo>
                      <a:pt x="831" y="413"/>
                    </a:lnTo>
                    <a:lnTo>
                      <a:pt x="873" y="365"/>
                    </a:lnTo>
                    <a:lnTo>
                      <a:pt x="897" y="311"/>
                    </a:lnTo>
                    <a:lnTo>
                      <a:pt x="909" y="258"/>
                    </a:lnTo>
                    <a:lnTo>
                      <a:pt x="903" y="216"/>
                    </a:lnTo>
                    <a:lnTo>
                      <a:pt x="885" y="174"/>
                    </a:lnTo>
                    <a:lnTo>
                      <a:pt x="861" y="132"/>
                    </a:lnTo>
                    <a:lnTo>
                      <a:pt x="825" y="102"/>
                    </a:lnTo>
                    <a:lnTo>
                      <a:pt x="783" y="66"/>
                    </a:lnTo>
                    <a:lnTo>
                      <a:pt x="735" y="42"/>
                    </a:lnTo>
                    <a:lnTo>
                      <a:pt x="616" y="0"/>
                    </a:lnTo>
                    <a:lnTo>
                      <a:pt x="616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tint val="96863"/>
                      <a:invGamma/>
                    </a:schemeClr>
                  </a:gs>
                  <a:gs pos="100000">
                    <a:schemeClr val="accent1"/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89132" name="Freeform 44"/>
              <p:cNvSpPr>
                <a:spLocks/>
              </p:cNvSpPr>
              <p:nvPr/>
            </p:nvSpPr>
            <p:spPr bwMode="hidden">
              <a:xfrm>
                <a:off x="4564" y="3492"/>
                <a:ext cx="365" cy="66"/>
              </a:xfrm>
              <a:custGeom>
                <a:avLst/>
                <a:gdLst/>
                <a:ahLst/>
                <a:cxnLst>
                  <a:cxn ang="0">
                    <a:pos x="240" y="18"/>
                  </a:cxn>
                  <a:cxn ang="0">
                    <a:pos x="299" y="24"/>
                  </a:cxn>
                  <a:cxn ang="0">
                    <a:pos x="359" y="30"/>
                  </a:cxn>
                  <a:cxn ang="0">
                    <a:pos x="365" y="12"/>
                  </a:cxn>
                  <a:cxn ang="0">
                    <a:pos x="305" y="6"/>
                  </a:cxn>
                  <a:cxn ang="0">
                    <a:pos x="240" y="0"/>
                  </a:cxn>
                  <a:cxn ang="0">
                    <a:pos x="174" y="6"/>
                  </a:cxn>
                  <a:cxn ang="0">
                    <a:pos x="114" y="12"/>
                  </a:cxn>
                  <a:cxn ang="0">
                    <a:pos x="0" y="42"/>
                  </a:cxn>
                  <a:cxn ang="0">
                    <a:pos x="0" y="66"/>
                  </a:cxn>
                  <a:cxn ang="0">
                    <a:pos x="54" y="48"/>
                  </a:cxn>
                  <a:cxn ang="0">
                    <a:pos x="114" y="30"/>
                  </a:cxn>
                  <a:cxn ang="0">
                    <a:pos x="174" y="24"/>
                  </a:cxn>
                  <a:cxn ang="0">
                    <a:pos x="240" y="18"/>
                  </a:cxn>
                  <a:cxn ang="0">
                    <a:pos x="240" y="18"/>
                  </a:cxn>
                </a:cxnLst>
                <a:rect l="0" t="0" r="r" b="b"/>
                <a:pathLst>
                  <a:path w="365" h="66">
                    <a:moveTo>
                      <a:pt x="240" y="18"/>
                    </a:moveTo>
                    <a:lnTo>
                      <a:pt x="299" y="24"/>
                    </a:lnTo>
                    <a:lnTo>
                      <a:pt x="359" y="30"/>
                    </a:lnTo>
                    <a:lnTo>
                      <a:pt x="365" y="12"/>
                    </a:lnTo>
                    <a:lnTo>
                      <a:pt x="305" y="6"/>
                    </a:lnTo>
                    <a:lnTo>
                      <a:pt x="240" y="0"/>
                    </a:lnTo>
                    <a:lnTo>
                      <a:pt x="174" y="6"/>
                    </a:lnTo>
                    <a:lnTo>
                      <a:pt x="114" y="12"/>
                    </a:lnTo>
                    <a:lnTo>
                      <a:pt x="0" y="42"/>
                    </a:lnTo>
                    <a:lnTo>
                      <a:pt x="0" y="66"/>
                    </a:lnTo>
                    <a:lnTo>
                      <a:pt x="54" y="48"/>
                    </a:lnTo>
                    <a:lnTo>
                      <a:pt x="114" y="30"/>
                    </a:lnTo>
                    <a:lnTo>
                      <a:pt x="174" y="24"/>
                    </a:lnTo>
                    <a:lnTo>
                      <a:pt x="240" y="18"/>
                    </a:lnTo>
                    <a:lnTo>
                      <a:pt x="240" y="1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tint val="96863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89133" name="Freeform 45"/>
              <p:cNvSpPr>
                <a:spLocks/>
              </p:cNvSpPr>
              <p:nvPr/>
            </p:nvSpPr>
            <p:spPr bwMode="hidden">
              <a:xfrm>
                <a:off x="4463" y="3558"/>
                <a:ext cx="66" cy="48"/>
              </a:xfrm>
              <a:custGeom>
                <a:avLst/>
                <a:gdLst/>
                <a:ahLst/>
                <a:cxnLst>
                  <a:cxn ang="0">
                    <a:pos x="66" y="18"/>
                  </a:cxn>
                  <a:cxn ang="0">
                    <a:pos x="48" y="0"/>
                  </a:cxn>
                  <a:cxn ang="0">
                    <a:pos x="24" y="12"/>
                  </a:cxn>
                  <a:cxn ang="0">
                    <a:pos x="0" y="30"/>
                  </a:cxn>
                  <a:cxn ang="0">
                    <a:pos x="12" y="48"/>
                  </a:cxn>
                  <a:cxn ang="0">
                    <a:pos x="42" y="30"/>
                  </a:cxn>
                  <a:cxn ang="0">
                    <a:pos x="66" y="18"/>
                  </a:cxn>
                  <a:cxn ang="0">
                    <a:pos x="66" y="18"/>
                  </a:cxn>
                </a:cxnLst>
                <a:rect l="0" t="0" r="r" b="b"/>
                <a:pathLst>
                  <a:path w="66" h="48">
                    <a:moveTo>
                      <a:pt x="66" y="18"/>
                    </a:moveTo>
                    <a:lnTo>
                      <a:pt x="48" y="0"/>
                    </a:lnTo>
                    <a:lnTo>
                      <a:pt x="24" y="12"/>
                    </a:lnTo>
                    <a:lnTo>
                      <a:pt x="0" y="30"/>
                    </a:lnTo>
                    <a:lnTo>
                      <a:pt x="12" y="48"/>
                    </a:lnTo>
                    <a:lnTo>
                      <a:pt x="42" y="30"/>
                    </a:lnTo>
                    <a:lnTo>
                      <a:pt x="66" y="18"/>
                    </a:lnTo>
                    <a:lnTo>
                      <a:pt x="66" y="1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tint val="96863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89134" name="Freeform 46"/>
              <p:cNvSpPr>
                <a:spLocks/>
              </p:cNvSpPr>
              <p:nvPr/>
            </p:nvSpPr>
            <p:spPr bwMode="hidden">
              <a:xfrm>
                <a:off x="5280" y="3186"/>
                <a:ext cx="383" cy="96"/>
              </a:xfrm>
              <a:custGeom>
                <a:avLst/>
                <a:gdLst/>
                <a:ahLst/>
                <a:cxnLst>
                  <a:cxn ang="0">
                    <a:pos x="209" y="96"/>
                  </a:cxn>
                  <a:cxn ang="0">
                    <a:pos x="143" y="90"/>
                  </a:cxn>
                  <a:cxn ang="0">
                    <a:pos x="83" y="66"/>
                  </a:cxn>
                  <a:cxn ang="0">
                    <a:pos x="35" y="36"/>
                  </a:cxn>
                  <a:cxn ang="0">
                    <a:pos x="6" y="0"/>
                  </a:cxn>
                  <a:cxn ang="0">
                    <a:pos x="0" y="6"/>
                  </a:cxn>
                  <a:cxn ang="0">
                    <a:pos x="29" y="42"/>
                  </a:cxn>
                  <a:cxn ang="0">
                    <a:pos x="77" y="72"/>
                  </a:cxn>
                  <a:cxn ang="0">
                    <a:pos x="137" y="90"/>
                  </a:cxn>
                  <a:cxn ang="0">
                    <a:pos x="209" y="96"/>
                  </a:cxn>
                  <a:cxn ang="0">
                    <a:pos x="263" y="90"/>
                  </a:cxn>
                  <a:cxn ang="0">
                    <a:pos x="311" y="84"/>
                  </a:cxn>
                  <a:cxn ang="0">
                    <a:pos x="352" y="66"/>
                  </a:cxn>
                  <a:cxn ang="0">
                    <a:pos x="382" y="42"/>
                  </a:cxn>
                  <a:cxn ang="0">
                    <a:pos x="376" y="42"/>
                  </a:cxn>
                  <a:cxn ang="0">
                    <a:pos x="346" y="66"/>
                  </a:cxn>
                  <a:cxn ang="0">
                    <a:pos x="305" y="78"/>
                  </a:cxn>
                  <a:cxn ang="0">
                    <a:pos x="263" y="90"/>
                  </a:cxn>
                  <a:cxn ang="0">
                    <a:pos x="209" y="96"/>
                  </a:cxn>
                  <a:cxn ang="0">
                    <a:pos x="209" y="96"/>
                  </a:cxn>
                </a:cxnLst>
                <a:rect l="0" t="0" r="r" b="b"/>
                <a:pathLst>
                  <a:path w="382" h="96">
                    <a:moveTo>
                      <a:pt x="209" y="96"/>
                    </a:moveTo>
                    <a:lnTo>
                      <a:pt x="143" y="90"/>
                    </a:lnTo>
                    <a:lnTo>
                      <a:pt x="83" y="66"/>
                    </a:lnTo>
                    <a:lnTo>
                      <a:pt x="35" y="36"/>
                    </a:lnTo>
                    <a:lnTo>
                      <a:pt x="6" y="0"/>
                    </a:lnTo>
                    <a:lnTo>
                      <a:pt x="0" y="6"/>
                    </a:lnTo>
                    <a:lnTo>
                      <a:pt x="29" y="42"/>
                    </a:lnTo>
                    <a:lnTo>
                      <a:pt x="77" y="72"/>
                    </a:lnTo>
                    <a:lnTo>
                      <a:pt x="137" y="90"/>
                    </a:lnTo>
                    <a:lnTo>
                      <a:pt x="209" y="96"/>
                    </a:lnTo>
                    <a:lnTo>
                      <a:pt x="263" y="90"/>
                    </a:lnTo>
                    <a:lnTo>
                      <a:pt x="311" y="84"/>
                    </a:lnTo>
                    <a:lnTo>
                      <a:pt x="352" y="66"/>
                    </a:lnTo>
                    <a:lnTo>
                      <a:pt x="382" y="42"/>
                    </a:lnTo>
                    <a:lnTo>
                      <a:pt x="376" y="42"/>
                    </a:lnTo>
                    <a:lnTo>
                      <a:pt x="346" y="66"/>
                    </a:lnTo>
                    <a:lnTo>
                      <a:pt x="305" y="78"/>
                    </a:lnTo>
                    <a:lnTo>
                      <a:pt x="263" y="90"/>
                    </a:lnTo>
                    <a:lnTo>
                      <a:pt x="209" y="96"/>
                    </a:lnTo>
                    <a:lnTo>
                      <a:pt x="209" y="9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89135" name="Freeform 47"/>
              <p:cNvSpPr>
                <a:spLocks/>
              </p:cNvSpPr>
              <p:nvPr/>
            </p:nvSpPr>
            <p:spPr bwMode="hidden">
              <a:xfrm>
                <a:off x="5315" y="3024"/>
                <a:ext cx="258" cy="54"/>
              </a:xfrm>
              <a:custGeom>
                <a:avLst/>
                <a:gdLst/>
                <a:ahLst/>
                <a:cxnLst>
                  <a:cxn ang="0">
                    <a:pos x="174" y="0"/>
                  </a:cxn>
                  <a:cxn ang="0">
                    <a:pos x="216" y="6"/>
                  </a:cxn>
                  <a:cxn ang="0">
                    <a:pos x="258" y="12"/>
                  </a:cxn>
                  <a:cxn ang="0">
                    <a:pos x="252" y="6"/>
                  </a:cxn>
                  <a:cxn ang="0">
                    <a:pos x="216" y="0"/>
                  </a:cxn>
                  <a:cxn ang="0">
                    <a:pos x="174" y="0"/>
                  </a:cxn>
                  <a:cxn ang="0">
                    <a:pos x="120" y="6"/>
                  </a:cxn>
                  <a:cxn ang="0">
                    <a:pos x="78" y="12"/>
                  </a:cxn>
                  <a:cxn ang="0">
                    <a:pos x="36" y="30"/>
                  </a:cxn>
                  <a:cxn ang="0">
                    <a:pos x="0" y="48"/>
                  </a:cxn>
                  <a:cxn ang="0">
                    <a:pos x="6" y="54"/>
                  </a:cxn>
                  <a:cxn ang="0">
                    <a:pos x="36" y="36"/>
                  </a:cxn>
                  <a:cxn ang="0">
                    <a:pos x="78" y="18"/>
                  </a:cxn>
                  <a:cxn ang="0">
                    <a:pos x="120" y="6"/>
                  </a:cxn>
                  <a:cxn ang="0">
                    <a:pos x="174" y="0"/>
                  </a:cxn>
                  <a:cxn ang="0">
                    <a:pos x="174" y="0"/>
                  </a:cxn>
                </a:cxnLst>
                <a:rect l="0" t="0" r="r" b="b"/>
                <a:pathLst>
                  <a:path w="258" h="54">
                    <a:moveTo>
                      <a:pt x="174" y="0"/>
                    </a:moveTo>
                    <a:lnTo>
                      <a:pt x="216" y="6"/>
                    </a:lnTo>
                    <a:lnTo>
                      <a:pt x="258" y="12"/>
                    </a:lnTo>
                    <a:lnTo>
                      <a:pt x="252" y="6"/>
                    </a:lnTo>
                    <a:lnTo>
                      <a:pt x="216" y="0"/>
                    </a:lnTo>
                    <a:lnTo>
                      <a:pt x="174" y="0"/>
                    </a:lnTo>
                    <a:lnTo>
                      <a:pt x="120" y="6"/>
                    </a:lnTo>
                    <a:lnTo>
                      <a:pt x="78" y="12"/>
                    </a:lnTo>
                    <a:lnTo>
                      <a:pt x="36" y="30"/>
                    </a:lnTo>
                    <a:lnTo>
                      <a:pt x="0" y="48"/>
                    </a:lnTo>
                    <a:lnTo>
                      <a:pt x="6" y="54"/>
                    </a:lnTo>
                    <a:lnTo>
                      <a:pt x="36" y="36"/>
                    </a:lnTo>
                    <a:lnTo>
                      <a:pt x="78" y="18"/>
                    </a:lnTo>
                    <a:lnTo>
                      <a:pt x="120" y="6"/>
                    </a:lnTo>
                    <a:lnTo>
                      <a:pt x="174" y="0"/>
                    </a:lnTo>
                    <a:lnTo>
                      <a:pt x="17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89136" name="Freeform 48"/>
              <p:cNvSpPr>
                <a:spLocks/>
              </p:cNvSpPr>
              <p:nvPr/>
            </p:nvSpPr>
            <p:spPr bwMode="hidden">
              <a:xfrm>
                <a:off x="5645" y="3066"/>
                <a:ext cx="60" cy="156"/>
              </a:xfrm>
              <a:custGeom>
                <a:avLst/>
                <a:gdLst/>
                <a:ahLst/>
                <a:cxnLst>
                  <a:cxn ang="0">
                    <a:pos x="54" y="90"/>
                  </a:cxn>
                  <a:cxn ang="0">
                    <a:pos x="48" y="126"/>
                  </a:cxn>
                  <a:cxn ang="0">
                    <a:pos x="24" y="156"/>
                  </a:cxn>
                  <a:cxn ang="0">
                    <a:pos x="30" y="156"/>
                  </a:cxn>
                  <a:cxn ang="0">
                    <a:pos x="54" y="126"/>
                  </a:cxn>
                  <a:cxn ang="0">
                    <a:pos x="60" y="90"/>
                  </a:cxn>
                  <a:cxn ang="0">
                    <a:pos x="54" y="66"/>
                  </a:cxn>
                  <a:cxn ang="0">
                    <a:pos x="48" y="42"/>
                  </a:cxn>
                  <a:cxn ang="0">
                    <a:pos x="30" y="18"/>
                  </a:cxn>
                  <a:cxn ang="0">
                    <a:pos x="6" y="0"/>
                  </a:cxn>
                  <a:cxn ang="0">
                    <a:pos x="0" y="6"/>
                  </a:cxn>
                  <a:cxn ang="0">
                    <a:pos x="24" y="24"/>
                  </a:cxn>
                  <a:cxn ang="0">
                    <a:pos x="42" y="42"/>
                  </a:cxn>
                  <a:cxn ang="0">
                    <a:pos x="48" y="66"/>
                  </a:cxn>
                  <a:cxn ang="0">
                    <a:pos x="54" y="90"/>
                  </a:cxn>
                  <a:cxn ang="0">
                    <a:pos x="54" y="90"/>
                  </a:cxn>
                </a:cxnLst>
                <a:rect l="0" t="0" r="r" b="b"/>
                <a:pathLst>
                  <a:path w="60" h="156">
                    <a:moveTo>
                      <a:pt x="54" y="90"/>
                    </a:moveTo>
                    <a:lnTo>
                      <a:pt x="48" y="126"/>
                    </a:lnTo>
                    <a:lnTo>
                      <a:pt x="24" y="156"/>
                    </a:lnTo>
                    <a:lnTo>
                      <a:pt x="30" y="156"/>
                    </a:lnTo>
                    <a:lnTo>
                      <a:pt x="54" y="126"/>
                    </a:lnTo>
                    <a:lnTo>
                      <a:pt x="60" y="90"/>
                    </a:lnTo>
                    <a:lnTo>
                      <a:pt x="54" y="66"/>
                    </a:lnTo>
                    <a:lnTo>
                      <a:pt x="48" y="42"/>
                    </a:lnTo>
                    <a:lnTo>
                      <a:pt x="30" y="18"/>
                    </a:lnTo>
                    <a:lnTo>
                      <a:pt x="6" y="0"/>
                    </a:lnTo>
                    <a:lnTo>
                      <a:pt x="0" y="6"/>
                    </a:lnTo>
                    <a:lnTo>
                      <a:pt x="24" y="24"/>
                    </a:lnTo>
                    <a:lnTo>
                      <a:pt x="42" y="42"/>
                    </a:lnTo>
                    <a:lnTo>
                      <a:pt x="48" y="66"/>
                    </a:lnTo>
                    <a:lnTo>
                      <a:pt x="54" y="90"/>
                    </a:lnTo>
                    <a:lnTo>
                      <a:pt x="54" y="9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89137" name="Freeform 49"/>
              <p:cNvSpPr>
                <a:spLocks/>
              </p:cNvSpPr>
              <p:nvPr/>
            </p:nvSpPr>
            <p:spPr bwMode="hidden">
              <a:xfrm>
                <a:off x="5375" y="3246"/>
                <a:ext cx="192" cy="18"/>
              </a:xfrm>
              <a:custGeom>
                <a:avLst/>
                <a:gdLst/>
                <a:ahLst/>
                <a:cxnLst>
                  <a:cxn ang="0">
                    <a:pos x="114" y="12"/>
                  </a:cxn>
                  <a:cxn ang="0">
                    <a:pos x="72" y="6"/>
                  </a:cxn>
                  <a:cxn ang="0">
                    <a:pos x="30" y="0"/>
                  </a:cxn>
                  <a:cxn ang="0">
                    <a:pos x="0" y="0"/>
                  </a:cxn>
                  <a:cxn ang="0">
                    <a:pos x="54" y="12"/>
                  </a:cxn>
                  <a:cxn ang="0">
                    <a:pos x="114" y="18"/>
                  </a:cxn>
                  <a:cxn ang="0">
                    <a:pos x="156" y="18"/>
                  </a:cxn>
                  <a:cxn ang="0">
                    <a:pos x="192" y="12"/>
                  </a:cxn>
                  <a:cxn ang="0">
                    <a:pos x="186" y="0"/>
                  </a:cxn>
                  <a:cxn ang="0">
                    <a:pos x="150" y="6"/>
                  </a:cxn>
                  <a:cxn ang="0">
                    <a:pos x="114" y="12"/>
                  </a:cxn>
                  <a:cxn ang="0">
                    <a:pos x="114" y="12"/>
                  </a:cxn>
                </a:cxnLst>
                <a:rect l="0" t="0" r="r" b="b"/>
                <a:pathLst>
                  <a:path w="192" h="18">
                    <a:moveTo>
                      <a:pt x="114" y="12"/>
                    </a:moveTo>
                    <a:lnTo>
                      <a:pt x="72" y="6"/>
                    </a:lnTo>
                    <a:lnTo>
                      <a:pt x="30" y="0"/>
                    </a:lnTo>
                    <a:lnTo>
                      <a:pt x="0" y="0"/>
                    </a:lnTo>
                    <a:lnTo>
                      <a:pt x="54" y="12"/>
                    </a:lnTo>
                    <a:lnTo>
                      <a:pt x="114" y="18"/>
                    </a:lnTo>
                    <a:lnTo>
                      <a:pt x="156" y="18"/>
                    </a:lnTo>
                    <a:lnTo>
                      <a:pt x="192" y="12"/>
                    </a:lnTo>
                    <a:lnTo>
                      <a:pt x="186" y="0"/>
                    </a:lnTo>
                    <a:lnTo>
                      <a:pt x="150" y="6"/>
                    </a:lnTo>
                    <a:lnTo>
                      <a:pt x="114" y="12"/>
                    </a:lnTo>
                    <a:lnTo>
                      <a:pt x="114" y="1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89138" name="Freeform 50"/>
              <p:cNvSpPr>
                <a:spLocks/>
              </p:cNvSpPr>
              <p:nvPr/>
            </p:nvSpPr>
            <p:spPr bwMode="hidden">
              <a:xfrm>
                <a:off x="5304" y="3042"/>
                <a:ext cx="161" cy="186"/>
              </a:xfrm>
              <a:custGeom>
                <a:avLst/>
                <a:gdLst/>
                <a:ahLst/>
                <a:cxnLst>
                  <a:cxn ang="0">
                    <a:pos x="11" y="114"/>
                  </a:cxn>
                  <a:cxn ang="0">
                    <a:pos x="17" y="96"/>
                  </a:cxn>
                  <a:cxn ang="0">
                    <a:pos x="23" y="78"/>
                  </a:cxn>
                  <a:cxn ang="0">
                    <a:pos x="53" y="42"/>
                  </a:cxn>
                  <a:cxn ang="0">
                    <a:pos x="101" y="18"/>
                  </a:cxn>
                  <a:cxn ang="0">
                    <a:pos x="155" y="6"/>
                  </a:cxn>
                  <a:cxn ang="0">
                    <a:pos x="161" y="0"/>
                  </a:cxn>
                  <a:cxn ang="0">
                    <a:pos x="95" y="12"/>
                  </a:cxn>
                  <a:cxn ang="0">
                    <a:pos x="47" y="36"/>
                  </a:cxn>
                  <a:cxn ang="0">
                    <a:pos x="11" y="72"/>
                  </a:cxn>
                  <a:cxn ang="0">
                    <a:pos x="5" y="90"/>
                  </a:cxn>
                  <a:cxn ang="0">
                    <a:pos x="0" y="114"/>
                  </a:cxn>
                  <a:cxn ang="0">
                    <a:pos x="11" y="150"/>
                  </a:cxn>
                  <a:cxn ang="0">
                    <a:pos x="23" y="168"/>
                  </a:cxn>
                  <a:cxn ang="0">
                    <a:pos x="41" y="186"/>
                  </a:cxn>
                  <a:cxn ang="0">
                    <a:pos x="65" y="186"/>
                  </a:cxn>
                  <a:cxn ang="0">
                    <a:pos x="41" y="168"/>
                  </a:cxn>
                  <a:cxn ang="0">
                    <a:pos x="23" y="150"/>
                  </a:cxn>
                  <a:cxn ang="0">
                    <a:pos x="17" y="132"/>
                  </a:cxn>
                  <a:cxn ang="0">
                    <a:pos x="11" y="114"/>
                  </a:cxn>
                  <a:cxn ang="0">
                    <a:pos x="11" y="114"/>
                  </a:cxn>
                </a:cxnLst>
                <a:rect l="0" t="0" r="r" b="b"/>
                <a:pathLst>
                  <a:path w="161" h="186">
                    <a:moveTo>
                      <a:pt x="11" y="114"/>
                    </a:moveTo>
                    <a:lnTo>
                      <a:pt x="17" y="96"/>
                    </a:lnTo>
                    <a:lnTo>
                      <a:pt x="23" y="78"/>
                    </a:lnTo>
                    <a:lnTo>
                      <a:pt x="53" y="42"/>
                    </a:lnTo>
                    <a:lnTo>
                      <a:pt x="101" y="18"/>
                    </a:lnTo>
                    <a:lnTo>
                      <a:pt x="155" y="6"/>
                    </a:lnTo>
                    <a:lnTo>
                      <a:pt x="161" y="0"/>
                    </a:lnTo>
                    <a:lnTo>
                      <a:pt x="95" y="12"/>
                    </a:lnTo>
                    <a:lnTo>
                      <a:pt x="47" y="36"/>
                    </a:lnTo>
                    <a:lnTo>
                      <a:pt x="11" y="72"/>
                    </a:lnTo>
                    <a:lnTo>
                      <a:pt x="5" y="90"/>
                    </a:lnTo>
                    <a:lnTo>
                      <a:pt x="0" y="114"/>
                    </a:lnTo>
                    <a:lnTo>
                      <a:pt x="11" y="150"/>
                    </a:lnTo>
                    <a:lnTo>
                      <a:pt x="23" y="168"/>
                    </a:lnTo>
                    <a:lnTo>
                      <a:pt x="41" y="186"/>
                    </a:lnTo>
                    <a:lnTo>
                      <a:pt x="65" y="186"/>
                    </a:lnTo>
                    <a:lnTo>
                      <a:pt x="41" y="168"/>
                    </a:lnTo>
                    <a:lnTo>
                      <a:pt x="23" y="150"/>
                    </a:lnTo>
                    <a:lnTo>
                      <a:pt x="17" y="132"/>
                    </a:lnTo>
                    <a:lnTo>
                      <a:pt x="11" y="114"/>
                    </a:lnTo>
                    <a:lnTo>
                      <a:pt x="11" y="1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89139" name="Freeform 51"/>
              <p:cNvSpPr>
                <a:spLocks/>
              </p:cNvSpPr>
              <p:nvPr/>
            </p:nvSpPr>
            <p:spPr bwMode="hidden">
              <a:xfrm>
                <a:off x="5489" y="3042"/>
                <a:ext cx="186" cy="210"/>
              </a:xfrm>
              <a:custGeom>
                <a:avLst/>
                <a:gdLst/>
                <a:ahLst/>
                <a:cxnLst>
                  <a:cxn ang="0">
                    <a:pos x="0" y="6"/>
                  </a:cxn>
                  <a:cxn ang="0">
                    <a:pos x="66" y="12"/>
                  </a:cxn>
                  <a:cxn ang="0">
                    <a:pos x="119" y="36"/>
                  </a:cxn>
                  <a:cxn ang="0">
                    <a:pos x="155" y="72"/>
                  </a:cxn>
                  <a:cxn ang="0">
                    <a:pos x="161" y="90"/>
                  </a:cxn>
                  <a:cxn ang="0">
                    <a:pos x="167" y="114"/>
                  </a:cxn>
                  <a:cxn ang="0">
                    <a:pos x="161" y="138"/>
                  </a:cxn>
                  <a:cxn ang="0">
                    <a:pos x="149" y="162"/>
                  </a:cxn>
                  <a:cxn ang="0">
                    <a:pos x="119" y="180"/>
                  </a:cxn>
                  <a:cxn ang="0">
                    <a:pos x="90" y="198"/>
                  </a:cxn>
                  <a:cxn ang="0">
                    <a:pos x="96" y="210"/>
                  </a:cxn>
                  <a:cxn ang="0">
                    <a:pos x="131" y="192"/>
                  </a:cxn>
                  <a:cxn ang="0">
                    <a:pos x="161" y="168"/>
                  </a:cxn>
                  <a:cxn ang="0">
                    <a:pos x="179" y="144"/>
                  </a:cxn>
                  <a:cxn ang="0">
                    <a:pos x="185" y="114"/>
                  </a:cxn>
                  <a:cxn ang="0">
                    <a:pos x="179" y="90"/>
                  </a:cxn>
                  <a:cxn ang="0">
                    <a:pos x="173" y="66"/>
                  </a:cxn>
                  <a:cxn ang="0">
                    <a:pos x="155" y="48"/>
                  </a:cxn>
                  <a:cxn ang="0">
                    <a:pos x="131" y="30"/>
                  </a:cxn>
                  <a:cxn ang="0">
                    <a:pos x="72" y="6"/>
                  </a:cxn>
                  <a:cxn ang="0">
                    <a:pos x="0" y="0"/>
                  </a:cxn>
                  <a:cxn ang="0">
                    <a:pos x="0" y="6"/>
                  </a:cxn>
                  <a:cxn ang="0">
                    <a:pos x="0" y="6"/>
                  </a:cxn>
                  <a:cxn ang="0">
                    <a:pos x="0" y="6"/>
                  </a:cxn>
                </a:cxnLst>
                <a:rect l="0" t="0" r="r" b="b"/>
                <a:pathLst>
                  <a:path w="185" h="210">
                    <a:moveTo>
                      <a:pt x="0" y="6"/>
                    </a:moveTo>
                    <a:lnTo>
                      <a:pt x="66" y="12"/>
                    </a:lnTo>
                    <a:lnTo>
                      <a:pt x="119" y="36"/>
                    </a:lnTo>
                    <a:lnTo>
                      <a:pt x="155" y="72"/>
                    </a:lnTo>
                    <a:lnTo>
                      <a:pt x="161" y="90"/>
                    </a:lnTo>
                    <a:lnTo>
                      <a:pt x="167" y="114"/>
                    </a:lnTo>
                    <a:lnTo>
                      <a:pt x="161" y="138"/>
                    </a:lnTo>
                    <a:lnTo>
                      <a:pt x="149" y="162"/>
                    </a:lnTo>
                    <a:lnTo>
                      <a:pt x="119" y="180"/>
                    </a:lnTo>
                    <a:lnTo>
                      <a:pt x="90" y="198"/>
                    </a:lnTo>
                    <a:lnTo>
                      <a:pt x="96" y="210"/>
                    </a:lnTo>
                    <a:lnTo>
                      <a:pt x="131" y="192"/>
                    </a:lnTo>
                    <a:lnTo>
                      <a:pt x="161" y="168"/>
                    </a:lnTo>
                    <a:lnTo>
                      <a:pt x="179" y="144"/>
                    </a:lnTo>
                    <a:lnTo>
                      <a:pt x="185" y="114"/>
                    </a:lnTo>
                    <a:lnTo>
                      <a:pt x="179" y="90"/>
                    </a:lnTo>
                    <a:lnTo>
                      <a:pt x="173" y="66"/>
                    </a:lnTo>
                    <a:lnTo>
                      <a:pt x="155" y="48"/>
                    </a:lnTo>
                    <a:lnTo>
                      <a:pt x="131" y="30"/>
                    </a:lnTo>
                    <a:lnTo>
                      <a:pt x="72" y="6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0" y="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89140" name="Freeform 52"/>
              <p:cNvSpPr>
                <a:spLocks noEditPoints="1"/>
              </p:cNvSpPr>
              <p:nvPr/>
            </p:nvSpPr>
            <p:spPr bwMode="hidden">
              <a:xfrm>
                <a:off x="5345" y="3058"/>
                <a:ext cx="299" cy="186"/>
              </a:xfrm>
              <a:custGeom>
                <a:avLst/>
                <a:gdLst/>
                <a:ahLst/>
                <a:cxnLst>
                  <a:cxn ang="0">
                    <a:pos x="150" y="0"/>
                  </a:cxn>
                  <a:cxn ang="0">
                    <a:pos x="90" y="6"/>
                  </a:cxn>
                  <a:cxn ang="0">
                    <a:pos x="42" y="30"/>
                  </a:cxn>
                  <a:cxn ang="0">
                    <a:pos x="12" y="54"/>
                  </a:cxn>
                  <a:cxn ang="0">
                    <a:pos x="6" y="72"/>
                  </a:cxn>
                  <a:cxn ang="0">
                    <a:pos x="0" y="90"/>
                  </a:cxn>
                  <a:cxn ang="0">
                    <a:pos x="6" y="108"/>
                  </a:cxn>
                  <a:cxn ang="0">
                    <a:pos x="12" y="126"/>
                  </a:cxn>
                  <a:cxn ang="0">
                    <a:pos x="42" y="156"/>
                  </a:cxn>
                  <a:cxn ang="0">
                    <a:pos x="90" y="180"/>
                  </a:cxn>
                  <a:cxn ang="0">
                    <a:pos x="150" y="186"/>
                  </a:cxn>
                  <a:cxn ang="0">
                    <a:pos x="209" y="180"/>
                  </a:cxn>
                  <a:cxn ang="0">
                    <a:pos x="257" y="156"/>
                  </a:cxn>
                  <a:cxn ang="0">
                    <a:pos x="287" y="126"/>
                  </a:cxn>
                  <a:cxn ang="0">
                    <a:pos x="299" y="108"/>
                  </a:cxn>
                  <a:cxn ang="0">
                    <a:pos x="299" y="90"/>
                  </a:cxn>
                  <a:cxn ang="0">
                    <a:pos x="299" y="72"/>
                  </a:cxn>
                  <a:cxn ang="0">
                    <a:pos x="287" y="54"/>
                  </a:cxn>
                  <a:cxn ang="0">
                    <a:pos x="257" y="30"/>
                  </a:cxn>
                  <a:cxn ang="0">
                    <a:pos x="209" y="6"/>
                  </a:cxn>
                  <a:cxn ang="0">
                    <a:pos x="150" y="0"/>
                  </a:cxn>
                  <a:cxn ang="0">
                    <a:pos x="150" y="0"/>
                  </a:cxn>
                  <a:cxn ang="0">
                    <a:pos x="150" y="180"/>
                  </a:cxn>
                  <a:cxn ang="0">
                    <a:pos x="96" y="174"/>
                  </a:cxn>
                  <a:cxn ang="0">
                    <a:pos x="48" y="156"/>
                  </a:cxn>
                  <a:cxn ang="0">
                    <a:pos x="18" y="126"/>
                  </a:cxn>
                  <a:cxn ang="0">
                    <a:pos x="12" y="108"/>
                  </a:cxn>
                  <a:cxn ang="0">
                    <a:pos x="6" y="90"/>
                  </a:cxn>
                  <a:cxn ang="0">
                    <a:pos x="12" y="72"/>
                  </a:cxn>
                  <a:cxn ang="0">
                    <a:pos x="18" y="54"/>
                  </a:cxn>
                  <a:cxn ang="0">
                    <a:pos x="48" y="30"/>
                  </a:cxn>
                  <a:cxn ang="0">
                    <a:pos x="96" y="12"/>
                  </a:cxn>
                  <a:cxn ang="0">
                    <a:pos x="150" y="6"/>
                  </a:cxn>
                  <a:cxn ang="0">
                    <a:pos x="203" y="12"/>
                  </a:cxn>
                  <a:cxn ang="0">
                    <a:pos x="251" y="30"/>
                  </a:cxn>
                  <a:cxn ang="0">
                    <a:pos x="281" y="54"/>
                  </a:cxn>
                  <a:cxn ang="0">
                    <a:pos x="293" y="72"/>
                  </a:cxn>
                  <a:cxn ang="0">
                    <a:pos x="293" y="90"/>
                  </a:cxn>
                  <a:cxn ang="0">
                    <a:pos x="293" y="108"/>
                  </a:cxn>
                  <a:cxn ang="0">
                    <a:pos x="281" y="126"/>
                  </a:cxn>
                  <a:cxn ang="0">
                    <a:pos x="251" y="156"/>
                  </a:cxn>
                  <a:cxn ang="0">
                    <a:pos x="203" y="174"/>
                  </a:cxn>
                  <a:cxn ang="0">
                    <a:pos x="150" y="180"/>
                  </a:cxn>
                  <a:cxn ang="0">
                    <a:pos x="150" y="180"/>
                  </a:cxn>
                </a:cxnLst>
                <a:rect l="0" t="0" r="r" b="b"/>
                <a:pathLst>
                  <a:path w="299" h="186">
                    <a:moveTo>
                      <a:pt x="150" y="0"/>
                    </a:moveTo>
                    <a:lnTo>
                      <a:pt x="90" y="6"/>
                    </a:lnTo>
                    <a:lnTo>
                      <a:pt x="42" y="30"/>
                    </a:lnTo>
                    <a:lnTo>
                      <a:pt x="12" y="54"/>
                    </a:lnTo>
                    <a:lnTo>
                      <a:pt x="6" y="72"/>
                    </a:lnTo>
                    <a:lnTo>
                      <a:pt x="0" y="90"/>
                    </a:lnTo>
                    <a:lnTo>
                      <a:pt x="6" y="108"/>
                    </a:lnTo>
                    <a:lnTo>
                      <a:pt x="12" y="126"/>
                    </a:lnTo>
                    <a:lnTo>
                      <a:pt x="42" y="156"/>
                    </a:lnTo>
                    <a:lnTo>
                      <a:pt x="90" y="180"/>
                    </a:lnTo>
                    <a:lnTo>
                      <a:pt x="150" y="186"/>
                    </a:lnTo>
                    <a:lnTo>
                      <a:pt x="209" y="180"/>
                    </a:lnTo>
                    <a:lnTo>
                      <a:pt x="257" y="156"/>
                    </a:lnTo>
                    <a:lnTo>
                      <a:pt x="287" y="126"/>
                    </a:lnTo>
                    <a:lnTo>
                      <a:pt x="299" y="108"/>
                    </a:lnTo>
                    <a:lnTo>
                      <a:pt x="299" y="90"/>
                    </a:lnTo>
                    <a:lnTo>
                      <a:pt x="299" y="72"/>
                    </a:lnTo>
                    <a:lnTo>
                      <a:pt x="287" y="54"/>
                    </a:lnTo>
                    <a:lnTo>
                      <a:pt x="257" y="30"/>
                    </a:lnTo>
                    <a:lnTo>
                      <a:pt x="209" y="6"/>
                    </a:lnTo>
                    <a:lnTo>
                      <a:pt x="150" y="0"/>
                    </a:lnTo>
                    <a:lnTo>
                      <a:pt x="150" y="0"/>
                    </a:lnTo>
                    <a:close/>
                    <a:moveTo>
                      <a:pt x="150" y="180"/>
                    </a:moveTo>
                    <a:lnTo>
                      <a:pt x="96" y="174"/>
                    </a:lnTo>
                    <a:lnTo>
                      <a:pt x="48" y="156"/>
                    </a:lnTo>
                    <a:lnTo>
                      <a:pt x="18" y="126"/>
                    </a:lnTo>
                    <a:lnTo>
                      <a:pt x="12" y="108"/>
                    </a:lnTo>
                    <a:lnTo>
                      <a:pt x="6" y="90"/>
                    </a:lnTo>
                    <a:lnTo>
                      <a:pt x="12" y="72"/>
                    </a:lnTo>
                    <a:lnTo>
                      <a:pt x="18" y="54"/>
                    </a:lnTo>
                    <a:lnTo>
                      <a:pt x="48" y="30"/>
                    </a:lnTo>
                    <a:lnTo>
                      <a:pt x="96" y="12"/>
                    </a:lnTo>
                    <a:lnTo>
                      <a:pt x="150" y="6"/>
                    </a:lnTo>
                    <a:lnTo>
                      <a:pt x="203" y="12"/>
                    </a:lnTo>
                    <a:lnTo>
                      <a:pt x="251" y="30"/>
                    </a:lnTo>
                    <a:lnTo>
                      <a:pt x="281" y="54"/>
                    </a:lnTo>
                    <a:lnTo>
                      <a:pt x="293" y="72"/>
                    </a:lnTo>
                    <a:lnTo>
                      <a:pt x="293" y="90"/>
                    </a:lnTo>
                    <a:lnTo>
                      <a:pt x="293" y="108"/>
                    </a:lnTo>
                    <a:lnTo>
                      <a:pt x="281" y="126"/>
                    </a:lnTo>
                    <a:lnTo>
                      <a:pt x="251" y="156"/>
                    </a:lnTo>
                    <a:lnTo>
                      <a:pt x="203" y="174"/>
                    </a:lnTo>
                    <a:lnTo>
                      <a:pt x="150" y="180"/>
                    </a:lnTo>
                    <a:lnTo>
                      <a:pt x="150" y="18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89141" name="Oval 53"/>
              <p:cNvSpPr>
                <a:spLocks noChangeArrowheads="1"/>
              </p:cNvSpPr>
              <p:nvPr/>
            </p:nvSpPr>
            <p:spPr bwMode="hidden">
              <a:xfrm>
                <a:off x="3910" y="3948"/>
                <a:ext cx="84" cy="53"/>
              </a:xfrm>
              <a:prstGeom prst="ellipse">
                <a:avLst/>
              </a:prstGeom>
              <a:gradFill rotWithShape="0">
                <a:gsLst>
                  <a:gs pos="0">
                    <a:schemeClr val="accent1">
                      <a:gamma/>
                      <a:shade val="94118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grpSp>
            <p:nvGrpSpPr>
              <p:cNvPr id="1075" name="Group 54"/>
              <p:cNvGrpSpPr>
                <a:grpSpLocks/>
              </p:cNvGrpSpPr>
              <p:nvPr userDrawn="1"/>
            </p:nvGrpSpPr>
            <p:grpSpPr bwMode="auto">
              <a:xfrm>
                <a:off x="4546" y="3608"/>
                <a:ext cx="518" cy="319"/>
                <a:chOff x="4546" y="3608"/>
                <a:chExt cx="518" cy="319"/>
              </a:xfrm>
            </p:grpSpPr>
            <p:sp>
              <p:nvSpPr>
                <p:cNvPr id="89143" name="Oval 55"/>
                <p:cNvSpPr>
                  <a:spLocks noChangeArrowheads="1"/>
                </p:cNvSpPr>
                <p:nvPr/>
              </p:nvSpPr>
              <p:spPr bwMode="hidden">
                <a:xfrm>
                  <a:off x="4546" y="3608"/>
                  <a:ext cx="518" cy="319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94118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89144" name="Oval 56"/>
                <p:cNvSpPr>
                  <a:spLocks noChangeArrowheads="1"/>
                </p:cNvSpPr>
                <p:nvPr/>
              </p:nvSpPr>
              <p:spPr bwMode="hidden">
                <a:xfrm>
                  <a:off x="4578" y="3630"/>
                  <a:ext cx="446" cy="271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tint val="96863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89145" name="Oval 57"/>
                <p:cNvSpPr>
                  <a:spLocks noChangeArrowheads="1"/>
                </p:cNvSpPr>
                <p:nvPr/>
              </p:nvSpPr>
              <p:spPr bwMode="hidden">
                <a:xfrm>
                  <a:off x="4610" y="3650"/>
                  <a:ext cx="386" cy="233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94118"/>
                        <a:invGamma/>
                      </a:schemeClr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89146" name="Oval 58"/>
                <p:cNvSpPr>
                  <a:spLocks noChangeArrowheads="1"/>
                </p:cNvSpPr>
                <p:nvPr/>
              </p:nvSpPr>
              <p:spPr bwMode="hidden">
                <a:xfrm>
                  <a:off x="4654" y="3678"/>
                  <a:ext cx="298" cy="177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94118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89147" name="Oval 59"/>
                <p:cNvSpPr>
                  <a:spLocks noChangeArrowheads="1"/>
                </p:cNvSpPr>
                <p:nvPr/>
              </p:nvSpPr>
              <p:spPr bwMode="hidden">
                <a:xfrm>
                  <a:off x="4690" y="3698"/>
                  <a:ext cx="222" cy="139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94118"/>
                        <a:invGamma/>
                      </a:schemeClr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89148" name="Oval 60"/>
                <p:cNvSpPr>
                  <a:spLocks noChangeArrowheads="1"/>
                </p:cNvSpPr>
                <p:nvPr/>
              </p:nvSpPr>
              <p:spPr bwMode="hidden">
                <a:xfrm>
                  <a:off x="4738" y="3728"/>
                  <a:ext cx="126" cy="81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96863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</p:grpSp>
          <p:grpSp>
            <p:nvGrpSpPr>
              <p:cNvPr id="1076" name="Group 61"/>
              <p:cNvGrpSpPr>
                <a:grpSpLocks/>
              </p:cNvGrpSpPr>
              <p:nvPr userDrawn="1"/>
            </p:nvGrpSpPr>
            <p:grpSpPr bwMode="auto">
              <a:xfrm>
                <a:off x="5381" y="3085"/>
                <a:ext cx="227" cy="132"/>
                <a:chOff x="5381" y="3085"/>
                <a:chExt cx="227" cy="132"/>
              </a:xfrm>
            </p:grpSpPr>
            <p:sp>
              <p:nvSpPr>
                <p:cNvPr id="89150" name="Oval 62"/>
                <p:cNvSpPr>
                  <a:spLocks noChangeArrowheads="1"/>
                </p:cNvSpPr>
                <p:nvPr/>
              </p:nvSpPr>
              <p:spPr bwMode="hidden">
                <a:xfrm>
                  <a:off x="5381" y="3085"/>
                  <a:ext cx="227" cy="13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bg1"/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89151" name="Oval 63"/>
                <p:cNvSpPr>
                  <a:spLocks noChangeArrowheads="1"/>
                </p:cNvSpPr>
                <p:nvPr/>
              </p:nvSpPr>
              <p:spPr bwMode="hidden">
                <a:xfrm>
                  <a:off x="5403" y="3099"/>
                  <a:ext cx="182" cy="10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89152" name="Oval 64"/>
                <p:cNvSpPr>
                  <a:spLocks noChangeArrowheads="1"/>
                </p:cNvSpPr>
                <p:nvPr/>
              </p:nvSpPr>
              <p:spPr bwMode="hidden">
                <a:xfrm>
                  <a:off x="5431" y="3109"/>
                  <a:ext cx="125" cy="8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bg1"/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89153" name="Oval 65"/>
                <p:cNvSpPr>
                  <a:spLocks noChangeArrowheads="1"/>
                </p:cNvSpPr>
                <p:nvPr/>
              </p:nvSpPr>
              <p:spPr bwMode="hidden">
                <a:xfrm>
                  <a:off x="5458" y="3125"/>
                  <a:ext cx="73" cy="47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</p:grpSp>
        </p:grpSp>
      </p:grpSp>
      <p:sp>
        <p:nvSpPr>
          <p:cNvPr id="89154" name="Rectangle 66"/>
          <p:cNvSpPr>
            <a:spLocks noGrp="1" noChangeArrowheads="1"/>
          </p:cNvSpPr>
          <p:nvPr>
            <p:ph type="title"/>
          </p:nvPr>
        </p:nvSpPr>
        <p:spPr bwMode="black">
          <a:xfrm>
            <a:off x="457200" y="277813"/>
            <a:ext cx="8229600" cy="113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89155" name="Rectangle 67"/>
          <p:cNvSpPr>
            <a:spLocks noGrp="1" noChangeArrowheads="1"/>
          </p:cNvSpPr>
          <p:nvPr>
            <p:ph type="dt" sz="half" idx="2"/>
          </p:nvPr>
        </p:nvSpPr>
        <p:spPr bwMode="black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-107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9156" name="Rectangle 68"/>
          <p:cNvSpPr>
            <a:spLocks noGrp="1" noChangeArrowheads="1"/>
          </p:cNvSpPr>
          <p:nvPr>
            <p:ph type="ftr" sz="quarter" idx="3"/>
          </p:nvPr>
        </p:nvSpPr>
        <p:spPr bwMode="black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-107" charset="0"/>
              </a:defRPr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 </a:t>
            </a:r>
            <a:endParaRPr lang="en-US"/>
          </a:p>
        </p:txBody>
      </p:sp>
      <p:sp>
        <p:nvSpPr>
          <p:cNvPr id="89157" name="Rectangle 69"/>
          <p:cNvSpPr>
            <a:spLocks noGrp="1" noChangeArrowheads="1"/>
          </p:cNvSpPr>
          <p:nvPr>
            <p:ph type="sldNum" sz="quarter" idx="4"/>
          </p:nvPr>
        </p:nvSpPr>
        <p:spPr bwMode="black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-107" charset="0"/>
              </a:defRPr>
            </a:lvl1pPr>
          </a:lstStyle>
          <a:p>
            <a:pPr>
              <a:defRPr/>
            </a:pPr>
            <a:fld id="{6D4DF42E-3762-4049-AE2C-F3CF68EA27A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9158" name="Rectangle 70"/>
          <p:cNvSpPr>
            <a:spLocks noGrp="1" noChangeArrowheads="1"/>
          </p:cNvSpPr>
          <p:nvPr>
            <p:ph type="body" idx="1"/>
          </p:nvPr>
        </p:nvSpPr>
        <p:spPr bwMode="black">
          <a:xfrm>
            <a:off x="457200" y="1676400"/>
            <a:ext cx="8229600" cy="4454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735" r:id="rId1"/>
    <p:sldLayoutId id="2147483725" r:id="rId2"/>
    <p:sldLayoutId id="2147483726" r:id="rId3"/>
    <p:sldLayoutId id="2147483727" r:id="rId4"/>
    <p:sldLayoutId id="2147483728" r:id="rId5"/>
    <p:sldLayoutId id="2147483729" r:id="rId6"/>
    <p:sldLayoutId id="2147483730" r:id="rId7"/>
    <p:sldLayoutId id="2147483731" r:id="rId8"/>
    <p:sldLayoutId id="2147483732" r:id="rId9"/>
    <p:sldLayoutId id="2147483733" r:id="rId10"/>
    <p:sldLayoutId id="2147483734" r:id="rId11"/>
  </p:sldLayoutIdLst>
  <p:timing>
    <p:tnLst>
      <p:par>
        <p:cTn id="1" dur="indefinite" restart="never" nodeType="tmRoot"/>
      </p:par>
    </p:tnLst>
  </p:timing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ＭＳ Ｐゴシック" pitchFamily="-107" charset="-128"/>
          <a:cs typeface="ＭＳ Ｐゴシック" pitchFamily="-107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ＭＳ Ｐゴシック" pitchFamily="-107" charset="-128"/>
          <a:cs typeface="ＭＳ Ｐゴシック" pitchFamily="-107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ＭＳ Ｐゴシック" pitchFamily="-107" charset="-128"/>
          <a:cs typeface="ＭＳ Ｐゴシック" pitchFamily="-107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ＭＳ Ｐゴシック" pitchFamily="-107" charset="-128"/>
          <a:cs typeface="ＭＳ Ｐゴシック" pitchFamily="-107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ＭＳ Ｐゴシック" pitchFamily="-107" charset="-128"/>
          <a:cs typeface="ＭＳ Ｐゴシック" pitchFamily="-107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itchFamily="-84" charset="2"/>
        <a:buChar char="Ø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ＭＳ Ｐゴシック" pitchFamily="-107" charset="-128"/>
          <a:cs typeface="ＭＳ Ｐゴシック" pitchFamily="-107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50000"/>
        <a:buFont typeface="Wingdings" pitchFamily="-84" charset="2"/>
        <a:buChar char="l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ＭＳ Ｐゴシック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•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ＭＳ Ｐゴシック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-84" charset="2"/>
        <a:buChar char="l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ＭＳ Ｐゴシック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ＭＳ Ｐゴシック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ＭＳ Ｐゴシック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ＭＳ Ｐゴシック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ＭＳ Ｐゴシック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Placeholder 1"/>
          <p:cNvSpPr>
            <a:spLocks noGrp="1"/>
          </p:cNvSpPr>
          <p:nvPr>
            <p:ph type="title"/>
          </p:nvPr>
        </p:nvSpPr>
        <p:spPr bwMode="auto">
          <a:xfrm>
            <a:off x="792163" y="39688"/>
            <a:ext cx="7570787" cy="1412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331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92163" y="1762125"/>
            <a:ext cx="7570787" cy="428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51625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 dirty="0">
                <a:solidFill>
                  <a:schemeClr val="tx2">
                    <a:lumMod val="40000"/>
                    <a:lumOff val="60000"/>
                  </a:schemeClr>
                </a:solidFill>
                <a:latin typeface="Arial" pitchFamily="-1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67200" y="6356350"/>
            <a:ext cx="609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smtClean="0">
                <a:solidFill>
                  <a:schemeClr val="tx2">
                    <a:lumMod val="40000"/>
                    <a:lumOff val="60000"/>
                  </a:schemeClr>
                </a:solidFill>
                <a:latin typeface="Arial" pitchFamily="-1" charset="0"/>
              </a:defRPr>
            </a:lvl1pPr>
          </a:lstStyle>
          <a:p>
            <a:pPr>
              <a:defRPr/>
            </a:pPr>
            <a:fld id="{03C9D31D-5C05-E248-A7ED-46FCD7F50A9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71475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 dirty="0">
                <a:solidFill>
                  <a:schemeClr val="tx2">
                    <a:lumMod val="40000"/>
                    <a:lumOff val="60000"/>
                  </a:schemeClr>
                </a:solidFill>
                <a:latin typeface="Arial" pitchFamily="-1" charset="0"/>
              </a:defRPr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 </a:t>
            </a: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  <p:sldLayoutId id="2147483748" r:id="rId13"/>
  </p:sldLayoutIdLst>
  <p:hf sldNum="0" hdr="0" dt="0"/>
  <p:txStyles>
    <p:titleStyle>
      <a:lvl1pPr algn="ctr" rtl="0" fontAlgn="base">
        <a:lnSpc>
          <a:spcPts val="6000"/>
        </a:lnSpc>
        <a:spcBef>
          <a:spcPct val="0"/>
        </a:spcBef>
        <a:spcAft>
          <a:spcPct val="0"/>
        </a:spcAft>
        <a:defRPr sz="5400" kern="1200">
          <a:solidFill>
            <a:schemeClr val="tx2"/>
          </a:solidFill>
          <a:latin typeface="+mn-lt"/>
          <a:ea typeface="ＭＳ Ｐゴシック" pitchFamily="-84" charset="-128"/>
          <a:cs typeface="ＭＳ Ｐゴシック" pitchFamily="-84" charset="-128"/>
        </a:defRPr>
      </a:lvl1pPr>
      <a:lvl2pPr algn="ctr" rtl="0" fontAlgn="base">
        <a:lnSpc>
          <a:spcPts val="60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Candara" pitchFamily="-84" charset="0"/>
          <a:ea typeface="ＭＳ Ｐゴシック" pitchFamily="-84" charset="-128"/>
          <a:cs typeface="ＭＳ Ｐゴシック" pitchFamily="-84" charset="-128"/>
        </a:defRPr>
      </a:lvl2pPr>
      <a:lvl3pPr algn="ctr" rtl="0" fontAlgn="base">
        <a:lnSpc>
          <a:spcPts val="60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Candara" pitchFamily="-84" charset="0"/>
          <a:ea typeface="ＭＳ Ｐゴシック" pitchFamily="-84" charset="-128"/>
          <a:cs typeface="ＭＳ Ｐゴシック" pitchFamily="-84" charset="-128"/>
        </a:defRPr>
      </a:lvl3pPr>
      <a:lvl4pPr algn="ctr" rtl="0" fontAlgn="base">
        <a:lnSpc>
          <a:spcPts val="60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Candara" pitchFamily="-84" charset="0"/>
          <a:ea typeface="ＭＳ Ｐゴシック" pitchFamily="-84" charset="-128"/>
          <a:cs typeface="ＭＳ Ｐゴシック" pitchFamily="-84" charset="-128"/>
        </a:defRPr>
      </a:lvl4pPr>
      <a:lvl5pPr algn="ctr" rtl="0" fontAlgn="base">
        <a:lnSpc>
          <a:spcPts val="60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Candara" pitchFamily="-84" charset="0"/>
          <a:ea typeface="ＭＳ Ｐゴシック" pitchFamily="-84" charset="-128"/>
          <a:cs typeface="ＭＳ Ｐゴシック" pitchFamily="-84" charset="-128"/>
        </a:defRPr>
      </a:lvl5pPr>
      <a:lvl6pPr marL="457200" algn="ctr" rtl="0" fontAlgn="base">
        <a:lnSpc>
          <a:spcPts val="60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Candara" pitchFamily="-84" charset="0"/>
          <a:ea typeface="ＭＳ Ｐゴシック" pitchFamily="-84" charset="-128"/>
          <a:cs typeface="ＭＳ Ｐゴシック" pitchFamily="-84" charset="-128"/>
        </a:defRPr>
      </a:lvl6pPr>
      <a:lvl7pPr marL="914400" algn="ctr" rtl="0" fontAlgn="base">
        <a:lnSpc>
          <a:spcPts val="60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Candara" pitchFamily="-84" charset="0"/>
          <a:ea typeface="ＭＳ Ｐゴシック" pitchFamily="-84" charset="-128"/>
          <a:cs typeface="ＭＳ Ｐゴシック" pitchFamily="-84" charset="-128"/>
        </a:defRPr>
      </a:lvl7pPr>
      <a:lvl8pPr marL="1371600" algn="ctr" rtl="0" fontAlgn="base">
        <a:lnSpc>
          <a:spcPts val="60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Candara" pitchFamily="-84" charset="0"/>
          <a:ea typeface="ＭＳ Ｐゴシック" pitchFamily="-84" charset="-128"/>
          <a:cs typeface="ＭＳ Ｐゴシック" pitchFamily="-84" charset="-128"/>
        </a:defRPr>
      </a:lvl8pPr>
      <a:lvl9pPr marL="1828800" algn="ctr" rtl="0" fontAlgn="base">
        <a:lnSpc>
          <a:spcPts val="60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Candara" pitchFamily="-84" charset="0"/>
          <a:ea typeface="ＭＳ Ｐゴシック" pitchFamily="-84" charset="-128"/>
          <a:cs typeface="ＭＳ Ｐゴシック" pitchFamily="-84" charset="-128"/>
        </a:defRPr>
      </a:lvl9pPr>
    </p:titleStyle>
    <p:bodyStyle>
      <a:lvl1pPr marL="342900" indent="-342900" algn="l" rtl="0" fontAlgn="base">
        <a:spcBef>
          <a:spcPts val="2400"/>
        </a:spcBef>
        <a:spcAft>
          <a:spcPct val="0"/>
        </a:spcAft>
        <a:buClr>
          <a:srgbClr val="BAABE3"/>
        </a:buClr>
        <a:buFont typeface="Candara" pitchFamily="-84" charset="0"/>
        <a:buChar char="•"/>
        <a:defRPr sz="2800" kern="1200">
          <a:solidFill>
            <a:schemeClr val="tx2"/>
          </a:solidFill>
          <a:latin typeface="+mn-lt"/>
          <a:ea typeface="ＭＳ Ｐゴシック" pitchFamily="-84" charset="-128"/>
          <a:cs typeface="ＭＳ Ｐゴシック" pitchFamily="-84" charset="-128"/>
        </a:defRPr>
      </a:lvl1pPr>
      <a:lvl2pPr marL="685800" indent="-336550" algn="l" rtl="0" fontAlgn="base">
        <a:spcBef>
          <a:spcPts val="600"/>
        </a:spcBef>
        <a:spcAft>
          <a:spcPct val="0"/>
        </a:spcAft>
        <a:buClr>
          <a:schemeClr val="tx2"/>
        </a:buClr>
        <a:buFont typeface="Candara" pitchFamily="-84" charset="0"/>
        <a:buChar char="•"/>
        <a:defRPr sz="2600" kern="1200">
          <a:solidFill>
            <a:schemeClr val="tx2"/>
          </a:solidFill>
          <a:latin typeface="+mn-lt"/>
          <a:ea typeface="ＭＳ Ｐゴシック" pitchFamily="-84" charset="-128"/>
          <a:cs typeface="+mn-cs"/>
        </a:defRPr>
      </a:lvl2pPr>
      <a:lvl3pPr marL="1035050" indent="-349250" algn="l" rtl="0" fontAlgn="base">
        <a:spcBef>
          <a:spcPts val="600"/>
        </a:spcBef>
        <a:spcAft>
          <a:spcPct val="0"/>
        </a:spcAft>
        <a:buClr>
          <a:srgbClr val="BAABE3"/>
        </a:buClr>
        <a:buFont typeface="Candara" pitchFamily="-84" charset="0"/>
        <a:buChar char="•"/>
        <a:defRPr sz="2400" kern="1200">
          <a:solidFill>
            <a:schemeClr val="tx2"/>
          </a:solidFill>
          <a:latin typeface="+mn-lt"/>
          <a:ea typeface="ＭＳ Ｐゴシック" pitchFamily="-84" charset="-128"/>
          <a:cs typeface="+mn-cs"/>
        </a:defRPr>
      </a:lvl3pPr>
      <a:lvl4pPr marL="1371600" indent="-336550" algn="l" rtl="0" fontAlgn="base">
        <a:spcBef>
          <a:spcPts val="600"/>
        </a:spcBef>
        <a:spcAft>
          <a:spcPct val="0"/>
        </a:spcAft>
        <a:buClr>
          <a:schemeClr val="tx2"/>
        </a:buClr>
        <a:buFont typeface="Candara" pitchFamily="-84" charset="0"/>
        <a:buChar char="•"/>
        <a:defRPr sz="2200" kern="1200">
          <a:solidFill>
            <a:schemeClr val="tx2"/>
          </a:solidFill>
          <a:latin typeface="+mn-lt"/>
          <a:ea typeface="ＭＳ Ｐゴシック" pitchFamily="-84" charset="-128"/>
          <a:cs typeface="+mn-cs"/>
        </a:defRPr>
      </a:lvl4pPr>
      <a:lvl5pPr marL="1720850" indent="-349250" algn="l" rtl="0" fontAlgn="base">
        <a:spcBef>
          <a:spcPts val="600"/>
        </a:spcBef>
        <a:spcAft>
          <a:spcPct val="0"/>
        </a:spcAft>
        <a:buClr>
          <a:srgbClr val="BAABE3"/>
        </a:buClr>
        <a:buFont typeface="Candara" pitchFamily="-84" charset="0"/>
        <a:buChar char="•"/>
        <a:defRPr sz="2000" kern="1200">
          <a:solidFill>
            <a:schemeClr val="tx2"/>
          </a:solidFill>
          <a:latin typeface="+mn-lt"/>
          <a:ea typeface="ＭＳ Ｐゴシック" pitchFamily="-84" charset="-128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df"/><Relationship Id="rId4" Type="http://schemas.openxmlformats.org/officeDocument/2006/relationships/image" Target="../media/image12.png"/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w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df"/><Relationship Id="rId4" Type="http://schemas.openxmlformats.org/officeDocument/2006/relationships/image" Target="../media/image15.png"/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df"/><Relationship Id="rId4" Type="http://schemas.openxmlformats.org/officeDocument/2006/relationships/image" Target="../media/image17.png"/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2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3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4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5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4" Type="http://schemas.openxmlformats.org/officeDocument/2006/relationships/diagramLayout" Target="../diagrams/layout1.xml"/><Relationship Id="rId5" Type="http://schemas.openxmlformats.org/officeDocument/2006/relationships/diagramQuickStyle" Target="../diagrams/quickStyle1.xml"/><Relationship Id="rId6" Type="http://schemas.openxmlformats.org/officeDocument/2006/relationships/diagramColors" Target="../diagrams/colors1.xml"/><Relationship Id="rId7" Type="http://schemas.microsoft.com/office/2007/relationships/diagramDrawing" Target="../diagrams/drawing1.xml"/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6.w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4" Type="http://schemas.openxmlformats.org/officeDocument/2006/relationships/diagramLayout" Target="../diagrams/layout2.xml"/><Relationship Id="rId5" Type="http://schemas.openxmlformats.org/officeDocument/2006/relationships/diagramQuickStyle" Target="../diagrams/quickStyle2.xml"/><Relationship Id="rId6" Type="http://schemas.openxmlformats.org/officeDocument/2006/relationships/diagramColors" Target="../diagrams/colors2.xml"/><Relationship Id="rId7" Type="http://schemas.microsoft.com/office/2007/relationships/diagramDrawing" Target="../diagrams/drawing2.xml"/><Relationship Id="rId8" Type="http://schemas.openxmlformats.org/officeDocument/2006/relationships/image" Target="../media/image27.wmf"/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0.jpe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854200" y="3694113"/>
            <a:ext cx="5446713" cy="1470025"/>
          </a:xfrm>
        </p:spPr>
        <p:txBody>
          <a:bodyPr rtlCol="0">
            <a:no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>
                <a:ea typeface="+mj-ea"/>
                <a:cs typeface="+mj-cs"/>
              </a:rPr>
              <a:t>Cryptography and Network Security</a:t>
            </a:r>
            <a:endParaRPr lang="en-AU" dirty="0">
              <a:ea typeface="+mj-ea"/>
              <a:cs typeface="+mj-cs"/>
            </a:endParaRP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54200" y="5203825"/>
            <a:ext cx="5446713" cy="852488"/>
          </a:xfrm>
        </p:spPr>
        <p:txBody>
          <a:bodyPr/>
          <a:lstStyle/>
          <a:p>
            <a:pPr>
              <a:buFont typeface="Wingdings" pitchFamily="-84" charset="2"/>
              <a:buNone/>
            </a:pPr>
            <a:r>
              <a:rPr lang="en-US" dirty="0" smtClean="0"/>
              <a:t>Seventh Edition</a:t>
            </a:r>
          </a:p>
          <a:p>
            <a:pPr>
              <a:buFont typeface="Wingdings" pitchFamily="-84" charset="2"/>
              <a:buNone/>
            </a:pPr>
            <a:r>
              <a:rPr lang="en-US" dirty="0" smtClean="0"/>
              <a:t>by William Stallings	</a:t>
            </a:r>
          </a:p>
          <a:p>
            <a:pPr>
              <a:buFont typeface="Wingdings" pitchFamily="-84" charset="2"/>
              <a:buNone/>
            </a:pPr>
            <a:endParaRPr lang="en-US" dirty="0" smtClean="0"/>
          </a:p>
        </p:txBody>
      </p:sp>
      <p:pic>
        <p:nvPicPr>
          <p:cNvPr id="5" name="Picture Placeholder 4" descr="crypto.jpg"/>
          <p:cNvPicPr>
            <a:picLocks noGrp="1" noChangeAspect="1"/>
          </p:cNvPicPr>
          <p:nvPr>
            <p:ph type="pic" sz="quarter" idx="12"/>
          </p:nvPr>
        </p:nvPicPr>
        <p:blipFill>
          <a:blip r:embed="rId3">
            <a:alphaModFix/>
            <a:lum bright="28000"/>
          </a:blip>
          <a:srcRect l="-16674" t="-1111" r="-18211" b="44444"/>
          <a:stretch>
            <a:fillRect/>
          </a:stretch>
        </p:blipFill>
        <p:spPr>
          <a:xfrm>
            <a:off x="3581400" y="1447800"/>
            <a:ext cx="2109547" cy="1209027"/>
          </a:xfrm>
          <a:effectLst>
            <a:innerShdw blurRad="762000">
              <a:schemeClr val="accent1">
                <a:alpha val="80000"/>
              </a:schemeClr>
            </a:innerShdw>
            <a:softEdge rad="76200"/>
          </a:effectLst>
        </p:spPr>
      </p:pic>
      <p:sp>
        <p:nvSpPr>
          <p:cNvPr id="6" name="Footer Placeholder 5"/>
          <p:cNvSpPr>
            <a:spLocks noGrp="1"/>
          </p:cNvSpPr>
          <p:nvPr>
            <p:ph type="ftr" sz="quarter" idx="14"/>
          </p:nvPr>
        </p:nvSpPr>
        <p:spPr>
          <a:xfrm>
            <a:off x="0" y="6492875"/>
            <a:ext cx="4419600" cy="365125"/>
          </a:xfrm>
        </p:spPr>
        <p:txBody>
          <a:bodyPr/>
          <a:lstStyle/>
          <a:p>
            <a:pPr>
              <a:defRPr/>
            </a:pPr>
            <a:r>
              <a:rPr lang="en-US" sz="900" dirty="0" smtClean="0"/>
              <a:t>© 2017 Pearson Education, Inc., Hoboken, NJ. All rights reserved. 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ctrTitle"/>
          </p:nvPr>
        </p:nvSpPr>
        <p:spPr>
          <a:xfrm>
            <a:off x="1854200" y="3694113"/>
            <a:ext cx="5446713" cy="1470025"/>
          </a:xfrm>
        </p:spPr>
        <p:txBody>
          <a:bodyPr rtlCol="0">
            <a:no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>
                <a:ea typeface="+mj-ea"/>
                <a:cs typeface="+mj-cs"/>
              </a:rPr>
              <a:t>Chapter 2</a:t>
            </a:r>
            <a:endParaRPr lang="en-US" dirty="0">
              <a:ea typeface="+mj-ea"/>
              <a:cs typeface="+mj-cs"/>
            </a:endParaRPr>
          </a:p>
        </p:txBody>
      </p:sp>
      <p:sp>
        <p:nvSpPr>
          <p:cNvPr id="31747" name="Subtitle 13"/>
          <p:cNvSpPr>
            <a:spLocks noGrp="1"/>
          </p:cNvSpPr>
          <p:nvPr>
            <p:ph type="subTitle" idx="1"/>
          </p:nvPr>
        </p:nvSpPr>
        <p:spPr>
          <a:xfrm>
            <a:off x="1524000" y="5203825"/>
            <a:ext cx="6096000" cy="852488"/>
          </a:xfrm>
        </p:spPr>
        <p:txBody>
          <a:bodyPr>
            <a:normAutofit fontScale="92500"/>
          </a:bodyPr>
          <a:lstStyle/>
          <a:p>
            <a:r>
              <a:rPr lang="en-US" sz="3600" dirty="0" smtClean="0"/>
              <a:t>Introduction to Number Theory</a:t>
            </a:r>
          </a:p>
        </p:txBody>
      </p:sp>
      <p:pic>
        <p:nvPicPr>
          <p:cNvPr id="4" name="Picture Placeholder 4" descr="crypto.jpg"/>
          <p:cNvPicPr>
            <a:picLocks noChangeAspect="1"/>
          </p:cNvPicPr>
          <p:nvPr/>
        </p:nvPicPr>
        <p:blipFill>
          <a:blip r:embed="rId3">
            <a:alphaModFix/>
            <a:lum bright="28000"/>
          </a:blip>
          <a:srcRect l="-16674" t="-1111" r="-18211" b="44444"/>
          <a:stretch>
            <a:fillRect/>
          </a:stretch>
        </p:blipFill>
        <p:spPr bwMode="auto">
          <a:xfrm>
            <a:off x="3581400" y="1447800"/>
            <a:ext cx="2109547" cy="1209027"/>
          </a:xfrm>
          <a:prstGeom prst="ellipse">
            <a:avLst/>
          </a:prstGeom>
          <a:solidFill>
            <a:schemeClr val="bg1">
              <a:lumMod val="85000"/>
            </a:schemeClr>
          </a:solidFill>
          <a:ln w="101600">
            <a:noFill/>
            <a:miter lim="800000"/>
            <a:headEnd/>
            <a:tailEnd/>
          </a:ln>
          <a:effectLst>
            <a:innerShdw blurRad="762000">
              <a:schemeClr val="accent1">
                <a:alpha val="80000"/>
              </a:schemeClr>
            </a:innerShdw>
            <a:softEdge rad="76200"/>
          </a:effectLst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5029200" cy="365125"/>
          </a:xfrm>
        </p:spPr>
        <p:txBody>
          <a:bodyPr/>
          <a:lstStyle/>
          <a:p>
            <a:pPr>
              <a:defRPr/>
            </a:pPr>
            <a:r>
              <a:rPr lang="en-US" sz="900" dirty="0" smtClean="0"/>
              <a:t>© 2017 Pearson Education, Inc., Hoboken, NJ. All rights reserved</a:t>
            </a:r>
            <a:r>
              <a:rPr lang="en-US" dirty="0" smtClean="0"/>
              <a:t>.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Divisibility</a:t>
            </a:r>
          </a:p>
        </p:txBody>
      </p:sp>
      <p:sp>
        <p:nvSpPr>
          <p:cNvPr id="35843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We say that a nonzero </a:t>
            </a:r>
            <a:r>
              <a:rPr lang="en-US" i="1" smtClean="0"/>
              <a:t>b </a:t>
            </a:r>
            <a:r>
              <a:rPr lang="en-US" b="1" smtClean="0"/>
              <a:t>divides </a:t>
            </a:r>
            <a:r>
              <a:rPr lang="en-US" i="1" smtClean="0"/>
              <a:t>a </a:t>
            </a:r>
            <a:r>
              <a:rPr lang="en-US" smtClean="0"/>
              <a:t>if </a:t>
            </a:r>
            <a:r>
              <a:rPr lang="en-US" i="1" smtClean="0"/>
              <a:t>a = mb </a:t>
            </a:r>
            <a:r>
              <a:rPr lang="en-US" smtClean="0"/>
              <a:t>for some </a:t>
            </a:r>
            <a:r>
              <a:rPr lang="en-US" i="1" smtClean="0"/>
              <a:t>m,</a:t>
            </a:r>
            <a:r>
              <a:rPr lang="en-US" smtClean="0"/>
              <a:t> where </a:t>
            </a:r>
            <a:r>
              <a:rPr lang="en-US" i="1" smtClean="0"/>
              <a:t>a, b, </a:t>
            </a:r>
            <a:r>
              <a:rPr lang="en-US" smtClean="0"/>
              <a:t>and </a:t>
            </a:r>
            <a:r>
              <a:rPr lang="en-US" i="1" smtClean="0"/>
              <a:t>m </a:t>
            </a:r>
            <a:r>
              <a:rPr lang="en-US" smtClean="0"/>
              <a:t>are integers</a:t>
            </a:r>
          </a:p>
          <a:p>
            <a:r>
              <a:rPr lang="en-US" i="1" smtClean="0"/>
              <a:t>b </a:t>
            </a:r>
            <a:r>
              <a:rPr lang="en-US" smtClean="0"/>
              <a:t>divides </a:t>
            </a:r>
            <a:r>
              <a:rPr lang="en-US" i="1" smtClean="0"/>
              <a:t>a </a:t>
            </a:r>
            <a:r>
              <a:rPr lang="en-US" smtClean="0"/>
              <a:t>if there is no remainder on division</a:t>
            </a:r>
          </a:p>
          <a:p>
            <a:r>
              <a:rPr lang="en-US" smtClean="0"/>
              <a:t>The notation </a:t>
            </a:r>
            <a:r>
              <a:rPr lang="en-US" i="1" smtClean="0"/>
              <a:t>b | a </a:t>
            </a:r>
            <a:r>
              <a:rPr lang="en-US" smtClean="0"/>
              <a:t>is commonly used to mean </a:t>
            </a:r>
            <a:r>
              <a:rPr lang="en-US" i="1" smtClean="0"/>
              <a:t>b </a:t>
            </a:r>
            <a:r>
              <a:rPr lang="en-US" smtClean="0"/>
              <a:t>divides </a:t>
            </a:r>
            <a:r>
              <a:rPr lang="en-US" i="1" smtClean="0"/>
              <a:t>a</a:t>
            </a:r>
          </a:p>
          <a:p>
            <a:r>
              <a:rPr lang="en-US" smtClean="0"/>
              <a:t>If </a:t>
            </a:r>
            <a:r>
              <a:rPr lang="en-US" i="1" smtClean="0"/>
              <a:t>b | a </a:t>
            </a:r>
            <a:r>
              <a:rPr lang="en-US" smtClean="0"/>
              <a:t>we say that </a:t>
            </a:r>
            <a:r>
              <a:rPr lang="en-US" i="1" smtClean="0"/>
              <a:t>b </a:t>
            </a:r>
            <a:r>
              <a:rPr lang="en-US" smtClean="0"/>
              <a:t>is a </a:t>
            </a:r>
            <a:r>
              <a:rPr lang="en-US" b="1" smtClean="0"/>
              <a:t>divisor </a:t>
            </a:r>
            <a:r>
              <a:rPr lang="en-US" smtClean="0"/>
              <a:t>of </a:t>
            </a:r>
            <a:r>
              <a:rPr lang="en-US" i="1" smtClean="0"/>
              <a:t>a</a:t>
            </a:r>
            <a:endParaRPr lang="en-US" smtClean="0"/>
          </a:p>
        </p:txBody>
      </p:sp>
      <p:sp>
        <p:nvSpPr>
          <p:cNvPr id="7" name="TextBox 6"/>
          <p:cNvSpPr txBox="1"/>
          <p:nvPr/>
        </p:nvSpPr>
        <p:spPr>
          <a:xfrm>
            <a:off x="1219200" y="5486400"/>
            <a:ext cx="6705600" cy="98425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1750">
            <a:solidFill>
              <a:schemeClr val="accent4">
                <a:lumMod val="75000"/>
              </a:schemeClr>
            </a:solidFill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dirty="0">
                <a:latin typeface="Arial" pitchFamily="-1" charset="0"/>
              </a:rPr>
              <a:t> </a:t>
            </a:r>
            <a:r>
              <a:rPr lang="en-US" sz="2000" dirty="0">
                <a:latin typeface="+mn-lt"/>
              </a:rPr>
              <a:t>The positive divisors of 24 are 1, 2, 3, 4, 6, 8, 12, and 24</a:t>
            </a:r>
          </a:p>
          <a:p>
            <a:pPr algn="ctr">
              <a:defRPr/>
            </a:pPr>
            <a:r>
              <a:rPr lang="en-US" sz="2000" dirty="0">
                <a:latin typeface="+mn-lt"/>
              </a:rPr>
              <a:t>13 | 182; - 5 | 30; 17 | 289; - 3 | 33; 17 | 0</a:t>
            </a:r>
          </a:p>
          <a:p>
            <a:pPr algn="ctr">
              <a:defRPr/>
            </a:pPr>
            <a:endParaRPr lang="en-US" dirty="0">
              <a:latin typeface="Arial" pitchFamily="-1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5876925" cy="365125"/>
          </a:xfrm>
        </p:spPr>
        <p:txBody>
          <a:bodyPr/>
          <a:lstStyle/>
          <a:p>
            <a:pPr>
              <a:defRPr/>
            </a:pPr>
            <a:r>
              <a:rPr lang="en-US" sz="900" dirty="0" smtClean="0"/>
              <a:t>© 2017 Pearson Education, Inc., Hoboken, NJ. All rights reserved. 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Properties of Divisibility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2163" y="1762125"/>
            <a:ext cx="7570787" cy="4562475"/>
          </a:xfrm>
        </p:spPr>
        <p:txBody>
          <a:bodyPr rtlCol="0">
            <a:normAutofit lnSpcReduction="10000"/>
          </a:bodyPr>
          <a:lstStyle/>
          <a:p>
            <a:pPr fontAlgn="auto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  <a:cs typeface="+mn-cs"/>
              </a:rPr>
              <a:t> If </a:t>
            </a:r>
            <a:r>
              <a:rPr lang="en-US" i="1" dirty="0" smtClean="0">
                <a:ea typeface="+mn-ea"/>
                <a:cs typeface="+mn-cs"/>
              </a:rPr>
              <a:t>a </a:t>
            </a:r>
            <a:r>
              <a:rPr lang="en-US" dirty="0" smtClean="0">
                <a:ea typeface="+mn-ea"/>
                <a:cs typeface="+mn-cs"/>
              </a:rPr>
              <a:t>| 1, then </a:t>
            </a:r>
            <a:r>
              <a:rPr lang="en-US" i="1" dirty="0" smtClean="0">
                <a:ea typeface="+mn-ea"/>
                <a:cs typeface="+mn-cs"/>
              </a:rPr>
              <a:t>a</a:t>
            </a:r>
            <a:r>
              <a:rPr lang="en-US" dirty="0" smtClean="0">
                <a:ea typeface="+mn-ea"/>
                <a:cs typeface="+mn-cs"/>
              </a:rPr>
              <a:t> = ±1</a:t>
            </a:r>
          </a:p>
          <a:p>
            <a:pPr fontAlgn="auto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  <a:cs typeface="+mn-cs"/>
              </a:rPr>
              <a:t> If </a:t>
            </a:r>
            <a:r>
              <a:rPr lang="en-US" i="1" dirty="0" smtClean="0">
                <a:ea typeface="+mn-ea"/>
                <a:cs typeface="+mn-cs"/>
              </a:rPr>
              <a:t>a</a:t>
            </a:r>
            <a:r>
              <a:rPr lang="en-US" dirty="0" smtClean="0">
                <a:ea typeface="+mn-ea"/>
                <a:cs typeface="+mn-cs"/>
              </a:rPr>
              <a:t> | </a:t>
            </a:r>
            <a:r>
              <a:rPr lang="en-US" i="1" dirty="0" smtClean="0">
                <a:ea typeface="+mn-ea"/>
                <a:cs typeface="+mn-cs"/>
              </a:rPr>
              <a:t>b</a:t>
            </a:r>
            <a:r>
              <a:rPr lang="en-US" dirty="0" smtClean="0">
                <a:ea typeface="+mn-ea"/>
                <a:cs typeface="+mn-cs"/>
              </a:rPr>
              <a:t> and </a:t>
            </a:r>
            <a:r>
              <a:rPr lang="en-US" i="1" dirty="0" smtClean="0">
                <a:ea typeface="+mn-ea"/>
                <a:cs typeface="+mn-cs"/>
              </a:rPr>
              <a:t>b</a:t>
            </a:r>
            <a:r>
              <a:rPr lang="en-US" dirty="0" smtClean="0">
                <a:ea typeface="+mn-ea"/>
                <a:cs typeface="+mn-cs"/>
              </a:rPr>
              <a:t> | </a:t>
            </a:r>
            <a:r>
              <a:rPr lang="en-US" i="1" dirty="0" smtClean="0">
                <a:ea typeface="+mn-ea"/>
                <a:cs typeface="+mn-cs"/>
              </a:rPr>
              <a:t>a</a:t>
            </a:r>
            <a:r>
              <a:rPr lang="en-US" dirty="0" smtClean="0">
                <a:ea typeface="+mn-ea"/>
                <a:cs typeface="+mn-cs"/>
              </a:rPr>
              <a:t>, then </a:t>
            </a:r>
            <a:r>
              <a:rPr lang="en-US" i="1" dirty="0" smtClean="0">
                <a:ea typeface="+mn-ea"/>
                <a:cs typeface="+mn-cs"/>
              </a:rPr>
              <a:t>a</a:t>
            </a:r>
            <a:r>
              <a:rPr lang="en-US" dirty="0" smtClean="0">
                <a:ea typeface="+mn-ea"/>
                <a:cs typeface="+mn-cs"/>
              </a:rPr>
              <a:t> = ±</a:t>
            </a:r>
            <a:r>
              <a:rPr lang="en-US" i="1" dirty="0" smtClean="0">
                <a:ea typeface="+mn-ea"/>
                <a:cs typeface="+mn-cs"/>
              </a:rPr>
              <a:t>b</a:t>
            </a:r>
            <a:endParaRPr lang="en-US" dirty="0" smtClean="0">
              <a:ea typeface="+mn-ea"/>
              <a:cs typeface="+mn-cs"/>
            </a:endParaRPr>
          </a:p>
          <a:p>
            <a:pPr fontAlgn="auto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  <a:cs typeface="+mn-cs"/>
              </a:rPr>
              <a:t> Any </a:t>
            </a:r>
            <a:r>
              <a:rPr lang="en-US" i="1" dirty="0" smtClean="0">
                <a:ea typeface="+mn-ea"/>
                <a:cs typeface="+mn-cs"/>
              </a:rPr>
              <a:t>b</a:t>
            </a:r>
            <a:r>
              <a:rPr lang="en-US" dirty="0" smtClean="0">
                <a:ea typeface="+mn-ea"/>
                <a:cs typeface="+mn-cs"/>
              </a:rPr>
              <a:t> ≠ 0 divides 0 </a:t>
            </a:r>
          </a:p>
          <a:p>
            <a:pPr fontAlgn="auto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  <a:cs typeface="+mn-cs"/>
              </a:rPr>
              <a:t>If </a:t>
            </a:r>
            <a:r>
              <a:rPr lang="en-US" i="1" dirty="0" smtClean="0">
                <a:ea typeface="+mn-ea"/>
                <a:cs typeface="+mn-cs"/>
              </a:rPr>
              <a:t>a</a:t>
            </a:r>
            <a:r>
              <a:rPr lang="en-US" dirty="0" smtClean="0">
                <a:ea typeface="+mn-ea"/>
                <a:cs typeface="+mn-cs"/>
              </a:rPr>
              <a:t> | </a:t>
            </a:r>
            <a:r>
              <a:rPr lang="en-US" i="1" dirty="0" smtClean="0">
                <a:ea typeface="+mn-ea"/>
                <a:cs typeface="+mn-cs"/>
              </a:rPr>
              <a:t>b</a:t>
            </a:r>
            <a:r>
              <a:rPr lang="en-US" dirty="0" smtClean="0">
                <a:ea typeface="+mn-ea"/>
                <a:cs typeface="+mn-cs"/>
              </a:rPr>
              <a:t> and </a:t>
            </a:r>
            <a:r>
              <a:rPr lang="en-US" i="1" dirty="0" smtClean="0">
                <a:ea typeface="+mn-ea"/>
                <a:cs typeface="+mn-cs"/>
              </a:rPr>
              <a:t>b</a:t>
            </a:r>
            <a:r>
              <a:rPr lang="en-US" dirty="0" smtClean="0">
                <a:ea typeface="+mn-ea"/>
                <a:cs typeface="+mn-cs"/>
              </a:rPr>
              <a:t> | </a:t>
            </a:r>
            <a:r>
              <a:rPr lang="en-US" i="1" dirty="0" smtClean="0">
                <a:ea typeface="+mn-ea"/>
                <a:cs typeface="+mn-cs"/>
              </a:rPr>
              <a:t>c</a:t>
            </a:r>
            <a:r>
              <a:rPr lang="en-US" dirty="0" smtClean="0">
                <a:ea typeface="+mn-ea"/>
                <a:cs typeface="+mn-cs"/>
              </a:rPr>
              <a:t>, then </a:t>
            </a:r>
            <a:r>
              <a:rPr lang="en-US" i="1" dirty="0" smtClean="0">
                <a:ea typeface="+mn-ea"/>
                <a:cs typeface="+mn-cs"/>
              </a:rPr>
              <a:t>a</a:t>
            </a:r>
            <a:r>
              <a:rPr lang="en-US" dirty="0" smtClean="0">
                <a:ea typeface="+mn-ea"/>
                <a:cs typeface="+mn-cs"/>
              </a:rPr>
              <a:t> | </a:t>
            </a:r>
            <a:r>
              <a:rPr lang="en-US" i="1" dirty="0" smtClean="0">
                <a:ea typeface="+mn-ea"/>
                <a:cs typeface="+mn-cs"/>
              </a:rPr>
              <a:t>c</a:t>
            </a:r>
            <a:r>
              <a:rPr lang="en-US" dirty="0" smtClean="0">
                <a:ea typeface="+mn-ea"/>
                <a:cs typeface="+mn-cs"/>
              </a:rPr>
              <a:t> </a:t>
            </a:r>
          </a:p>
          <a:p>
            <a:pPr fontAlgn="auto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None/>
              <a:defRPr/>
            </a:pPr>
            <a:endParaRPr lang="en-US" dirty="0" smtClean="0">
              <a:ea typeface="+mn-ea"/>
              <a:cs typeface="+mn-cs"/>
            </a:endParaRPr>
          </a:p>
          <a:p>
            <a:pPr fontAlgn="auto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  <a:cs typeface="+mn-cs"/>
              </a:rPr>
              <a:t>If </a:t>
            </a:r>
            <a:r>
              <a:rPr lang="en-US" i="1" dirty="0" smtClean="0">
                <a:ea typeface="+mn-ea"/>
                <a:cs typeface="+mn-cs"/>
              </a:rPr>
              <a:t>b </a:t>
            </a:r>
            <a:r>
              <a:rPr lang="en-US" dirty="0" smtClean="0">
                <a:ea typeface="+mn-ea"/>
                <a:cs typeface="+mn-cs"/>
              </a:rPr>
              <a:t>| </a:t>
            </a:r>
            <a:r>
              <a:rPr lang="en-US" i="1" dirty="0" smtClean="0">
                <a:ea typeface="+mn-ea"/>
                <a:cs typeface="+mn-cs"/>
              </a:rPr>
              <a:t>g</a:t>
            </a:r>
            <a:r>
              <a:rPr lang="en-US" dirty="0" smtClean="0">
                <a:ea typeface="+mn-ea"/>
                <a:cs typeface="+mn-cs"/>
              </a:rPr>
              <a:t> and </a:t>
            </a:r>
            <a:r>
              <a:rPr lang="en-US" i="1" dirty="0" smtClean="0">
                <a:ea typeface="+mn-ea"/>
                <a:cs typeface="+mn-cs"/>
              </a:rPr>
              <a:t>b </a:t>
            </a:r>
            <a:r>
              <a:rPr lang="en-US" dirty="0" smtClean="0">
                <a:ea typeface="+mn-ea"/>
                <a:cs typeface="+mn-cs"/>
              </a:rPr>
              <a:t>| </a:t>
            </a:r>
            <a:r>
              <a:rPr lang="en-US" i="1" dirty="0" smtClean="0">
                <a:ea typeface="+mn-ea"/>
                <a:cs typeface="+mn-cs"/>
              </a:rPr>
              <a:t>h</a:t>
            </a:r>
            <a:r>
              <a:rPr lang="en-US" dirty="0" smtClean="0">
                <a:ea typeface="+mn-ea"/>
                <a:cs typeface="+mn-cs"/>
              </a:rPr>
              <a:t>, then </a:t>
            </a:r>
            <a:r>
              <a:rPr lang="en-US" i="1" dirty="0" smtClean="0">
                <a:ea typeface="+mn-ea"/>
                <a:cs typeface="+mn-cs"/>
              </a:rPr>
              <a:t>b </a:t>
            </a:r>
            <a:r>
              <a:rPr lang="en-US" dirty="0" smtClean="0">
                <a:ea typeface="+mn-ea"/>
                <a:cs typeface="+mn-cs"/>
              </a:rPr>
              <a:t>| (</a:t>
            </a:r>
            <a:r>
              <a:rPr lang="en-US" i="1" dirty="0" smtClean="0">
                <a:ea typeface="+mn-ea"/>
                <a:cs typeface="+mn-cs"/>
              </a:rPr>
              <a:t>mg</a:t>
            </a:r>
            <a:r>
              <a:rPr lang="en-US" dirty="0" smtClean="0">
                <a:ea typeface="+mn-ea"/>
                <a:cs typeface="+mn-cs"/>
              </a:rPr>
              <a:t> + </a:t>
            </a:r>
            <a:r>
              <a:rPr lang="en-US" i="1" dirty="0" smtClean="0">
                <a:ea typeface="+mn-ea"/>
                <a:cs typeface="+mn-cs"/>
              </a:rPr>
              <a:t>nh</a:t>
            </a:r>
            <a:r>
              <a:rPr lang="en-US" dirty="0" smtClean="0">
                <a:ea typeface="+mn-ea"/>
                <a:cs typeface="+mn-cs"/>
              </a:rPr>
              <a:t>) for arbitrary integers </a:t>
            </a:r>
            <a:r>
              <a:rPr lang="en-US" i="1" dirty="0" smtClean="0">
                <a:ea typeface="+mn-ea"/>
                <a:cs typeface="+mn-cs"/>
              </a:rPr>
              <a:t>m</a:t>
            </a:r>
            <a:r>
              <a:rPr lang="en-US" dirty="0" smtClean="0">
                <a:ea typeface="+mn-ea"/>
                <a:cs typeface="+mn-cs"/>
              </a:rPr>
              <a:t> and </a:t>
            </a:r>
            <a:r>
              <a:rPr lang="en-US" i="1" dirty="0" smtClean="0">
                <a:ea typeface="+mn-ea"/>
                <a:cs typeface="+mn-cs"/>
              </a:rPr>
              <a:t>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38400" y="4572000"/>
            <a:ext cx="3810000" cy="46196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1750">
            <a:solidFill>
              <a:schemeClr val="accent4">
                <a:lumMod val="75000"/>
              </a:schemeClr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dirty="0">
                <a:latin typeface="Arial" pitchFamily="-1" charset="0"/>
              </a:rPr>
              <a:t> </a:t>
            </a:r>
            <a:r>
              <a:rPr lang="en-US" sz="2400" dirty="0">
                <a:latin typeface="+mn-lt"/>
              </a:rPr>
              <a:t>11 | 66 and 66 | 198 = 11 | 198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5267325" cy="365125"/>
          </a:xfrm>
        </p:spPr>
        <p:txBody>
          <a:bodyPr/>
          <a:lstStyle/>
          <a:p>
            <a:pPr>
              <a:defRPr/>
            </a:pPr>
            <a:r>
              <a:rPr lang="en-US" sz="900" dirty="0" smtClean="0"/>
              <a:t>© 2017 Pearson Education, Inc., Hoboken, NJ. All rights reserved. 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Properties of Divisibility</a:t>
            </a:r>
          </a:p>
        </p:txBody>
      </p:sp>
      <p:sp>
        <p:nvSpPr>
          <p:cNvPr id="39939" name="Content Placeholder 2"/>
          <p:cNvSpPr>
            <a:spLocks noGrp="1"/>
          </p:cNvSpPr>
          <p:nvPr>
            <p:ph idx="1"/>
          </p:nvPr>
        </p:nvSpPr>
        <p:spPr>
          <a:xfrm>
            <a:off x="685800" y="1752600"/>
            <a:ext cx="7924800" cy="4114800"/>
          </a:xfrm>
        </p:spPr>
        <p:txBody>
          <a:bodyPr/>
          <a:lstStyle/>
          <a:p>
            <a:r>
              <a:rPr lang="en-US" sz="2400" dirty="0" smtClean="0"/>
              <a:t> To see this last point, note that:</a:t>
            </a:r>
          </a:p>
          <a:p>
            <a:pPr lvl="1"/>
            <a:r>
              <a:rPr lang="en-US" sz="2200" dirty="0" smtClean="0"/>
              <a:t>If </a:t>
            </a:r>
            <a:r>
              <a:rPr lang="en-US" sz="2200" i="1" dirty="0" smtClean="0"/>
              <a:t>b |</a:t>
            </a:r>
            <a:r>
              <a:rPr lang="en-US" sz="2200" dirty="0" smtClean="0"/>
              <a:t> </a:t>
            </a:r>
            <a:r>
              <a:rPr lang="en-US" sz="2200" i="1" dirty="0" err="1" smtClean="0"/>
              <a:t>g</a:t>
            </a:r>
            <a:r>
              <a:rPr lang="en-US" sz="2200" dirty="0" smtClean="0"/>
              <a:t> , then </a:t>
            </a:r>
            <a:r>
              <a:rPr lang="en-US" sz="2200" i="1" dirty="0" err="1" smtClean="0"/>
              <a:t>g</a:t>
            </a:r>
            <a:r>
              <a:rPr lang="en-US" sz="2200" dirty="0" smtClean="0"/>
              <a:t>  is of the form </a:t>
            </a:r>
            <a:r>
              <a:rPr lang="en-US" sz="2200" i="1" dirty="0" err="1" smtClean="0"/>
              <a:t>g</a:t>
            </a:r>
            <a:r>
              <a:rPr lang="en-US" sz="2200" i="1" dirty="0" smtClean="0"/>
              <a:t> = b * g</a:t>
            </a:r>
            <a:r>
              <a:rPr lang="en-US" sz="2200" i="1" baseline="-25000" dirty="0" smtClean="0"/>
              <a:t>1</a:t>
            </a:r>
            <a:r>
              <a:rPr lang="en-US" sz="2200" i="1" dirty="0" smtClean="0"/>
              <a:t>  </a:t>
            </a:r>
            <a:r>
              <a:rPr lang="en-US" sz="2200" dirty="0" smtClean="0"/>
              <a:t>for some integer g</a:t>
            </a:r>
            <a:r>
              <a:rPr lang="en-US" sz="2200" i="1" baseline="-25000" dirty="0" smtClean="0"/>
              <a:t>1</a:t>
            </a:r>
            <a:r>
              <a:rPr lang="en-US" sz="2200" dirty="0" smtClean="0"/>
              <a:t> </a:t>
            </a:r>
          </a:p>
          <a:p>
            <a:pPr lvl="1"/>
            <a:r>
              <a:rPr lang="en-US" sz="2200" dirty="0" smtClean="0"/>
              <a:t>If </a:t>
            </a:r>
            <a:r>
              <a:rPr lang="en-US" sz="2200" i="1" dirty="0" smtClean="0"/>
              <a:t>b |</a:t>
            </a:r>
            <a:r>
              <a:rPr lang="en-US" sz="2200" dirty="0" smtClean="0"/>
              <a:t> </a:t>
            </a:r>
            <a:r>
              <a:rPr lang="en-US" sz="2200" i="1" dirty="0" err="1" smtClean="0"/>
              <a:t>h</a:t>
            </a:r>
            <a:r>
              <a:rPr lang="en-US" sz="2200" dirty="0" smtClean="0"/>
              <a:t> , then </a:t>
            </a:r>
            <a:r>
              <a:rPr lang="en-US" sz="2200" i="1" dirty="0" err="1" smtClean="0"/>
              <a:t>h</a:t>
            </a:r>
            <a:r>
              <a:rPr lang="en-US" sz="2200" dirty="0" smtClean="0"/>
              <a:t>  is of the form </a:t>
            </a:r>
            <a:r>
              <a:rPr lang="en-US" sz="2200" i="1" dirty="0" err="1" smtClean="0"/>
              <a:t>h</a:t>
            </a:r>
            <a:r>
              <a:rPr lang="en-US" sz="2200" i="1" dirty="0" smtClean="0"/>
              <a:t> = b * h</a:t>
            </a:r>
            <a:r>
              <a:rPr lang="en-US" sz="2200" i="1" baseline="-25000" dirty="0" smtClean="0"/>
              <a:t>1</a:t>
            </a:r>
            <a:r>
              <a:rPr lang="en-US" sz="2200" i="1" dirty="0" smtClean="0"/>
              <a:t>  </a:t>
            </a:r>
            <a:r>
              <a:rPr lang="en-US" sz="2200" dirty="0" smtClean="0"/>
              <a:t>for some integer </a:t>
            </a:r>
            <a:r>
              <a:rPr lang="en-US" sz="2200" i="1" dirty="0" smtClean="0"/>
              <a:t>h</a:t>
            </a:r>
            <a:r>
              <a:rPr lang="en-US" sz="2200" i="1" baseline="-25000" dirty="0" smtClean="0"/>
              <a:t>1</a:t>
            </a:r>
            <a:r>
              <a:rPr lang="en-US" sz="2200" dirty="0" smtClean="0"/>
              <a:t> </a:t>
            </a:r>
          </a:p>
          <a:p>
            <a:pPr>
              <a:spcBef>
                <a:spcPts val="600"/>
              </a:spcBef>
            </a:pPr>
            <a:r>
              <a:rPr lang="en-US" sz="2400" dirty="0" smtClean="0"/>
              <a:t>So:</a:t>
            </a:r>
          </a:p>
          <a:p>
            <a:pPr lvl="1"/>
            <a:r>
              <a:rPr lang="en-US" sz="2200" i="1" dirty="0" smtClean="0"/>
              <a:t>mg + </a:t>
            </a:r>
            <a:r>
              <a:rPr lang="en-US" sz="2200" i="1" dirty="0" err="1" smtClean="0"/>
              <a:t>nh</a:t>
            </a:r>
            <a:r>
              <a:rPr lang="en-US" sz="2200" i="1" dirty="0" smtClean="0"/>
              <a:t> = mbg</a:t>
            </a:r>
            <a:r>
              <a:rPr lang="en-US" sz="2200" i="1" baseline="-25000" dirty="0" smtClean="0"/>
              <a:t>1</a:t>
            </a:r>
            <a:r>
              <a:rPr lang="en-US" sz="2200" i="1" dirty="0" smtClean="0"/>
              <a:t> + nbh</a:t>
            </a:r>
            <a:r>
              <a:rPr lang="en-US" sz="2200" i="1" baseline="-25000" dirty="0" smtClean="0"/>
              <a:t>1</a:t>
            </a:r>
            <a:r>
              <a:rPr lang="en-US" sz="2200" i="1" dirty="0" smtClean="0"/>
              <a:t> = b *  (mg</a:t>
            </a:r>
            <a:r>
              <a:rPr lang="en-US" sz="2200" i="1" baseline="-25000" dirty="0" smtClean="0"/>
              <a:t>1</a:t>
            </a:r>
            <a:r>
              <a:rPr lang="en-US" sz="2200" i="1" dirty="0" smtClean="0"/>
              <a:t> + nh</a:t>
            </a:r>
            <a:r>
              <a:rPr lang="en-US" sz="2200" i="1" baseline="-25000" dirty="0" smtClean="0"/>
              <a:t>1</a:t>
            </a:r>
            <a:r>
              <a:rPr lang="en-US" sz="2200" i="1" dirty="0" smtClean="0"/>
              <a:t> ) </a:t>
            </a:r>
          </a:p>
          <a:p>
            <a:pPr lvl="1">
              <a:buFont typeface="Candara" pitchFamily="-84" charset="0"/>
              <a:buNone/>
            </a:pPr>
            <a:r>
              <a:rPr lang="en-US" sz="2200" i="1" dirty="0" smtClean="0"/>
              <a:t>     </a:t>
            </a:r>
            <a:r>
              <a:rPr lang="en-US" sz="2200" dirty="0" smtClean="0"/>
              <a:t>and therefore </a:t>
            </a:r>
            <a:r>
              <a:rPr lang="en-US" sz="2200" i="1" dirty="0" smtClean="0"/>
              <a:t>b</a:t>
            </a:r>
            <a:r>
              <a:rPr lang="en-US" sz="2200" dirty="0" smtClean="0"/>
              <a:t>  divides </a:t>
            </a:r>
            <a:r>
              <a:rPr lang="en-US" sz="2200" i="1" dirty="0" smtClean="0"/>
              <a:t>mg + </a:t>
            </a:r>
            <a:r>
              <a:rPr lang="en-US" sz="2200" i="1" dirty="0" err="1" smtClean="0"/>
              <a:t>nh</a:t>
            </a:r>
            <a:r>
              <a:rPr lang="en-US" sz="2200" i="1" dirty="0" smtClean="0"/>
              <a:t> </a:t>
            </a:r>
            <a:endParaRPr lang="en-US" sz="2200" dirty="0" smtClean="0"/>
          </a:p>
        </p:txBody>
      </p:sp>
      <p:sp>
        <p:nvSpPr>
          <p:cNvPr id="4" name="TextBox 3"/>
          <p:cNvSpPr txBox="1"/>
          <p:nvPr/>
        </p:nvSpPr>
        <p:spPr>
          <a:xfrm>
            <a:off x="2133600" y="4648200"/>
            <a:ext cx="5029200" cy="163195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1750">
            <a:solidFill>
              <a:schemeClr val="accent4">
                <a:lumMod val="75000"/>
              </a:schemeClr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000" dirty="0">
                <a:latin typeface="+mn-lt"/>
              </a:rPr>
              <a:t>    </a:t>
            </a:r>
            <a:r>
              <a:rPr lang="en-US" sz="2000" i="1" dirty="0">
                <a:latin typeface="+mn-lt"/>
              </a:rPr>
              <a:t>b</a:t>
            </a:r>
            <a:r>
              <a:rPr lang="en-US" sz="2000" dirty="0">
                <a:latin typeface="+mn-lt"/>
              </a:rPr>
              <a:t> = 7; </a:t>
            </a:r>
            <a:r>
              <a:rPr lang="en-US" sz="2000" i="1" dirty="0">
                <a:latin typeface="+mn-lt"/>
              </a:rPr>
              <a:t> g</a:t>
            </a:r>
            <a:r>
              <a:rPr lang="en-US" sz="2000" dirty="0">
                <a:latin typeface="+mn-lt"/>
              </a:rPr>
              <a:t> = 14;  </a:t>
            </a:r>
            <a:r>
              <a:rPr lang="en-US" sz="2000" i="1" dirty="0">
                <a:latin typeface="+mn-lt"/>
              </a:rPr>
              <a:t>h</a:t>
            </a:r>
            <a:r>
              <a:rPr lang="en-US" sz="2000" dirty="0">
                <a:latin typeface="+mn-lt"/>
              </a:rPr>
              <a:t> = 63;  </a:t>
            </a:r>
            <a:r>
              <a:rPr lang="en-US" sz="2000" i="1" dirty="0">
                <a:latin typeface="+mn-lt"/>
              </a:rPr>
              <a:t>m</a:t>
            </a:r>
            <a:r>
              <a:rPr lang="en-US" sz="2000" dirty="0">
                <a:latin typeface="+mn-lt"/>
              </a:rPr>
              <a:t> = 3;  </a:t>
            </a:r>
            <a:r>
              <a:rPr lang="en-US" sz="2000" i="1" dirty="0">
                <a:latin typeface="+mn-lt"/>
              </a:rPr>
              <a:t>n</a:t>
            </a:r>
            <a:r>
              <a:rPr lang="en-US" sz="2000" dirty="0">
                <a:latin typeface="+mn-lt"/>
              </a:rPr>
              <a:t> = 2</a:t>
            </a:r>
          </a:p>
          <a:p>
            <a:pPr>
              <a:defRPr/>
            </a:pPr>
            <a:r>
              <a:rPr lang="en-US" sz="2000" dirty="0">
                <a:latin typeface="+mn-lt"/>
              </a:rPr>
              <a:t>    7 | 14 and 7 | 63.</a:t>
            </a:r>
          </a:p>
          <a:p>
            <a:pPr>
              <a:defRPr/>
            </a:pPr>
            <a:r>
              <a:rPr lang="en-US" sz="2000" dirty="0">
                <a:latin typeface="+mn-lt"/>
              </a:rPr>
              <a:t>    To show 7 (3 * 14 + 2 * 63),</a:t>
            </a:r>
          </a:p>
          <a:p>
            <a:pPr>
              <a:defRPr/>
            </a:pPr>
            <a:r>
              <a:rPr lang="en-US" sz="2000" dirty="0">
                <a:latin typeface="+mn-lt"/>
              </a:rPr>
              <a:t>    we have (3 * 14 + 2 * 63) = 7(3 * 2 + 2 * 9),</a:t>
            </a:r>
          </a:p>
          <a:p>
            <a:pPr>
              <a:defRPr/>
            </a:pPr>
            <a:r>
              <a:rPr lang="en-US" sz="2000" dirty="0">
                <a:latin typeface="+mn-lt"/>
              </a:rPr>
              <a:t>    and it is obvious that 7 | (7(3 * 2 + 2 * 9)).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7019925" cy="365125"/>
          </a:xfrm>
        </p:spPr>
        <p:txBody>
          <a:bodyPr/>
          <a:lstStyle/>
          <a:p>
            <a:pPr>
              <a:defRPr/>
            </a:pPr>
            <a:r>
              <a:rPr lang="en-US" sz="900" dirty="0" smtClean="0"/>
              <a:t>© 2017 Pearson Education, Inc., Hoboken, NJ. All rights reserved. 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Division Algorithm</a:t>
            </a:r>
          </a:p>
        </p:txBody>
      </p:sp>
      <p:sp>
        <p:nvSpPr>
          <p:cNvPr id="41987" name="Content Placeholder 2"/>
          <p:cNvSpPr>
            <a:spLocks noGrp="1"/>
          </p:cNvSpPr>
          <p:nvPr>
            <p:ph idx="1"/>
          </p:nvPr>
        </p:nvSpPr>
        <p:spPr>
          <a:xfrm>
            <a:off x="838200" y="2209800"/>
            <a:ext cx="7570787" cy="4365625"/>
          </a:xfrm>
        </p:spPr>
        <p:txBody>
          <a:bodyPr/>
          <a:lstStyle/>
          <a:p>
            <a:r>
              <a:rPr lang="en-US" dirty="0" smtClean="0"/>
              <a:t>Given any positive integer </a:t>
            </a:r>
            <a:r>
              <a:rPr lang="en-US" i="1" dirty="0" err="1" smtClean="0"/>
              <a:t>n</a:t>
            </a:r>
            <a:r>
              <a:rPr lang="en-US" i="1" dirty="0" smtClean="0"/>
              <a:t> </a:t>
            </a:r>
            <a:r>
              <a:rPr lang="en-US" dirty="0" smtClean="0"/>
              <a:t>and any nonnegative integer </a:t>
            </a:r>
            <a:r>
              <a:rPr lang="en-US" i="1" dirty="0" smtClean="0"/>
              <a:t>a, </a:t>
            </a:r>
            <a:r>
              <a:rPr lang="en-US" dirty="0" smtClean="0"/>
              <a:t>if we divide </a:t>
            </a:r>
            <a:r>
              <a:rPr lang="en-US" i="1" dirty="0" smtClean="0"/>
              <a:t>a</a:t>
            </a:r>
            <a:r>
              <a:rPr lang="en-US" dirty="0" smtClean="0"/>
              <a:t> by </a:t>
            </a:r>
            <a:r>
              <a:rPr lang="en-US" i="1" dirty="0" err="1" smtClean="0"/>
              <a:t>n</a:t>
            </a:r>
            <a:r>
              <a:rPr lang="en-US" dirty="0" smtClean="0"/>
              <a:t> we get an integer quotient </a:t>
            </a:r>
            <a:r>
              <a:rPr lang="en-US" i="1" dirty="0" err="1" smtClean="0"/>
              <a:t>q</a:t>
            </a:r>
            <a:r>
              <a:rPr lang="en-US" dirty="0" smtClean="0"/>
              <a:t> and an integer remainder </a:t>
            </a:r>
            <a:r>
              <a:rPr lang="en-US" i="1" dirty="0" err="1" smtClean="0"/>
              <a:t>r</a:t>
            </a:r>
            <a:r>
              <a:rPr lang="en-US" dirty="0" smtClean="0"/>
              <a:t> that obey the following relationship:</a:t>
            </a:r>
          </a:p>
          <a:p>
            <a:pPr lvl="1">
              <a:buFont typeface="Candara" pitchFamily="-84" charset="0"/>
              <a:buNone/>
            </a:pPr>
            <a:endParaRPr lang="en-US" dirty="0" smtClean="0"/>
          </a:p>
          <a:p>
            <a:pPr lvl="1" algn="ctr">
              <a:buFont typeface="Candara" pitchFamily="-84" charset="0"/>
              <a:buNone/>
            </a:pPr>
            <a:r>
              <a:rPr lang="en-US" sz="2800" i="1" dirty="0" smtClean="0"/>
              <a:t>	a = </a:t>
            </a:r>
            <a:r>
              <a:rPr lang="en-US" sz="2800" i="1" dirty="0" err="1" smtClean="0"/>
              <a:t>qn</a:t>
            </a:r>
            <a:r>
              <a:rPr lang="en-US" sz="2800" i="1" dirty="0" smtClean="0"/>
              <a:t> + </a:t>
            </a:r>
            <a:r>
              <a:rPr lang="en-US" sz="2800" i="1" dirty="0" err="1" smtClean="0"/>
              <a:t>r</a:t>
            </a:r>
            <a:r>
              <a:rPr lang="en-US" sz="2800" i="1" dirty="0" smtClean="0"/>
              <a:t>             0 ≤ </a:t>
            </a:r>
            <a:r>
              <a:rPr lang="en-US" sz="2800" i="1" dirty="0" err="1" smtClean="0"/>
              <a:t>r</a:t>
            </a:r>
            <a:r>
              <a:rPr lang="en-US" sz="2800" i="1" dirty="0" smtClean="0"/>
              <a:t> &lt; </a:t>
            </a:r>
            <a:r>
              <a:rPr lang="en-US" sz="2800" i="1" dirty="0" err="1" smtClean="0"/>
              <a:t>n</a:t>
            </a:r>
            <a:r>
              <a:rPr lang="en-US" sz="2800" i="1" dirty="0" smtClean="0"/>
              <a:t>; </a:t>
            </a:r>
            <a:r>
              <a:rPr lang="en-US" sz="2800" i="1" dirty="0" err="1" smtClean="0"/>
              <a:t>q</a:t>
            </a:r>
            <a:r>
              <a:rPr lang="en-US" sz="2800" i="1" dirty="0" smtClean="0"/>
              <a:t> = [a/</a:t>
            </a:r>
            <a:r>
              <a:rPr lang="en-US" sz="2800" i="1" dirty="0" err="1" smtClean="0"/>
              <a:t>n</a:t>
            </a:r>
            <a:r>
              <a:rPr lang="en-US" sz="2800" i="1" dirty="0" smtClean="0"/>
              <a:t>]</a:t>
            </a:r>
          </a:p>
          <a:p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6638925" cy="365125"/>
          </a:xfrm>
        </p:spPr>
        <p:txBody>
          <a:bodyPr/>
          <a:lstStyle/>
          <a:p>
            <a:pPr>
              <a:defRPr/>
            </a:pPr>
            <a:r>
              <a:rPr lang="en-US" sz="900" dirty="0" smtClean="0"/>
              <a:t>© 2017 Pearson Education, Inc., Hoboken, NJ. All rights reserved. 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5562600" cy="365125"/>
          </a:xfrm>
        </p:spPr>
        <p:txBody>
          <a:bodyPr/>
          <a:lstStyle/>
          <a:p>
            <a:pPr>
              <a:defRPr/>
            </a:pPr>
            <a:r>
              <a:rPr lang="en-US" sz="900" dirty="0" smtClean="0"/>
              <a:t>© 2017 Pearson Education, Inc., Hoboken, NJ. All rights reserved. </a:t>
            </a:r>
            <a:endParaRPr lang="en-US" sz="900" dirty="0"/>
          </a:p>
        </p:txBody>
      </p:sp>
      <p:pic>
        <p:nvPicPr>
          <p:cNvPr id="5" name="Picture 4" descr="f01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rcRect t="19091" b="30909"/>
              <a:stretch>
                <a:fillRect/>
              </a:stretch>
            </p:blipFill>
          </mc:Choice>
          <mc:Fallback>
            <p:blipFill>
              <a:blip r:embed="rId4"/>
              <a:srcRect t="19091" b="30909"/>
              <a:stretch>
                <a:fillRect/>
              </a:stretch>
            </p:blipFill>
          </mc:Fallback>
        </mc:AlternateContent>
        <p:spPr>
          <a:xfrm>
            <a:off x="-381000" y="152400"/>
            <a:ext cx="9656439" cy="6248400"/>
          </a:xfrm>
          <a:prstGeom prst="rect">
            <a:avLst/>
          </a:prstGeom>
        </p:spPr>
      </p:pic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609600"/>
            <a:ext cx="3613150" cy="2057400"/>
          </a:xfrm>
        </p:spPr>
        <p:txBody>
          <a:bodyPr/>
          <a:lstStyle/>
          <a:p>
            <a:r>
              <a:rPr lang="en-AU" sz="6000" smtClean="0"/>
              <a:t>Euclidean Algorithm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idx="1"/>
          </p:nvPr>
        </p:nvSpPr>
        <p:spPr>
          <a:xfrm>
            <a:off x="4886325" y="381000"/>
            <a:ext cx="3813175" cy="5697538"/>
          </a:xfrm>
        </p:spPr>
        <p:txBody>
          <a:bodyPr/>
          <a:lstStyle/>
          <a:p>
            <a:r>
              <a:rPr lang="en-AU" smtClean="0"/>
              <a:t>One of the basic techniques of number theory</a:t>
            </a:r>
          </a:p>
          <a:p>
            <a:r>
              <a:rPr lang="en-AU" smtClean="0"/>
              <a:t>Procedure for determining the greatest common divisor of two positive integers</a:t>
            </a:r>
          </a:p>
          <a:p>
            <a:r>
              <a:rPr lang="en-AU" smtClean="0"/>
              <a:t>Two integers are </a:t>
            </a:r>
            <a:r>
              <a:rPr lang="en-AU" b="1" smtClean="0"/>
              <a:t>relatively prime </a:t>
            </a:r>
            <a:r>
              <a:rPr lang="en-AU" smtClean="0"/>
              <a:t>if their only common positive integer factor is 1</a:t>
            </a:r>
          </a:p>
        </p:txBody>
      </p:sp>
      <p:pic>
        <p:nvPicPr>
          <p:cNvPr id="46084" name="Picture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85800" y="3276600"/>
            <a:ext cx="2946400" cy="2668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5267325" cy="365125"/>
          </a:xfrm>
        </p:spPr>
        <p:txBody>
          <a:bodyPr/>
          <a:lstStyle/>
          <a:p>
            <a:pPr>
              <a:defRPr/>
            </a:pPr>
            <a:r>
              <a:rPr lang="en-US" sz="900" dirty="0" smtClean="0"/>
              <a:t>© 2017 Pearson Education, Inc., Hoboken, NJ. All rights reserved. 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le 4"/>
          <p:cNvSpPr>
            <a:spLocks noGrp="1"/>
          </p:cNvSpPr>
          <p:nvPr>
            <p:ph type="title"/>
          </p:nvPr>
        </p:nvSpPr>
        <p:spPr>
          <a:xfrm>
            <a:off x="0" y="39688"/>
            <a:ext cx="9143999" cy="1412875"/>
          </a:xfrm>
        </p:spPr>
        <p:txBody>
          <a:bodyPr/>
          <a:lstStyle/>
          <a:p>
            <a:r>
              <a:rPr lang="en-US" dirty="0" smtClean="0"/>
              <a:t>Greatest Common Divisor (GCD)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838200" y="1752600"/>
            <a:ext cx="7570787" cy="4714875"/>
          </a:xfrm>
        </p:spPr>
        <p:txBody>
          <a:bodyPr rtlCol="0">
            <a:normAutofit fontScale="85000" lnSpcReduction="20000"/>
          </a:bodyPr>
          <a:lstStyle/>
          <a:p>
            <a:pPr fontAlgn="auto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  <a:cs typeface="+mn-cs"/>
              </a:rPr>
              <a:t>The greatest common divisor of </a:t>
            </a:r>
            <a:r>
              <a:rPr lang="en-US" i="1" dirty="0" smtClean="0">
                <a:ea typeface="+mn-ea"/>
                <a:cs typeface="+mn-cs"/>
              </a:rPr>
              <a:t>a </a:t>
            </a:r>
            <a:r>
              <a:rPr lang="en-US" dirty="0" smtClean="0">
                <a:ea typeface="+mn-ea"/>
                <a:cs typeface="+mn-cs"/>
              </a:rPr>
              <a:t>and </a:t>
            </a:r>
            <a:r>
              <a:rPr lang="en-US" i="1" dirty="0" smtClean="0">
                <a:ea typeface="+mn-ea"/>
                <a:cs typeface="+mn-cs"/>
              </a:rPr>
              <a:t>b </a:t>
            </a:r>
            <a:r>
              <a:rPr lang="en-US" dirty="0" smtClean="0">
                <a:ea typeface="+mn-ea"/>
                <a:cs typeface="+mn-cs"/>
              </a:rPr>
              <a:t>is the largest integer that divides both </a:t>
            </a:r>
            <a:r>
              <a:rPr lang="en-US" i="1" dirty="0" smtClean="0">
                <a:ea typeface="+mn-ea"/>
                <a:cs typeface="+mn-cs"/>
              </a:rPr>
              <a:t>a </a:t>
            </a:r>
            <a:r>
              <a:rPr lang="en-US" dirty="0" smtClean="0">
                <a:ea typeface="+mn-ea"/>
                <a:cs typeface="+mn-cs"/>
              </a:rPr>
              <a:t>and </a:t>
            </a:r>
            <a:r>
              <a:rPr lang="en-US" i="1" dirty="0" smtClean="0">
                <a:ea typeface="+mn-ea"/>
                <a:cs typeface="+mn-cs"/>
              </a:rPr>
              <a:t>b</a:t>
            </a:r>
          </a:p>
          <a:p>
            <a:pPr fontAlgn="auto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  <a:cs typeface="+mn-cs"/>
              </a:rPr>
              <a:t>We can use the notation gcd</a:t>
            </a:r>
            <a:r>
              <a:rPr lang="en-US" i="1" dirty="0" smtClean="0">
                <a:ea typeface="+mn-ea"/>
                <a:cs typeface="+mn-cs"/>
              </a:rPr>
              <a:t>(a,b) </a:t>
            </a:r>
            <a:r>
              <a:rPr lang="en-US" dirty="0" smtClean="0">
                <a:ea typeface="+mn-ea"/>
                <a:cs typeface="+mn-cs"/>
              </a:rPr>
              <a:t> to mean the </a:t>
            </a:r>
            <a:r>
              <a:rPr lang="en-US" b="1" dirty="0" smtClean="0">
                <a:ea typeface="+mn-ea"/>
                <a:cs typeface="+mn-cs"/>
              </a:rPr>
              <a:t>greatest common divisor </a:t>
            </a:r>
            <a:r>
              <a:rPr lang="en-US" dirty="0" smtClean="0">
                <a:ea typeface="+mn-ea"/>
                <a:cs typeface="+mn-cs"/>
              </a:rPr>
              <a:t>of </a:t>
            </a:r>
            <a:r>
              <a:rPr lang="en-US" i="1" dirty="0" smtClean="0">
                <a:ea typeface="+mn-ea"/>
                <a:cs typeface="+mn-cs"/>
              </a:rPr>
              <a:t>a </a:t>
            </a:r>
            <a:r>
              <a:rPr lang="en-US" dirty="0" smtClean="0">
                <a:ea typeface="+mn-ea"/>
                <a:cs typeface="+mn-cs"/>
              </a:rPr>
              <a:t>and </a:t>
            </a:r>
            <a:r>
              <a:rPr lang="en-US" i="1" dirty="0" smtClean="0">
                <a:ea typeface="+mn-ea"/>
                <a:cs typeface="+mn-cs"/>
              </a:rPr>
              <a:t>b</a:t>
            </a:r>
          </a:p>
          <a:p>
            <a:pPr fontAlgn="auto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  <a:cs typeface="+mn-cs"/>
              </a:rPr>
              <a:t>We also define gcd(0,0) = 0</a:t>
            </a:r>
          </a:p>
          <a:p>
            <a:pPr fontAlgn="auto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  <a:cs typeface="+mn-cs"/>
              </a:rPr>
              <a:t>Positive integer </a:t>
            </a:r>
            <a:r>
              <a:rPr lang="en-US" i="1" dirty="0" smtClean="0">
                <a:ea typeface="+mn-ea"/>
                <a:cs typeface="+mn-cs"/>
              </a:rPr>
              <a:t>c </a:t>
            </a:r>
            <a:r>
              <a:rPr lang="en-US" dirty="0" smtClean="0">
                <a:ea typeface="+mn-ea"/>
                <a:cs typeface="+mn-cs"/>
              </a:rPr>
              <a:t>is said to be the gcd of </a:t>
            </a:r>
            <a:r>
              <a:rPr lang="en-US" i="1" dirty="0" smtClean="0">
                <a:ea typeface="+mn-ea"/>
                <a:cs typeface="+mn-cs"/>
              </a:rPr>
              <a:t>a </a:t>
            </a:r>
            <a:r>
              <a:rPr lang="en-US" dirty="0" smtClean="0">
                <a:ea typeface="+mn-ea"/>
                <a:cs typeface="+mn-cs"/>
              </a:rPr>
              <a:t>and </a:t>
            </a:r>
            <a:r>
              <a:rPr lang="en-US" i="1" dirty="0" smtClean="0">
                <a:ea typeface="+mn-ea"/>
                <a:cs typeface="+mn-cs"/>
              </a:rPr>
              <a:t>b </a:t>
            </a:r>
            <a:r>
              <a:rPr lang="en-US" dirty="0" smtClean="0">
                <a:ea typeface="+mn-ea"/>
                <a:cs typeface="+mn-cs"/>
              </a:rPr>
              <a:t>if:</a:t>
            </a:r>
          </a:p>
          <a:p>
            <a:pPr lvl="1" fontAlgn="auto">
              <a:spcAft>
                <a:spcPts val="0"/>
              </a:spcAft>
              <a:buFont typeface="Candara" pitchFamily="34" charset="0"/>
              <a:buChar char="•"/>
              <a:defRPr/>
            </a:pPr>
            <a:r>
              <a:rPr lang="en-US" i="1" dirty="0" smtClean="0">
                <a:ea typeface="+mn-ea"/>
              </a:rPr>
              <a:t>c </a:t>
            </a:r>
            <a:r>
              <a:rPr lang="en-US" dirty="0" smtClean="0">
                <a:ea typeface="+mn-ea"/>
              </a:rPr>
              <a:t>is a divisor of </a:t>
            </a:r>
            <a:r>
              <a:rPr lang="en-US" i="1" dirty="0" smtClean="0">
                <a:ea typeface="+mn-ea"/>
              </a:rPr>
              <a:t>a </a:t>
            </a:r>
            <a:r>
              <a:rPr lang="en-US" dirty="0" smtClean="0">
                <a:ea typeface="+mn-ea"/>
              </a:rPr>
              <a:t>and </a:t>
            </a:r>
            <a:r>
              <a:rPr lang="en-US" i="1" dirty="0" smtClean="0">
                <a:ea typeface="+mn-ea"/>
              </a:rPr>
              <a:t>b</a:t>
            </a:r>
          </a:p>
          <a:p>
            <a:pPr lvl="1" fontAlgn="auto">
              <a:spcAft>
                <a:spcPts val="0"/>
              </a:spcAft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</a:rPr>
              <a:t>Any divisor of </a:t>
            </a:r>
            <a:r>
              <a:rPr lang="en-US" i="1" dirty="0" smtClean="0">
                <a:ea typeface="+mn-ea"/>
              </a:rPr>
              <a:t>a </a:t>
            </a:r>
            <a:r>
              <a:rPr lang="en-US" dirty="0" smtClean="0">
                <a:ea typeface="+mn-ea"/>
              </a:rPr>
              <a:t>and </a:t>
            </a:r>
            <a:r>
              <a:rPr lang="en-US" i="1" dirty="0" smtClean="0">
                <a:ea typeface="+mn-ea"/>
              </a:rPr>
              <a:t>b </a:t>
            </a:r>
            <a:r>
              <a:rPr lang="en-US" dirty="0" smtClean="0">
                <a:ea typeface="+mn-ea"/>
              </a:rPr>
              <a:t>is a divisor of </a:t>
            </a:r>
            <a:r>
              <a:rPr lang="en-US" i="1" dirty="0" smtClean="0">
                <a:ea typeface="+mn-ea"/>
              </a:rPr>
              <a:t>c</a:t>
            </a:r>
          </a:p>
          <a:p>
            <a:pPr marL="342900" lvl="1" indent="-342900" fontAlgn="auto">
              <a:spcBef>
                <a:spcPts val="24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sz="2811" dirty="0" smtClean="0">
                <a:ea typeface="+mn-ea"/>
              </a:rPr>
              <a:t>An equivalent definition is:</a:t>
            </a:r>
          </a:p>
          <a:p>
            <a:pPr marL="342900" lvl="1" indent="-342900" algn="ctr" fontAlgn="auto">
              <a:spcBef>
                <a:spcPts val="24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None/>
              <a:defRPr/>
            </a:pPr>
            <a:r>
              <a:rPr lang="en-US" sz="2811" dirty="0" smtClean="0">
                <a:ea typeface="+mn-ea"/>
              </a:rPr>
              <a:t>gcd(</a:t>
            </a:r>
            <a:r>
              <a:rPr lang="en-US" sz="2811" i="1" dirty="0" smtClean="0">
                <a:ea typeface="+mn-ea"/>
              </a:rPr>
              <a:t>a,b) = </a:t>
            </a:r>
            <a:r>
              <a:rPr lang="en-US" sz="2811" dirty="0" smtClean="0">
                <a:ea typeface="+mn-ea"/>
              </a:rPr>
              <a:t>max[</a:t>
            </a:r>
            <a:r>
              <a:rPr lang="en-US" sz="2811" i="1" dirty="0" smtClean="0">
                <a:ea typeface="+mn-ea"/>
              </a:rPr>
              <a:t>k, </a:t>
            </a:r>
            <a:r>
              <a:rPr lang="en-US" sz="2811" dirty="0" smtClean="0">
                <a:ea typeface="+mn-ea"/>
              </a:rPr>
              <a:t>such that </a:t>
            </a:r>
            <a:r>
              <a:rPr lang="en-US" sz="2811" i="1" dirty="0" smtClean="0">
                <a:ea typeface="+mn-ea"/>
              </a:rPr>
              <a:t>k | a </a:t>
            </a:r>
            <a:r>
              <a:rPr lang="en-US" sz="2811" dirty="0" smtClean="0">
                <a:ea typeface="+mn-ea"/>
              </a:rPr>
              <a:t>and </a:t>
            </a:r>
            <a:r>
              <a:rPr lang="en-US" sz="2811" i="1" dirty="0" smtClean="0">
                <a:ea typeface="+mn-ea"/>
              </a:rPr>
              <a:t>k | b]</a:t>
            </a:r>
            <a:endParaRPr lang="en-US" sz="2811" dirty="0" smtClean="0">
              <a:ea typeface="+mn-ea"/>
            </a:endParaRPr>
          </a:p>
          <a:p>
            <a:pPr fontAlgn="auto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endParaRPr lang="en-US" dirty="0"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5953125" cy="365125"/>
          </a:xfrm>
        </p:spPr>
        <p:txBody>
          <a:bodyPr/>
          <a:lstStyle/>
          <a:p>
            <a:pPr>
              <a:defRPr/>
            </a:pPr>
            <a:r>
              <a:rPr lang="en-US" sz="900" dirty="0" smtClean="0"/>
              <a:t>© 2017 Pearson Education, Inc., Hoboken, NJ. All rights reserved. 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GCD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524000"/>
            <a:ext cx="8763000" cy="4289425"/>
          </a:xfrm>
        </p:spPr>
        <p:txBody>
          <a:bodyPr rtlCol="0">
            <a:normAutofit fontScale="85000" lnSpcReduction="10000"/>
          </a:bodyPr>
          <a:lstStyle/>
          <a:p>
            <a:pPr fontAlgn="auto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sz="2706" dirty="0" smtClean="0">
                <a:ea typeface="+mn-ea"/>
                <a:cs typeface="+mn-cs"/>
              </a:rPr>
              <a:t>Because we require that the greatest common divisor be positive, gcd(</a:t>
            </a:r>
            <a:r>
              <a:rPr lang="en-US" sz="2706" i="1" dirty="0" smtClean="0">
                <a:ea typeface="+mn-ea"/>
                <a:cs typeface="+mn-cs"/>
              </a:rPr>
              <a:t>a,b) = </a:t>
            </a:r>
            <a:r>
              <a:rPr lang="en-US" sz="2706" dirty="0" smtClean="0">
                <a:ea typeface="+mn-ea"/>
                <a:cs typeface="+mn-cs"/>
              </a:rPr>
              <a:t>gcd</a:t>
            </a:r>
            <a:r>
              <a:rPr lang="en-US" sz="2706" i="1" dirty="0" smtClean="0">
                <a:ea typeface="+mn-ea"/>
                <a:cs typeface="+mn-cs"/>
              </a:rPr>
              <a:t>(a,-b) = </a:t>
            </a:r>
            <a:r>
              <a:rPr lang="en-US" sz="2706" dirty="0" smtClean="0">
                <a:ea typeface="+mn-ea"/>
                <a:cs typeface="+mn-cs"/>
              </a:rPr>
              <a:t>gcd</a:t>
            </a:r>
            <a:r>
              <a:rPr lang="en-US" sz="2706" i="1" dirty="0" smtClean="0">
                <a:ea typeface="+mn-ea"/>
                <a:cs typeface="+mn-cs"/>
              </a:rPr>
              <a:t>(-a,b) = </a:t>
            </a:r>
            <a:r>
              <a:rPr lang="en-US" sz="2706" dirty="0" smtClean="0">
                <a:ea typeface="+mn-ea"/>
                <a:cs typeface="+mn-cs"/>
              </a:rPr>
              <a:t>gcd</a:t>
            </a:r>
            <a:r>
              <a:rPr lang="en-US" sz="2706" i="1" dirty="0" smtClean="0">
                <a:ea typeface="+mn-ea"/>
                <a:cs typeface="+mn-cs"/>
              </a:rPr>
              <a:t>(-a,-b)</a:t>
            </a:r>
          </a:p>
          <a:p>
            <a:pPr fontAlgn="auto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sz="2706" dirty="0" smtClean="0">
                <a:ea typeface="+mn-ea"/>
                <a:cs typeface="+mn-cs"/>
              </a:rPr>
              <a:t>In general, gcd(</a:t>
            </a:r>
            <a:r>
              <a:rPr lang="en-US" sz="2706" i="1" dirty="0" smtClean="0">
                <a:ea typeface="+mn-ea"/>
                <a:cs typeface="+mn-cs"/>
              </a:rPr>
              <a:t>a,b) = </a:t>
            </a:r>
            <a:r>
              <a:rPr lang="en-US" sz="2706" dirty="0" smtClean="0">
                <a:ea typeface="+mn-ea"/>
                <a:cs typeface="+mn-cs"/>
              </a:rPr>
              <a:t>gcd(| </a:t>
            </a:r>
            <a:r>
              <a:rPr lang="en-US" sz="2706" i="1" dirty="0" smtClean="0">
                <a:ea typeface="+mn-ea"/>
                <a:cs typeface="+mn-cs"/>
              </a:rPr>
              <a:t>a </a:t>
            </a:r>
            <a:r>
              <a:rPr lang="en-US" sz="2706" dirty="0" smtClean="0">
                <a:ea typeface="+mn-ea"/>
                <a:cs typeface="+mn-cs"/>
              </a:rPr>
              <a:t>|, | </a:t>
            </a:r>
            <a:r>
              <a:rPr lang="en-US" sz="2706" i="1" dirty="0" smtClean="0">
                <a:ea typeface="+mn-ea"/>
                <a:cs typeface="+mn-cs"/>
              </a:rPr>
              <a:t>b |)</a:t>
            </a:r>
          </a:p>
          <a:p>
            <a:pPr fontAlgn="auto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None/>
              <a:defRPr/>
            </a:pPr>
            <a:endParaRPr lang="en-US" i="1" dirty="0" smtClean="0">
              <a:ea typeface="+mn-ea"/>
              <a:cs typeface="+mn-cs"/>
            </a:endParaRPr>
          </a:p>
          <a:p>
            <a:pPr fontAlgn="auto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sz="2706" dirty="0" smtClean="0">
                <a:ea typeface="+mn-ea"/>
                <a:cs typeface="+mn-cs"/>
              </a:rPr>
              <a:t>Also, because all nonzero integers divide 0, we have gcd(a,0) = | a |</a:t>
            </a:r>
          </a:p>
          <a:p>
            <a:pPr fontAlgn="auto">
              <a:spcBef>
                <a:spcPts val="18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sz="2706" dirty="0" smtClean="0">
                <a:ea typeface="+mn-ea"/>
                <a:cs typeface="+mn-cs"/>
              </a:rPr>
              <a:t>We stated that two integers </a:t>
            </a:r>
            <a:r>
              <a:rPr lang="en-US" sz="2706" i="1" dirty="0" smtClean="0">
                <a:ea typeface="+mn-ea"/>
                <a:cs typeface="+mn-cs"/>
              </a:rPr>
              <a:t>a </a:t>
            </a:r>
            <a:r>
              <a:rPr lang="en-US" sz="2706" dirty="0" smtClean="0">
                <a:ea typeface="+mn-ea"/>
                <a:cs typeface="+mn-cs"/>
              </a:rPr>
              <a:t>and </a:t>
            </a:r>
            <a:r>
              <a:rPr lang="en-US" sz="2706" i="1" dirty="0" smtClean="0">
                <a:ea typeface="+mn-ea"/>
                <a:cs typeface="+mn-cs"/>
              </a:rPr>
              <a:t>b </a:t>
            </a:r>
            <a:r>
              <a:rPr lang="en-US" sz="2706" dirty="0" smtClean="0">
                <a:ea typeface="+mn-ea"/>
                <a:cs typeface="+mn-cs"/>
              </a:rPr>
              <a:t>are relatively prime if their only common positive integer factor is 1; this is equivalent to saying that </a:t>
            </a:r>
            <a:r>
              <a:rPr lang="en-US" sz="2706" i="1" dirty="0" smtClean="0">
                <a:ea typeface="+mn-ea"/>
                <a:cs typeface="+mn-cs"/>
              </a:rPr>
              <a:t>a </a:t>
            </a:r>
            <a:r>
              <a:rPr lang="en-US" sz="2706" dirty="0" smtClean="0">
                <a:ea typeface="+mn-ea"/>
                <a:cs typeface="+mn-cs"/>
              </a:rPr>
              <a:t>and </a:t>
            </a:r>
            <a:r>
              <a:rPr lang="en-US" sz="2706" i="1" dirty="0" smtClean="0">
                <a:ea typeface="+mn-ea"/>
                <a:cs typeface="+mn-cs"/>
              </a:rPr>
              <a:t>b </a:t>
            </a:r>
            <a:r>
              <a:rPr lang="en-US" sz="2706" dirty="0" smtClean="0">
                <a:ea typeface="+mn-ea"/>
                <a:cs typeface="+mn-cs"/>
              </a:rPr>
              <a:t>are relatively prime if gcd(</a:t>
            </a:r>
            <a:r>
              <a:rPr lang="en-US" sz="2706" i="1" dirty="0" smtClean="0">
                <a:ea typeface="+mn-ea"/>
                <a:cs typeface="+mn-cs"/>
              </a:rPr>
              <a:t>a,b) = 1</a:t>
            </a:r>
            <a:endParaRPr lang="en-US" sz="2706" dirty="0"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286000" y="2971800"/>
            <a:ext cx="4572000" cy="46196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1750">
            <a:solidFill>
              <a:schemeClr val="accent4">
                <a:lumMod val="75000"/>
              </a:schemeClr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latin typeface="Arial" pitchFamily="-1" charset="0"/>
              </a:rPr>
              <a:t>  </a:t>
            </a:r>
            <a:r>
              <a:rPr lang="en-US" sz="2400" dirty="0">
                <a:latin typeface="+mn-lt"/>
              </a:rPr>
              <a:t>gcd(60, 24) =  gcd(60, - 24) =  12 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000" y="5410200"/>
            <a:ext cx="8534400" cy="107791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1750">
            <a:solidFill>
              <a:schemeClr val="accent4">
                <a:lumMod val="75000"/>
              </a:schemeClr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latin typeface="Arial" pitchFamily="-1" charset="0"/>
              </a:rPr>
              <a:t> </a:t>
            </a:r>
            <a:r>
              <a:rPr lang="en-US" sz="2000" dirty="0">
                <a:latin typeface="+mn-lt"/>
              </a:rPr>
              <a:t>8 and 15 are relatively prime because the positive divisors of 8 are 1, 2, 4, and 8, and the positive divisors of 15 are 1, 3, 5, and 15. So 1 is the only integer on both lists.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6477000" cy="365125"/>
          </a:xfrm>
        </p:spPr>
        <p:txBody>
          <a:bodyPr/>
          <a:lstStyle/>
          <a:p>
            <a:pPr>
              <a:defRPr/>
            </a:pPr>
            <a:r>
              <a:rPr lang="en-US" sz="900" dirty="0" smtClean="0"/>
              <a:t>© 2017 Pearson Education, Inc., Hoboken, NJ. All rights reserved. 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8001000" cy="365125"/>
          </a:xfrm>
        </p:spPr>
        <p:txBody>
          <a:bodyPr/>
          <a:lstStyle/>
          <a:p>
            <a:pPr>
              <a:defRPr/>
            </a:pPr>
            <a:r>
              <a:rPr lang="en-US" sz="900" dirty="0" smtClean="0"/>
              <a:t>© 2017 Pearson Education, Inc., Hoboken, NJ. All rights reserved. </a:t>
            </a:r>
            <a:endParaRPr lang="en-US" sz="900" dirty="0"/>
          </a:p>
        </p:txBody>
      </p:sp>
      <p:pic>
        <p:nvPicPr>
          <p:cNvPr id="3" name="Picture 2" descr="f02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rcRect t="20000" b="18182"/>
              <a:stretch>
                <a:fillRect/>
              </a:stretch>
            </p:blipFill>
          </mc:Choice>
          <mc:Fallback>
            <p:blipFill>
              <a:blip r:embed="rId4"/>
              <a:srcRect t="20000" b="18182"/>
              <a:stretch>
                <a:fillRect/>
              </a:stretch>
            </p:blipFill>
          </mc:Fallback>
        </mc:AlternateContent>
        <p:spPr>
          <a:xfrm>
            <a:off x="322150" y="-199505"/>
            <a:ext cx="8631351" cy="69051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6477000" cy="365125"/>
          </a:xfrm>
        </p:spPr>
        <p:txBody>
          <a:bodyPr/>
          <a:lstStyle/>
          <a:p>
            <a:pPr>
              <a:defRPr/>
            </a:pPr>
            <a:r>
              <a:rPr lang="en-US" sz="900" dirty="0" smtClean="0"/>
              <a:t>© 2017 Pearson Education, Inc., Hoboken, NJ. All rights reserved. </a:t>
            </a:r>
            <a:endParaRPr lang="en-US" sz="900" dirty="0"/>
          </a:p>
        </p:txBody>
      </p:sp>
      <p:pic>
        <p:nvPicPr>
          <p:cNvPr id="3" name="Picture 2" descr="f03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rcRect t="14545" b="31818"/>
              <a:stretch>
                <a:fillRect/>
              </a:stretch>
            </p:blipFill>
          </mc:Choice>
          <mc:Fallback>
            <p:blipFill>
              <a:blip r:embed="rId4"/>
              <a:srcRect t="14545" b="31818"/>
              <a:stretch>
                <a:fillRect/>
              </a:stretch>
            </p:blipFill>
          </mc:Fallback>
        </mc:AlternateContent>
        <p:spPr>
          <a:xfrm>
            <a:off x="-609600" y="-228600"/>
            <a:ext cx="10538831" cy="7315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/>
          <p:cNvSpPr>
            <a:spLocks noGrp="1"/>
          </p:cNvSpPr>
          <p:nvPr>
            <p:ph type="title" idx="4294967295"/>
          </p:nvPr>
        </p:nvSpPr>
        <p:spPr>
          <a:xfrm>
            <a:off x="0" y="39688"/>
            <a:ext cx="9144000" cy="1412875"/>
          </a:xfrm>
        </p:spPr>
        <p:txBody>
          <a:bodyPr/>
          <a:lstStyle/>
          <a:p>
            <a:r>
              <a:rPr lang="en-US" sz="4800" dirty="0" smtClean="0"/>
              <a:t>Table 2.1</a:t>
            </a:r>
            <a:br>
              <a:rPr lang="en-US" sz="4800" dirty="0" smtClean="0"/>
            </a:br>
            <a:r>
              <a:rPr lang="en-US" sz="4800" dirty="0" smtClean="0"/>
              <a:t>Euclidean Algorithm Example</a:t>
            </a:r>
          </a:p>
        </p:txBody>
      </p:sp>
      <p:sp>
        <p:nvSpPr>
          <p:cNvPr id="52227" name="TextBox 5"/>
          <p:cNvSpPr txBox="1">
            <a:spLocks noChangeArrowheads="1"/>
          </p:cNvSpPr>
          <p:nvPr/>
        </p:nvSpPr>
        <p:spPr bwMode="auto">
          <a:xfrm>
            <a:off x="4572000" y="6248400"/>
            <a:ext cx="4336794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400" dirty="0"/>
              <a:t>(This table can be found on page</a:t>
            </a:r>
            <a:r>
              <a:rPr lang="en-US" sz="1400" dirty="0" smtClean="0"/>
              <a:t> 34 </a:t>
            </a:r>
            <a:r>
              <a:rPr lang="en-US" sz="1400" dirty="0"/>
              <a:t>in the textbook)</a:t>
            </a:r>
          </a:p>
        </p:txBody>
      </p:sp>
      <p:pic>
        <p:nvPicPr>
          <p:cNvPr id="52228" name="Picture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2400" y="1524000"/>
            <a:ext cx="8818563" cy="4805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7019925" cy="365125"/>
          </a:xfrm>
        </p:spPr>
        <p:txBody>
          <a:bodyPr/>
          <a:lstStyle/>
          <a:p>
            <a:pPr>
              <a:defRPr/>
            </a:pPr>
            <a:r>
              <a:rPr lang="en-US" sz="900" dirty="0" smtClean="0"/>
              <a:t>© 2017 Pearson Education, Inc., Hoboken, NJ. All rights reserved. </a:t>
            </a:r>
            <a:endParaRPr lang="en-US" sz="900" dirty="0"/>
          </a:p>
        </p:txBody>
      </p:sp>
    </p:spTree>
  </p:cSld>
  <p:clrMapOvr>
    <a:masterClrMapping/>
  </p:clrMapOvr>
  <p:transition spd="med">
    <p:wip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Modular Arithmetic</a:t>
            </a:r>
          </a:p>
        </p:txBody>
      </p:sp>
      <p:sp>
        <p:nvSpPr>
          <p:cNvPr id="5427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modulus</a:t>
            </a:r>
          </a:p>
          <a:p>
            <a:pPr lvl="1"/>
            <a:r>
              <a:rPr lang="en-US" dirty="0" smtClean="0"/>
              <a:t>If </a:t>
            </a:r>
            <a:r>
              <a:rPr lang="en-US" i="1" dirty="0" smtClean="0"/>
              <a:t>a </a:t>
            </a:r>
            <a:r>
              <a:rPr lang="en-US" dirty="0" smtClean="0"/>
              <a:t>is an integer and </a:t>
            </a:r>
            <a:r>
              <a:rPr lang="en-US" i="1" dirty="0" err="1" smtClean="0"/>
              <a:t>n</a:t>
            </a:r>
            <a:r>
              <a:rPr lang="en-US" i="1" dirty="0" smtClean="0"/>
              <a:t> </a:t>
            </a:r>
            <a:r>
              <a:rPr lang="en-US" dirty="0" smtClean="0"/>
              <a:t>is a positive integer, we define </a:t>
            </a:r>
            <a:r>
              <a:rPr lang="en-US" i="1" dirty="0" smtClean="0"/>
              <a:t>a </a:t>
            </a:r>
            <a:r>
              <a:rPr lang="en-US" dirty="0" smtClean="0"/>
              <a:t>mod </a:t>
            </a:r>
            <a:r>
              <a:rPr lang="en-US" i="1" dirty="0" err="1" smtClean="0"/>
              <a:t>n</a:t>
            </a:r>
            <a:r>
              <a:rPr lang="en-US" i="1" dirty="0" smtClean="0"/>
              <a:t> </a:t>
            </a:r>
            <a:r>
              <a:rPr lang="en-US" dirty="0" smtClean="0"/>
              <a:t>to be the remainder when </a:t>
            </a:r>
            <a:r>
              <a:rPr lang="en-US" i="1" dirty="0" smtClean="0"/>
              <a:t>a </a:t>
            </a:r>
            <a:r>
              <a:rPr lang="en-US" dirty="0" smtClean="0"/>
              <a:t>is divided by </a:t>
            </a:r>
            <a:r>
              <a:rPr lang="en-US" i="1" dirty="0" err="1" smtClean="0"/>
              <a:t>n</a:t>
            </a:r>
            <a:r>
              <a:rPr lang="en-US" i="1" dirty="0" smtClean="0"/>
              <a:t>; </a:t>
            </a:r>
            <a:r>
              <a:rPr lang="en-US" dirty="0" smtClean="0"/>
              <a:t>the integer </a:t>
            </a:r>
            <a:r>
              <a:rPr lang="en-US" i="1" dirty="0" err="1" smtClean="0"/>
              <a:t>n</a:t>
            </a:r>
            <a:r>
              <a:rPr lang="en-US" i="1" dirty="0" smtClean="0"/>
              <a:t> </a:t>
            </a:r>
            <a:r>
              <a:rPr lang="en-US" dirty="0" smtClean="0"/>
              <a:t>is called the </a:t>
            </a:r>
            <a:r>
              <a:rPr lang="en-US" b="1" dirty="0" smtClean="0"/>
              <a:t>modulus</a:t>
            </a:r>
          </a:p>
          <a:p>
            <a:pPr lvl="1"/>
            <a:r>
              <a:rPr lang="en-US" dirty="0" smtClean="0"/>
              <a:t>Thus, for any integer </a:t>
            </a:r>
            <a:r>
              <a:rPr lang="en-US" i="1" dirty="0" smtClean="0"/>
              <a:t>a:</a:t>
            </a:r>
          </a:p>
          <a:p>
            <a:pPr lvl="1">
              <a:buFont typeface="Candara" pitchFamily="-84" charset="0"/>
              <a:buNone/>
            </a:pPr>
            <a:r>
              <a:rPr lang="en-US" i="1" dirty="0" smtClean="0"/>
              <a:t>		</a:t>
            </a:r>
            <a:r>
              <a:rPr lang="en-US" dirty="0" smtClean="0"/>
              <a:t> </a:t>
            </a:r>
            <a:r>
              <a:rPr lang="en-US" i="1" dirty="0" smtClean="0"/>
              <a:t>a =  </a:t>
            </a:r>
            <a:r>
              <a:rPr lang="en-US" i="1" dirty="0" err="1" smtClean="0"/>
              <a:t>qn</a:t>
            </a:r>
            <a:r>
              <a:rPr lang="en-US" i="1" dirty="0" smtClean="0"/>
              <a:t> +  </a:t>
            </a:r>
            <a:r>
              <a:rPr lang="en-US" i="1" dirty="0" err="1" smtClean="0"/>
              <a:t>r</a:t>
            </a:r>
            <a:r>
              <a:rPr lang="en-US" i="1" dirty="0" smtClean="0"/>
              <a:t> </a:t>
            </a:r>
            <a:r>
              <a:rPr lang="en-US" dirty="0" smtClean="0"/>
              <a:t>	0 </a:t>
            </a:r>
            <a:r>
              <a:rPr lang="en-US" i="1" dirty="0" smtClean="0"/>
              <a:t>≤ </a:t>
            </a:r>
            <a:r>
              <a:rPr lang="en-US" i="1" dirty="0" err="1" smtClean="0"/>
              <a:t>r</a:t>
            </a:r>
            <a:r>
              <a:rPr lang="en-US" i="1" dirty="0" smtClean="0"/>
              <a:t> &lt; </a:t>
            </a:r>
            <a:r>
              <a:rPr lang="en-US" i="1" dirty="0" err="1" smtClean="0"/>
              <a:t>n</a:t>
            </a:r>
            <a:r>
              <a:rPr lang="en-US" i="1" dirty="0" smtClean="0"/>
              <a:t>;  </a:t>
            </a:r>
            <a:r>
              <a:rPr lang="en-US" i="1" dirty="0" err="1" smtClean="0"/>
              <a:t>q</a:t>
            </a:r>
            <a:r>
              <a:rPr lang="en-US" i="1" dirty="0" smtClean="0"/>
              <a:t> = [a/ </a:t>
            </a:r>
            <a:r>
              <a:rPr lang="en-US" i="1" dirty="0" err="1" smtClean="0"/>
              <a:t>n</a:t>
            </a:r>
            <a:r>
              <a:rPr lang="en-US" i="1" dirty="0" smtClean="0"/>
              <a:t>]</a:t>
            </a:r>
          </a:p>
          <a:p>
            <a:pPr lvl="1">
              <a:buFont typeface="Candara" pitchFamily="-84" charset="0"/>
              <a:buNone/>
            </a:pPr>
            <a:r>
              <a:rPr lang="en-US" dirty="0" smtClean="0"/>
              <a:t>	</a:t>
            </a:r>
            <a:r>
              <a:rPr lang="en-US" i="1" dirty="0" smtClean="0"/>
              <a:t>    a = [a/ </a:t>
            </a:r>
            <a:r>
              <a:rPr lang="en-US" i="1" dirty="0" err="1" smtClean="0"/>
              <a:t>n</a:t>
            </a:r>
            <a:r>
              <a:rPr lang="en-US" i="1" dirty="0" smtClean="0"/>
              <a:t>] *  </a:t>
            </a:r>
            <a:r>
              <a:rPr lang="en-US" i="1" dirty="0" err="1" smtClean="0"/>
              <a:t>n</a:t>
            </a:r>
            <a:r>
              <a:rPr lang="en-US" i="1" dirty="0" smtClean="0"/>
              <a:t> + ( a </a:t>
            </a:r>
            <a:r>
              <a:rPr lang="en-US" dirty="0" smtClean="0"/>
              <a:t>mod </a:t>
            </a:r>
            <a:r>
              <a:rPr lang="en-US" i="1" dirty="0" err="1" smtClean="0"/>
              <a:t>n</a:t>
            </a:r>
            <a:r>
              <a:rPr lang="en-US" dirty="0" smtClean="0"/>
              <a:t>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19400" y="5334000"/>
            <a:ext cx="4114800" cy="92392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31750">
            <a:solidFill>
              <a:schemeClr val="accent4">
                <a:lumMod val="75000"/>
              </a:schemeClr>
            </a:solidFill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dirty="0">
                <a:latin typeface="Arial" pitchFamily="-1" charset="0"/>
              </a:rPr>
              <a:t> </a:t>
            </a:r>
          </a:p>
          <a:p>
            <a:pPr algn="ctr">
              <a:defRPr/>
            </a:pPr>
            <a:r>
              <a:rPr lang="en-US" dirty="0">
                <a:latin typeface="Arial" pitchFamily="-1" charset="0"/>
              </a:rPr>
              <a:t>11 mod 7 =  4; -</a:t>
            </a:r>
            <a:r>
              <a:rPr lang="en-US" dirty="0" smtClean="0">
                <a:latin typeface="Arial" pitchFamily="-1" charset="0"/>
              </a:rPr>
              <a:t> 11 </a:t>
            </a:r>
            <a:r>
              <a:rPr lang="en-US" dirty="0">
                <a:latin typeface="Arial" pitchFamily="-1" charset="0"/>
              </a:rPr>
              <a:t>mod 7 =  3</a:t>
            </a:r>
          </a:p>
          <a:p>
            <a:pPr algn="ctr">
              <a:defRPr/>
            </a:pPr>
            <a:endParaRPr lang="en-US" dirty="0">
              <a:latin typeface="Arial" pitchFamily="-1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7162800" cy="365125"/>
          </a:xfrm>
        </p:spPr>
        <p:txBody>
          <a:bodyPr/>
          <a:lstStyle/>
          <a:p>
            <a:pPr>
              <a:defRPr/>
            </a:pPr>
            <a:r>
              <a:rPr lang="en-US" sz="900" dirty="0" smtClean="0"/>
              <a:t>© 2017 Pearson Education, Inc., Hoboken, NJ. All rights reserved. 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Modular Arithmetic</a:t>
            </a:r>
          </a:p>
        </p:txBody>
      </p:sp>
      <p:sp>
        <p:nvSpPr>
          <p:cNvPr id="56323" name="Content Placeholder 4"/>
          <p:cNvSpPr>
            <a:spLocks noGrp="1"/>
          </p:cNvSpPr>
          <p:nvPr>
            <p:ph idx="1"/>
          </p:nvPr>
        </p:nvSpPr>
        <p:spPr>
          <a:xfrm>
            <a:off x="914400" y="2057400"/>
            <a:ext cx="7570788" cy="2962275"/>
          </a:xfrm>
        </p:spPr>
        <p:txBody>
          <a:bodyPr/>
          <a:lstStyle/>
          <a:p>
            <a:r>
              <a:rPr lang="en-US" smtClean="0"/>
              <a:t>Congruent modulo </a:t>
            </a:r>
            <a:r>
              <a:rPr lang="en-US" i="1" smtClean="0"/>
              <a:t>n</a:t>
            </a:r>
            <a:endParaRPr lang="en-US" smtClean="0"/>
          </a:p>
          <a:p>
            <a:pPr lvl="1"/>
            <a:r>
              <a:rPr lang="en-US" smtClean="0"/>
              <a:t>Two integers </a:t>
            </a:r>
            <a:r>
              <a:rPr lang="en-US" i="1" smtClean="0"/>
              <a:t>a </a:t>
            </a:r>
            <a:r>
              <a:rPr lang="en-US" smtClean="0"/>
              <a:t>and </a:t>
            </a:r>
            <a:r>
              <a:rPr lang="en-US" i="1" smtClean="0"/>
              <a:t>b </a:t>
            </a:r>
            <a:r>
              <a:rPr lang="en-US" smtClean="0"/>
              <a:t>are said to be </a:t>
            </a:r>
            <a:r>
              <a:rPr lang="en-US" b="1" smtClean="0"/>
              <a:t>congruent modulo </a:t>
            </a:r>
            <a:r>
              <a:rPr lang="en-US" b="1" i="1" smtClean="0"/>
              <a:t>n </a:t>
            </a:r>
            <a:r>
              <a:rPr lang="en-US" smtClean="0"/>
              <a:t>if (</a:t>
            </a:r>
            <a:r>
              <a:rPr lang="en-US" i="1" smtClean="0"/>
              <a:t>a </a:t>
            </a:r>
            <a:r>
              <a:rPr lang="en-US" smtClean="0"/>
              <a:t>mod </a:t>
            </a:r>
            <a:r>
              <a:rPr lang="en-US" i="1" smtClean="0"/>
              <a:t>n</a:t>
            </a:r>
            <a:r>
              <a:rPr lang="en-US" smtClean="0"/>
              <a:t>) = (</a:t>
            </a:r>
            <a:r>
              <a:rPr lang="en-US" i="1" smtClean="0"/>
              <a:t>b </a:t>
            </a:r>
            <a:r>
              <a:rPr lang="en-US" smtClean="0"/>
              <a:t>mod </a:t>
            </a:r>
            <a:r>
              <a:rPr lang="en-US" i="1" smtClean="0"/>
              <a:t>n</a:t>
            </a:r>
            <a:r>
              <a:rPr lang="en-US" smtClean="0"/>
              <a:t>)</a:t>
            </a:r>
          </a:p>
          <a:p>
            <a:pPr lvl="1"/>
            <a:r>
              <a:rPr lang="en-US" smtClean="0"/>
              <a:t>This is written as </a:t>
            </a:r>
            <a:r>
              <a:rPr lang="en-US" i="1" smtClean="0"/>
              <a:t>a = b(</a:t>
            </a:r>
            <a:r>
              <a:rPr lang="en-US" smtClean="0"/>
              <a:t>mod </a:t>
            </a:r>
            <a:r>
              <a:rPr lang="en-US" i="1" smtClean="0"/>
              <a:t>n)</a:t>
            </a:r>
            <a:r>
              <a:rPr lang="en-US" i="1" baseline="30000" smtClean="0"/>
              <a:t>2</a:t>
            </a:r>
          </a:p>
          <a:p>
            <a:pPr lvl="1"/>
            <a:r>
              <a:rPr lang="en-US" smtClean="0"/>
              <a:t>Note that if </a:t>
            </a:r>
            <a:r>
              <a:rPr lang="en-US" i="1" smtClean="0"/>
              <a:t>a = 0</a:t>
            </a:r>
            <a:r>
              <a:rPr lang="en-US" smtClean="0"/>
              <a:t>(mod </a:t>
            </a:r>
            <a:r>
              <a:rPr lang="en-US" i="1" smtClean="0"/>
              <a:t>n</a:t>
            </a:r>
            <a:r>
              <a:rPr lang="en-US" smtClean="0"/>
              <a:t>), then </a:t>
            </a:r>
            <a:r>
              <a:rPr lang="en-US" i="1" smtClean="0"/>
              <a:t>n | a</a:t>
            </a:r>
            <a:endParaRPr lang="en-US" smtClean="0"/>
          </a:p>
        </p:txBody>
      </p:sp>
      <p:sp>
        <p:nvSpPr>
          <p:cNvPr id="6" name="TextBox 5"/>
          <p:cNvSpPr txBox="1"/>
          <p:nvPr/>
        </p:nvSpPr>
        <p:spPr>
          <a:xfrm>
            <a:off x="2590800" y="4800600"/>
            <a:ext cx="3981450" cy="92392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31750">
            <a:solidFill>
              <a:schemeClr val="accent4">
                <a:lumMod val="75000"/>
              </a:schemeClr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dirty="0">
                <a:latin typeface="Arial" pitchFamily="-1" charset="0"/>
              </a:rPr>
              <a:t> </a:t>
            </a:r>
          </a:p>
          <a:p>
            <a:pPr algn="ctr">
              <a:defRPr/>
            </a:pPr>
            <a:r>
              <a:rPr lang="en-US" dirty="0">
                <a:latin typeface="Arial" pitchFamily="-1" charset="0"/>
              </a:rPr>
              <a:t>73 = 4 (mod 23);   21 = - 9 (mod 10)</a:t>
            </a:r>
          </a:p>
          <a:p>
            <a:pPr algn="ctr">
              <a:defRPr/>
            </a:pPr>
            <a:endParaRPr lang="en-US" dirty="0">
              <a:latin typeface="Arial" pitchFamily="-1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7162800" cy="365125"/>
          </a:xfrm>
        </p:spPr>
        <p:txBody>
          <a:bodyPr/>
          <a:lstStyle/>
          <a:p>
            <a:pPr>
              <a:defRPr/>
            </a:pPr>
            <a:r>
              <a:rPr lang="en-US" sz="900" dirty="0" smtClean="0"/>
              <a:t>© 2017 Pearson Education, Inc., Hoboken, NJ. All rights reserved. 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itle 4"/>
          <p:cNvSpPr>
            <a:spLocks noGrp="1"/>
          </p:cNvSpPr>
          <p:nvPr>
            <p:ph type="title"/>
          </p:nvPr>
        </p:nvSpPr>
        <p:spPr>
          <a:xfrm>
            <a:off x="0" y="39688"/>
            <a:ext cx="9144000" cy="1412875"/>
          </a:xfrm>
        </p:spPr>
        <p:txBody>
          <a:bodyPr/>
          <a:lstStyle/>
          <a:p>
            <a:r>
              <a:rPr lang="en-US" smtClean="0"/>
              <a:t>Properties of Congruences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762000" y="1524000"/>
            <a:ext cx="7772400" cy="4289425"/>
          </a:xfrm>
        </p:spPr>
        <p:txBody>
          <a:bodyPr rtlCol="0">
            <a:normAutofit fontScale="77500" lnSpcReduction="20000"/>
          </a:bodyPr>
          <a:lstStyle/>
          <a:p>
            <a:pPr fontAlgn="auto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  <a:cs typeface="+mn-cs"/>
              </a:rPr>
              <a:t>Congruences have the following properties:</a:t>
            </a:r>
          </a:p>
          <a:p>
            <a:pPr fontAlgn="auto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None/>
              <a:defRPr/>
            </a:pPr>
            <a:r>
              <a:rPr lang="en-US" dirty="0" smtClean="0">
                <a:ea typeface="+mn-ea"/>
                <a:cs typeface="+mn-cs"/>
              </a:rPr>
              <a:t>		1</a:t>
            </a:r>
            <a:r>
              <a:rPr lang="en-US" i="1" dirty="0" smtClean="0">
                <a:ea typeface="+mn-ea"/>
                <a:cs typeface="+mn-cs"/>
              </a:rPr>
              <a:t>. a = b (</a:t>
            </a:r>
            <a:r>
              <a:rPr lang="en-US" dirty="0" smtClean="0">
                <a:ea typeface="+mn-ea"/>
                <a:cs typeface="+mn-cs"/>
              </a:rPr>
              <a:t>mod</a:t>
            </a:r>
            <a:r>
              <a:rPr lang="en-US" i="1" dirty="0" smtClean="0">
                <a:ea typeface="+mn-ea"/>
                <a:cs typeface="+mn-cs"/>
              </a:rPr>
              <a:t> n)</a:t>
            </a:r>
            <a:r>
              <a:rPr lang="en-US" dirty="0" smtClean="0">
                <a:ea typeface="+mn-ea"/>
                <a:cs typeface="+mn-cs"/>
              </a:rPr>
              <a:t> if </a:t>
            </a:r>
            <a:r>
              <a:rPr lang="en-US" i="1" dirty="0" smtClean="0">
                <a:ea typeface="+mn-ea"/>
                <a:cs typeface="+mn-cs"/>
              </a:rPr>
              <a:t>n (a – b)</a:t>
            </a:r>
          </a:p>
          <a:p>
            <a:pPr fontAlgn="auto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None/>
              <a:defRPr/>
            </a:pPr>
            <a:r>
              <a:rPr lang="en-US" dirty="0" smtClean="0">
                <a:ea typeface="+mn-ea"/>
                <a:cs typeface="+mn-cs"/>
              </a:rPr>
              <a:t>		2. </a:t>
            </a:r>
            <a:r>
              <a:rPr lang="en-US" i="1" dirty="0" smtClean="0">
                <a:ea typeface="+mn-ea"/>
                <a:cs typeface="+mn-cs"/>
              </a:rPr>
              <a:t>a = b </a:t>
            </a:r>
            <a:r>
              <a:rPr lang="en-US" dirty="0" smtClean="0">
                <a:ea typeface="+mn-ea"/>
                <a:cs typeface="+mn-cs"/>
              </a:rPr>
              <a:t>(mod </a:t>
            </a:r>
            <a:r>
              <a:rPr lang="en-US" i="1" dirty="0" smtClean="0">
                <a:ea typeface="+mn-ea"/>
                <a:cs typeface="+mn-cs"/>
              </a:rPr>
              <a:t>n</a:t>
            </a:r>
            <a:r>
              <a:rPr lang="en-US" dirty="0" smtClean="0">
                <a:ea typeface="+mn-ea"/>
                <a:cs typeface="+mn-cs"/>
              </a:rPr>
              <a:t>) implies </a:t>
            </a:r>
            <a:r>
              <a:rPr lang="en-US" i="1" dirty="0" smtClean="0">
                <a:ea typeface="+mn-ea"/>
                <a:cs typeface="+mn-cs"/>
              </a:rPr>
              <a:t>b = a </a:t>
            </a:r>
            <a:r>
              <a:rPr lang="en-US" dirty="0" smtClean="0">
                <a:ea typeface="+mn-ea"/>
                <a:cs typeface="+mn-cs"/>
              </a:rPr>
              <a:t>(mod </a:t>
            </a:r>
            <a:r>
              <a:rPr lang="en-US" i="1" dirty="0" smtClean="0">
                <a:ea typeface="+mn-ea"/>
                <a:cs typeface="+mn-cs"/>
              </a:rPr>
              <a:t>n</a:t>
            </a:r>
            <a:r>
              <a:rPr lang="en-US" dirty="0" smtClean="0">
                <a:ea typeface="+mn-ea"/>
                <a:cs typeface="+mn-cs"/>
              </a:rPr>
              <a:t>)</a:t>
            </a:r>
          </a:p>
          <a:p>
            <a:pPr fontAlgn="auto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None/>
              <a:defRPr/>
            </a:pPr>
            <a:r>
              <a:rPr lang="en-US" dirty="0" smtClean="0">
                <a:ea typeface="+mn-ea"/>
                <a:cs typeface="+mn-cs"/>
              </a:rPr>
              <a:t>		3</a:t>
            </a:r>
            <a:r>
              <a:rPr lang="en-US" i="1" dirty="0" smtClean="0">
                <a:ea typeface="+mn-ea"/>
                <a:cs typeface="+mn-cs"/>
              </a:rPr>
              <a:t>. a = b </a:t>
            </a:r>
            <a:r>
              <a:rPr lang="en-US" dirty="0" smtClean="0">
                <a:ea typeface="+mn-ea"/>
                <a:cs typeface="+mn-cs"/>
              </a:rPr>
              <a:t>(mod </a:t>
            </a:r>
            <a:r>
              <a:rPr lang="en-US" i="1" dirty="0" smtClean="0">
                <a:ea typeface="+mn-ea"/>
                <a:cs typeface="+mn-cs"/>
              </a:rPr>
              <a:t>n</a:t>
            </a:r>
            <a:r>
              <a:rPr lang="en-US" dirty="0" smtClean="0">
                <a:ea typeface="+mn-ea"/>
                <a:cs typeface="+mn-cs"/>
              </a:rPr>
              <a:t>) and </a:t>
            </a:r>
            <a:r>
              <a:rPr lang="en-US" i="1" dirty="0" smtClean="0">
                <a:ea typeface="+mn-ea"/>
                <a:cs typeface="+mn-cs"/>
              </a:rPr>
              <a:t>b = c </a:t>
            </a:r>
            <a:r>
              <a:rPr lang="en-US" dirty="0" smtClean="0">
                <a:ea typeface="+mn-ea"/>
                <a:cs typeface="+mn-cs"/>
              </a:rPr>
              <a:t>(mod </a:t>
            </a:r>
            <a:r>
              <a:rPr lang="en-US" i="1" dirty="0" smtClean="0">
                <a:ea typeface="+mn-ea"/>
                <a:cs typeface="+mn-cs"/>
              </a:rPr>
              <a:t>n</a:t>
            </a:r>
            <a:r>
              <a:rPr lang="en-US" dirty="0" smtClean="0">
                <a:ea typeface="+mn-ea"/>
                <a:cs typeface="+mn-cs"/>
              </a:rPr>
              <a:t>) imply </a:t>
            </a:r>
            <a:r>
              <a:rPr lang="en-US" i="1" dirty="0" smtClean="0">
                <a:ea typeface="+mn-ea"/>
                <a:cs typeface="+mn-cs"/>
              </a:rPr>
              <a:t>a = c </a:t>
            </a:r>
            <a:r>
              <a:rPr lang="en-US" dirty="0" smtClean="0">
                <a:ea typeface="+mn-ea"/>
                <a:cs typeface="+mn-cs"/>
              </a:rPr>
              <a:t>(mod </a:t>
            </a:r>
            <a:r>
              <a:rPr lang="en-US" i="1" dirty="0" smtClean="0">
                <a:ea typeface="+mn-ea"/>
                <a:cs typeface="+mn-cs"/>
              </a:rPr>
              <a:t>n</a:t>
            </a:r>
            <a:r>
              <a:rPr lang="en-US" dirty="0" smtClean="0">
                <a:ea typeface="+mn-ea"/>
                <a:cs typeface="+mn-cs"/>
              </a:rPr>
              <a:t>)</a:t>
            </a:r>
          </a:p>
          <a:p>
            <a:pPr fontAlgn="auto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  <a:cs typeface="+mn-cs"/>
              </a:rPr>
              <a:t>To demonstrate the first point, if </a:t>
            </a:r>
            <a:r>
              <a:rPr lang="en-US" i="1" dirty="0" smtClean="0">
                <a:ea typeface="+mn-ea"/>
                <a:cs typeface="+mn-cs"/>
              </a:rPr>
              <a:t>n (a - b)</a:t>
            </a:r>
            <a:r>
              <a:rPr lang="en-US" dirty="0" smtClean="0">
                <a:ea typeface="+mn-ea"/>
                <a:cs typeface="+mn-cs"/>
              </a:rPr>
              <a:t>, then </a:t>
            </a:r>
            <a:r>
              <a:rPr lang="en-US" i="1" dirty="0" smtClean="0">
                <a:ea typeface="+mn-ea"/>
                <a:cs typeface="+mn-cs"/>
              </a:rPr>
              <a:t>(a - b) = kn </a:t>
            </a:r>
            <a:r>
              <a:rPr lang="en-US" dirty="0" smtClean="0">
                <a:ea typeface="+mn-ea"/>
                <a:cs typeface="+mn-cs"/>
              </a:rPr>
              <a:t>for some </a:t>
            </a:r>
            <a:r>
              <a:rPr lang="en-US" i="1" dirty="0" smtClean="0">
                <a:ea typeface="+mn-ea"/>
                <a:cs typeface="+mn-cs"/>
              </a:rPr>
              <a:t>k</a:t>
            </a:r>
          </a:p>
          <a:p>
            <a:pPr lvl="1" fontAlgn="auto">
              <a:spcAft>
                <a:spcPts val="0"/>
              </a:spcAft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</a:rPr>
              <a:t>So we can write </a:t>
            </a:r>
            <a:r>
              <a:rPr lang="en-US" i="1" dirty="0" smtClean="0">
                <a:ea typeface="+mn-ea"/>
              </a:rPr>
              <a:t>a = b + kn</a:t>
            </a:r>
            <a:r>
              <a:rPr lang="en-US" dirty="0" smtClean="0">
                <a:ea typeface="+mn-ea"/>
              </a:rPr>
              <a:t> </a:t>
            </a:r>
          </a:p>
          <a:p>
            <a:pPr lvl="1" fontAlgn="auto">
              <a:spcAft>
                <a:spcPts val="0"/>
              </a:spcAft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</a:rPr>
              <a:t>Therefore, (</a:t>
            </a:r>
            <a:r>
              <a:rPr lang="en-US" i="1" dirty="0" smtClean="0">
                <a:ea typeface="+mn-ea"/>
              </a:rPr>
              <a:t>a </a:t>
            </a:r>
            <a:r>
              <a:rPr lang="en-US" dirty="0" smtClean="0">
                <a:ea typeface="+mn-ea"/>
              </a:rPr>
              <a:t>mod </a:t>
            </a:r>
            <a:r>
              <a:rPr lang="en-US" i="1" dirty="0" smtClean="0">
                <a:ea typeface="+mn-ea"/>
              </a:rPr>
              <a:t>n</a:t>
            </a:r>
            <a:r>
              <a:rPr lang="en-US" dirty="0" smtClean="0">
                <a:ea typeface="+mn-ea"/>
              </a:rPr>
              <a:t>) = (remainder when </a:t>
            </a:r>
            <a:r>
              <a:rPr lang="en-US" i="1" dirty="0" smtClean="0">
                <a:ea typeface="+mn-ea"/>
              </a:rPr>
              <a:t>b + kn </a:t>
            </a:r>
            <a:r>
              <a:rPr lang="en-US" dirty="0" smtClean="0">
                <a:ea typeface="+mn-ea"/>
              </a:rPr>
              <a:t>is divided by </a:t>
            </a:r>
            <a:r>
              <a:rPr lang="en-US" i="1" dirty="0" smtClean="0">
                <a:ea typeface="+mn-ea"/>
              </a:rPr>
              <a:t>n</a:t>
            </a:r>
            <a:r>
              <a:rPr lang="en-US" dirty="0" smtClean="0">
                <a:ea typeface="+mn-ea"/>
              </a:rPr>
              <a:t>) = (remainder when </a:t>
            </a:r>
            <a:r>
              <a:rPr lang="en-US" i="1" dirty="0" smtClean="0">
                <a:ea typeface="+mn-ea"/>
              </a:rPr>
              <a:t>b</a:t>
            </a:r>
            <a:r>
              <a:rPr lang="en-US" dirty="0" smtClean="0">
                <a:ea typeface="+mn-ea"/>
              </a:rPr>
              <a:t> is divided by </a:t>
            </a:r>
            <a:r>
              <a:rPr lang="en-US" i="1" dirty="0" smtClean="0">
                <a:ea typeface="+mn-ea"/>
              </a:rPr>
              <a:t>n</a:t>
            </a:r>
            <a:r>
              <a:rPr lang="en-US" dirty="0" smtClean="0">
                <a:ea typeface="+mn-ea"/>
              </a:rPr>
              <a:t>) = (</a:t>
            </a:r>
            <a:r>
              <a:rPr lang="en-US" i="1" dirty="0" smtClean="0">
                <a:ea typeface="+mn-ea"/>
              </a:rPr>
              <a:t>b</a:t>
            </a:r>
            <a:r>
              <a:rPr lang="en-US" dirty="0" smtClean="0">
                <a:ea typeface="+mn-ea"/>
              </a:rPr>
              <a:t> mod </a:t>
            </a:r>
            <a:r>
              <a:rPr lang="en-US" i="1" dirty="0" smtClean="0">
                <a:ea typeface="+mn-ea"/>
              </a:rPr>
              <a:t>n</a:t>
            </a:r>
            <a:r>
              <a:rPr lang="en-US" dirty="0" smtClean="0">
                <a:ea typeface="+mn-ea"/>
              </a:rPr>
              <a:t>)</a:t>
            </a:r>
            <a:endParaRPr lang="en-US" dirty="0">
              <a:ea typeface="+mn-ea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524000" y="5486400"/>
            <a:ext cx="6096000" cy="92392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31750">
            <a:solidFill>
              <a:schemeClr val="accent4">
                <a:lumMod val="75000"/>
              </a:schemeClr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dirty="0">
                <a:latin typeface="Arial" pitchFamily="-1" charset="0"/>
              </a:rPr>
              <a:t>       23</a:t>
            </a:r>
            <a:r>
              <a:rPr lang="en-US" dirty="0" smtClean="0">
                <a:latin typeface="Arial" pitchFamily="-1" charset="0"/>
              </a:rPr>
              <a:t> =  </a:t>
            </a:r>
            <a:r>
              <a:rPr lang="en-US" dirty="0">
                <a:latin typeface="Arial" pitchFamily="-1" charset="0"/>
              </a:rPr>
              <a:t>8 (mod 5) because 23 -  8 =  15 =  5 *  3</a:t>
            </a:r>
          </a:p>
          <a:p>
            <a:pPr>
              <a:defRPr/>
            </a:pPr>
            <a:r>
              <a:rPr lang="en-US" dirty="0">
                <a:latin typeface="Arial" pitchFamily="-1" charset="0"/>
              </a:rPr>
              <a:t>       - 11</a:t>
            </a:r>
            <a:r>
              <a:rPr lang="en-US" dirty="0" smtClean="0">
                <a:latin typeface="Arial" pitchFamily="-1" charset="0"/>
              </a:rPr>
              <a:t> =  </a:t>
            </a:r>
            <a:r>
              <a:rPr lang="en-US" dirty="0">
                <a:latin typeface="Arial" pitchFamily="-1" charset="0"/>
              </a:rPr>
              <a:t>5 (mod 8) because - 11 -  5 = - 16 =  8 *  (- 2)</a:t>
            </a:r>
          </a:p>
          <a:p>
            <a:pPr>
              <a:defRPr/>
            </a:pPr>
            <a:r>
              <a:rPr lang="en-US" dirty="0">
                <a:latin typeface="Arial" pitchFamily="-1" charset="0"/>
              </a:rPr>
              <a:t>       81</a:t>
            </a:r>
            <a:r>
              <a:rPr lang="en-US" dirty="0" smtClean="0">
                <a:latin typeface="Arial" pitchFamily="-1" charset="0"/>
              </a:rPr>
              <a:t> =  </a:t>
            </a:r>
            <a:r>
              <a:rPr lang="en-US" dirty="0">
                <a:latin typeface="Arial" pitchFamily="-1" charset="0"/>
              </a:rPr>
              <a:t>0 (mod 27) because 81 -  0 =  81 =  27 *  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6019800" cy="365125"/>
          </a:xfrm>
        </p:spPr>
        <p:txBody>
          <a:bodyPr/>
          <a:lstStyle/>
          <a:p>
            <a:pPr>
              <a:defRPr/>
            </a:pPr>
            <a:r>
              <a:rPr lang="en-US" sz="900" dirty="0" smtClean="0"/>
              <a:t>© 2017 Pearson Education, Inc., Hoboken, NJ. All rights reserved. 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Modular Arithmetic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1066800" y="1524000"/>
            <a:ext cx="7570788" cy="5181600"/>
          </a:xfrm>
        </p:spPr>
        <p:txBody>
          <a:bodyPr rtlCol="0">
            <a:normAutofit fontScale="62500" lnSpcReduction="20000"/>
          </a:bodyPr>
          <a:lstStyle/>
          <a:p>
            <a:pPr fontAlgn="auto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sz="3200" dirty="0" smtClean="0">
                <a:ea typeface="+mn-ea"/>
                <a:cs typeface="+mn-cs"/>
              </a:rPr>
              <a:t>Modular arithmetic exhibits the following properties:</a:t>
            </a:r>
          </a:p>
          <a:p>
            <a:pPr fontAlgn="auto">
              <a:lnSpc>
                <a:spcPct val="120000"/>
              </a:lnSpc>
              <a:spcBef>
                <a:spcPts val="14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None/>
              <a:defRPr/>
            </a:pPr>
            <a:r>
              <a:rPr lang="en-US" dirty="0" smtClean="0">
                <a:ea typeface="+mn-ea"/>
                <a:cs typeface="+mn-cs"/>
              </a:rPr>
              <a:t>		1.  [(</a:t>
            </a:r>
            <a:r>
              <a:rPr lang="en-US" i="1" dirty="0" smtClean="0">
                <a:ea typeface="+mn-ea"/>
                <a:cs typeface="+mn-cs"/>
              </a:rPr>
              <a:t>a</a:t>
            </a:r>
            <a:r>
              <a:rPr lang="en-US" dirty="0" smtClean="0">
                <a:ea typeface="+mn-ea"/>
                <a:cs typeface="+mn-cs"/>
              </a:rPr>
              <a:t> mod </a:t>
            </a:r>
            <a:r>
              <a:rPr lang="en-US" i="1" dirty="0" smtClean="0">
                <a:ea typeface="+mn-ea"/>
                <a:cs typeface="+mn-cs"/>
              </a:rPr>
              <a:t>n</a:t>
            </a:r>
            <a:r>
              <a:rPr lang="en-US" dirty="0" smtClean="0">
                <a:ea typeface="+mn-ea"/>
                <a:cs typeface="+mn-cs"/>
              </a:rPr>
              <a:t>) + (</a:t>
            </a:r>
            <a:r>
              <a:rPr lang="en-US" i="1" dirty="0" smtClean="0">
                <a:ea typeface="+mn-ea"/>
                <a:cs typeface="+mn-cs"/>
              </a:rPr>
              <a:t>b</a:t>
            </a:r>
            <a:r>
              <a:rPr lang="en-US" dirty="0" smtClean="0">
                <a:ea typeface="+mn-ea"/>
                <a:cs typeface="+mn-cs"/>
              </a:rPr>
              <a:t> mod </a:t>
            </a:r>
            <a:r>
              <a:rPr lang="en-US" i="1" dirty="0" smtClean="0">
                <a:ea typeface="+mn-ea"/>
                <a:cs typeface="+mn-cs"/>
              </a:rPr>
              <a:t>n</a:t>
            </a:r>
            <a:r>
              <a:rPr lang="en-US" dirty="0" smtClean="0">
                <a:ea typeface="+mn-ea"/>
                <a:cs typeface="+mn-cs"/>
              </a:rPr>
              <a:t>)] mod </a:t>
            </a:r>
            <a:r>
              <a:rPr lang="en-US" i="1" dirty="0" smtClean="0">
                <a:ea typeface="+mn-ea"/>
                <a:cs typeface="+mn-cs"/>
              </a:rPr>
              <a:t>n</a:t>
            </a:r>
            <a:r>
              <a:rPr lang="en-US" dirty="0" smtClean="0">
                <a:ea typeface="+mn-ea"/>
                <a:cs typeface="+mn-cs"/>
              </a:rPr>
              <a:t> </a:t>
            </a:r>
            <a:r>
              <a:rPr lang="en-US" i="1" dirty="0" smtClean="0">
                <a:ea typeface="+mn-ea"/>
                <a:cs typeface="+mn-cs"/>
              </a:rPr>
              <a:t>= (a + b) </a:t>
            </a:r>
            <a:r>
              <a:rPr lang="en-US" dirty="0" smtClean="0">
                <a:ea typeface="+mn-ea"/>
                <a:cs typeface="+mn-cs"/>
              </a:rPr>
              <a:t>mod </a:t>
            </a:r>
            <a:r>
              <a:rPr lang="en-US" i="1" dirty="0" smtClean="0">
                <a:ea typeface="+mn-ea"/>
                <a:cs typeface="+mn-cs"/>
              </a:rPr>
              <a:t>n</a:t>
            </a:r>
          </a:p>
          <a:p>
            <a:pPr fontAlgn="auto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None/>
              <a:defRPr/>
            </a:pPr>
            <a:r>
              <a:rPr lang="en-US" dirty="0" smtClean="0">
                <a:ea typeface="+mn-ea"/>
                <a:cs typeface="+mn-cs"/>
              </a:rPr>
              <a:t>		2.  [(</a:t>
            </a:r>
            <a:r>
              <a:rPr lang="en-US" i="1" dirty="0" smtClean="0">
                <a:ea typeface="+mn-ea"/>
                <a:cs typeface="+mn-cs"/>
              </a:rPr>
              <a:t>a</a:t>
            </a:r>
            <a:r>
              <a:rPr lang="en-US" dirty="0" smtClean="0">
                <a:ea typeface="+mn-ea"/>
                <a:cs typeface="+mn-cs"/>
              </a:rPr>
              <a:t> mod </a:t>
            </a:r>
            <a:r>
              <a:rPr lang="en-US" i="1" dirty="0" smtClean="0">
                <a:ea typeface="+mn-ea"/>
                <a:cs typeface="+mn-cs"/>
              </a:rPr>
              <a:t>n</a:t>
            </a:r>
            <a:r>
              <a:rPr lang="en-US" dirty="0" smtClean="0">
                <a:ea typeface="+mn-ea"/>
                <a:cs typeface="+mn-cs"/>
              </a:rPr>
              <a:t>) - (</a:t>
            </a:r>
            <a:r>
              <a:rPr lang="en-US" i="1" dirty="0" smtClean="0">
                <a:ea typeface="+mn-ea"/>
                <a:cs typeface="+mn-cs"/>
              </a:rPr>
              <a:t>b</a:t>
            </a:r>
            <a:r>
              <a:rPr lang="en-US" dirty="0" smtClean="0">
                <a:ea typeface="+mn-ea"/>
                <a:cs typeface="+mn-cs"/>
              </a:rPr>
              <a:t> mod </a:t>
            </a:r>
            <a:r>
              <a:rPr lang="en-US" i="1" dirty="0" smtClean="0">
                <a:ea typeface="+mn-ea"/>
                <a:cs typeface="+mn-cs"/>
              </a:rPr>
              <a:t>n</a:t>
            </a:r>
            <a:r>
              <a:rPr lang="en-US" dirty="0" smtClean="0">
                <a:ea typeface="+mn-ea"/>
                <a:cs typeface="+mn-cs"/>
              </a:rPr>
              <a:t>)] mod </a:t>
            </a:r>
            <a:r>
              <a:rPr lang="en-US" i="1" dirty="0" smtClean="0">
                <a:ea typeface="+mn-ea"/>
                <a:cs typeface="+mn-cs"/>
              </a:rPr>
              <a:t>n = (a - b) </a:t>
            </a:r>
            <a:r>
              <a:rPr lang="en-US" dirty="0" smtClean="0">
                <a:ea typeface="+mn-ea"/>
                <a:cs typeface="+mn-cs"/>
              </a:rPr>
              <a:t>mod </a:t>
            </a:r>
            <a:r>
              <a:rPr lang="en-US" i="1" dirty="0" smtClean="0">
                <a:ea typeface="+mn-ea"/>
                <a:cs typeface="+mn-cs"/>
              </a:rPr>
              <a:t>n</a:t>
            </a:r>
          </a:p>
          <a:p>
            <a:pPr fontAlgn="auto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None/>
              <a:defRPr/>
            </a:pPr>
            <a:r>
              <a:rPr lang="en-US" dirty="0" smtClean="0">
                <a:ea typeface="+mn-ea"/>
                <a:cs typeface="+mn-cs"/>
              </a:rPr>
              <a:t>		3.  [(</a:t>
            </a:r>
            <a:r>
              <a:rPr lang="en-US" i="1" dirty="0" smtClean="0">
                <a:ea typeface="+mn-ea"/>
                <a:cs typeface="+mn-cs"/>
              </a:rPr>
              <a:t>a</a:t>
            </a:r>
            <a:r>
              <a:rPr lang="en-US" dirty="0" smtClean="0">
                <a:ea typeface="+mn-ea"/>
                <a:cs typeface="+mn-cs"/>
              </a:rPr>
              <a:t> mod </a:t>
            </a:r>
            <a:r>
              <a:rPr lang="en-US" i="1" dirty="0" smtClean="0">
                <a:ea typeface="+mn-ea"/>
                <a:cs typeface="+mn-cs"/>
              </a:rPr>
              <a:t>n</a:t>
            </a:r>
            <a:r>
              <a:rPr lang="en-US" dirty="0" smtClean="0">
                <a:ea typeface="+mn-ea"/>
                <a:cs typeface="+mn-cs"/>
              </a:rPr>
              <a:t>) * (</a:t>
            </a:r>
            <a:r>
              <a:rPr lang="en-US" i="1" dirty="0" smtClean="0">
                <a:ea typeface="+mn-ea"/>
                <a:cs typeface="+mn-cs"/>
              </a:rPr>
              <a:t>b</a:t>
            </a:r>
            <a:r>
              <a:rPr lang="en-US" dirty="0" smtClean="0">
                <a:ea typeface="+mn-ea"/>
                <a:cs typeface="+mn-cs"/>
              </a:rPr>
              <a:t> mod </a:t>
            </a:r>
            <a:r>
              <a:rPr lang="en-US" i="1" dirty="0" smtClean="0">
                <a:ea typeface="+mn-ea"/>
                <a:cs typeface="+mn-cs"/>
              </a:rPr>
              <a:t>n</a:t>
            </a:r>
            <a:r>
              <a:rPr lang="en-US" dirty="0" smtClean="0">
                <a:ea typeface="+mn-ea"/>
                <a:cs typeface="+mn-cs"/>
              </a:rPr>
              <a:t>)] mod </a:t>
            </a:r>
            <a:r>
              <a:rPr lang="en-US" i="1" dirty="0" smtClean="0">
                <a:ea typeface="+mn-ea"/>
                <a:cs typeface="+mn-cs"/>
              </a:rPr>
              <a:t>n = (a * b) </a:t>
            </a:r>
            <a:r>
              <a:rPr lang="en-US" dirty="0" smtClean="0">
                <a:ea typeface="+mn-ea"/>
                <a:cs typeface="+mn-cs"/>
              </a:rPr>
              <a:t>mod </a:t>
            </a:r>
            <a:r>
              <a:rPr lang="en-US" i="1" dirty="0" smtClean="0">
                <a:ea typeface="+mn-ea"/>
                <a:cs typeface="+mn-cs"/>
              </a:rPr>
              <a:t>n</a:t>
            </a:r>
          </a:p>
          <a:p>
            <a:pPr fontAlgn="auto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sz="3200" dirty="0" smtClean="0">
                <a:ea typeface="+mn-ea"/>
                <a:cs typeface="+mn-cs"/>
              </a:rPr>
              <a:t>We demonstrate the first property:</a:t>
            </a:r>
          </a:p>
          <a:p>
            <a:pPr lvl="1" fontAlgn="auto">
              <a:lnSpc>
                <a:spcPct val="120000"/>
              </a:lnSpc>
              <a:spcAft>
                <a:spcPts val="0"/>
              </a:spcAft>
              <a:buFont typeface="Candara" pitchFamily="34" charset="0"/>
              <a:buChar char="•"/>
              <a:defRPr/>
            </a:pPr>
            <a:r>
              <a:rPr lang="en-US" sz="3000" dirty="0" smtClean="0">
                <a:ea typeface="+mn-ea"/>
              </a:rPr>
              <a:t>Define (</a:t>
            </a:r>
            <a:r>
              <a:rPr lang="en-US" sz="3000" i="1" dirty="0" smtClean="0">
                <a:ea typeface="+mn-ea"/>
              </a:rPr>
              <a:t>a</a:t>
            </a:r>
            <a:r>
              <a:rPr lang="en-US" sz="3000" dirty="0" smtClean="0">
                <a:ea typeface="+mn-ea"/>
              </a:rPr>
              <a:t> mod </a:t>
            </a:r>
            <a:r>
              <a:rPr lang="en-US" sz="3000" i="1" dirty="0" smtClean="0">
                <a:ea typeface="+mn-ea"/>
              </a:rPr>
              <a:t>n)</a:t>
            </a:r>
            <a:r>
              <a:rPr lang="en-US" sz="3000" dirty="0" smtClean="0">
                <a:ea typeface="+mn-ea"/>
              </a:rPr>
              <a:t> = </a:t>
            </a:r>
            <a:r>
              <a:rPr lang="en-US" sz="3000" i="1" dirty="0" smtClean="0">
                <a:ea typeface="+mn-ea"/>
              </a:rPr>
              <a:t>r</a:t>
            </a:r>
            <a:r>
              <a:rPr lang="en-US" sz="3000" i="1" baseline="-25000" dirty="0" smtClean="0">
                <a:ea typeface="+mn-ea"/>
              </a:rPr>
              <a:t>a</a:t>
            </a:r>
            <a:r>
              <a:rPr lang="en-US" sz="3000" i="1" dirty="0" smtClean="0">
                <a:ea typeface="+mn-ea"/>
              </a:rPr>
              <a:t> </a:t>
            </a:r>
            <a:r>
              <a:rPr lang="en-US" sz="3000" dirty="0" smtClean="0">
                <a:ea typeface="+mn-ea"/>
              </a:rPr>
              <a:t>and (</a:t>
            </a:r>
            <a:r>
              <a:rPr lang="en-US" sz="3000" i="1" dirty="0" smtClean="0">
                <a:ea typeface="+mn-ea"/>
              </a:rPr>
              <a:t>b</a:t>
            </a:r>
            <a:r>
              <a:rPr lang="en-US" sz="3000" dirty="0" smtClean="0">
                <a:ea typeface="+mn-ea"/>
              </a:rPr>
              <a:t> mod </a:t>
            </a:r>
            <a:r>
              <a:rPr lang="en-US" sz="3000" i="1" dirty="0" smtClean="0">
                <a:ea typeface="+mn-ea"/>
              </a:rPr>
              <a:t>n</a:t>
            </a:r>
            <a:r>
              <a:rPr lang="en-US" sz="3000" dirty="0" smtClean="0">
                <a:ea typeface="+mn-ea"/>
              </a:rPr>
              <a:t>) = </a:t>
            </a:r>
            <a:r>
              <a:rPr lang="en-US" sz="3000" i="1" dirty="0" smtClean="0">
                <a:ea typeface="+mn-ea"/>
              </a:rPr>
              <a:t>r</a:t>
            </a:r>
            <a:r>
              <a:rPr lang="en-US" sz="3000" i="1" baseline="-25000" dirty="0" smtClean="0">
                <a:ea typeface="+mn-ea"/>
              </a:rPr>
              <a:t>b</a:t>
            </a:r>
            <a:r>
              <a:rPr lang="en-US" sz="3000" dirty="0" smtClean="0">
                <a:ea typeface="+mn-ea"/>
              </a:rPr>
              <a:t>. Then we can write </a:t>
            </a:r>
            <a:r>
              <a:rPr lang="en-US" sz="3000" i="1" dirty="0" smtClean="0">
                <a:ea typeface="+mn-ea"/>
              </a:rPr>
              <a:t>a = r</a:t>
            </a:r>
            <a:r>
              <a:rPr lang="en-US" sz="3000" i="1" baseline="-25000" dirty="0" smtClean="0">
                <a:ea typeface="+mn-ea"/>
              </a:rPr>
              <a:t>a</a:t>
            </a:r>
            <a:r>
              <a:rPr lang="en-US" sz="3000" i="1" dirty="0" smtClean="0">
                <a:ea typeface="+mn-ea"/>
              </a:rPr>
              <a:t> </a:t>
            </a:r>
            <a:r>
              <a:rPr lang="en-US" sz="3000" dirty="0" smtClean="0">
                <a:ea typeface="+mn-ea"/>
              </a:rPr>
              <a:t>+ </a:t>
            </a:r>
            <a:r>
              <a:rPr lang="en-US" sz="3000" i="1" dirty="0" smtClean="0">
                <a:ea typeface="+mn-ea"/>
              </a:rPr>
              <a:t>jn</a:t>
            </a:r>
            <a:r>
              <a:rPr lang="en-US" sz="3000" dirty="0" smtClean="0">
                <a:ea typeface="+mn-ea"/>
              </a:rPr>
              <a:t> for some integer</a:t>
            </a:r>
            <a:r>
              <a:rPr lang="en-US" sz="3000" i="1" dirty="0" smtClean="0">
                <a:ea typeface="+mn-ea"/>
              </a:rPr>
              <a:t> j </a:t>
            </a:r>
            <a:r>
              <a:rPr lang="en-US" sz="3000" dirty="0" smtClean="0">
                <a:ea typeface="+mn-ea"/>
              </a:rPr>
              <a:t>and </a:t>
            </a:r>
            <a:r>
              <a:rPr lang="en-US" sz="3000" i="1" dirty="0" smtClean="0">
                <a:ea typeface="+mn-ea"/>
              </a:rPr>
              <a:t>b = r</a:t>
            </a:r>
            <a:r>
              <a:rPr lang="en-US" sz="3000" i="1" baseline="-25000" dirty="0" smtClean="0">
                <a:ea typeface="+mn-ea"/>
              </a:rPr>
              <a:t>b</a:t>
            </a:r>
            <a:r>
              <a:rPr lang="en-US" sz="3000" i="1" dirty="0" smtClean="0">
                <a:ea typeface="+mn-ea"/>
              </a:rPr>
              <a:t> + kn </a:t>
            </a:r>
            <a:r>
              <a:rPr lang="en-US" sz="3000" dirty="0" smtClean="0">
                <a:ea typeface="+mn-ea"/>
              </a:rPr>
              <a:t>for some integer </a:t>
            </a:r>
            <a:r>
              <a:rPr lang="en-US" sz="3000" i="1" dirty="0" smtClean="0">
                <a:ea typeface="+mn-ea"/>
              </a:rPr>
              <a:t>k</a:t>
            </a:r>
            <a:endParaRPr lang="en-US" sz="3000" dirty="0" smtClean="0">
              <a:ea typeface="+mn-ea"/>
            </a:endParaRPr>
          </a:p>
          <a:p>
            <a:pPr lvl="1" fontAlgn="auto">
              <a:lnSpc>
                <a:spcPct val="120000"/>
              </a:lnSpc>
              <a:spcAft>
                <a:spcPts val="0"/>
              </a:spcAft>
              <a:buFont typeface="Candara" pitchFamily="34" charset="0"/>
              <a:buChar char="•"/>
              <a:defRPr/>
            </a:pPr>
            <a:r>
              <a:rPr lang="en-US" sz="3000" dirty="0" smtClean="0">
                <a:ea typeface="+mn-ea"/>
              </a:rPr>
              <a:t>Then:</a:t>
            </a:r>
          </a:p>
          <a:p>
            <a:pPr fontAlgn="auto">
              <a:spcBef>
                <a:spcPts val="12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None/>
              <a:defRPr/>
            </a:pPr>
            <a:r>
              <a:rPr lang="en-US" dirty="0" smtClean="0">
                <a:ea typeface="+mn-ea"/>
                <a:cs typeface="+mn-cs"/>
              </a:rPr>
              <a:t>		(a + b) mod n = (ra + jn + rb + kn) mod n</a:t>
            </a:r>
          </a:p>
          <a:p>
            <a:pPr fontAlgn="auto">
              <a:spcBef>
                <a:spcPts val="12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None/>
              <a:defRPr/>
            </a:pPr>
            <a:r>
              <a:rPr lang="en-US" dirty="0" smtClean="0">
                <a:ea typeface="+mn-ea"/>
                <a:cs typeface="+mn-cs"/>
              </a:rPr>
              <a:t>			        = (ra + rb + (k + j)n) mod n</a:t>
            </a:r>
          </a:p>
          <a:p>
            <a:pPr fontAlgn="auto">
              <a:spcBef>
                <a:spcPts val="12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None/>
              <a:defRPr/>
            </a:pPr>
            <a:r>
              <a:rPr lang="en-US" dirty="0" smtClean="0">
                <a:ea typeface="+mn-ea"/>
                <a:cs typeface="+mn-cs"/>
              </a:rPr>
              <a:t>			        = (ra + rb) mod n</a:t>
            </a:r>
          </a:p>
          <a:p>
            <a:pPr fontAlgn="auto">
              <a:spcBef>
                <a:spcPts val="12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None/>
              <a:defRPr/>
            </a:pPr>
            <a:r>
              <a:rPr lang="en-US" dirty="0" smtClean="0">
                <a:ea typeface="+mn-ea"/>
                <a:cs typeface="+mn-cs"/>
              </a:rPr>
              <a:t>			        = [(a mod n) + (b mod n)] mod 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7086600" cy="365125"/>
          </a:xfrm>
        </p:spPr>
        <p:txBody>
          <a:bodyPr/>
          <a:lstStyle/>
          <a:p>
            <a:pPr>
              <a:defRPr/>
            </a:pPr>
            <a:r>
              <a:rPr lang="en-US" sz="900" dirty="0" smtClean="0"/>
              <a:t>© 2017 Pearson Education, Inc., Hoboken, NJ. All rights reserved. 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Remaining Properties:</a:t>
            </a:r>
          </a:p>
        </p:txBody>
      </p:sp>
      <p:sp>
        <p:nvSpPr>
          <p:cNvPr id="62467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Examples of the three remaining properties: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05000" y="2667000"/>
            <a:ext cx="5307013" cy="295433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31750">
            <a:solidFill>
              <a:schemeClr val="accent4">
                <a:lumMod val="75000"/>
              </a:schemeClr>
            </a:solidFill>
          </a:ln>
        </p:spPr>
        <p:txBody>
          <a:bodyPr>
            <a:spAutoFit/>
          </a:bodyPr>
          <a:lstStyle/>
          <a:p>
            <a:pPr>
              <a:spcBef>
                <a:spcPts val="1200"/>
              </a:spcBef>
              <a:defRPr/>
            </a:pPr>
            <a:r>
              <a:rPr lang="en-US" dirty="0">
                <a:latin typeface="Arial" pitchFamily="-1" charset="0"/>
              </a:rPr>
              <a:t> 11 mod 8 = 3; 15 mod 8 = 7</a:t>
            </a:r>
          </a:p>
          <a:p>
            <a:pPr>
              <a:spcBef>
                <a:spcPts val="1200"/>
              </a:spcBef>
              <a:defRPr/>
            </a:pPr>
            <a:r>
              <a:rPr lang="en-US" dirty="0">
                <a:latin typeface="Arial" pitchFamily="-1" charset="0"/>
              </a:rPr>
              <a:t>[(11 mod 8) + (15 mod 8)] mod 8 = 10 mod 8 = 2</a:t>
            </a:r>
          </a:p>
          <a:p>
            <a:pPr>
              <a:spcBef>
                <a:spcPts val="1200"/>
              </a:spcBef>
              <a:defRPr/>
            </a:pPr>
            <a:r>
              <a:rPr lang="en-US" dirty="0">
                <a:latin typeface="Arial" pitchFamily="-1" charset="0"/>
              </a:rPr>
              <a:t>(11 + 15) mod 8 =  26 mod 8 = 2</a:t>
            </a:r>
          </a:p>
          <a:p>
            <a:pPr>
              <a:spcBef>
                <a:spcPts val="1200"/>
              </a:spcBef>
              <a:defRPr/>
            </a:pPr>
            <a:r>
              <a:rPr lang="en-US" dirty="0">
                <a:latin typeface="Arial" pitchFamily="-1" charset="0"/>
              </a:rPr>
              <a:t>[(11 mod 8) - (15 mod 8)] mod 8 = - 4 mod 8 = 4</a:t>
            </a:r>
          </a:p>
          <a:p>
            <a:pPr>
              <a:spcBef>
                <a:spcPts val="1200"/>
              </a:spcBef>
              <a:defRPr/>
            </a:pPr>
            <a:r>
              <a:rPr lang="en-US" dirty="0">
                <a:latin typeface="Arial" pitchFamily="-1" charset="0"/>
              </a:rPr>
              <a:t>(11 -  15) mod 8 = - 4 mod 8 =  4</a:t>
            </a:r>
          </a:p>
          <a:p>
            <a:pPr>
              <a:spcBef>
                <a:spcPts val="1200"/>
              </a:spcBef>
              <a:defRPr/>
            </a:pPr>
            <a:r>
              <a:rPr lang="en-US" dirty="0">
                <a:latin typeface="Arial" pitchFamily="-1" charset="0"/>
              </a:rPr>
              <a:t>[(11 mod 8) *  (15 mod 8)] mod 8 =  21 mod 8 = 5</a:t>
            </a:r>
          </a:p>
          <a:p>
            <a:pPr>
              <a:spcBef>
                <a:spcPts val="1200"/>
              </a:spcBef>
              <a:defRPr/>
            </a:pPr>
            <a:r>
              <a:rPr lang="en-US" dirty="0">
                <a:latin typeface="Arial" pitchFamily="-1" charset="0"/>
              </a:rPr>
              <a:t>(11 * 15) mod 8 = 165 mod 8 =  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5791200" cy="365125"/>
          </a:xfrm>
        </p:spPr>
        <p:txBody>
          <a:bodyPr/>
          <a:lstStyle/>
          <a:p>
            <a:pPr>
              <a:defRPr/>
            </a:pPr>
            <a:r>
              <a:rPr lang="en-US" sz="900" dirty="0" smtClean="0"/>
              <a:t>© 2017 Pearson Education, Inc., Hoboken, NJ. All rights reserved. 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Table 2.2(a)</a:t>
            </a:r>
            <a:br>
              <a:rPr lang="en-US" dirty="0" smtClean="0"/>
            </a:br>
            <a:r>
              <a:rPr lang="en-US" dirty="0" smtClean="0"/>
              <a:t>Arithmetic Modulo 8</a:t>
            </a:r>
          </a:p>
        </p:txBody>
      </p:sp>
      <p:pic>
        <p:nvPicPr>
          <p:cNvPr id="64515" name="Picture 2"/>
          <p:cNvPicPr>
            <a:picLocks noChangeAspect="1"/>
          </p:cNvPicPr>
          <p:nvPr/>
        </p:nvPicPr>
        <p:blipFill>
          <a:blip r:embed="rId3"/>
          <a:srcRect r="36000"/>
          <a:stretch>
            <a:fillRect/>
          </a:stretch>
        </p:blipFill>
        <p:spPr bwMode="auto">
          <a:xfrm>
            <a:off x="457200" y="1600200"/>
            <a:ext cx="8198365" cy="525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6629400" cy="365125"/>
          </a:xfrm>
        </p:spPr>
        <p:txBody>
          <a:bodyPr/>
          <a:lstStyle/>
          <a:p>
            <a:pPr>
              <a:defRPr/>
            </a:pPr>
            <a:r>
              <a:rPr lang="en-US" sz="900" dirty="0" smtClean="0"/>
              <a:t>© 2017 Pearson Education, Inc., Hoboken, NJ. All rights reserved. </a:t>
            </a:r>
            <a:endParaRPr lang="en-US" sz="900" dirty="0"/>
          </a:p>
        </p:txBody>
      </p:sp>
      <p:sp>
        <p:nvSpPr>
          <p:cNvPr id="5" name="TextBox 5"/>
          <p:cNvSpPr txBox="1">
            <a:spLocks noChangeArrowheads="1"/>
          </p:cNvSpPr>
          <p:nvPr/>
        </p:nvSpPr>
        <p:spPr bwMode="auto">
          <a:xfrm>
            <a:off x="5696948" y="6596390"/>
            <a:ext cx="3447052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100" dirty="0"/>
              <a:t>(This table can be found on page</a:t>
            </a:r>
            <a:r>
              <a:rPr lang="en-US" sz="1100" dirty="0" smtClean="0"/>
              <a:t> 37 </a:t>
            </a:r>
            <a:r>
              <a:rPr lang="en-US" sz="1100" dirty="0"/>
              <a:t>in the textbook)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le 1"/>
          <p:cNvSpPr>
            <a:spLocks noGrp="1"/>
          </p:cNvSpPr>
          <p:nvPr>
            <p:ph type="title"/>
          </p:nvPr>
        </p:nvSpPr>
        <p:spPr>
          <a:xfrm>
            <a:off x="0" y="39688"/>
            <a:ext cx="9144000" cy="1412875"/>
          </a:xfrm>
        </p:spPr>
        <p:txBody>
          <a:bodyPr/>
          <a:lstStyle/>
          <a:p>
            <a:r>
              <a:rPr lang="en-US" dirty="0" smtClean="0"/>
              <a:t>Table 2.2(b)</a:t>
            </a:r>
            <a:br>
              <a:rPr lang="en-US" dirty="0" smtClean="0"/>
            </a:br>
            <a:r>
              <a:rPr lang="en-US" sz="4800" dirty="0" smtClean="0"/>
              <a:t>Multiplication Modulo 8</a:t>
            </a:r>
            <a:endParaRPr lang="en-US" dirty="0" smtClean="0"/>
          </a:p>
        </p:txBody>
      </p:sp>
      <p:pic>
        <p:nvPicPr>
          <p:cNvPr id="66563" name="Picture 2"/>
          <p:cNvPicPr>
            <a:picLocks noChangeAspect="1"/>
          </p:cNvPicPr>
          <p:nvPr/>
        </p:nvPicPr>
        <p:blipFill>
          <a:blip r:embed="rId3"/>
          <a:srcRect r="36151"/>
          <a:stretch>
            <a:fillRect/>
          </a:stretch>
        </p:blipFill>
        <p:spPr bwMode="auto">
          <a:xfrm>
            <a:off x="533400" y="1600200"/>
            <a:ext cx="8305800" cy="5414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6477000" cy="365125"/>
          </a:xfrm>
        </p:spPr>
        <p:txBody>
          <a:bodyPr/>
          <a:lstStyle/>
          <a:p>
            <a:pPr>
              <a:defRPr/>
            </a:pPr>
            <a:r>
              <a:rPr lang="en-US" sz="900" dirty="0" smtClean="0"/>
              <a:t>© 2017 Pearson Education, Inc., Hoboken, NJ. All rights reserved. </a:t>
            </a:r>
            <a:endParaRPr lang="en-US" sz="900" dirty="0"/>
          </a:p>
        </p:txBody>
      </p:sp>
      <p:sp>
        <p:nvSpPr>
          <p:cNvPr id="5" name="TextBox 5"/>
          <p:cNvSpPr txBox="1">
            <a:spLocks noChangeArrowheads="1"/>
          </p:cNvSpPr>
          <p:nvPr/>
        </p:nvSpPr>
        <p:spPr bwMode="auto">
          <a:xfrm>
            <a:off x="5696948" y="6596390"/>
            <a:ext cx="3447052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100" dirty="0"/>
              <a:t>(This table can be found on page</a:t>
            </a:r>
            <a:r>
              <a:rPr lang="en-US" sz="1100" dirty="0" smtClean="0"/>
              <a:t> 37 </a:t>
            </a:r>
            <a:r>
              <a:rPr lang="en-US" sz="1100" dirty="0"/>
              <a:t>in the textbook)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Title 1"/>
          <p:cNvSpPr>
            <a:spLocks noGrp="1"/>
          </p:cNvSpPr>
          <p:nvPr>
            <p:ph type="title"/>
          </p:nvPr>
        </p:nvSpPr>
        <p:spPr>
          <a:xfrm>
            <a:off x="228600" y="1752600"/>
            <a:ext cx="3886200" cy="4038600"/>
          </a:xfrm>
        </p:spPr>
        <p:txBody>
          <a:bodyPr/>
          <a:lstStyle/>
          <a:p>
            <a:r>
              <a:rPr lang="en-US" sz="4800" dirty="0" smtClean="0"/>
              <a:t>Table 2.2(c)</a:t>
            </a:r>
            <a:br>
              <a:rPr lang="en-US" sz="4800" dirty="0" smtClean="0"/>
            </a:br>
            <a:r>
              <a:rPr lang="en-US" sz="4800" dirty="0" smtClean="0"/>
              <a:t/>
            </a:r>
            <a:br>
              <a:rPr lang="en-US" sz="4800" dirty="0" smtClean="0"/>
            </a:br>
            <a:r>
              <a:rPr lang="en-US" sz="4800" dirty="0" smtClean="0"/>
              <a:t>Additive </a:t>
            </a:r>
            <a:br>
              <a:rPr lang="en-US" sz="4800" dirty="0" smtClean="0"/>
            </a:br>
            <a:r>
              <a:rPr lang="en-US" sz="4800" dirty="0" smtClean="0"/>
              <a:t>and </a:t>
            </a:r>
            <a:br>
              <a:rPr lang="en-US" sz="4800" dirty="0" smtClean="0"/>
            </a:br>
            <a:r>
              <a:rPr lang="en-US" sz="4800" dirty="0" smtClean="0"/>
              <a:t>Multiplicative Inverse </a:t>
            </a:r>
            <a:br>
              <a:rPr lang="en-US" sz="4800" dirty="0" smtClean="0"/>
            </a:br>
            <a:r>
              <a:rPr lang="en-US" sz="4800" dirty="0" smtClean="0"/>
              <a:t>Modulo 8</a:t>
            </a:r>
          </a:p>
        </p:txBody>
      </p:sp>
      <p:pic>
        <p:nvPicPr>
          <p:cNvPr id="68611" name="Picture 2"/>
          <p:cNvPicPr>
            <a:picLocks noChangeAspect="1"/>
          </p:cNvPicPr>
          <p:nvPr/>
        </p:nvPicPr>
        <p:blipFill>
          <a:blip r:embed="rId3"/>
          <a:srcRect r="76820"/>
          <a:stretch>
            <a:fillRect/>
          </a:stretch>
        </p:blipFill>
        <p:spPr bwMode="auto">
          <a:xfrm>
            <a:off x="5062538" y="179388"/>
            <a:ext cx="3700462" cy="6678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5715000" cy="365125"/>
          </a:xfrm>
        </p:spPr>
        <p:txBody>
          <a:bodyPr/>
          <a:lstStyle/>
          <a:p>
            <a:pPr>
              <a:defRPr/>
            </a:pPr>
            <a:r>
              <a:rPr lang="en-US" sz="900" dirty="0" smtClean="0"/>
              <a:t>© 2017 Pearson Education, Inc., Hoboken, NJ. All rights reserved. </a:t>
            </a:r>
            <a:endParaRPr lang="en-US" sz="900" dirty="0"/>
          </a:p>
        </p:txBody>
      </p:sp>
      <p:sp>
        <p:nvSpPr>
          <p:cNvPr id="5" name="TextBox 5"/>
          <p:cNvSpPr txBox="1">
            <a:spLocks noChangeArrowheads="1"/>
          </p:cNvSpPr>
          <p:nvPr/>
        </p:nvSpPr>
        <p:spPr bwMode="auto">
          <a:xfrm>
            <a:off x="5696948" y="6596390"/>
            <a:ext cx="3447052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100" dirty="0"/>
              <a:t>(This table can be found on page</a:t>
            </a:r>
            <a:r>
              <a:rPr lang="en-US" sz="1100" dirty="0" smtClean="0"/>
              <a:t> 37 </a:t>
            </a:r>
            <a:r>
              <a:rPr lang="en-US" sz="1100" dirty="0"/>
              <a:t>in the textbook)</a:t>
            </a: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itle 1"/>
          <p:cNvSpPr>
            <a:spLocks noGrp="1"/>
          </p:cNvSpPr>
          <p:nvPr>
            <p:ph type="title"/>
          </p:nvPr>
        </p:nvSpPr>
        <p:spPr>
          <a:xfrm>
            <a:off x="0" y="39688"/>
            <a:ext cx="9144000" cy="1412875"/>
          </a:xfrm>
        </p:spPr>
        <p:txBody>
          <a:bodyPr/>
          <a:lstStyle/>
          <a:p>
            <a:r>
              <a:rPr lang="en-AU" sz="4800" dirty="0" smtClean="0"/>
              <a:t>Table 2.3</a:t>
            </a:r>
            <a:br>
              <a:rPr lang="en-AU" sz="4800" dirty="0" smtClean="0"/>
            </a:br>
            <a:r>
              <a:rPr lang="en-AU" sz="3200" dirty="0" smtClean="0"/>
              <a:t>Properties of Modular Arithmetic for Integers in Z</a:t>
            </a:r>
            <a:r>
              <a:rPr lang="en-AU" sz="3200" baseline="-25000" dirty="0" smtClean="0"/>
              <a:t>n</a:t>
            </a:r>
            <a:endParaRPr lang="en-US" sz="4400" baseline="-25000" dirty="0" smtClean="0"/>
          </a:p>
        </p:txBody>
      </p:sp>
      <p:pic>
        <p:nvPicPr>
          <p:cNvPr id="70659" name="Picture 5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4463" y="2286000"/>
            <a:ext cx="8999537" cy="396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5791200" cy="365125"/>
          </a:xfrm>
        </p:spPr>
        <p:txBody>
          <a:bodyPr/>
          <a:lstStyle/>
          <a:p>
            <a:pPr>
              <a:defRPr/>
            </a:pPr>
            <a:r>
              <a:rPr lang="en-US" sz="900" dirty="0" smtClean="0"/>
              <a:t>© 2017 Pearson Education, Inc., Hoboken, NJ. All rights reserved. </a:t>
            </a:r>
            <a:endParaRPr lang="en-US" sz="900" dirty="0"/>
          </a:p>
        </p:txBody>
      </p:sp>
      <p:sp>
        <p:nvSpPr>
          <p:cNvPr id="5" name="TextBox 5"/>
          <p:cNvSpPr txBox="1">
            <a:spLocks noChangeArrowheads="1"/>
          </p:cNvSpPr>
          <p:nvPr/>
        </p:nvSpPr>
        <p:spPr bwMode="auto">
          <a:xfrm>
            <a:off x="5562600" y="6400800"/>
            <a:ext cx="3447052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100" dirty="0"/>
              <a:t>(This table can be found on page</a:t>
            </a:r>
            <a:r>
              <a:rPr lang="en-US" sz="1100" dirty="0" smtClean="0"/>
              <a:t> 38 </a:t>
            </a:r>
            <a:r>
              <a:rPr lang="en-US" sz="1100" dirty="0"/>
              <a:t>in the textbook)</a:t>
            </a:r>
          </a:p>
        </p:txBody>
      </p:sp>
    </p:spTree>
  </p:cSld>
  <p:clrMapOvr>
    <a:masterClrMapping/>
  </p:clrMapOvr>
  <p:transition spd="med">
    <p:wipe dir="u"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Title 1"/>
          <p:cNvSpPr>
            <a:spLocks noGrp="1"/>
          </p:cNvSpPr>
          <p:nvPr>
            <p:ph type="title"/>
          </p:nvPr>
        </p:nvSpPr>
        <p:spPr>
          <a:xfrm>
            <a:off x="0" y="39688"/>
            <a:ext cx="9144000" cy="1412875"/>
          </a:xfrm>
        </p:spPr>
        <p:txBody>
          <a:bodyPr/>
          <a:lstStyle/>
          <a:p>
            <a:r>
              <a:rPr lang="en-US" dirty="0" smtClean="0"/>
              <a:t>Table 2.4</a:t>
            </a:r>
            <a:br>
              <a:rPr lang="en-US" dirty="0" smtClean="0"/>
            </a:br>
            <a:r>
              <a:rPr lang="en-US" sz="4000" dirty="0" smtClean="0"/>
              <a:t>Extended Euclidean Algorithm Example</a:t>
            </a:r>
            <a:endParaRPr lang="en-US" dirty="0" smtClean="0"/>
          </a:p>
        </p:txBody>
      </p:sp>
      <p:pic>
        <p:nvPicPr>
          <p:cNvPr id="72707" name="Picture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2400" y="2514600"/>
            <a:ext cx="8829675" cy="3298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2708" name="TextBox 5"/>
          <p:cNvSpPr txBox="1">
            <a:spLocks noChangeArrowheads="1"/>
          </p:cNvSpPr>
          <p:nvPr/>
        </p:nvSpPr>
        <p:spPr bwMode="auto">
          <a:xfrm>
            <a:off x="228600" y="5638800"/>
            <a:ext cx="3365500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dirty="0"/>
              <a:t>Result: </a:t>
            </a:r>
            <a:r>
              <a:rPr lang="en-US" i="1" dirty="0" err="1"/>
              <a:t>d</a:t>
            </a:r>
            <a:r>
              <a:rPr lang="en-US" dirty="0"/>
              <a:t> = 1; </a:t>
            </a:r>
            <a:r>
              <a:rPr lang="en-US" i="1" dirty="0" err="1"/>
              <a:t>x</a:t>
            </a:r>
            <a:r>
              <a:rPr lang="en-US" dirty="0"/>
              <a:t> = –111; </a:t>
            </a:r>
            <a:r>
              <a:rPr lang="en-US" i="1" dirty="0" err="1"/>
              <a:t>y</a:t>
            </a:r>
            <a:r>
              <a:rPr lang="en-US" dirty="0"/>
              <a:t> = 355</a:t>
            </a:r>
          </a:p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6934200" cy="365125"/>
          </a:xfrm>
        </p:spPr>
        <p:txBody>
          <a:bodyPr/>
          <a:lstStyle/>
          <a:p>
            <a:pPr>
              <a:defRPr/>
            </a:pPr>
            <a:r>
              <a:rPr lang="en-US" sz="900" dirty="0" smtClean="0"/>
              <a:t>© 2017 Pearson Education, Inc., Hoboken, NJ. All rights reserved. </a:t>
            </a:r>
            <a:endParaRPr lang="en-US" sz="900" dirty="0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4572000" y="6248400"/>
            <a:ext cx="4336794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400" dirty="0"/>
              <a:t>(This table can be found on page</a:t>
            </a:r>
            <a:r>
              <a:rPr lang="en-US" sz="1400" dirty="0" smtClean="0"/>
              <a:t> 43 </a:t>
            </a:r>
            <a:r>
              <a:rPr lang="en-US" sz="1400" dirty="0"/>
              <a:t>in the textbook)</a:t>
            </a:r>
          </a:p>
        </p:txBody>
      </p:sp>
    </p:spTree>
  </p:cSld>
  <p:clrMapOvr>
    <a:masterClrMapping/>
  </p:clrMapOvr>
  <p:transition spd="med">
    <p:wipe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Prime Numbers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idx="1"/>
          </p:nvPr>
        </p:nvSpPr>
        <p:spPr>
          <a:xfrm>
            <a:off x="792163" y="1762125"/>
            <a:ext cx="7570787" cy="4638675"/>
          </a:xfrm>
        </p:spPr>
        <p:txBody>
          <a:bodyPr rtlCol="0">
            <a:normAutofit fontScale="85000" lnSpcReduction="10000"/>
          </a:bodyPr>
          <a:lstStyle/>
          <a:p>
            <a:pPr fontAlgn="auto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AU" dirty="0" smtClean="0">
                <a:ea typeface="+mn-ea"/>
                <a:cs typeface="+mn-cs"/>
              </a:rPr>
              <a:t>Prime numbers only have divisors of 1 and itself </a:t>
            </a:r>
          </a:p>
          <a:p>
            <a:pPr lvl="1" fontAlgn="auto">
              <a:spcAft>
                <a:spcPts val="0"/>
              </a:spcAft>
              <a:buFont typeface="Candara" pitchFamily="34" charset="0"/>
              <a:buChar char="•"/>
              <a:defRPr/>
            </a:pPr>
            <a:r>
              <a:rPr lang="en-AU" dirty="0" smtClean="0">
                <a:ea typeface="+mn-ea"/>
              </a:rPr>
              <a:t>They cannot be written as a product of other numbers </a:t>
            </a:r>
          </a:p>
          <a:p>
            <a:pPr fontAlgn="auto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  <a:cs typeface="+mn-cs"/>
              </a:rPr>
              <a:t>Prime numbers are central to number theory</a:t>
            </a:r>
          </a:p>
          <a:p>
            <a:pPr fontAlgn="auto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  <a:cs typeface="+mn-cs"/>
              </a:rPr>
              <a:t> Any integer a &gt; 1 can be factored in a unique way as</a:t>
            </a:r>
          </a:p>
          <a:p>
            <a:pPr fontAlgn="auto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None/>
              <a:defRPr/>
            </a:pPr>
            <a:r>
              <a:rPr lang="en-US" dirty="0" smtClean="0">
                <a:ea typeface="+mn-ea"/>
                <a:cs typeface="+mn-cs"/>
              </a:rPr>
              <a:t>			a = </a:t>
            </a:r>
            <a:r>
              <a:rPr lang="en-US" baseline="-25000" dirty="0" smtClean="0">
                <a:ea typeface="+mn-ea"/>
                <a:cs typeface="+mn-cs"/>
              </a:rPr>
              <a:t>p1</a:t>
            </a:r>
            <a:r>
              <a:rPr lang="en-US" dirty="0" smtClean="0">
                <a:ea typeface="+mn-ea"/>
                <a:cs typeface="+mn-cs"/>
              </a:rPr>
              <a:t> </a:t>
            </a:r>
            <a:r>
              <a:rPr lang="en-US" baseline="30000" dirty="0" smtClean="0">
                <a:ea typeface="+mn-ea"/>
                <a:cs typeface="+mn-cs"/>
              </a:rPr>
              <a:t>a1</a:t>
            </a:r>
            <a:r>
              <a:rPr lang="en-US" dirty="0" smtClean="0">
                <a:ea typeface="+mn-ea"/>
                <a:cs typeface="+mn-cs"/>
              </a:rPr>
              <a:t> * p</a:t>
            </a:r>
            <a:r>
              <a:rPr lang="en-US" baseline="-25000" dirty="0" smtClean="0">
                <a:ea typeface="+mn-ea"/>
                <a:cs typeface="+mn-cs"/>
              </a:rPr>
              <a:t>2</a:t>
            </a:r>
            <a:r>
              <a:rPr lang="en-US" dirty="0" smtClean="0">
                <a:ea typeface="+mn-ea"/>
                <a:cs typeface="+mn-cs"/>
              </a:rPr>
              <a:t> </a:t>
            </a:r>
            <a:r>
              <a:rPr lang="en-US" sz="2857" baseline="30000" dirty="0" smtClean="0">
                <a:ea typeface="+mn-ea"/>
                <a:cs typeface="+mn-cs"/>
              </a:rPr>
              <a:t>a2</a:t>
            </a:r>
            <a:r>
              <a:rPr lang="en-US" dirty="0" smtClean="0">
                <a:ea typeface="+mn-ea"/>
                <a:cs typeface="+mn-cs"/>
              </a:rPr>
              <a:t> * . . . * p</a:t>
            </a:r>
            <a:r>
              <a:rPr lang="en-US" baseline="-25000" dirty="0" smtClean="0">
                <a:ea typeface="+mn-ea"/>
                <a:cs typeface="+mn-cs"/>
              </a:rPr>
              <a:t>p1</a:t>
            </a:r>
            <a:r>
              <a:rPr lang="en-US" dirty="0" smtClean="0">
                <a:ea typeface="+mn-ea"/>
                <a:cs typeface="+mn-cs"/>
              </a:rPr>
              <a:t> </a:t>
            </a:r>
            <a:r>
              <a:rPr lang="en-US" baseline="30000" dirty="0" smtClean="0">
                <a:ea typeface="+mn-ea"/>
                <a:cs typeface="+mn-cs"/>
              </a:rPr>
              <a:t>a1</a:t>
            </a:r>
            <a:r>
              <a:rPr lang="en-US" dirty="0" smtClean="0">
                <a:ea typeface="+mn-ea"/>
                <a:cs typeface="+mn-cs"/>
              </a:rPr>
              <a:t> </a:t>
            </a:r>
          </a:p>
          <a:p>
            <a:pPr fontAlgn="auto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None/>
              <a:defRPr/>
            </a:pPr>
            <a:r>
              <a:rPr lang="en-US" dirty="0" smtClean="0">
                <a:ea typeface="+mn-ea"/>
                <a:cs typeface="+mn-cs"/>
              </a:rPr>
              <a:t>	where p</a:t>
            </a:r>
            <a:r>
              <a:rPr lang="en-US" sz="2839" baseline="-25000" dirty="0" smtClean="0">
                <a:ea typeface="+mn-ea"/>
                <a:cs typeface="+mn-cs"/>
              </a:rPr>
              <a:t>1</a:t>
            </a:r>
            <a:r>
              <a:rPr lang="en-US" dirty="0" smtClean="0">
                <a:ea typeface="+mn-ea"/>
                <a:cs typeface="+mn-cs"/>
              </a:rPr>
              <a:t> &lt; p</a:t>
            </a:r>
            <a:r>
              <a:rPr lang="en-US" sz="2839" baseline="-25000" dirty="0" smtClean="0">
                <a:ea typeface="+mn-ea"/>
                <a:cs typeface="+mn-cs"/>
              </a:rPr>
              <a:t>2</a:t>
            </a:r>
            <a:r>
              <a:rPr lang="en-US" dirty="0" smtClean="0">
                <a:ea typeface="+mn-ea"/>
                <a:cs typeface="+mn-cs"/>
              </a:rPr>
              <a:t> &lt; . . .  &lt; p</a:t>
            </a:r>
            <a:r>
              <a:rPr lang="en-US" sz="2839" baseline="-25000" dirty="0" smtClean="0">
                <a:ea typeface="+mn-ea"/>
                <a:cs typeface="+mn-cs"/>
              </a:rPr>
              <a:t>t</a:t>
            </a:r>
            <a:r>
              <a:rPr lang="en-US" dirty="0" smtClean="0">
                <a:ea typeface="+mn-ea"/>
                <a:cs typeface="+mn-cs"/>
              </a:rPr>
              <a:t>  are prime numbers and where each a</a:t>
            </a:r>
            <a:r>
              <a:rPr lang="en-US" sz="2839" baseline="-25000" dirty="0" smtClean="0">
                <a:ea typeface="+mn-ea"/>
                <a:cs typeface="+mn-cs"/>
              </a:rPr>
              <a:t>i</a:t>
            </a:r>
            <a:r>
              <a:rPr lang="en-US" dirty="0" smtClean="0">
                <a:ea typeface="+mn-ea"/>
                <a:cs typeface="+mn-cs"/>
              </a:rPr>
              <a:t>  is a positive integer</a:t>
            </a:r>
          </a:p>
          <a:p>
            <a:pPr fontAlgn="auto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  <a:cs typeface="+mn-cs"/>
              </a:rPr>
              <a:t>This is known as the fundamental theorem of arithmetic</a:t>
            </a:r>
            <a:endParaRPr lang="en-AU" dirty="0" smtClean="0"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6934200" cy="365125"/>
          </a:xfrm>
        </p:spPr>
        <p:txBody>
          <a:bodyPr/>
          <a:lstStyle/>
          <a:p>
            <a:pPr>
              <a:defRPr/>
            </a:pPr>
            <a:r>
              <a:rPr lang="en-US" sz="900" dirty="0" smtClean="0"/>
              <a:t>© 2017 Pearson Education, Inc., Hoboken, NJ. All rights reserved. 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0" name="Picture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1000" y="914400"/>
            <a:ext cx="8369300" cy="5778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0" y="0"/>
            <a:ext cx="9144000" cy="954088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800" dirty="0">
                <a:latin typeface="+mn-lt"/>
              </a:rPr>
              <a:t>Table</a:t>
            </a:r>
            <a:r>
              <a:rPr lang="en-US" sz="2800" dirty="0" smtClean="0">
                <a:latin typeface="+mn-lt"/>
              </a:rPr>
              <a:t> 2.5 </a:t>
            </a:r>
            <a:endParaRPr lang="en-US" sz="2800" dirty="0">
              <a:latin typeface="+mn-lt"/>
            </a:endParaRPr>
          </a:p>
          <a:p>
            <a:pPr algn="ctr">
              <a:defRPr/>
            </a:pPr>
            <a:r>
              <a:rPr lang="en-US" sz="2800" dirty="0">
                <a:latin typeface="+mn-lt"/>
              </a:rPr>
              <a:t>Primes Under 2000 </a:t>
            </a: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6934200" cy="365125"/>
          </a:xfrm>
        </p:spPr>
        <p:txBody>
          <a:bodyPr/>
          <a:lstStyle/>
          <a:p>
            <a:pPr>
              <a:defRPr/>
            </a:pPr>
            <a:r>
              <a:rPr lang="en-US" sz="900" dirty="0" smtClean="0"/>
              <a:t>© 2017 Pearson Education, Inc., Hoboken, NJ. All rights reserved. </a:t>
            </a:r>
            <a:endParaRPr lang="en-US" sz="900" dirty="0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4807206" y="6550223"/>
            <a:ext cx="4336794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400" dirty="0"/>
              <a:t>(This table can be found on page</a:t>
            </a:r>
            <a:r>
              <a:rPr lang="en-US" sz="1400" dirty="0" smtClean="0"/>
              <a:t> 44 </a:t>
            </a:r>
            <a:r>
              <a:rPr lang="en-US" sz="1400" dirty="0"/>
              <a:t>in the textbook)</a:t>
            </a:r>
          </a:p>
        </p:txBody>
      </p:sp>
    </p:spTree>
  </p:cSld>
  <p:clrMapOvr>
    <a:masterClrMapping/>
  </p:clrMapOvr>
  <p:transition spd="med">
    <p:pull dir="ru"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Fermat's Theorem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idx="1"/>
          </p:nvPr>
        </p:nvSpPr>
        <p:spPr>
          <a:xfrm>
            <a:off x="914400" y="1905000"/>
            <a:ext cx="7570787" cy="4638675"/>
          </a:xfrm>
        </p:spPr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AU" dirty="0" smtClean="0">
                <a:ea typeface="+mn-ea"/>
                <a:cs typeface="+mn-cs"/>
              </a:rPr>
              <a:t>States the following:</a:t>
            </a:r>
          </a:p>
          <a:p>
            <a:pPr lvl="1" fontAlgn="auto">
              <a:spcAft>
                <a:spcPts val="0"/>
              </a:spcAft>
              <a:buFont typeface="Candara" pitchFamily="34" charset="0"/>
              <a:buChar char="•"/>
              <a:defRPr/>
            </a:pPr>
            <a:r>
              <a:rPr lang="en-AU" dirty="0" smtClean="0">
                <a:ea typeface="+mn-ea"/>
              </a:rPr>
              <a:t>If </a:t>
            </a:r>
            <a:r>
              <a:rPr lang="en-AU" i="1" dirty="0" smtClean="0">
                <a:ea typeface="+mn-ea"/>
              </a:rPr>
              <a:t>p </a:t>
            </a:r>
            <a:r>
              <a:rPr lang="en-AU" dirty="0" smtClean="0">
                <a:ea typeface="+mn-ea"/>
              </a:rPr>
              <a:t>is prime and </a:t>
            </a:r>
            <a:r>
              <a:rPr lang="en-AU" i="1" dirty="0" smtClean="0">
                <a:ea typeface="+mn-ea"/>
              </a:rPr>
              <a:t>a </a:t>
            </a:r>
            <a:r>
              <a:rPr lang="en-AU" dirty="0" smtClean="0">
                <a:ea typeface="+mn-ea"/>
              </a:rPr>
              <a:t>is a positive integer not divisible by </a:t>
            </a:r>
            <a:r>
              <a:rPr lang="en-AU" i="1" dirty="0" smtClean="0">
                <a:ea typeface="+mn-ea"/>
              </a:rPr>
              <a:t>p </a:t>
            </a:r>
            <a:r>
              <a:rPr lang="en-AU" dirty="0" smtClean="0">
                <a:ea typeface="+mn-ea"/>
              </a:rPr>
              <a:t>then</a:t>
            </a:r>
          </a:p>
          <a:p>
            <a:pPr fontAlgn="auto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None/>
              <a:defRPr/>
            </a:pPr>
            <a:r>
              <a:rPr lang="en-AU" dirty="0" smtClean="0">
                <a:ea typeface="+mn-ea"/>
                <a:cs typeface="+mn-cs"/>
              </a:rPr>
              <a:t>			a</a:t>
            </a:r>
            <a:r>
              <a:rPr lang="en-AU" baseline="30000" dirty="0" smtClean="0">
                <a:ea typeface="+mn-ea"/>
                <a:cs typeface="+mn-cs"/>
              </a:rPr>
              <a:t>p-1</a:t>
            </a:r>
            <a:r>
              <a:rPr lang="en-AU" dirty="0" smtClean="0">
                <a:ea typeface="+mn-ea"/>
                <a:cs typeface="+mn-cs"/>
              </a:rPr>
              <a:t> = 1 (mod </a:t>
            </a:r>
            <a:r>
              <a:rPr lang="en-AU" i="1" dirty="0" smtClean="0">
                <a:ea typeface="+mn-ea"/>
                <a:cs typeface="+mn-cs"/>
              </a:rPr>
              <a:t>p</a:t>
            </a:r>
            <a:r>
              <a:rPr lang="en-AU" dirty="0" smtClean="0">
                <a:ea typeface="+mn-ea"/>
                <a:cs typeface="+mn-cs"/>
              </a:rPr>
              <a:t>)</a:t>
            </a:r>
          </a:p>
          <a:p>
            <a:pPr fontAlgn="auto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  <a:cs typeface="+mn-cs"/>
              </a:rPr>
              <a:t>An alternate form is:</a:t>
            </a:r>
          </a:p>
          <a:p>
            <a:pPr lvl="1" fontAlgn="auto">
              <a:spcAft>
                <a:spcPts val="0"/>
              </a:spcAft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</a:rPr>
              <a:t>If </a:t>
            </a:r>
            <a:r>
              <a:rPr lang="en-US" i="1" dirty="0" smtClean="0">
                <a:ea typeface="+mn-ea"/>
              </a:rPr>
              <a:t>p </a:t>
            </a:r>
            <a:r>
              <a:rPr lang="en-US" dirty="0" smtClean="0">
                <a:ea typeface="+mn-ea"/>
              </a:rPr>
              <a:t>is prime and </a:t>
            </a:r>
            <a:r>
              <a:rPr lang="en-US" i="1" dirty="0" smtClean="0">
                <a:ea typeface="+mn-ea"/>
              </a:rPr>
              <a:t>a </a:t>
            </a:r>
            <a:r>
              <a:rPr lang="en-US" dirty="0" smtClean="0">
                <a:ea typeface="+mn-ea"/>
              </a:rPr>
              <a:t>is a positive integer then</a:t>
            </a:r>
          </a:p>
          <a:p>
            <a:pPr fontAlgn="auto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None/>
              <a:defRPr/>
            </a:pPr>
            <a:r>
              <a:rPr lang="en-US" dirty="0" smtClean="0">
                <a:ea typeface="+mn-ea"/>
                <a:cs typeface="+mn-cs"/>
              </a:rPr>
              <a:t>			 </a:t>
            </a:r>
            <a:r>
              <a:rPr lang="en-AU" i="1" dirty="0" smtClean="0">
                <a:ea typeface="+mn-ea"/>
                <a:cs typeface="+mn-cs"/>
              </a:rPr>
              <a:t>a</a:t>
            </a:r>
            <a:r>
              <a:rPr lang="en-AU" baseline="30000" dirty="0" smtClean="0">
                <a:ea typeface="+mn-ea"/>
                <a:cs typeface="+mn-cs"/>
              </a:rPr>
              <a:t>p</a:t>
            </a:r>
            <a:r>
              <a:rPr lang="en-AU" dirty="0" smtClean="0">
                <a:ea typeface="+mn-ea"/>
                <a:cs typeface="+mn-cs"/>
              </a:rPr>
              <a:t> = </a:t>
            </a:r>
            <a:r>
              <a:rPr lang="en-AU" i="1" dirty="0" smtClean="0">
                <a:ea typeface="+mn-ea"/>
                <a:cs typeface="+mn-cs"/>
              </a:rPr>
              <a:t>a</a:t>
            </a:r>
            <a:r>
              <a:rPr lang="en-AU" dirty="0" smtClean="0">
                <a:ea typeface="+mn-ea"/>
                <a:cs typeface="+mn-cs"/>
              </a:rPr>
              <a:t> (mod </a:t>
            </a:r>
            <a:r>
              <a:rPr lang="en-AU" i="1" dirty="0" err="1" smtClean="0">
                <a:ea typeface="+mn-ea"/>
                <a:cs typeface="+mn-cs"/>
              </a:rPr>
              <a:t>p</a:t>
            </a:r>
            <a:r>
              <a:rPr lang="en-AU" dirty="0" smtClean="0">
                <a:ea typeface="+mn-ea"/>
                <a:cs typeface="+mn-cs"/>
              </a:rPr>
              <a:t>)</a:t>
            </a:r>
            <a:endParaRPr lang="en-US" dirty="0" smtClean="0">
              <a:ea typeface="+mn-ea"/>
              <a:cs typeface="+mn-cs"/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6934200" cy="365125"/>
          </a:xfrm>
        </p:spPr>
        <p:txBody>
          <a:bodyPr/>
          <a:lstStyle/>
          <a:p>
            <a:pPr>
              <a:defRPr/>
            </a:pPr>
            <a:r>
              <a:rPr lang="en-US" sz="900" dirty="0" smtClean="0"/>
              <a:t>© 2017 Pearson Education, Inc., Hoboken, NJ. All rights reserved. 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9688"/>
            <a:ext cx="9144000" cy="1412875"/>
          </a:xfrm>
        </p:spPr>
        <p:txBody>
          <a:bodyPr/>
          <a:lstStyle/>
          <a:p>
            <a:pPr>
              <a:lnSpc>
                <a:spcPts val="4800"/>
              </a:lnSpc>
            </a:pPr>
            <a:r>
              <a:rPr lang="en-AU" sz="4400" dirty="0" smtClean="0"/>
              <a:t>Table 2.6</a:t>
            </a:r>
            <a:br>
              <a:rPr lang="en-AU" sz="4400" dirty="0" smtClean="0"/>
            </a:br>
            <a:r>
              <a:rPr lang="en-AU" sz="3600" dirty="0" smtClean="0"/>
              <a:t>Some Values of Euler’s </a:t>
            </a:r>
            <a:r>
              <a:rPr lang="en-AU" sz="3600" dirty="0" err="1" smtClean="0"/>
              <a:t>Totient</a:t>
            </a:r>
            <a:r>
              <a:rPr lang="en-AU" sz="3600" dirty="0" smtClean="0"/>
              <a:t> Function </a:t>
            </a:r>
            <a:r>
              <a:rPr lang="en-AU" sz="3600" i="1" dirty="0" err="1" smtClean="0"/>
              <a:t>ø(n</a:t>
            </a:r>
            <a:r>
              <a:rPr lang="en-AU" sz="3600" i="1" dirty="0" smtClean="0"/>
              <a:t>)</a:t>
            </a:r>
            <a:endParaRPr lang="en-AU" sz="4400" i="1" dirty="0" smtClean="0"/>
          </a:p>
        </p:txBody>
      </p:sp>
      <p:pic>
        <p:nvPicPr>
          <p:cNvPr id="41987" name="Picture 8"/>
          <p:cNvPicPr>
            <a:picLocks noChangeAspect="1"/>
          </p:cNvPicPr>
          <p:nvPr/>
        </p:nvPicPr>
        <p:blipFill>
          <a:blip r:embed="rId3"/>
          <a:srcRect l="13585" t="-2904" r="15094"/>
          <a:stretch>
            <a:fillRect/>
          </a:stretch>
        </p:blipFill>
        <p:spPr bwMode="auto">
          <a:xfrm>
            <a:off x="1295400" y="1600200"/>
            <a:ext cx="6645275" cy="49847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6934200" cy="365125"/>
          </a:xfrm>
        </p:spPr>
        <p:txBody>
          <a:bodyPr/>
          <a:lstStyle/>
          <a:p>
            <a:pPr>
              <a:defRPr/>
            </a:pPr>
            <a:r>
              <a:rPr lang="en-US" sz="900" dirty="0" smtClean="0"/>
              <a:t>© 2017 Pearson Education, Inc., Hoboken, NJ. All rights reserved. </a:t>
            </a:r>
            <a:endParaRPr lang="en-US" sz="900" dirty="0"/>
          </a:p>
        </p:txBody>
      </p:sp>
      <p:sp>
        <p:nvSpPr>
          <p:cNvPr id="5" name="TextBox 5"/>
          <p:cNvSpPr txBox="1">
            <a:spLocks noChangeArrowheads="1"/>
          </p:cNvSpPr>
          <p:nvPr/>
        </p:nvSpPr>
        <p:spPr bwMode="auto">
          <a:xfrm>
            <a:off x="4807206" y="6550223"/>
            <a:ext cx="4336794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400" dirty="0"/>
              <a:t>(This table can be found on page</a:t>
            </a:r>
            <a:r>
              <a:rPr lang="en-US" sz="1400" dirty="0" smtClean="0"/>
              <a:t> 48 </a:t>
            </a:r>
            <a:r>
              <a:rPr lang="en-US" sz="1400" dirty="0"/>
              <a:t>in the textbook)</a:t>
            </a:r>
          </a:p>
        </p:txBody>
      </p:sp>
    </p:spTree>
  </p:cSld>
  <p:clrMapOvr>
    <a:masterClrMapping/>
  </p:clrMapOvr>
  <p:transition spd="med">
    <p:wipe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Euler's Theorem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2209800"/>
            <a:ext cx="7570788" cy="4419600"/>
          </a:xfrm>
        </p:spPr>
        <p:txBody>
          <a:bodyPr/>
          <a:lstStyle/>
          <a:p>
            <a:r>
              <a:rPr lang="en-AU" dirty="0" smtClean="0"/>
              <a:t>States that for every </a:t>
            </a:r>
            <a:r>
              <a:rPr lang="en-AU" i="1" dirty="0" smtClean="0"/>
              <a:t>a </a:t>
            </a:r>
            <a:r>
              <a:rPr lang="en-AU" dirty="0" smtClean="0"/>
              <a:t>and </a:t>
            </a:r>
            <a:r>
              <a:rPr lang="en-AU" i="1" dirty="0" err="1" smtClean="0"/>
              <a:t>n</a:t>
            </a:r>
            <a:r>
              <a:rPr lang="en-AU" i="1" dirty="0" smtClean="0"/>
              <a:t> </a:t>
            </a:r>
            <a:r>
              <a:rPr lang="en-AU" dirty="0" smtClean="0"/>
              <a:t>that are relatively prime:</a:t>
            </a:r>
          </a:p>
          <a:p>
            <a:pPr>
              <a:buFont typeface="Candara" pitchFamily="-84" charset="0"/>
              <a:buNone/>
            </a:pPr>
            <a:r>
              <a:rPr lang="en-AU" dirty="0" smtClean="0"/>
              <a:t>			</a:t>
            </a:r>
            <a:r>
              <a:rPr lang="en-US" i="1" dirty="0" smtClean="0">
                <a:solidFill>
                  <a:schemeClr val="tx1"/>
                </a:solidFill>
              </a:rPr>
              <a:t>a</a:t>
            </a:r>
            <a:r>
              <a:rPr lang="en-AU" baseline="30000" dirty="0" err="1" smtClean="0"/>
              <a:t>ø</a:t>
            </a:r>
            <a:r>
              <a:rPr lang="en-US" baseline="30000" dirty="0" smtClean="0">
                <a:solidFill>
                  <a:schemeClr val="tx1"/>
                </a:solidFill>
              </a:rPr>
              <a:t>(</a:t>
            </a:r>
            <a:r>
              <a:rPr lang="en-US" baseline="30000" dirty="0" err="1" smtClean="0">
                <a:solidFill>
                  <a:schemeClr val="tx1"/>
                </a:solidFill>
              </a:rPr>
              <a:t>n</a:t>
            </a:r>
            <a:r>
              <a:rPr lang="en-US" baseline="30000" dirty="0" smtClean="0">
                <a:solidFill>
                  <a:schemeClr val="tx1"/>
                </a:solidFill>
              </a:rPr>
              <a:t>) </a:t>
            </a:r>
            <a:r>
              <a:rPr lang="en-US" dirty="0" smtClean="0">
                <a:solidFill>
                  <a:schemeClr val="tx1"/>
                </a:solidFill>
              </a:rPr>
              <a:t>=  1(mod </a:t>
            </a:r>
            <a:r>
              <a:rPr lang="en-US" i="1" dirty="0" err="1" smtClean="0">
                <a:solidFill>
                  <a:schemeClr val="tx1"/>
                </a:solidFill>
              </a:rPr>
              <a:t>n</a:t>
            </a:r>
            <a:r>
              <a:rPr lang="en-US" dirty="0" smtClean="0">
                <a:solidFill>
                  <a:schemeClr val="tx1"/>
                </a:solidFill>
              </a:rPr>
              <a:t>)</a:t>
            </a:r>
          </a:p>
          <a:p>
            <a:r>
              <a:rPr lang="en-US" dirty="0" smtClean="0"/>
              <a:t>An alternative form is:</a:t>
            </a:r>
          </a:p>
          <a:p>
            <a:pPr>
              <a:buFont typeface="Candara" pitchFamily="-84" charset="0"/>
              <a:buNone/>
            </a:pPr>
            <a:r>
              <a:rPr lang="en-US" dirty="0" smtClean="0"/>
              <a:t>			</a:t>
            </a:r>
            <a:r>
              <a:rPr lang="en-US" i="1" dirty="0" smtClean="0">
                <a:solidFill>
                  <a:schemeClr val="tx1"/>
                </a:solidFill>
              </a:rPr>
              <a:t>a</a:t>
            </a:r>
            <a:r>
              <a:rPr lang="en-AU" baseline="30000" dirty="0" err="1" smtClean="0"/>
              <a:t>ø</a:t>
            </a:r>
            <a:r>
              <a:rPr lang="en-US" baseline="30000" dirty="0" smtClean="0">
                <a:solidFill>
                  <a:schemeClr val="tx1"/>
                </a:solidFill>
              </a:rPr>
              <a:t>(n)+1 </a:t>
            </a:r>
            <a:r>
              <a:rPr lang="en-US" dirty="0" smtClean="0">
                <a:solidFill>
                  <a:schemeClr val="tx1"/>
                </a:solidFill>
              </a:rPr>
              <a:t>=  </a:t>
            </a:r>
            <a:r>
              <a:rPr lang="en-US" i="1" dirty="0" err="1" smtClean="0">
                <a:solidFill>
                  <a:schemeClr val="tx1"/>
                </a:solidFill>
              </a:rPr>
              <a:t>a</a:t>
            </a:r>
            <a:r>
              <a:rPr lang="en-US" dirty="0" err="1" smtClean="0">
                <a:solidFill>
                  <a:schemeClr val="tx1"/>
                </a:solidFill>
              </a:rPr>
              <a:t>(mod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i="1" dirty="0" err="1" smtClean="0">
                <a:solidFill>
                  <a:schemeClr val="tx1"/>
                </a:solidFill>
              </a:rPr>
              <a:t>n</a:t>
            </a:r>
            <a:r>
              <a:rPr lang="en-US" dirty="0" smtClean="0">
                <a:solidFill>
                  <a:schemeClr val="tx1"/>
                </a:solidFill>
              </a:rPr>
              <a:t>)</a:t>
            </a:r>
            <a:endParaRPr lang="en-US" dirty="0" smtClean="0"/>
          </a:p>
          <a:p>
            <a:pPr>
              <a:buFont typeface="Candara" pitchFamily="-84" charset="0"/>
              <a:buNone/>
            </a:pPr>
            <a:endParaRPr lang="en-AU" dirty="0" smtClean="0"/>
          </a:p>
          <a:p>
            <a:pPr lvl="1"/>
            <a:endParaRPr lang="en-AU" dirty="0" smtClean="0"/>
          </a:p>
          <a:p>
            <a:endParaRPr lang="en-AU" dirty="0" smtClean="0"/>
          </a:p>
          <a:p>
            <a:endParaRPr lang="en-AU" dirty="0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6934200" cy="365125"/>
          </a:xfrm>
        </p:spPr>
        <p:txBody>
          <a:bodyPr/>
          <a:lstStyle/>
          <a:p>
            <a:pPr>
              <a:defRPr/>
            </a:pPr>
            <a:r>
              <a:rPr lang="en-US" sz="900" dirty="0" smtClean="0"/>
              <a:t>© 2017 Pearson Education, Inc., Hoboken, NJ. All rights reserved. 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Miller-Rabin Algorithm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524001"/>
            <a:ext cx="8001000" cy="1981200"/>
          </a:xfrm>
        </p:spPr>
        <p:txBody>
          <a:bodyPr rtlCol="0">
            <a:normAutofit fontScale="85000" lnSpcReduction="20000"/>
          </a:bodyPr>
          <a:lstStyle/>
          <a:p>
            <a:pPr fontAlgn="auto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  <a:cs typeface="+mn-cs"/>
              </a:rPr>
              <a:t>Typically used to test a large number for primality</a:t>
            </a:r>
          </a:p>
          <a:p>
            <a:pPr fontAlgn="auto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  <a:cs typeface="+mn-cs"/>
              </a:rPr>
              <a:t>Algorithm is:</a:t>
            </a:r>
            <a:endParaRPr lang="en-AU" dirty="0" smtClean="0">
              <a:ea typeface="+mn-ea"/>
              <a:cs typeface="+mn-cs"/>
            </a:endParaRPr>
          </a:p>
          <a:p>
            <a:pPr lvl="1" fontAlgn="auto">
              <a:lnSpc>
                <a:spcPct val="150000"/>
              </a:lnSpc>
              <a:spcAft>
                <a:spcPts val="0"/>
              </a:spcAft>
              <a:buFont typeface="Candara" pitchFamily="34" charset="0"/>
              <a:buNone/>
              <a:defRPr/>
            </a:pPr>
            <a:r>
              <a:rPr lang="en-AU" dirty="0" smtClean="0">
                <a:ea typeface="+mn-ea"/>
              </a:rPr>
              <a:t>TEST (</a:t>
            </a:r>
            <a:r>
              <a:rPr lang="en-AU" i="1" dirty="0" smtClean="0">
                <a:ea typeface="+mn-ea"/>
              </a:rPr>
              <a:t>n</a:t>
            </a:r>
            <a:r>
              <a:rPr lang="en-AU" dirty="0" smtClean="0">
                <a:ea typeface="+mn-ea"/>
              </a:rPr>
              <a:t>) </a:t>
            </a:r>
          </a:p>
          <a:p>
            <a:pPr lvl="1" fontAlgn="auto">
              <a:lnSpc>
                <a:spcPct val="150000"/>
              </a:lnSpc>
              <a:spcAft>
                <a:spcPts val="0"/>
              </a:spcAft>
              <a:buFont typeface="Candara" pitchFamily="34" charset="0"/>
              <a:buNone/>
              <a:defRPr/>
            </a:pPr>
            <a:r>
              <a:rPr lang="en-AU" dirty="0" smtClean="0">
                <a:ea typeface="+mn-ea"/>
              </a:rPr>
              <a:t>	</a:t>
            </a:r>
            <a:endParaRPr lang="en-AU" dirty="0">
              <a:ea typeface="+mn-ea"/>
              <a:cs typeface="+mn-cs"/>
            </a:endParaRPr>
          </a:p>
        </p:txBody>
      </p:sp>
      <p:graphicFrame>
        <p:nvGraphicFramePr>
          <p:cNvPr id="4" name="Diagram 3"/>
          <p:cNvGraphicFramePr/>
          <p:nvPr/>
        </p:nvGraphicFramePr>
        <p:xfrm>
          <a:off x="990600" y="3124200"/>
          <a:ext cx="7086600" cy="3352800"/>
        </p:xfrm>
        <a:graphic>
          <a:graphicData uri="http://schemas.openxmlformats.org/drawingml/2006/diagram">
            <a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6934200" cy="365125"/>
          </a:xfrm>
        </p:spPr>
        <p:txBody>
          <a:bodyPr/>
          <a:lstStyle/>
          <a:p>
            <a:pPr>
              <a:defRPr/>
            </a:pPr>
            <a:r>
              <a:rPr lang="en-US" sz="900" dirty="0" smtClean="0"/>
              <a:t>© 2017 Pearson Education, Inc., Hoboken, NJ. All rights reserved. 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le 7"/>
          <p:cNvSpPr>
            <a:spLocks noGrp="1"/>
          </p:cNvSpPr>
          <p:nvPr>
            <p:ph type="title"/>
          </p:nvPr>
        </p:nvSpPr>
        <p:spPr>
          <a:xfrm>
            <a:off x="0" y="39688"/>
            <a:ext cx="9144000" cy="1412875"/>
          </a:xfrm>
        </p:spPr>
        <p:txBody>
          <a:bodyPr/>
          <a:lstStyle/>
          <a:p>
            <a:r>
              <a:rPr lang="en-US" sz="4800" smtClean="0"/>
              <a:t>Deterministic Primality Algorithm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792163" y="1762125"/>
            <a:ext cx="7570787" cy="4638675"/>
          </a:xfrm>
        </p:spPr>
        <p:txBody>
          <a:bodyPr rtlCol="0">
            <a:normAutofit fontScale="92500" lnSpcReduction="20000"/>
          </a:bodyPr>
          <a:lstStyle/>
          <a:p>
            <a:pPr fontAlgn="auto">
              <a:spcBef>
                <a:spcPts val="18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  <a:cs typeface="+mn-cs"/>
              </a:rPr>
              <a:t>Prior to 2002 there was no known method of efficiently proving the primality of very large numbers</a:t>
            </a:r>
          </a:p>
          <a:p>
            <a:pPr fontAlgn="auto">
              <a:spcBef>
                <a:spcPts val="18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  <a:cs typeface="+mn-cs"/>
              </a:rPr>
              <a:t>All of the algorithms in use produced a probabilistic result</a:t>
            </a:r>
          </a:p>
          <a:p>
            <a:pPr fontAlgn="auto">
              <a:spcBef>
                <a:spcPts val="18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  <a:cs typeface="+mn-cs"/>
              </a:rPr>
              <a:t>In 2002 Agrawal, Kayal, and Saxena developed an algorithm that efficiently determines whether a given large number is prime</a:t>
            </a:r>
          </a:p>
          <a:p>
            <a:pPr lvl="1" fontAlgn="auto">
              <a:lnSpc>
                <a:spcPct val="110000"/>
              </a:lnSpc>
              <a:spcAft>
                <a:spcPts val="0"/>
              </a:spcAft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</a:rPr>
              <a:t>Known as the AKS algorithm</a:t>
            </a:r>
          </a:p>
          <a:p>
            <a:pPr lvl="1" fontAlgn="auto">
              <a:lnSpc>
                <a:spcPct val="110000"/>
              </a:lnSpc>
              <a:spcAft>
                <a:spcPts val="0"/>
              </a:spcAft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</a:rPr>
              <a:t>Does not appear to be as efficient as                         the Miller-Rabin algorithm</a:t>
            </a:r>
            <a:endParaRPr lang="en-US" dirty="0">
              <a:ea typeface="+mn-ea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0400" y="4634205"/>
            <a:ext cx="1981200" cy="2223796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6934200" cy="365125"/>
          </a:xfrm>
        </p:spPr>
        <p:txBody>
          <a:bodyPr/>
          <a:lstStyle/>
          <a:p>
            <a:pPr>
              <a:defRPr/>
            </a:pPr>
            <a:r>
              <a:rPr lang="en-US" sz="900" dirty="0" smtClean="0"/>
              <a:t>© 2017 Pearson Education, Inc., Hoboken, NJ. All rights reserved. 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9688"/>
            <a:ext cx="9144000" cy="1412875"/>
          </a:xfrm>
        </p:spPr>
        <p:txBody>
          <a:bodyPr/>
          <a:lstStyle/>
          <a:p>
            <a:r>
              <a:rPr lang="en-AU" sz="4400" smtClean="0"/>
              <a:t>Chinese Remainder Theorem (CRT)</a:t>
            </a:r>
          </a:p>
        </p:txBody>
      </p:sp>
      <p:sp>
        <p:nvSpPr>
          <p:cNvPr id="59395" name="Rectangle 3"/>
          <p:cNvSpPr>
            <a:spLocks noGrp="1" noChangeArrowheads="1"/>
          </p:cNvSpPr>
          <p:nvPr>
            <p:ph idx="1"/>
          </p:nvPr>
        </p:nvSpPr>
        <p:spPr>
          <a:xfrm>
            <a:off x="762000" y="1828800"/>
            <a:ext cx="7570788" cy="2819400"/>
          </a:xfrm>
        </p:spPr>
        <p:txBody>
          <a:bodyPr rtlCol="0">
            <a:normAutofit fontScale="70000" lnSpcReduction="20000"/>
          </a:bodyPr>
          <a:lstStyle/>
          <a:p>
            <a:pPr fontAlgn="auto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AU" dirty="0" smtClean="0">
                <a:ea typeface="+mn-ea"/>
                <a:cs typeface="+mn-cs"/>
              </a:rPr>
              <a:t>Believed to have been discovered by the Chinese mathematician Sun-Tsu in around 100 A.D.</a:t>
            </a:r>
          </a:p>
          <a:p>
            <a:pPr fontAlgn="auto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AU" dirty="0" smtClean="0">
                <a:ea typeface="+mn-ea"/>
                <a:cs typeface="+mn-cs"/>
              </a:rPr>
              <a:t>One of the most useful results of number theory</a:t>
            </a:r>
          </a:p>
          <a:p>
            <a:pPr fontAlgn="auto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AU" dirty="0" smtClean="0">
                <a:ea typeface="+mn-ea"/>
                <a:cs typeface="+mn-cs"/>
              </a:rPr>
              <a:t>Says it is possible to reconstruct integers in a certain range from their residues modulo a set of pairwise relatively prime moduli</a:t>
            </a:r>
          </a:p>
          <a:p>
            <a:pPr fontAlgn="auto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AU" dirty="0" smtClean="0">
                <a:ea typeface="+mn-ea"/>
                <a:cs typeface="+mn-cs"/>
              </a:rPr>
              <a:t>Can be stated in several ways</a:t>
            </a:r>
          </a:p>
          <a:p>
            <a:pPr fontAlgn="auto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endParaRPr lang="en-AU" dirty="0">
              <a:ea typeface="+mn-ea"/>
              <a:cs typeface="+mn-cs"/>
            </a:endParaRPr>
          </a:p>
        </p:txBody>
      </p:sp>
      <p:graphicFrame>
        <p:nvGraphicFramePr>
          <p:cNvPr id="4" name="Diagram 3"/>
          <p:cNvGraphicFramePr/>
          <p:nvPr/>
        </p:nvGraphicFramePr>
        <p:xfrm>
          <a:off x="1676400" y="4572000"/>
          <a:ext cx="5867400" cy="1879600"/>
        </p:xfrm>
        <a:graphic>
          <a:graphicData uri="http://schemas.openxmlformats.org/drawingml/2006/diagram">
            <a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1000" y="4284296"/>
            <a:ext cx="762000" cy="2227384"/>
          </a:xfrm>
          <a:prstGeom prst="rect">
            <a:avLst/>
          </a:prstGeom>
        </p:spPr>
      </p:pic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6934200" cy="365125"/>
          </a:xfrm>
        </p:spPr>
        <p:txBody>
          <a:bodyPr/>
          <a:lstStyle/>
          <a:p>
            <a:pPr>
              <a:defRPr/>
            </a:pPr>
            <a:r>
              <a:rPr lang="en-US" sz="900" dirty="0" smtClean="0"/>
              <a:t>© 2017 Pearson Education, Inc., Hoboken, NJ. All rights reserved. 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26" name="Picture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1000" y="1066800"/>
            <a:ext cx="8356600" cy="54737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</p:pic>
      <p:sp>
        <p:nvSpPr>
          <p:cNvPr id="8" name="Rectangle 7"/>
          <p:cNvSpPr/>
          <p:nvPr/>
        </p:nvSpPr>
        <p:spPr>
          <a:xfrm>
            <a:off x="1485900" y="1"/>
            <a:ext cx="6132513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200" dirty="0">
                <a:solidFill>
                  <a:schemeClr val="tx2"/>
                </a:solidFill>
                <a:latin typeface="+mn-lt"/>
                <a:ea typeface="+mj-ea"/>
                <a:cs typeface="+mj-cs"/>
              </a:rPr>
              <a:t>Table</a:t>
            </a:r>
            <a:r>
              <a:rPr lang="en-US" sz="3200" dirty="0" smtClean="0">
                <a:solidFill>
                  <a:schemeClr val="tx2"/>
                </a:solidFill>
                <a:latin typeface="+mn-lt"/>
                <a:ea typeface="+mj-ea"/>
                <a:cs typeface="+mj-cs"/>
              </a:rPr>
              <a:t> 2.7  </a:t>
            </a:r>
            <a:endParaRPr lang="en-US" sz="3200" dirty="0">
              <a:solidFill>
                <a:schemeClr val="tx2"/>
              </a:solidFill>
              <a:latin typeface="+mn-lt"/>
              <a:ea typeface="+mj-ea"/>
              <a:cs typeface="+mj-cs"/>
            </a:endParaRPr>
          </a:p>
          <a:p>
            <a:pPr algn="ctr">
              <a:defRPr/>
            </a:pPr>
            <a:r>
              <a:rPr lang="en-US" sz="2400" dirty="0">
                <a:solidFill>
                  <a:schemeClr val="tx2"/>
                </a:solidFill>
                <a:latin typeface="+mn-lt"/>
                <a:ea typeface="+mj-ea"/>
                <a:cs typeface="+mj-cs"/>
              </a:rPr>
              <a:t>Powers of Integers, Modulo 19 </a:t>
            </a: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6934200" cy="365125"/>
          </a:xfrm>
        </p:spPr>
        <p:txBody>
          <a:bodyPr/>
          <a:lstStyle/>
          <a:p>
            <a:pPr>
              <a:defRPr/>
            </a:pPr>
            <a:r>
              <a:rPr lang="en-US" sz="900" dirty="0" smtClean="0"/>
              <a:t>© 2017 Pearson Education, Inc., Hoboken, NJ. All rights reserved. </a:t>
            </a:r>
            <a:endParaRPr lang="en-US" sz="900" dirty="0"/>
          </a:p>
        </p:txBody>
      </p:sp>
      <p:sp>
        <p:nvSpPr>
          <p:cNvPr id="5" name="TextBox 5"/>
          <p:cNvSpPr txBox="1">
            <a:spLocks noChangeArrowheads="1"/>
          </p:cNvSpPr>
          <p:nvPr/>
        </p:nvSpPr>
        <p:spPr bwMode="auto">
          <a:xfrm>
            <a:off x="5391826" y="6550223"/>
            <a:ext cx="3752174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400" dirty="0"/>
              <a:t>(</a:t>
            </a:r>
            <a:r>
              <a:rPr lang="en-US" sz="1200" dirty="0"/>
              <a:t>This table can be found on page</a:t>
            </a:r>
            <a:r>
              <a:rPr lang="en-US" sz="1200" dirty="0" smtClean="0"/>
              <a:t> 57 </a:t>
            </a:r>
            <a:r>
              <a:rPr lang="en-US" sz="1200" dirty="0"/>
              <a:t>in the textbook)</a:t>
            </a: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274" name="Picture 6"/>
          <p:cNvPicPr>
            <a:picLocks noChangeAspect="1"/>
          </p:cNvPicPr>
          <p:nvPr/>
        </p:nvPicPr>
        <p:blipFill>
          <a:blip r:embed="rId3"/>
          <a:srcRect b="4726"/>
          <a:stretch>
            <a:fillRect/>
          </a:stretch>
        </p:blipFill>
        <p:spPr bwMode="auto">
          <a:xfrm>
            <a:off x="0" y="304800"/>
            <a:ext cx="8763000" cy="58067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4275" name="Picture 7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28600" y="6134100"/>
            <a:ext cx="8343900" cy="723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6934200" cy="365125"/>
          </a:xfrm>
        </p:spPr>
        <p:txBody>
          <a:bodyPr/>
          <a:lstStyle/>
          <a:p>
            <a:pPr>
              <a:defRPr/>
            </a:pPr>
            <a:r>
              <a:rPr lang="en-US" sz="900" dirty="0" smtClean="0"/>
              <a:t>© 2017 Pearson Education, Inc., Hoboken, NJ. All rights reserved. </a:t>
            </a:r>
            <a:endParaRPr lang="en-US" sz="90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0"/>
            <a:ext cx="9144000" cy="73866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2400" dirty="0" smtClean="0">
                <a:solidFill>
                  <a:schemeClr val="tx2"/>
                </a:solidFill>
                <a:latin typeface="+mn-lt"/>
              </a:rPr>
              <a:t>Table 2.8  </a:t>
            </a:r>
          </a:p>
          <a:p>
            <a:pPr algn="ctr">
              <a:defRPr/>
            </a:pPr>
            <a:r>
              <a:rPr lang="en-US" dirty="0" smtClean="0">
                <a:solidFill>
                  <a:schemeClr val="tx2"/>
                </a:solidFill>
                <a:latin typeface="+mn-lt"/>
              </a:rPr>
              <a:t>Tables of Discrete Logarithms, Modulo 19 </a:t>
            </a:r>
            <a:endParaRPr lang="en-US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5400367" y="6581001"/>
            <a:ext cx="3743633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200" dirty="0"/>
              <a:t>(This table can be found on page</a:t>
            </a:r>
            <a:r>
              <a:rPr lang="en-US" sz="1200" dirty="0" smtClean="0"/>
              <a:t> 60 </a:t>
            </a:r>
            <a:r>
              <a:rPr lang="en-US" sz="1200" dirty="0"/>
              <a:t>in the textbook)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Summary</a:t>
            </a:r>
            <a:endParaRPr lang="en-AU" smtClean="0"/>
          </a:p>
        </p:txBody>
      </p:sp>
      <p:sp>
        <p:nvSpPr>
          <p:cNvPr id="130051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152400" y="1447800"/>
            <a:ext cx="3870325" cy="5083175"/>
          </a:xfrm>
        </p:spPr>
        <p:txBody>
          <a:bodyPr>
            <a:noAutofit/>
          </a:bodyPr>
          <a:lstStyle/>
          <a:p>
            <a:r>
              <a:rPr lang="en-US" sz="1800" dirty="0" smtClean="0"/>
              <a:t>Divisibility and the division algorithm</a:t>
            </a:r>
          </a:p>
          <a:p>
            <a:r>
              <a:rPr lang="en-US" sz="1800" dirty="0" smtClean="0"/>
              <a:t>The Euclidean algorithm</a:t>
            </a:r>
          </a:p>
          <a:p>
            <a:pPr lvl="1"/>
            <a:r>
              <a:rPr lang="en-US" sz="1600" dirty="0" smtClean="0"/>
              <a:t>Greatest Common Divisor</a:t>
            </a:r>
          </a:p>
          <a:p>
            <a:pPr lvl="1"/>
            <a:r>
              <a:rPr lang="en-US" sz="1600" dirty="0" smtClean="0"/>
              <a:t>Finding the Greatest Common Divisor</a:t>
            </a:r>
          </a:p>
          <a:p>
            <a:r>
              <a:rPr lang="en-US" sz="1800" dirty="0" smtClean="0"/>
              <a:t>Modular arithmetic</a:t>
            </a:r>
          </a:p>
          <a:p>
            <a:pPr lvl="1"/>
            <a:r>
              <a:rPr lang="en-US" sz="1600" dirty="0" smtClean="0"/>
              <a:t>The modulus</a:t>
            </a:r>
          </a:p>
          <a:p>
            <a:pPr lvl="1"/>
            <a:r>
              <a:rPr lang="en-US" sz="1600" dirty="0" smtClean="0"/>
              <a:t>Properties of </a:t>
            </a:r>
            <a:r>
              <a:rPr lang="en-US" sz="1600" dirty="0" err="1" smtClean="0"/>
              <a:t>congruences</a:t>
            </a:r>
            <a:endParaRPr lang="en-US" sz="1600" dirty="0" smtClean="0"/>
          </a:p>
          <a:p>
            <a:pPr lvl="1"/>
            <a:r>
              <a:rPr lang="en-US" sz="1600" dirty="0" smtClean="0"/>
              <a:t>Modular arithmetic operations</a:t>
            </a:r>
          </a:p>
          <a:p>
            <a:pPr lvl="1"/>
            <a:r>
              <a:rPr lang="en-US" sz="1600" dirty="0" smtClean="0"/>
              <a:t>Properties of modular arithmetic</a:t>
            </a:r>
          </a:p>
          <a:p>
            <a:pPr lvl="1"/>
            <a:r>
              <a:rPr lang="en-US" sz="1600" dirty="0" smtClean="0"/>
              <a:t>Euclidean algorithm revisited</a:t>
            </a:r>
          </a:p>
          <a:p>
            <a:pPr lvl="1"/>
            <a:r>
              <a:rPr lang="en-US" sz="1600" dirty="0" smtClean="0"/>
              <a:t>The extended Euclidean algorithm</a:t>
            </a:r>
          </a:p>
          <a:p>
            <a:pPr>
              <a:spcBef>
                <a:spcPts val="1200"/>
              </a:spcBef>
            </a:pPr>
            <a:r>
              <a:rPr lang="en-US" sz="1800" dirty="0" smtClean="0"/>
              <a:t>Prime numbers</a:t>
            </a:r>
            <a:endParaRPr lang="en-AU" sz="1800" dirty="0" smtClean="0"/>
          </a:p>
        </p:txBody>
      </p:sp>
      <p:sp>
        <p:nvSpPr>
          <p:cNvPr id="130052" name="Content Placeholder 11"/>
          <p:cNvSpPr>
            <a:spLocks noGrp="1"/>
          </p:cNvSpPr>
          <p:nvPr>
            <p:ph sz="half" idx="2"/>
          </p:nvPr>
        </p:nvSpPr>
        <p:spPr>
          <a:xfrm>
            <a:off x="5562600" y="1600200"/>
            <a:ext cx="3581400" cy="5257800"/>
          </a:xfrm>
        </p:spPr>
        <p:txBody>
          <a:bodyPr>
            <a:normAutofit fontScale="47500" lnSpcReduction="20000"/>
          </a:bodyPr>
          <a:lstStyle/>
          <a:p>
            <a:r>
              <a:rPr lang="en-US" sz="3789" dirty="0" smtClean="0"/>
              <a:t>Fermat’s Theorem</a:t>
            </a:r>
          </a:p>
          <a:p>
            <a:r>
              <a:rPr lang="en-US" sz="3789" dirty="0" smtClean="0"/>
              <a:t>Euler’s </a:t>
            </a:r>
            <a:r>
              <a:rPr lang="en-US" sz="3789" dirty="0" err="1" smtClean="0"/>
              <a:t>totient</a:t>
            </a:r>
            <a:r>
              <a:rPr lang="en-US" sz="3789" dirty="0" smtClean="0"/>
              <a:t> function</a:t>
            </a:r>
          </a:p>
          <a:p>
            <a:r>
              <a:rPr lang="en-US" sz="3789" dirty="0" smtClean="0"/>
              <a:t>Euler’s Theorem</a:t>
            </a:r>
          </a:p>
          <a:p>
            <a:r>
              <a:rPr lang="en-US" sz="3789" dirty="0" smtClean="0"/>
              <a:t>Testing for </a:t>
            </a:r>
            <a:r>
              <a:rPr lang="en-US" sz="3789" dirty="0" err="1" smtClean="0"/>
              <a:t>primality</a:t>
            </a:r>
            <a:endParaRPr lang="en-US" sz="3789" dirty="0" smtClean="0"/>
          </a:p>
          <a:p>
            <a:pPr lvl="1"/>
            <a:r>
              <a:rPr lang="en-US" sz="2909" dirty="0" smtClean="0"/>
              <a:t>Miller-Rabin algorithm</a:t>
            </a:r>
          </a:p>
          <a:p>
            <a:pPr lvl="1"/>
            <a:r>
              <a:rPr lang="en-US" sz="2909" dirty="0" smtClean="0"/>
              <a:t>A deterministic </a:t>
            </a:r>
            <a:r>
              <a:rPr lang="en-US" sz="2909" dirty="0" err="1" smtClean="0"/>
              <a:t>primality</a:t>
            </a:r>
            <a:r>
              <a:rPr lang="en-US" sz="2909" dirty="0" smtClean="0"/>
              <a:t> algorithm</a:t>
            </a:r>
          </a:p>
          <a:p>
            <a:pPr lvl="1"/>
            <a:r>
              <a:rPr lang="en-US" sz="2909" dirty="0" smtClean="0"/>
              <a:t>Distribution of primes</a:t>
            </a:r>
          </a:p>
          <a:p>
            <a:r>
              <a:rPr lang="en-US" sz="3789" dirty="0" smtClean="0"/>
              <a:t>The Chinese Remainder Theorem</a:t>
            </a:r>
          </a:p>
          <a:p>
            <a:r>
              <a:rPr lang="en-US" sz="3789" dirty="0" smtClean="0"/>
              <a:t>Discrete logarithms</a:t>
            </a:r>
          </a:p>
          <a:p>
            <a:pPr lvl="1"/>
            <a:r>
              <a:rPr lang="en-US" sz="2947" dirty="0" smtClean="0"/>
              <a:t>Powers of an integer, modulo </a:t>
            </a:r>
            <a:r>
              <a:rPr lang="en-US" sz="2947" i="1" dirty="0" err="1" smtClean="0"/>
              <a:t>n</a:t>
            </a:r>
            <a:r>
              <a:rPr lang="en-US" sz="2947" i="1" dirty="0" smtClean="0"/>
              <a:t> </a:t>
            </a:r>
            <a:endParaRPr lang="en-US" sz="2947" dirty="0" smtClean="0"/>
          </a:p>
          <a:p>
            <a:pPr lvl="1"/>
            <a:r>
              <a:rPr lang="en-US" sz="2947" dirty="0" smtClean="0"/>
              <a:t>Logarithms for modular arithmetic</a:t>
            </a:r>
          </a:p>
          <a:p>
            <a:pPr lvl="1"/>
            <a:r>
              <a:rPr lang="en-US" sz="2947" dirty="0" smtClean="0"/>
              <a:t>Calculation of discrete logarithms</a:t>
            </a:r>
          </a:p>
          <a:p>
            <a:pPr lvl="1"/>
            <a:endParaRPr lang="en-AU" dirty="0" smtClean="0"/>
          </a:p>
          <a:p>
            <a:endParaRPr lang="en-US" i="1" dirty="0" smtClean="0"/>
          </a:p>
        </p:txBody>
      </p:sp>
      <p:pic>
        <p:nvPicPr>
          <p:cNvPr id="9" name="Picture Placeholder 4" descr="crypto.jpg"/>
          <p:cNvPicPr>
            <a:picLocks noChangeAspect="1"/>
          </p:cNvPicPr>
          <p:nvPr/>
        </p:nvPicPr>
        <p:blipFill>
          <a:blip r:embed="rId3">
            <a:alphaModFix/>
            <a:lum bright="28000"/>
          </a:blip>
          <a:srcRect l="-16674" t="-1111" r="-18211" b="44444"/>
          <a:stretch>
            <a:fillRect/>
          </a:stretch>
        </p:blipFill>
        <p:spPr bwMode="auto">
          <a:xfrm>
            <a:off x="3505200" y="2819400"/>
            <a:ext cx="2109547" cy="1209027"/>
          </a:xfrm>
          <a:prstGeom prst="ellipse">
            <a:avLst/>
          </a:prstGeom>
          <a:solidFill>
            <a:schemeClr val="bg1">
              <a:lumMod val="85000"/>
            </a:schemeClr>
          </a:solidFill>
          <a:ln w="101600">
            <a:noFill/>
            <a:miter lim="800000"/>
            <a:headEnd/>
            <a:tailEnd/>
          </a:ln>
          <a:effectLst>
            <a:innerShdw blurRad="762000">
              <a:schemeClr val="accent1">
                <a:alpha val="80000"/>
              </a:schemeClr>
            </a:innerShdw>
            <a:softEdge rad="76200"/>
          </a:effectLst>
        </p:spPr>
      </p:pic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6934200" cy="365125"/>
          </a:xfrm>
        </p:spPr>
        <p:txBody>
          <a:bodyPr/>
          <a:lstStyle/>
          <a:p>
            <a:pPr>
              <a:defRPr/>
            </a:pPr>
            <a:r>
              <a:rPr lang="en-US" sz="900" dirty="0" smtClean="0"/>
              <a:t>© 2017 Pearson Education, Inc., Hoboken, NJ. All rights reserved. 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4" Type="http://schemas.openxmlformats.org/officeDocument/2006/relationships/image" Target="../media/image4.jpeg"/><Relationship Id="rId5" Type="http://schemas.openxmlformats.org/officeDocument/2006/relationships/image" Target="../media/image5.jpeg"/><Relationship Id="rId1" Type="http://schemas.openxmlformats.org/officeDocument/2006/relationships/image" Target="../media/image1.jpeg"/><Relationship Id="rId2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ch01">
  <a:themeElements>
    <a:clrScheme name="ch01 4">
      <a:dk1>
        <a:srgbClr val="9B69FF"/>
      </a:dk1>
      <a:lt1>
        <a:srgbClr val="FFFFFF"/>
      </a:lt1>
      <a:dk2>
        <a:srgbClr val="666699"/>
      </a:dk2>
      <a:lt2>
        <a:srgbClr val="D9D9FF"/>
      </a:lt2>
      <a:accent1>
        <a:srgbClr val="9966FF"/>
      </a:accent1>
      <a:accent2>
        <a:srgbClr val="00FFFF"/>
      </a:accent2>
      <a:accent3>
        <a:srgbClr val="B8B8CA"/>
      </a:accent3>
      <a:accent4>
        <a:srgbClr val="DADADA"/>
      </a:accent4>
      <a:accent5>
        <a:srgbClr val="CAB8FF"/>
      </a:accent5>
      <a:accent6>
        <a:srgbClr val="00E7E7"/>
      </a:accent6>
      <a:hlink>
        <a:srgbClr val="5FAFFF"/>
      </a:hlink>
      <a:folHlink>
        <a:srgbClr val="003399"/>
      </a:folHlink>
    </a:clrScheme>
    <a:fontScheme name="ch0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ch01 1">
        <a:dk1>
          <a:srgbClr val="2B2B85"/>
        </a:dk1>
        <a:lt1>
          <a:srgbClr val="FFFFFF"/>
        </a:lt1>
        <a:dk2>
          <a:srgbClr val="00254A"/>
        </a:dk2>
        <a:lt2>
          <a:srgbClr val="C0C0C0"/>
        </a:lt2>
        <a:accent1>
          <a:srgbClr val="2E2E8E"/>
        </a:accent1>
        <a:accent2>
          <a:srgbClr val="0066CC"/>
        </a:accent2>
        <a:accent3>
          <a:srgbClr val="AAACB1"/>
        </a:accent3>
        <a:accent4>
          <a:srgbClr val="DADADA"/>
        </a:accent4>
        <a:accent5>
          <a:srgbClr val="ADADC6"/>
        </a:accent5>
        <a:accent6>
          <a:srgbClr val="005CB9"/>
        </a:accent6>
        <a:hlink>
          <a:srgbClr val="99CCFF"/>
        </a:hlink>
        <a:folHlink>
          <a:srgbClr val="8F8FB5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h01 2">
        <a:dk1>
          <a:srgbClr val="3B4B5D"/>
        </a:dk1>
        <a:lt1>
          <a:srgbClr val="FFFFFF"/>
        </a:lt1>
        <a:dk2>
          <a:srgbClr val="466886"/>
        </a:dk2>
        <a:lt2>
          <a:srgbClr val="CCECFF"/>
        </a:lt2>
        <a:accent1>
          <a:srgbClr val="58718C"/>
        </a:accent1>
        <a:accent2>
          <a:srgbClr val="6D9D97"/>
        </a:accent2>
        <a:accent3>
          <a:srgbClr val="B0B9C3"/>
        </a:accent3>
        <a:accent4>
          <a:srgbClr val="DADADA"/>
        </a:accent4>
        <a:accent5>
          <a:srgbClr val="B4BBC5"/>
        </a:accent5>
        <a:accent6>
          <a:srgbClr val="628E88"/>
        </a:accent6>
        <a:hlink>
          <a:srgbClr val="99CCFF"/>
        </a:hlink>
        <a:folHlink>
          <a:srgbClr val="A97CF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h01 3">
        <a:dk1>
          <a:srgbClr val="008AE8"/>
        </a:dk1>
        <a:lt1>
          <a:srgbClr val="FFFFFF"/>
        </a:lt1>
        <a:dk2>
          <a:srgbClr val="0068AE"/>
        </a:dk2>
        <a:lt2>
          <a:srgbClr val="CCECFF"/>
        </a:lt2>
        <a:accent1>
          <a:srgbClr val="0088E4"/>
        </a:accent1>
        <a:accent2>
          <a:srgbClr val="009999"/>
        </a:accent2>
        <a:accent3>
          <a:srgbClr val="AAB9D3"/>
        </a:accent3>
        <a:accent4>
          <a:srgbClr val="DADADA"/>
        </a:accent4>
        <a:accent5>
          <a:srgbClr val="AAC3EF"/>
        </a:accent5>
        <a:accent6>
          <a:srgbClr val="008A8A"/>
        </a:accent6>
        <a:hlink>
          <a:srgbClr val="99FF99"/>
        </a:hlink>
        <a:folHlink>
          <a:srgbClr val="AFE1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h01 4">
        <a:dk1>
          <a:srgbClr val="9B69FF"/>
        </a:dk1>
        <a:lt1>
          <a:srgbClr val="FFFFFF"/>
        </a:lt1>
        <a:dk2>
          <a:srgbClr val="666699"/>
        </a:dk2>
        <a:lt2>
          <a:srgbClr val="D9D9FF"/>
        </a:lt2>
        <a:accent1>
          <a:srgbClr val="9966FF"/>
        </a:accent1>
        <a:accent2>
          <a:srgbClr val="00FFFF"/>
        </a:accent2>
        <a:accent3>
          <a:srgbClr val="B8B8CA"/>
        </a:accent3>
        <a:accent4>
          <a:srgbClr val="DADADA"/>
        </a:accent4>
        <a:accent5>
          <a:srgbClr val="CAB8FF"/>
        </a:accent5>
        <a:accent6>
          <a:srgbClr val="00E7E7"/>
        </a:accent6>
        <a:hlink>
          <a:srgbClr val="5FAFFF"/>
        </a:hlink>
        <a:folHlink>
          <a:srgbClr val="0033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h01 5">
        <a:dk1>
          <a:srgbClr val="008080"/>
        </a:dk1>
        <a:lt1>
          <a:srgbClr val="FFFFFF"/>
        </a:lt1>
        <a:dk2>
          <a:srgbClr val="006666"/>
        </a:dk2>
        <a:lt2>
          <a:srgbClr val="FFFFCC"/>
        </a:lt2>
        <a:accent1>
          <a:srgbClr val="008080"/>
        </a:accent1>
        <a:accent2>
          <a:srgbClr val="0099FF"/>
        </a:accent2>
        <a:accent3>
          <a:srgbClr val="AAB8B8"/>
        </a:accent3>
        <a:accent4>
          <a:srgbClr val="DADADA"/>
        </a:accent4>
        <a:accent5>
          <a:srgbClr val="AAC0C0"/>
        </a:accent5>
        <a:accent6>
          <a:srgbClr val="008AE7"/>
        </a:accent6>
        <a:hlink>
          <a:srgbClr val="1ACE9F"/>
        </a:hlink>
        <a:folHlink>
          <a:srgbClr val="A5B5C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h01 6">
        <a:dk1>
          <a:srgbClr val="CDD9D1"/>
        </a:dk1>
        <a:lt1>
          <a:srgbClr val="FFFFFF"/>
        </a:lt1>
        <a:dk2>
          <a:srgbClr val="A3BBA9"/>
        </a:dk2>
        <a:lt2>
          <a:srgbClr val="007D80"/>
        </a:lt2>
        <a:accent1>
          <a:srgbClr val="CBD7CE"/>
        </a:accent1>
        <a:accent2>
          <a:srgbClr val="9CA8A4"/>
        </a:accent2>
        <a:accent3>
          <a:srgbClr val="CEDAD1"/>
        </a:accent3>
        <a:accent4>
          <a:srgbClr val="DADADA"/>
        </a:accent4>
        <a:accent5>
          <a:srgbClr val="E2E8E3"/>
        </a:accent5>
        <a:accent6>
          <a:srgbClr val="8D9894"/>
        </a:accent6>
        <a:hlink>
          <a:srgbClr val="009900"/>
        </a:hlink>
        <a:folHlink>
          <a:srgbClr val="0099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h01 7">
        <a:dk1>
          <a:srgbClr val="686B5D"/>
        </a:dk1>
        <a:lt1>
          <a:srgbClr val="DCDAD0"/>
        </a:lt1>
        <a:dk2>
          <a:srgbClr val="525040"/>
        </a:dk2>
        <a:lt2>
          <a:srgbClr val="D3D2A6"/>
        </a:lt2>
        <a:accent1>
          <a:srgbClr val="686B5D"/>
        </a:accent1>
        <a:accent2>
          <a:srgbClr val="5D8770"/>
        </a:accent2>
        <a:accent3>
          <a:srgbClr val="B3B3AF"/>
        </a:accent3>
        <a:accent4>
          <a:srgbClr val="BCBAB1"/>
        </a:accent4>
        <a:accent5>
          <a:srgbClr val="B9BAB6"/>
        </a:accent5>
        <a:accent6>
          <a:srgbClr val="537A65"/>
        </a:accent6>
        <a:hlink>
          <a:srgbClr val="85B7A9"/>
        </a:hlink>
        <a:folHlink>
          <a:srgbClr val="B8936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h01 8">
        <a:dk1>
          <a:srgbClr val="000000"/>
        </a:dk1>
        <a:lt1>
          <a:srgbClr val="EAEAEA"/>
        </a:lt1>
        <a:dk2>
          <a:srgbClr val="000000"/>
        </a:dk2>
        <a:lt2>
          <a:srgbClr val="B2B2B2"/>
        </a:lt2>
        <a:accent1>
          <a:srgbClr val="FFFFFF"/>
        </a:accent1>
        <a:accent2>
          <a:srgbClr val="A4BCC4"/>
        </a:accent2>
        <a:accent3>
          <a:srgbClr val="F3F3F3"/>
        </a:accent3>
        <a:accent4>
          <a:srgbClr val="000000"/>
        </a:accent4>
        <a:accent5>
          <a:srgbClr val="FFFFFF"/>
        </a:accent5>
        <a:accent6>
          <a:srgbClr val="94AAB1"/>
        </a:accent6>
        <a:hlink>
          <a:srgbClr val="0066FF"/>
        </a:hlink>
        <a:folHlink>
          <a:srgbClr val="00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01 9">
        <a:dk1>
          <a:srgbClr val="000000"/>
        </a:dk1>
        <a:lt1>
          <a:srgbClr val="D7D1B9"/>
        </a:lt1>
        <a:dk2>
          <a:srgbClr val="B39257"/>
        </a:dk2>
        <a:lt2>
          <a:srgbClr val="B1A887"/>
        </a:lt2>
        <a:accent1>
          <a:srgbClr val="E6E3D4"/>
        </a:accent1>
        <a:accent2>
          <a:srgbClr val="A2A4AC"/>
        </a:accent2>
        <a:accent3>
          <a:srgbClr val="E8E5D9"/>
        </a:accent3>
        <a:accent4>
          <a:srgbClr val="000000"/>
        </a:accent4>
        <a:accent5>
          <a:srgbClr val="F0EFE6"/>
        </a:accent5>
        <a:accent6>
          <a:srgbClr val="92949B"/>
        </a:accent6>
        <a:hlink>
          <a:srgbClr val="666633"/>
        </a:hlink>
        <a:folHlink>
          <a:srgbClr val="9C98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Infusion">
  <a:themeElements>
    <a:clrScheme name="Infusion">
      <a:dk1>
        <a:sysClr val="windowText" lastClr="000000"/>
      </a:dk1>
      <a:lt1>
        <a:sysClr val="window" lastClr="FFFFFF"/>
      </a:lt1>
      <a:dk2>
        <a:srgbClr val="2F1F58"/>
      </a:dk2>
      <a:lt2>
        <a:srgbClr val="B7A9E0"/>
      </a:lt2>
      <a:accent1>
        <a:srgbClr val="8C73D0"/>
      </a:accent1>
      <a:accent2>
        <a:srgbClr val="C2E8C4"/>
      </a:accent2>
      <a:accent3>
        <a:srgbClr val="C5A6E8"/>
      </a:accent3>
      <a:accent4>
        <a:srgbClr val="B45EC7"/>
      </a:accent4>
      <a:accent5>
        <a:srgbClr val="9FDAFB"/>
      </a:accent5>
      <a:accent6>
        <a:srgbClr val="95C5B0"/>
      </a:accent6>
      <a:hlink>
        <a:srgbClr val="744AE0"/>
      </a:hlink>
      <a:folHlink>
        <a:srgbClr val="8D8AD1"/>
      </a:folHlink>
    </a:clrScheme>
    <a:fontScheme name="Infusion">
      <a:majorFont>
        <a:latin typeface="Mistral"/>
        <a:ea typeface=""/>
        <a:cs typeface=""/>
        <a:font script="Jpan" typeface="ＭＳ Ｐ明朝"/>
      </a:majorFont>
      <a:minorFont>
        <a:latin typeface="Candara"/>
        <a:ea typeface=""/>
        <a:cs typeface=""/>
        <a:font script="Jpan" typeface="メイリオ"/>
      </a:minorFont>
    </a:fontScheme>
    <a:fmtScheme name="Infusion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70000"/>
                <a:satMod val="120000"/>
              </a:schemeClr>
              <a:schemeClr val="phClr">
                <a:tint val="70000"/>
                <a:satMod val="300000"/>
                <a:lumMod val="125000"/>
              </a:schemeClr>
            </a:duotone>
          </a:blip>
          <a:tile tx="0" ty="0" sx="50000" sy="5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shade val="70000"/>
                <a:satMod val="120000"/>
              </a:schemeClr>
              <a:schemeClr val="phClr">
                <a:tint val="70000"/>
                <a:satMod val="135000"/>
              </a:schemeClr>
            </a:duotone>
          </a:blip>
          <a:tile tx="0" ty="0" sx="40000" sy="40000" flip="none" algn="tl"/>
        </a:blipFill>
      </a:fillStyleLst>
      <a:lnStyleLst>
        <a:ln w="38100" cap="flat" cmpd="sng" algn="ctr">
          <a:solidFill>
            <a:schemeClr val="phClr">
              <a:alpha val="70000"/>
              <a:satMod val="105000"/>
            </a:schemeClr>
          </a:solidFill>
          <a:prstDash val="solid"/>
          <a:miter/>
        </a:ln>
        <a:ln w="50800" cap="flat" cmpd="sng" algn="ctr">
          <a:solidFill>
            <a:schemeClr val="phClr">
              <a:alpha val="50000"/>
            </a:schemeClr>
          </a:solidFill>
          <a:prstDash val="solid"/>
          <a:miter/>
        </a:ln>
        <a:ln w="88900" cap="flat" cmpd="sng" algn="ctr">
          <a:solidFill>
            <a:schemeClr val="phClr">
              <a:alpha val="40000"/>
            </a:schemeClr>
          </a:solidFill>
          <a:prstDash val="solid"/>
          <a:miter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innerShdw blurRad="190500" dir="13500000">
              <a:srgbClr val="000000">
                <a:alpha val="50000"/>
              </a:srgbClr>
            </a:innerShdw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blipFill rotWithShape="1">
          <a:blip xmlns:r="http://schemas.openxmlformats.org/officeDocument/2006/relationships" r:embed="rId3">
            <a:duotone>
              <a:schemeClr val="phClr">
                <a:shade val="70000"/>
                <a:satMod val="500000"/>
                <a:lumMod val="50000"/>
              </a:schemeClr>
              <a:schemeClr val="phClr">
                <a:satMod val="800000"/>
                <a:lumMod val="250000"/>
              </a:schemeClr>
            </a:duotone>
          </a:blip>
          <a:stretch/>
        </a:blipFill>
        <a:blipFill rotWithShape="1">
          <a:blip xmlns:r="http://schemas.openxmlformats.org/officeDocument/2006/relationships" r:embed="rId4">
            <a:duotone>
              <a:schemeClr val="phClr">
                <a:shade val="70000"/>
                <a:satMod val="500000"/>
                <a:lumMod val="50000"/>
              </a:schemeClr>
              <a:schemeClr val="phClr">
                <a:satMod val="800000"/>
                <a:lumMod val="250000"/>
              </a:schemeClr>
            </a:duotone>
          </a:blip>
          <a:stretch/>
        </a:blipFill>
        <a:blipFill rotWithShape="1">
          <a:blip xmlns:r="http://schemas.openxmlformats.org/officeDocument/2006/relationships" r:embed="rId5">
            <a:duotone>
              <a:schemeClr val="phClr">
                <a:shade val="70000"/>
                <a:satMod val="500000"/>
                <a:lumMod val="50000"/>
              </a:schemeClr>
              <a:schemeClr val="phClr">
                <a:satMod val="800000"/>
                <a:lumMod val="250000"/>
              </a:schemeClr>
            </a:duotone>
          </a:blip>
          <a:stretch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 Mnementh:Users:lpb:admin:consult:Prentice-Hall:Slides:ch01.ppt</Template>
  <TotalTime>8433</TotalTime>
  <Words>6288</Words>
  <Application>Microsoft Macintosh PowerPoint</Application>
  <PresentationFormat>On-screen Show (4:3)</PresentationFormat>
  <Paragraphs>529</Paragraphs>
  <Slides>34</Slides>
  <Notes>34</Notes>
  <HiddenSlides>0</HiddenSlides>
  <MMClips>0</MMClips>
  <ScaleCrop>false</ScaleCrop>
  <HeadingPairs>
    <vt:vector size="4" baseType="variant">
      <vt:variant>
        <vt:lpstr>Design Template</vt:lpstr>
      </vt:variant>
      <vt:variant>
        <vt:i4>2</vt:i4>
      </vt:variant>
      <vt:variant>
        <vt:lpstr>Slide Titles</vt:lpstr>
      </vt:variant>
      <vt:variant>
        <vt:i4>34</vt:i4>
      </vt:variant>
    </vt:vector>
  </HeadingPairs>
  <TitlesOfParts>
    <vt:vector size="36" baseType="lpstr">
      <vt:lpstr>ch01</vt:lpstr>
      <vt:lpstr>Infusion</vt:lpstr>
      <vt:lpstr>Cryptography and Network Security</vt:lpstr>
      <vt:lpstr>Chapter 2</vt:lpstr>
      <vt:lpstr>Divisibility</vt:lpstr>
      <vt:lpstr>Properties of Divisibility</vt:lpstr>
      <vt:lpstr>Properties of Divisibility</vt:lpstr>
      <vt:lpstr>Division Algorithm</vt:lpstr>
      <vt:lpstr>Slide 7</vt:lpstr>
      <vt:lpstr>Euclidean Algorithm</vt:lpstr>
      <vt:lpstr>Greatest Common Divisor (GCD)</vt:lpstr>
      <vt:lpstr>GCD</vt:lpstr>
      <vt:lpstr>Slide 11</vt:lpstr>
      <vt:lpstr>Slide 12</vt:lpstr>
      <vt:lpstr>Table 2.1 Euclidean Algorithm Example</vt:lpstr>
      <vt:lpstr>Modular Arithmetic</vt:lpstr>
      <vt:lpstr>Modular Arithmetic</vt:lpstr>
      <vt:lpstr>Properties of Congruences</vt:lpstr>
      <vt:lpstr>Modular Arithmetic</vt:lpstr>
      <vt:lpstr>Remaining Properties:</vt:lpstr>
      <vt:lpstr>Table 2.2(a) Arithmetic Modulo 8</vt:lpstr>
      <vt:lpstr>Table 2.2(b) Multiplication Modulo 8</vt:lpstr>
      <vt:lpstr>Table 2.2(c)  Additive  and  Multiplicative Inverse  Modulo 8</vt:lpstr>
      <vt:lpstr>Table 2.3 Properties of Modular Arithmetic for Integers in Zn</vt:lpstr>
      <vt:lpstr>Table 2.4 Extended Euclidean Algorithm Example</vt:lpstr>
      <vt:lpstr>Prime Numbers</vt:lpstr>
      <vt:lpstr>Slide 25</vt:lpstr>
      <vt:lpstr>Fermat's Theorem</vt:lpstr>
      <vt:lpstr>Table 2.6 Some Values of Euler’s Totient Function ø(n)</vt:lpstr>
      <vt:lpstr>Euler's Theorem</vt:lpstr>
      <vt:lpstr>Miller-Rabin Algorithm</vt:lpstr>
      <vt:lpstr>Deterministic Primality Algorithm</vt:lpstr>
      <vt:lpstr>Chinese Remainder Theorem (CRT)</vt:lpstr>
      <vt:lpstr>Slide 32</vt:lpstr>
      <vt:lpstr>Slide 33</vt:lpstr>
      <vt:lpstr>Summary</vt:lpstr>
    </vt:vector>
  </TitlesOfParts>
  <Manager/>
  <Company>School of Eng &amp; IT, UNSW@ADFA</Company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William Stallings, Cryptography and Network Security 5/e</dc:title>
  <dc:subject>Lecture Overheads - Ch 4</dc:subject>
  <dc:creator>Dr Lawrie Brown</dc:creator>
  <cp:keywords/>
  <dc:description/>
  <cp:lastModifiedBy>Kevin McLaughlin</cp:lastModifiedBy>
  <cp:revision>84</cp:revision>
  <cp:lastPrinted>2009-08-06T03:57:36Z</cp:lastPrinted>
  <dcterms:created xsi:type="dcterms:W3CDTF">2016-03-13T02:06:16Z</dcterms:created>
  <dcterms:modified xsi:type="dcterms:W3CDTF">2016-03-13T02:07:11Z</dcterms:modified>
  <cp:category/>
</cp:coreProperties>
</file>