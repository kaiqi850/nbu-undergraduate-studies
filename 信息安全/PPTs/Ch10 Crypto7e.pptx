
<file path=[Content_Types].xml><?xml version="1.0" encoding="utf-8"?>
<Types xmlns="http://schemas.openxmlformats.org/package/2006/content-types">
  <Override PartName="/ppt/diagrams/layout2.xml" ContentType="application/vnd.openxmlformats-officedocument.drawingml.diagramLayout+xml"/>
  <Override PartName="/ppt/notesSlides/notesSlide24.xml" ContentType="application/vnd.openxmlformats-officedocument.presentationml.notesSlide+xml"/>
  <Override PartName="/ppt/slides/slide14.xml" ContentType="application/vnd.openxmlformats-officedocument.presentationml.slide+xml"/>
  <Override PartName="/ppt/slideMasters/slideMaster2.xml" ContentType="application/vnd.openxmlformats-officedocument.presentationml.slideMaster+xml"/>
  <Override PartName="/ppt/notesSlides/notesSlide16.xml" ContentType="application/vnd.openxmlformats-officedocument.presentationml.notesSlide+xml"/>
  <Default Extension="rels" ContentType="application/vnd.openxmlformats-package.relationships+xml"/>
  <Override PartName="/ppt/diagrams/colors1.xml" ContentType="application/vnd.openxmlformats-officedocument.drawingml.diagramColors+xml"/>
  <Default Extension="xml" ContentType="application/xml"/>
  <Override PartName="/ppt/tableStyles.xml" ContentType="application/vnd.openxmlformats-officedocument.presentationml.tableStyles+xml"/>
  <Override PartName="/ppt/notesSlides/notesSlide1.xml" ContentType="application/vnd.openxmlformats-officedocument.presentationml.notesSlide+xml"/>
  <Override PartName="/ppt/slideLayouts/slideLayout16.xml" ContentType="application/vnd.openxmlformats-officedocument.presentationml.slideLayout+xml"/>
  <Override PartName="/ppt/slides/slide21.xml" ContentType="application/vnd.openxmlformats-officedocument.presentationml.slide+xml"/>
  <Override PartName="/ppt/notesSlides/notesSlide23.xml" ContentType="application/vnd.openxmlformats-officedocument.presentationml.notesSlide+xml"/>
  <Override PartName="/ppt/slides/slide5.xml" ContentType="application/vnd.openxmlformats-officedocument.presentationml.slide+xml"/>
  <Override PartName="/ppt/notesSlides/notesSlide9.xml" ContentType="application/vnd.openxmlformats-officedocument.presentationml.notesSlide+xml"/>
  <Override PartName="/ppt/slideLayouts/slideLayout5.xml" ContentType="application/vnd.openxmlformats-officedocument.presentationml.slideLayout+xml"/>
  <Override PartName="/ppt/diagrams/layout1.xml" ContentType="application/vnd.openxmlformats-officedocument.drawingml.diagramLayout+xml"/>
  <Override PartName="/ppt/slides/slide13.xml" ContentType="application/vnd.openxmlformats-officedocument.presentationml.slide+xml"/>
  <Override PartName="/ppt/slideMasters/slideMaster1.xml" ContentType="application/vnd.openxmlformats-officedocument.presentationml.slideMaster+xml"/>
  <Override PartName="/ppt/notesSlides/notesSlide15.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Override PartName="/ppt/handoutMasters/handoutMaster1.xml" ContentType="application/vnd.openxmlformats-officedocument.presentationml.handoutMaster+xml"/>
  <Override PartName="/ppt/slideLayouts/slideLayout15.xml" ContentType="application/vnd.openxmlformats-officedocument.presentationml.slideLayout+xml"/>
  <Override PartName="/ppt/slides/slide20.xml" ContentType="application/vnd.openxmlformats-officedocument.presentationml.slide+xml"/>
  <Override PartName="/ppt/slideLayouts/slideLayout24.xml" ContentType="application/vnd.openxmlformats-officedocument.presentationml.slideLayout+xml"/>
  <Override PartName="/ppt/notesSlides/notesSlide22.xml" ContentType="application/vnd.openxmlformats-officedocument.presentationml.notesSlide+xml"/>
  <Override PartName="/ppt/slides/slide4.xml" ContentType="application/vnd.openxmlformats-officedocument.presentationml.slide+xml"/>
  <Override PartName="/ppt/slides/slide19.xml" ContentType="application/vnd.openxmlformats-officedocument.presentationml.slide+xml"/>
  <Override PartName="/ppt/notesSlides/notesSlide8.xml" ContentType="application/vnd.openxmlformats-officedocument.presentationml.notesSlide+xml"/>
  <Default Extension="png" ContentType="image/png"/>
  <Override PartName="/ppt/slideLayouts/slideLayout4.xml" ContentType="application/vnd.openxmlformats-officedocument.presentationml.slideLayout+xml"/>
  <Override PartName="/ppt/diagrams/data3.xml" ContentType="application/vnd.openxmlformats-officedocument.drawingml.diagramData+xml"/>
  <Override PartName="/ppt/slides/slide12.xml" ContentType="application/vnd.openxmlformats-officedocument.presentationml.slide+xml"/>
  <Override PartName="/ppt/notesSlides/notesSlide14.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diagrams/quickStyle3.xml" ContentType="application/vnd.openxmlformats-officedocument.drawingml.diagramStyle+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notesSlides/notesSlide21.xml" ContentType="application/vnd.openxmlformats-officedocument.presentationml.notesSlide+xml"/>
  <Override PartName="/ppt/slides/slide3.xml" ContentType="application/vnd.openxmlformats-officedocument.presentationml.slide+xml"/>
  <Override PartName="/ppt/slides/slide18.xml" ContentType="application/vnd.openxmlformats-officedocument.presentationml.slide+xml"/>
  <Override PartName="/ppt/diagrams/data2.xml" ContentType="application/vnd.openxmlformats-officedocument.drawingml.diagramData+xml"/>
  <Override PartName="/ppt/slideLayouts/slideLayout3.xml" ContentType="application/vnd.openxmlformats-officedocument.presentationml.slideLayout+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diagrams/quickStyle2.xml" ContentType="application/vnd.openxmlformats-officedocument.drawingml.diagramStyle+xml"/>
  <Override PartName="/ppt/theme/theme4.xml" ContentType="application/vnd.openxmlformats-officedocument.theme+xml"/>
  <Override PartName="/ppt/slideLayouts/slideLayout13.xml" ContentType="application/vnd.openxmlformats-officedocument.presentationml.slideLayout+xml"/>
  <Override PartName="/ppt/slides/slide25.xml" ContentType="application/vnd.openxmlformats-officedocument.presentationml.slide+xml"/>
  <Override PartName="/ppt/slides/slide9.xml" ContentType="application/vnd.openxmlformats-officedocument.presentationml.slide+xml"/>
  <Override PartName="/ppt/slideLayouts/slideLayout9.xml" ContentType="application/vnd.openxmlformats-officedocument.presentationml.slideLayout+xml"/>
  <Override PartName="/ppt/slideLayouts/slideLayout22.xml" ContentType="application/vnd.openxmlformats-officedocument.presentationml.slideLayout+xml"/>
  <Override PartName="/ppt/notesSlides/notesSlide20.xml" ContentType="application/vnd.openxmlformats-officedocument.presentationml.notesSlide+xml"/>
  <Override PartName="/ppt/slides/slide2.xml" ContentType="application/vnd.openxmlformats-officedocument.presentationml.slide+xml"/>
  <Override PartName="/ppt/slideLayouts/slideLayout2.xml" ContentType="application/vnd.openxmlformats-officedocument.presentationml.slideLayout+xml"/>
  <Override PartName="/ppt/slides/slide17.xml" ContentType="application/vnd.openxmlformats-officedocument.presentationml.slide+xml"/>
  <Override PartName="/ppt/diagrams/data1.xml" ContentType="application/vnd.openxmlformats-officedocument.drawingml.diagramData+xml"/>
  <Override PartName="/ppt/notesSlides/notesSlide19.xml" ContentType="application/vnd.openxmlformats-officedocument.presentationml.notesSlide+xml"/>
  <Override PartName="/ppt/slides/slide10.xml" ContentType="application/vnd.openxmlformats-officedocument.presentationml.slide+xml"/>
  <Override PartName="/ppt/notesSlides/notesSlide12.xml" ContentType="application/vnd.openxmlformats-officedocument.presentationml.notesSlide+xml"/>
  <Override PartName="/docProps/app.xml" ContentType="application/vnd.openxmlformats-officedocument.extended-properties+xml"/>
  <Override PartName="/ppt/notesSlides/notesSlide4.xml" ContentType="application/vnd.openxmlformats-officedocument.presentationml.notesSlide+xml"/>
  <Override PartName="/ppt/diagrams/quickStyle1.xml" ContentType="application/vnd.openxmlformats-officedocument.drawingml.diagramStyle+xml"/>
  <Override PartName="/ppt/slideLayouts/slideLayout19.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s/slide24.xml" ContentType="application/vnd.openxmlformats-officedocument.presentationml.slide+xml"/>
  <Override PartName="/ppt/notesSlides/notesSlide10.xml" ContentType="application/vnd.openxmlformats-officedocument.presentationml.notesSlide+xml"/>
  <Override PartName="/ppt/slides/slide8.xml" ContentType="application/vnd.openxmlformats-officedocument.presentationml.slide+xml"/>
  <Override PartName="/ppt/diagrams/drawing3.xml" ContentType="application/vnd.ms-office.drawingml.diagramDrawing+xml"/>
  <Override PartName="/ppt/slideLayouts/slideLayout8.xml" ContentType="application/vnd.openxmlformats-officedocument.presentationml.slideLayout+xml"/>
  <Override PartName="/ppt/slideLayouts/slideLayout21.xml" ContentType="application/vnd.openxmlformats-officedocument.presentationml.slideLayout+xml"/>
  <Override PartName="/ppt/slides/slide1.xml" ContentType="application/vnd.openxmlformats-officedocument.presentationml.slide+xml"/>
  <Override PartName="/ppt/slideLayouts/slideLayout1.xml" ContentType="application/vnd.openxmlformats-officedocument.presentationml.slideLayout+xml"/>
  <Override PartName="/ppt/slides/slide16.xml" ContentType="application/vnd.openxmlformats-officedocument.presentationml.slide+xml"/>
  <Override PartName="/ppt/notesSlides/notesSlide18.xml" ContentType="application/vnd.openxmlformats-officedocument.presentationml.notesSlide+xml"/>
  <Default Extension="jpeg" ContentType="image/jpeg"/>
  <Override PartName="/ppt/viewProps.xml" ContentType="application/vnd.openxmlformats-officedocument.presentationml.viewProps+xml"/>
  <Override PartName="/ppt/notesSlides/notesSlide11.xml" ContentType="application/vnd.openxmlformats-officedocument.presentationml.notesSlide+xml"/>
  <Override PartName="/ppt/diagrams/colors3.xml" ContentType="application/vnd.openxmlformats-officedocument.drawingml.diagramColors+xml"/>
  <Override PartName="/ppt/notesSlides/notesSlide3.xml" ContentType="application/vnd.openxmlformats-officedocument.presentationml.notesSlide+xml"/>
  <Override PartName="/ppt/slideLayouts/slideLayout18.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s/slide23.xml" ContentType="application/vnd.openxmlformats-officedocument.presentationml.slide+xml"/>
  <Override PartName="/ppt/notesSlides/notesSlide25.xml" ContentType="application/vnd.openxmlformats-officedocument.presentationml.notesSlide+xml"/>
  <Override PartName="/ppt/slides/slide7.xml" ContentType="application/vnd.openxmlformats-officedocument.presentationml.slide+xml"/>
  <Override PartName="/ppt/diagrams/drawing2.xml" ContentType="application/vnd.ms-office.drawingml.diagramDrawing+xml"/>
  <Override PartName="/ppt/slideLayouts/slideLayout7.xml" ContentType="application/vnd.openxmlformats-officedocument.presentationml.slideLayout+xml"/>
  <Override PartName="/ppt/slideLayouts/slideLayout20.xml" ContentType="application/vnd.openxmlformats-officedocument.presentationml.slideLayout+xml"/>
  <Override PartName="/ppt/diagrams/layout3.xml" ContentType="application/vnd.openxmlformats-officedocument.drawingml.diagramLayout+xml"/>
  <Override PartName="/ppt/notesMasters/notesMaster1.xml" ContentType="application/vnd.openxmlformats-officedocument.presentationml.notesMaster+xml"/>
  <Override PartName="/ppt/slides/slide15.xml" ContentType="application/vnd.openxmlformats-officedocument.presentationml.slide+xml"/>
  <Override PartName="/ppt/notesSlides/notesSlide17.xml" ContentType="application/vnd.openxmlformats-officedocument.presentationml.notesSlide+xml"/>
  <Override PartName="/ppt/diagrams/colors2.xml" ContentType="application/vnd.openxmlformats-officedocument.drawingml.diagramColors+xml"/>
  <Override PartName="/ppt/notesSlides/notesSlide2.xml" ContentType="application/vnd.openxmlformats-officedocument.presentationml.notesSlide+xml"/>
  <Override PartName="/ppt/slideLayouts/slideLayout17.xml" ContentType="application/vnd.openxmlformats-officedocument.presentationml.slideLayout+xml"/>
  <Override PartName="/ppt/theme/theme1.xml" ContentType="application/vnd.openxmlformats-officedocument.theme+xml"/>
  <Override PartName="/ppt/slides/slide22.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s/slide6.xml" ContentType="application/vnd.openxmlformats-officedocument.presentationml.slide+xml"/>
  <Override PartName="/ppt/diagrams/drawing1.xml" ContentType="application/vnd.ms-office.drawingml.diagramDrawing+xml"/>
  <Override PartName="/ppt/slideLayouts/slideLayout6.xml" ContentType="application/vnd.openxmlformats-officedocument.presentationml.slideLayout+xml"/>
  <Default Extension="bin" ContentType="application/vnd.openxmlformats-officedocument.presentationml.printerSettings"/>
  <Default Extension="pdf" ContentType="application/pd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9" r:id="rId1"/>
    <p:sldMasterId id="2147483721" r:id="rId2"/>
  </p:sldMasterIdLst>
  <p:notesMasterIdLst>
    <p:notesMasterId r:id="rId28"/>
  </p:notesMasterIdLst>
  <p:handoutMasterIdLst>
    <p:handoutMasterId r:id="rId29"/>
  </p:handoutMasterIdLst>
  <p:sldIdLst>
    <p:sldId id="311" r:id="rId3"/>
    <p:sldId id="312" r:id="rId4"/>
    <p:sldId id="286" r:id="rId5"/>
    <p:sldId id="315" r:id="rId6"/>
    <p:sldId id="303" r:id="rId7"/>
    <p:sldId id="304" r:id="rId8"/>
    <p:sldId id="316" r:id="rId9"/>
    <p:sldId id="291" r:id="rId10"/>
    <p:sldId id="317" r:id="rId11"/>
    <p:sldId id="293" r:id="rId12"/>
    <p:sldId id="294" r:id="rId13"/>
    <p:sldId id="318" r:id="rId14"/>
    <p:sldId id="320" r:id="rId15"/>
    <p:sldId id="321" r:id="rId16"/>
    <p:sldId id="326" r:id="rId17"/>
    <p:sldId id="323" r:id="rId18"/>
    <p:sldId id="295" r:id="rId19"/>
    <p:sldId id="324" r:id="rId20"/>
    <p:sldId id="297" r:id="rId21"/>
    <p:sldId id="298" r:id="rId22"/>
    <p:sldId id="325" r:id="rId23"/>
    <p:sldId id="308" r:id="rId24"/>
    <p:sldId id="309" r:id="rId25"/>
    <p:sldId id="310" r:id="rId26"/>
    <p:sldId id="314" r:id="rId27"/>
  </p:sldIdLst>
  <p:sldSz cx="9144000" cy="6858000" type="screen4x3"/>
  <p:notesSz cx="6858000" cy="9144000"/>
  <p:defaultTextStyle>
    <a:defPPr>
      <a:defRPr lang="en-AU"/>
    </a:defPPr>
    <a:lvl1pPr algn="l" rtl="0" fontAlgn="base">
      <a:spcBef>
        <a:spcPct val="0"/>
      </a:spcBef>
      <a:spcAft>
        <a:spcPct val="0"/>
      </a:spcAft>
      <a:defRPr kern="1200">
        <a:solidFill>
          <a:schemeClr val="tx1"/>
        </a:solidFill>
        <a:latin typeface="Arial" pitchFamily="-84" charset="0"/>
        <a:ea typeface="+mn-ea"/>
        <a:cs typeface="+mn-cs"/>
      </a:defRPr>
    </a:lvl1pPr>
    <a:lvl2pPr marL="457200" algn="l" rtl="0" fontAlgn="base">
      <a:spcBef>
        <a:spcPct val="0"/>
      </a:spcBef>
      <a:spcAft>
        <a:spcPct val="0"/>
      </a:spcAft>
      <a:defRPr kern="1200">
        <a:solidFill>
          <a:schemeClr val="tx1"/>
        </a:solidFill>
        <a:latin typeface="Arial" pitchFamily="-84" charset="0"/>
        <a:ea typeface="+mn-ea"/>
        <a:cs typeface="+mn-cs"/>
      </a:defRPr>
    </a:lvl2pPr>
    <a:lvl3pPr marL="914400" algn="l" rtl="0" fontAlgn="base">
      <a:spcBef>
        <a:spcPct val="0"/>
      </a:spcBef>
      <a:spcAft>
        <a:spcPct val="0"/>
      </a:spcAft>
      <a:defRPr kern="1200">
        <a:solidFill>
          <a:schemeClr val="tx1"/>
        </a:solidFill>
        <a:latin typeface="Arial" pitchFamily="-84" charset="0"/>
        <a:ea typeface="+mn-ea"/>
        <a:cs typeface="+mn-cs"/>
      </a:defRPr>
    </a:lvl3pPr>
    <a:lvl4pPr marL="1371600" algn="l" rtl="0" fontAlgn="base">
      <a:spcBef>
        <a:spcPct val="0"/>
      </a:spcBef>
      <a:spcAft>
        <a:spcPct val="0"/>
      </a:spcAft>
      <a:defRPr kern="1200">
        <a:solidFill>
          <a:schemeClr val="tx1"/>
        </a:solidFill>
        <a:latin typeface="Arial" pitchFamily="-84" charset="0"/>
        <a:ea typeface="+mn-ea"/>
        <a:cs typeface="+mn-cs"/>
      </a:defRPr>
    </a:lvl4pPr>
    <a:lvl5pPr marL="1828800" algn="l" rtl="0" fontAlgn="base">
      <a:spcBef>
        <a:spcPct val="0"/>
      </a:spcBef>
      <a:spcAft>
        <a:spcPct val="0"/>
      </a:spcAft>
      <a:defRPr kern="1200">
        <a:solidFill>
          <a:schemeClr val="tx1"/>
        </a:solidFill>
        <a:latin typeface="Arial" pitchFamily="-84" charset="0"/>
        <a:ea typeface="+mn-ea"/>
        <a:cs typeface="+mn-cs"/>
      </a:defRPr>
    </a:lvl5pPr>
    <a:lvl6pPr marL="2286000" algn="l" defTabSz="457200" rtl="0" eaLnBrk="1" latinLnBrk="0" hangingPunct="1">
      <a:defRPr kern="1200">
        <a:solidFill>
          <a:schemeClr val="tx1"/>
        </a:solidFill>
        <a:latin typeface="Arial" pitchFamily="-84" charset="0"/>
        <a:ea typeface="+mn-ea"/>
        <a:cs typeface="+mn-cs"/>
      </a:defRPr>
    </a:lvl6pPr>
    <a:lvl7pPr marL="2743200" algn="l" defTabSz="457200" rtl="0" eaLnBrk="1" latinLnBrk="0" hangingPunct="1">
      <a:defRPr kern="1200">
        <a:solidFill>
          <a:schemeClr val="tx1"/>
        </a:solidFill>
        <a:latin typeface="Arial" pitchFamily="-84" charset="0"/>
        <a:ea typeface="+mn-ea"/>
        <a:cs typeface="+mn-cs"/>
      </a:defRPr>
    </a:lvl7pPr>
    <a:lvl8pPr marL="3200400" algn="l" defTabSz="457200" rtl="0" eaLnBrk="1" latinLnBrk="0" hangingPunct="1">
      <a:defRPr kern="1200">
        <a:solidFill>
          <a:schemeClr val="tx1"/>
        </a:solidFill>
        <a:latin typeface="Arial" pitchFamily="-84" charset="0"/>
        <a:ea typeface="+mn-ea"/>
        <a:cs typeface="+mn-cs"/>
      </a:defRPr>
    </a:lvl8pPr>
    <a:lvl9pPr marL="3657600" algn="l" defTabSz="457200" rtl="0" eaLnBrk="1" latinLnBrk="0" hangingPunct="1">
      <a:defRPr kern="1200">
        <a:solidFill>
          <a:schemeClr val="tx1"/>
        </a:solidFill>
        <a:latin typeface="Arial" pitchFamily="-8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0924" autoAdjust="0"/>
    <p:restoredTop sz="87071" autoAdjust="0"/>
  </p:normalViewPr>
  <p:slideViewPr>
    <p:cSldViewPr>
      <p:cViewPr>
        <p:scale>
          <a:sx n="110" d="100"/>
          <a:sy n="110" d="100"/>
        </p:scale>
        <p:origin x="-360" y="-664"/>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notesViewPr>
    <p:cSldViewPr>
      <p:cViewPr>
        <p:scale>
          <a:sx n="120" d="100"/>
          <a:sy n="120" d="100"/>
        </p:scale>
        <p:origin x="-1312" y="-408"/>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printerSettings" Target="printerSettings/printerSettings1.bin"/><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s>
</file>

<file path=ppt/diagrams/_rels/drawing2.xml.rels><?xml version="1.0" encoding="UTF-8" standalone="yes"?>
<Relationships xmlns="http://schemas.openxmlformats.org/package/2006/relationships"><Relationship Id="rId1" Type="http://schemas.openxmlformats.org/officeDocument/2006/relationships/image" Target="../media/image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BFBCF-8FB3-8B42-BFCE-ADCF2AC68644}"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B074D31A-A44C-1B4E-82C2-AD0C6F2CDC2C}">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Announced in 1984 by T. </a:t>
          </a:r>
          <a:r>
            <a:rPr lang="en-US" b="0" dirty="0" err="1" smtClean="0">
              <a:effectLst>
                <a:outerShdw blurRad="38100" dist="38100" dir="2700000" algn="tl">
                  <a:srgbClr val="000000">
                    <a:alpha val="43137"/>
                  </a:srgbClr>
                </a:outerShdw>
              </a:effectLst>
            </a:rPr>
            <a:t>Elgamal</a:t>
          </a:r>
          <a:endParaRPr lang="en-US" b="0" dirty="0">
            <a:effectLst>
              <a:outerShdw blurRad="38100" dist="38100" dir="2700000" algn="tl">
                <a:srgbClr val="000000">
                  <a:alpha val="43137"/>
                </a:srgbClr>
              </a:outerShdw>
            </a:effectLst>
          </a:endParaRPr>
        </a:p>
      </dgm:t>
    </dgm:pt>
    <dgm:pt modelId="{12306DCB-AC5E-2149-8DB2-71A40E236E68}" type="parTrans" cxnId="{C7EA056B-46BF-3445-9C5F-F1FFD01E8C6F}">
      <dgm:prSet/>
      <dgm:spPr/>
      <dgm:t>
        <a:bodyPr/>
        <a:lstStyle/>
        <a:p>
          <a:endParaRPr lang="en-US"/>
        </a:p>
      </dgm:t>
    </dgm:pt>
    <dgm:pt modelId="{EF9DB541-A056-2042-AF2B-98C8994FF8EF}" type="sibTrans" cxnId="{C7EA056B-46BF-3445-9C5F-F1FFD01E8C6F}">
      <dgm:prSet/>
      <dgm:spPr/>
      <dgm:t>
        <a:bodyPr/>
        <a:lstStyle/>
        <a:p>
          <a:endParaRPr lang="en-US"/>
        </a:p>
      </dgm:t>
    </dgm:pt>
    <dgm:pt modelId="{A44A8A2B-9D29-4643-92BA-39E5B80A8A92}">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Public-key scheme based on discrete logarithms closely related to the </a:t>
          </a:r>
          <a:r>
            <a:rPr lang="en-US" b="0" dirty="0" err="1" smtClean="0">
              <a:effectLst>
                <a:outerShdw blurRad="38100" dist="38100" dir="2700000" algn="tl">
                  <a:srgbClr val="000000">
                    <a:alpha val="43137"/>
                  </a:srgbClr>
                </a:outerShdw>
              </a:effectLst>
            </a:rPr>
            <a:t>Diffie</a:t>
          </a:r>
          <a:r>
            <a:rPr lang="en-US" b="0" dirty="0" smtClean="0">
              <a:effectLst>
                <a:outerShdw blurRad="38100" dist="38100" dir="2700000" algn="tl">
                  <a:srgbClr val="000000">
                    <a:alpha val="43137"/>
                  </a:srgbClr>
                </a:outerShdw>
              </a:effectLst>
            </a:rPr>
            <a:t>-Hellman technique</a:t>
          </a:r>
          <a:endParaRPr lang="en-US" b="0" dirty="0">
            <a:effectLst>
              <a:outerShdw blurRad="38100" dist="38100" dir="2700000" algn="tl">
                <a:srgbClr val="000000">
                  <a:alpha val="43137"/>
                </a:srgbClr>
              </a:outerShdw>
            </a:effectLst>
          </a:endParaRPr>
        </a:p>
      </dgm:t>
    </dgm:pt>
    <dgm:pt modelId="{C6F71EAF-257F-2A47-99E3-051723C549C4}" type="parTrans" cxnId="{87ADF525-C0AB-D648-81C1-7D066092EEB4}">
      <dgm:prSet/>
      <dgm:spPr/>
      <dgm:t>
        <a:bodyPr/>
        <a:lstStyle/>
        <a:p>
          <a:endParaRPr lang="en-US"/>
        </a:p>
      </dgm:t>
    </dgm:pt>
    <dgm:pt modelId="{9A25FB7F-19A4-1149-BA8D-50BD70FB3219}" type="sibTrans" cxnId="{87ADF525-C0AB-D648-81C1-7D066092EEB4}">
      <dgm:prSet/>
      <dgm:spPr/>
      <dgm:t>
        <a:bodyPr/>
        <a:lstStyle/>
        <a:p>
          <a:endParaRPr lang="en-US"/>
        </a:p>
      </dgm:t>
    </dgm:pt>
    <dgm:pt modelId="{74744364-26D6-6340-82D0-C96256292ADE}">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Used in the digital signature standard (DSS) and the S/MIME e-mail standard</a:t>
          </a:r>
          <a:endParaRPr lang="en-US" b="0" dirty="0">
            <a:effectLst>
              <a:outerShdw blurRad="38100" dist="38100" dir="2700000" algn="tl">
                <a:srgbClr val="000000">
                  <a:alpha val="43137"/>
                </a:srgbClr>
              </a:outerShdw>
            </a:effectLst>
          </a:endParaRPr>
        </a:p>
      </dgm:t>
    </dgm:pt>
    <dgm:pt modelId="{EE5BAF50-5DC4-2E46-BA7C-EDE457C81F3F}" type="parTrans" cxnId="{E7D31497-E128-FD45-A817-0F96DD4ECD82}">
      <dgm:prSet/>
      <dgm:spPr/>
      <dgm:t>
        <a:bodyPr/>
        <a:lstStyle/>
        <a:p>
          <a:endParaRPr lang="en-US"/>
        </a:p>
      </dgm:t>
    </dgm:pt>
    <dgm:pt modelId="{869F4DD0-9DBF-6742-BE9F-C906B42583BF}" type="sibTrans" cxnId="{E7D31497-E128-FD45-A817-0F96DD4ECD82}">
      <dgm:prSet/>
      <dgm:spPr/>
      <dgm:t>
        <a:bodyPr/>
        <a:lstStyle/>
        <a:p>
          <a:endParaRPr lang="en-US"/>
        </a:p>
      </dgm:t>
    </dgm:pt>
    <dgm:pt modelId="{A94A6C78-D99F-6342-A512-70C59355D32E}">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Global elements are a prime number </a:t>
          </a:r>
          <a:r>
            <a:rPr lang="en-US" b="0" i="1" dirty="0" err="1" smtClean="0">
              <a:effectLst>
                <a:outerShdw blurRad="38100" dist="38100" dir="2700000" algn="tl">
                  <a:srgbClr val="000000">
                    <a:alpha val="43137"/>
                  </a:srgbClr>
                </a:outerShdw>
              </a:effectLst>
            </a:rPr>
            <a:t>q</a:t>
          </a:r>
          <a:r>
            <a:rPr lang="en-US" b="0" i="1" dirty="0" smtClean="0">
              <a:effectLst>
                <a:outerShdw blurRad="38100" dist="38100" dir="2700000" algn="tl">
                  <a:srgbClr val="000000">
                    <a:alpha val="43137"/>
                  </a:srgbClr>
                </a:outerShdw>
              </a:effectLst>
            </a:rPr>
            <a:t> </a:t>
          </a:r>
          <a:r>
            <a:rPr lang="en-US" b="0" dirty="0" smtClean="0">
              <a:effectLst>
                <a:outerShdw blurRad="38100" dist="38100" dir="2700000" algn="tl">
                  <a:srgbClr val="000000">
                    <a:alpha val="43137"/>
                  </a:srgbClr>
                </a:outerShdw>
              </a:effectLst>
            </a:rPr>
            <a:t>and </a:t>
          </a:r>
          <a:r>
            <a:rPr lang="en-US" b="0" i="1" dirty="0" smtClean="0">
              <a:effectLst>
                <a:outerShdw blurRad="38100" dist="38100" dir="2700000" algn="tl">
                  <a:srgbClr val="000000">
                    <a:alpha val="43137"/>
                  </a:srgbClr>
                </a:outerShdw>
              </a:effectLst>
            </a:rPr>
            <a:t>a</a:t>
          </a:r>
          <a:r>
            <a:rPr lang="en-US" b="0" dirty="0" smtClean="0">
              <a:effectLst>
                <a:outerShdw blurRad="38100" dist="38100" dir="2700000" algn="tl">
                  <a:srgbClr val="000000">
                    <a:alpha val="43137"/>
                  </a:srgbClr>
                </a:outerShdw>
              </a:effectLst>
            </a:rPr>
            <a:t> which is a primitive root of </a:t>
          </a:r>
          <a:r>
            <a:rPr lang="en-US" b="0" i="1" dirty="0" err="1" smtClean="0">
              <a:effectLst>
                <a:outerShdw blurRad="38100" dist="38100" dir="2700000" algn="tl">
                  <a:srgbClr val="000000">
                    <a:alpha val="43137"/>
                  </a:srgbClr>
                </a:outerShdw>
              </a:effectLst>
            </a:rPr>
            <a:t>q</a:t>
          </a:r>
          <a:endParaRPr lang="en-US" b="0" dirty="0">
            <a:effectLst>
              <a:outerShdw blurRad="38100" dist="38100" dir="2700000" algn="tl">
                <a:srgbClr val="000000">
                  <a:alpha val="43137"/>
                </a:srgbClr>
              </a:outerShdw>
            </a:effectLst>
          </a:endParaRPr>
        </a:p>
      </dgm:t>
    </dgm:pt>
    <dgm:pt modelId="{CBCCC696-7218-BD42-81E7-D01B447EAF0D}" type="parTrans" cxnId="{BC6509CA-19DA-FA48-A1A0-902AFD68CFB1}">
      <dgm:prSet/>
      <dgm:spPr/>
      <dgm:t>
        <a:bodyPr/>
        <a:lstStyle/>
        <a:p>
          <a:endParaRPr lang="en-US"/>
        </a:p>
      </dgm:t>
    </dgm:pt>
    <dgm:pt modelId="{9AD023C3-0385-CD49-BFBD-2DAAFAF7C2A3}" type="sibTrans" cxnId="{BC6509CA-19DA-FA48-A1A0-902AFD68CFB1}">
      <dgm:prSet/>
      <dgm:spPr/>
      <dgm:t>
        <a:bodyPr/>
        <a:lstStyle/>
        <a:p>
          <a:endParaRPr lang="en-US"/>
        </a:p>
      </dgm:t>
    </dgm:pt>
    <dgm:pt modelId="{38E152EE-412D-774E-9404-7B14650C5A54}">
      <dgm:prSet/>
      <dgm:spPr>
        <a:solidFill>
          <a:schemeClr val="tx2">
            <a:lumMod val="60000"/>
            <a:lumOff val="40000"/>
          </a:schemeClr>
        </a:solidFill>
      </dgm:spPr>
      <dgm:t>
        <a:bodyPr/>
        <a:lstStyle/>
        <a:p>
          <a:pPr rtl="0"/>
          <a:r>
            <a:rPr lang="en-US" b="0" dirty="0" smtClean="0">
              <a:effectLst>
                <a:outerShdw blurRad="38100" dist="38100" dir="2700000" algn="tl">
                  <a:srgbClr val="000000">
                    <a:alpha val="43137"/>
                  </a:srgbClr>
                </a:outerShdw>
              </a:effectLst>
            </a:rPr>
            <a:t>Security is based on the difficulty of computing discrete logarithms</a:t>
          </a:r>
          <a:endParaRPr lang="en-AU" b="0" dirty="0">
            <a:effectLst>
              <a:outerShdw blurRad="38100" dist="38100" dir="2700000" algn="tl">
                <a:srgbClr val="000000">
                  <a:alpha val="43137"/>
                </a:srgbClr>
              </a:outerShdw>
            </a:effectLst>
          </a:endParaRPr>
        </a:p>
      </dgm:t>
    </dgm:pt>
    <dgm:pt modelId="{E8684120-B399-AB49-AA61-15C2F902E3F4}" type="parTrans" cxnId="{4BF198F9-521B-0F43-8476-B58ABC494D5E}">
      <dgm:prSet/>
      <dgm:spPr/>
      <dgm:t>
        <a:bodyPr/>
        <a:lstStyle/>
        <a:p>
          <a:endParaRPr lang="en-US"/>
        </a:p>
      </dgm:t>
    </dgm:pt>
    <dgm:pt modelId="{D5266D8D-ED36-FA4A-A5B7-9E4945B27967}" type="sibTrans" cxnId="{4BF198F9-521B-0F43-8476-B58ABC494D5E}">
      <dgm:prSet/>
      <dgm:spPr/>
      <dgm:t>
        <a:bodyPr/>
        <a:lstStyle/>
        <a:p>
          <a:endParaRPr lang="en-US"/>
        </a:p>
      </dgm:t>
    </dgm:pt>
    <dgm:pt modelId="{3532F574-9E53-7442-9F7A-81847943D603}" type="pres">
      <dgm:prSet presAssocID="{CC2BFBCF-8FB3-8B42-BFCE-ADCF2AC68644}" presName="diagram" presStyleCnt="0">
        <dgm:presLayoutVars>
          <dgm:dir/>
          <dgm:resizeHandles val="exact"/>
        </dgm:presLayoutVars>
      </dgm:prSet>
      <dgm:spPr/>
      <dgm:t>
        <a:bodyPr/>
        <a:lstStyle/>
        <a:p>
          <a:endParaRPr lang="en-US"/>
        </a:p>
      </dgm:t>
    </dgm:pt>
    <dgm:pt modelId="{F57960FA-B7C6-A243-9B95-5DC485277954}" type="pres">
      <dgm:prSet presAssocID="{B074D31A-A44C-1B4E-82C2-AD0C6F2CDC2C}" presName="node" presStyleLbl="node1" presStyleIdx="0" presStyleCnt="5">
        <dgm:presLayoutVars>
          <dgm:bulletEnabled val="1"/>
        </dgm:presLayoutVars>
      </dgm:prSet>
      <dgm:spPr/>
      <dgm:t>
        <a:bodyPr/>
        <a:lstStyle/>
        <a:p>
          <a:endParaRPr lang="en-US"/>
        </a:p>
      </dgm:t>
    </dgm:pt>
    <dgm:pt modelId="{CC034B42-A2D7-134E-88A8-48ED4D214791}" type="pres">
      <dgm:prSet presAssocID="{EF9DB541-A056-2042-AF2B-98C8994FF8EF}" presName="sibTrans" presStyleCnt="0"/>
      <dgm:spPr/>
    </dgm:pt>
    <dgm:pt modelId="{A257FC50-FF91-3F4C-BFB5-E75AFE9E36EC}" type="pres">
      <dgm:prSet presAssocID="{A44A8A2B-9D29-4643-92BA-39E5B80A8A92}" presName="node" presStyleLbl="node1" presStyleIdx="1" presStyleCnt="5">
        <dgm:presLayoutVars>
          <dgm:bulletEnabled val="1"/>
        </dgm:presLayoutVars>
      </dgm:prSet>
      <dgm:spPr/>
      <dgm:t>
        <a:bodyPr/>
        <a:lstStyle/>
        <a:p>
          <a:endParaRPr lang="en-US"/>
        </a:p>
      </dgm:t>
    </dgm:pt>
    <dgm:pt modelId="{498A1560-4FA4-124C-ADB5-0FA0390AAC58}" type="pres">
      <dgm:prSet presAssocID="{9A25FB7F-19A4-1149-BA8D-50BD70FB3219}" presName="sibTrans" presStyleCnt="0"/>
      <dgm:spPr/>
    </dgm:pt>
    <dgm:pt modelId="{2261D62D-521A-E14D-8922-72F6614F3DCC}" type="pres">
      <dgm:prSet presAssocID="{74744364-26D6-6340-82D0-C96256292ADE}" presName="node" presStyleLbl="node1" presStyleIdx="2" presStyleCnt="5">
        <dgm:presLayoutVars>
          <dgm:bulletEnabled val="1"/>
        </dgm:presLayoutVars>
      </dgm:prSet>
      <dgm:spPr/>
      <dgm:t>
        <a:bodyPr/>
        <a:lstStyle/>
        <a:p>
          <a:endParaRPr lang="en-US"/>
        </a:p>
      </dgm:t>
    </dgm:pt>
    <dgm:pt modelId="{5899D3D1-6DC6-6441-B71B-E7447E07D962}" type="pres">
      <dgm:prSet presAssocID="{869F4DD0-9DBF-6742-BE9F-C906B42583BF}" presName="sibTrans" presStyleCnt="0"/>
      <dgm:spPr/>
    </dgm:pt>
    <dgm:pt modelId="{659BA2B5-6D77-864F-8CA3-F2DD6119A169}" type="pres">
      <dgm:prSet presAssocID="{A94A6C78-D99F-6342-A512-70C59355D32E}" presName="node" presStyleLbl="node1" presStyleIdx="3" presStyleCnt="5">
        <dgm:presLayoutVars>
          <dgm:bulletEnabled val="1"/>
        </dgm:presLayoutVars>
      </dgm:prSet>
      <dgm:spPr/>
      <dgm:t>
        <a:bodyPr/>
        <a:lstStyle/>
        <a:p>
          <a:endParaRPr lang="en-US"/>
        </a:p>
      </dgm:t>
    </dgm:pt>
    <dgm:pt modelId="{09F40D0C-30F3-7B4A-94D8-EE9180D64BD3}" type="pres">
      <dgm:prSet presAssocID="{9AD023C3-0385-CD49-BFBD-2DAAFAF7C2A3}" presName="sibTrans" presStyleCnt="0"/>
      <dgm:spPr/>
    </dgm:pt>
    <dgm:pt modelId="{962B265E-5530-394D-871D-9C5C574AEBCA}" type="pres">
      <dgm:prSet presAssocID="{38E152EE-412D-774E-9404-7B14650C5A54}" presName="node" presStyleLbl="node1" presStyleIdx="4" presStyleCnt="5">
        <dgm:presLayoutVars>
          <dgm:bulletEnabled val="1"/>
        </dgm:presLayoutVars>
      </dgm:prSet>
      <dgm:spPr/>
      <dgm:t>
        <a:bodyPr/>
        <a:lstStyle/>
        <a:p>
          <a:endParaRPr lang="en-US"/>
        </a:p>
      </dgm:t>
    </dgm:pt>
  </dgm:ptLst>
  <dgm:cxnLst>
    <dgm:cxn modelId="{4BF198F9-521B-0F43-8476-B58ABC494D5E}" srcId="{CC2BFBCF-8FB3-8B42-BFCE-ADCF2AC68644}" destId="{38E152EE-412D-774E-9404-7B14650C5A54}" srcOrd="4" destOrd="0" parTransId="{E8684120-B399-AB49-AA61-15C2F902E3F4}" sibTransId="{D5266D8D-ED36-FA4A-A5B7-9E4945B27967}"/>
    <dgm:cxn modelId="{063925B5-912D-964C-9CFC-E0FB15E901C4}" type="presOf" srcId="{B074D31A-A44C-1B4E-82C2-AD0C6F2CDC2C}" destId="{F57960FA-B7C6-A243-9B95-5DC485277954}" srcOrd="0" destOrd="0" presId="urn:microsoft.com/office/officeart/2005/8/layout/default"/>
    <dgm:cxn modelId="{BC6509CA-19DA-FA48-A1A0-902AFD68CFB1}" srcId="{CC2BFBCF-8FB3-8B42-BFCE-ADCF2AC68644}" destId="{A94A6C78-D99F-6342-A512-70C59355D32E}" srcOrd="3" destOrd="0" parTransId="{CBCCC696-7218-BD42-81E7-D01B447EAF0D}" sibTransId="{9AD023C3-0385-CD49-BFBD-2DAAFAF7C2A3}"/>
    <dgm:cxn modelId="{412FF9BB-F742-BE47-9D0B-B9D54B0D72C1}" type="presOf" srcId="{38E152EE-412D-774E-9404-7B14650C5A54}" destId="{962B265E-5530-394D-871D-9C5C574AEBCA}" srcOrd="0" destOrd="0" presId="urn:microsoft.com/office/officeart/2005/8/layout/default"/>
    <dgm:cxn modelId="{2D1D20A0-B0E7-2347-85C7-23C4B9DC07D7}" type="presOf" srcId="{A44A8A2B-9D29-4643-92BA-39E5B80A8A92}" destId="{A257FC50-FF91-3F4C-BFB5-E75AFE9E36EC}" srcOrd="0" destOrd="0" presId="urn:microsoft.com/office/officeart/2005/8/layout/default"/>
    <dgm:cxn modelId="{03858189-A347-F847-B1A6-084771FA3BA3}" type="presOf" srcId="{74744364-26D6-6340-82D0-C96256292ADE}" destId="{2261D62D-521A-E14D-8922-72F6614F3DCC}" srcOrd="0" destOrd="0" presId="urn:microsoft.com/office/officeart/2005/8/layout/default"/>
    <dgm:cxn modelId="{C7EA056B-46BF-3445-9C5F-F1FFD01E8C6F}" srcId="{CC2BFBCF-8FB3-8B42-BFCE-ADCF2AC68644}" destId="{B074D31A-A44C-1B4E-82C2-AD0C6F2CDC2C}" srcOrd="0" destOrd="0" parTransId="{12306DCB-AC5E-2149-8DB2-71A40E236E68}" sibTransId="{EF9DB541-A056-2042-AF2B-98C8994FF8EF}"/>
    <dgm:cxn modelId="{4E2CD826-24F1-4B45-B771-9BF4EF4F7254}" type="presOf" srcId="{A94A6C78-D99F-6342-A512-70C59355D32E}" destId="{659BA2B5-6D77-864F-8CA3-F2DD6119A169}" srcOrd="0" destOrd="0" presId="urn:microsoft.com/office/officeart/2005/8/layout/default"/>
    <dgm:cxn modelId="{87ADF525-C0AB-D648-81C1-7D066092EEB4}" srcId="{CC2BFBCF-8FB3-8B42-BFCE-ADCF2AC68644}" destId="{A44A8A2B-9D29-4643-92BA-39E5B80A8A92}" srcOrd="1" destOrd="0" parTransId="{C6F71EAF-257F-2A47-99E3-051723C549C4}" sibTransId="{9A25FB7F-19A4-1149-BA8D-50BD70FB3219}"/>
    <dgm:cxn modelId="{091180B4-D187-FF40-873A-91A10388493F}" type="presOf" srcId="{CC2BFBCF-8FB3-8B42-BFCE-ADCF2AC68644}" destId="{3532F574-9E53-7442-9F7A-81847943D603}" srcOrd="0" destOrd="0" presId="urn:microsoft.com/office/officeart/2005/8/layout/default"/>
    <dgm:cxn modelId="{E7D31497-E128-FD45-A817-0F96DD4ECD82}" srcId="{CC2BFBCF-8FB3-8B42-BFCE-ADCF2AC68644}" destId="{74744364-26D6-6340-82D0-C96256292ADE}" srcOrd="2" destOrd="0" parTransId="{EE5BAF50-5DC4-2E46-BA7C-EDE457C81F3F}" sibTransId="{869F4DD0-9DBF-6742-BE9F-C906B42583BF}"/>
    <dgm:cxn modelId="{9C191A26-F679-5E44-8E85-767815898363}" type="presParOf" srcId="{3532F574-9E53-7442-9F7A-81847943D603}" destId="{F57960FA-B7C6-A243-9B95-5DC485277954}" srcOrd="0" destOrd="0" presId="urn:microsoft.com/office/officeart/2005/8/layout/default"/>
    <dgm:cxn modelId="{7B9058D9-2536-6042-9D46-F6FA1AE7EF2F}" type="presParOf" srcId="{3532F574-9E53-7442-9F7A-81847943D603}" destId="{CC034B42-A2D7-134E-88A8-48ED4D214791}" srcOrd="1" destOrd="0" presId="urn:microsoft.com/office/officeart/2005/8/layout/default"/>
    <dgm:cxn modelId="{986CB44D-86F7-764B-91D2-16A85CE9DD9F}" type="presParOf" srcId="{3532F574-9E53-7442-9F7A-81847943D603}" destId="{A257FC50-FF91-3F4C-BFB5-E75AFE9E36EC}" srcOrd="2" destOrd="0" presId="urn:microsoft.com/office/officeart/2005/8/layout/default"/>
    <dgm:cxn modelId="{A844C417-8015-2347-8ECD-0E49030A6C3F}" type="presParOf" srcId="{3532F574-9E53-7442-9F7A-81847943D603}" destId="{498A1560-4FA4-124C-ADB5-0FA0390AAC58}" srcOrd="3" destOrd="0" presId="urn:microsoft.com/office/officeart/2005/8/layout/default"/>
    <dgm:cxn modelId="{71835587-334F-A04F-B74B-418EF0404D2A}" type="presParOf" srcId="{3532F574-9E53-7442-9F7A-81847943D603}" destId="{2261D62D-521A-E14D-8922-72F6614F3DCC}" srcOrd="4" destOrd="0" presId="urn:microsoft.com/office/officeart/2005/8/layout/default"/>
    <dgm:cxn modelId="{4B755268-CACE-B148-BC1B-DB8007BF7243}" type="presParOf" srcId="{3532F574-9E53-7442-9F7A-81847943D603}" destId="{5899D3D1-6DC6-6441-B71B-E7447E07D962}" srcOrd="5" destOrd="0" presId="urn:microsoft.com/office/officeart/2005/8/layout/default"/>
    <dgm:cxn modelId="{7D42A6CC-1DF2-6B4C-94E4-D63B1078126F}" type="presParOf" srcId="{3532F574-9E53-7442-9F7A-81847943D603}" destId="{659BA2B5-6D77-864F-8CA3-F2DD6119A169}" srcOrd="6" destOrd="0" presId="urn:microsoft.com/office/officeart/2005/8/layout/default"/>
    <dgm:cxn modelId="{C92CAAE3-8713-A346-9E1C-05F1820CFBD9}" type="presParOf" srcId="{3532F574-9E53-7442-9F7A-81847943D603}" destId="{09F40D0C-30F3-7B4A-94D8-EE9180D64BD3}" srcOrd="7" destOrd="0" presId="urn:microsoft.com/office/officeart/2005/8/layout/default"/>
    <dgm:cxn modelId="{C6D07812-D06F-F14D-B6B4-6B90E4D4B9E0}" type="presParOf" srcId="{3532F574-9E53-7442-9F7A-81847943D603}" destId="{962B265E-5530-394D-871D-9C5C574AEBCA}" srcOrd="8" destOrd="0" presId="urn:microsoft.com/office/officeart/2005/8/layout/default"/>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17E11B-EFE8-F340-97FA-A76F226D9141}" type="doc">
      <dgm:prSet loTypeId="urn:microsoft.com/office/officeart/2005/8/layout/gear1" loCatId="relationship" qsTypeId="urn:microsoft.com/office/officeart/2005/8/quickstyle/simple4" qsCatId="simple" csTypeId="urn:microsoft.com/office/officeart/2005/8/colors/accent1_2" csCatId="accent1" phldr="1"/>
      <dgm:spPr/>
    </dgm:pt>
    <dgm:pt modelId="{6DE69B39-E768-B542-93A7-57DC7830B4C2}">
      <dgm:prSet phldrT="[Text]" custT="1"/>
      <dgm:spPr>
        <a:ln>
          <a:solidFill>
            <a:schemeClr val="tx1"/>
          </a:solidFill>
        </a:ln>
      </dgm:spPr>
      <dgm:t>
        <a:bodyPr/>
        <a:lstStyle/>
        <a:p>
          <a:r>
            <a:rPr lang="en-US" sz="2000" b="1" i="0" dirty="0" smtClean="0">
              <a:effectLst>
                <a:outerShdw blurRad="38100" dist="38100" dir="2700000" algn="tl">
                  <a:srgbClr val="000000">
                    <a:alpha val="43137"/>
                  </a:srgbClr>
                </a:outerShdw>
              </a:effectLst>
            </a:rPr>
            <a:t>Prime curves over Z</a:t>
          </a:r>
          <a:r>
            <a:rPr lang="en-US" sz="2000" b="1" i="0" baseline="-25000" dirty="0" smtClean="0">
              <a:effectLst>
                <a:outerShdw blurRad="38100" dist="38100" dir="2700000" algn="tl">
                  <a:srgbClr val="000000">
                    <a:alpha val="43137"/>
                  </a:srgbClr>
                </a:outerShdw>
              </a:effectLst>
            </a:rPr>
            <a:t>p</a:t>
          </a:r>
          <a:r>
            <a:rPr lang="en-US" sz="2000" b="1" i="0" dirty="0" smtClean="0">
              <a:effectLst>
                <a:outerShdw blurRad="38100" dist="38100" dir="2700000" algn="tl">
                  <a:srgbClr val="000000">
                    <a:alpha val="43137"/>
                  </a:srgbClr>
                </a:outerShdw>
              </a:effectLst>
            </a:rPr>
            <a:t> </a:t>
          </a:r>
          <a:endParaRPr lang="en-US" sz="2000" b="1" i="0" dirty="0">
            <a:effectLst>
              <a:outerShdw blurRad="38100" dist="38100" dir="2700000" algn="tl">
                <a:srgbClr val="000000">
                  <a:alpha val="43137"/>
                </a:srgbClr>
              </a:outerShdw>
            </a:effectLst>
          </a:endParaRPr>
        </a:p>
      </dgm:t>
    </dgm:pt>
    <dgm:pt modelId="{065459E3-1DE1-0A43-9CE0-4189D686A0E4}" type="parTrans" cxnId="{70F15E2F-EA97-A645-BD6C-EB5D627A172D}">
      <dgm:prSet/>
      <dgm:spPr/>
      <dgm:t>
        <a:bodyPr/>
        <a:lstStyle/>
        <a:p>
          <a:endParaRPr lang="en-US"/>
        </a:p>
      </dgm:t>
    </dgm:pt>
    <dgm:pt modelId="{5472B6D6-2A0D-BE48-BBC8-87F9DCE15FC8}" type="sibTrans" cxnId="{70F15E2F-EA97-A645-BD6C-EB5D627A172D}">
      <dgm:prSet/>
      <dgm:spPr>
        <a:ln>
          <a:solidFill>
            <a:schemeClr val="tx2">
              <a:lumMod val="75000"/>
            </a:schemeClr>
          </a:solidFill>
        </a:ln>
      </dgm:spPr>
      <dgm:t>
        <a:bodyPr/>
        <a:lstStyle/>
        <a:p>
          <a:endParaRPr lang="en-US" dirty="0"/>
        </a:p>
      </dgm:t>
    </dgm:pt>
    <dgm:pt modelId="{6B4C5605-878D-E34A-92C4-BB7D6D1F38E6}">
      <dgm:prSet custT="1"/>
      <dgm:spPr/>
      <dgm:t>
        <a:bodyPr/>
        <a:lstStyle/>
        <a:p>
          <a:r>
            <a:rPr lang="en-US" sz="1600" b="1" i="0" dirty="0" smtClean="0"/>
            <a:t>Use a cubic equation in which the variables and coefficients all take on values in the set of integers from 0 through p-1 and in which calculations are performed modulo p</a:t>
          </a:r>
        </a:p>
      </dgm:t>
    </dgm:pt>
    <dgm:pt modelId="{956ADCF0-4FF3-5841-95F3-5E7AA3236D5A}" type="parTrans" cxnId="{891078A0-D0A6-8342-A915-7AFBBCB9C969}">
      <dgm:prSet/>
      <dgm:spPr/>
      <dgm:t>
        <a:bodyPr/>
        <a:lstStyle/>
        <a:p>
          <a:endParaRPr lang="en-US"/>
        </a:p>
      </dgm:t>
    </dgm:pt>
    <dgm:pt modelId="{B81F0BA3-4FE8-5148-B496-7D88A3727C29}" type="sibTrans" cxnId="{891078A0-D0A6-8342-A915-7AFBBCB9C969}">
      <dgm:prSet/>
      <dgm:spPr/>
      <dgm:t>
        <a:bodyPr/>
        <a:lstStyle/>
        <a:p>
          <a:endParaRPr lang="en-US"/>
        </a:p>
      </dgm:t>
    </dgm:pt>
    <dgm:pt modelId="{0A694D85-F85B-BF4C-B05F-0E0EBD68F807}">
      <dgm:prSet custT="1"/>
      <dgm:spPr/>
      <dgm:t>
        <a:bodyPr/>
        <a:lstStyle/>
        <a:p>
          <a:r>
            <a:rPr lang="en-US" sz="1600" b="1" i="0" dirty="0" smtClean="0"/>
            <a:t>Best for software applications</a:t>
          </a:r>
        </a:p>
      </dgm:t>
    </dgm:pt>
    <dgm:pt modelId="{2042628F-30AE-E24C-B62F-492218B9A4A5}" type="parTrans" cxnId="{EFD4D791-93E9-9345-ABC2-2A1E8B57B648}">
      <dgm:prSet/>
      <dgm:spPr/>
      <dgm:t>
        <a:bodyPr/>
        <a:lstStyle/>
        <a:p>
          <a:endParaRPr lang="en-US"/>
        </a:p>
      </dgm:t>
    </dgm:pt>
    <dgm:pt modelId="{DCFB7DDF-C9A2-9343-802B-C769D028500A}" type="sibTrans" cxnId="{EFD4D791-93E9-9345-ABC2-2A1E8B57B648}">
      <dgm:prSet/>
      <dgm:spPr/>
      <dgm:t>
        <a:bodyPr/>
        <a:lstStyle/>
        <a:p>
          <a:endParaRPr lang="en-US"/>
        </a:p>
      </dgm:t>
    </dgm:pt>
    <dgm:pt modelId="{7C0FB066-FFE6-3844-BF36-C71D12E5E9B6}">
      <dgm:prSet custT="1"/>
      <dgm:spPr>
        <a:ln>
          <a:solidFill>
            <a:schemeClr val="tx1"/>
          </a:solidFill>
        </a:ln>
      </dgm:spPr>
      <dgm:t>
        <a:bodyPr/>
        <a:lstStyle/>
        <a:p>
          <a:r>
            <a:rPr lang="en-US" sz="2000" b="1" i="0" dirty="0" smtClean="0">
              <a:effectLst>
                <a:outerShdw blurRad="38100" dist="38100" dir="2700000" algn="tl">
                  <a:srgbClr val="000000">
                    <a:alpha val="43137"/>
                  </a:srgbClr>
                </a:outerShdw>
              </a:effectLst>
            </a:rPr>
            <a:t>Binary curves over GF(2</a:t>
          </a:r>
          <a:r>
            <a:rPr lang="en-US" sz="2000" b="1" i="0" baseline="30000" dirty="0" smtClean="0">
              <a:effectLst>
                <a:outerShdw blurRad="38100" dist="38100" dir="2700000" algn="tl">
                  <a:srgbClr val="000000">
                    <a:alpha val="43137"/>
                  </a:srgbClr>
                </a:outerShdw>
              </a:effectLst>
            </a:rPr>
            <a:t>m</a:t>
          </a:r>
          <a:r>
            <a:rPr lang="en-US" sz="2000" b="1" i="0" dirty="0" smtClean="0">
              <a:effectLst>
                <a:outerShdw blurRad="38100" dist="38100" dir="2700000" algn="tl">
                  <a:srgbClr val="000000">
                    <a:alpha val="43137"/>
                  </a:srgbClr>
                </a:outerShdw>
              </a:effectLst>
            </a:rPr>
            <a:t>)</a:t>
          </a:r>
        </a:p>
      </dgm:t>
    </dgm:pt>
    <dgm:pt modelId="{1181F83D-54AC-A247-9918-D9C23BE0B326}" type="parTrans" cxnId="{C710B845-A666-B046-940E-F4DFE247F67F}">
      <dgm:prSet/>
      <dgm:spPr/>
      <dgm:t>
        <a:bodyPr/>
        <a:lstStyle/>
        <a:p>
          <a:endParaRPr lang="en-US"/>
        </a:p>
      </dgm:t>
    </dgm:pt>
    <dgm:pt modelId="{A4394597-5504-3B44-B086-E057B8E4654B}" type="sibTrans" cxnId="{C710B845-A666-B046-940E-F4DFE247F67F}">
      <dgm:prSet/>
      <dgm:spPr>
        <a:ln>
          <a:solidFill>
            <a:schemeClr val="tx2">
              <a:lumMod val="75000"/>
            </a:schemeClr>
          </a:solidFill>
        </a:ln>
      </dgm:spPr>
      <dgm:t>
        <a:bodyPr/>
        <a:lstStyle/>
        <a:p>
          <a:endParaRPr lang="en-US" dirty="0"/>
        </a:p>
      </dgm:t>
    </dgm:pt>
    <dgm:pt modelId="{A42DB2BF-F813-3447-8CFF-D045E26A845D}">
      <dgm:prSet custT="1"/>
      <dgm:spPr/>
      <dgm:t>
        <a:bodyPr/>
        <a:lstStyle/>
        <a:p>
          <a:r>
            <a:rPr lang="en-US" sz="1600" b="1" i="0" dirty="0" smtClean="0"/>
            <a:t>Variables and coefficients all take on values in GF(2</a:t>
          </a:r>
          <a:r>
            <a:rPr lang="en-US" sz="1600" b="1" i="0" baseline="30000" dirty="0" smtClean="0"/>
            <a:t>m</a:t>
          </a:r>
          <a:r>
            <a:rPr lang="en-US" sz="1600" b="1" i="0" dirty="0" smtClean="0"/>
            <a:t>) and in calculations are performed over GF(2</a:t>
          </a:r>
          <a:r>
            <a:rPr lang="en-US" sz="1600" b="1" i="0" baseline="30000" dirty="0" smtClean="0"/>
            <a:t>m</a:t>
          </a:r>
          <a:r>
            <a:rPr lang="en-US" sz="1600" b="1" i="0" dirty="0" smtClean="0"/>
            <a:t>)</a:t>
          </a:r>
        </a:p>
      </dgm:t>
    </dgm:pt>
    <dgm:pt modelId="{243B0B61-211C-B04D-8905-4E38F5180360}" type="parTrans" cxnId="{D7062004-69FA-524D-A02C-85FA88298BB1}">
      <dgm:prSet/>
      <dgm:spPr/>
      <dgm:t>
        <a:bodyPr/>
        <a:lstStyle/>
        <a:p>
          <a:endParaRPr lang="en-US"/>
        </a:p>
      </dgm:t>
    </dgm:pt>
    <dgm:pt modelId="{EBB56395-F4D3-8B4C-868A-17824FC11DBF}" type="sibTrans" cxnId="{D7062004-69FA-524D-A02C-85FA88298BB1}">
      <dgm:prSet/>
      <dgm:spPr/>
      <dgm:t>
        <a:bodyPr/>
        <a:lstStyle/>
        <a:p>
          <a:endParaRPr lang="en-US"/>
        </a:p>
      </dgm:t>
    </dgm:pt>
    <dgm:pt modelId="{D0759804-147F-6141-8C8A-B2FEAED54648}">
      <dgm:prSet custT="1"/>
      <dgm:spPr/>
      <dgm:t>
        <a:bodyPr/>
        <a:lstStyle/>
        <a:p>
          <a:r>
            <a:rPr lang="en-US" sz="1600" b="1" i="0" dirty="0" smtClean="0"/>
            <a:t>Best for hardware applications</a:t>
          </a:r>
          <a:endParaRPr lang="en-AU" sz="1600" b="1" i="0" dirty="0"/>
        </a:p>
      </dgm:t>
    </dgm:pt>
    <dgm:pt modelId="{C5BC9B2E-EE6B-A14F-9B03-A07CEDEA84FA}" type="parTrans" cxnId="{A8555C0D-6EBA-D64F-B244-555C2D96BF04}">
      <dgm:prSet/>
      <dgm:spPr/>
      <dgm:t>
        <a:bodyPr/>
        <a:lstStyle/>
        <a:p>
          <a:endParaRPr lang="en-US"/>
        </a:p>
      </dgm:t>
    </dgm:pt>
    <dgm:pt modelId="{93B6237D-8204-6A44-9972-A76643B6D2C1}" type="sibTrans" cxnId="{A8555C0D-6EBA-D64F-B244-555C2D96BF04}">
      <dgm:prSet/>
      <dgm:spPr/>
      <dgm:t>
        <a:bodyPr/>
        <a:lstStyle/>
        <a:p>
          <a:endParaRPr lang="en-US"/>
        </a:p>
      </dgm:t>
    </dgm:pt>
    <dgm:pt modelId="{01FDD008-C3A4-5A4C-B43F-9BED71CEEE1A}" type="pres">
      <dgm:prSet presAssocID="{7A17E11B-EFE8-F340-97FA-A76F226D9141}" presName="composite" presStyleCnt="0">
        <dgm:presLayoutVars>
          <dgm:chMax val="3"/>
          <dgm:animLvl val="lvl"/>
          <dgm:resizeHandles val="exact"/>
        </dgm:presLayoutVars>
      </dgm:prSet>
      <dgm:spPr/>
    </dgm:pt>
    <dgm:pt modelId="{1A7E9B53-7510-D743-A42E-01CC099323D6}" type="pres">
      <dgm:prSet presAssocID="{6DE69B39-E768-B542-93A7-57DC7830B4C2}" presName="gear1" presStyleLbl="node1" presStyleIdx="0" presStyleCnt="2" custLinFactNeighborX="8182" custLinFactNeighborY="-62621">
        <dgm:presLayoutVars>
          <dgm:chMax val="1"/>
          <dgm:bulletEnabled val="1"/>
        </dgm:presLayoutVars>
      </dgm:prSet>
      <dgm:spPr/>
      <dgm:t>
        <a:bodyPr/>
        <a:lstStyle/>
        <a:p>
          <a:endParaRPr lang="en-US"/>
        </a:p>
      </dgm:t>
    </dgm:pt>
    <dgm:pt modelId="{4D13FF03-E2B0-8643-B4FD-D5273076F692}" type="pres">
      <dgm:prSet presAssocID="{6DE69B39-E768-B542-93A7-57DC7830B4C2}" presName="gear1srcNode" presStyleLbl="node1" presStyleIdx="0" presStyleCnt="2"/>
      <dgm:spPr/>
      <dgm:t>
        <a:bodyPr/>
        <a:lstStyle/>
        <a:p>
          <a:endParaRPr lang="en-US"/>
        </a:p>
      </dgm:t>
    </dgm:pt>
    <dgm:pt modelId="{75F54A6B-3DB7-0E43-BEC1-C2FB38ED6137}" type="pres">
      <dgm:prSet presAssocID="{6DE69B39-E768-B542-93A7-57DC7830B4C2}" presName="gear1dstNode" presStyleLbl="node1" presStyleIdx="0" presStyleCnt="2"/>
      <dgm:spPr/>
      <dgm:t>
        <a:bodyPr/>
        <a:lstStyle/>
        <a:p>
          <a:endParaRPr lang="en-US"/>
        </a:p>
      </dgm:t>
    </dgm:pt>
    <dgm:pt modelId="{C754250D-58A8-8D4F-A148-7735BA217847}" type="pres">
      <dgm:prSet presAssocID="{6DE69B39-E768-B542-93A7-57DC7830B4C2}" presName="gear1ch" presStyleLbl="fgAcc1" presStyleIdx="0" presStyleCnt="2" custScaleX="339067" custScaleY="182450" custLinFactX="52391" custLinFactNeighborX="100000" custLinFactNeighborY="1026">
        <dgm:presLayoutVars>
          <dgm:chMax val="0"/>
          <dgm:bulletEnabled val="1"/>
        </dgm:presLayoutVars>
      </dgm:prSet>
      <dgm:spPr/>
      <dgm:t>
        <a:bodyPr/>
        <a:lstStyle/>
        <a:p>
          <a:endParaRPr lang="en-US"/>
        </a:p>
      </dgm:t>
    </dgm:pt>
    <dgm:pt modelId="{FBBA55B6-ABF9-3D42-8E2F-BAB8CE309BA9}" type="pres">
      <dgm:prSet presAssocID="{7C0FB066-FFE6-3844-BF36-C71D12E5E9B6}" presName="gear2" presStyleLbl="node1" presStyleIdx="1" presStyleCnt="2" custScaleX="135000" custScaleY="130002" custLinFactNeighborX="-11250" custLinFactNeighborY="-33603">
        <dgm:presLayoutVars>
          <dgm:chMax val="1"/>
          <dgm:bulletEnabled val="1"/>
        </dgm:presLayoutVars>
      </dgm:prSet>
      <dgm:spPr/>
      <dgm:t>
        <a:bodyPr/>
        <a:lstStyle/>
        <a:p>
          <a:endParaRPr lang="en-US"/>
        </a:p>
      </dgm:t>
    </dgm:pt>
    <dgm:pt modelId="{0B4CD660-A3A2-2946-8BC4-C71D3B3D9DC2}" type="pres">
      <dgm:prSet presAssocID="{7C0FB066-FFE6-3844-BF36-C71D12E5E9B6}" presName="gear2srcNode" presStyleLbl="node1" presStyleIdx="1" presStyleCnt="2"/>
      <dgm:spPr/>
      <dgm:t>
        <a:bodyPr/>
        <a:lstStyle/>
        <a:p>
          <a:endParaRPr lang="en-US"/>
        </a:p>
      </dgm:t>
    </dgm:pt>
    <dgm:pt modelId="{BB2A1780-45C0-124B-8E74-B7C8F4A0FD95}" type="pres">
      <dgm:prSet presAssocID="{7C0FB066-FFE6-3844-BF36-C71D12E5E9B6}" presName="gear2dstNode" presStyleLbl="node1" presStyleIdx="1" presStyleCnt="2"/>
      <dgm:spPr/>
      <dgm:t>
        <a:bodyPr/>
        <a:lstStyle/>
        <a:p>
          <a:endParaRPr lang="en-US"/>
        </a:p>
      </dgm:t>
    </dgm:pt>
    <dgm:pt modelId="{2B68AE07-9C59-A346-9082-A79E15F3E63B}" type="pres">
      <dgm:prSet presAssocID="{7C0FB066-FFE6-3844-BF36-C71D12E5E9B6}" presName="gear2ch" presStyleLbl="fgAcc1" presStyleIdx="1" presStyleCnt="2" custScaleX="293229" custScaleY="171816" custLinFactX="-67671" custLinFactY="100000" custLinFactNeighborX="-100000" custLinFactNeighborY="157614">
        <dgm:presLayoutVars>
          <dgm:chMax val="0"/>
          <dgm:bulletEnabled val="1"/>
        </dgm:presLayoutVars>
      </dgm:prSet>
      <dgm:spPr/>
      <dgm:t>
        <a:bodyPr/>
        <a:lstStyle/>
        <a:p>
          <a:endParaRPr lang="en-US"/>
        </a:p>
      </dgm:t>
    </dgm:pt>
    <dgm:pt modelId="{F5E23255-F49E-2A42-A437-3723C6FAA1D6}" type="pres">
      <dgm:prSet presAssocID="{5472B6D6-2A0D-BE48-BBC8-87F9DCE15FC8}" presName="connector1" presStyleLbl="sibTrans2D1" presStyleIdx="0" presStyleCnt="2" custScaleX="106948" custScaleY="82261" custLinFactNeighborX="24514" custLinFactNeighborY="-28414"/>
      <dgm:spPr/>
      <dgm:t>
        <a:bodyPr/>
        <a:lstStyle/>
        <a:p>
          <a:endParaRPr lang="en-US"/>
        </a:p>
      </dgm:t>
    </dgm:pt>
    <dgm:pt modelId="{B8D2BB96-4CE2-E14A-9E2F-7233319F3864}" type="pres">
      <dgm:prSet presAssocID="{A4394597-5504-3B44-B086-E057B8E4654B}" presName="connector2" presStyleLbl="sibTrans2D1" presStyleIdx="1" presStyleCnt="2" custLinFactNeighborX="-16454" custLinFactNeighborY="37860"/>
      <dgm:spPr/>
      <dgm:t>
        <a:bodyPr/>
        <a:lstStyle/>
        <a:p>
          <a:endParaRPr lang="en-US"/>
        </a:p>
      </dgm:t>
    </dgm:pt>
  </dgm:ptLst>
  <dgm:cxnLst>
    <dgm:cxn modelId="{38E7BE3B-2932-1C44-9239-A6F646FD0E52}" type="presOf" srcId="{D0759804-147F-6141-8C8A-B2FEAED54648}" destId="{2B68AE07-9C59-A346-9082-A79E15F3E63B}" srcOrd="0" destOrd="1" presId="urn:microsoft.com/office/officeart/2005/8/layout/gear1"/>
    <dgm:cxn modelId="{B5633C66-3B2A-0946-9DDA-DAC6EF2E1D2B}" type="presOf" srcId="{6DE69B39-E768-B542-93A7-57DC7830B4C2}" destId="{4D13FF03-E2B0-8643-B4FD-D5273076F692}" srcOrd="1" destOrd="0" presId="urn:microsoft.com/office/officeart/2005/8/layout/gear1"/>
    <dgm:cxn modelId="{C710B845-A666-B046-940E-F4DFE247F67F}" srcId="{7A17E11B-EFE8-F340-97FA-A76F226D9141}" destId="{7C0FB066-FFE6-3844-BF36-C71D12E5E9B6}" srcOrd="1" destOrd="0" parTransId="{1181F83D-54AC-A247-9918-D9C23BE0B326}" sibTransId="{A4394597-5504-3B44-B086-E057B8E4654B}"/>
    <dgm:cxn modelId="{EFD4D791-93E9-9345-ABC2-2A1E8B57B648}" srcId="{6DE69B39-E768-B542-93A7-57DC7830B4C2}" destId="{0A694D85-F85B-BF4C-B05F-0E0EBD68F807}" srcOrd="1" destOrd="0" parTransId="{2042628F-30AE-E24C-B62F-492218B9A4A5}" sibTransId="{DCFB7DDF-C9A2-9343-802B-C769D028500A}"/>
    <dgm:cxn modelId="{D7062004-69FA-524D-A02C-85FA88298BB1}" srcId="{7C0FB066-FFE6-3844-BF36-C71D12E5E9B6}" destId="{A42DB2BF-F813-3447-8CFF-D045E26A845D}" srcOrd="0" destOrd="0" parTransId="{243B0B61-211C-B04D-8905-4E38F5180360}" sibTransId="{EBB56395-F4D3-8B4C-868A-17824FC11DBF}"/>
    <dgm:cxn modelId="{C0FE904F-C9F0-2140-988A-C0B6B3AC2C95}" type="presOf" srcId="{A4394597-5504-3B44-B086-E057B8E4654B}" destId="{B8D2BB96-4CE2-E14A-9E2F-7233319F3864}" srcOrd="0" destOrd="0" presId="urn:microsoft.com/office/officeart/2005/8/layout/gear1"/>
    <dgm:cxn modelId="{77557814-19C5-0445-9E74-6F904EF5079C}" type="presOf" srcId="{6B4C5605-878D-E34A-92C4-BB7D6D1F38E6}" destId="{C754250D-58A8-8D4F-A148-7735BA217847}" srcOrd="0" destOrd="0" presId="urn:microsoft.com/office/officeart/2005/8/layout/gear1"/>
    <dgm:cxn modelId="{F3BF82FC-E4A8-3145-BF9A-63DF17F5FAA0}" type="presOf" srcId="{7C0FB066-FFE6-3844-BF36-C71D12E5E9B6}" destId="{BB2A1780-45C0-124B-8E74-B7C8F4A0FD95}" srcOrd="2" destOrd="0" presId="urn:microsoft.com/office/officeart/2005/8/layout/gear1"/>
    <dgm:cxn modelId="{70F15E2F-EA97-A645-BD6C-EB5D627A172D}" srcId="{7A17E11B-EFE8-F340-97FA-A76F226D9141}" destId="{6DE69B39-E768-B542-93A7-57DC7830B4C2}" srcOrd="0" destOrd="0" parTransId="{065459E3-1DE1-0A43-9CE0-4189D686A0E4}" sibTransId="{5472B6D6-2A0D-BE48-BBC8-87F9DCE15FC8}"/>
    <dgm:cxn modelId="{A8555C0D-6EBA-D64F-B244-555C2D96BF04}" srcId="{7C0FB066-FFE6-3844-BF36-C71D12E5E9B6}" destId="{D0759804-147F-6141-8C8A-B2FEAED54648}" srcOrd="1" destOrd="0" parTransId="{C5BC9B2E-EE6B-A14F-9B03-A07CEDEA84FA}" sibTransId="{93B6237D-8204-6A44-9972-A76643B6D2C1}"/>
    <dgm:cxn modelId="{891078A0-D0A6-8342-A915-7AFBBCB9C969}" srcId="{6DE69B39-E768-B542-93A7-57DC7830B4C2}" destId="{6B4C5605-878D-E34A-92C4-BB7D6D1F38E6}" srcOrd="0" destOrd="0" parTransId="{956ADCF0-4FF3-5841-95F3-5E7AA3236D5A}" sibTransId="{B81F0BA3-4FE8-5148-B496-7D88A3727C29}"/>
    <dgm:cxn modelId="{4774CB93-D107-B848-B9D1-5205C89B77A2}" type="presOf" srcId="{7C0FB066-FFE6-3844-BF36-C71D12E5E9B6}" destId="{FBBA55B6-ABF9-3D42-8E2F-BAB8CE309BA9}" srcOrd="0" destOrd="0" presId="urn:microsoft.com/office/officeart/2005/8/layout/gear1"/>
    <dgm:cxn modelId="{DC1BDE4E-8EBA-9B42-ABA4-D6B7B0164A71}" type="presOf" srcId="{6DE69B39-E768-B542-93A7-57DC7830B4C2}" destId="{75F54A6B-3DB7-0E43-BEC1-C2FB38ED6137}" srcOrd="2" destOrd="0" presId="urn:microsoft.com/office/officeart/2005/8/layout/gear1"/>
    <dgm:cxn modelId="{5CCA999E-0E2D-AB40-8A10-DFA66ECE1845}" type="presOf" srcId="{5472B6D6-2A0D-BE48-BBC8-87F9DCE15FC8}" destId="{F5E23255-F49E-2A42-A437-3723C6FAA1D6}" srcOrd="0" destOrd="0" presId="urn:microsoft.com/office/officeart/2005/8/layout/gear1"/>
    <dgm:cxn modelId="{54400BAC-541B-2741-A5B8-FDD1DF7688DA}" type="presOf" srcId="{6DE69B39-E768-B542-93A7-57DC7830B4C2}" destId="{1A7E9B53-7510-D743-A42E-01CC099323D6}" srcOrd="0" destOrd="0" presId="urn:microsoft.com/office/officeart/2005/8/layout/gear1"/>
    <dgm:cxn modelId="{14DA8FDD-DD5B-0245-8B60-138ED05E60C3}" type="presOf" srcId="{7C0FB066-FFE6-3844-BF36-C71D12E5E9B6}" destId="{0B4CD660-A3A2-2946-8BC4-C71D3B3D9DC2}" srcOrd="1" destOrd="0" presId="urn:microsoft.com/office/officeart/2005/8/layout/gear1"/>
    <dgm:cxn modelId="{B37E0E0C-F2C2-7941-8CD5-11DCB2869554}" type="presOf" srcId="{0A694D85-F85B-BF4C-B05F-0E0EBD68F807}" destId="{C754250D-58A8-8D4F-A148-7735BA217847}" srcOrd="0" destOrd="1" presId="urn:microsoft.com/office/officeart/2005/8/layout/gear1"/>
    <dgm:cxn modelId="{BCBA25F0-F2B1-6B44-BB84-0D76ACC7C390}" type="presOf" srcId="{7A17E11B-EFE8-F340-97FA-A76F226D9141}" destId="{01FDD008-C3A4-5A4C-B43F-9BED71CEEE1A}" srcOrd="0" destOrd="0" presId="urn:microsoft.com/office/officeart/2005/8/layout/gear1"/>
    <dgm:cxn modelId="{DCEEDF85-D0B2-1545-88EB-25C8B91287B9}" type="presOf" srcId="{A42DB2BF-F813-3447-8CFF-D045E26A845D}" destId="{2B68AE07-9C59-A346-9082-A79E15F3E63B}" srcOrd="0" destOrd="0" presId="urn:microsoft.com/office/officeart/2005/8/layout/gear1"/>
    <dgm:cxn modelId="{7F88B398-F178-C245-935B-B8A15AFF9248}" type="presParOf" srcId="{01FDD008-C3A4-5A4C-B43F-9BED71CEEE1A}" destId="{1A7E9B53-7510-D743-A42E-01CC099323D6}" srcOrd="0" destOrd="0" presId="urn:microsoft.com/office/officeart/2005/8/layout/gear1"/>
    <dgm:cxn modelId="{67019E92-0007-524C-AF7C-7999EB4166ED}" type="presParOf" srcId="{01FDD008-C3A4-5A4C-B43F-9BED71CEEE1A}" destId="{4D13FF03-E2B0-8643-B4FD-D5273076F692}" srcOrd="1" destOrd="0" presId="urn:microsoft.com/office/officeart/2005/8/layout/gear1"/>
    <dgm:cxn modelId="{D83D4068-2208-444C-B909-30BC8E3C29EE}" type="presParOf" srcId="{01FDD008-C3A4-5A4C-B43F-9BED71CEEE1A}" destId="{75F54A6B-3DB7-0E43-BEC1-C2FB38ED6137}" srcOrd="2" destOrd="0" presId="urn:microsoft.com/office/officeart/2005/8/layout/gear1"/>
    <dgm:cxn modelId="{F11D394B-F4B5-1E41-89F4-8EF3EDC53C09}" type="presParOf" srcId="{01FDD008-C3A4-5A4C-B43F-9BED71CEEE1A}" destId="{C754250D-58A8-8D4F-A148-7735BA217847}" srcOrd="3" destOrd="0" presId="urn:microsoft.com/office/officeart/2005/8/layout/gear1"/>
    <dgm:cxn modelId="{6132A8E1-8C20-3B49-93BB-321DDBD9AD7A}" type="presParOf" srcId="{01FDD008-C3A4-5A4C-B43F-9BED71CEEE1A}" destId="{FBBA55B6-ABF9-3D42-8E2F-BAB8CE309BA9}" srcOrd="4" destOrd="0" presId="urn:microsoft.com/office/officeart/2005/8/layout/gear1"/>
    <dgm:cxn modelId="{28BD5513-009C-D942-94E6-869F106F3580}" type="presParOf" srcId="{01FDD008-C3A4-5A4C-B43F-9BED71CEEE1A}" destId="{0B4CD660-A3A2-2946-8BC4-C71D3B3D9DC2}" srcOrd="5" destOrd="0" presId="urn:microsoft.com/office/officeart/2005/8/layout/gear1"/>
    <dgm:cxn modelId="{4EA97289-A92B-9946-89BD-901771F5C77A}" type="presParOf" srcId="{01FDD008-C3A4-5A4C-B43F-9BED71CEEE1A}" destId="{BB2A1780-45C0-124B-8E74-B7C8F4A0FD95}" srcOrd="6" destOrd="0" presId="urn:microsoft.com/office/officeart/2005/8/layout/gear1"/>
    <dgm:cxn modelId="{DE08FF1E-1B18-5C47-856C-0EABCBAC488E}" type="presParOf" srcId="{01FDD008-C3A4-5A4C-B43F-9BED71CEEE1A}" destId="{2B68AE07-9C59-A346-9082-A79E15F3E63B}" srcOrd="7" destOrd="0" presId="urn:microsoft.com/office/officeart/2005/8/layout/gear1"/>
    <dgm:cxn modelId="{AF517B85-DAF1-5B43-BA2C-99C048C0A753}" type="presParOf" srcId="{01FDD008-C3A4-5A4C-B43F-9BED71CEEE1A}" destId="{F5E23255-F49E-2A42-A437-3723C6FAA1D6}" srcOrd="8" destOrd="0" presId="urn:microsoft.com/office/officeart/2005/8/layout/gear1"/>
    <dgm:cxn modelId="{249F5F53-AB9C-BF44-B7D9-9C8CA0CADE76}" type="presParOf" srcId="{01FDD008-C3A4-5A4C-B43F-9BED71CEEE1A}" destId="{B8D2BB96-4CE2-E14A-9E2F-7233319F3864}" srcOrd="9" destOrd="0" presId="urn:microsoft.com/office/officeart/2005/8/layout/gear1"/>
  </dgm:cxnLst>
  <dgm:bg/>
  <dgm:whole>
    <a:ln>
      <a:noFill/>
    </a:ln>
  </dgm:whole>
  <dgm:extLst>
    <a:ext uri="http://schemas.microsoft.com/office/drawing/2008/diagram">
      <dsp:dataModelExt xmlns:dsp="http://schemas.microsoft.com/office/drawing/2008/diagram" xmlns=""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13DB4F7-2C18-974B-9C26-9844767B3D59}" type="doc">
      <dgm:prSet loTypeId="urn:microsoft.com/office/officeart/2005/8/layout/vList6" loCatId="process" qsTypeId="urn:microsoft.com/office/officeart/2005/8/quickstyle/simple4" qsCatId="simple" csTypeId="urn:microsoft.com/office/officeart/2005/8/colors/accent1_2" csCatId="accent1" phldr="1"/>
      <dgm:spPr/>
      <dgm:t>
        <a:bodyPr/>
        <a:lstStyle/>
        <a:p>
          <a:endParaRPr lang="en-US"/>
        </a:p>
      </dgm:t>
    </dgm:pt>
    <dgm:pt modelId="{9B29D38E-91A5-7A40-B874-89F820F02D26}">
      <dgm:prSet phldrT="[Text]"/>
      <dgm:spPr>
        <a:solidFill>
          <a:schemeClr val="accent1"/>
        </a:solidFill>
      </dgm:spPr>
      <dgm:t>
        <a:bodyPr/>
        <a:lstStyle/>
        <a:p>
          <a:r>
            <a:rPr lang="en-US" dirty="0" smtClean="0">
              <a:effectLst>
                <a:outerShdw blurRad="38100" dist="38100" dir="2700000" algn="tl">
                  <a:srgbClr val="000000">
                    <a:alpha val="43137"/>
                  </a:srgbClr>
                </a:outerShdw>
              </a:effectLst>
            </a:rPr>
            <a:t>To form a cryptographic system using elliptic curves, we need to find a “hard problem” corresponding to factoring the product of two primes or taking the discrete logarithm</a:t>
          </a:r>
          <a:endParaRPr lang="en-US" dirty="0">
            <a:effectLst>
              <a:outerShdw blurRad="38100" dist="38100" dir="2700000" algn="tl">
                <a:srgbClr val="000000">
                  <a:alpha val="43137"/>
                </a:srgbClr>
              </a:outerShdw>
            </a:effectLst>
          </a:endParaRPr>
        </a:p>
      </dgm:t>
    </dgm:pt>
    <dgm:pt modelId="{ACAE2C13-BB39-6B41-8CE6-BE28B1894C55}" type="parTrans" cxnId="{DE42EB1F-208E-4946-937C-B82E5D595A9F}">
      <dgm:prSet/>
      <dgm:spPr/>
      <dgm:t>
        <a:bodyPr/>
        <a:lstStyle/>
        <a:p>
          <a:endParaRPr lang="en-US"/>
        </a:p>
      </dgm:t>
    </dgm:pt>
    <dgm:pt modelId="{AB3ED1D0-2F56-A74C-A98E-EB462406BD2C}" type="sibTrans" cxnId="{DE42EB1F-208E-4946-937C-B82E5D595A9F}">
      <dgm:prSet/>
      <dgm:spPr/>
      <dgm:t>
        <a:bodyPr/>
        <a:lstStyle/>
        <a:p>
          <a:endParaRPr lang="en-US"/>
        </a:p>
      </dgm:t>
    </dgm:pt>
    <dgm:pt modelId="{3C584647-FC30-174F-99E5-993501D024CF}">
      <dgm:prSet/>
      <dgm:spPr>
        <a:solidFill>
          <a:schemeClr val="bg1"/>
        </a:solidFill>
        <a:ln>
          <a:solidFill>
            <a:schemeClr val="bg2"/>
          </a:solidFill>
        </a:ln>
      </dgm:spPr>
      <dgm:t>
        <a:bodyPr/>
        <a:lstStyle/>
        <a:p>
          <a:r>
            <a:rPr lang="en-US" i="1" dirty="0" smtClean="0"/>
            <a:t>Q=kP, </a:t>
          </a:r>
          <a:r>
            <a:rPr lang="en-US" dirty="0" smtClean="0"/>
            <a:t>where </a:t>
          </a:r>
          <a:r>
            <a:rPr lang="en-US" i="1" dirty="0" smtClean="0"/>
            <a:t>Q, P</a:t>
          </a:r>
          <a:r>
            <a:rPr lang="en-US" dirty="0" smtClean="0"/>
            <a:t> belong to a prime curve</a:t>
          </a:r>
        </a:p>
      </dgm:t>
    </dgm:pt>
    <dgm:pt modelId="{3A875B3B-95C8-534E-AE40-DAD45B93158F}" type="parTrans" cxnId="{EFB8F1DA-E414-464D-9C0D-D6E197E01F4C}">
      <dgm:prSet/>
      <dgm:spPr/>
      <dgm:t>
        <a:bodyPr/>
        <a:lstStyle/>
        <a:p>
          <a:endParaRPr lang="en-US"/>
        </a:p>
      </dgm:t>
    </dgm:pt>
    <dgm:pt modelId="{D25E467D-B1C9-1445-A889-95888C981F8A}" type="sibTrans" cxnId="{EFB8F1DA-E414-464D-9C0D-D6E197E01F4C}">
      <dgm:prSet/>
      <dgm:spPr/>
      <dgm:t>
        <a:bodyPr/>
        <a:lstStyle/>
        <a:p>
          <a:endParaRPr lang="en-US"/>
        </a:p>
      </dgm:t>
    </dgm:pt>
    <dgm:pt modelId="{F26C0517-C912-DA41-AF56-1F46AA579402}">
      <dgm:prSet/>
      <dgm:spPr>
        <a:solidFill>
          <a:schemeClr val="bg1"/>
        </a:solidFill>
        <a:ln>
          <a:solidFill>
            <a:schemeClr val="bg2"/>
          </a:solidFill>
        </a:ln>
      </dgm:spPr>
      <dgm:t>
        <a:bodyPr/>
        <a:lstStyle/>
        <a:p>
          <a:r>
            <a:rPr lang="en-US" dirty="0" smtClean="0"/>
            <a:t>Is “easy” to compute </a:t>
          </a:r>
          <a:r>
            <a:rPr lang="en-US" i="1" dirty="0" smtClean="0"/>
            <a:t>Q </a:t>
          </a:r>
          <a:r>
            <a:rPr lang="en-US" dirty="0" smtClean="0"/>
            <a:t>given </a:t>
          </a:r>
          <a:r>
            <a:rPr lang="en-US" i="1" dirty="0" smtClean="0"/>
            <a:t>k </a:t>
          </a:r>
          <a:r>
            <a:rPr lang="en-US" dirty="0" smtClean="0"/>
            <a:t>and </a:t>
          </a:r>
          <a:r>
            <a:rPr lang="en-US" i="1" dirty="0" smtClean="0"/>
            <a:t>P</a:t>
          </a:r>
        </a:p>
      </dgm:t>
    </dgm:pt>
    <dgm:pt modelId="{E9262F4E-91EF-2C48-AD7C-6FB077621D23}" type="parTrans" cxnId="{D395546A-3AA5-1E4B-8DC8-7DA75680F542}">
      <dgm:prSet/>
      <dgm:spPr/>
      <dgm:t>
        <a:bodyPr/>
        <a:lstStyle/>
        <a:p>
          <a:endParaRPr lang="en-US"/>
        </a:p>
      </dgm:t>
    </dgm:pt>
    <dgm:pt modelId="{A565EF87-32A5-8D4F-B298-21D94F2E1F6E}" type="sibTrans" cxnId="{D395546A-3AA5-1E4B-8DC8-7DA75680F542}">
      <dgm:prSet/>
      <dgm:spPr/>
      <dgm:t>
        <a:bodyPr/>
        <a:lstStyle/>
        <a:p>
          <a:endParaRPr lang="en-US"/>
        </a:p>
      </dgm:t>
    </dgm:pt>
    <dgm:pt modelId="{30E00427-3755-1540-AB38-BC50FC055B26}">
      <dgm:prSet/>
      <dgm:spPr>
        <a:solidFill>
          <a:schemeClr val="bg1"/>
        </a:solidFill>
        <a:ln>
          <a:solidFill>
            <a:schemeClr val="bg2"/>
          </a:solidFill>
        </a:ln>
      </dgm:spPr>
      <dgm:t>
        <a:bodyPr/>
        <a:lstStyle/>
        <a:p>
          <a:r>
            <a:rPr lang="en-US" dirty="0" smtClean="0"/>
            <a:t>But “hard” to find </a:t>
          </a:r>
          <a:r>
            <a:rPr lang="en-US" i="1" dirty="0" smtClean="0"/>
            <a:t>k</a:t>
          </a:r>
          <a:r>
            <a:rPr lang="en-US" dirty="0" smtClean="0"/>
            <a:t> given </a:t>
          </a:r>
          <a:r>
            <a:rPr lang="en-US" i="1" dirty="0" smtClean="0"/>
            <a:t>Q, </a:t>
          </a:r>
          <a:r>
            <a:rPr lang="en-US" dirty="0" smtClean="0"/>
            <a:t>and </a:t>
          </a:r>
          <a:r>
            <a:rPr lang="en-US" i="1" dirty="0" smtClean="0"/>
            <a:t>P</a:t>
          </a:r>
        </a:p>
      </dgm:t>
    </dgm:pt>
    <dgm:pt modelId="{813922C6-6472-1E43-B8B4-1A736B5B2FBC}" type="parTrans" cxnId="{71A4DBA1-ACC6-8D41-83E3-904FFE3DFE54}">
      <dgm:prSet/>
      <dgm:spPr/>
      <dgm:t>
        <a:bodyPr/>
        <a:lstStyle/>
        <a:p>
          <a:endParaRPr lang="en-US"/>
        </a:p>
      </dgm:t>
    </dgm:pt>
    <dgm:pt modelId="{362AA1BB-6F66-E546-84D4-08EAE5E5F1EF}" type="sibTrans" cxnId="{71A4DBA1-ACC6-8D41-83E3-904FFE3DFE54}">
      <dgm:prSet/>
      <dgm:spPr/>
      <dgm:t>
        <a:bodyPr/>
        <a:lstStyle/>
        <a:p>
          <a:endParaRPr lang="en-US"/>
        </a:p>
      </dgm:t>
    </dgm:pt>
    <dgm:pt modelId="{1FD4B571-3E6E-DB4B-B5E4-9B63B1D3FA87}">
      <dgm:prSet/>
      <dgm:spPr>
        <a:solidFill>
          <a:schemeClr val="bg1"/>
        </a:solidFill>
        <a:ln>
          <a:solidFill>
            <a:schemeClr val="bg2"/>
          </a:solidFill>
        </a:ln>
      </dgm:spPr>
      <dgm:t>
        <a:bodyPr/>
        <a:lstStyle/>
        <a:p>
          <a:r>
            <a:rPr lang="en-US" dirty="0" smtClean="0"/>
            <a:t>Known as the elliptic curve logarithm problem</a:t>
          </a:r>
        </a:p>
      </dgm:t>
    </dgm:pt>
    <dgm:pt modelId="{E84E6925-1AAB-0A48-900D-BA958399F3E7}" type="parTrans" cxnId="{9856E6BA-280A-504E-951E-A3D8879E4350}">
      <dgm:prSet/>
      <dgm:spPr/>
      <dgm:t>
        <a:bodyPr/>
        <a:lstStyle/>
        <a:p>
          <a:endParaRPr lang="en-US"/>
        </a:p>
      </dgm:t>
    </dgm:pt>
    <dgm:pt modelId="{90B19BD8-750C-7344-8ABE-A69E9FFC6826}" type="sibTrans" cxnId="{9856E6BA-280A-504E-951E-A3D8879E4350}">
      <dgm:prSet/>
      <dgm:spPr/>
      <dgm:t>
        <a:bodyPr/>
        <a:lstStyle/>
        <a:p>
          <a:endParaRPr lang="en-US"/>
        </a:p>
      </dgm:t>
    </dgm:pt>
    <dgm:pt modelId="{A433E237-4918-4849-8C87-E8E133720A4C}" type="pres">
      <dgm:prSet presAssocID="{613DB4F7-2C18-974B-9C26-9844767B3D59}" presName="Name0" presStyleCnt="0">
        <dgm:presLayoutVars>
          <dgm:dir/>
          <dgm:animLvl val="lvl"/>
          <dgm:resizeHandles/>
        </dgm:presLayoutVars>
      </dgm:prSet>
      <dgm:spPr/>
      <dgm:t>
        <a:bodyPr/>
        <a:lstStyle/>
        <a:p>
          <a:endParaRPr lang="en-US"/>
        </a:p>
      </dgm:t>
    </dgm:pt>
    <dgm:pt modelId="{2DB36A17-BDC6-0B4A-BD30-E748EDB0532D}" type="pres">
      <dgm:prSet presAssocID="{9B29D38E-91A5-7A40-B874-89F820F02D26}" presName="linNode" presStyleCnt="0"/>
      <dgm:spPr/>
    </dgm:pt>
    <dgm:pt modelId="{2853AFA9-369E-FB4A-8EC0-DA8709AE940B}" type="pres">
      <dgm:prSet presAssocID="{9B29D38E-91A5-7A40-B874-89F820F02D26}" presName="parentShp" presStyleLbl="node1" presStyleIdx="0" presStyleCnt="1">
        <dgm:presLayoutVars>
          <dgm:bulletEnabled val="1"/>
        </dgm:presLayoutVars>
      </dgm:prSet>
      <dgm:spPr/>
      <dgm:t>
        <a:bodyPr/>
        <a:lstStyle/>
        <a:p>
          <a:endParaRPr lang="en-US"/>
        </a:p>
      </dgm:t>
    </dgm:pt>
    <dgm:pt modelId="{D7D330C6-96D4-C64F-9385-1967CFC9F58B}" type="pres">
      <dgm:prSet presAssocID="{9B29D38E-91A5-7A40-B874-89F820F02D26}" presName="childShp" presStyleLbl="bgAccFollowNode1" presStyleIdx="0" presStyleCnt="1">
        <dgm:presLayoutVars>
          <dgm:bulletEnabled val="1"/>
        </dgm:presLayoutVars>
      </dgm:prSet>
      <dgm:spPr/>
      <dgm:t>
        <a:bodyPr/>
        <a:lstStyle/>
        <a:p>
          <a:endParaRPr lang="en-US"/>
        </a:p>
      </dgm:t>
    </dgm:pt>
  </dgm:ptLst>
  <dgm:cxnLst>
    <dgm:cxn modelId="{9856E6BA-280A-504E-951E-A3D8879E4350}" srcId="{9B29D38E-91A5-7A40-B874-89F820F02D26}" destId="{1FD4B571-3E6E-DB4B-B5E4-9B63B1D3FA87}" srcOrd="3" destOrd="0" parTransId="{E84E6925-1AAB-0A48-900D-BA958399F3E7}" sibTransId="{90B19BD8-750C-7344-8ABE-A69E9FFC6826}"/>
    <dgm:cxn modelId="{D3A81196-480D-EE47-BF2D-9F3CE54A8CB0}" type="presOf" srcId="{3C584647-FC30-174F-99E5-993501D024CF}" destId="{D7D330C6-96D4-C64F-9385-1967CFC9F58B}" srcOrd="0" destOrd="0" presId="urn:microsoft.com/office/officeart/2005/8/layout/vList6"/>
    <dgm:cxn modelId="{64A8BAE3-E940-6145-AC89-7560FEA7990E}" type="presOf" srcId="{9B29D38E-91A5-7A40-B874-89F820F02D26}" destId="{2853AFA9-369E-FB4A-8EC0-DA8709AE940B}" srcOrd="0" destOrd="0" presId="urn:microsoft.com/office/officeart/2005/8/layout/vList6"/>
    <dgm:cxn modelId="{FB419DE0-C6EB-F148-BACD-3E8A80E9A125}" type="presOf" srcId="{1FD4B571-3E6E-DB4B-B5E4-9B63B1D3FA87}" destId="{D7D330C6-96D4-C64F-9385-1967CFC9F58B}" srcOrd="0" destOrd="3" presId="urn:microsoft.com/office/officeart/2005/8/layout/vList6"/>
    <dgm:cxn modelId="{94229DE3-1F9F-164D-80C4-A478D074148C}" type="presOf" srcId="{30E00427-3755-1540-AB38-BC50FC055B26}" destId="{D7D330C6-96D4-C64F-9385-1967CFC9F58B}" srcOrd="0" destOrd="2" presId="urn:microsoft.com/office/officeart/2005/8/layout/vList6"/>
    <dgm:cxn modelId="{71A4DBA1-ACC6-8D41-83E3-904FFE3DFE54}" srcId="{9B29D38E-91A5-7A40-B874-89F820F02D26}" destId="{30E00427-3755-1540-AB38-BC50FC055B26}" srcOrd="2" destOrd="0" parTransId="{813922C6-6472-1E43-B8B4-1A736B5B2FBC}" sibTransId="{362AA1BB-6F66-E546-84D4-08EAE5E5F1EF}"/>
    <dgm:cxn modelId="{DE42EB1F-208E-4946-937C-B82E5D595A9F}" srcId="{613DB4F7-2C18-974B-9C26-9844767B3D59}" destId="{9B29D38E-91A5-7A40-B874-89F820F02D26}" srcOrd="0" destOrd="0" parTransId="{ACAE2C13-BB39-6B41-8CE6-BE28B1894C55}" sibTransId="{AB3ED1D0-2F56-A74C-A98E-EB462406BD2C}"/>
    <dgm:cxn modelId="{EFB8F1DA-E414-464D-9C0D-D6E197E01F4C}" srcId="{9B29D38E-91A5-7A40-B874-89F820F02D26}" destId="{3C584647-FC30-174F-99E5-993501D024CF}" srcOrd="0" destOrd="0" parTransId="{3A875B3B-95C8-534E-AE40-DAD45B93158F}" sibTransId="{D25E467D-B1C9-1445-A889-95888C981F8A}"/>
    <dgm:cxn modelId="{49DA6F8B-019E-C24E-B81C-100A5DCC66B7}" type="presOf" srcId="{F26C0517-C912-DA41-AF56-1F46AA579402}" destId="{D7D330C6-96D4-C64F-9385-1967CFC9F58B}" srcOrd="0" destOrd="1" presId="urn:microsoft.com/office/officeart/2005/8/layout/vList6"/>
    <dgm:cxn modelId="{D395546A-3AA5-1E4B-8DC8-7DA75680F542}" srcId="{9B29D38E-91A5-7A40-B874-89F820F02D26}" destId="{F26C0517-C912-DA41-AF56-1F46AA579402}" srcOrd="1" destOrd="0" parTransId="{E9262F4E-91EF-2C48-AD7C-6FB077621D23}" sibTransId="{A565EF87-32A5-8D4F-B298-21D94F2E1F6E}"/>
    <dgm:cxn modelId="{5B66B12E-FF4D-6E4A-8A57-3F7346C79E7C}" type="presOf" srcId="{613DB4F7-2C18-974B-9C26-9844767B3D59}" destId="{A433E237-4918-4849-8C87-E8E133720A4C}" srcOrd="0" destOrd="0" presId="urn:microsoft.com/office/officeart/2005/8/layout/vList6"/>
    <dgm:cxn modelId="{967C18EE-EA6B-DE4E-B2B3-DBDF1213D442}" type="presParOf" srcId="{A433E237-4918-4849-8C87-E8E133720A4C}" destId="{2DB36A17-BDC6-0B4A-BD30-E748EDB0532D}" srcOrd="0" destOrd="0" presId="urn:microsoft.com/office/officeart/2005/8/layout/vList6"/>
    <dgm:cxn modelId="{FB8A07B1-7E34-E342-9AC4-05E5A971C2D1}" type="presParOf" srcId="{2DB36A17-BDC6-0B4A-BD30-E748EDB0532D}" destId="{2853AFA9-369E-FB4A-8EC0-DA8709AE940B}" srcOrd="0" destOrd="0" presId="urn:microsoft.com/office/officeart/2005/8/layout/vList6"/>
    <dgm:cxn modelId="{526E7642-45C9-F74D-BF73-7DD1E0E8DE38}" type="presParOf" srcId="{2DB36A17-BDC6-0B4A-BD30-E748EDB0532D}" destId="{D7D330C6-96D4-C64F-9385-1967CFC9F58B}" srcOrd="1" destOrd="0" presId="urn:microsoft.com/office/officeart/2005/8/layout/vList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F57960FA-B7C6-A243-9B95-5DC485277954}">
      <dsp:nvSpPr>
        <dsp:cNvPr id="0" name=""/>
        <dsp:cNvSpPr/>
      </dsp:nvSpPr>
      <dsp:spPr>
        <a:xfrm>
          <a:off x="0" y="809624"/>
          <a:ext cx="2857499" cy="1714499"/>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0" kern="1200" dirty="0" smtClean="0">
              <a:effectLst>
                <a:outerShdw blurRad="38100" dist="38100" dir="2700000" algn="tl">
                  <a:srgbClr val="000000">
                    <a:alpha val="43137"/>
                  </a:srgbClr>
                </a:outerShdw>
              </a:effectLst>
            </a:rPr>
            <a:t>Announced in 1984 by T. </a:t>
          </a:r>
          <a:r>
            <a:rPr lang="en-US" sz="2200" b="0" kern="1200" dirty="0" err="1" smtClean="0">
              <a:effectLst>
                <a:outerShdw blurRad="38100" dist="38100" dir="2700000" algn="tl">
                  <a:srgbClr val="000000">
                    <a:alpha val="43137"/>
                  </a:srgbClr>
                </a:outerShdw>
              </a:effectLst>
            </a:rPr>
            <a:t>Elgamal</a:t>
          </a:r>
          <a:endParaRPr lang="en-US" sz="2200" b="0" kern="1200" dirty="0">
            <a:effectLst>
              <a:outerShdw blurRad="38100" dist="38100" dir="2700000" algn="tl">
                <a:srgbClr val="000000">
                  <a:alpha val="43137"/>
                </a:srgbClr>
              </a:outerShdw>
            </a:effectLst>
          </a:endParaRPr>
        </a:p>
      </dsp:txBody>
      <dsp:txXfrm>
        <a:off x="0" y="809624"/>
        <a:ext cx="2857499" cy="1714499"/>
      </dsp:txXfrm>
    </dsp:sp>
    <dsp:sp modelId="{A257FC50-FF91-3F4C-BFB5-E75AFE9E36EC}">
      <dsp:nvSpPr>
        <dsp:cNvPr id="0" name=""/>
        <dsp:cNvSpPr/>
      </dsp:nvSpPr>
      <dsp:spPr>
        <a:xfrm>
          <a:off x="3143249" y="809624"/>
          <a:ext cx="2857499" cy="1714499"/>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0" kern="1200" dirty="0" smtClean="0">
              <a:effectLst>
                <a:outerShdw blurRad="38100" dist="38100" dir="2700000" algn="tl">
                  <a:srgbClr val="000000">
                    <a:alpha val="43137"/>
                  </a:srgbClr>
                </a:outerShdw>
              </a:effectLst>
            </a:rPr>
            <a:t>Public-key scheme based on discrete logarithms closely related to the </a:t>
          </a:r>
          <a:r>
            <a:rPr lang="en-US" sz="2200" b="0" kern="1200" dirty="0" err="1" smtClean="0">
              <a:effectLst>
                <a:outerShdw blurRad="38100" dist="38100" dir="2700000" algn="tl">
                  <a:srgbClr val="000000">
                    <a:alpha val="43137"/>
                  </a:srgbClr>
                </a:outerShdw>
              </a:effectLst>
            </a:rPr>
            <a:t>Diffie</a:t>
          </a:r>
          <a:r>
            <a:rPr lang="en-US" sz="2200" b="0" kern="1200" dirty="0" smtClean="0">
              <a:effectLst>
                <a:outerShdw blurRad="38100" dist="38100" dir="2700000" algn="tl">
                  <a:srgbClr val="000000">
                    <a:alpha val="43137"/>
                  </a:srgbClr>
                </a:outerShdw>
              </a:effectLst>
            </a:rPr>
            <a:t>-Hellman technique</a:t>
          </a:r>
          <a:endParaRPr lang="en-US" sz="2200" b="0" kern="1200" dirty="0">
            <a:effectLst>
              <a:outerShdw blurRad="38100" dist="38100" dir="2700000" algn="tl">
                <a:srgbClr val="000000">
                  <a:alpha val="43137"/>
                </a:srgbClr>
              </a:outerShdw>
            </a:effectLst>
          </a:endParaRPr>
        </a:p>
      </dsp:txBody>
      <dsp:txXfrm>
        <a:off x="3143249" y="809624"/>
        <a:ext cx="2857499" cy="1714499"/>
      </dsp:txXfrm>
    </dsp:sp>
    <dsp:sp modelId="{2261D62D-521A-E14D-8922-72F6614F3DCC}">
      <dsp:nvSpPr>
        <dsp:cNvPr id="0" name=""/>
        <dsp:cNvSpPr/>
      </dsp:nvSpPr>
      <dsp:spPr>
        <a:xfrm>
          <a:off x="6286499" y="809624"/>
          <a:ext cx="2857499" cy="1714499"/>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0" kern="1200" dirty="0" smtClean="0">
              <a:effectLst>
                <a:outerShdw blurRad="38100" dist="38100" dir="2700000" algn="tl">
                  <a:srgbClr val="000000">
                    <a:alpha val="43137"/>
                  </a:srgbClr>
                </a:outerShdw>
              </a:effectLst>
            </a:rPr>
            <a:t>Used in the digital signature standard (DSS) and the S/MIME e-mail standard</a:t>
          </a:r>
          <a:endParaRPr lang="en-US" sz="2200" b="0" kern="1200" dirty="0">
            <a:effectLst>
              <a:outerShdw blurRad="38100" dist="38100" dir="2700000" algn="tl">
                <a:srgbClr val="000000">
                  <a:alpha val="43137"/>
                </a:srgbClr>
              </a:outerShdw>
            </a:effectLst>
          </a:endParaRPr>
        </a:p>
      </dsp:txBody>
      <dsp:txXfrm>
        <a:off x="6286499" y="809624"/>
        <a:ext cx="2857499" cy="1714499"/>
      </dsp:txXfrm>
    </dsp:sp>
    <dsp:sp modelId="{659BA2B5-6D77-864F-8CA3-F2DD6119A169}">
      <dsp:nvSpPr>
        <dsp:cNvPr id="0" name=""/>
        <dsp:cNvSpPr/>
      </dsp:nvSpPr>
      <dsp:spPr>
        <a:xfrm>
          <a:off x="1571624" y="2809874"/>
          <a:ext cx="2857499" cy="1714499"/>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0" kern="1200" dirty="0" smtClean="0">
              <a:effectLst>
                <a:outerShdw blurRad="38100" dist="38100" dir="2700000" algn="tl">
                  <a:srgbClr val="000000">
                    <a:alpha val="43137"/>
                  </a:srgbClr>
                </a:outerShdw>
              </a:effectLst>
            </a:rPr>
            <a:t>Global elements are a prime number </a:t>
          </a:r>
          <a:r>
            <a:rPr lang="en-US" sz="2200" b="0" i="1" kern="1200" dirty="0" err="1" smtClean="0">
              <a:effectLst>
                <a:outerShdw blurRad="38100" dist="38100" dir="2700000" algn="tl">
                  <a:srgbClr val="000000">
                    <a:alpha val="43137"/>
                  </a:srgbClr>
                </a:outerShdw>
              </a:effectLst>
            </a:rPr>
            <a:t>q</a:t>
          </a:r>
          <a:r>
            <a:rPr lang="en-US" sz="2200" b="0" i="1" kern="1200" dirty="0" smtClean="0">
              <a:effectLst>
                <a:outerShdw blurRad="38100" dist="38100" dir="2700000" algn="tl">
                  <a:srgbClr val="000000">
                    <a:alpha val="43137"/>
                  </a:srgbClr>
                </a:outerShdw>
              </a:effectLst>
            </a:rPr>
            <a:t> </a:t>
          </a:r>
          <a:r>
            <a:rPr lang="en-US" sz="2200" b="0" kern="1200" dirty="0" smtClean="0">
              <a:effectLst>
                <a:outerShdw blurRad="38100" dist="38100" dir="2700000" algn="tl">
                  <a:srgbClr val="000000">
                    <a:alpha val="43137"/>
                  </a:srgbClr>
                </a:outerShdw>
              </a:effectLst>
            </a:rPr>
            <a:t>and </a:t>
          </a:r>
          <a:r>
            <a:rPr lang="en-US" sz="2200" b="0" i="1" kern="1200" dirty="0" smtClean="0">
              <a:effectLst>
                <a:outerShdw blurRad="38100" dist="38100" dir="2700000" algn="tl">
                  <a:srgbClr val="000000">
                    <a:alpha val="43137"/>
                  </a:srgbClr>
                </a:outerShdw>
              </a:effectLst>
            </a:rPr>
            <a:t>a</a:t>
          </a:r>
          <a:r>
            <a:rPr lang="en-US" sz="2200" b="0" kern="1200" dirty="0" smtClean="0">
              <a:effectLst>
                <a:outerShdw blurRad="38100" dist="38100" dir="2700000" algn="tl">
                  <a:srgbClr val="000000">
                    <a:alpha val="43137"/>
                  </a:srgbClr>
                </a:outerShdw>
              </a:effectLst>
            </a:rPr>
            <a:t> which is a primitive root of </a:t>
          </a:r>
          <a:r>
            <a:rPr lang="en-US" sz="2200" b="0" i="1" kern="1200" dirty="0" err="1" smtClean="0">
              <a:effectLst>
                <a:outerShdw blurRad="38100" dist="38100" dir="2700000" algn="tl">
                  <a:srgbClr val="000000">
                    <a:alpha val="43137"/>
                  </a:srgbClr>
                </a:outerShdw>
              </a:effectLst>
            </a:rPr>
            <a:t>q</a:t>
          </a:r>
          <a:endParaRPr lang="en-US" sz="2200" b="0" kern="1200" dirty="0">
            <a:effectLst>
              <a:outerShdw blurRad="38100" dist="38100" dir="2700000" algn="tl">
                <a:srgbClr val="000000">
                  <a:alpha val="43137"/>
                </a:srgbClr>
              </a:outerShdw>
            </a:effectLst>
          </a:endParaRPr>
        </a:p>
      </dsp:txBody>
      <dsp:txXfrm>
        <a:off x="1571624" y="2809874"/>
        <a:ext cx="2857499" cy="1714499"/>
      </dsp:txXfrm>
    </dsp:sp>
    <dsp:sp modelId="{962B265E-5530-394D-871D-9C5C574AEBCA}">
      <dsp:nvSpPr>
        <dsp:cNvPr id="0" name=""/>
        <dsp:cNvSpPr/>
      </dsp:nvSpPr>
      <dsp:spPr>
        <a:xfrm>
          <a:off x="4714874" y="2809874"/>
          <a:ext cx="2857499" cy="1714499"/>
        </a:xfrm>
        <a:prstGeom prst="rect">
          <a:avLst/>
        </a:prstGeom>
        <a:solidFill>
          <a:schemeClr val="tx2">
            <a:lumMod val="60000"/>
            <a:lumOff val="40000"/>
          </a:schemeClr>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lvl="0" algn="ctr" defTabSz="977900" rtl="0">
            <a:lnSpc>
              <a:spcPct val="90000"/>
            </a:lnSpc>
            <a:spcBef>
              <a:spcPct val="0"/>
            </a:spcBef>
            <a:spcAft>
              <a:spcPct val="35000"/>
            </a:spcAft>
          </a:pPr>
          <a:r>
            <a:rPr lang="en-US" sz="2200" b="0" kern="1200" dirty="0" smtClean="0">
              <a:effectLst>
                <a:outerShdw blurRad="38100" dist="38100" dir="2700000" algn="tl">
                  <a:srgbClr val="000000">
                    <a:alpha val="43137"/>
                  </a:srgbClr>
                </a:outerShdw>
              </a:effectLst>
            </a:rPr>
            <a:t>Security is based on the difficulty of computing discrete logarithms</a:t>
          </a:r>
          <a:endParaRPr lang="en-AU" sz="2200" b="0" kern="1200" dirty="0">
            <a:effectLst>
              <a:outerShdw blurRad="38100" dist="38100" dir="2700000" algn="tl">
                <a:srgbClr val="000000">
                  <a:alpha val="43137"/>
                </a:srgbClr>
              </a:outerShdw>
            </a:effectLst>
          </a:endParaRPr>
        </a:p>
      </dsp:txBody>
      <dsp:txXfrm>
        <a:off x="4714874" y="2809874"/>
        <a:ext cx="2857499" cy="1714499"/>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A7E9B53-7510-D743-A42E-01CC099323D6}">
      <dsp:nvSpPr>
        <dsp:cNvPr id="0" name=""/>
        <dsp:cNvSpPr/>
      </dsp:nvSpPr>
      <dsp:spPr>
        <a:xfrm>
          <a:off x="4114803" y="0"/>
          <a:ext cx="2095500" cy="2095500"/>
        </a:xfrm>
        <a:prstGeom prst="gear9">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b="1" i="0" kern="1200" dirty="0" smtClean="0">
              <a:effectLst>
                <a:outerShdw blurRad="38100" dist="38100" dir="2700000" algn="tl">
                  <a:srgbClr val="000000">
                    <a:alpha val="43137"/>
                  </a:srgbClr>
                </a:outerShdw>
              </a:effectLst>
            </a:rPr>
            <a:t>Prime curves over Z</a:t>
          </a:r>
          <a:r>
            <a:rPr lang="en-US" sz="2000" b="1" i="0" kern="1200" baseline="-25000" dirty="0" smtClean="0">
              <a:effectLst>
                <a:outerShdw blurRad="38100" dist="38100" dir="2700000" algn="tl">
                  <a:srgbClr val="000000">
                    <a:alpha val="43137"/>
                  </a:srgbClr>
                </a:outerShdw>
              </a:effectLst>
            </a:rPr>
            <a:t>p</a:t>
          </a:r>
          <a:r>
            <a:rPr lang="en-US" sz="2000" b="1" i="0" kern="1200" dirty="0" smtClean="0">
              <a:effectLst>
                <a:outerShdw blurRad="38100" dist="38100" dir="2700000" algn="tl">
                  <a:srgbClr val="000000">
                    <a:alpha val="43137"/>
                  </a:srgbClr>
                </a:outerShdw>
              </a:effectLst>
            </a:rPr>
            <a:t> </a:t>
          </a:r>
          <a:endParaRPr lang="en-US" sz="2000" b="1" i="0" kern="1200" dirty="0">
            <a:effectLst>
              <a:outerShdw blurRad="38100" dist="38100" dir="2700000" algn="tl">
                <a:srgbClr val="000000">
                  <a:alpha val="43137"/>
                </a:srgbClr>
              </a:outerShdw>
            </a:effectLst>
          </a:endParaRPr>
        </a:p>
      </dsp:txBody>
      <dsp:txXfrm>
        <a:off x="4114803" y="0"/>
        <a:ext cx="2095500" cy="2095500"/>
      </dsp:txXfrm>
    </dsp:sp>
    <dsp:sp modelId="{C754250D-58A8-8D4F-A148-7735BA217847}">
      <dsp:nvSpPr>
        <dsp:cNvPr id="0" name=""/>
        <dsp:cNvSpPr/>
      </dsp:nvSpPr>
      <dsp:spPr>
        <a:xfrm>
          <a:off x="4114804" y="2209797"/>
          <a:ext cx="4521458" cy="1459782"/>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Use a cubic equation in which the variables and coefficients all take on values in the set of integers from 0 through p-1 and in which calculations are performed modulo p</a:t>
          </a:r>
        </a:p>
        <a:p>
          <a:pPr marL="171450" lvl="1" indent="-171450" algn="l" defTabSz="711200">
            <a:lnSpc>
              <a:spcPct val="90000"/>
            </a:lnSpc>
            <a:spcBef>
              <a:spcPct val="0"/>
            </a:spcBef>
            <a:spcAft>
              <a:spcPct val="15000"/>
            </a:spcAft>
            <a:buChar char="••"/>
          </a:pPr>
          <a:r>
            <a:rPr lang="en-US" sz="1600" b="1" i="0" kern="1200" dirty="0" smtClean="0"/>
            <a:t>Best for software applications</a:t>
          </a:r>
        </a:p>
      </dsp:txBody>
      <dsp:txXfrm>
        <a:off x="4114804" y="2209797"/>
        <a:ext cx="4521458" cy="1459782"/>
      </dsp:txXfrm>
    </dsp:sp>
    <dsp:sp modelId="{FBBA55B6-ABF9-3D42-8E2F-BAB8CE309BA9}">
      <dsp:nvSpPr>
        <dsp:cNvPr id="0" name=""/>
        <dsp:cNvSpPr/>
      </dsp:nvSpPr>
      <dsp:spPr>
        <a:xfrm>
          <a:off x="2286000" y="4"/>
          <a:ext cx="2057400" cy="1981230"/>
        </a:xfrm>
        <a:prstGeom prst="gear6">
          <a:avLst/>
        </a:prstGeom>
        <a:blipFill rotWithShape="0">
          <a:blip xmlns:r="http://schemas.openxmlformats.org/officeDocument/2006/relationships" r:embed="rId1">
            <a:duotone>
              <a:schemeClr val="accent1">
                <a:hueOff val="0"/>
                <a:satOff val="0"/>
                <a:lumOff val="0"/>
                <a:alphaOff val="0"/>
                <a:shade val="70000"/>
                <a:satMod val="120000"/>
              </a:schemeClr>
              <a:schemeClr val="accent1">
                <a:hueOff val="0"/>
                <a:satOff val="0"/>
                <a:lumOff val="0"/>
                <a:alphaOff val="0"/>
                <a:tint val="70000"/>
                <a:satMod val="135000"/>
              </a:schemeClr>
            </a:duotone>
          </a:blip>
          <a:tile tx="0" ty="0" sx="40000" sy="40000" flip="none" algn="tl"/>
        </a:blipFill>
        <a:ln>
          <a:solidFill>
            <a:schemeClr val="tx1"/>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b="1" i="0" kern="1200" dirty="0" smtClean="0">
              <a:effectLst>
                <a:outerShdw blurRad="38100" dist="38100" dir="2700000" algn="tl">
                  <a:srgbClr val="000000">
                    <a:alpha val="43137"/>
                  </a:srgbClr>
                </a:outerShdw>
              </a:effectLst>
            </a:rPr>
            <a:t>Binary curves over GF(2</a:t>
          </a:r>
          <a:r>
            <a:rPr lang="en-US" sz="2000" b="1" i="0" kern="1200" baseline="30000" dirty="0" smtClean="0">
              <a:effectLst>
                <a:outerShdw blurRad="38100" dist="38100" dir="2700000" algn="tl">
                  <a:srgbClr val="000000">
                    <a:alpha val="43137"/>
                  </a:srgbClr>
                </a:outerShdw>
              </a:effectLst>
            </a:rPr>
            <a:t>m</a:t>
          </a:r>
          <a:r>
            <a:rPr lang="en-US" sz="2000" b="1" i="0" kern="1200" dirty="0" smtClean="0">
              <a:effectLst>
                <a:outerShdw blurRad="38100" dist="38100" dir="2700000" algn="tl">
                  <a:srgbClr val="000000">
                    <a:alpha val="43137"/>
                  </a:srgbClr>
                </a:outerShdw>
              </a:effectLst>
            </a:rPr>
            <a:t>)</a:t>
          </a:r>
        </a:p>
      </dsp:txBody>
      <dsp:txXfrm>
        <a:off x="2286000" y="4"/>
        <a:ext cx="2057400" cy="1981230"/>
      </dsp:txXfrm>
    </dsp:sp>
    <dsp:sp modelId="{2B68AE07-9C59-A346-9082-A79E15F3E63B}">
      <dsp:nvSpPr>
        <dsp:cNvPr id="0" name=""/>
        <dsp:cNvSpPr/>
      </dsp:nvSpPr>
      <dsp:spPr>
        <a:xfrm>
          <a:off x="2" y="2209799"/>
          <a:ext cx="3910208" cy="1374699"/>
        </a:xfrm>
        <a:prstGeom prst="roundRect">
          <a:avLst>
            <a:gd name="adj" fmla="val 10000"/>
          </a:avLst>
        </a:prstGeom>
        <a:solidFill>
          <a:schemeClr val="lt1">
            <a:alpha val="90000"/>
            <a:hueOff val="0"/>
            <a:satOff val="0"/>
            <a:lumOff val="0"/>
            <a:alphaOff val="0"/>
          </a:schemeClr>
        </a:solidFill>
        <a:ln w="38100" cap="flat" cmpd="sng" algn="ctr">
          <a:solidFill>
            <a:schemeClr val="accent1">
              <a:hueOff val="0"/>
              <a:satOff val="0"/>
              <a:lumOff val="0"/>
              <a:alphaOff val="0"/>
            </a:schemeClr>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en-US" sz="1600" b="1" i="0" kern="1200" dirty="0" smtClean="0"/>
            <a:t>Variables and coefficients all take on values in GF(2</a:t>
          </a:r>
          <a:r>
            <a:rPr lang="en-US" sz="1600" b="1" i="0" kern="1200" baseline="30000" dirty="0" smtClean="0"/>
            <a:t>m</a:t>
          </a:r>
          <a:r>
            <a:rPr lang="en-US" sz="1600" b="1" i="0" kern="1200" dirty="0" smtClean="0"/>
            <a:t>) and in calculations are performed over GF(2</a:t>
          </a:r>
          <a:r>
            <a:rPr lang="en-US" sz="1600" b="1" i="0" kern="1200" baseline="30000" dirty="0" smtClean="0"/>
            <a:t>m</a:t>
          </a:r>
          <a:r>
            <a:rPr lang="en-US" sz="1600" b="1" i="0" kern="1200" dirty="0" smtClean="0"/>
            <a:t>)</a:t>
          </a:r>
        </a:p>
        <a:p>
          <a:pPr marL="171450" lvl="1" indent="-171450" algn="l" defTabSz="711200">
            <a:lnSpc>
              <a:spcPct val="90000"/>
            </a:lnSpc>
            <a:spcBef>
              <a:spcPct val="0"/>
            </a:spcBef>
            <a:spcAft>
              <a:spcPct val="15000"/>
            </a:spcAft>
            <a:buChar char="••"/>
          </a:pPr>
          <a:r>
            <a:rPr lang="en-US" sz="1600" b="1" i="0" kern="1200" dirty="0" smtClean="0"/>
            <a:t>Best for hardware applications</a:t>
          </a:r>
          <a:endParaRPr lang="en-AU" sz="1600" b="1" i="0" kern="1200" dirty="0"/>
        </a:p>
      </dsp:txBody>
      <dsp:txXfrm>
        <a:off x="2" y="2209799"/>
        <a:ext cx="3910208" cy="1374699"/>
      </dsp:txXfrm>
    </dsp:sp>
    <dsp:sp modelId="{F5E23255-F49E-2A42-A437-3723C6FAA1D6}">
      <dsp:nvSpPr>
        <dsp:cNvPr id="0" name=""/>
        <dsp:cNvSpPr/>
      </dsp:nvSpPr>
      <dsp:spPr>
        <a:xfrm>
          <a:off x="4571996" y="380989"/>
          <a:ext cx="2756547" cy="2120248"/>
        </a:xfrm>
        <a:prstGeom prst="circularArrow">
          <a:avLst>
            <a:gd name="adj1" fmla="val 4878"/>
            <a:gd name="adj2" fmla="val 312630"/>
            <a:gd name="adj3" fmla="val 3112667"/>
            <a:gd name="adj4" fmla="val 15262627"/>
            <a:gd name="adj5" fmla="val 5691"/>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solidFill>
            <a:schemeClr val="tx2">
              <a:lumMod val="75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 modelId="{B8D2BB96-4CE2-E14A-9E2F-7233319F3864}">
      <dsp:nvSpPr>
        <dsp:cNvPr id="0" name=""/>
        <dsp:cNvSpPr/>
      </dsp:nvSpPr>
      <dsp:spPr>
        <a:xfrm>
          <a:off x="2133594" y="1142996"/>
          <a:ext cx="1948815" cy="1948815"/>
        </a:xfrm>
        <a:prstGeom prst="leftCircularArrow">
          <a:avLst>
            <a:gd name="adj1" fmla="val 6452"/>
            <a:gd name="adj2" fmla="val 429999"/>
            <a:gd name="adj3" fmla="val 10489124"/>
            <a:gd name="adj4" fmla="val 14837806"/>
            <a:gd name="adj5" fmla="val 7527"/>
          </a:avLst>
        </a:prstGeom>
        <a:blipFill rotWithShape="0">
          <a:blip xmlns:r="http://schemas.openxmlformats.org/officeDocument/2006/relationships" r:embed="rId1">
            <a:duotone>
              <a:schemeClr val="accent1">
                <a:tint val="60000"/>
                <a:hueOff val="0"/>
                <a:satOff val="0"/>
                <a:lumOff val="0"/>
                <a:alphaOff val="0"/>
                <a:shade val="70000"/>
                <a:satMod val="120000"/>
              </a:schemeClr>
              <a:schemeClr val="accent1">
                <a:tint val="60000"/>
                <a:hueOff val="0"/>
                <a:satOff val="0"/>
                <a:lumOff val="0"/>
                <a:alphaOff val="0"/>
                <a:tint val="70000"/>
                <a:satMod val="135000"/>
              </a:schemeClr>
            </a:duotone>
          </a:blip>
          <a:tile tx="0" ty="0" sx="40000" sy="40000" flip="none" algn="tl"/>
        </a:blipFill>
        <a:ln>
          <a:solidFill>
            <a:schemeClr val="tx2">
              <a:lumMod val="75000"/>
            </a:schemeClr>
          </a:solid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D7D330C6-96D4-C64F-9385-1967CFC9F58B}">
      <dsp:nvSpPr>
        <dsp:cNvPr id="0" name=""/>
        <dsp:cNvSpPr/>
      </dsp:nvSpPr>
      <dsp:spPr>
        <a:xfrm>
          <a:off x="3047999" y="0"/>
          <a:ext cx="4572000" cy="2184400"/>
        </a:xfrm>
        <a:prstGeom prst="rightArrow">
          <a:avLst>
            <a:gd name="adj1" fmla="val 75000"/>
            <a:gd name="adj2" fmla="val 50000"/>
          </a:avLst>
        </a:prstGeom>
        <a:solidFill>
          <a:schemeClr val="bg1"/>
        </a:solidFill>
        <a:ln w="38100" cap="flat" cmpd="sng" algn="ctr">
          <a:solidFill>
            <a:schemeClr val="bg2"/>
          </a:solidFill>
          <a:prstDash val="solid"/>
          <a:miter/>
        </a:ln>
        <a:effectLst/>
      </dsp:spPr>
      <dsp:style>
        <a:lnRef idx="1">
          <a:scrgbClr r="0" g="0" b="0"/>
        </a:lnRef>
        <a:fillRef idx="1">
          <a:scrgbClr r="0" g="0" b="0"/>
        </a:fillRef>
        <a:effectRef idx="0">
          <a:scrgbClr r="0" g="0" b="0"/>
        </a:effectRef>
        <a:fontRef idx="minor"/>
      </dsp:style>
      <dsp:txBody>
        <a:bodyPr spcFirstLastPara="0" vert="horz" wrap="square" lIns="11430" tIns="11430" rIns="11430" bIns="11430" numCol="1" spcCol="1270" anchor="t" anchorCtr="0">
          <a:noAutofit/>
        </a:bodyPr>
        <a:lstStyle/>
        <a:p>
          <a:pPr marL="171450" lvl="1" indent="-171450" algn="l" defTabSz="800100">
            <a:lnSpc>
              <a:spcPct val="90000"/>
            </a:lnSpc>
            <a:spcBef>
              <a:spcPct val="0"/>
            </a:spcBef>
            <a:spcAft>
              <a:spcPct val="15000"/>
            </a:spcAft>
            <a:buChar char="••"/>
          </a:pPr>
          <a:r>
            <a:rPr lang="en-US" sz="1800" i="1" kern="1200" dirty="0" smtClean="0"/>
            <a:t>Q=kP, </a:t>
          </a:r>
          <a:r>
            <a:rPr lang="en-US" sz="1800" kern="1200" dirty="0" smtClean="0"/>
            <a:t>where </a:t>
          </a:r>
          <a:r>
            <a:rPr lang="en-US" sz="1800" i="1" kern="1200" dirty="0" smtClean="0"/>
            <a:t>Q, P</a:t>
          </a:r>
          <a:r>
            <a:rPr lang="en-US" sz="1800" kern="1200" dirty="0" smtClean="0"/>
            <a:t> belong to a prime curve</a:t>
          </a:r>
        </a:p>
        <a:p>
          <a:pPr marL="171450" lvl="1" indent="-171450" algn="l" defTabSz="800100">
            <a:lnSpc>
              <a:spcPct val="90000"/>
            </a:lnSpc>
            <a:spcBef>
              <a:spcPct val="0"/>
            </a:spcBef>
            <a:spcAft>
              <a:spcPct val="15000"/>
            </a:spcAft>
            <a:buChar char="••"/>
          </a:pPr>
          <a:r>
            <a:rPr lang="en-US" sz="1800" kern="1200" dirty="0" smtClean="0"/>
            <a:t>Is “easy” to compute </a:t>
          </a:r>
          <a:r>
            <a:rPr lang="en-US" sz="1800" i="1" kern="1200" dirty="0" smtClean="0"/>
            <a:t>Q </a:t>
          </a:r>
          <a:r>
            <a:rPr lang="en-US" sz="1800" kern="1200" dirty="0" smtClean="0"/>
            <a:t>given </a:t>
          </a:r>
          <a:r>
            <a:rPr lang="en-US" sz="1800" i="1" kern="1200" dirty="0" smtClean="0"/>
            <a:t>k </a:t>
          </a:r>
          <a:r>
            <a:rPr lang="en-US" sz="1800" kern="1200" dirty="0" smtClean="0"/>
            <a:t>and </a:t>
          </a:r>
          <a:r>
            <a:rPr lang="en-US" sz="1800" i="1" kern="1200" dirty="0" smtClean="0"/>
            <a:t>P</a:t>
          </a:r>
        </a:p>
        <a:p>
          <a:pPr marL="171450" lvl="1" indent="-171450" algn="l" defTabSz="800100">
            <a:lnSpc>
              <a:spcPct val="90000"/>
            </a:lnSpc>
            <a:spcBef>
              <a:spcPct val="0"/>
            </a:spcBef>
            <a:spcAft>
              <a:spcPct val="15000"/>
            </a:spcAft>
            <a:buChar char="••"/>
          </a:pPr>
          <a:r>
            <a:rPr lang="en-US" sz="1800" kern="1200" dirty="0" smtClean="0"/>
            <a:t>But “hard” to find </a:t>
          </a:r>
          <a:r>
            <a:rPr lang="en-US" sz="1800" i="1" kern="1200" dirty="0" smtClean="0"/>
            <a:t>k</a:t>
          </a:r>
          <a:r>
            <a:rPr lang="en-US" sz="1800" kern="1200" dirty="0" smtClean="0"/>
            <a:t> given </a:t>
          </a:r>
          <a:r>
            <a:rPr lang="en-US" sz="1800" i="1" kern="1200" dirty="0" smtClean="0"/>
            <a:t>Q, </a:t>
          </a:r>
          <a:r>
            <a:rPr lang="en-US" sz="1800" kern="1200" dirty="0" smtClean="0"/>
            <a:t>and </a:t>
          </a:r>
          <a:r>
            <a:rPr lang="en-US" sz="1800" i="1" kern="1200" dirty="0" smtClean="0"/>
            <a:t>P</a:t>
          </a:r>
        </a:p>
        <a:p>
          <a:pPr marL="171450" lvl="1" indent="-171450" algn="l" defTabSz="800100">
            <a:lnSpc>
              <a:spcPct val="90000"/>
            </a:lnSpc>
            <a:spcBef>
              <a:spcPct val="0"/>
            </a:spcBef>
            <a:spcAft>
              <a:spcPct val="15000"/>
            </a:spcAft>
            <a:buChar char="••"/>
          </a:pPr>
          <a:r>
            <a:rPr lang="en-US" sz="1800" kern="1200" dirty="0" smtClean="0"/>
            <a:t>Known as the elliptic curve logarithm problem</a:t>
          </a:r>
        </a:p>
      </dsp:txBody>
      <dsp:txXfrm>
        <a:off x="3047999" y="0"/>
        <a:ext cx="4572000" cy="2184400"/>
      </dsp:txXfrm>
    </dsp:sp>
    <dsp:sp modelId="{2853AFA9-369E-FB4A-8EC0-DA8709AE940B}">
      <dsp:nvSpPr>
        <dsp:cNvPr id="0" name=""/>
        <dsp:cNvSpPr/>
      </dsp:nvSpPr>
      <dsp:spPr>
        <a:xfrm>
          <a:off x="0" y="0"/>
          <a:ext cx="3048000" cy="2184400"/>
        </a:xfrm>
        <a:prstGeom prst="roundRect">
          <a:avLst/>
        </a:prstGeom>
        <a:solidFill>
          <a:schemeClr val="accent1"/>
        </a:solidFill>
        <a:ln>
          <a:noFill/>
        </a:ln>
        <a:effectLst>
          <a:outerShdw blurRad="38100" dist="25400" dir="5400000"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34290" rIns="68580" bIns="34290" numCol="1" spcCol="1270" anchor="ctr" anchorCtr="0">
          <a:noAutofit/>
        </a:bodyPr>
        <a:lstStyle/>
        <a:p>
          <a:pPr lvl="0" algn="ctr" defTabSz="800100">
            <a:lnSpc>
              <a:spcPct val="90000"/>
            </a:lnSpc>
            <a:spcBef>
              <a:spcPct val="0"/>
            </a:spcBef>
            <a:spcAft>
              <a:spcPct val="35000"/>
            </a:spcAft>
          </a:pPr>
          <a:r>
            <a:rPr lang="en-US" sz="1800" kern="1200" dirty="0" smtClean="0">
              <a:effectLst>
                <a:outerShdw blurRad="38100" dist="38100" dir="2700000" algn="tl">
                  <a:srgbClr val="000000">
                    <a:alpha val="43137"/>
                  </a:srgbClr>
                </a:outerShdw>
              </a:effectLst>
            </a:rPr>
            <a:t>To form a cryptographic system using elliptic curves, we need to find a “hard problem” corresponding to factoring the product of two primes or taking the discrete logarithm</a:t>
          </a:r>
          <a:endParaRPr lang="en-US" sz="1800" kern="1200" dirty="0">
            <a:effectLst>
              <a:outerShdw blurRad="38100" dist="38100" dir="2700000" algn="tl">
                <a:srgbClr val="000000">
                  <a:alpha val="43137"/>
                </a:srgbClr>
              </a:outerShdw>
            </a:effectLst>
          </a:endParaRPr>
        </a:p>
      </dsp:txBody>
      <dsp:txXfrm>
        <a:off x="0" y="0"/>
        <a:ext cx="3048000" cy="21844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BF372C9-AA51-A845-BCA2-F5A9687BA406}" type="datetimeFigureOut">
              <a:rPr lang="en-US" smtClean="0"/>
              <a:t>3/30/16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FC33BB0-1490-B84C-BC22-5CF2B0E91299}" type="slidenum">
              <a:rPr lang="en-US" smtClean="0"/>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pitchFamily="-107" charset="0"/>
              </a:defRPr>
            </a:lvl1pPr>
          </a:lstStyle>
          <a:p>
            <a:pPr>
              <a:defRPr/>
            </a:pPr>
            <a:endParaRPr lang="en-US" dirty="0"/>
          </a:p>
        </p:txBody>
      </p:sp>
      <p:sp>
        <p:nvSpPr>
          <p:cNvPr id="2253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pitchFamily="-107" charset="0"/>
              </a:defRPr>
            </a:lvl1pPr>
          </a:lstStyle>
          <a:p>
            <a:pPr>
              <a:defRPr/>
            </a:pPr>
            <a:endParaRPr lang="en-US" dirty="0"/>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253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2253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itchFamily="-107" charset="0"/>
              </a:defRPr>
            </a:lvl1pPr>
          </a:lstStyle>
          <a:p>
            <a:pPr>
              <a:defRPr/>
            </a:pPr>
            <a:endParaRPr lang="en-US" dirty="0"/>
          </a:p>
        </p:txBody>
      </p:sp>
      <p:sp>
        <p:nvSpPr>
          <p:cNvPr id="2253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itchFamily="-107" charset="0"/>
              </a:defRPr>
            </a:lvl1pPr>
          </a:lstStyle>
          <a:p>
            <a:pPr>
              <a:defRPr/>
            </a:pPr>
            <a:fld id="{6C914AB1-A579-2F42-995D-A924F462C005}" type="slidenum">
              <a:rPr lang="en-AU"/>
              <a:pPr>
                <a:defRPr/>
              </a:pPr>
              <a:t>‹#›</a:t>
            </a:fld>
            <a:endParaRPr lang="en-AU" dirty="0"/>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Rectangle 1031"/>
          <p:cNvSpPr>
            <a:spLocks noGrp="1" noChangeArrowheads="1"/>
          </p:cNvSpPr>
          <p:nvPr>
            <p:ph type="sldNum" sz="quarter" idx="5"/>
          </p:nvPr>
        </p:nvSpPr>
        <p:spPr>
          <a:noFill/>
        </p:spPr>
        <p:txBody>
          <a:bodyPr/>
          <a:lstStyle/>
          <a:p>
            <a:fld id="{E19838C5-D210-634D-AD54-173CE2131589}" type="slidenum">
              <a:rPr lang="en-AU">
                <a:latin typeface="Arial" pitchFamily="-84" charset="0"/>
              </a:rPr>
              <a:pPr/>
              <a:t>1</a:t>
            </a:fld>
            <a:endParaRPr lang="en-AU" dirty="0">
              <a:latin typeface="Arial" pitchFamily="-8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p:spPr>
        <p:txBody>
          <a:bodyPr/>
          <a:lstStyle/>
          <a:p>
            <a:pPr eaLnBrk="1" hangingPunct="1"/>
            <a:r>
              <a:rPr lang="en-US" dirty="0" smtClean="0">
                <a:latin typeface="Times New Roman" pitchFamily="-84" charset="0"/>
                <a:ea typeface="ＭＳ Ｐゴシック" pitchFamily="-84" charset="-128"/>
                <a:cs typeface="ＭＳ Ｐゴシック" pitchFamily="-84" charset="-128"/>
              </a:rPr>
              <a:t>Lecture slides prepared for “Cryptography and Network Security”,</a:t>
            </a:r>
            <a:r>
              <a:rPr lang="en-US" dirty="0" smtClean="0">
                <a:latin typeface="Times New Roman" pitchFamily="-84" charset="0"/>
                <a:ea typeface="ＭＳ Ｐゴシック" pitchFamily="-84" charset="-128"/>
                <a:cs typeface="ＭＳ Ｐゴシック" pitchFamily="-84" charset="-128"/>
              </a:rPr>
              <a:t> 7/</a:t>
            </a:r>
            <a:r>
              <a:rPr lang="en-US" dirty="0" smtClean="0">
                <a:latin typeface="Times New Roman" pitchFamily="-84" charset="0"/>
                <a:ea typeface="ＭＳ Ｐゴシック" pitchFamily="-84" charset="-128"/>
                <a:cs typeface="ＭＳ Ｐゴシック" pitchFamily="-84" charset="-128"/>
              </a:rPr>
              <a:t>e, by William Stallings</a:t>
            </a:r>
            <a:r>
              <a:rPr lang="en-US" dirty="0" smtClean="0">
                <a:latin typeface="Arial" pitchFamily="-84" charset="0"/>
                <a:ea typeface="ＭＳ Ｐゴシック" pitchFamily="-84" charset="-128"/>
                <a:cs typeface="ＭＳ Ｐゴシック" pitchFamily="-84" charset="-128"/>
              </a:rPr>
              <a:t>, Chapter 10 – “</a:t>
            </a:r>
            <a:r>
              <a:rPr lang="en-AU" dirty="0" smtClean="0">
                <a:latin typeface="Arial" pitchFamily="-84" charset="0"/>
                <a:ea typeface="ＭＳ Ｐゴシック" pitchFamily="-84" charset="-128"/>
                <a:cs typeface="ＭＳ Ｐゴシック" pitchFamily="-84" charset="-128"/>
              </a:rPr>
              <a:t>Other Public-Key Cryptosystems</a:t>
            </a:r>
            <a:r>
              <a:rPr lang="en-US" dirty="0" smtClean="0">
                <a:latin typeface="Arial" pitchFamily="-84" charset="0"/>
                <a:ea typeface="ＭＳ Ｐゴシック" pitchFamily="-84" charset="-128"/>
                <a:cs typeface="ＭＳ Ｐゴシック" pitchFamily="-84" charset="-128"/>
              </a:rPr>
              <a:t>”.</a:t>
            </a:r>
            <a:endParaRPr lang="en-AU" dirty="0" smtClean="0">
              <a:latin typeface="Arial" pitchFamily="-84" charset="0"/>
              <a:ea typeface="ＭＳ Ｐゴシック" pitchFamily="-84" charset="-128"/>
              <a:cs typeface="ＭＳ Ｐゴシック" pitchFamily="-84" charset="-128"/>
            </a:endParaRPr>
          </a:p>
          <a:p>
            <a:pPr eaLnBrk="1" hangingPunct="1"/>
            <a:endParaRPr lang="en-AU" dirty="0" smtClean="0">
              <a:latin typeface="Times New Roman"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This chapter begins with a description of one of the earliest and simplest PKCS: Diffie-</a:t>
            </a:r>
          </a:p>
          <a:p>
            <a:r>
              <a:rPr lang="en-US" sz="1200" kern="1200" baseline="0" dirty="0" smtClean="0">
                <a:solidFill>
                  <a:schemeClr val="tx1"/>
                </a:solidFill>
                <a:latin typeface="Arial" charset="0"/>
                <a:ea typeface="ＭＳ Ｐゴシック" charset="-128"/>
                <a:cs typeface="ＭＳ Ｐゴシック" charset="-128"/>
              </a:rPr>
              <a:t>Hellman key exchange. The chapter then looks at another important scheme, the</a:t>
            </a:r>
          </a:p>
          <a:p>
            <a:r>
              <a:rPr lang="en-US" sz="1200" kern="1200" baseline="0" dirty="0" smtClean="0">
                <a:solidFill>
                  <a:schemeClr val="tx1"/>
                </a:solidFill>
                <a:latin typeface="Arial" charset="0"/>
                <a:ea typeface="ＭＳ Ｐゴシック" charset="-128"/>
                <a:cs typeface="ＭＳ Ｐゴシック" charset="-128"/>
              </a:rPr>
              <a:t>Elgamal PKCS. Next, we look at the increasingly important PKCS known as elliptic</a:t>
            </a:r>
          </a:p>
          <a:p>
            <a:r>
              <a:rPr lang="en-US" sz="1200" kern="1200" baseline="0" dirty="0" smtClean="0">
                <a:solidFill>
                  <a:schemeClr val="tx1"/>
                </a:solidFill>
                <a:latin typeface="Arial" charset="0"/>
                <a:ea typeface="ＭＳ Ｐゴシック" charset="-128"/>
                <a:cs typeface="ＭＳ Ｐゴシック" charset="-128"/>
              </a:rPr>
              <a:t>curve cryptography. Finally, the use of public-key algorithms for pseudorandom number</a:t>
            </a:r>
          </a:p>
          <a:p>
            <a:r>
              <a:rPr lang="en-US" sz="1200" kern="1200" baseline="0" dirty="0" smtClean="0">
                <a:solidFill>
                  <a:schemeClr val="tx1"/>
                </a:solidFill>
                <a:latin typeface="Arial" charset="0"/>
                <a:ea typeface="ＭＳ Ｐゴシック" charset="-128"/>
                <a:cs typeface="ＭＳ Ｐゴシック" charset="-128"/>
              </a:rPr>
              <a:t>generation is examined.</a:t>
            </a:r>
            <a:endParaRPr lang="en-US" dirty="0" smtClean="0">
              <a:latin typeface="Arial" pitchFamily="-84" charset="0"/>
              <a:ea typeface="ＭＳ Ｐゴシック" pitchFamily="-84" charset="-128"/>
              <a:cs typeface="ＭＳ Ｐゴシック" pitchFamily="-84" charset="-128"/>
            </a:endParaRPr>
          </a:p>
        </p:txBody>
      </p:sp>
      <p:sp>
        <p:nvSpPr>
          <p:cNvPr id="31748" name="Slide Number Placeholder 3"/>
          <p:cNvSpPr>
            <a:spLocks noGrp="1"/>
          </p:cNvSpPr>
          <p:nvPr>
            <p:ph type="sldNum" sz="quarter" idx="5"/>
          </p:nvPr>
        </p:nvSpPr>
        <p:spPr>
          <a:noFill/>
        </p:spPr>
        <p:txBody>
          <a:bodyPr/>
          <a:lstStyle/>
          <a:p>
            <a:fld id="{2110E2E4-7EF1-9740-B874-0923C8317D3F}" type="slidenum">
              <a:rPr lang="en-AU" smtClean="0">
                <a:latin typeface="Arial" pitchFamily="-84" charset="0"/>
              </a:rPr>
              <a:pPr/>
              <a:t>2</a:t>
            </a:fld>
            <a:endParaRPr lang="en-AU" dirty="0" smtClean="0">
              <a:latin typeface="Arial" pitchFamily="-8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6F3F715-01D8-564F-8DAD-71A9371F59BE}" type="slidenum">
              <a:rPr lang="en-AU">
                <a:latin typeface="Arial" pitchFamily="-84" charset="0"/>
              </a:rPr>
              <a:pPr/>
              <a:t>3</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first published public-key algorithm appeared in the seminal paper by Diffie</a:t>
            </a:r>
          </a:p>
          <a:p>
            <a:r>
              <a:rPr lang="en-US" sz="1200" kern="1200" baseline="0" dirty="0" smtClean="0">
                <a:solidFill>
                  <a:schemeClr val="tx1"/>
                </a:solidFill>
                <a:latin typeface="Arial" charset="0"/>
                <a:ea typeface="ＭＳ Ｐゴシック" charset="-128"/>
                <a:cs typeface="ＭＳ Ｐゴシック" charset="-128"/>
              </a:rPr>
              <a:t>and Hellman that defined public-key cryptography [DIFF76b] and is generally</a:t>
            </a:r>
          </a:p>
          <a:p>
            <a:r>
              <a:rPr lang="en-US" sz="1200" kern="1200" baseline="0" dirty="0" smtClean="0">
                <a:solidFill>
                  <a:schemeClr val="tx1"/>
                </a:solidFill>
                <a:latin typeface="Arial" charset="0"/>
                <a:ea typeface="ＭＳ Ｐゴシック" charset="-128"/>
                <a:cs typeface="ＭＳ Ｐゴシック" charset="-128"/>
              </a:rPr>
              <a:t>referred to as Diffie-Hellman key exchange.  A number of commercial products</a:t>
            </a:r>
          </a:p>
          <a:p>
            <a:r>
              <a:rPr lang="en-US" sz="1200" kern="1200" baseline="0" dirty="0" smtClean="0">
                <a:solidFill>
                  <a:schemeClr val="tx1"/>
                </a:solidFill>
                <a:latin typeface="Arial" charset="0"/>
                <a:ea typeface="ＭＳ Ｐゴシック" charset="-128"/>
                <a:cs typeface="ＭＳ Ｐゴシック" charset="-128"/>
              </a:rPr>
              <a:t>employ this key exchange technique.</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purpose of the algorithm is to enable two users to securely exchange a</a:t>
            </a:r>
          </a:p>
          <a:p>
            <a:r>
              <a:rPr lang="en-US" sz="1200" kern="1200" baseline="0" dirty="0" smtClean="0">
                <a:solidFill>
                  <a:schemeClr val="tx1"/>
                </a:solidFill>
                <a:latin typeface="Arial" charset="0"/>
                <a:ea typeface="ＭＳ Ｐゴシック" charset="-128"/>
                <a:cs typeface="ＭＳ Ｐゴシック" charset="-128"/>
              </a:rPr>
              <a:t>key that can then be used for subsequent symmetric encryption of messages. The</a:t>
            </a:r>
          </a:p>
          <a:p>
            <a:r>
              <a:rPr lang="en-US" sz="1200" kern="1200" baseline="0" dirty="0" smtClean="0">
                <a:solidFill>
                  <a:schemeClr val="tx1"/>
                </a:solidFill>
                <a:latin typeface="Arial" charset="0"/>
                <a:ea typeface="ＭＳ Ｐゴシック" charset="-128"/>
                <a:cs typeface="ＭＳ Ｐゴシック" charset="-128"/>
              </a:rPr>
              <a:t>algorithm itself is limited to the exchange of secret values.</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Diffie-Hellman algorithm depends for its effectiveness on the difficulty of</a:t>
            </a:r>
          </a:p>
          <a:p>
            <a:r>
              <a:rPr lang="en-US" sz="1200" b="0" kern="1200" baseline="0" dirty="0" smtClean="0">
                <a:solidFill>
                  <a:schemeClr val="tx1"/>
                </a:solidFill>
                <a:latin typeface="Arial" charset="0"/>
                <a:ea typeface="ＭＳ Ｐゴシック" charset="-128"/>
                <a:cs typeface="ＭＳ Ｐゴシック" charset="-128"/>
              </a:rPr>
              <a:t>computing discrete logarithms. Briefly, we can define the discrete logarithm in the</a:t>
            </a:r>
          </a:p>
          <a:p>
            <a:r>
              <a:rPr lang="en-US" sz="1200" b="0" kern="1200" baseline="0" dirty="0" smtClean="0">
                <a:solidFill>
                  <a:schemeClr val="tx1"/>
                </a:solidFill>
                <a:latin typeface="Arial" charset="0"/>
                <a:ea typeface="ＭＳ Ｐゴシック" charset="-128"/>
                <a:cs typeface="ＭＳ Ｐゴシック" charset="-128"/>
              </a:rPr>
              <a:t>following way. Recall from Chapter</a:t>
            </a:r>
            <a:r>
              <a:rPr lang="en-US" sz="1200" b="0" kern="1200" baseline="0" dirty="0" smtClean="0">
                <a:solidFill>
                  <a:schemeClr val="tx1"/>
                </a:solidFill>
                <a:latin typeface="Arial" charset="0"/>
                <a:ea typeface="ＭＳ Ｐゴシック" charset="-128"/>
                <a:cs typeface="ＭＳ Ｐゴシック" charset="-128"/>
              </a:rPr>
              <a:t> 2 </a:t>
            </a:r>
            <a:r>
              <a:rPr lang="en-US" sz="1200" b="0" kern="1200" baseline="0" dirty="0" smtClean="0">
                <a:solidFill>
                  <a:schemeClr val="tx1"/>
                </a:solidFill>
                <a:latin typeface="Arial" charset="0"/>
                <a:ea typeface="ＭＳ Ｐゴシック" charset="-128"/>
                <a:cs typeface="ＭＳ Ｐゴシック" charset="-128"/>
              </a:rPr>
              <a:t>that a primitive root of a prime number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is</a:t>
            </a:r>
          </a:p>
          <a:p>
            <a:r>
              <a:rPr lang="en-US" sz="1200" b="0" kern="1200" baseline="0" dirty="0" smtClean="0">
                <a:solidFill>
                  <a:schemeClr val="tx1"/>
                </a:solidFill>
                <a:latin typeface="Arial" charset="0"/>
                <a:ea typeface="ＭＳ Ｐゴシック" charset="-128"/>
                <a:cs typeface="ＭＳ Ｐゴシック" charset="-128"/>
              </a:rPr>
              <a:t>one whose powers modulo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generate all the integers from 1 to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  1. That is, if </a:t>
            </a:r>
            <a:r>
              <a:rPr lang="en-US" sz="1200" b="0" i="1" kern="1200" baseline="0" dirty="0" smtClean="0">
                <a:solidFill>
                  <a:schemeClr val="tx1"/>
                </a:solidFill>
                <a:latin typeface="Arial" charset="0"/>
                <a:ea typeface="ＭＳ Ｐゴシック" charset="-128"/>
                <a:cs typeface="ＭＳ Ｐゴシック" charset="-128"/>
              </a:rPr>
              <a:t>a</a:t>
            </a:r>
          </a:p>
          <a:p>
            <a:r>
              <a:rPr lang="en-US" sz="1200" b="0" kern="1200" baseline="0" dirty="0" smtClean="0">
                <a:solidFill>
                  <a:schemeClr val="tx1"/>
                </a:solidFill>
                <a:latin typeface="Arial" charset="0"/>
                <a:ea typeface="ＭＳ Ｐゴシック" charset="-128"/>
                <a:cs typeface="ＭＳ Ｐゴシック" charset="-128"/>
              </a:rPr>
              <a:t> is a primitive root of the prime number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then the numbers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mod </a:t>
            </a:r>
            <a:r>
              <a:rPr lang="en-US" sz="1200" b="0" i="1" kern="1200" baseline="0" dirty="0" smtClean="0">
                <a:solidFill>
                  <a:schemeClr val="tx1"/>
                </a:solidFill>
                <a:latin typeface="Arial" charset="0"/>
                <a:ea typeface="ＭＳ Ｐゴシック" charset="-128"/>
                <a:cs typeface="ＭＳ Ｐゴシック" charset="-128"/>
              </a:rPr>
              <a:t>p , a</a:t>
            </a:r>
            <a:r>
              <a:rPr lang="en-US" sz="1200" b="0" i="1" kern="1200" baseline="30000" dirty="0" smtClean="0">
                <a:solidFill>
                  <a:schemeClr val="tx1"/>
                </a:solidFill>
                <a:latin typeface="Arial" charset="0"/>
                <a:ea typeface="ＭＳ Ｐゴシック" charset="-128"/>
                <a:cs typeface="ＭＳ Ｐゴシック" charset="-128"/>
              </a:rPr>
              <a:t>2</a:t>
            </a:r>
            <a:r>
              <a:rPr lang="en-US" sz="1200" b="0" i="1"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mod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 . .  , </a:t>
            </a:r>
            <a:r>
              <a:rPr lang="en-US" sz="1200" b="0" i="1" kern="1200" baseline="0" dirty="0" smtClean="0">
                <a:solidFill>
                  <a:schemeClr val="tx1"/>
                </a:solidFill>
                <a:latin typeface="Arial" charset="0"/>
                <a:ea typeface="ＭＳ Ｐゴシック" charset="-128"/>
                <a:cs typeface="ＭＳ Ｐゴシック" charset="-128"/>
              </a:rPr>
              <a:t>a</a:t>
            </a:r>
            <a:r>
              <a:rPr lang="en-US" sz="1200" b="0" i="1" kern="1200" baseline="30000" dirty="0" smtClean="0">
                <a:solidFill>
                  <a:schemeClr val="tx1"/>
                </a:solidFill>
                <a:latin typeface="Arial" charset="0"/>
                <a:ea typeface="ＭＳ Ｐゴシック" charset="-128"/>
                <a:cs typeface="ＭＳ Ｐゴシック" charset="-128"/>
              </a:rPr>
              <a:t>p-1  </a:t>
            </a:r>
            <a:r>
              <a:rPr lang="en-US" sz="1200" b="0" kern="1200" baseline="0" dirty="0" smtClean="0">
                <a:solidFill>
                  <a:schemeClr val="tx1"/>
                </a:solidFill>
                <a:latin typeface="Arial" charset="0"/>
                <a:ea typeface="ＭＳ Ｐゴシック" charset="-128"/>
                <a:cs typeface="ＭＳ Ｐゴシック" charset="-128"/>
              </a:rPr>
              <a:t>mod </a:t>
            </a:r>
            <a:r>
              <a:rPr lang="en-US" sz="1200" b="0" i="1" kern="1200" baseline="0" dirty="0" smtClean="0">
                <a:solidFill>
                  <a:schemeClr val="tx1"/>
                </a:solidFill>
                <a:latin typeface="Arial" charset="0"/>
                <a:ea typeface="ＭＳ Ｐゴシック" charset="-128"/>
                <a:cs typeface="ＭＳ Ｐゴシック" charset="-128"/>
              </a:rPr>
              <a:t>p</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are distinct and consist of the integers from 1 through </a:t>
            </a:r>
            <a:r>
              <a:rPr lang="en-US" sz="1200" b="0" i="1" kern="1200" baseline="0" dirty="0" smtClean="0">
                <a:solidFill>
                  <a:schemeClr val="tx1"/>
                </a:solidFill>
                <a:latin typeface="Arial" charset="0"/>
                <a:ea typeface="ＭＳ Ｐゴシック" charset="-128"/>
                <a:cs typeface="ＭＳ Ｐゴシック" charset="-128"/>
              </a:rPr>
              <a:t>p -  1 </a:t>
            </a:r>
            <a:r>
              <a:rPr lang="en-US" sz="1200" b="0" kern="1200" baseline="0" dirty="0" smtClean="0">
                <a:solidFill>
                  <a:schemeClr val="tx1"/>
                </a:solidFill>
                <a:latin typeface="Arial" charset="0"/>
                <a:ea typeface="ＭＳ Ｐゴシック" charset="-128"/>
                <a:cs typeface="ＭＳ Ｐゴシック" charset="-128"/>
              </a:rPr>
              <a:t>in some permutation.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For any integer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and a primitive root </a:t>
            </a:r>
            <a:r>
              <a:rPr lang="en-US" sz="1200" b="0" i="1" kern="1200" baseline="0" dirty="0" smtClean="0">
                <a:solidFill>
                  <a:schemeClr val="tx1"/>
                </a:solidFill>
                <a:latin typeface="Arial" charset="0"/>
                <a:ea typeface="ＭＳ Ｐゴシック" charset="-128"/>
                <a:cs typeface="ＭＳ Ｐゴシック" charset="-128"/>
              </a:rPr>
              <a:t>a </a:t>
            </a:r>
            <a:r>
              <a:rPr lang="en-US" sz="1200" b="0" kern="1200" baseline="0" dirty="0" smtClean="0">
                <a:solidFill>
                  <a:schemeClr val="tx1"/>
                </a:solidFill>
                <a:latin typeface="Arial" charset="0"/>
                <a:ea typeface="ＭＳ Ｐゴシック" charset="-128"/>
                <a:cs typeface="ＭＳ Ｐゴシック" charset="-128"/>
              </a:rPr>
              <a:t>of prime number </a:t>
            </a:r>
            <a:r>
              <a:rPr lang="en-US" sz="1200" b="0" i="1" kern="1200" baseline="0" dirty="0" smtClean="0">
                <a:solidFill>
                  <a:schemeClr val="tx1"/>
                </a:solidFill>
                <a:latin typeface="Arial" charset="0"/>
                <a:ea typeface="ＭＳ Ｐゴシック" charset="-128"/>
                <a:cs typeface="ＭＳ Ｐゴシック" charset="-128"/>
              </a:rPr>
              <a:t>p </a:t>
            </a:r>
            <a:r>
              <a:rPr lang="en-US" sz="1200" b="0" kern="1200" baseline="0" dirty="0" smtClean="0">
                <a:solidFill>
                  <a:schemeClr val="tx1"/>
                </a:solidFill>
                <a:latin typeface="Arial" charset="0"/>
                <a:ea typeface="ＭＳ Ｐゴシック" charset="-128"/>
                <a:cs typeface="ＭＳ Ｐゴシック" charset="-128"/>
              </a:rPr>
              <a:t>, we can find a</a:t>
            </a:r>
          </a:p>
          <a:p>
            <a:r>
              <a:rPr lang="en-US" sz="1200" b="0" kern="1200" baseline="0" dirty="0" smtClean="0">
                <a:solidFill>
                  <a:schemeClr val="tx1"/>
                </a:solidFill>
                <a:latin typeface="Arial" charset="0"/>
                <a:ea typeface="ＭＳ Ｐゴシック" charset="-128"/>
                <a:cs typeface="ＭＳ Ｐゴシック" charset="-128"/>
              </a:rPr>
              <a:t>unique exponent</a:t>
            </a:r>
            <a:r>
              <a:rPr lang="en-US" sz="1200" b="0" i="1" kern="1200" baseline="0" dirty="0" smtClean="0">
                <a:solidFill>
                  <a:schemeClr val="tx1"/>
                </a:solidFill>
                <a:latin typeface="Arial" charset="0"/>
                <a:ea typeface="ＭＳ Ｐゴシック" charset="-128"/>
                <a:cs typeface="ＭＳ Ｐゴシック" charset="-128"/>
              </a:rPr>
              <a:t> i </a:t>
            </a:r>
            <a:r>
              <a:rPr lang="en-US" sz="1200" b="0" kern="1200" baseline="0" dirty="0" smtClean="0">
                <a:solidFill>
                  <a:schemeClr val="tx1"/>
                </a:solidFill>
                <a:latin typeface="Arial" charset="0"/>
                <a:ea typeface="ＭＳ Ｐゴシック" charset="-128"/>
                <a:cs typeface="ＭＳ Ｐゴシック" charset="-128"/>
              </a:rPr>
              <a:t>such that</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b = a</a:t>
            </a:r>
            <a:r>
              <a:rPr lang="en-US" sz="1200" b="0" i="1" kern="1200" baseline="30000" dirty="0" smtClean="0">
                <a:solidFill>
                  <a:schemeClr val="tx1"/>
                </a:solidFill>
                <a:latin typeface="Arial" charset="0"/>
                <a:ea typeface="ＭＳ Ｐゴシック" charset="-128"/>
                <a:cs typeface="ＭＳ Ｐゴシック" charset="-128"/>
              </a:rPr>
              <a:t>i</a:t>
            </a:r>
            <a:r>
              <a:rPr lang="en-US" sz="1200" b="0" i="1"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(mod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where </a:t>
            </a:r>
            <a:r>
              <a:rPr lang="en-US" sz="1200" b="0" i="1" kern="1200" baseline="0" dirty="0" smtClean="0">
                <a:solidFill>
                  <a:schemeClr val="tx1"/>
                </a:solidFill>
                <a:latin typeface="Arial" charset="0"/>
                <a:ea typeface="ＭＳ Ｐゴシック" charset="-128"/>
                <a:cs typeface="ＭＳ Ｐゴシック" charset="-128"/>
              </a:rPr>
              <a:t>0 ≤  i ≤ (p -  1)</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The exponent </a:t>
            </a:r>
            <a:r>
              <a:rPr lang="en-US" sz="1200" b="0" i="1" kern="1200" baseline="0" dirty="0" smtClean="0">
                <a:solidFill>
                  <a:schemeClr val="tx1"/>
                </a:solidFill>
                <a:latin typeface="Arial" charset="0"/>
                <a:ea typeface="ＭＳ Ｐゴシック" charset="-128"/>
                <a:cs typeface="ＭＳ Ｐゴシック" charset="-128"/>
              </a:rPr>
              <a:t>i</a:t>
            </a:r>
            <a:r>
              <a:rPr lang="en-US" sz="1200" b="0" kern="1200" baseline="0" dirty="0" smtClean="0">
                <a:solidFill>
                  <a:schemeClr val="tx1"/>
                </a:solidFill>
                <a:latin typeface="Arial" charset="0"/>
                <a:ea typeface="ＭＳ Ｐゴシック" charset="-128"/>
                <a:cs typeface="ＭＳ Ｐゴシック" charset="-128"/>
              </a:rPr>
              <a:t>  is referred to as the discrete logarithm  of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for the base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 mod </a:t>
            </a:r>
            <a:r>
              <a:rPr lang="en-US" sz="1200" b="0" i="1" kern="1200" baseline="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a:t>
            </a:r>
          </a:p>
          <a:p>
            <a:r>
              <a:rPr lang="en-US" sz="1200" b="0" kern="1200" baseline="0" dirty="0" smtClean="0">
                <a:solidFill>
                  <a:schemeClr val="tx1"/>
                </a:solidFill>
                <a:latin typeface="Arial" charset="0"/>
                <a:ea typeface="ＭＳ Ｐゴシック" charset="-128"/>
                <a:cs typeface="ＭＳ Ｐゴシック" charset="-128"/>
              </a:rPr>
              <a:t>We express this value as dlog</a:t>
            </a:r>
            <a:r>
              <a:rPr lang="en-US" sz="1200" b="0" kern="1200" baseline="-25000" dirty="0" smtClean="0">
                <a:solidFill>
                  <a:schemeClr val="tx1"/>
                </a:solidFill>
                <a:latin typeface="Arial" charset="0"/>
                <a:ea typeface="ＭＳ Ｐゴシック" charset="-128"/>
                <a:cs typeface="ＭＳ Ｐゴシック" charset="-128"/>
              </a:rPr>
              <a:t>a,p </a:t>
            </a:r>
            <a:r>
              <a:rPr lang="en-US" sz="1200" b="0" kern="1200" baseline="0" dirty="0" smtClean="0">
                <a:solidFill>
                  <a:schemeClr val="tx1"/>
                </a:solidFill>
                <a:latin typeface="Arial" charset="0"/>
                <a:ea typeface="ＭＳ Ｐゴシック" charset="-128"/>
                <a:cs typeface="ＭＳ Ｐゴシック" charset="-128"/>
              </a:rPr>
              <a:t>(</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 See Chapter</a:t>
            </a:r>
            <a:r>
              <a:rPr lang="en-US" sz="1200" b="0" kern="1200" baseline="0" dirty="0" smtClean="0">
                <a:solidFill>
                  <a:schemeClr val="tx1"/>
                </a:solidFill>
                <a:latin typeface="Arial" charset="0"/>
                <a:ea typeface="ＭＳ Ｐゴシック" charset="-128"/>
                <a:cs typeface="ＭＳ Ｐゴシック" charset="-128"/>
              </a:rPr>
              <a:t> 2 </a:t>
            </a:r>
            <a:r>
              <a:rPr lang="en-US" sz="1200" b="0" kern="1200" baseline="0" dirty="0" smtClean="0">
                <a:solidFill>
                  <a:schemeClr val="tx1"/>
                </a:solidFill>
                <a:latin typeface="Arial" charset="0"/>
                <a:ea typeface="ＭＳ Ｐゴシック" charset="-128"/>
                <a:cs typeface="ＭＳ Ｐゴシック" charset="-128"/>
              </a:rPr>
              <a:t>for an extended discussion of</a:t>
            </a:r>
          </a:p>
          <a:p>
            <a:r>
              <a:rPr lang="en-US" sz="1200" b="0" kern="1200" baseline="0" dirty="0" smtClean="0">
                <a:solidFill>
                  <a:schemeClr val="tx1"/>
                </a:solidFill>
                <a:latin typeface="Arial" charset="0"/>
                <a:ea typeface="ＭＳ Ｐゴシック" charset="-128"/>
                <a:cs typeface="ＭＳ Ｐゴシック" charset="-128"/>
              </a:rPr>
              <a:t>discrete logarithms.</a:t>
            </a:r>
            <a:endParaRPr lang="en-AU" b="0" dirty="0" smtClean="0">
              <a:latin typeface="Arial" pitchFamily="-84" charset="0"/>
              <a:ea typeface="Arial" pitchFamily="-84" charset="0"/>
              <a:cs typeface="Arial" pitchFamily="-8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10.1 summarizes the Diffie-Hellman key exchange algorithm. For this</a:t>
            </a:r>
          </a:p>
          <a:p>
            <a:r>
              <a:rPr lang="en-US" sz="1200" kern="1200" baseline="0" dirty="0" smtClean="0">
                <a:solidFill>
                  <a:schemeClr val="tx1"/>
                </a:solidFill>
                <a:latin typeface="Arial" charset="0"/>
                <a:ea typeface="ＭＳ Ｐゴシック" charset="-128"/>
                <a:cs typeface="ＭＳ Ｐゴシック" charset="-128"/>
              </a:rPr>
              <a:t>scheme, there are two publicly known numbers: a prime number </a:t>
            </a:r>
            <a:r>
              <a:rPr lang="en-US" sz="1200" i="1" kern="1200" baseline="0" dirty="0" smtClean="0">
                <a:solidFill>
                  <a:schemeClr val="tx1"/>
                </a:solidFill>
                <a:latin typeface="Arial" charset="0"/>
                <a:ea typeface="ＭＳ Ｐゴシック" charset="-128"/>
                <a:cs typeface="ＭＳ Ｐゴシック" charset="-128"/>
              </a:rPr>
              <a:t>q </a:t>
            </a:r>
            <a:r>
              <a:rPr lang="en-US" sz="1200" kern="1200" baseline="0" dirty="0" smtClean="0">
                <a:solidFill>
                  <a:schemeClr val="tx1"/>
                </a:solidFill>
                <a:latin typeface="Arial" charset="0"/>
                <a:ea typeface="ＭＳ Ｐゴシック" charset="-128"/>
                <a:cs typeface="ＭＳ Ｐゴシック" charset="-128"/>
              </a:rPr>
              <a:t> and an integer </a:t>
            </a:r>
            <a:r>
              <a:rPr lang="en-US" sz="1200" i="1" kern="1200" baseline="0" dirty="0" smtClean="0">
                <a:solidFill>
                  <a:schemeClr val="tx1"/>
                </a:solidFill>
                <a:latin typeface="Arial" charset="0"/>
                <a:ea typeface="ＭＳ Ｐゴシック" charset="-128"/>
                <a:cs typeface="ＭＳ Ｐゴシック" charset="-128"/>
              </a:rPr>
              <a:t>a</a:t>
            </a:r>
          </a:p>
          <a:p>
            <a:r>
              <a:rPr lang="en-US" sz="1200" kern="1200" baseline="0" dirty="0" smtClean="0">
                <a:solidFill>
                  <a:schemeClr val="tx1"/>
                </a:solidFill>
                <a:latin typeface="Arial" charset="0"/>
                <a:ea typeface="ＭＳ Ｐゴシック" charset="-128"/>
                <a:cs typeface="ＭＳ Ｐゴシック" charset="-128"/>
              </a:rPr>
              <a:t> that is a primitive root of </a:t>
            </a:r>
            <a:r>
              <a:rPr lang="en-US" sz="1200" i="1" kern="1200" baseline="0" dirty="0" smtClean="0">
                <a:solidFill>
                  <a:schemeClr val="tx1"/>
                </a:solidFill>
                <a:latin typeface="Arial" charset="0"/>
                <a:ea typeface="ＭＳ Ｐゴシック" charset="-128"/>
                <a:cs typeface="ＭＳ Ｐゴシック" charset="-128"/>
              </a:rPr>
              <a:t>q</a:t>
            </a:r>
            <a:r>
              <a:rPr lang="en-US" sz="1200" kern="1200" baseline="0" dirty="0" smtClean="0">
                <a:solidFill>
                  <a:schemeClr val="tx1"/>
                </a:solidFill>
                <a:latin typeface="Arial" charset="0"/>
                <a:ea typeface="ＭＳ Ｐゴシック" charset="-128"/>
                <a:cs typeface="ＭＳ Ｐゴシック" charset="-128"/>
              </a:rPr>
              <a:t> . </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4</a:t>
            </a:fld>
            <a:endParaRPr lang="en-A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xfrm>
            <a:off x="685800" y="4343400"/>
            <a:ext cx="5486400" cy="4341813"/>
          </a:xfrm>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protocol depicted in Figure 10.1 is insecure against a man-in-the-middle attack.</a:t>
            </a:r>
          </a:p>
          <a:p>
            <a:r>
              <a:rPr lang="en-US" sz="1200" kern="1200" baseline="0" dirty="0" smtClean="0">
                <a:solidFill>
                  <a:schemeClr val="tx1"/>
                </a:solidFill>
                <a:latin typeface="Arial" charset="0"/>
                <a:ea typeface="ＭＳ Ｐゴシック" charset="-128"/>
                <a:cs typeface="ＭＳ Ｐゴシック" charset="-128"/>
              </a:rPr>
              <a:t>Suppose Alice and Bob wish to exchange keys, and Darth is the adversary. The</a:t>
            </a:r>
          </a:p>
          <a:p>
            <a:r>
              <a:rPr lang="en-US" sz="1200" kern="1200" baseline="0" dirty="0" smtClean="0">
                <a:solidFill>
                  <a:schemeClr val="tx1"/>
                </a:solidFill>
                <a:latin typeface="Arial" charset="0"/>
                <a:ea typeface="ＭＳ Ｐゴシック" charset="-128"/>
                <a:cs typeface="ＭＳ Ｐゴシック" charset="-128"/>
              </a:rPr>
              <a:t>attack proceeds as follows (Figure 10.2).</a:t>
            </a:r>
          </a:p>
          <a:p>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prepares for the attack by generating two random private keys X</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and X</a:t>
            </a:r>
            <a:r>
              <a:rPr lang="en-US" sz="1100" baseline="-25000" dirty="0" smtClean="0">
                <a:latin typeface="Arial" pitchFamily="-84" charset="0"/>
                <a:ea typeface="ＭＳ Ｐゴシック" pitchFamily="-84" charset="-128"/>
                <a:cs typeface="ＭＳ Ｐゴシック" pitchFamily="-84" charset="-128"/>
              </a:rPr>
              <a:t>D2</a:t>
            </a:r>
            <a:r>
              <a:rPr lang="en-US" sz="1100" dirty="0" smtClean="0">
                <a:latin typeface="Arial" pitchFamily="-84" charset="0"/>
                <a:ea typeface="ＭＳ Ｐゴシック" pitchFamily="-84" charset="-128"/>
                <a:cs typeface="ＭＳ Ｐゴシック" pitchFamily="-84" charset="-128"/>
              </a:rPr>
              <a:t> and then computing the corresponding public keys Y</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and Y</a:t>
            </a:r>
            <a:r>
              <a:rPr lang="en-US" sz="1100" baseline="-25000" dirty="0" smtClean="0">
                <a:latin typeface="Arial" pitchFamily="-84" charset="0"/>
                <a:ea typeface="ＭＳ Ｐゴシック" pitchFamily="-84" charset="-128"/>
                <a:cs typeface="ＭＳ Ｐゴシック" pitchFamily="-84" charset="-128"/>
              </a:rPr>
              <a:t>D2</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 Alice transmits Y</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to Bob.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 Darth intercepts Y</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and transmits Y</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to Bob. Darth also calculates K2 = (Y</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 X</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mod q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Bob receives Y</a:t>
            </a:r>
            <a:r>
              <a:rPr lang="en-US" sz="1100" baseline="-25000" dirty="0" smtClean="0">
                <a:latin typeface="Arial" pitchFamily="-84" charset="0"/>
                <a:ea typeface="ＭＳ Ｐゴシック" pitchFamily="-84" charset="-128"/>
                <a:cs typeface="ＭＳ Ｐゴシック" pitchFamily="-84" charset="-128"/>
              </a:rPr>
              <a:t>D1 </a:t>
            </a:r>
            <a:r>
              <a:rPr lang="en-US" sz="1100" dirty="0" smtClean="0">
                <a:latin typeface="Arial" pitchFamily="-84" charset="0"/>
                <a:ea typeface="ＭＳ Ｐゴシック" pitchFamily="-84" charset="-128"/>
                <a:cs typeface="ＭＳ Ｐゴシック" pitchFamily="-84" charset="-128"/>
              </a:rPr>
              <a:t>and calculates K1=(Y</a:t>
            </a:r>
            <a:r>
              <a:rPr lang="en-US" sz="1100" baseline="-25000" dirty="0" smtClean="0">
                <a:latin typeface="Arial" pitchFamily="-84" charset="0"/>
                <a:ea typeface="ＭＳ Ｐゴシック" pitchFamily="-84" charset="-128"/>
                <a:cs typeface="ＭＳ Ｐゴシック" pitchFamily="-84" charset="-128"/>
              </a:rPr>
              <a:t>D1 </a:t>
            </a:r>
            <a:r>
              <a:rPr lang="en-US" sz="1100" dirty="0" smtClean="0">
                <a:latin typeface="Arial" pitchFamily="-84" charset="0"/>
                <a:ea typeface="ＭＳ Ｐゴシック" pitchFamily="-84" charset="-128"/>
                <a:cs typeface="ＭＳ Ｐゴシック" pitchFamily="-84" charset="-128"/>
              </a:rPr>
              <a:t>)^ X</a:t>
            </a:r>
            <a:r>
              <a:rPr lang="en-US" sz="1100" baseline="-25000" dirty="0" smtClean="0">
                <a:latin typeface="Arial" pitchFamily="-84" charset="0"/>
                <a:ea typeface="ＭＳ Ｐゴシック" pitchFamily="-84" charset="-128"/>
                <a:cs typeface="ＭＳ Ｐゴシック" pitchFamily="-84" charset="-128"/>
              </a:rPr>
              <a:t>B</a:t>
            </a:r>
            <a:r>
              <a:rPr lang="en-US" sz="1100" dirty="0" smtClean="0">
                <a:latin typeface="Arial" pitchFamily="-84" charset="0"/>
                <a:ea typeface="ＭＳ Ｐゴシック" pitchFamily="-84" charset="-128"/>
                <a:cs typeface="ＭＳ Ｐゴシック" pitchFamily="-84" charset="-128"/>
              </a:rPr>
              <a:t> mod q</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Bob transmits Y</a:t>
            </a:r>
            <a:r>
              <a:rPr lang="en-US" sz="1100" baseline="-25000" dirty="0" smtClean="0">
                <a:latin typeface="Arial" pitchFamily="-84" charset="0"/>
                <a:ea typeface="ＭＳ Ｐゴシック" pitchFamily="-84" charset="-128"/>
                <a:cs typeface="ＭＳ Ｐゴシック" pitchFamily="-84" charset="-128"/>
              </a:rPr>
              <a:t>B</a:t>
            </a:r>
            <a:r>
              <a:rPr lang="en-US" sz="1100" dirty="0" smtClean="0">
                <a:latin typeface="Arial" pitchFamily="-84" charset="0"/>
                <a:ea typeface="ＭＳ Ｐゴシック" pitchFamily="-84" charset="-128"/>
                <a:cs typeface="ＭＳ Ｐゴシック" pitchFamily="-84" charset="-128"/>
              </a:rPr>
              <a:t> to Alice.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intercepts Y</a:t>
            </a:r>
            <a:r>
              <a:rPr lang="en-US" sz="1100" baseline="-25000" dirty="0" smtClean="0">
                <a:latin typeface="Arial" pitchFamily="-84" charset="0"/>
                <a:ea typeface="ＭＳ Ｐゴシック" pitchFamily="-84" charset="-128"/>
                <a:cs typeface="ＭＳ Ｐゴシック" pitchFamily="-84" charset="-128"/>
              </a:rPr>
              <a:t>B </a:t>
            </a:r>
            <a:r>
              <a:rPr lang="en-US" sz="1100" dirty="0" smtClean="0">
                <a:latin typeface="Arial" pitchFamily="-84" charset="0"/>
                <a:ea typeface="ＭＳ Ｐゴシック" pitchFamily="-84" charset="-128"/>
                <a:cs typeface="ＭＳ Ｐゴシック" pitchFamily="-84" charset="-128"/>
              </a:rPr>
              <a:t>and transmits Y</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to Alice. Darth calculates K1=(Y</a:t>
            </a:r>
            <a:r>
              <a:rPr lang="en-US" sz="1100" baseline="-25000" dirty="0" smtClean="0">
                <a:latin typeface="Arial" pitchFamily="-84" charset="0"/>
                <a:ea typeface="ＭＳ Ｐゴシック" pitchFamily="-84" charset="-128"/>
                <a:cs typeface="ＭＳ Ｐゴシック" pitchFamily="-84" charset="-128"/>
              </a:rPr>
              <a:t>B</a:t>
            </a:r>
            <a:r>
              <a:rPr lang="en-US" sz="1100" dirty="0" smtClean="0">
                <a:latin typeface="Arial" pitchFamily="-84" charset="0"/>
                <a:ea typeface="ＭＳ Ｐゴシック" pitchFamily="-84" charset="-128"/>
                <a:cs typeface="ＭＳ Ｐゴシック" pitchFamily="-84" charset="-128"/>
              </a:rPr>
              <a:t> )^ X</a:t>
            </a:r>
            <a:r>
              <a:rPr lang="en-US" sz="1100" baseline="-25000" dirty="0" smtClean="0">
                <a:latin typeface="Arial" pitchFamily="-84" charset="0"/>
                <a:ea typeface="ＭＳ Ｐゴシック" pitchFamily="-84" charset="-128"/>
                <a:cs typeface="ＭＳ Ｐゴシック" pitchFamily="-84" charset="-128"/>
              </a:rPr>
              <a:t>D1</a:t>
            </a:r>
            <a:r>
              <a:rPr lang="en-US" sz="1100" dirty="0" smtClean="0">
                <a:latin typeface="Arial" pitchFamily="-84" charset="0"/>
                <a:ea typeface="ＭＳ Ｐゴシック" pitchFamily="-84" charset="-128"/>
                <a:cs typeface="ＭＳ Ｐゴシック" pitchFamily="-84" charset="-128"/>
              </a:rPr>
              <a:t>  mod q</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Alice receives Y</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and calculates K2=(Y</a:t>
            </a:r>
            <a:r>
              <a:rPr lang="en-US" sz="1100" baseline="-25000" dirty="0" smtClean="0">
                <a:latin typeface="Arial" pitchFamily="-84" charset="0"/>
                <a:ea typeface="ＭＳ Ｐゴシック" pitchFamily="-84" charset="-128"/>
                <a:cs typeface="ＭＳ Ｐゴシック" pitchFamily="-84" charset="-128"/>
              </a:rPr>
              <a:t>D2 </a:t>
            </a:r>
            <a:r>
              <a:rPr lang="en-US" sz="1100" dirty="0" smtClean="0">
                <a:latin typeface="Arial" pitchFamily="-84" charset="0"/>
                <a:ea typeface="ＭＳ Ｐゴシック" pitchFamily="-84" charset="-128"/>
                <a:cs typeface="ＭＳ Ｐゴシック" pitchFamily="-84" charset="-128"/>
              </a:rPr>
              <a:t>)^ X</a:t>
            </a:r>
            <a:r>
              <a:rPr lang="en-US" sz="1100" baseline="-25000" dirty="0" smtClean="0">
                <a:latin typeface="Arial" pitchFamily="-84" charset="0"/>
                <a:ea typeface="ＭＳ Ｐゴシック" pitchFamily="-84" charset="-128"/>
                <a:cs typeface="ＭＳ Ｐゴシック" pitchFamily="-84" charset="-128"/>
              </a:rPr>
              <a:t>A</a:t>
            </a:r>
            <a:r>
              <a:rPr lang="en-US" sz="1100" dirty="0" smtClean="0">
                <a:latin typeface="Arial" pitchFamily="-84" charset="0"/>
                <a:ea typeface="ＭＳ Ｐゴシック" pitchFamily="-84" charset="-128"/>
                <a:cs typeface="ＭＳ Ｐゴシック" pitchFamily="-84" charset="-128"/>
              </a:rPr>
              <a:t> mod q .   </a:t>
            </a:r>
          </a:p>
          <a:p>
            <a:pPr eaLnBrk="1" hangingPunct="1">
              <a:lnSpc>
                <a:spcPct val="90000"/>
              </a:lnSpc>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pPr>
            <a:r>
              <a:rPr lang="en-US" sz="1100" dirty="0" smtClean="0">
                <a:latin typeface="Arial" pitchFamily="-84" charset="0"/>
                <a:ea typeface="ＭＳ Ｐゴシック" pitchFamily="-84" charset="-128"/>
                <a:cs typeface="ＭＳ Ｐゴシック" pitchFamily="-84" charset="-128"/>
              </a:rPr>
              <a:t>At this point, Bob and Alice think that they share a secret key, but instead Bob and Darth share secret key K1 and Alice and Darth share secret key K2. All future communication between Bob and Alice is compromised in the following way:   </a:t>
            </a:r>
          </a:p>
          <a:p>
            <a:pPr eaLnBrk="1" hangingPunct="1">
              <a:lnSpc>
                <a:spcPct val="90000"/>
              </a:lnSpc>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Alice sends an encrypted message M: E(K2, M).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intercepts the encrypted message and decrypts it, to recover M.  </a:t>
            </a:r>
          </a:p>
          <a:p>
            <a:pPr eaLnBrk="1" hangingPunct="1">
              <a:lnSpc>
                <a:spcPct val="90000"/>
              </a:lnSpc>
              <a:buFontTx/>
              <a:buAutoNum type="arabicPeriod"/>
            </a:pPr>
            <a:r>
              <a:rPr lang="en-US" sz="1100" dirty="0" smtClean="0">
                <a:latin typeface="Arial" pitchFamily="-84" charset="0"/>
                <a:ea typeface="ＭＳ Ｐゴシック" pitchFamily="-84" charset="-128"/>
                <a:cs typeface="ＭＳ Ｐゴシック" pitchFamily="-84" charset="-128"/>
              </a:rPr>
              <a:t>Darth sends Bob E(K1, M) or E(K1, M'), where M' is any message. In the first case, Darth simply wants to eavesdrop on the communication without altering it. In the second case, Darth wants to modify the message going to Bob.   </a:t>
            </a:r>
          </a:p>
          <a:p>
            <a:pPr eaLnBrk="1" hangingPunct="1">
              <a:lnSpc>
                <a:spcPct val="90000"/>
              </a:lnSpc>
              <a:buFontTx/>
              <a:buAutoNum type="arabicPeriod"/>
            </a:pPr>
            <a:endParaRPr lang="en-US" sz="1100" dirty="0" smtClean="0">
              <a:latin typeface="Arial" pitchFamily="-84" charset="0"/>
              <a:ea typeface="ＭＳ Ｐゴシック" pitchFamily="-84" charset="-128"/>
              <a:cs typeface="ＭＳ Ｐゴシック" pitchFamily="-84" charset="-128"/>
            </a:endParaRPr>
          </a:p>
          <a:p>
            <a:pPr eaLnBrk="1" hangingPunct="1">
              <a:lnSpc>
                <a:spcPct val="90000"/>
              </a:lnSpc>
              <a:buFontTx/>
              <a:buNone/>
            </a:pPr>
            <a:r>
              <a:rPr lang="en-US" sz="1100" dirty="0" smtClean="0">
                <a:latin typeface="Arial" pitchFamily="-84" charset="0"/>
                <a:ea typeface="ＭＳ Ｐゴシック" pitchFamily="-84" charset="-128"/>
                <a:cs typeface="ＭＳ Ｐゴシック" pitchFamily="-84" charset="-128"/>
              </a:rPr>
              <a:t>The key exchange protocol is vulnerable to such an attack because it does not authenticate the participants. This vulnerability can be overcome with the use of digital signatures and public- key certificates.</a:t>
            </a:r>
          </a:p>
        </p:txBody>
      </p:sp>
      <p:sp>
        <p:nvSpPr>
          <p:cNvPr id="31748" name="Slide Number Placeholder 3"/>
          <p:cNvSpPr>
            <a:spLocks noGrp="1"/>
          </p:cNvSpPr>
          <p:nvPr>
            <p:ph type="sldNum" sz="quarter" idx="5"/>
          </p:nvPr>
        </p:nvSpPr>
        <p:spPr>
          <a:noFill/>
        </p:spPr>
        <p:txBody>
          <a:bodyPr/>
          <a:lstStyle/>
          <a:p>
            <a:fld id="{1497ACC7-F361-EE47-BD9E-A66D06FA39DE}" type="slidenum">
              <a:rPr lang="en-AU" smtClean="0">
                <a:latin typeface="Arial" pitchFamily="-84" charset="0"/>
              </a:rPr>
              <a:pPr/>
              <a:t>5</a:t>
            </a:fld>
            <a:endParaRPr lang="en-AU" dirty="0" smtClean="0">
              <a:latin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14CF9403-2534-654D-9690-24E80497FAA7}" type="slidenum">
              <a:rPr lang="en-AU">
                <a:latin typeface="Arial" pitchFamily="-84" charset="0"/>
              </a:rPr>
              <a:pPr/>
              <a:t>6</a:t>
            </a:fld>
            <a:endParaRPr lang="en-AU" dirty="0">
              <a:latin typeface="Arial" pitchFamily="-8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In 1984, T. Elgamal announced a public-key scheme based on discrete logarithms, closely related to the Diffie-Hellman technique [ELGA84, ELGA85]. The ElGamal cryptosystem is used in some form in a number of standards including the digital signature standard (DSS) and the S/MIME email standard.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As with Diffie-Hellman, the global elements of ElGamal are a prime number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and </a:t>
            </a:r>
            <a:r>
              <a:rPr lang="en-US" i="1" dirty="0" smtClean="0">
                <a:latin typeface="Arial" pitchFamily="-84" charset="0"/>
                <a:ea typeface="ＭＳ Ｐゴシック" pitchFamily="-84" charset="-128"/>
                <a:cs typeface="ＭＳ Ｐゴシック" pitchFamily="-84" charset="-128"/>
              </a:rPr>
              <a:t>a, </a:t>
            </a:r>
            <a:r>
              <a:rPr lang="en-US" dirty="0" smtClean="0">
                <a:latin typeface="Arial" pitchFamily="-84" charset="0"/>
                <a:ea typeface="ＭＳ Ｐゴシック" pitchFamily="-84" charset="-128"/>
                <a:cs typeface="ＭＳ Ｐゴシック" pitchFamily="-84" charset="-128"/>
              </a:rPr>
              <a:t>which is a primitive root of </a:t>
            </a:r>
            <a:r>
              <a:rPr lang="en-US" i="1" dirty="0" smtClean="0">
                <a:latin typeface="Arial" pitchFamily="-84" charset="0"/>
                <a:ea typeface="ＭＳ Ｐゴシック" pitchFamily="-84" charset="-128"/>
                <a:cs typeface="ＭＳ Ｐゴシック" pitchFamily="-84" charset="-128"/>
              </a:rPr>
              <a:t>q. </a:t>
            </a:r>
            <a:r>
              <a:rPr lang="en-US" dirty="0" smtClean="0">
                <a:latin typeface="Arial" pitchFamily="-84" charset="0"/>
                <a:ea typeface="ＭＳ Ｐゴシック" pitchFamily="-84" charset="-128"/>
                <a:cs typeface="ＭＳ Ｐゴシック" pitchFamily="-84" charset="-128"/>
              </a:rPr>
              <a:t>User A generates a private/public key </a:t>
            </a:r>
            <a:r>
              <a:rPr lang="en-US" dirty="0" smtClean="0">
                <a:latin typeface="Arial" pitchFamily="-84" charset="0"/>
                <a:ea typeface="ＭＳ Ｐゴシック" pitchFamily="-84" charset="-128"/>
                <a:cs typeface="ＭＳ Ｐゴシック" pitchFamily="-84" charset="-128"/>
              </a:rPr>
              <a:t>pair. </a:t>
            </a:r>
            <a:r>
              <a:rPr lang="en-US" dirty="0" smtClean="0">
                <a:latin typeface="Arial" pitchFamily="-84" charset="0"/>
                <a:ea typeface="ＭＳ Ｐゴシック" pitchFamily="-84" charset="-128"/>
                <a:cs typeface="ＭＳ Ｐゴシック" pitchFamily="-84" charset="-128"/>
              </a:rPr>
              <a:t>The security of ElGamal is based on the difficulty of computing discrete logarithms, to recover either x given y, or k given K .</a:t>
            </a:r>
          </a:p>
          <a:p>
            <a:pPr eaLnBrk="1" hangingPunct="1"/>
            <a:endParaRPr lang="en-US"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The security of Elgamal is based on the difficulty of computing discrete</a:t>
            </a:r>
          </a:p>
          <a:p>
            <a:r>
              <a:rPr lang="en-US" sz="1200" kern="1200" baseline="0" dirty="0" smtClean="0">
                <a:solidFill>
                  <a:schemeClr val="tx1"/>
                </a:solidFill>
                <a:latin typeface="Arial" charset="0"/>
                <a:ea typeface="ＭＳ Ｐゴシック" charset="-128"/>
                <a:cs typeface="ＭＳ Ｐゴシック" charset="-128"/>
              </a:rPr>
              <a:t>logarithms.</a:t>
            </a:r>
            <a:endParaRPr lang="en-US" dirty="0" smtClean="0">
              <a:latin typeface="Times-Roman" charset="0"/>
              <a:ea typeface="ＭＳ Ｐゴシック" pitchFamily="-84" charset="-128"/>
              <a:cs typeface="ＭＳ Ｐゴシック" pitchFamily="-8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10.3 summarizes</a:t>
            </a:r>
            <a:r>
              <a:rPr lang="en-US" baseline="0" dirty="0" smtClean="0"/>
              <a:t> the ElGamal Cryptosystem.  It corresponds to Figure 9.1a</a:t>
            </a:r>
            <a:r>
              <a:rPr lang="en-US" baseline="0" dirty="0" smtClean="0"/>
              <a:t>.</a:t>
            </a:r>
          </a:p>
          <a:p>
            <a:r>
              <a:rPr lang="en-US" sz="1200" kern="1200" baseline="0" dirty="0" smtClean="0">
                <a:solidFill>
                  <a:schemeClr val="tx1"/>
                </a:solidFill>
                <a:latin typeface="Arial" charset="0"/>
                <a:ea typeface="ＭＳ Ｐゴシック" charset="-128"/>
                <a:cs typeface="ＭＳ Ｐゴシック" charset="-128"/>
              </a:rPr>
              <a:t> Alice generates a public/private key pair; Bob encrypts using Alice’s public key; and</a:t>
            </a:r>
          </a:p>
          <a:p>
            <a:r>
              <a:rPr lang="en-US" sz="1200" kern="1200" baseline="0" dirty="0" smtClean="0">
                <a:solidFill>
                  <a:schemeClr val="tx1"/>
                </a:solidFill>
                <a:latin typeface="Arial" charset="0"/>
                <a:ea typeface="ＭＳ Ｐゴシック" charset="-128"/>
                <a:cs typeface="ＭＳ Ｐゴシック" charset="-128"/>
              </a:rPr>
              <a:t>Alice decrypts using her private key.</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7</a:t>
            </a:fld>
            <a:endParaRPr lang="en-AU"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fld id="{686EAA5D-0480-654D-BDAE-36E2E1D468D4}" type="slidenum">
              <a:rPr lang="en-AU">
                <a:latin typeface="Arial" pitchFamily="-84" charset="0"/>
              </a:rPr>
              <a:pPr/>
              <a:t>8</a:t>
            </a:fld>
            <a:endParaRPr lang="en-AU" dirty="0">
              <a:latin typeface="Arial" pitchFamily="-8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Most of the products and standards that use public-key cryptography for encryption</a:t>
            </a:r>
          </a:p>
          <a:p>
            <a:r>
              <a:rPr lang="en-US" sz="1200" kern="1200" baseline="0" dirty="0" smtClean="0">
                <a:solidFill>
                  <a:schemeClr val="tx1"/>
                </a:solidFill>
                <a:latin typeface="Arial" charset="0"/>
                <a:ea typeface="ＭＳ Ｐゴシック" charset="-128"/>
                <a:cs typeface="ＭＳ Ｐゴシック" charset="-128"/>
              </a:rPr>
              <a:t>and digital signatures use RSA. As we have seen, the key length for secure RSA</a:t>
            </a:r>
          </a:p>
          <a:p>
            <a:r>
              <a:rPr lang="en-US" sz="1200" kern="1200" baseline="0" dirty="0" smtClean="0">
                <a:solidFill>
                  <a:schemeClr val="tx1"/>
                </a:solidFill>
                <a:latin typeface="Arial" charset="0"/>
                <a:ea typeface="ＭＳ Ｐゴシック" charset="-128"/>
                <a:cs typeface="ＭＳ Ｐゴシック" charset="-128"/>
              </a:rPr>
              <a:t>use has increased over recent years, and this has put a heavier processing load on</a:t>
            </a:r>
          </a:p>
          <a:p>
            <a:r>
              <a:rPr lang="en-US" sz="1200" kern="1200" baseline="0" dirty="0" smtClean="0">
                <a:solidFill>
                  <a:schemeClr val="tx1"/>
                </a:solidFill>
                <a:latin typeface="Arial" charset="0"/>
                <a:ea typeface="ＭＳ Ｐゴシック" charset="-128"/>
                <a:cs typeface="ＭＳ Ｐゴシック" charset="-128"/>
              </a:rPr>
              <a:t>applications using RSA. This burden has ramifications, especially for electronic commerce</a:t>
            </a:r>
          </a:p>
          <a:p>
            <a:r>
              <a:rPr lang="en-US" sz="1200" kern="1200" baseline="0" dirty="0" smtClean="0">
                <a:solidFill>
                  <a:schemeClr val="tx1"/>
                </a:solidFill>
                <a:latin typeface="Arial" charset="0"/>
                <a:ea typeface="ＭＳ Ｐゴシック" charset="-128"/>
                <a:cs typeface="ＭＳ Ｐゴシック" charset="-128"/>
              </a:rPr>
              <a:t>sites that conduct large numbers of secure transactions. A competing system</a:t>
            </a:r>
          </a:p>
          <a:p>
            <a:r>
              <a:rPr lang="en-US" sz="1200" kern="1200" baseline="0" dirty="0" smtClean="0">
                <a:solidFill>
                  <a:schemeClr val="tx1"/>
                </a:solidFill>
                <a:latin typeface="Arial" charset="0"/>
                <a:ea typeface="ＭＳ Ｐゴシック" charset="-128"/>
                <a:cs typeface="ＭＳ Ｐゴシック" charset="-128"/>
              </a:rPr>
              <a:t>challenges RSA: elliptic curve cryptography (ECC). ECC is showing up in standardization</a:t>
            </a:r>
          </a:p>
          <a:p>
            <a:r>
              <a:rPr lang="en-US" sz="1200" kern="1200" baseline="0" dirty="0" smtClean="0">
                <a:solidFill>
                  <a:schemeClr val="tx1"/>
                </a:solidFill>
                <a:latin typeface="Arial" charset="0"/>
                <a:ea typeface="ＭＳ Ｐゴシック" charset="-128"/>
                <a:cs typeface="ＭＳ Ｐゴシック" charset="-128"/>
              </a:rPr>
              <a:t>efforts, including the IEEE P1363 Standard for Public-Key Cryptography.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The principal attraction of ECC, compared to RSA, is that it appears to offer</a:t>
            </a:r>
          </a:p>
          <a:p>
            <a:r>
              <a:rPr lang="en-US" sz="1200" kern="1200" baseline="0" dirty="0" smtClean="0">
                <a:solidFill>
                  <a:schemeClr val="tx1"/>
                </a:solidFill>
                <a:latin typeface="Arial" charset="0"/>
                <a:ea typeface="ＭＳ Ｐゴシック" charset="-128"/>
                <a:cs typeface="ＭＳ Ｐゴシック" charset="-128"/>
              </a:rPr>
              <a:t>equal security for a far smaller key size, thereby reducing processing overhead.</a:t>
            </a:r>
            <a:r>
              <a:rPr lang="en-US" sz="1200" kern="1200" baseline="0" dirty="0" smtClean="0">
                <a:solidFill>
                  <a:schemeClr val="tx1"/>
                </a:solidFill>
                <a:latin typeface="Arial" charset="0"/>
                <a:ea typeface="ＭＳ Ｐゴシック" charset="-128"/>
                <a:cs typeface="ＭＳ Ｐゴシック" charset="-128"/>
              </a:rPr>
              <a:t> </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ECC is fundamentally more difficult to explain than either RSA or Diffie-</a:t>
            </a:r>
          </a:p>
          <a:p>
            <a:r>
              <a:rPr lang="en-US" sz="1200" kern="1200" baseline="0" dirty="0" smtClean="0">
                <a:solidFill>
                  <a:schemeClr val="tx1"/>
                </a:solidFill>
                <a:latin typeface="Arial" charset="0"/>
                <a:ea typeface="ＭＳ Ｐゴシック" charset="-128"/>
                <a:cs typeface="ＭＳ Ｐゴシック" charset="-128"/>
              </a:rPr>
              <a:t>Hellman, and a full mathematical description is beyond the scope of this book.</a:t>
            </a:r>
          </a:p>
          <a:p>
            <a:r>
              <a:rPr lang="en-US" sz="1200" kern="1200" baseline="0" dirty="0" smtClean="0">
                <a:solidFill>
                  <a:schemeClr val="tx1"/>
                </a:solidFill>
                <a:latin typeface="Arial" charset="0"/>
                <a:ea typeface="ＭＳ Ｐゴシック" charset="-128"/>
                <a:cs typeface="ＭＳ Ｐゴシック" charset="-128"/>
              </a:rPr>
              <a:t>This section and the next give some background on elliptic curves and ECC. We</a:t>
            </a:r>
          </a:p>
          <a:p>
            <a:r>
              <a:rPr lang="en-US" sz="1200" kern="1200" baseline="0" dirty="0" smtClean="0">
                <a:solidFill>
                  <a:schemeClr val="tx1"/>
                </a:solidFill>
                <a:latin typeface="Arial" charset="0"/>
                <a:ea typeface="ＭＳ Ｐゴシック" charset="-128"/>
                <a:cs typeface="ＭＳ Ｐゴシック" charset="-128"/>
              </a:rPr>
              <a:t>begin with a brief review of the concept of abelian group. Next, we examine the</a:t>
            </a:r>
          </a:p>
          <a:p>
            <a:r>
              <a:rPr lang="en-US" sz="1200" kern="1200" baseline="0" dirty="0" smtClean="0">
                <a:solidFill>
                  <a:schemeClr val="tx1"/>
                </a:solidFill>
                <a:latin typeface="Arial" charset="0"/>
                <a:ea typeface="ＭＳ Ｐゴシック" charset="-128"/>
                <a:cs typeface="ＭＳ Ｐゴシック" charset="-128"/>
              </a:rPr>
              <a:t>concept of elliptic curves defined over the real numbers. This is followed by a look</a:t>
            </a:r>
          </a:p>
          <a:p>
            <a:r>
              <a:rPr lang="en-US" sz="1200" kern="1200" baseline="0" dirty="0" smtClean="0">
                <a:solidFill>
                  <a:schemeClr val="tx1"/>
                </a:solidFill>
                <a:latin typeface="Arial" charset="0"/>
                <a:ea typeface="ＭＳ Ｐゴシック" charset="-128"/>
                <a:cs typeface="ＭＳ Ｐゴシック" charset="-128"/>
              </a:rPr>
              <a:t>at elliptic curves defined over finite fields. Finally, we are able to examine elliptic</a:t>
            </a:r>
          </a:p>
          <a:p>
            <a:r>
              <a:rPr lang="en-US" sz="1200" kern="1200" baseline="0" dirty="0" smtClean="0">
                <a:solidFill>
                  <a:schemeClr val="tx1"/>
                </a:solidFill>
                <a:latin typeface="Arial" charset="0"/>
                <a:ea typeface="ＭＳ Ｐゴシック" charset="-128"/>
                <a:cs typeface="ＭＳ Ｐゴシック" charset="-128"/>
              </a:rPr>
              <a:t>curve ciphers.</a:t>
            </a:r>
            <a:endParaRPr lang="en-US" dirty="0">
              <a:latin typeface="Arial" pitchFamily="-84" charset="0"/>
              <a:ea typeface="Arial" pitchFamily="-84" charset="0"/>
              <a:cs typeface="Arial" pitchFamily="-8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sz="1200" b="0" kern="1200" baseline="0" dirty="0" smtClean="0">
                <a:solidFill>
                  <a:schemeClr val="tx1"/>
                </a:solidFill>
                <a:latin typeface="Arial" charset="0"/>
                <a:ea typeface="ＭＳ Ｐゴシック" charset="-128"/>
                <a:cs typeface="ＭＳ Ｐゴシック" charset="-128"/>
              </a:rPr>
              <a:t>Recall from Chapter</a:t>
            </a:r>
            <a:r>
              <a:rPr lang="en-US" sz="1200" b="0" kern="1200" baseline="0" dirty="0" smtClean="0">
                <a:solidFill>
                  <a:schemeClr val="tx1"/>
                </a:solidFill>
                <a:latin typeface="Arial" charset="0"/>
                <a:ea typeface="ＭＳ Ｐゴシック" charset="-128"/>
                <a:cs typeface="ＭＳ Ｐゴシック" charset="-128"/>
              </a:rPr>
              <a:t> 5 </a:t>
            </a:r>
            <a:r>
              <a:rPr lang="en-US" sz="1200" b="0" kern="1200" baseline="0" dirty="0" smtClean="0">
                <a:solidFill>
                  <a:schemeClr val="tx1"/>
                </a:solidFill>
                <a:latin typeface="Arial" charset="0"/>
                <a:ea typeface="ＭＳ Ｐゴシック" charset="-128"/>
                <a:cs typeface="ＭＳ Ｐゴシック" charset="-128"/>
              </a:rPr>
              <a:t>that an abelian group </a:t>
            </a:r>
            <a:r>
              <a:rPr lang="en-US" sz="1200" b="0" kern="1200" baseline="0" dirty="0" smtClean="0">
                <a:solidFill>
                  <a:schemeClr val="tx1"/>
                </a:solidFill>
                <a:latin typeface="Arial" charset="0"/>
                <a:ea typeface="ＭＳ Ｐゴシック" charset="-128"/>
                <a:cs typeface="ＭＳ Ｐゴシック" charset="-128"/>
              </a:rPr>
              <a:t>G, </a:t>
            </a:r>
            <a:r>
              <a:rPr lang="en-US" sz="1200" b="0" kern="1200" baseline="0" dirty="0" smtClean="0">
                <a:solidFill>
                  <a:schemeClr val="tx1"/>
                </a:solidFill>
                <a:latin typeface="Arial" charset="0"/>
                <a:ea typeface="ＭＳ Ｐゴシック" charset="-128"/>
                <a:cs typeface="ＭＳ Ｐゴシック" charset="-128"/>
              </a:rPr>
              <a:t>sometimes denoted by {G ,</a:t>
            </a:r>
            <a:r>
              <a:rPr lang="en-US" sz="6000" b="0" kern="1200" baseline="30000" dirty="0" smtClean="0">
                <a:solidFill>
                  <a:schemeClr val="tx1"/>
                </a:solidFill>
                <a:latin typeface="Arial" charset="0"/>
                <a:ea typeface="ＭＳ Ｐゴシック" charset="-128"/>
                <a:cs typeface="ＭＳ Ｐゴシック" charset="-128"/>
              </a:rPr>
              <a:t> </a:t>
            </a:r>
            <a:r>
              <a:rPr lang="en-US" sz="6000" b="0" i="1" kern="1200" baseline="30000" dirty="0" smtClean="0">
                <a:solidFill>
                  <a:schemeClr val="tx1"/>
                </a:solidFill>
                <a:latin typeface="Wingdings"/>
                <a:ea typeface="Wingdings"/>
                <a:cs typeface="Wingdings"/>
              </a:rPr>
              <a:t>.</a:t>
            </a:r>
            <a:r>
              <a:rPr lang="en-US" sz="6000" b="0" kern="1200" baseline="3000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 is</a:t>
            </a:r>
          </a:p>
          <a:p>
            <a:r>
              <a:rPr lang="en-US" sz="1200" b="0" kern="1200" baseline="0" dirty="0" smtClean="0">
                <a:solidFill>
                  <a:schemeClr val="tx1"/>
                </a:solidFill>
                <a:latin typeface="Arial" charset="0"/>
                <a:ea typeface="ＭＳ Ｐゴシック" charset="-128"/>
                <a:cs typeface="ＭＳ Ｐゴシック" charset="-128"/>
              </a:rPr>
              <a:t>a set of elements with a binary operation, denoted by </a:t>
            </a:r>
            <a:r>
              <a:rPr lang="en-US" sz="1200" b="0"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kern="1200" baseline="3000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  , that associates to each</a:t>
            </a:r>
          </a:p>
          <a:p>
            <a:r>
              <a:rPr lang="en-US" sz="1200" b="0" kern="1200" baseline="0" dirty="0" smtClean="0">
                <a:solidFill>
                  <a:schemeClr val="tx1"/>
                </a:solidFill>
                <a:latin typeface="Arial" charset="0"/>
                <a:ea typeface="ＭＳ Ｐゴシック" charset="-128"/>
                <a:cs typeface="ＭＳ Ｐゴシック" charset="-128"/>
              </a:rPr>
              <a:t>ordered pair </a:t>
            </a:r>
            <a:r>
              <a:rPr lang="en-US" sz="1200" b="0" i="1" kern="1200" baseline="0" dirty="0" smtClean="0">
                <a:solidFill>
                  <a:schemeClr val="tx1"/>
                </a:solidFill>
                <a:latin typeface="Arial" charset="0"/>
                <a:ea typeface="ＭＳ Ｐゴシック" charset="-128"/>
                <a:cs typeface="ＭＳ Ｐゴシック" charset="-128"/>
              </a:rPr>
              <a:t>(a , b ) </a:t>
            </a:r>
            <a:r>
              <a:rPr lang="en-US" sz="1200" b="0" kern="1200" baseline="0" dirty="0" smtClean="0">
                <a:solidFill>
                  <a:schemeClr val="tx1"/>
                </a:solidFill>
                <a:latin typeface="Arial" charset="0"/>
                <a:ea typeface="ＭＳ Ｐゴシック" charset="-128"/>
                <a:cs typeface="ＭＳ Ｐゴシック" charset="-128"/>
              </a:rPr>
              <a:t>of elements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an element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 </a:t>
            </a:r>
            <a:r>
              <a:rPr lang="en-US" sz="1200" b="0" kern="1200" baseline="0" dirty="0" smtClean="0">
                <a:solidFill>
                  <a:schemeClr val="tx1"/>
                </a:solidFill>
                <a:latin typeface="Arial" charset="0"/>
                <a:ea typeface="ＭＳ Ｐゴシック" charset="-128"/>
                <a:cs typeface="ＭＳ Ｐゴシック" charset="-128"/>
              </a:rPr>
              <a:t>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 such that the following</a:t>
            </a:r>
          </a:p>
          <a:p>
            <a:r>
              <a:rPr lang="en-US" sz="1200" b="0" kern="1200" baseline="0" dirty="0" smtClean="0">
                <a:solidFill>
                  <a:schemeClr val="tx1"/>
                </a:solidFill>
                <a:latin typeface="Arial" charset="0"/>
                <a:ea typeface="ＭＳ Ｐゴシック" charset="-128"/>
                <a:cs typeface="ＭＳ Ｐゴシック" charset="-128"/>
              </a:rPr>
              <a:t>axioms are obeyed:</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(A1) Closure:  If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belong to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 then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a:t>
            </a:r>
            <a:r>
              <a:rPr lang="en-US" sz="1200" b="0" kern="1200" baseline="0" dirty="0" smtClean="0">
                <a:solidFill>
                  <a:schemeClr val="tx1"/>
                </a:solidFill>
                <a:latin typeface="Arial" charset="0"/>
                <a:ea typeface="ＭＳ Ｐゴシック" charset="-128"/>
                <a:cs typeface="ＭＳ Ｐゴシック" charset="-128"/>
              </a:rPr>
              <a:t>is also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(A2) Associative: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c ) =  (a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c  </a:t>
            </a:r>
            <a:r>
              <a:rPr lang="en-US" sz="1200" b="0" kern="1200" baseline="0" dirty="0" smtClean="0">
                <a:solidFill>
                  <a:schemeClr val="tx1"/>
                </a:solidFill>
                <a:latin typeface="Arial" charset="0"/>
                <a:ea typeface="ＭＳ Ｐゴシック" charset="-128"/>
                <a:cs typeface="ＭＳ Ｐゴシック" charset="-128"/>
              </a:rPr>
              <a:t>for all </a:t>
            </a:r>
            <a:r>
              <a:rPr lang="en-US" sz="1200" b="0" i="1" kern="1200" baseline="0" dirty="0" smtClean="0">
                <a:solidFill>
                  <a:schemeClr val="tx1"/>
                </a:solidFill>
                <a:latin typeface="Arial" charset="0"/>
                <a:ea typeface="ＭＳ Ｐゴシック" charset="-128"/>
                <a:cs typeface="ＭＳ Ｐゴシック" charset="-128"/>
              </a:rPr>
              <a:t>a , b , c  </a:t>
            </a:r>
            <a:r>
              <a:rPr lang="en-US" sz="1200" b="0" kern="1200" baseline="0" dirty="0" smtClean="0">
                <a:solidFill>
                  <a:schemeClr val="tx1"/>
                </a:solidFill>
                <a:latin typeface="Arial" charset="0"/>
                <a:ea typeface="ＭＳ Ｐゴシック" charset="-128"/>
                <a:cs typeface="ＭＳ Ｐゴシック" charset="-128"/>
              </a:rPr>
              <a:t>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(A3) Identity element:  There is an element </a:t>
            </a:r>
            <a:r>
              <a:rPr lang="en-US" sz="1200" b="0" i="1" kern="1200" baseline="0" dirty="0" smtClean="0">
                <a:solidFill>
                  <a:schemeClr val="tx1"/>
                </a:solidFill>
                <a:latin typeface="Arial" charset="0"/>
                <a:ea typeface="ＭＳ Ｐゴシック" charset="-128"/>
                <a:cs typeface="ＭＳ Ｐゴシック" charset="-128"/>
              </a:rPr>
              <a:t>e</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such that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e =  e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 a</a:t>
            </a:r>
          </a:p>
          <a:p>
            <a:r>
              <a:rPr lang="en-US" sz="1200" b="0" kern="1200" baseline="0" dirty="0" smtClean="0">
                <a:solidFill>
                  <a:schemeClr val="tx1"/>
                </a:solidFill>
                <a:latin typeface="Arial" charset="0"/>
                <a:ea typeface="ＭＳ Ｐゴシック" charset="-128"/>
                <a:cs typeface="ＭＳ Ｐゴシック" charset="-128"/>
              </a:rPr>
              <a:t> for all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(A4) Inverse element:  For each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there is an element </a:t>
            </a:r>
            <a:r>
              <a:rPr lang="en-US" sz="1200" b="0" i="1" kern="1200" baseline="0" dirty="0" smtClean="0">
                <a:solidFill>
                  <a:schemeClr val="tx1"/>
                </a:solidFill>
                <a:latin typeface="Arial" charset="0"/>
                <a:ea typeface="ＭＳ Ｐゴシック" charset="-128"/>
                <a:cs typeface="ＭＳ Ｐゴシック" charset="-128"/>
              </a:rPr>
              <a:t>a′  </a:t>
            </a:r>
            <a:r>
              <a:rPr lang="en-US" sz="1200" b="0" kern="1200" baseline="0" dirty="0" smtClean="0">
                <a:solidFill>
                  <a:schemeClr val="tx1"/>
                </a:solidFill>
                <a:latin typeface="Arial" charset="0"/>
                <a:ea typeface="ＭＳ Ｐゴシック" charset="-128"/>
                <a:cs typeface="ＭＳ Ｐゴシック" charset="-128"/>
              </a:rPr>
              <a:t>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such that</a:t>
            </a:r>
          </a:p>
          <a:p>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 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  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(A5) Commutative: </a:t>
            </a:r>
            <a:r>
              <a:rPr lang="en-US" sz="1200" b="0" i="1" kern="1200" baseline="0" dirty="0" smtClean="0">
                <a:solidFill>
                  <a:schemeClr val="tx1"/>
                </a:solidFill>
                <a:latin typeface="Arial" charset="0"/>
                <a:ea typeface="ＭＳ Ｐゴシック" charset="-128"/>
                <a:cs typeface="ＭＳ Ｐゴシック" charset="-128"/>
              </a:rPr>
              <a:t>a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b = b </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30000" dirty="0" smtClean="0">
                <a:solidFill>
                  <a:schemeClr val="tx1"/>
                </a:solidFill>
                <a:latin typeface="Wingdings"/>
                <a:ea typeface="Wingdings"/>
                <a:cs typeface="Wingdings"/>
              </a:rPr>
              <a:t>.</a:t>
            </a:r>
            <a:r>
              <a:rPr lang="en-US" sz="1200" b="0" i="1" kern="1200" baseline="30000" dirty="0" smtClean="0">
                <a:solidFill>
                  <a:schemeClr val="tx1"/>
                </a:solidFill>
                <a:latin typeface="Arial" charset="0"/>
                <a:ea typeface="ＭＳ Ｐゴシック" charset="-128"/>
                <a:cs typeface="ＭＳ Ｐゴシック" charset="-128"/>
              </a:rPr>
              <a:t> </a:t>
            </a:r>
            <a:r>
              <a:rPr lang="en-US" sz="1200" b="0" i="1" kern="1200" baseline="0" dirty="0" smtClean="0">
                <a:solidFill>
                  <a:schemeClr val="tx1"/>
                </a:solidFill>
                <a:latin typeface="Arial" charset="0"/>
                <a:ea typeface="ＭＳ Ｐゴシック" charset="-128"/>
                <a:cs typeface="ＭＳ Ｐゴシック" charset="-128"/>
              </a:rPr>
              <a:t> a  </a:t>
            </a:r>
            <a:r>
              <a:rPr lang="en-US" sz="1200" b="0" kern="1200" baseline="0" dirty="0" smtClean="0">
                <a:solidFill>
                  <a:schemeClr val="tx1"/>
                </a:solidFill>
                <a:latin typeface="Arial" charset="0"/>
                <a:ea typeface="ＭＳ Ｐゴシック" charset="-128"/>
                <a:cs typeface="ＭＳ Ｐゴシック" charset="-128"/>
              </a:rPr>
              <a:t>for all </a:t>
            </a:r>
            <a:r>
              <a:rPr lang="en-US" sz="1200" b="0" i="1" kern="1200" baseline="0" dirty="0" smtClean="0">
                <a:solidFill>
                  <a:schemeClr val="tx1"/>
                </a:solidFill>
                <a:latin typeface="Arial" charset="0"/>
                <a:ea typeface="ＭＳ Ｐゴシック" charset="-128"/>
                <a:cs typeface="ＭＳ Ｐゴシック" charset="-128"/>
              </a:rPr>
              <a:t>a , b</a:t>
            </a:r>
            <a:r>
              <a:rPr lang="en-US" sz="1200" b="0" kern="1200" baseline="0" dirty="0" smtClean="0">
                <a:solidFill>
                  <a:schemeClr val="tx1"/>
                </a:solidFill>
                <a:latin typeface="Arial" charset="0"/>
                <a:ea typeface="ＭＳ Ｐゴシック" charset="-128"/>
                <a:cs typeface="ＭＳ Ｐゴシック" charset="-128"/>
              </a:rPr>
              <a:t>  in </a:t>
            </a:r>
            <a:r>
              <a:rPr lang="en-US" sz="1200" b="0" i="1" kern="1200" baseline="0" dirty="0" smtClean="0">
                <a:solidFill>
                  <a:schemeClr val="tx1"/>
                </a:solidFill>
                <a:latin typeface="Arial" charset="0"/>
                <a:ea typeface="ＭＳ Ｐゴシック" charset="-128"/>
                <a:cs typeface="ＭＳ Ｐゴシック" charset="-128"/>
              </a:rPr>
              <a:t>G</a:t>
            </a:r>
            <a:r>
              <a:rPr lang="en-US" sz="1200" b="0" kern="1200" baseline="0" dirty="0" smtClean="0">
                <a:solidFill>
                  <a:schemeClr val="tx1"/>
                </a:solidFill>
                <a:latin typeface="Arial" charset="0"/>
                <a:ea typeface="ＭＳ Ｐゴシック" charset="-128"/>
                <a:cs typeface="ＭＳ Ｐゴシック" charset="-128"/>
              </a:rPr>
              <a:t> .</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9</a:t>
            </a:fld>
            <a:endParaRPr lang="en-AU"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28322C68-9874-644A-8088-FCCBDC624BBF}" type="slidenum">
              <a:rPr lang="en-AU">
                <a:latin typeface="Arial" pitchFamily="-84" charset="0"/>
              </a:rPr>
              <a:pPr/>
              <a:t>10</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b="0" kern="1200" baseline="0" dirty="0" smtClean="0">
                <a:solidFill>
                  <a:schemeClr val="tx1"/>
                </a:solidFill>
                <a:latin typeface="Arial" charset="0"/>
                <a:ea typeface="ＭＳ Ｐゴシック" charset="-128"/>
                <a:cs typeface="ＭＳ Ｐゴシック" charset="-128"/>
              </a:rPr>
              <a:t>Elliptic curves are not ellipses. They are so named because they are described by</a:t>
            </a:r>
          </a:p>
          <a:p>
            <a:r>
              <a:rPr lang="en-US" sz="1200" b="0" kern="1200" baseline="0" dirty="0" smtClean="0">
                <a:solidFill>
                  <a:schemeClr val="tx1"/>
                </a:solidFill>
                <a:latin typeface="Arial" charset="0"/>
                <a:ea typeface="ＭＳ Ｐゴシック" charset="-128"/>
                <a:cs typeface="ＭＳ Ｐゴシック" charset="-128"/>
              </a:rPr>
              <a:t>cubic equations, similar to those used for calculating the circumference of an ellipse.</a:t>
            </a:r>
          </a:p>
          <a:p>
            <a:r>
              <a:rPr lang="en-US" sz="1200" b="0" kern="1200" baseline="0" dirty="0" smtClean="0">
                <a:solidFill>
                  <a:schemeClr val="tx1"/>
                </a:solidFill>
                <a:latin typeface="Arial" charset="0"/>
                <a:ea typeface="ＭＳ Ｐゴシック" charset="-128"/>
                <a:cs typeface="ＭＳ Ｐゴシック" charset="-128"/>
              </a:rPr>
              <a:t>In general, cubic equations for elliptic curves take the following form, known as a</a:t>
            </a:r>
          </a:p>
          <a:p>
            <a:r>
              <a:rPr lang="en-US" sz="1200" b="0" kern="1200" baseline="0" dirty="0" smtClean="0">
                <a:solidFill>
                  <a:schemeClr val="tx1"/>
                </a:solidFill>
                <a:latin typeface="Arial" charset="0"/>
                <a:ea typeface="ＭＳ Ｐゴシック" charset="-128"/>
                <a:cs typeface="ＭＳ Ｐゴシック" charset="-128"/>
              </a:rPr>
              <a:t>Weierstrass equation:</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y</a:t>
            </a:r>
            <a:r>
              <a:rPr lang="en-US" sz="1200" b="0" i="1" kern="1200" baseline="30000" dirty="0" smtClean="0">
                <a:solidFill>
                  <a:schemeClr val="tx1"/>
                </a:solidFill>
                <a:latin typeface="Arial" charset="0"/>
                <a:ea typeface="ＭＳ Ｐゴシック" charset="-128"/>
                <a:cs typeface="ＭＳ Ｐゴシック" charset="-128"/>
              </a:rPr>
              <a:t>2</a:t>
            </a:r>
            <a:r>
              <a:rPr lang="en-US" sz="1200" b="0" i="1" kern="1200" baseline="0" dirty="0" smtClean="0">
                <a:solidFill>
                  <a:schemeClr val="tx1"/>
                </a:solidFill>
                <a:latin typeface="Arial" charset="0"/>
                <a:ea typeface="ＭＳ Ｐゴシック" charset="-128"/>
                <a:cs typeface="ＭＳ Ｐゴシック" charset="-128"/>
              </a:rPr>
              <a:t> + axy + by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i="1" kern="1200" baseline="0" dirty="0" smtClean="0">
                <a:solidFill>
                  <a:schemeClr val="tx1"/>
                </a:solidFill>
                <a:latin typeface="Arial" charset="0"/>
                <a:ea typeface="ＭＳ Ｐゴシック" charset="-128"/>
                <a:cs typeface="ＭＳ Ｐゴシック" charset="-128"/>
              </a:rPr>
              <a:t> + cx</a:t>
            </a:r>
            <a:r>
              <a:rPr lang="en-US" sz="1200" b="0" i="1" kern="1200" baseline="30000" dirty="0" smtClean="0">
                <a:solidFill>
                  <a:schemeClr val="tx1"/>
                </a:solidFill>
                <a:latin typeface="Arial" charset="0"/>
                <a:ea typeface="ＭＳ Ｐゴシック" charset="-128"/>
                <a:cs typeface="ＭＳ Ｐゴシック" charset="-128"/>
              </a:rPr>
              <a:t>2</a:t>
            </a:r>
            <a:r>
              <a:rPr lang="en-US" sz="1200" b="0" i="1" kern="1200" baseline="0" dirty="0" smtClean="0">
                <a:solidFill>
                  <a:schemeClr val="tx1"/>
                </a:solidFill>
                <a:latin typeface="Arial" charset="0"/>
                <a:ea typeface="ＭＳ Ｐゴシック" charset="-128"/>
                <a:cs typeface="ＭＳ Ｐゴシック" charset="-128"/>
              </a:rPr>
              <a:t> + dx + 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 where </a:t>
            </a:r>
            <a:r>
              <a:rPr lang="en-US" sz="1200" b="0" i="1" kern="1200" baseline="0" dirty="0" smtClean="0">
                <a:solidFill>
                  <a:schemeClr val="tx1"/>
                </a:solidFill>
                <a:latin typeface="Arial" charset="0"/>
                <a:ea typeface="ＭＳ Ｐゴシック" charset="-128"/>
                <a:cs typeface="ＭＳ Ｐゴシック" charset="-128"/>
              </a:rPr>
              <a:t>a , b , c , d , e  </a:t>
            </a:r>
            <a:r>
              <a:rPr lang="en-US" sz="1200" b="0" kern="1200" baseline="0" dirty="0" smtClean="0">
                <a:solidFill>
                  <a:schemeClr val="tx1"/>
                </a:solidFill>
                <a:latin typeface="Arial" charset="0"/>
                <a:ea typeface="ＭＳ Ｐゴシック" charset="-128"/>
                <a:cs typeface="ＭＳ Ｐゴシック" charset="-128"/>
              </a:rPr>
              <a:t>are real numbers and </a:t>
            </a:r>
            <a:r>
              <a:rPr lang="en-US" sz="1200" b="0" i="1" kern="1200" baseline="0" dirty="0" smtClean="0">
                <a:solidFill>
                  <a:schemeClr val="tx1"/>
                </a:solidFill>
                <a:latin typeface="Arial" charset="0"/>
                <a:ea typeface="ＭＳ Ｐゴシック" charset="-128"/>
                <a:cs typeface="ＭＳ Ｐゴシック" charset="-128"/>
              </a:rPr>
              <a:t>x</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y</a:t>
            </a:r>
            <a:r>
              <a:rPr lang="en-US" sz="1200" b="0" kern="1200" baseline="0" dirty="0" smtClean="0">
                <a:solidFill>
                  <a:schemeClr val="tx1"/>
                </a:solidFill>
                <a:latin typeface="Arial" charset="0"/>
                <a:ea typeface="ＭＳ Ｐゴシック" charset="-128"/>
                <a:cs typeface="ＭＳ Ｐゴシック" charset="-128"/>
              </a:rPr>
              <a:t>  take on values in the real numbers.</a:t>
            </a:r>
          </a:p>
          <a:p>
            <a:r>
              <a:rPr lang="en-US" sz="1200" b="0" kern="1200" baseline="0" dirty="0" smtClean="0">
                <a:solidFill>
                  <a:schemeClr val="tx1"/>
                </a:solidFill>
                <a:latin typeface="Arial" charset="0"/>
                <a:ea typeface="ＭＳ Ｐゴシック" charset="-128"/>
                <a:cs typeface="ＭＳ Ｐゴシック" charset="-128"/>
              </a:rPr>
              <a:t> For our purpose, it is sufficient to limit ourselves to equations of the form</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y</a:t>
            </a:r>
            <a:r>
              <a:rPr lang="en-US" sz="1200" b="0" i="1" kern="1200" baseline="30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kern="1200" baseline="0" dirty="0" smtClean="0">
                <a:solidFill>
                  <a:schemeClr val="tx1"/>
                </a:solidFill>
                <a:latin typeface="Arial" charset="0"/>
                <a:ea typeface="ＭＳ Ｐゴシック" charset="-128"/>
                <a:cs typeface="ＭＳ Ｐゴシック" charset="-128"/>
              </a:rPr>
              <a:t> + ax + b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Such equations are said to be cubic, or of degree 3, because the highest</a:t>
            </a:r>
          </a:p>
          <a:p>
            <a:r>
              <a:rPr lang="en-US" sz="1200" b="0" kern="1200" baseline="0" dirty="0" smtClean="0">
                <a:solidFill>
                  <a:schemeClr val="tx1"/>
                </a:solidFill>
                <a:latin typeface="Arial" charset="0"/>
                <a:ea typeface="ＭＳ Ｐゴシック" charset="-128"/>
                <a:cs typeface="ＭＳ Ｐゴシック" charset="-128"/>
              </a:rPr>
              <a:t>exponent they contain is a 3. Also included in the definition of an elliptic curve is a</a:t>
            </a:r>
          </a:p>
          <a:p>
            <a:r>
              <a:rPr lang="en-US" sz="1200" b="0" kern="1200" baseline="0" dirty="0" smtClean="0">
                <a:solidFill>
                  <a:schemeClr val="tx1"/>
                </a:solidFill>
                <a:latin typeface="Arial" charset="0"/>
                <a:ea typeface="ＭＳ Ｐゴシック" charset="-128"/>
                <a:cs typeface="ＭＳ Ｐゴシック" charset="-128"/>
              </a:rPr>
              <a:t>single element denoted O  and called the point at infinity  or the zero point , which we</a:t>
            </a:r>
          </a:p>
          <a:p>
            <a:r>
              <a:rPr lang="en-US" sz="1200" b="0" kern="1200" baseline="0" dirty="0" smtClean="0">
                <a:solidFill>
                  <a:schemeClr val="tx1"/>
                </a:solidFill>
                <a:latin typeface="Arial" charset="0"/>
                <a:ea typeface="ＭＳ Ｐゴシック" charset="-128"/>
                <a:cs typeface="ＭＳ Ｐゴシック" charset="-128"/>
              </a:rPr>
              <a:t>discuss subsequently. To plot such a curve, we need to compute</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i="1" kern="1200" baseline="0" dirty="0" smtClean="0">
                <a:solidFill>
                  <a:schemeClr val="tx1"/>
                </a:solidFill>
                <a:latin typeface="Arial" charset="0"/>
                <a:ea typeface="ＭＳ Ｐゴシック" charset="-128"/>
                <a:cs typeface="ＭＳ Ｐゴシック" charset="-128"/>
              </a:rPr>
              <a:t>y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i="1" kern="1200" baseline="0" dirty="0" smtClean="0">
                <a:solidFill>
                  <a:schemeClr val="tx1"/>
                </a:solidFill>
                <a:latin typeface="Arial" charset="0"/>
                <a:ea typeface="ＭＳ Ｐゴシック" charset="-128"/>
                <a:cs typeface="ＭＳ Ｐゴシック" charset="-128"/>
              </a:rPr>
              <a:t> + ax + b</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For given values of </a:t>
            </a:r>
            <a:r>
              <a:rPr lang="en-US" sz="1200" b="0" i="1" kern="1200" baseline="0" dirty="0" smtClean="0">
                <a:solidFill>
                  <a:schemeClr val="tx1"/>
                </a:solidFill>
                <a:latin typeface="Arial" charset="0"/>
                <a:ea typeface="ＭＳ Ｐゴシック" charset="-128"/>
                <a:cs typeface="ＭＳ Ｐゴシック" charset="-128"/>
              </a:rPr>
              <a:t>a</a:t>
            </a:r>
            <a:r>
              <a:rPr lang="en-US" sz="1200" b="0" kern="1200" baseline="0" dirty="0" smtClean="0">
                <a:solidFill>
                  <a:schemeClr val="tx1"/>
                </a:solidFill>
                <a:latin typeface="Arial" charset="0"/>
                <a:ea typeface="ＭＳ Ｐゴシック" charset="-128"/>
                <a:cs typeface="ＭＳ Ｐゴシック" charset="-128"/>
              </a:rPr>
              <a:t>  and </a:t>
            </a:r>
            <a:r>
              <a:rPr lang="en-US" sz="1200" b="0" i="1" kern="1200" baseline="0" dirty="0" smtClean="0">
                <a:solidFill>
                  <a:schemeClr val="tx1"/>
                </a:solidFill>
                <a:latin typeface="Arial" charset="0"/>
                <a:ea typeface="ＭＳ Ｐゴシック" charset="-128"/>
                <a:cs typeface="ＭＳ Ｐゴシック" charset="-128"/>
              </a:rPr>
              <a:t>b</a:t>
            </a:r>
            <a:r>
              <a:rPr lang="en-US" sz="1200" b="0" kern="1200" baseline="0" dirty="0" smtClean="0">
                <a:solidFill>
                  <a:schemeClr val="tx1"/>
                </a:solidFill>
                <a:latin typeface="Arial" charset="0"/>
                <a:ea typeface="ＭＳ Ｐゴシック" charset="-128"/>
                <a:cs typeface="ＭＳ Ｐゴシック" charset="-128"/>
              </a:rPr>
              <a:t> , the plot consists of positive and negative values of </a:t>
            </a:r>
            <a:r>
              <a:rPr lang="en-US" sz="1200" b="0" i="1" kern="1200" baseline="0" dirty="0" smtClean="0">
                <a:solidFill>
                  <a:schemeClr val="tx1"/>
                </a:solidFill>
                <a:latin typeface="Arial" charset="0"/>
                <a:ea typeface="ＭＳ Ｐゴシック" charset="-128"/>
                <a:cs typeface="ＭＳ Ｐゴシック" charset="-128"/>
              </a:rPr>
              <a:t>y</a:t>
            </a:r>
            <a:r>
              <a:rPr lang="en-US" sz="1200" b="0" kern="1200" baseline="0" dirty="0" smtClean="0">
                <a:solidFill>
                  <a:schemeClr val="tx1"/>
                </a:solidFill>
                <a:latin typeface="Arial" charset="0"/>
                <a:ea typeface="ＭＳ Ｐゴシック" charset="-128"/>
                <a:cs typeface="ＭＳ Ｐゴシック" charset="-128"/>
              </a:rPr>
              <a:t>  for</a:t>
            </a:r>
          </a:p>
          <a:p>
            <a:r>
              <a:rPr lang="en-US" sz="1200" b="0" kern="1200" baseline="0" dirty="0" smtClean="0">
                <a:solidFill>
                  <a:schemeClr val="tx1"/>
                </a:solidFill>
                <a:latin typeface="Arial" charset="0"/>
                <a:ea typeface="ＭＳ Ｐゴシック" charset="-128"/>
                <a:cs typeface="ＭＳ Ｐゴシック" charset="-128"/>
              </a:rPr>
              <a:t>each value of </a:t>
            </a:r>
            <a:r>
              <a:rPr lang="en-US" sz="1200" b="0" i="1" kern="1200" baseline="0" dirty="0" smtClean="0">
                <a:solidFill>
                  <a:schemeClr val="tx1"/>
                </a:solidFill>
                <a:latin typeface="Arial" charset="0"/>
                <a:ea typeface="ＭＳ Ｐゴシック" charset="-128"/>
                <a:cs typeface="ＭＳ Ｐゴシック" charset="-128"/>
              </a:rPr>
              <a:t>x </a:t>
            </a:r>
            <a:r>
              <a:rPr lang="en-US" sz="1200" b="0" kern="1200" baseline="0" dirty="0" smtClean="0">
                <a:solidFill>
                  <a:schemeClr val="tx1"/>
                </a:solidFill>
                <a:latin typeface="Arial" charset="0"/>
                <a:ea typeface="ＭＳ Ｐゴシック" charset="-128"/>
                <a:cs typeface="ＭＳ Ｐゴシック" charset="-128"/>
              </a:rPr>
              <a:t>. Thus, each curve is symmetric about </a:t>
            </a:r>
            <a:r>
              <a:rPr lang="en-US" sz="1200" b="0" i="1" kern="1200" baseline="0" dirty="0" smtClean="0">
                <a:solidFill>
                  <a:schemeClr val="tx1"/>
                </a:solidFill>
                <a:latin typeface="Arial" charset="0"/>
                <a:ea typeface="ＭＳ Ｐゴシック" charset="-128"/>
                <a:cs typeface="ＭＳ Ｐゴシック" charset="-128"/>
              </a:rPr>
              <a:t>y =  0</a:t>
            </a:r>
            <a:r>
              <a:rPr lang="en-US" sz="1200" b="0" kern="1200" baseline="0" dirty="0" smtClean="0">
                <a:solidFill>
                  <a:schemeClr val="tx1"/>
                </a:solidFill>
                <a:latin typeface="Arial" charset="0"/>
                <a:ea typeface="ＭＳ Ｐゴシック" charset="-128"/>
                <a:cs typeface="ＭＳ Ｐゴシック" charset="-128"/>
              </a:rPr>
              <a:t>. Figure 10.4 shows two</a:t>
            </a:r>
          </a:p>
          <a:p>
            <a:r>
              <a:rPr lang="en-US" sz="1200" b="0" kern="1200" baseline="0" dirty="0" smtClean="0">
                <a:solidFill>
                  <a:schemeClr val="tx1"/>
                </a:solidFill>
                <a:latin typeface="Arial" charset="0"/>
                <a:ea typeface="ＭＳ Ｐゴシック" charset="-128"/>
                <a:cs typeface="ＭＳ Ｐゴシック" charset="-128"/>
              </a:rPr>
              <a:t>examples of elliptic curves. As you can see, the formula sometimes produces weird looking</a:t>
            </a:r>
          </a:p>
          <a:p>
            <a:r>
              <a:rPr lang="en-US" sz="1200" b="0" kern="1200" baseline="0" dirty="0" smtClean="0">
                <a:solidFill>
                  <a:schemeClr val="tx1"/>
                </a:solidFill>
                <a:latin typeface="Arial" charset="0"/>
                <a:ea typeface="ＭＳ Ｐゴシック" charset="-128"/>
                <a:cs typeface="ＭＳ Ｐゴシック" charset="-128"/>
              </a:rPr>
              <a:t>curves.</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Now, consider the set of points E(</a:t>
            </a:r>
            <a:r>
              <a:rPr lang="en-US" sz="1200" b="0" i="1" kern="1200" baseline="0" dirty="0" smtClean="0">
                <a:solidFill>
                  <a:schemeClr val="tx1"/>
                </a:solidFill>
                <a:latin typeface="Arial" charset="0"/>
                <a:ea typeface="ＭＳ Ｐゴシック" charset="-128"/>
                <a:cs typeface="ＭＳ Ｐゴシック" charset="-128"/>
              </a:rPr>
              <a:t>a , b </a:t>
            </a:r>
            <a:r>
              <a:rPr lang="en-US" sz="1200" b="0" kern="1200" baseline="0" dirty="0" smtClean="0">
                <a:solidFill>
                  <a:schemeClr val="tx1"/>
                </a:solidFill>
                <a:latin typeface="Arial" charset="0"/>
                <a:ea typeface="ＭＳ Ｐゴシック" charset="-128"/>
                <a:cs typeface="ＭＳ Ｐゴシック" charset="-128"/>
              </a:rPr>
              <a:t>) consisting of all of the points (</a:t>
            </a:r>
            <a:r>
              <a:rPr lang="en-US" sz="1200" b="0" i="1" kern="1200" baseline="0" dirty="0" smtClean="0">
                <a:solidFill>
                  <a:schemeClr val="tx1"/>
                </a:solidFill>
                <a:latin typeface="Arial" charset="0"/>
                <a:ea typeface="ＭＳ Ｐゴシック" charset="-128"/>
                <a:cs typeface="ＭＳ Ｐゴシック" charset="-128"/>
              </a:rPr>
              <a:t>x , y </a:t>
            </a:r>
            <a:r>
              <a:rPr lang="en-US" sz="1200" b="0" kern="1200" baseline="0" dirty="0" smtClean="0">
                <a:solidFill>
                  <a:schemeClr val="tx1"/>
                </a:solidFill>
                <a:latin typeface="Arial" charset="0"/>
                <a:ea typeface="ＭＳ Ｐゴシック" charset="-128"/>
                <a:cs typeface="ＭＳ Ｐゴシック" charset="-128"/>
              </a:rPr>
              <a:t>) that</a:t>
            </a:r>
          </a:p>
          <a:p>
            <a:r>
              <a:rPr lang="en-US" sz="1200" b="0" kern="1200" baseline="0" dirty="0" smtClean="0">
                <a:solidFill>
                  <a:schemeClr val="tx1"/>
                </a:solidFill>
                <a:latin typeface="Arial" charset="0"/>
                <a:ea typeface="ＭＳ Ｐゴシック" charset="-128"/>
                <a:cs typeface="ＭＳ Ｐゴシック" charset="-128"/>
              </a:rPr>
              <a:t>satisfy Equation (10.1) together with the element O . Using a different value of the</a:t>
            </a:r>
          </a:p>
          <a:p>
            <a:r>
              <a:rPr lang="en-US" sz="1200" b="0" kern="1200" baseline="0" dirty="0" smtClean="0">
                <a:solidFill>
                  <a:schemeClr val="tx1"/>
                </a:solidFill>
                <a:latin typeface="Arial" charset="0"/>
                <a:ea typeface="ＭＳ Ｐゴシック" charset="-128"/>
                <a:cs typeface="ＭＳ Ｐゴシック" charset="-128"/>
              </a:rPr>
              <a:t>pair (</a:t>
            </a:r>
            <a:r>
              <a:rPr lang="en-US" sz="1200" b="0" i="1" kern="1200" baseline="0" dirty="0" smtClean="0">
                <a:solidFill>
                  <a:schemeClr val="tx1"/>
                </a:solidFill>
                <a:latin typeface="Arial" charset="0"/>
                <a:ea typeface="ＭＳ Ｐゴシック" charset="-128"/>
                <a:cs typeface="ＭＳ Ｐゴシック" charset="-128"/>
              </a:rPr>
              <a:t>a , b </a:t>
            </a:r>
            <a:r>
              <a:rPr lang="en-US" sz="1200" b="0" kern="1200" baseline="0" dirty="0" smtClean="0">
                <a:solidFill>
                  <a:schemeClr val="tx1"/>
                </a:solidFill>
                <a:latin typeface="Arial" charset="0"/>
                <a:ea typeface="ＭＳ Ｐゴシック" charset="-128"/>
                <a:cs typeface="ＭＳ Ｐゴシック" charset="-128"/>
              </a:rPr>
              <a:t>) results in a different set E(</a:t>
            </a:r>
            <a:r>
              <a:rPr lang="en-US" sz="1200" b="0" i="1" kern="1200" baseline="0" dirty="0" smtClean="0">
                <a:solidFill>
                  <a:schemeClr val="tx1"/>
                </a:solidFill>
                <a:latin typeface="Arial" charset="0"/>
                <a:ea typeface="ＭＳ Ｐゴシック" charset="-128"/>
                <a:cs typeface="ＭＳ Ｐゴシック" charset="-128"/>
              </a:rPr>
              <a:t>a , b </a:t>
            </a:r>
            <a:r>
              <a:rPr lang="en-US" sz="1200" b="0" kern="1200" baseline="0" dirty="0" smtClean="0">
                <a:solidFill>
                  <a:schemeClr val="tx1"/>
                </a:solidFill>
                <a:latin typeface="Arial" charset="0"/>
                <a:ea typeface="ＭＳ Ｐゴシック" charset="-128"/>
                <a:cs typeface="ＭＳ Ｐゴシック" charset="-128"/>
              </a:rPr>
              <a:t>). Using this terminology, the two curves in</a:t>
            </a:r>
          </a:p>
          <a:p>
            <a:r>
              <a:rPr lang="en-US" sz="1200" b="0" kern="1200" baseline="0" dirty="0" smtClean="0">
                <a:solidFill>
                  <a:schemeClr val="tx1"/>
                </a:solidFill>
                <a:latin typeface="Arial" charset="0"/>
                <a:ea typeface="ＭＳ Ｐゴシック" charset="-128"/>
                <a:cs typeface="ＭＳ Ｐゴシック" charset="-128"/>
              </a:rPr>
              <a:t>Figure 10.4 depict the sets E(- 1, 0) and E(1, 1), respectively.</a:t>
            </a:r>
            <a:endParaRPr lang="en-US" b="0" dirty="0">
              <a:latin typeface="Arial" pitchFamily="-84" charset="0"/>
              <a:ea typeface="ＭＳ Ｐゴシック" pitchFamily="-84" charset="-128"/>
              <a:cs typeface="ＭＳ Ｐゴシック" pitchFamily="-8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1CE1235B-B76C-1A4B-A072-7358DF9085DE}" type="slidenum">
              <a:rPr lang="en-AU">
                <a:latin typeface="Arial" pitchFamily="-84" charset="0"/>
              </a:rPr>
              <a:pPr/>
              <a:t>11</a:t>
            </a:fld>
            <a:endParaRPr lang="en-AU" dirty="0">
              <a:latin typeface="Arial" pitchFamily="-8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Elliptic curve cryptography makes use of elliptic curves in which the variables and coefficients are all restricted to elements of a finite field. Two families of elliptic curves are used in cryptographic applications: prime curves over Z</a:t>
            </a:r>
            <a:r>
              <a:rPr lang="en-US" baseline="-25000" dirty="0">
                <a:latin typeface="Arial" pitchFamily="-84" charset="0"/>
                <a:ea typeface="Arial" pitchFamily="-84" charset="0"/>
                <a:cs typeface="Arial" pitchFamily="-84" charset="0"/>
              </a:rPr>
              <a:t>p</a:t>
            </a:r>
            <a:r>
              <a:rPr lang="en-US" dirty="0">
                <a:latin typeface="Arial" pitchFamily="-84" charset="0"/>
                <a:ea typeface="Arial" pitchFamily="-84" charset="0"/>
                <a:cs typeface="Arial" pitchFamily="-84" charset="0"/>
              </a:rPr>
              <a:t> (best for software use), and binary curves over GF(2</a:t>
            </a:r>
            <a:r>
              <a:rPr lang="en-US" baseline="30000" dirty="0">
                <a:latin typeface="Arial" pitchFamily="-84" charset="0"/>
                <a:ea typeface="Arial" pitchFamily="-84" charset="0"/>
                <a:cs typeface="Arial" pitchFamily="-84" charset="0"/>
              </a:rPr>
              <a:t>m</a:t>
            </a:r>
            <a:r>
              <a:rPr lang="en-US" dirty="0">
                <a:latin typeface="Arial" pitchFamily="-84" charset="0"/>
                <a:ea typeface="Arial" pitchFamily="-84" charset="0"/>
                <a:cs typeface="Arial" pitchFamily="-84" charset="0"/>
              </a:rPr>
              <a:t>) (best for hardware use)</a:t>
            </a:r>
            <a:r>
              <a:rPr lang="en-US" dirty="0" smtClean="0">
                <a:latin typeface="Arial" pitchFamily="-84" charset="0"/>
                <a:ea typeface="Arial" pitchFamily="-84" charset="0"/>
                <a:cs typeface="Arial" pitchFamily="-84" charset="0"/>
              </a:rPr>
              <a:t>.</a:t>
            </a:r>
          </a:p>
          <a:p>
            <a:pPr eaLnBrk="1" hangingPunct="1"/>
            <a:endParaRPr lang="en-AU" dirty="0" smtClean="0">
              <a:latin typeface="Arial" pitchFamily="-84" charset="0"/>
              <a:ea typeface="Arial" pitchFamily="-84" charset="0"/>
              <a:cs typeface="Arial" pitchFamily="-84" charset="0"/>
            </a:endParaRPr>
          </a:p>
          <a:p>
            <a:pPr eaLnBrk="1" hangingPunct="1"/>
            <a:r>
              <a:rPr lang="en-AU" dirty="0">
                <a:latin typeface="Arial" pitchFamily="-84" charset="0"/>
                <a:ea typeface="Arial" pitchFamily="-84" charset="0"/>
                <a:cs typeface="Arial" pitchFamily="-84" charset="0"/>
              </a:rPr>
              <a:t>There is no obvious geometric interpretation of elliptic curve arithmetic over finite fields. The algebraic interpretation used for elliptic curve arithmetic over does readily carry over. See text for detailed discussion.</a:t>
            </a:r>
          </a:p>
          <a:p>
            <a:pPr eaLnBrk="1" hangingPunct="1"/>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dirty="0" smtClean="0">
                <a:solidFill>
                  <a:schemeClr val="tx1"/>
                </a:solidFill>
                <a:latin typeface="Arial" charset="0"/>
                <a:ea typeface="ＭＳ Ｐゴシック" charset="-128"/>
                <a:cs typeface="ＭＳ Ｐゴシック" charset="-128"/>
              </a:rPr>
              <a:t>Table 10.1  Points (other than </a:t>
            </a:r>
            <a:r>
              <a:rPr lang="en-US" sz="1200" b="0" i="1" kern="1200" dirty="0" smtClean="0">
                <a:solidFill>
                  <a:schemeClr val="tx1"/>
                </a:solidFill>
                <a:latin typeface="Arial" charset="0"/>
                <a:ea typeface="ＭＳ Ｐゴシック" charset="-128"/>
                <a:cs typeface="ＭＳ Ｐゴシック" charset="-128"/>
              </a:rPr>
              <a:t>O</a:t>
            </a:r>
            <a:r>
              <a:rPr lang="en-US" sz="1200" b="0" kern="1200" dirty="0" smtClean="0">
                <a:solidFill>
                  <a:schemeClr val="tx1"/>
                </a:solidFill>
                <a:latin typeface="Arial" charset="0"/>
                <a:ea typeface="ＭＳ Ｐゴシック" charset="-128"/>
                <a:cs typeface="ＭＳ Ｐゴシック" charset="-128"/>
              </a:rPr>
              <a:t>) on the Elliptic Curve E</a:t>
            </a:r>
            <a:r>
              <a:rPr lang="en-US" sz="1200" b="0" kern="1200" baseline="-25000" dirty="0" smtClean="0">
                <a:solidFill>
                  <a:schemeClr val="tx1"/>
                </a:solidFill>
                <a:latin typeface="Arial" charset="0"/>
                <a:ea typeface="ＭＳ Ｐゴシック" charset="-128"/>
                <a:cs typeface="ＭＳ Ｐゴシック" charset="-128"/>
              </a:rPr>
              <a:t>23</a:t>
            </a:r>
            <a:r>
              <a:rPr lang="en-US" sz="1200" b="0" kern="1200" dirty="0" smtClean="0">
                <a:solidFill>
                  <a:schemeClr val="tx1"/>
                </a:solidFill>
                <a:latin typeface="Arial" charset="0"/>
                <a:ea typeface="ＭＳ Ｐゴシック" charset="-128"/>
                <a:cs typeface="ＭＳ Ｐゴシック" charset="-128"/>
              </a:rPr>
              <a:t>(1, 1)</a:t>
            </a:r>
            <a:r>
              <a:rPr lang="en-US" b="0" dirty="0" smtClean="0"/>
              <a:t> </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12</a:t>
            </a:fld>
            <a:endParaRPr lang="en-AU"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10.5 plots the points of E</a:t>
            </a:r>
            <a:r>
              <a:rPr lang="en-US" sz="1200" kern="1200" baseline="-25000" dirty="0" smtClean="0">
                <a:solidFill>
                  <a:schemeClr val="tx1"/>
                </a:solidFill>
                <a:latin typeface="Arial" charset="0"/>
                <a:ea typeface="ＭＳ Ｐゴシック" charset="-128"/>
                <a:cs typeface="ＭＳ Ｐゴシック" charset="-128"/>
              </a:rPr>
              <a:t>23</a:t>
            </a:r>
            <a:r>
              <a:rPr lang="en-US" sz="1200" kern="1200" baseline="0" dirty="0" smtClean="0">
                <a:solidFill>
                  <a:schemeClr val="tx1"/>
                </a:solidFill>
                <a:latin typeface="Arial" charset="0"/>
                <a:ea typeface="ＭＳ Ｐゴシック" charset="-128"/>
                <a:cs typeface="ＭＳ Ｐゴシック" charset="-128"/>
              </a:rPr>
              <a:t> (1, 1); note that the points, with one exception, are symmetric about y =  11.5.</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13</a:t>
            </a:fld>
            <a:endParaRPr lang="en-AU"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Recall from Chapter</a:t>
            </a:r>
            <a:r>
              <a:rPr lang="en-US" sz="1200" b="0" kern="1200" baseline="0" dirty="0" smtClean="0">
                <a:solidFill>
                  <a:schemeClr val="tx1"/>
                </a:solidFill>
                <a:latin typeface="Arial" charset="0"/>
                <a:ea typeface="ＭＳ Ｐゴシック" charset="-128"/>
                <a:cs typeface="ＭＳ Ｐゴシック" charset="-128"/>
              </a:rPr>
              <a:t> 5 </a:t>
            </a:r>
            <a:r>
              <a:rPr lang="en-US" sz="1200" b="0" kern="1200" baseline="0" dirty="0" smtClean="0">
                <a:solidFill>
                  <a:schemeClr val="tx1"/>
                </a:solidFill>
                <a:latin typeface="Arial" charset="0"/>
                <a:ea typeface="ＭＳ Ｐゴシック" charset="-128"/>
                <a:cs typeface="ＭＳ Ｐゴシック" charset="-128"/>
              </a:rPr>
              <a:t>that a finite field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consists of 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elements, together</a:t>
            </a:r>
          </a:p>
          <a:p>
            <a:r>
              <a:rPr lang="en-US" sz="1200" b="0" kern="1200" baseline="0" dirty="0" smtClean="0">
                <a:solidFill>
                  <a:schemeClr val="tx1"/>
                </a:solidFill>
                <a:latin typeface="Arial" charset="0"/>
                <a:ea typeface="ＭＳ Ｐゴシック" charset="-128"/>
                <a:cs typeface="ＭＳ Ｐゴシック" charset="-128"/>
              </a:rPr>
              <a:t>with addition and multiplication operations that can be defined over polynomials.</a:t>
            </a:r>
          </a:p>
          <a:p>
            <a:r>
              <a:rPr lang="en-US" sz="1200" b="0" kern="1200" baseline="0" dirty="0" smtClean="0">
                <a:solidFill>
                  <a:schemeClr val="tx1"/>
                </a:solidFill>
                <a:latin typeface="Arial" charset="0"/>
                <a:ea typeface="ＭＳ Ｐゴシック" charset="-128"/>
                <a:cs typeface="ＭＳ Ｐゴシック" charset="-128"/>
              </a:rPr>
              <a:t>For elliptic curves over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we use a cubic equation in which the variables and</a:t>
            </a:r>
          </a:p>
          <a:p>
            <a:r>
              <a:rPr lang="en-US" sz="1200" b="0" kern="1200" baseline="0" dirty="0" smtClean="0">
                <a:solidFill>
                  <a:schemeClr val="tx1"/>
                </a:solidFill>
                <a:latin typeface="Arial" charset="0"/>
                <a:ea typeface="ＭＳ Ｐゴシック" charset="-128"/>
                <a:cs typeface="ＭＳ Ｐゴシック" charset="-128"/>
              </a:rPr>
              <a:t>coefficients all take on values in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for some number m  and in which calculations</a:t>
            </a:r>
          </a:p>
          <a:p>
            <a:r>
              <a:rPr lang="en-US" sz="1200" b="0" kern="1200" baseline="0" dirty="0" smtClean="0">
                <a:solidFill>
                  <a:schemeClr val="tx1"/>
                </a:solidFill>
                <a:latin typeface="Arial" charset="0"/>
                <a:ea typeface="ＭＳ Ｐゴシック" charset="-128"/>
                <a:cs typeface="ＭＳ Ｐゴシック" charset="-128"/>
              </a:rPr>
              <a:t>are performed using the rules of arithmetic in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a:t>
            </a:r>
          </a:p>
          <a:p>
            <a:endParaRPr lang="en-US" sz="1200" b="0" kern="1200" baseline="0" dirty="0" smtClean="0">
              <a:solidFill>
                <a:schemeClr val="tx1"/>
              </a:solidFill>
              <a:latin typeface="Arial" charset="0"/>
              <a:ea typeface="ＭＳ Ｐゴシック" charset="-128"/>
              <a:cs typeface="ＭＳ Ｐゴシック" charset="-128"/>
            </a:endParaRPr>
          </a:p>
          <a:p>
            <a:r>
              <a:rPr lang="en-US" sz="1200" b="0" kern="1200" baseline="0" dirty="0" smtClean="0">
                <a:solidFill>
                  <a:schemeClr val="tx1"/>
                </a:solidFill>
                <a:latin typeface="Arial" charset="0"/>
                <a:ea typeface="ＭＳ Ｐゴシック" charset="-128"/>
                <a:cs typeface="ＭＳ Ｐゴシック" charset="-128"/>
              </a:rPr>
              <a:t>It turns out that the form of cubic equation appropriate for cryptographic applications</a:t>
            </a:r>
          </a:p>
          <a:p>
            <a:r>
              <a:rPr lang="en-US" sz="1200" b="0" kern="1200" baseline="0" dirty="0" smtClean="0">
                <a:solidFill>
                  <a:schemeClr val="tx1"/>
                </a:solidFill>
                <a:latin typeface="Arial" charset="0"/>
                <a:ea typeface="ＭＳ Ｐゴシック" charset="-128"/>
                <a:cs typeface="ＭＳ Ｐゴシック" charset="-128"/>
              </a:rPr>
              <a:t>for elliptic curves is somewhat different for GF(2</a:t>
            </a:r>
            <a:r>
              <a:rPr lang="en-US" sz="1200" b="0" i="1" kern="1200" baseline="30000" dirty="0" smtClean="0">
                <a:solidFill>
                  <a:schemeClr val="tx1"/>
                </a:solidFill>
                <a:latin typeface="Arial" charset="0"/>
                <a:ea typeface="ＭＳ Ｐゴシック" charset="-128"/>
                <a:cs typeface="ＭＳ Ｐゴシック" charset="-128"/>
              </a:rPr>
              <a:t>m</a:t>
            </a:r>
            <a:r>
              <a:rPr lang="en-US" sz="1200" b="0" kern="1200" baseline="0" dirty="0" smtClean="0">
                <a:solidFill>
                  <a:schemeClr val="tx1"/>
                </a:solidFill>
                <a:latin typeface="Arial" charset="0"/>
                <a:ea typeface="ＭＳ Ｐゴシック" charset="-128"/>
                <a:cs typeface="ＭＳ Ｐゴシック" charset="-128"/>
              </a:rPr>
              <a:t> ) than for Z</a:t>
            </a:r>
            <a:r>
              <a:rPr lang="en-US" sz="1200" b="0" kern="1200" baseline="-25000" dirty="0" smtClean="0">
                <a:solidFill>
                  <a:schemeClr val="tx1"/>
                </a:solidFill>
                <a:latin typeface="Arial" charset="0"/>
                <a:ea typeface="ＭＳ Ｐゴシック" charset="-128"/>
                <a:cs typeface="ＭＳ Ｐゴシック" charset="-128"/>
              </a:rPr>
              <a:t>p</a:t>
            </a:r>
            <a:r>
              <a:rPr lang="en-US" sz="1200" b="0" kern="1200" baseline="0" dirty="0" smtClean="0">
                <a:solidFill>
                  <a:schemeClr val="tx1"/>
                </a:solidFill>
                <a:latin typeface="Arial" charset="0"/>
                <a:ea typeface="ＭＳ Ｐゴシック" charset="-128"/>
                <a:cs typeface="ＭＳ Ｐゴシック" charset="-128"/>
              </a:rPr>
              <a:t> . The form is</a:t>
            </a:r>
          </a:p>
          <a:p>
            <a:r>
              <a:rPr lang="en-US" sz="1200" b="0" kern="1200" baseline="0" dirty="0" smtClean="0">
                <a:solidFill>
                  <a:schemeClr val="tx1"/>
                </a:solidFill>
                <a:latin typeface="Arial" charset="0"/>
                <a:ea typeface="ＭＳ Ｐゴシック" charset="-128"/>
                <a:cs typeface="ＭＳ Ｐゴシック" charset="-128"/>
              </a:rPr>
              <a:t>y</a:t>
            </a:r>
            <a:r>
              <a:rPr lang="en-US" sz="1200" b="0" i="1" kern="1200" baseline="30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xy = x</a:t>
            </a:r>
            <a:r>
              <a:rPr lang="en-US" sz="1200" b="0" i="1" kern="1200" baseline="30000" dirty="0" smtClean="0">
                <a:solidFill>
                  <a:schemeClr val="tx1"/>
                </a:solidFill>
                <a:latin typeface="Arial" charset="0"/>
                <a:ea typeface="ＭＳ Ｐゴシック" charset="-128"/>
                <a:cs typeface="ＭＳ Ｐゴシック" charset="-128"/>
              </a:rPr>
              <a:t>3</a:t>
            </a:r>
            <a:r>
              <a:rPr lang="en-US" sz="1200" b="0" kern="1200" baseline="0" dirty="0" smtClean="0">
                <a:solidFill>
                  <a:schemeClr val="tx1"/>
                </a:solidFill>
                <a:latin typeface="Arial" charset="0"/>
                <a:ea typeface="ＭＳ Ｐゴシック" charset="-128"/>
                <a:cs typeface="ＭＳ Ｐゴシック" charset="-128"/>
              </a:rPr>
              <a:t> + ax</a:t>
            </a:r>
            <a:r>
              <a:rPr lang="en-US" sz="1200" b="0" i="1" kern="1200" baseline="30000" dirty="0" smtClean="0">
                <a:solidFill>
                  <a:schemeClr val="tx1"/>
                </a:solidFill>
                <a:latin typeface="Arial" charset="0"/>
                <a:ea typeface="ＭＳ Ｐゴシック" charset="-128"/>
                <a:cs typeface="ＭＳ Ｐゴシック" charset="-128"/>
              </a:rPr>
              <a:t>2</a:t>
            </a:r>
            <a:r>
              <a:rPr lang="en-US" sz="1200" b="0" kern="1200" baseline="0" dirty="0" smtClean="0">
                <a:solidFill>
                  <a:schemeClr val="tx1"/>
                </a:solidFill>
                <a:latin typeface="Arial" charset="0"/>
                <a:ea typeface="ＭＳ Ｐゴシック" charset="-128"/>
                <a:cs typeface="ＭＳ Ｐゴシック" charset="-128"/>
              </a:rPr>
              <a:t> + b</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14</a:t>
            </a:fld>
            <a:endParaRPr lang="en-AU"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smtClean="0">
                <a:solidFill>
                  <a:schemeClr val="tx1"/>
                </a:solidFill>
                <a:latin typeface="Arial" charset="0"/>
                <a:ea typeface="ＭＳ Ｐゴシック" charset="-128"/>
                <a:cs typeface="ＭＳ Ｐゴシック" charset="-128"/>
              </a:rPr>
              <a:t> Table 10.2 lists the points (other than O ) that are part of E</a:t>
            </a:r>
            <a:r>
              <a:rPr lang="en-US" sz="1200" b="0" kern="1200" baseline="-25000" dirty="0" smtClean="0">
                <a:solidFill>
                  <a:schemeClr val="tx1"/>
                </a:solidFill>
                <a:latin typeface="Arial" charset="0"/>
                <a:ea typeface="ＭＳ Ｐゴシック" charset="-128"/>
                <a:cs typeface="ＭＳ Ｐゴシック" charset="-128"/>
              </a:rPr>
              <a:t>2</a:t>
            </a:r>
            <a:r>
              <a:rPr lang="en-US" sz="1200" b="0" kern="1200" baseline="30000" dirty="0" smtClean="0">
                <a:solidFill>
                  <a:schemeClr val="tx1"/>
                </a:solidFill>
                <a:latin typeface="Arial" charset="0"/>
                <a:ea typeface="ＭＳ Ｐゴシック" charset="-128"/>
                <a:cs typeface="ＭＳ Ｐゴシック" charset="-128"/>
              </a:rPr>
              <a:t>4</a:t>
            </a:r>
            <a:r>
              <a:rPr lang="en-US" sz="1200" b="0" kern="1200" baseline="0" dirty="0" smtClean="0">
                <a:solidFill>
                  <a:schemeClr val="tx1"/>
                </a:solidFill>
                <a:latin typeface="Arial" charset="0"/>
                <a:ea typeface="ＭＳ Ｐゴシック" charset="-128"/>
                <a:cs typeface="ＭＳ Ｐゴシック" charset="-128"/>
              </a:rPr>
              <a:t> (g</a:t>
            </a:r>
            <a:r>
              <a:rPr lang="en-US" sz="1200" b="0" kern="1200" baseline="30000" dirty="0" smtClean="0">
                <a:solidFill>
                  <a:schemeClr val="tx1"/>
                </a:solidFill>
                <a:latin typeface="Arial" charset="0"/>
                <a:ea typeface="ＭＳ Ｐゴシック" charset="-128"/>
                <a:cs typeface="ＭＳ Ｐゴシック" charset="-128"/>
              </a:rPr>
              <a:t>4</a:t>
            </a:r>
            <a:r>
              <a:rPr lang="en-US" sz="1200" b="0" kern="1200" baseline="0" dirty="0" smtClean="0">
                <a:solidFill>
                  <a:schemeClr val="tx1"/>
                </a:solidFill>
                <a:latin typeface="Arial" charset="0"/>
                <a:ea typeface="ＭＳ Ｐゴシック" charset="-128"/>
                <a:cs typeface="ＭＳ Ｐゴシック" charset="-128"/>
              </a:rPr>
              <a:t> , 1).</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15</a:t>
            </a:fld>
            <a:endParaRPr lang="en-AU"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 Figure 10.6 plots</a:t>
            </a:r>
          </a:p>
          <a:p>
            <a:r>
              <a:rPr lang="en-US" sz="1200" kern="1200" baseline="0" dirty="0" smtClean="0">
                <a:solidFill>
                  <a:schemeClr val="tx1"/>
                </a:solidFill>
                <a:latin typeface="Arial" charset="0"/>
                <a:ea typeface="ＭＳ Ｐゴシック" charset="-128"/>
                <a:cs typeface="ＭＳ Ｐゴシック" charset="-128"/>
              </a:rPr>
              <a:t>the points of E</a:t>
            </a:r>
            <a:r>
              <a:rPr lang="en-US" sz="1200" kern="1200" baseline="-25000" dirty="0" smtClean="0">
                <a:solidFill>
                  <a:schemeClr val="tx1"/>
                </a:solidFill>
                <a:latin typeface="Arial" charset="0"/>
                <a:ea typeface="ＭＳ Ｐゴシック" charset="-128"/>
                <a:cs typeface="ＭＳ Ｐゴシック" charset="-128"/>
              </a:rPr>
              <a:t>2</a:t>
            </a:r>
            <a:r>
              <a:rPr lang="en-US" sz="1200" kern="1200" baseline="30000" dirty="0" smtClean="0">
                <a:solidFill>
                  <a:schemeClr val="tx1"/>
                </a:solidFill>
                <a:latin typeface="Arial" charset="0"/>
                <a:ea typeface="ＭＳ Ｐゴシック" charset="-128"/>
                <a:cs typeface="ＭＳ Ｐゴシック" charset="-128"/>
              </a:rPr>
              <a:t>4</a:t>
            </a:r>
            <a:r>
              <a:rPr lang="en-US" sz="1200" kern="1200" baseline="0" dirty="0" smtClean="0">
                <a:solidFill>
                  <a:schemeClr val="tx1"/>
                </a:solidFill>
                <a:latin typeface="Arial" charset="0"/>
                <a:ea typeface="ＭＳ Ｐゴシック" charset="-128"/>
                <a:cs typeface="ＭＳ Ｐゴシック" charset="-128"/>
              </a:rPr>
              <a:t> (</a:t>
            </a:r>
            <a:r>
              <a:rPr lang="en-US" sz="1200" b="0" kern="1200" baseline="0" dirty="0" smtClean="0">
                <a:solidFill>
                  <a:schemeClr val="tx1"/>
                </a:solidFill>
                <a:latin typeface="Arial" charset="0"/>
                <a:ea typeface="ＭＳ Ｐゴシック" charset="-128"/>
                <a:cs typeface="ＭＳ Ｐゴシック" charset="-128"/>
              </a:rPr>
              <a:t>g</a:t>
            </a:r>
            <a:r>
              <a:rPr lang="en-US" sz="1200" b="0" kern="1200" baseline="30000" dirty="0" smtClean="0">
                <a:solidFill>
                  <a:schemeClr val="tx1"/>
                </a:solidFill>
                <a:latin typeface="Arial" charset="0"/>
                <a:ea typeface="ＭＳ Ｐゴシック" charset="-128"/>
                <a:cs typeface="ＭＳ Ｐゴシック" charset="-128"/>
              </a:rPr>
              <a:t>4</a:t>
            </a:r>
            <a:r>
              <a:rPr lang="en-US" sz="1200" b="0" kern="1200" baseline="0" dirty="0" smtClean="0">
                <a:solidFill>
                  <a:schemeClr val="tx1"/>
                </a:solidFill>
                <a:latin typeface="Arial" charset="0"/>
                <a:ea typeface="ＭＳ Ｐゴシック" charset="-128"/>
                <a:cs typeface="ＭＳ Ｐゴシック" charset="-128"/>
              </a:rPr>
              <a:t> , 1).</a:t>
            </a:r>
            <a:endParaRPr lang="en-US" b="0"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16</a:t>
            </a:fld>
            <a:endParaRPr lang="en-AU"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4D8BBB31-E723-244F-9D12-A43C3B0D6F43}" type="slidenum">
              <a:rPr lang="en-AU">
                <a:latin typeface="Arial" pitchFamily="-84" charset="0"/>
              </a:rPr>
              <a:pPr/>
              <a:t>17</a:t>
            </a:fld>
            <a:endParaRPr lang="en-AU" dirty="0">
              <a:latin typeface="Arial" pitchFamily="-84" charset="0"/>
            </a:endParaRPr>
          </a:p>
        </p:txBody>
      </p:sp>
      <p:sp>
        <p:nvSpPr>
          <p:cNvPr id="48131" name="Rectangle 1026"/>
          <p:cNvSpPr>
            <a:spLocks noGrp="1" noRot="1" noChangeAspect="1" noChangeArrowheads="1" noTextEdit="1"/>
          </p:cNvSpPr>
          <p:nvPr>
            <p:ph type="sldImg"/>
          </p:nvPr>
        </p:nvSpPr>
        <p:spPr>
          <a:ln/>
        </p:spPr>
      </p:sp>
      <p:sp>
        <p:nvSpPr>
          <p:cNvPr id="48132" name="Rectangle 1027"/>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The addition operation in ECC is the counterpart of modular multiplication in</a:t>
            </a:r>
          </a:p>
          <a:p>
            <a:r>
              <a:rPr lang="en-US" sz="1200" kern="1200" baseline="0" dirty="0" smtClean="0">
                <a:solidFill>
                  <a:schemeClr val="tx1"/>
                </a:solidFill>
                <a:latin typeface="Arial" charset="0"/>
                <a:ea typeface="ＭＳ Ｐゴシック" charset="-128"/>
                <a:cs typeface="ＭＳ Ｐゴシック" charset="-128"/>
              </a:rPr>
              <a:t>RSA, and multiple addition is the counterpart of modular exponentiation. To form</a:t>
            </a:r>
          </a:p>
          <a:p>
            <a:r>
              <a:rPr lang="en-US" sz="1200" kern="1200" baseline="0" dirty="0" smtClean="0">
                <a:solidFill>
                  <a:schemeClr val="tx1"/>
                </a:solidFill>
                <a:latin typeface="Arial" charset="0"/>
                <a:ea typeface="ＭＳ Ｐゴシック" charset="-128"/>
                <a:cs typeface="ＭＳ Ｐゴシック" charset="-128"/>
              </a:rPr>
              <a:t>a cryptographic system using elliptic curves, we need to find a “hard problem” corresponding</a:t>
            </a:r>
          </a:p>
          <a:p>
            <a:r>
              <a:rPr lang="en-US" sz="1200" kern="1200" baseline="0" dirty="0" smtClean="0">
                <a:solidFill>
                  <a:schemeClr val="tx1"/>
                </a:solidFill>
                <a:latin typeface="Arial" charset="0"/>
                <a:ea typeface="ＭＳ Ｐゴシック" charset="-128"/>
                <a:cs typeface="ＭＳ Ｐゴシック" charset="-128"/>
              </a:rPr>
              <a:t>to factoring the product of two primes or taking the discrete logarithm.</a:t>
            </a:r>
          </a:p>
          <a:p>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We </a:t>
            </a:r>
            <a:r>
              <a:rPr lang="en-US" dirty="0">
                <a:latin typeface="Arial" pitchFamily="-84" charset="0"/>
                <a:ea typeface="ＭＳ Ｐゴシック" pitchFamily="-84" charset="-128"/>
                <a:cs typeface="ＭＳ Ｐゴシック" pitchFamily="-84" charset="-128"/>
              </a:rPr>
              <a:t>give an example taken from the Certicom Web site (www.certicom.com). Consider the group E</a:t>
            </a:r>
            <a:r>
              <a:rPr lang="en-US" baseline="-25000" dirty="0">
                <a:latin typeface="Arial" pitchFamily="-84" charset="0"/>
                <a:ea typeface="ＭＳ Ｐゴシック" pitchFamily="-84" charset="-128"/>
                <a:cs typeface="ＭＳ Ｐゴシック" pitchFamily="-84" charset="-128"/>
              </a:rPr>
              <a:t>23</a:t>
            </a:r>
            <a:r>
              <a:rPr lang="en-US" dirty="0">
                <a:latin typeface="Arial" pitchFamily="-84" charset="0"/>
                <a:ea typeface="ＭＳ Ｐゴシック" pitchFamily="-84" charset="-128"/>
                <a:cs typeface="ＭＳ Ｐゴシック" pitchFamily="-84" charset="-128"/>
              </a:rPr>
              <a:t>(9, 17). This is the group defined by the equation </a:t>
            </a:r>
            <a:r>
              <a:rPr lang="en-US" i="1" dirty="0">
                <a:latin typeface="Arial" pitchFamily="-84" charset="0"/>
                <a:ea typeface="ＭＳ Ｐゴシック" pitchFamily="-84" charset="-128"/>
                <a:cs typeface="ＭＳ Ｐゴシック" pitchFamily="-84" charset="-128"/>
              </a:rPr>
              <a:t>y</a:t>
            </a:r>
            <a:r>
              <a:rPr lang="en-US" i="1" baseline="30000" dirty="0">
                <a:latin typeface="Arial" pitchFamily="-84" charset="0"/>
                <a:ea typeface="ＭＳ Ｐゴシック" pitchFamily="-84" charset="-128"/>
                <a:cs typeface="ＭＳ Ｐゴシック" pitchFamily="-84" charset="-128"/>
              </a:rPr>
              <a:t>2</a:t>
            </a:r>
            <a:r>
              <a:rPr lang="en-US" i="1" dirty="0">
                <a:latin typeface="Arial" pitchFamily="-84" charset="0"/>
                <a:ea typeface="ＭＳ Ｐゴシック" pitchFamily="-84" charset="-128"/>
                <a:cs typeface="ＭＳ Ｐゴシック" pitchFamily="-84" charset="-128"/>
              </a:rPr>
              <a:t>  mod 23 = (x</a:t>
            </a:r>
            <a:r>
              <a:rPr lang="en-US" i="1" baseline="30000" dirty="0">
                <a:latin typeface="Arial" pitchFamily="-84" charset="0"/>
                <a:ea typeface="ＭＳ Ｐゴシック" pitchFamily="-84" charset="-128"/>
                <a:cs typeface="ＭＳ Ｐゴシック" pitchFamily="-84" charset="-128"/>
              </a:rPr>
              <a:t>3</a:t>
            </a:r>
            <a:r>
              <a:rPr lang="en-US" i="1" dirty="0">
                <a:latin typeface="Arial" pitchFamily="-84" charset="0"/>
                <a:ea typeface="ＭＳ Ｐゴシック" pitchFamily="-84" charset="-128"/>
                <a:cs typeface="ＭＳ Ｐゴシック" pitchFamily="-84" charset="-128"/>
              </a:rPr>
              <a:t> + 9x + 17) </a:t>
            </a:r>
            <a:r>
              <a:rPr lang="en-US" dirty="0">
                <a:latin typeface="Arial" pitchFamily="-84" charset="0"/>
                <a:ea typeface="ＭＳ Ｐゴシック" pitchFamily="-84" charset="-128"/>
                <a:cs typeface="ＭＳ Ｐゴシック" pitchFamily="-84" charset="-128"/>
              </a:rPr>
              <a:t>mod 23. What is the discrete logarithm k of Q = (4, 5) to the base P = (16, 5)? The brute-force method is to compute multiples of P until Q is found. Thus </a:t>
            </a:r>
            <a:r>
              <a:rPr lang="en-US" i="1" dirty="0">
                <a:latin typeface="Arial" pitchFamily="-84" charset="0"/>
                <a:ea typeface="ＭＳ Ｐゴシック" pitchFamily="-84" charset="-128"/>
                <a:cs typeface="ＭＳ Ｐゴシック" pitchFamily="-84" charset="-128"/>
              </a:rPr>
              <a:t>P = (16, 5); 2P = (20, 20); 3P = (14, 14); 4P = (19, 20); 5P = (13, 10); 6P = (7, 3); 7P = (8, 7); 8P = (12, 17) ; 9P = (4, 5).   </a:t>
            </a:r>
            <a:r>
              <a:rPr lang="en-US" dirty="0">
                <a:latin typeface="Arial" pitchFamily="-84" charset="0"/>
                <a:ea typeface="ＭＳ Ｐゴシック" pitchFamily="-84" charset="-128"/>
                <a:cs typeface="ＭＳ Ｐゴシック" pitchFamily="-84" charset="-128"/>
              </a:rPr>
              <a:t>Because 9P = (4, 5) = Q, the discrete logarithm Q = (4, 5) to the base P = (16, 5) is k = 9. In a real application, k would be so large as to make the brute-force approach infeasible.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Figure 10.7 ECC Diffie-Hellman Key Exchange.</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18</a:t>
            </a:fld>
            <a:endParaRPr lang="en-AU"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63B667A9-D636-AE43-8512-9BA8A4034FAD}" type="slidenum">
              <a:rPr lang="en-AU">
                <a:latin typeface="Arial" pitchFamily="-84" charset="0"/>
              </a:rPr>
              <a:pPr/>
              <a:t>19</a:t>
            </a:fld>
            <a:endParaRPr lang="en-AU" dirty="0">
              <a:latin typeface="Arial" pitchFamily="-8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dirty="0">
                <a:latin typeface="Arial" pitchFamily="-84" charset="0"/>
                <a:ea typeface="Arial" pitchFamily="-84" charset="0"/>
                <a:cs typeface="Arial" pitchFamily="-84" charset="0"/>
              </a:rPr>
              <a:t>Several approaches to encryption/decryption using elliptic curves have been analyzed in the literature.</a:t>
            </a:r>
            <a:r>
              <a:rPr lang="en-US" dirty="0" smtClean="0">
                <a:latin typeface="Arial" pitchFamily="-84" charset="0"/>
                <a:ea typeface="Arial" pitchFamily="-84" charset="0"/>
                <a:cs typeface="Arial" pitchFamily="-84" charset="0"/>
              </a:rPr>
              <a:t> </a:t>
            </a:r>
          </a:p>
          <a:p>
            <a:pPr eaLnBrk="1" hangingPunct="1"/>
            <a:endParaRPr lang="en-US" dirty="0" smtClean="0">
              <a:latin typeface="Arial" pitchFamily="-84" charset="0"/>
              <a:ea typeface="Arial" pitchFamily="-84" charset="0"/>
              <a:cs typeface="Arial" pitchFamily="-84" charset="0"/>
            </a:endParaRPr>
          </a:p>
          <a:p>
            <a:pPr eaLnBrk="1" hangingPunct="1"/>
            <a:r>
              <a:rPr lang="en-US" dirty="0" smtClean="0">
                <a:latin typeface="Arial" pitchFamily="-84" charset="0"/>
                <a:ea typeface="Arial" pitchFamily="-84" charset="0"/>
                <a:cs typeface="Arial" pitchFamily="-84" charset="0"/>
              </a:rPr>
              <a:t>This </a:t>
            </a:r>
            <a:r>
              <a:rPr lang="en-US" dirty="0">
                <a:latin typeface="Arial" pitchFamily="-84" charset="0"/>
                <a:ea typeface="Arial" pitchFamily="-84" charset="0"/>
                <a:cs typeface="Arial" pitchFamily="-84" charset="0"/>
              </a:rPr>
              <a:t>one is an analog of the ElGamal public-key encryption algorithm. The sender must first encode any message M as a point on the elliptic curve P</a:t>
            </a:r>
            <a:r>
              <a:rPr lang="en-US" baseline="-25000" dirty="0">
                <a:latin typeface="Arial" pitchFamily="-84" charset="0"/>
                <a:ea typeface="Arial" pitchFamily="-84" charset="0"/>
                <a:cs typeface="Arial" pitchFamily="-84" charset="0"/>
              </a:rPr>
              <a:t>m</a:t>
            </a:r>
            <a:r>
              <a:rPr lang="en-US" dirty="0">
                <a:latin typeface="Arial" pitchFamily="-84" charset="0"/>
                <a:ea typeface="Arial" pitchFamily="-84" charset="0"/>
                <a:cs typeface="Arial" pitchFamily="-84" charset="0"/>
              </a:rPr>
              <a:t> (there are relatively straightforward techniques for this). Note that the ciphertext is a pair of points on the elliptic curve. The sender masks the message using random k, but also sends along a “clue” allowing the receiver who know the private-key to recover k and hence the message. For an attacker to recover the message, the attacker would have to compute k given G and kG, which is assumed hard.</a:t>
            </a:r>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p>
            <a:fld id="{81E0DCAE-B7BD-6042-8BF4-344E03253E32}" type="slidenum">
              <a:rPr lang="en-AU">
                <a:latin typeface="Arial" pitchFamily="-84" charset="0"/>
              </a:rPr>
              <a:pPr/>
              <a:t>20</a:t>
            </a:fld>
            <a:endParaRPr lang="en-AU" dirty="0">
              <a:latin typeface="Arial" pitchFamily="-8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charset="0"/>
                <a:ea typeface="ＭＳ Ｐゴシック" charset="-128"/>
                <a:cs typeface="ＭＳ Ｐゴシック" charset="-128"/>
              </a:rPr>
              <a:t> The security of ECC depends on how difficult it is to determine </a:t>
            </a:r>
            <a:r>
              <a:rPr lang="en-US" sz="1200" kern="1200" baseline="0" dirty="0" err="1" smtClean="0">
                <a:solidFill>
                  <a:schemeClr val="tx1"/>
                </a:solidFill>
                <a:latin typeface="Arial" charset="0"/>
                <a:ea typeface="ＭＳ Ｐゴシック" charset="-128"/>
                <a:cs typeface="ＭＳ Ｐゴシック" charset="-128"/>
              </a:rPr>
              <a:t>k</a:t>
            </a:r>
            <a:r>
              <a:rPr lang="en-US" sz="1200" kern="1200" baseline="0" dirty="0" smtClean="0">
                <a:solidFill>
                  <a:schemeClr val="tx1"/>
                </a:solidFill>
                <a:latin typeface="Arial" charset="0"/>
                <a:ea typeface="ＭＳ Ｐゴシック" charset="-128"/>
                <a:cs typeface="ＭＳ Ｐゴシック" charset="-128"/>
              </a:rPr>
              <a:t> given </a:t>
            </a:r>
            <a:r>
              <a:rPr lang="en-US" sz="1200" kern="1200" baseline="0" dirty="0" smtClean="0">
                <a:solidFill>
                  <a:schemeClr val="tx1"/>
                </a:solidFill>
                <a:latin typeface="Arial" charset="0"/>
                <a:ea typeface="ＭＳ Ｐゴシック" charset="-128"/>
                <a:cs typeface="ＭＳ Ｐゴシック" charset="-128"/>
              </a:rPr>
              <a:t>kP  and P .</a:t>
            </a:r>
          </a:p>
          <a:p>
            <a:r>
              <a:rPr lang="en-US" sz="1200" kern="1200" baseline="0" dirty="0" smtClean="0">
                <a:solidFill>
                  <a:schemeClr val="tx1"/>
                </a:solidFill>
                <a:latin typeface="Arial" charset="0"/>
                <a:ea typeface="ＭＳ Ｐゴシック" charset="-128"/>
                <a:cs typeface="ＭＳ Ｐゴシック" charset="-128"/>
              </a:rPr>
              <a:t>This is referred to as the elliptic curve logarithm problem. The fastest known technique</a:t>
            </a:r>
          </a:p>
          <a:p>
            <a:r>
              <a:rPr lang="en-US" sz="1200" kern="1200" baseline="0" dirty="0" smtClean="0">
                <a:solidFill>
                  <a:schemeClr val="tx1"/>
                </a:solidFill>
                <a:latin typeface="Arial" charset="0"/>
                <a:ea typeface="ＭＳ Ｐゴシック" charset="-128"/>
                <a:cs typeface="ＭＳ Ｐゴシック" charset="-128"/>
              </a:rPr>
              <a:t>for taking the elliptic curve logarithm is known as the Pollard rho method.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smtClean="0">
                <a:solidFill>
                  <a:schemeClr val="tx1"/>
                </a:solidFill>
                <a:latin typeface="Arial" charset="0"/>
                <a:ea typeface="ＭＳ Ｐゴシック" charset="-128"/>
                <a:cs typeface="ＭＳ Ｐゴシック" charset="-128"/>
              </a:rPr>
              <a:t>Table 10.3, from NIST SP800-57 (</a:t>
            </a:r>
            <a:r>
              <a:rPr lang="en-US" sz="1200" i="1" kern="1200" baseline="0" dirty="0" smtClean="0">
                <a:solidFill>
                  <a:schemeClr val="tx1"/>
                </a:solidFill>
                <a:latin typeface="Arial" charset="0"/>
                <a:ea typeface="ＭＳ Ｐゴシック" charset="-128"/>
                <a:cs typeface="ＭＳ Ｐゴシック" charset="-128"/>
              </a:rPr>
              <a:t>Recommendation for Key Management—Part 1:</a:t>
            </a:r>
          </a:p>
          <a:p>
            <a:r>
              <a:rPr lang="en-US" sz="1200" i="1" kern="1200" baseline="0" dirty="0" smtClean="0">
                <a:solidFill>
                  <a:schemeClr val="tx1"/>
                </a:solidFill>
                <a:latin typeface="Arial" charset="0"/>
                <a:ea typeface="ＭＳ Ｐゴシック" charset="-128"/>
                <a:cs typeface="ＭＳ Ｐゴシック" charset="-128"/>
              </a:rPr>
              <a:t>General,</a:t>
            </a:r>
            <a:r>
              <a:rPr lang="en-US" sz="1200" kern="1200" baseline="0" dirty="0" smtClean="0">
                <a:solidFill>
                  <a:schemeClr val="tx1"/>
                </a:solidFill>
                <a:latin typeface="Arial" charset="0"/>
                <a:ea typeface="ＭＳ Ｐゴシック" charset="-128"/>
                <a:cs typeface="ＭＳ Ｐゴシック" charset="-128"/>
              </a:rPr>
              <a:t> September 2015)</a:t>
            </a:r>
            <a:r>
              <a:rPr lang="en-US" sz="1200" kern="1200" baseline="0" dirty="0" smtClean="0">
                <a:solidFill>
                  <a:schemeClr val="tx1"/>
                </a:solidFill>
                <a:latin typeface="Arial" charset="0"/>
                <a:ea typeface="ＭＳ Ｐゴシック" charset="-128"/>
                <a:cs typeface="ＭＳ Ｐゴシック" charset="-128"/>
              </a:rPr>
              <a:t>, compares various algorithms by showing comparable key sizes</a:t>
            </a:r>
          </a:p>
          <a:p>
            <a:r>
              <a:rPr lang="en-US" sz="1200" kern="1200" baseline="0" dirty="0" smtClean="0">
                <a:solidFill>
                  <a:schemeClr val="tx1"/>
                </a:solidFill>
                <a:latin typeface="Arial" charset="0"/>
                <a:ea typeface="ＭＳ Ｐゴシック" charset="-128"/>
                <a:cs typeface="ＭＳ Ｐゴシック" charset="-128"/>
              </a:rPr>
              <a:t>in terms of computational effort for cryptanalysis. As can be seen, a considerably</a:t>
            </a:r>
          </a:p>
          <a:p>
            <a:r>
              <a:rPr lang="en-US" sz="1200" kern="1200" baseline="0" dirty="0" smtClean="0">
                <a:solidFill>
                  <a:schemeClr val="tx1"/>
                </a:solidFill>
                <a:latin typeface="Arial" charset="0"/>
                <a:ea typeface="ＭＳ Ｐゴシック" charset="-128"/>
                <a:cs typeface="ＭＳ Ｐゴシック" charset="-128"/>
              </a:rPr>
              <a:t>smaller key size can be used for ECC compared to RSA.</a:t>
            </a:r>
            <a:r>
              <a:rPr lang="en-US" sz="1200" kern="1200" baseline="0" dirty="0" smtClean="0">
                <a:solidFill>
                  <a:schemeClr val="tx1"/>
                </a:solidFill>
                <a:latin typeface="Arial" charset="0"/>
                <a:ea typeface="ＭＳ Ｐゴシック" charset="-128"/>
                <a:cs typeface="ＭＳ Ｐゴシック" charset="-128"/>
              </a:rPr>
              <a:t> </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Based on this analysis, SP 800-57 recommends that at least through 2030, acceptable</a:t>
            </a:r>
          </a:p>
          <a:p>
            <a:r>
              <a:rPr lang="en-US" sz="1200" kern="1200" baseline="0" dirty="0" smtClean="0">
                <a:solidFill>
                  <a:schemeClr val="tx1"/>
                </a:solidFill>
                <a:latin typeface="Arial" charset="0"/>
                <a:ea typeface="ＭＳ Ｐゴシック" charset="-128"/>
                <a:cs typeface="ＭＳ Ｐゴシック" charset="-128"/>
              </a:rPr>
              <a:t>key lengths are from 3072 to 14,360 bits for RSA and 256 to 512 bits for</a:t>
            </a:r>
          </a:p>
          <a:p>
            <a:r>
              <a:rPr lang="en-US" sz="1200" kern="1200" baseline="0" dirty="0" smtClean="0">
                <a:solidFill>
                  <a:schemeClr val="tx1"/>
                </a:solidFill>
                <a:latin typeface="Arial" charset="0"/>
                <a:ea typeface="ＭＳ Ｐゴシック" charset="-128"/>
                <a:cs typeface="ＭＳ Ｐゴシック" charset="-128"/>
              </a:rPr>
              <a:t>ECC. Similarly, the European Union Agency for Network and Information Security</a:t>
            </a:r>
          </a:p>
          <a:p>
            <a:r>
              <a:rPr lang="en-US" sz="1200" kern="1200" baseline="0" dirty="0" smtClean="0">
                <a:solidFill>
                  <a:schemeClr val="tx1"/>
                </a:solidFill>
                <a:latin typeface="Arial" charset="0"/>
                <a:ea typeface="ＭＳ Ｐゴシック" charset="-128"/>
                <a:cs typeface="ＭＳ Ｐゴシック" charset="-128"/>
              </a:rPr>
              <a:t>(ENISA) recommends in their 2014 report (</a:t>
            </a:r>
            <a:r>
              <a:rPr lang="en-US" sz="1200" i="1" kern="1200" baseline="0" dirty="0" smtClean="0">
                <a:solidFill>
                  <a:schemeClr val="tx1"/>
                </a:solidFill>
                <a:latin typeface="Arial" charset="0"/>
                <a:ea typeface="ＭＳ Ｐゴシック" charset="-128"/>
                <a:cs typeface="ＭＳ Ｐゴシック" charset="-128"/>
              </a:rPr>
              <a:t>Algorithms, Key Size and Parameters</a:t>
            </a:r>
          </a:p>
          <a:p>
            <a:r>
              <a:rPr lang="en-US" sz="1200" i="1" kern="1200" baseline="0" dirty="0" smtClean="0">
                <a:solidFill>
                  <a:schemeClr val="tx1"/>
                </a:solidFill>
                <a:latin typeface="Arial" charset="0"/>
                <a:ea typeface="ＭＳ Ｐゴシック" charset="-128"/>
                <a:cs typeface="ＭＳ Ｐゴシック" charset="-128"/>
              </a:rPr>
              <a:t>report—2014 , </a:t>
            </a:r>
            <a:r>
              <a:rPr lang="en-US" sz="1200" kern="1200" baseline="0" dirty="0" smtClean="0">
                <a:solidFill>
                  <a:schemeClr val="tx1"/>
                </a:solidFill>
                <a:latin typeface="Arial" charset="0"/>
                <a:ea typeface="ＭＳ Ｐゴシック" charset="-128"/>
                <a:cs typeface="ＭＳ Ｐゴシック" charset="-128"/>
              </a:rPr>
              <a:t>November 2014) minimum key lengths for future system of 3072 bits</a:t>
            </a:r>
          </a:p>
          <a:p>
            <a:r>
              <a:rPr lang="en-US" sz="1200" kern="1200" baseline="0" dirty="0" smtClean="0">
                <a:solidFill>
                  <a:schemeClr val="tx1"/>
                </a:solidFill>
                <a:latin typeface="Arial" charset="0"/>
                <a:ea typeface="ＭＳ Ｐゴシック" charset="-128"/>
                <a:cs typeface="ＭＳ Ｐゴシック" charset="-128"/>
              </a:rPr>
              <a:t>and 256 bits for RSA and ECC, respectively.</a:t>
            </a:r>
          </a:p>
          <a:p>
            <a:endParaRPr lang="en-US" sz="1200" kern="1200" baseline="0" dirty="0" smtClean="0">
              <a:solidFill>
                <a:schemeClr val="tx1"/>
              </a:solidFill>
              <a:latin typeface="Arial" charset="0"/>
              <a:ea typeface="ＭＳ Ｐゴシック" charset="-128"/>
              <a:cs typeface="ＭＳ Ｐゴシック" charset="-128"/>
            </a:endParaRPr>
          </a:p>
          <a:p>
            <a:r>
              <a:rPr lang="en-US" sz="1200" kern="1200" baseline="0" dirty="0" smtClean="0">
                <a:solidFill>
                  <a:schemeClr val="tx1"/>
                </a:solidFill>
                <a:latin typeface="Arial" charset="0"/>
                <a:ea typeface="ＭＳ Ｐゴシック" charset="-128"/>
                <a:cs typeface="ＭＳ Ｐゴシック" charset="-128"/>
              </a:rPr>
              <a:t> Analysis indicates that for equal key lengths, the computational effort required</a:t>
            </a:r>
          </a:p>
          <a:p>
            <a:r>
              <a:rPr lang="en-US" sz="1200" kern="1200" baseline="0" dirty="0" smtClean="0">
                <a:solidFill>
                  <a:schemeClr val="tx1"/>
                </a:solidFill>
                <a:latin typeface="Arial" charset="0"/>
                <a:ea typeface="ＭＳ Ｐゴシック" charset="-128"/>
                <a:cs typeface="ＭＳ Ｐゴシック" charset="-128"/>
              </a:rPr>
              <a:t>for ECC and RSA is comparable [JURI97]. Thus, there is a computational</a:t>
            </a:r>
          </a:p>
          <a:p>
            <a:r>
              <a:rPr lang="en-US" sz="1200" kern="1200" baseline="0" dirty="0" smtClean="0">
                <a:solidFill>
                  <a:schemeClr val="tx1"/>
                </a:solidFill>
                <a:latin typeface="Arial" charset="0"/>
                <a:ea typeface="ＭＳ Ｐゴシック" charset="-128"/>
                <a:cs typeface="ＭＳ Ｐゴシック" charset="-128"/>
              </a:rPr>
              <a:t>advantage to using ECC with a shorter key length than a comparably secure RSA.</a:t>
            </a:r>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21</a:t>
            </a:fld>
            <a:endParaRPr lang="en-AU"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Slide Image Placeholder 1"/>
          <p:cNvSpPr>
            <a:spLocks noGrp="1" noRot="1" noChangeAspect="1"/>
          </p:cNvSpPr>
          <p:nvPr>
            <p:ph type="sldImg"/>
          </p:nvPr>
        </p:nvSpPr>
        <p:spPr>
          <a:ln/>
        </p:spPr>
      </p:sp>
      <p:sp>
        <p:nvSpPr>
          <p:cNvPr id="58371" name="Notes Placeholder 2"/>
          <p:cNvSpPr>
            <a:spLocks noGrp="1"/>
          </p:cNvSpPr>
          <p:nvPr>
            <p:ph type="body" idx="1"/>
          </p:nvPr>
        </p:nvSpPr>
        <p:spPr>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We noted in Chapter</a:t>
            </a:r>
            <a:r>
              <a:rPr lang="en-US" dirty="0" smtClean="0">
                <a:latin typeface="Arial" pitchFamily="-84" charset="0"/>
                <a:ea typeface="ＭＳ Ｐゴシック" pitchFamily="-84" charset="-128"/>
                <a:cs typeface="ＭＳ Ｐゴシック" pitchFamily="-84" charset="-128"/>
              </a:rPr>
              <a:t> 8 </a:t>
            </a:r>
            <a:r>
              <a:rPr lang="en-US" dirty="0" smtClean="0">
                <a:latin typeface="Arial" pitchFamily="-84" charset="0"/>
                <a:ea typeface="ＭＳ Ｐゴシック" pitchFamily="-84" charset="-128"/>
                <a:cs typeface="ＭＳ Ｐゴシック" pitchFamily="-84" charset="-128"/>
              </a:rPr>
              <a:t>that, because a symmetric block cipher produces an apparently random output, it can serve as the basis of a pseudorandom number generator (PRNG). Similarly, an asymmetric encryption algorithm produces apparently random output and can be used to build a PRNG. Because asymmetric algorithms are typically much slower than symmetric algorithms, asymmetric algorithms are not used to generate open-ended PRNG bit streams. Rather, the asymmetric approach is useful for creating a pseudorandom function (PRF) for generating a short pseudorandom bit sequence. </a:t>
            </a:r>
            <a:r>
              <a:rPr lang="en-US" dirty="0" smtClean="0">
                <a:latin typeface="Arial" pitchFamily="-84" charset="0"/>
                <a:ea typeface="ＭＳ Ｐゴシック" pitchFamily="-84" charset="-128"/>
                <a:cs typeface="ＭＳ Ｐゴシック" pitchFamily="-84" charset="-128"/>
              </a:rPr>
              <a:t> </a:t>
            </a:r>
            <a:endParaRPr lang="en-US" dirty="0" smtClean="0">
              <a:latin typeface="Arial" pitchFamily="-84" charset="0"/>
              <a:ea typeface="ＭＳ Ｐゴシック" pitchFamily="-84" charset="-128"/>
              <a:cs typeface="ＭＳ Ｐゴシック" pitchFamily="-84" charset="-128"/>
            </a:endParaRPr>
          </a:p>
        </p:txBody>
      </p:sp>
      <p:sp>
        <p:nvSpPr>
          <p:cNvPr id="58372" name="Slide Number Placeholder 3"/>
          <p:cNvSpPr>
            <a:spLocks noGrp="1"/>
          </p:cNvSpPr>
          <p:nvPr>
            <p:ph type="sldNum" sz="quarter" idx="5"/>
          </p:nvPr>
        </p:nvSpPr>
        <p:spPr>
          <a:noFill/>
        </p:spPr>
        <p:txBody>
          <a:bodyPr/>
          <a:lstStyle/>
          <a:p>
            <a:fld id="{9795E9CE-3864-E842-AA9E-2A878F6596BD}" type="slidenum">
              <a:rPr lang="en-AU" smtClean="0">
                <a:latin typeface="Arial" pitchFamily="-84" charset="0"/>
              </a:rPr>
              <a:pPr/>
              <a:t>22</a:t>
            </a:fld>
            <a:endParaRPr lang="en-AU" dirty="0" smtClean="0">
              <a:latin typeface="Arial" pitchFamily="-8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Slide Image Placeholder 1"/>
          <p:cNvSpPr>
            <a:spLocks noGrp="1" noRot="1" noChangeAspect="1"/>
          </p:cNvSpPr>
          <p:nvPr>
            <p:ph type="sldImg"/>
          </p:nvPr>
        </p:nvSpPr>
        <p:spPr>
          <a:ln/>
        </p:spPr>
      </p:sp>
      <p:sp>
        <p:nvSpPr>
          <p:cNvPr id="60419" name="Notes Placeholder 2"/>
          <p:cNvSpPr>
            <a:spLocks noGrp="1"/>
          </p:cNvSpPr>
          <p:nvPr>
            <p:ph type="body" idx="1"/>
          </p:nvPr>
        </p:nvSpPr>
        <p:spPr>
          <a:xfrm>
            <a:off x="685800" y="4343400"/>
            <a:ext cx="5486400" cy="4495800"/>
          </a:xfrm>
          <a:noFill/>
          <a:ln/>
        </p:spPr>
        <p:txBody>
          <a:bodyPr/>
          <a:lstStyle/>
          <a:p>
            <a:pPr eaLnBrk="1" hangingPunct="1"/>
            <a:r>
              <a:rPr lang="en-US" dirty="0" smtClean="0">
                <a:latin typeface="Arial" pitchFamily="-84" charset="0"/>
                <a:ea typeface="ＭＳ Ｐゴシック" pitchFamily="-84" charset="-128"/>
                <a:cs typeface="ＭＳ Ｐゴシック" pitchFamily="-84" charset="-128"/>
              </a:rPr>
              <a:t>For a sufficient key length, the RSA algorithm is considered secure and is a good candidate to form the basis of a PRNG. Such a PRNG, known as the </a:t>
            </a:r>
            <a:r>
              <a:rPr lang="en-US" dirty="0" err="1" smtClean="0">
                <a:latin typeface="Arial" pitchFamily="-84" charset="0"/>
                <a:ea typeface="ＭＳ Ｐゴシック" pitchFamily="-84" charset="-128"/>
                <a:cs typeface="ＭＳ Ｐゴシック" pitchFamily="-84" charset="-128"/>
              </a:rPr>
              <a:t>Micali-Schnorr</a:t>
            </a:r>
            <a:r>
              <a:rPr lang="en-US"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PRNG [MICA91]  </a:t>
            </a:r>
            <a:r>
              <a:rPr lang="en-US" dirty="0" smtClean="0">
                <a:latin typeface="Arial" pitchFamily="-84" charset="0"/>
                <a:ea typeface="ＭＳ Ｐゴシック" pitchFamily="-84" charset="-128"/>
                <a:cs typeface="ＭＳ Ｐゴシック" pitchFamily="-84" charset="-128"/>
              </a:rPr>
              <a:t>is recommended in the ANSI standard X9.82 (</a:t>
            </a:r>
            <a:r>
              <a:rPr lang="en-US" i="1" dirty="0" smtClean="0">
                <a:latin typeface="Arial" pitchFamily="-84" charset="0"/>
                <a:ea typeface="ＭＳ Ｐゴシック" pitchFamily="-84" charset="-128"/>
                <a:cs typeface="ＭＳ Ｐゴシック" pitchFamily="-84" charset="-128"/>
              </a:rPr>
              <a:t>Random Number Generation</a:t>
            </a:r>
            <a:r>
              <a:rPr lang="en-US" dirty="0" smtClean="0">
                <a:latin typeface="Arial" pitchFamily="-84" charset="0"/>
                <a:ea typeface="ＭＳ Ｐゴシック" pitchFamily="-84" charset="-128"/>
                <a:cs typeface="ＭＳ Ｐゴシック" pitchFamily="-84" charset="-128"/>
              </a:rPr>
              <a:t>) and in the ISO standard 18031 </a:t>
            </a:r>
            <a:r>
              <a:rPr lang="en-US" i="1" dirty="0" smtClean="0">
                <a:latin typeface="Arial" pitchFamily="-84" charset="0"/>
                <a:ea typeface="ＭＳ Ｐゴシック" pitchFamily="-84" charset="-128"/>
                <a:cs typeface="ＭＳ Ｐゴシック" pitchFamily="-84" charset="-128"/>
              </a:rPr>
              <a:t>(Random Bit Generation). </a:t>
            </a:r>
            <a:r>
              <a:rPr lang="en-US" i="1" dirty="0" smtClean="0">
                <a:latin typeface="Arial" pitchFamily="-84" charset="0"/>
                <a:ea typeface="ＭＳ Ｐゴシック" pitchFamily="-84" charset="-128"/>
                <a:cs typeface="ＭＳ Ｐゴシック" pitchFamily="-84" charset="-128"/>
              </a:rPr>
              <a:t> </a:t>
            </a:r>
          </a:p>
          <a:p>
            <a:pPr eaLnBrk="1" hangingPunct="1"/>
            <a:endParaRPr lang="en-US" i="1" dirty="0" smtClean="0">
              <a:latin typeface="Arial" pitchFamily="-84" charset="0"/>
              <a:ea typeface="ＭＳ Ｐゴシック" pitchFamily="-84" charset="-128"/>
              <a:cs typeface="ＭＳ Ｐゴシック" pitchFamily="-84" charset="-128"/>
            </a:endParaRPr>
          </a:p>
          <a:p>
            <a:r>
              <a:rPr lang="en-US" sz="1200" kern="1200" baseline="0" dirty="0" smtClean="0">
                <a:solidFill>
                  <a:schemeClr val="tx1"/>
                </a:solidFill>
                <a:latin typeface="Arial" charset="0"/>
                <a:ea typeface="ＭＳ Ｐゴシック" charset="-128"/>
                <a:cs typeface="ＭＳ Ｐゴシック" charset="-128"/>
              </a:rPr>
              <a:t>The PRNG is illustrated in Figure 10.8. As can be seen, this PRNG has much</a:t>
            </a:r>
          </a:p>
          <a:p>
            <a:r>
              <a:rPr lang="en-US" sz="1200" kern="1200" baseline="0" dirty="0" smtClean="0">
                <a:solidFill>
                  <a:schemeClr val="tx1"/>
                </a:solidFill>
                <a:latin typeface="Arial" charset="0"/>
                <a:ea typeface="ＭＳ Ｐゴシック" charset="-128"/>
                <a:cs typeface="ＭＳ Ｐゴシック" charset="-128"/>
              </a:rPr>
              <a:t>the same structure as the output feedback (OFB) mode used as a PRNG (see Figure</a:t>
            </a:r>
          </a:p>
          <a:p>
            <a:r>
              <a:rPr lang="en-US" sz="1200" kern="1200" baseline="0" dirty="0" smtClean="0">
                <a:solidFill>
                  <a:schemeClr val="tx1"/>
                </a:solidFill>
                <a:latin typeface="Arial" charset="0"/>
                <a:ea typeface="ＭＳ Ｐゴシック" charset="-128"/>
                <a:cs typeface="ＭＳ Ｐゴシック" charset="-128"/>
              </a:rPr>
              <a:t>8.4b and the portion of Figure 7.6a enclosed with a dashed box). In this case, the</a:t>
            </a:r>
          </a:p>
          <a:p>
            <a:r>
              <a:rPr lang="en-US" sz="1200" kern="1200" baseline="0" dirty="0" smtClean="0">
                <a:solidFill>
                  <a:schemeClr val="tx1"/>
                </a:solidFill>
                <a:latin typeface="Arial" charset="0"/>
                <a:ea typeface="ＭＳ Ｐゴシック" charset="-128"/>
                <a:cs typeface="ＭＳ Ｐゴシック" charset="-128"/>
              </a:rPr>
              <a:t>encryption algorithm is RSA rather than a symmetric block cipher. Also, a portion</a:t>
            </a:r>
          </a:p>
          <a:p>
            <a:r>
              <a:rPr lang="en-US" sz="1200" kern="1200" baseline="0" dirty="0" smtClean="0">
                <a:solidFill>
                  <a:schemeClr val="tx1"/>
                </a:solidFill>
                <a:latin typeface="Arial" charset="0"/>
                <a:ea typeface="ＭＳ Ｐゴシック" charset="-128"/>
                <a:cs typeface="ＭＳ Ｐゴシック" charset="-128"/>
              </a:rPr>
              <a:t>of the output is fed back to the next iteration of the encryption algorithm and the</a:t>
            </a:r>
          </a:p>
          <a:p>
            <a:r>
              <a:rPr lang="en-US" sz="1200" kern="1200" baseline="0" dirty="0" smtClean="0">
                <a:solidFill>
                  <a:schemeClr val="tx1"/>
                </a:solidFill>
                <a:latin typeface="Arial" charset="0"/>
                <a:ea typeface="ＭＳ Ｐゴシック" charset="-128"/>
                <a:cs typeface="ＭＳ Ｐゴシック" charset="-128"/>
              </a:rPr>
              <a:t>remainder of the output is used as pseudorandom bits. The motivation for this separation</a:t>
            </a:r>
          </a:p>
          <a:p>
            <a:r>
              <a:rPr lang="en-US" sz="1200" kern="1200" baseline="0" dirty="0" smtClean="0">
                <a:solidFill>
                  <a:schemeClr val="tx1"/>
                </a:solidFill>
                <a:latin typeface="Arial" charset="0"/>
                <a:ea typeface="ＭＳ Ｐゴシック" charset="-128"/>
                <a:cs typeface="ＭＳ Ｐゴシック" charset="-128"/>
              </a:rPr>
              <a:t>of the output into two distinct parts is so that the pseudorandom bits from</a:t>
            </a:r>
          </a:p>
          <a:p>
            <a:r>
              <a:rPr lang="en-US" sz="1200" kern="1200" baseline="0" dirty="0" smtClean="0">
                <a:solidFill>
                  <a:schemeClr val="tx1"/>
                </a:solidFill>
                <a:latin typeface="Arial" charset="0"/>
                <a:ea typeface="ＭＳ Ｐゴシック" charset="-128"/>
                <a:cs typeface="ＭＳ Ｐゴシック" charset="-128"/>
              </a:rPr>
              <a:t>one stage do not provide input to the next stage. This separation should contribute</a:t>
            </a:r>
          </a:p>
          <a:p>
            <a:r>
              <a:rPr lang="en-US" sz="1200" kern="1200" baseline="0" dirty="0" smtClean="0">
                <a:solidFill>
                  <a:schemeClr val="tx1"/>
                </a:solidFill>
                <a:latin typeface="Arial" charset="0"/>
                <a:ea typeface="ＭＳ Ｐゴシック" charset="-128"/>
                <a:cs typeface="ＭＳ Ｐゴシック" charset="-128"/>
              </a:rPr>
              <a:t>to forward unpredictability.</a:t>
            </a:r>
            <a:endParaRPr lang="en-US" dirty="0" smtClean="0">
              <a:latin typeface="Arial" pitchFamily="-84" charset="0"/>
              <a:ea typeface="ＭＳ Ｐゴシック" pitchFamily="-84" charset="-128"/>
              <a:cs typeface="ＭＳ Ｐゴシック" pitchFamily="-84" charset="-128"/>
            </a:endParaRPr>
          </a:p>
          <a:p>
            <a:pPr eaLnBrk="1" hangingPunct="1"/>
            <a:endParaRPr lang="en-US" dirty="0" smtClean="0">
              <a:latin typeface="Arial" pitchFamily="-84" charset="0"/>
              <a:ea typeface="ＭＳ Ｐゴシック" pitchFamily="-84" charset="-128"/>
              <a:cs typeface="ＭＳ Ｐゴシック" pitchFamily="-84" charset="-128"/>
            </a:endParaRPr>
          </a:p>
        </p:txBody>
      </p:sp>
      <p:sp>
        <p:nvSpPr>
          <p:cNvPr id="60420" name="Slide Number Placeholder 3"/>
          <p:cNvSpPr>
            <a:spLocks noGrp="1"/>
          </p:cNvSpPr>
          <p:nvPr>
            <p:ph type="sldNum" sz="quarter" idx="5"/>
          </p:nvPr>
        </p:nvSpPr>
        <p:spPr>
          <a:noFill/>
        </p:spPr>
        <p:txBody>
          <a:bodyPr/>
          <a:lstStyle/>
          <a:p>
            <a:fld id="{AC8132D4-DA6C-CB47-9F95-A896F00EE909}" type="slidenum">
              <a:rPr lang="en-AU" smtClean="0">
                <a:latin typeface="Arial" pitchFamily="-84" charset="0"/>
              </a:rPr>
              <a:pPr/>
              <a:t>23</a:t>
            </a:fld>
            <a:endParaRPr lang="en-AU" dirty="0" smtClean="0">
              <a:latin typeface="Arial" pitchFamily="-8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Slide Image Placeholder 1"/>
          <p:cNvSpPr>
            <a:spLocks noGrp="1" noRot="1" noChangeAspect="1"/>
          </p:cNvSpPr>
          <p:nvPr>
            <p:ph type="sldImg"/>
          </p:nvPr>
        </p:nvSpPr>
        <p:spPr>
          <a:ln/>
        </p:spPr>
      </p:sp>
      <p:sp>
        <p:nvSpPr>
          <p:cNvPr id="62467" name="Notes Placeholder 2"/>
          <p:cNvSpPr>
            <a:spLocks noGrp="1"/>
          </p:cNvSpPr>
          <p:nvPr>
            <p:ph type="body" idx="1"/>
          </p:nvPr>
        </p:nvSpPr>
        <p:spPr>
          <a:noFill/>
          <a:ln/>
        </p:spPr>
        <p:txBody>
          <a:bodyPr/>
          <a:lstStyle/>
          <a:p>
            <a:r>
              <a:rPr lang="en-US" dirty="0" smtClean="0">
                <a:latin typeface="Arial" pitchFamily="-84" charset="0"/>
                <a:ea typeface="ＭＳ Ｐゴシック" pitchFamily="-84" charset="-128"/>
                <a:cs typeface="ＭＳ Ｐゴシック" pitchFamily="-84" charset="-128"/>
              </a:rPr>
              <a:t>In this subsection, we briefly summarize a technique developed by the U.S. National Security </a:t>
            </a:r>
            <a:r>
              <a:rPr lang="en-US" dirty="0" smtClean="0">
                <a:latin typeface="Arial" pitchFamily="-84" charset="0"/>
                <a:ea typeface="ＭＳ Ｐゴシック" pitchFamily="-84" charset="-128"/>
                <a:cs typeface="ＭＳ Ｐゴシック" pitchFamily="-84" charset="-128"/>
              </a:rPr>
              <a:t>Agency (NSA) </a:t>
            </a:r>
            <a:r>
              <a:rPr lang="en-US" dirty="0" smtClean="0">
                <a:latin typeface="Arial" pitchFamily="-84" charset="0"/>
                <a:ea typeface="ＭＳ Ｐゴシック" pitchFamily="-84" charset="-128"/>
                <a:cs typeface="ＭＳ Ｐゴシック" pitchFamily="-84" charset="-128"/>
              </a:rPr>
              <a:t>known as dual elliptic curve PRNG (DEC PRNG). This technique is recommended in NIST SP 800-90, the ANSI standard X9.82 and in the ISO standard 18031. There has been some controversy regarding both the security and inefficiency of this algorithm compared to other </a:t>
            </a:r>
            <a:r>
              <a:rPr lang="en-US" b="0" dirty="0" smtClean="0">
                <a:latin typeface="Arial" pitchFamily="-84" charset="0"/>
                <a:ea typeface="ＭＳ Ｐゴシック" pitchFamily="-84" charset="-128"/>
                <a:cs typeface="ＭＳ Ｐゴシック" pitchFamily="-84" charset="-128"/>
              </a:rPr>
              <a:t>alternatives.</a:t>
            </a:r>
            <a:r>
              <a:rPr lang="en-US" b="0" dirty="0" smtClean="0">
                <a:latin typeface="Arial" pitchFamily="-84" charset="0"/>
                <a:ea typeface="ＭＳ Ｐゴシック" pitchFamily="-84" charset="-128"/>
                <a:cs typeface="ＭＳ Ｐゴシック" pitchFamily="-84" charset="-128"/>
              </a:rPr>
              <a:t> </a:t>
            </a:r>
            <a:r>
              <a:rPr lang="en-US" sz="1200" b="0" kern="1200" baseline="0" dirty="0" smtClean="0">
                <a:solidFill>
                  <a:schemeClr val="tx1"/>
                </a:solidFill>
                <a:latin typeface="Arial" charset="0"/>
                <a:ea typeface="ＭＳ Ｐゴシック" charset="-128"/>
                <a:cs typeface="ＭＳ Ｐゴシック" charset="-128"/>
              </a:rPr>
              <a:t>(e.g., see [SCHO06], [BROW07]).</a:t>
            </a:r>
            <a:endParaRPr lang="en-US" b="0" dirty="0" smtClean="0">
              <a:latin typeface="Arial" pitchFamily="-84" charset="0"/>
              <a:ea typeface="ＭＳ Ｐゴシック" pitchFamily="-84" charset="-128"/>
              <a:cs typeface="ＭＳ Ｐゴシック" pitchFamily="-84" charset="-128"/>
            </a:endParaRPr>
          </a:p>
          <a:p>
            <a:pPr eaLnBrk="1" hangingPunct="1"/>
            <a:endParaRPr lang="en-US" b="0" dirty="0" smtClean="0">
              <a:latin typeface="Arial" pitchFamily="-84" charset="0"/>
              <a:ea typeface="ＭＳ Ｐゴシック" pitchFamily="-84" charset="-128"/>
              <a:cs typeface="ＭＳ Ｐゴシック" pitchFamily="-84" charset="-128"/>
            </a:endParaRPr>
          </a:p>
          <a:p>
            <a:pPr eaLnBrk="1" hangingPunct="1"/>
            <a:r>
              <a:rPr lang="en-US" sz="1200" b="0" kern="1200" baseline="0" dirty="0" smtClean="0">
                <a:solidFill>
                  <a:schemeClr val="tx1"/>
                </a:solidFill>
                <a:latin typeface="Arial" charset="0"/>
                <a:ea typeface="ＭＳ Ｐゴシック" charset="-128"/>
                <a:cs typeface="ＭＳ Ｐゴシック" charset="-128"/>
              </a:rPr>
              <a:t>[SCHO06] summarizes the algorithm as follows:  </a:t>
            </a:r>
            <a:r>
              <a:rPr lang="en-US" dirty="0" smtClean="0">
                <a:latin typeface="Arial" pitchFamily="-84" charset="0"/>
                <a:ea typeface="ＭＳ Ｐゴシック" pitchFamily="-84" charset="-128"/>
                <a:cs typeface="ＭＳ Ｐゴシック" pitchFamily="-84" charset="-128"/>
              </a:rPr>
              <a:t>Let </a:t>
            </a:r>
            <a:r>
              <a:rPr lang="en-US" dirty="0" smtClean="0">
                <a:latin typeface="Arial" pitchFamily="-84" charset="0"/>
                <a:ea typeface="ＭＳ Ｐゴシック" pitchFamily="-84" charset="-128"/>
                <a:cs typeface="ＭＳ Ｐゴシック" pitchFamily="-84" charset="-128"/>
              </a:rPr>
              <a:t>P and Q be two known points on a given elliptic curve. The seed of the DEC PRNG is a random </a:t>
            </a:r>
            <a:r>
              <a:rPr lang="en-US" dirty="0" smtClean="0">
                <a:latin typeface="Arial" pitchFamily="-84" charset="0"/>
                <a:ea typeface="ＭＳ Ｐゴシック" pitchFamily="-84" charset="-128"/>
                <a:cs typeface="ＭＳ Ｐゴシック" pitchFamily="-84" charset="-128"/>
              </a:rPr>
              <a:t>integer </a:t>
            </a:r>
            <a:r>
              <a:rPr lang="en-US" i="1" dirty="0" smtClean="0">
                <a:latin typeface="Arial" pitchFamily="-84" charset="0"/>
                <a:ea typeface="ＭＳ Ｐゴシック" pitchFamily="-84" charset="-128"/>
                <a:cs typeface="ＭＳ Ｐゴシック" pitchFamily="-84" charset="-128"/>
              </a:rPr>
              <a:t>s</a:t>
            </a:r>
            <a:r>
              <a:rPr lang="en-US" i="1" baseline="-25000" dirty="0" smtClean="0">
                <a:latin typeface="Arial" pitchFamily="-84" charset="0"/>
                <a:ea typeface="ＭＳ Ｐゴシック" pitchFamily="-84" charset="-128"/>
                <a:cs typeface="ＭＳ Ｐゴシック" pitchFamily="-84" charset="-128"/>
              </a:rPr>
              <a:t>0</a:t>
            </a:r>
            <a:r>
              <a:rPr lang="en-US" i="1" dirty="0" smtClean="0">
                <a:latin typeface="Arial" pitchFamily="-84" charset="0"/>
                <a:ea typeface="ＭＳ Ｐゴシック" pitchFamily="-84" charset="-128"/>
                <a:cs typeface="ＭＳ Ｐゴシック" pitchFamily="-84" charset="-128"/>
              </a:rPr>
              <a:t> </a:t>
            </a:r>
            <a:r>
              <a:rPr lang="en-US" dirty="0" smtClean="0">
                <a:latin typeface="Arial" pitchFamily="-84" charset="0"/>
                <a:ea typeface="ＭＳ Ｐゴシック" pitchFamily="-84" charset="-128"/>
                <a:cs typeface="ＭＳ Ｐゴシック" pitchFamily="-84" charset="-128"/>
              </a:rPr>
              <a:t>Let x denote a function that gives the </a:t>
            </a:r>
            <a:r>
              <a:rPr lang="en-US" i="1" dirty="0" smtClean="0">
                <a:latin typeface="Arial" pitchFamily="-84" charset="0"/>
                <a:ea typeface="ＭＳ Ｐゴシック" pitchFamily="-84" charset="-128"/>
                <a:cs typeface="ＭＳ Ｐゴシック" pitchFamily="-84" charset="-128"/>
              </a:rPr>
              <a:t>x</a:t>
            </a:r>
            <a:r>
              <a:rPr lang="en-US" dirty="0" smtClean="0">
                <a:latin typeface="Arial" pitchFamily="-84" charset="0"/>
                <a:ea typeface="ＭＳ Ｐゴシック" pitchFamily="-84" charset="-128"/>
                <a:cs typeface="ＭＳ Ｐゴシック" pitchFamily="-84" charset="-128"/>
              </a:rPr>
              <a:t>-coordinate of a point of the curve. Let </a:t>
            </a:r>
            <a:r>
              <a:rPr lang="en-US" i="1" dirty="0" err="1" smtClean="0">
                <a:latin typeface="Arial" pitchFamily="-84" charset="0"/>
                <a:ea typeface="ＭＳ Ｐゴシック" pitchFamily="-84" charset="-128"/>
                <a:cs typeface="ＭＳ Ｐゴシック" pitchFamily="-84" charset="-128"/>
              </a:rPr>
              <a:t>lsb</a:t>
            </a:r>
            <a:r>
              <a:rPr lang="en-US" i="1" baseline="-25000" dirty="0" err="1" smtClean="0">
                <a:latin typeface="Arial" pitchFamily="-84" charset="0"/>
                <a:ea typeface="ＭＳ Ｐゴシック" pitchFamily="-84" charset="-128"/>
                <a:cs typeface="ＭＳ Ｐゴシック" pitchFamily="-84" charset="-128"/>
              </a:rPr>
              <a:t>i</a:t>
            </a:r>
            <a:r>
              <a:rPr lang="en-US" i="1" baseline="-25000" dirty="0" smtClean="0">
                <a:latin typeface="Arial" pitchFamily="-84" charset="0"/>
                <a:ea typeface="ＭＳ Ｐゴシック" pitchFamily="-84" charset="-128"/>
                <a:cs typeface="ＭＳ Ｐゴシック" pitchFamily="-84" charset="-128"/>
              </a:rPr>
              <a:t> </a:t>
            </a:r>
            <a:r>
              <a:rPr lang="en-US" i="1" dirty="0" smtClean="0">
                <a:latin typeface="Arial" pitchFamily="-84" charset="0"/>
                <a:ea typeface="ＭＳ Ｐゴシック" pitchFamily="-84" charset="-128"/>
                <a:cs typeface="ＭＳ Ｐゴシック" pitchFamily="-84" charset="-128"/>
              </a:rPr>
              <a:t>(</a:t>
            </a:r>
            <a:r>
              <a:rPr lang="en-US" i="1" dirty="0" smtClean="0">
                <a:latin typeface="Arial" pitchFamily="-84" charset="0"/>
                <a:ea typeface="ＭＳ Ｐゴシック" pitchFamily="-84" charset="-128"/>
                <a:cs typeface="ＭＳ Ｐゴシック" pitchFamily="-84" charset="-128"/>
              </a:rPr>
              <a:t>s) </a:t>
            </a:r>
            <a:r>
              <a:rPr lang="en-US" dirty="0" smtClean="0">
                <a:latin typeface="Arial" pitchFamily="-84" charset="0"/>
                <a:ea typeface="ＭＳ Ｐゴシック" pitchFamily="-84" charset="-128"/>
                <a:cs typeface="ＭＳ Ｐゴシック" pitchFamily="-84" charset="-128"/>
              </a:rPr>
              <a:t>denote the </a:t>
            </a:r>
            <a:r>
              <a:rPr lang="en-US" i="1" dirty="0" smtClean="0">
                <a:latin typeface="Arial" pitchFamily="-84" charset="0"/>
                <a:ea typeface="ＭＳ Ｐゴシック" pitchFamily="-84" charset="-128"/>
                <a:cs typeface="ＭＳ Ｐゴシック" pitchFamily="-84" charset="-128"/>
              </a:rPr>
              <a:t>i</a:t>
            </a:r>
            <a:r>
              <a:rPr lang="en-US" dirty="0" smtClean="0">
                <a:latin typeface="Arial" pitchFamily="-84" charset="0"/>
                <a:ea typeface="ＭＳ Ｐゴシック" pitchFamily="-84" charset="-128"/>
                <a:cs typeface="ＭＳ Ｐゴシック" pitchFamily="-84" charset="-128"/>
              </a:rPr>
              <a:t> least significant bits of an integer </a:t>
            </a:r>
            <a:r>
              <a:rPr lang="en-US" i="1" dirty="0" smtClean="0">
                <a:latin typeface="Arial" pitchFamily="-84" charset="0"/>
                <a:ea typeface="ＭＳ Ｐゴシック" pitchFamily="-84" charset="-128"/>
                <a:cs typeface="ＭＳ Ｐゴシック" pitchFamily="-84" charset="-128"/>
              </a:rPr>
              <a:t>s.</a:t>
            </a:r>
            <a:r>
              <a:rPr lang="en-US" dirty="0" smtClean="0">
                <a:latin typeface="Arial" pitchFamily="-84" charset="0"/>
                <a:ea typeface="ＭＳ Ｐゴシック" pitchFamily="-84" charset="-128"/>
                <a:cs typeface="ＭＳ Ｐゴシック" pitchFamily="-84" charset="-128"/>
              </a:rPr>
              <a:t>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The </a:t>
            </a:r>
            <a:r>
              <a:rPr lang="en-US" dirty="0" smtClean="0">
                <a:latin typeface="Arial" pitchFamily="-84" charset="0"/>
                <a:ea typeface="ＭＳ Ｐゴシック" pitchFamily="-84" charset="-128"/>
                <a:cs typeface="ＭＳ Ｐゴシック" pitchFamily="-84" charset="-128"/>
              </a:rPr>
              <a:t>DEC PRNG  transforms the seed into the pseudorandom sequence of length 240k, k &gt; 0, as follows. </a:t>
            </a:r>
            <a:r>
              <a:rPr lang="en-US" dirty="0" smtClean="0">
                <a:latin typeface="Arial" pitchFamily="-84" charset="0"/>
                <a:ea typeface="ＭＳ Ｐゴシック" pitchFamily="-84" charset="-128"/>
                <a:cs typeface="ＭＳ Ｐゴシック" pitchFamily="-84" charset="-128"/>
              </a:rPr>
              <a:t> </a:t>
            </a: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Courier New" pitchFamily="-84" charset="0"/>
                <a:ea typeface="Courier New" pitchFamily="-84" charset="0"/>
                <a:cs typeface="Courier New" pitchFamily="-84" charset="0"/>
              </a:rPr>
              <a:t>for i = 1 to k do </a:t>
            </a:r>
          </a:p>
          <a:p>
            <a:pPr eaLnBrk="1" hangingPunct="1"/>
            <a:r>
              <a:rPr lang="en-US" dirty="0" smtClean="0">
                <a:latin typeface="Courier New" pitchFamily="-84" charset="0"/>
                <a:ea typeface="Courier New" pitchFamily="-84" charset="0"/>
                <a:cs typeface="Courier New" pitchFamily="-84" charset="0"/>
              </a:rPr>
              <a:t>set s</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 x(s</a:t>
            </a:r>
            <a:r>
              <a:rPr lang="en-US" baseline="-25000" dirty="0" smtClean="0">
                <a:latin typeface="Courier New" pitchFamily="-84" charset="0"/>
                <a:ea typeface="Courier New" pitchFamily="-84" charset="0"/>
                <a:cs typeface="Courier New" pitchFamily="-84" charset="0"/>
              </a:rPr>
              <a:t>i-1 </a:t>
            </a:r>
            <a:r>
              <a:rPr lang="en-US" dirty="0" smtClean="0">
                <a:latin typeface="Courier New" pitchFamily="-84" charset="0"/>
                <a:ea typeface="Courier New" pitchFamily="-84" charset="0"/>
                <a:cs typeface="Courier New" pitchFamily="-84" charset="0"/>
              </a:rPr>
              <a:t>P )  </a:t>
            </a:r>
          </a:p>
          <a:p>
            <a:pPr eaLnBrk="1" hangingPunct="1"/>
            <a:r>
              <a:rPr lang="en-US" dirty="0" smtClean="0">
                <a:latin typeface="Courier New" pitchFamily="-84" charset="0"/>
                <a:ea typeface="Courier New" pitchFamily="-84" charset="0"/>
                <a:cs typeface="Courier New" pitchFamily="-84" charset="0"/>
              </a:rPr>
              <a:t>set r</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 lsb</a:t>
            </a:r>
            <a:r>
              <a:rPr lang="en-US" baseline="-25000" dirty="0" smtClean="0">
                <a:latin typeface="Courier New" pitchFamily="-84" charset="0"/>
                <a:ea typeface="Courier New" pitchFamily="-84" charset="0"/>
                <a:cs typeface="Courier New" pitchFamily="-84" charset="0"/>
              </a:rPr>
              <a:t>240</a:t>
            </a:r>
            <a:r>
              <a:rPr lang="en-US" dirty="0" smtClean="0">
                <a:latin typeface="Courier New" pitchFamily="-84" charset="0"/>
                <a:ea typeface="Courier New" pitchFamily="-84" charset="0"/>
                <a:cs typeface="Courier New" pitchFamily="-84" charset="0"/>
              </a:rPr>
              <a:t> (x(s</a:t>
            </a:r>
            <a:r>
              <a:rPr lang="en-US" baseline="-25000" dirty="0" smtClean="0">
                <a:latin typeface="Courier New" pitchFamily="-84" charset="0"/>
                <a:ea typeface="Courier New" pitchFamily="-84" charset="0"/>
                <a:cs typeface="Courier New" pitchFamily="-84" charset="0"/>
              </a:rPr>
              <a:t>i</a:t>
            </a:r>
            <a:r>
              <a:rPr lang="en-US" dirty="0" smtClean="0">
                <a:latin typeface="Courier New" pitchFamily="-84" charset="0"/>
                <a:ea typeface="Courier New" pitchFamily="-84" charset="0"/>
                <a:cs typeface="Courier New" pitchFamily="-84" charset="0"/>
              </a:rPr>
              <a:t> Q))  </a:t>
            </a:r>
          </a:p>
          <a:p>
            <a:pPr eaLnBrk="1" hangingPunct="1"/>
            <a:r>
              <a:rPr lang="en-US" dirty="0" smtClean="0">
                <a:latin typeface="Courier New" pitchFamily="-84" charset="0"/>
                <a:ea typeface="Courier New" pitchFamily="-84" charset="0"/>
                <a:cs typeface="Courier New" pitchFamily="-84" charset="0"/>
              </a:rPr>
              <a:t>end for  </a:t>
            </a:r>
          </a:p>
          <a:p>
            <a:pPr eaLnBrk="1" hangingPunct="1"/>
            <a:r>
              <a:rPr lang="en-US" dirty="0" smtClean="0">
                <a:latin typeface="Courier New" pitchFamily="-84" charset="0"/>
                <a:ea typeface="Courier New" pitchFamily="-84" charset="0"/>
                <a:cs typeface="Courier New" pitchFamily="-84" charset="0"/>
              </a:rPr>
              <a:t>return r</a:t>
            </a:r>
            <a:r>
              <a:rPr lang="en-US" baseline="-25000" dirty="0" smtClean="0">
                <a:latin typeface="Courier New" pitchFamily="-84" charset="0"/>
                <a:ea typeface="Courier New" pitchFamily="-84" charset="0"/>
                <a:cs typeface="Courier New" pitchFamily="-84" charset="0"/>
              </a:rPr>
              <a:t>1</a:t>
            </a:r>
            <a:r>
              <a:rPr lang="en-US" dirty="0" smtClean="0">
                <a:latin typeface="Courier New" pitchFamily="-84" charset="0"/>
                <a:ea typeface="Courier New" pitchFamily="-84" charset="0"/>
                <a:cs typeface="Courier New" pitchFamily="-84" charset="0"/>
              </a:rPr>
              <a:t> , . . . , </a:t>
            </a:r>
            <a:r>
              <a:rPr lang="en-US" dirty="0" err="1" smtClean="0">
                <a:latin typeface="Courier New" pitchFamily="-84" charset="0"/>
                <a:ea typeface="Courier New" pitchFamily="-84" charset="0"/>
                <a:cs typeface="Courier New" pitchFamily="-84" charset="0"/>
              </a:rPr>
              <a:t>r</a:t>
            </a:r>
            <a:r>
              <a:rPr lang="en-US" baseline="-25000" dirty="0" err="1" smtClean="0">
                <a:latin typeface="Courier New" pitchFamily="-84" charset="0"/>
                <a:ea typeface="Courier New" pitchFamily="-84" charset="0"/>
                <a:cs typeface="Courier New" pitchFamily="-84" charset="0"/>
              </a:rPr>
              <a:t>k</a:t>
            </a:r>
            <a:r>
              <a:rPr lang="en-US" dirty="0" smtClean="0">
                <a:latin typeface="Courier New" pitchFamily="-84" charset="0"/>
                <a:ea typeface="Courier New" pitchFamily="-84" charset="0"/>
                <a:cs typeface="Courier New" pitchFamily="-84" charset="0"/>
              </a:rPr>
              <a:t>    </a:t>
            </a:r>
            <a:endParaRPr lang="en-US" dirty="0" smtClean="0">
              <a:latin typeface="Courier New" pitchFamily="-84" charset="0"/>
              <a:ea typeface="Courier New" pitchFamily="-84" charset="0"/>
              <a:cs typeface="Courier New" pitchFamily="-84" charset="0"/>
            </a:endParaRPr>
          </a:p>
          <a:p>
            <a:pPr eaLnBrk="1" hangingPunct="1"/>
            <a:endParaRPr lang="en-US" dirty="0" smtClean="0">
              <a:latin typeface="Arial" pitchFamily="-84" charset="0"/>
              <a:ea typeface="ＭＳ Ｐゴシック" pitchFamily="-84" charset="-128"/>
              <a:cs typeface="ＭＳ Ｐゴシック" pitchFamily="-84" charset="-128"/>
            </a:endParaRPr>
          </a:p>
          <a:p>
            <a:pPr eaLnBrk="1" hangingPunct="1"/>
            <a:r>
              <a:rPr lang="en-US" dirty="0" smtClean="0">
                <a:latin typeface="Arial" pitchFamily="-84" charset="0"/>
                <a:ea typeface="ＭＳ Ｐゴシック" pitchFamily="-84" charset="-128"/>
                <a:cs typeface="ＭＳ Ｐゴシック" pitchFamily="-84" charset="-128"/>
              </a:rPr>
              <a:t>Given </a:t>
            </a:r>
            <a:r>
              <a:rPr lang="en-US" dirty="0" smtClean="0">
                <a:latin typeface="Arial" pitchFamily="-84" charset="0"/>
                <a:ea typeface="ＭＳ Ｐゴシック" pitchFamily="-84" charset="-128"/>
                <a:cs typeface="ＭＳ Ｐゴシック" pitchFamily="-84" charset="-128"/>
              </a:rPr>
              <a:t>the security concerns expressed for this PRNG, the only motivation for its use would be that it is used in a system that already implements ECC but does not implement any other symmetric, asymmetric, or hash cryptographic algorithm that could be used to build a PRNG. </a:t>
            </a:r>
          </a:p>
        </p:txBody>
      </p:sp>
      <p:sp>
        <p:nvSpPr>
          <p:cNvPr id="62468" name="Slide Number Placeholder 3"/>
          <p:cNvSpPr>
            <a:spLocks noGrp="1"/>
          </p:cNvSpPr>
          <p:nvPr>
            <p:ph type="sldNum" sz="quarter" idx="5"/>
          </p:nvPr>
        </p:nvSpPr>
        <p:spPr>
          <a:noFill/>
        </p:spPr>
        <p:txBody>
          <a:bodyPr/>
          <a:lstStyle/>
          <a:p>
            <a:fld id="{FCCFC1F1-51A4-5F46-8B54-77DA2D5E7737}" type="slidenum">
              <a:rPr lang="en-AU" smtClean="0">
                <a:latin typeface="Arial" pitchFamily="-84" charset="0"/>
              </a:rPr>
              <a:pPr/>
              <a:t>24</a:t>
            </a:fld>
            <a:endParaRPr lang="en-AU" dirty="0" smtClean="0">
              <a:latin typeface="Arial" pitchFamily="-8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1378" name="Rectangle 1031"/>
          <p:cNvSpPr>
            <a:spLocks noGrp="1" noChangeArrowheads="1"/>
          </p:cNvSpPr>
          <p:nvPr>
            <p:ph type="sldNum" sz="quarter" idx="5"/>
          </p:nvPr>
        </p:nvSpPr>
        <p:spPr>
          <a:noFill/>
        </p:spPr>
        <p:txBody>
          <a:bodyPr/>
          <a:lstStyle/>
          <a:p>
            <a:fld id="{645F3BD3-6F3C-694C-8E1B-CF3CF7A9ECD3}" type="slidenum">
              <a:rPr lang="en-AU">
                <a:latin typeface="Arial" pitchFamily="-84" charset="0"/>
              </a:rPr>
              <a:pPr/>
              <a:t>25</a:t>
            </a:fld>
            <a:endParaRPr lang="en-AU" dirty="0">
              <a:latin typeface="Arial" pitchFamily="-8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Chapter</a:t>
            </a:r>
            <a:r>
              <a:rPr lang="en-US" dirty="0" smtClean="0">
                <a:latin typeface="Arial" pitchFamily="-84" charset="0"/>
                <a:ea typeface="ＭＳ Ｐゴシック" pitchFamily="-84" charset="-128"/>
                <a:cs typeface="ＭＳ Ｐゴシック" pitchFamily="-84" charset="-128"/>
              </a:rPr>
              <a:t> 10 </a:t>
            </a:r>
            <a:r>
              <a:rPr lang="en-US" dirty="0">
                <a:latin typeface="Arial" pitchFamily="-84" charset="0"/>
                <a:ea typeface="ＭＳ Ｐゴシック" pitchFamily="-84" charset="-128"/>
                <a:cs typeface="ＭＳ Ｐゴシック" pitchFamily="-84" charset="-128"/>
              </a:rPr>
              <a:t>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8.png"/><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jpeg"/><Relationship Id="rId3"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howMasterSp="0" type="title" preserve="1">
  <p:cSld name="Title Slide">
    <p:spTree>
      <p:nvGrpSpPr>
        <p:cNvPr id="1" name=""/>
        <p:cNvGrpSpPr/>
        <p:nvPr/>
      </p:nvGrpSpPr>
      <p:grpSpPr>
        <a:xfrm>
          <a:off x="0" y="0"/>
          <a:ext cx="0" cy="0"/>
          <a:chOff x="0" y="0"/>
          <a:chExt cx="0" cy="0"/>
        </a:xfrm>
      </p:grpSpPr>
      <p:grpSp>
        <p:nvGrpSpPr>
          <p:cNvPr id="4" name="Group 1026"/>
          <p:cNvGrpSpPr>
            <a:grpSpLocks/>
          </p:cNvGrpSpPr>
          <p:nvPr/>
        </p:nvGrpSpPr>
        <p:grpSpPr bwMode="auto">
          <a:xfrm>
            <a:off x="3175" y="4267200"/>
            <a:ext cx="9140825" cy="2590800"/>
            <a:chOff x="2" y="2688"/>
            <a:chExt cx="5758" cy="1632"/>
          </a:xfrm>
        </p:grpSpPr>
        <p:sp>
          <p:nvSpPr>
            <p:cNvPr id="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6" name="Group 1028"/>
            <p:cNvGrpSpPr>
              <a:grpSpLocks/>
            </p:cNvGrpSpPr>
            <p:nvPr/>
          </p:nvGrpSpPr>
          <p:grpSpPr bwMode="auto">
            <a:xfrm>
              <a:off x="1776" y="3024"/>
              <a:ext cx="3929" cy="1290"/>
              <a:chOff x="1776" y="3024"/>
              <a:chExt cx="3929" cy="1290"/>
            </a:xfrm>
          </p:grpSpPr>
          <p:grpSp>
            <p:nvGrpSpPr>
              <p:cNvPr id="7" name="Group 1029"/>
              <p:cNvGrpSpPr>
                <a:grpSpLocks/>
              </p:cNvGrpSpPr>
              <p:nvPr/>
            </p:nvGrpSpPr>
            <p:grpSpPr bwMode="auto">
              <a:xfrm>
                <a:off x="2268" y="3934"/>
                <a:ext cx="638" cy="377"/>
                <a:chOff x="2268" y="3934"/>
                <a:chExt cx="638" cy="377"/>
              </a:xfrm>
            </p:grpSpPr>
            <p:sp>
              <p:nvSpPr>
                <p:cNvPr id="60"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1"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2"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3"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4"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5"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6"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67"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8"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9"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0"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1"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2"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13"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4"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5"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6"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7"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8"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19"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0"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1"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2"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3"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4"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5"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6"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7"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8"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29"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0"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1"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2"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3"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4"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5"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6"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7"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8"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39"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0"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1"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2"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3"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4"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5"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6"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47"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48" name="Group 1078"/>
              <p:cNvGrpSpPr>
                <a:grpSpLocks/>
              </p:cNvGrpSpPr>
              <p:nvPr/>
            </p:nvGrpSpPr>
            <p:grpSpPr bwMode="auto">
              <a:xfrm>
                <a:off x="4546" y="3608"/>
                <a:ext cx="518" cy="319"/>
                <a:chOff x="4546" y="3608"/>
                <a:chExt cx="518" cy="319"/>
              </a:xfrm>
            </p:grpSpPr>
            <p:sp>
              <p:nvSpPr>
                <p:cNvPr id="54"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5"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6"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7"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8"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9"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49" name="Group 1085"/>
              <p:cNvGrpSpPr>
                <a:grpSpLocks/>
              </p:cNvGrpSpPr>
              <p:nvPr/>
            </p:nvGrpSpPr>
            <p:grpSpPr bwMode="auto">
              <a:xfrm>
                <a:off x="5381" y="3085"/>
                <a:ext cx="227" cy="132"/>
                <a:chOff x="5381" y="3085"/>
                <a:chExt cx="227" cy="132"/>
              </a:xfrm>
            </p:grpSpPr>
            <p:sp>
              <p:nvSpPr>
                <p:cNvPr id="50"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1"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2"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53"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80962" name="Rectangle 1090"/>
          <p:cNvSpPr>
            <a:spLocks noGrp="1" noChangeArrowheads="1"/>
          </p:cNvSpPr>
          <p:nvPr>
            <p:ph type="ctrTitle" sz="quarter"/>
          </p:nvPr>
        </p:nvSpPr>
        <p:spPr>
          <a:xfrm>
            <a:off x="685800" y="1692275"/>
            <a:ext cx="7772400" cy="1736725"/>
          </a:xfrm>
        </p:spPr>
        <p:txBody>
          <a:bodyPr anchor="b"/>
          <a:lstStyle>
            <a:lvl1pPr>
              <a:defRPr sz="5400"/>
            </a:lvl1pPr>
          </a:lstStyle>
          <a:p>
            <a:r>
              <a:rPr lang="en-US"/>
              <a:t>Click to edit Master title style</a:t>
            </a:r>
          </a:p>
        </p:txBody>
      </p:sp>
      <p:sp>
        <p:nvSpPr>
          <p:cNvPr id="80963" name="Rectangle 1091"/>
          <p:cNvSpPr>
            <a:spLocks noGrp="1" noChangeArrowheads="1"/>
          </p:cNvSpPr>
          <p:nvPr>
            <p:ph type="subTitle" sz="quarter"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
        <p:nvSpPr>
          <p:cNvPr id="68" name="Rectangle 1092"/>
          <p:cNvSpPr>
            <a:spLocks noGrp="1" noChangeArrowheads="1"/>
          </p:cNvSpPr>
          <p:nvPr>
            <p:ph type="dt" sz="quarter" idx="10"/>
          </p:nvPr>
        </p:nvSpPr>
        <p:spPr/>
        <p:txBody>
          <a:bodyPr/>
          <a:lstStyle>
            <a:lvl1pPr>
              <a:defRPr/>
            </a:lvl1pPr>
          </a:lstStyle>
          <a:p>
            <a:pPr>
              <a:defRPr/>
            </a:pPr>
            <a:endParaRPr lang="en-US" dirty="0"/>
          </a:p>
        </p:txBody>
      </p:sp>
      <p:sp>
        <p:nvSpPr>
          <p:cNvPr id="69" name="Rectangle 1093"/>
          <p:cNvSpPr>
            <a:spLocks noGrp="1" noChangeArrowheads="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70" name="Rectangle 1094"/>
          <p:cNvSpPr>
            <a:spLocks noGrp="1" noChangeArrowheads="1"/>
          </p:cNvSpPr>
          <p:nvPr>
            <p:ph type="sldNum" sz="quarter" idx="12"/>
          </p:nvPr>
        </p:nvSpPr>
        <p:spPr/>
        <p:txBody>
          <a:bodyPr/>
          <a:lstStyle>
            <a:lvl1pPr>
              <a:defRPr/>
            </a:lvl1pPr>
          </a:lstStyle>
          <a:p>
            <a:pPr>
              <a:defRPr/>
            </a:pPr>
            <a:fld id="{54D53FF6-F887-334B-A7F5-CDD5AC336DF3}"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idx="1"/>
          </p:nvPr>
        </p:nvSpPr>
        <p:spPr/>
        <p:txBody>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7595FBC4-EA25-7C40-BD4F-92F30FCA794D}"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AU"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smtClean="0"/>
              <a:t>Click to edit Master text styles</a:t>
            </a:r>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75DA8427-5757-5E4C-AF83-43798829DFF8}"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Content Placeholder 2"/>
          <p:cNvSpPr>
            <a:spLocks noGrp="1"/>
          </p:cNvSpPr>
          <p:nvPr>
            <p:ph sz="half" idx="1"/>
          </p:nvPr>
        </p:nvSpPr>
        <p:spPr>
          <a:xfrm>
            <a:off x="457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Content Placeholder 3"/>
          <p:cNvSpPr>
            <a:spLocks noGrp="1"/>
          </p:cNvSpPr>
          <p:nvPr>
            <p:ph sz="half" idx="2"/>
          </p:nvPr>
        </p:nvSpPr>
        <p:spPr>
          <a:xfrm>
            <a:off x="4648200" y="1676400"/>
            <a:ext cx="40386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1093"/>
          <p:cNvSpPr>
            <a:spLocks noGrp="1" noChangeArrowheads="1"/>
          </p:cNvSpPr>
          <p:nvPr>
            <p:ph type="sldNum" sz="quarter" idx="12"/>
          </p:nvPr>
        </p:nvSpPr>
        <p:spPr>
          <a:ln/>
        </p:spPr>
        <p:txBody>
          <a:bodyPr/>
          <a:lstStyle>
            <a:lvl1pPr>
              <a:defRPr/>
            </a:lvl1pPr>
          </a:lstStyle>
          <a:p>
            <a:pPr>
              <a:defRPr/>
            </a:pPr>
            <a:fld id="{8887E93A-86D1-2C4A-B588-E6A79FEE085A}"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AU"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7"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8"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9" name="Rectangle 1093"/>
          <p:cNvSpPr>
            <a:spLocks noGrp="1" noChangeArrowheads="1"/>
          </p:cNvSpPr>
          <p:nvPr>
            <p:ph type="sldNum" sz="quarter" idx="12"/>
          </p:nvPr>
        </p:nvSpPr>
        <p:spPr>
          <a:ln/>
        </p:spPr>
        <p:txBody>
          <a:bodyPr/>
          <a:lstStyle>
            <a:lvl1pPr>
              <a:defRPr/>
            </a:lvl1pPr>
          </a:lstStyle>
          <a:p>
            <a:pPr>
              <a:defRPr/>
            </a:pPr>
            <a:fld id="{9A13BD78-BC68-8744-A7AE-E054D80EDE2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4"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5" name="Rectangle 1093"/>
          <p:cNvSpPr>
            <a:spLocks noGrp="1" noChangeArrowheads="1"/>
          </p:cNvSpPr>
          <p:nvPr>
            <p:ph type="sldNum" sz="quarter" idx="12"/>
          </p:nvPr>
        </p:nvSpPr>
        <p:spPr>
          <a:ln/>
        </p:spPr>
        <p:txBody>
          <a:bodyPr/>
          <a:lstStyle>
            <a:lvl1pPr>
              <a:defRPr/>
            </a:lvl1pPr>
          </a:lstStyle>
          <a:p>
            <a:pPr>
              <a:defRPr/>
            </a:pPr>
            <a:fld id="{4CE09236-ECDF-9141-93C6-0959324BADB5}"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3"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4" name="Rectangle 1093"/>
          <p:cNvSpPr>
            <a:spLocks noGrp="1" noChangeArrowheads="1"/>
          </p:cNvSpPr>
          <p:nvPr>
            <p:ph type="sldNum" sz="quarter" idx="12"/>
          </p:nvPr>
        </p:nvSpPr>
        <p:spPr>
          <a:ln/>
        </p:spPr>
        <p:txBody>
          <a:bodyPr/>
          <a:lstStyle>
            <a:lvl1pPr>
              <a:defRPr/>
            </a:lvl1pPr>
          </a:lstStyle>
          <a:p>
            <a:pPr>
              <a:defRPr/>
            </a:pPr>
            <a:fld id="{6D27869B-283C-F14A-880D-BE8171DE696C}"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AU"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1093"/>
          <p:cNvSpPr>
            <a:spLocks noGrp="1" noChangeArrowheads="1"/>
          </p:cNvSpPr>
          <p:nvPr>
            <p:ph type="sldNum" sz="quarter" idx="12"/>
          </p:nvPr>
        </p:nvSpPr>
        <p:spPr>
          <a:ln/>
        </p:spPr>
        <p:txBody>
          <a:bodyPr/>
          <a:lstStyle>
            <a:lvl1pPr>
              <a:defRPr/>
            </a:lvl1pPr>
          </a:lstStyle>
          <a:p>
            <a:pPr>
              <a:defRPr/>
            </a:pPr>
            <a:fld id="{F0F8B82F-90F6-6647-845A-3CD5F8323CDC}"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AU"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smtClean="0"/>
              <a:t>Click to edit Master text styles</a:t>
            </a:r>
          </a:p>
        </p:txBody>
      </p:sp>
      <p:sp>
        <p:nvSpPr>
          <p:cNvPr id="5"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6"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7" name="Rectangle 1093"/>
          <p:cNvSpPr>
            <a:spLocks noGrp="1" noChangeArrowheads="1"/>
          </p:cNvSpPr>
          <p:nvPr>
            <p:ph type="sldNum" sz="quarter" idx="12"/>
          </p:nvPr>
        </p:nvSpPr>
        <p:spPr>
          <a:ln/>
        </p:spPr>
        <p:txBody>
          <a:bodyPr/>
          <a:lstStyle>
            <a:lvl1pPr>
              <a:defRPr/>
            </a:lvl1pPr>
          </a:lstStyle>
          <a:p>
            <a:pPr>
              <a:defRPr/>
            </a:pPr>
            <a:fld id="{39A8A4B1-9FC3-3E4B-9D0A-6163BE37C477}"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9B0DC263-BC9F-CA4D-B318-E424DD9E02BC}"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AU"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endParaRPr lang="en-US"/>
          </a:p>
        </p:txBody>
      </p:sp>
      <p:sp>
        <p:nvSpPr>
          <p:cNvPr id="4" name="Rectangle 1091"/>
          <p:cNvSpPr>
            <a:spLocks noGrp="1" noChangeArrowheads="1"/>
          </p:cNvSpPr>
          <p:nvPr>
            <p:ph type="dt" sz="half" idx="10"/>
          </p:nvPr>
        </p:nvSpPr>
        <p:spPr>
          <a:ln/>
        </p:spPr>
        <p:txBody>
          <a:bodyPr/>
          <a:lstStyle>
            <a:lvl1pPr>
              <a:defRPr/>
            </a:lvl1pPr>
          </a:lstStyle>
          <a:p>
            <a:pPr>
              <a:defRPr/>
            </a:pPr>
            <a:endParaRPr lang="en-US" dirty="0"/>
          </a:p>
        </p:txBody>
      </p:sp>
      <p:sp>
        <p:nvSpPr>
          <p:cNvPr id="5" name="Rectangle 1092"/>
          <p:cNvSpPr>
            <a:spLocks noGrp="1" noChangeArrowheads="1"/>
          </p:cNvSpPr>
          <p:nvPr>
            <p:ph type="ftr" sz="quarter" idx="11"/>
          </p:nvPr>
        </p:nvSpPr>
        <p:spPr>
          <a:ln/>
        </p:spPr>
        <p:txBody>
          <a:bodyPr/>
          <a:lstStyle>
            <a:lvl1pPr>
              <a:defRPr/>
            </a:lvl1pPr>
          </a:lstStyle>
          <a:p>
            <a:pPr>
              <a:defRPr/>
            </a:pPr>
            <a:r>
              <a:rPr lang="en-US" smtClean="0"/>
              <a:t>© 2017 Pearson Education, Inc., Hoboken, NJ. All rights reserved. </a:t>
            </a:r>
            <a:endParaRPr lang="en-US" dirty="0"/>
          </a:p>
        </p:txBody>
      </p:sp>
      <p:sp>
        <p:nvSpPr>
          <p:cNvPr id="6" name="Rectangle 1093"/>
          <p:cNvSpPr>
            <a:spLocks noGrp="1" noChangeArrowheads="1"/>
          </p:cNvSpPr>
          <p:nvPr>
            <p:ph type="sldNum" sz="quarter" idx="12"/>
          </p:nvPr>
        </p:nvSpPr>
        <p:spPr>
          <a:ln/>
        </p:spPr>
        <p:txBody>
          <a:bodyPr/>
          <a:lstStyle>
            <a:lvl1pPr>
              <a:defRPr/>
            </a:lvl1pPr>
          </a:lstStyle>
          <a:p>
            <a:pPr>
              <a:defRPr/>
            </a:pPr>
            <a:fld id="{9C3A6ED9-9462-804F-B929-A873B68CBC0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5"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7" name="Group 16"/>
          <p:cNvGrpSpPr>
            <a:grpSpLocks/>
          </p:cNvGrpSpPr>
          <p:nvPr/>
        </p:nvGrpSpPr>
        <p:grpSpPr bwMode="auto">
          <a:xfrm>
            <a:off x="7546975" y="0"/>
            <a:ext cx="1597025" cy="6858000"/>
            <a:chOff x="7413812" y="0"/>
            <a:chExt cx="1597734" cy="6858000"/>
          </a:xfrm>
        </p:grpSpPr>
        <p:pic>
          <p:nvPicPr>
            <p:cNvPr id="8"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9"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1" name="Date Placeholder 3"/>
          <p:cNvSpPr>
            <a:spLocks noGrp="1"/>
          </p:cNvSpPr>
          <p:nvPr>
            <p:ph type="dt" sz="half" idx="10"/>
          </p:nvPr>
        </p:nvSpPr>
        <p:spPr>
          <a:xfrm>
            <a:off x="5257800" y="6356350"/>
            <a:ext cx="2133600" cy="365125"/>
          </a:xfrm>
        </p:spPr>
        <p:txBody>
          <a:bodyPr/>
          <a:lstStyle>
            <a:lvl1pPr>
              <a:defRPr smtClean="0">
                <a:solidFill>
                  <a:schemeClr val="tx2"/>
                </a:solidFill>
              </a:defRPr>
            </a:lvl1pPr>
          </a:lstStyle>
          <a:p>
            <a:pPr>
              <a:defRPr/>
            </a:pPr>
            <a:endParaRPr lang="en-US" dirty="0"/>
          </a:p>
        </p:txBody>
      </p:sp>
      <p:sp>
        <p:nvSpPr>
          <p:cNvPr id="12" name="Footer Placeholder 4"/>
          <p:cNvSpPr>
            <a:spLocks noGrp="1"/>
          </p:cNvSpPr>
          <p:nvPr>
            <p:ph type="ftr" sz="quarter" idx="11"/>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ED48F9B-91BA-5241-927F-DFD69C82FCF7}" type="slidenum">
              <a:rPr lang="en-US"/>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bg>
      <p:bgRef idx="1002">
        <a:schemeClr val="bg2"/>
      </p:bgRef>
    </p:bg>
    <p:spTree>
      <p:nvGrpSpPr>
        <p:cNvPr id="1" name=""/>
        <p:cNvGrpSpPr/>
        <p:nvPr/>
      </p:nvGrpSpPr>
      <p:grpSpPr>
        <a:xfrm>
          <a:off x="0" y="0"/>
          <a:ext cx="0" cy="0"/>
          <a:chOff x="0" y="0"/>
          <a:chExt cx="0" cy="0"/>
        </a:xfrm>
      </p:grpSpPr>
      <p:grpSp>
        <p:nvGrpSpPr>
          <p:cNvPr id="4" name="Group 15"/>
          <p:cNvGrpSpPr>
            <a:grpSpLocks/>
          </p:cNvGrpSpPr>
          <p:nvPr/>
        </p:nvGrpSpPr>
        <p:grpSpPr bwMode="auto">
          <a:xfrm>
            <a:off x="0" y="0"/>
            <a:ext cx="1581150" cy="6858000"/>
            <a:chOff x="134471" y="0"/>
            <a:chExt cx="1581220" cy="6858000"/>
          </a:xfrm>
        </p:grpSpPr>
        <p:pic>
          <p:nvPicPr>
            <p:cNvPr id="6" name="Picture 7" descr="Overlay-Blank.jpg"/>
            <p:cNvPicPr>
              <a:picLocks noChangeAspect="1"/>
            </p:cNvPicPr>
            <p:nvPr userDrawn="1"/>
          </p:nvPicPr>
          <p:blipFill>
            <a:blip r:embed="rId2"/>
            <a:srcRect l="1471" r="83676"/>
            <a:stretch>
              <a:fillRect/>
            </a:stretch>
          </p:blipFill>
          <p:spPr bwMode="auto">
            <a:xfrm>
              <a:off x="134471" y="0"/>
              <a:ext cx="1358153"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a:off x="1447800" y="0"/>
              <a:ext cx="267891" cy="6858000"/>
            </a:xfrm>
            <a:prstGeom prst="rect">
              <a:avLst/>
            </a:prstGeom>
            <a:noFill/>
            <a:ln w="9525">
              <a:noFill/>
              <a:miter lim="800000"/>
              <a:headEnd/>
              <a:tailEnd/>
            </a:ln>
          </p:spPr>
        </p:pic>
      </p:grpSp>
      <p:grpSp>
        <p:nvGrpSpPr>
          <p:cNvPr id="5" name="Group 16"/>
          <p:cNvGrpSpPr>
            <a:grpSpLocks/>
          </p:cNvGrpSpPr>
          <p:nvPr/>
        </p:nvGrpSpPr>
        <p:grpSpPr bwMode="auto">
          <a:xfrm>
            <a:off x="7546975" y="0"/>
            <a:ext cx="1597025" cy="6858000"/>
            <a:chOff x="7413812" y="0"/>
            <a:chExt cx="1597734" cy="6858000"/>
          </a:xfrm>
        </p:grpSpPr>
        <p:pic>
          <p:nvPicPr>
            <p:cNvPr id="9" name="Picture 10" descr="Overlay-Blank.jpg"/>
            <p:cNvPicPr>
              <a:picLocks noChangeAspect="1"/>
            </p:cNvPicPr>
            <p:nvPr userDrawn="1"/>
          </p:nvPicPr>
          <p:blipFill>
            <a:blip r:embed="rId2"/>
            <a:srcRect r="85126"/>
            <a:stretch>
              <a:fillRect/>
            </a:stretch>
          </p:blipFill>
          <p:spPr bwMode="auto">
            <a:xfrm>
              <a:off x="7651376" y="0"/>
              <a:ext cx="1360170" cy="6858000"/>
            </a:xfrm>
            <a:prstGeom prst="rect">
              <a:avLst/>
            </a:prstGeom>
            <a:noFill/>
            <a:ln w="9525">
              <a:noFill/>
              <a:miter lim="800000"/>
              <a:headEnd/>
              <a:tailEnd/>
            </a:ln>
          </p:spPr>
        </p:pic>
        <p:pic>
          <p:nvPicPr>
            <p:cNvPr id="10" name="Picture 11" descr="Overlay-VerticalBridge.jpg"/>
            <p:cNvPicPr>
              <a:picLocks noChangeAspect="1"/>
            </p:cNvPicPr>
            <p:nvPr userDrawn="1"/>
          </p:nvPicPr>
          <p:blipFill>
            <a:blip r:embed="rId3"/>
            <a:srcRect/>
            <a:stretch>
              <a:fillRect/>
            </a:stretch>
          </p:blipFill>
          <p:spPr bwMode="auto">
            <a:xfrm flipH="1">
              <a:off x="7413812" y="0"/>
              <a:ext cx="267891" cy="6858000"/>
            </a:xfrm>
            <a:prstGeom prst="rect">
              <a:avLst/>
            </a:prstGeom>
            <a:noFill/>
            <a:ln w="9525">
              <a:noFill/>
              <a:miter lim="800000"/>
              <a:headEnd/>
              <a:tailEnd/>
            </a:ln>
          </p:spPr>
        </p:pic>
      </p:grpSp>
      <p:pic>
        <p:nvPicPr>
          <p:cNvPr id="11" name="Picture 12" descr="HR-Color.png"/>
          <p:cNvPicPr>
            <a:picLocks noChangeAspect="1"/>
          </p:cNvPicPr>
          <p:nvPr/>
        </p:nvPicPr>
        <p:blipFill>
          <a:blip r:embed="rId4"/>
          <a:srcRect/>
          <a:stretch>
            <a:fillRect/>
          </a:stretch>
        </p:blipFill>
        <p:spPr bwMode="auto">
          <a:xfrm>
            <a:off x="1554163" y="4841875"/>
            <a:ext cx="6035675" cy="339725"/>
          </a:xfrm>
          <a:prstGeom prst="rect">
            <a:avLst/>
          </a:prstGeom>
          <a:noFill/>
          <a:ln w="9525">
            <a:noFill/>
            <a:miter lim="800000"/>
            <a:headEnd/>
            <a:tailEnd/>
          </a:ln>
        </p:spPr>
      </p:pic>
      <p:sp>
        <p:nvSpPr>
          <p:cNvPr id="2" name="Title 1"/>
          <p:cNvSpPr>
            <a:spLocks noGrp="1"/>
          </p:cNvSpPr>
          <p:nvPr>
            <p:ph type="ctrTitle"/>
          </p:nvPr>
        </p:nvSpPr>
        <p:spPr>
          <a:xfrm>
            <a:off x="1854200" y="3693645"/>
            <a:ext cx="5446713" cy="1470025"/>
          </a:xfrm>
        </p:spPr>
        <p:txBody>
          <a:bodyPr anchor="b"/>
          <a:lstStyle>
            <a:lvl1pPr>
              <a:lnSpc>
                <a:spcPts val="6800"/>
              </a:lnSpc>
              <a:defRPr sz="6500">
                <a:latin typeface="+mj-lt"/>
              </a:defRPr>
            </a:lvl1pPr>
          </a:lstStyle>
          <a:p>
            <a:r>
              <a:rPr lang="en-US" smtClean="0"/>
              <a:t>Click to edit Master title style</a:t>
            </a:r>
            <a:endParaRPr/>
          </a:p>
        </p:txBody>
      </p:sp>
      <p:sp>
        <p:nvSpPr>
          <p:cNvPr id="3" name="Subtitle 2"/>
          <p:cNvSpPr>
            <a:spLocks noGrp="1"/>
          </p:cNvSpPr>
          <p:nvPr>
            <p:ph type="subTitle" idx="1"/>
          </p:nvPr>
        </p:nvSpPr>
        <p:spPr>
          <a:xfrm>
            <a:off x="1854200" y="5204011"/>
            <a:ext cx="5446713" cy="851647"/>
          </a:xfrm>
        </p:spPr>
        <p:txBody>
          <a:bodyPr>
            <a:normAutofit/>
          </a:bodyPr>
          <a:lstStyle>
            <a:lvl1pPr marL="0" indent="0" algn="ctr">
              <a:spcBef>
                <a:spcPts val="300"/>
              </a:spcBef>
              <a:buNone/>
              <a:defRPr sz="1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14" name="Picture Placeholder 13"/>
          <p:cNvSpPr>
            <a:spLocks noGrp="1"/>
          </p:cNvSpPr>
          <p:nvPr>
            <p:ph type="pic" sz="quarter" idx="12"/>
          </p:nvPr>
        </p:nvSpPr>
        <p:spPr>
          <a:xfrm>
            <a:off x="3307977" y="950260"/>
            <a:ext cx="2528046" cy="2528046"/>
          </a:xfrm>
          <a:prstGeom prst="ellipse">
            <a:avLst/>
          </a:prstGeom>
          <a:solidFill>
            <a:schemeClr val="bg1">
              <a:lumMod val="85000"/>
            </a:schemeClr>
          </a:solidFill>
          <a:ln w="101600">
            <a:noFill/>
            <a:miter lim="800000"/>
          </a:ln>
          <a:effectLst>
            <a:innerShdw blurRad="762000">
              <a:schemeClr val="accent1">
                <a:alpha val="80000"/>
              </a:schemeClr>
            </a:innerShdw>
            <a:softEdge rad="317500"/>
          </a:effectLst>
        </p:spPr>
        <p:txBody>
          <a:bodyPr rtlCol="0">
            <a:normAutofit/>
          </a:bodyPr>
          <a:lstStyle>
            <a:lvl1pPr marL="0" indent="0" algn="ctr" defTabSz="914400" rtl="0" eaLnBrk="1" latinLnBrk="0" hangingPunct="1">
              <a:spcBef>
                <a:spcPts val="2400"/>
              </a:spcBef>
              <a:buClr>
                <a:schemeClr val="accent1">
                  <a:lumMod val="60000"/>
                  <a:lumOff val="40000"/>
                </a:schemeClr>
              </a:buClr>
              <a:buFont typeface="Candara" pitchFamily="34" charset="0"/>
              <a:buNone/>
              <a:defRPr sz="2400" kern="1200">
                <a:solidFill>
                  <a:schemeClr val="tx2"/>
                </a:solidFill>
                <a:latin typeface="+mn-lt"/>
                <a:ea typeface="+mn-ea"/>
                <a:cs typeface="+mn-cs"/>
              </a:defRPr>
            </a:lvl1pPr>
          </a:lstStyle>
          <a:p>
            <a:pPr lvl="0"/>
            <a:r>
              <a:rPr lang="en-US" noProof="0" dirty="0" smtClean="0"/>
              <a:t>Click icon to add picture</a:t>
            </a:r>
            <a:endParaRPr noProof="0" dirty="0"/>
          </a:p>
        </p:txBody>
      </p:sp>
      <p:sp>
        <p:nvSpPr>
          <p:cNvPr id="12" name="Date Placeholder 3"/>
          <p:cNvSpPr>
            <a:spLocks noGrp="1"/>
          </p:cNvSpPr>
          <p:nvPr>
            <p:ph type="dt" sz="half" idx="13"/>
          </p:nvPr>
        </p:nvSpPr>
        <p:spPr>
          <a:xfrm>
            <a:off x="5257800" y="6356350"/>
            <a:ext cx="2133600" cy="365125"/>
          </a:xfrm>
        </p:spPr>
        <p:txBody>
          <a:bodyPr/>
          <a:lstStyle>
            <a:lvl1pPr>
              <a:defRPr dirty="0">
                <a:solidFill>
                  <a:schemeClr val="tx2"/>
                </a:solidFill>
              </a:defRPr>
            </a:lvl1pPr>
          </a:lstStyle>
          <a:p>
            <a:pPr>
              <a:defRPr/>
            </a:pPr>
            <a:endParaRPr lang="en-US" dirty="0"/>
          </a:p>
        </p:txBody>
      </p:sp>
      <p:sp>
        <p:nvSpPr>
          <p:cNvPr id="13" name="Footer Placeholder 4"/>
          <p:cNvSpPr>
            <a:spLocks noGrp="1"/>
          </p:cNvSpPr>
          <p:nvPr>
            <p:ph type="ftr" sz="quarter" idx="14"/>
          </p:nvPr>
        </p:nvSpPr>
        <p:spPr>
          <a:xfrm>
            <a:off x="1752600" y="6356350"/>
            <a:ext cx="2895600" cy="365125"/>
          </a:xfrm>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bg>
      <p:bgRef idx="1003">
        <a:schemeClr val="bg2"/>
      </p:bgRef>
    </p:bg>
    <p:spTree>
      <p:nvGrpSpPr>
        <p:cNvPr id="1" name=""/>
        <p:cNvGrpSpPr/>
        <p:nvPr/>
      </p:nvGrpSpPr>
      <p:grpSpPr>
        <a:xfrm>
          <a:off x="0" y="0"/>
          <a:ext cx="0" cy="0"/>
          <a:chOff x="0" y="0"/>
          <a:chExt cx="0" cy="0"/>
        </a:xfrm>
      </p:grpSpPr>
      <p:grpSp>
        <p:nvGrpSpPr>
          <p:cNvPr id="4" name="Group 9"/>
          <p:cNvGrpSpPr>
            <a:grpSpLocks/>
          </p:cNvGrpSpPr>
          <p:nvPr/>
        </p:nvGrpSpPr>
        <p:grpSpPr bwMode="auto">
          <a:xfrm>
            <a:off x="0" y="0"/>
            <a:ext cx="9144000" cy="1190625"/>
            <a:chOff x="0" y="0"/>
            <a:chExt cx="9144000" cy="1191256"/>
          </a:xfrm>
        </p:grpSpPr>
        <p:pic>
          <p:nvPicPr>
            <p:cNvPr id="5" name="Picture 7"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grpSp>
        <p:nvGrpSpPr>
          <p:cNvPr id="7" name="Group 10"/>
          <p:cNvGrpSpPr>
            <a:grpSpLocks/>
          </p:cNvGrpSpPr>
          <p:nvPr/>
        </p:nvGrpSpPr>
        <p:grpSpPr bwMode="auto">
          <a:xfrm flipV="1">
            <a:off x="0" y="5667375"/>
            <a:ext cx="9144000" cy="1190625"/>
            <a:chOff x="0" y="0"/>
            <a:chExt cx="9144000" cy="1191256"/>
          </a:xfrm>
        </p:grpSpPr>
        <p:pic>
          <p:nvPicPr>
            <p:cNvPr id="8" name="Picture 10" descr="Overlay-Blank.jpg"/>
            <p:cNvPicPr>
              <a:picLocks noChangeAspect="1"/>
            </p:cNvPicPr>
            <p:nvPr userDrawn="1"/>
          </p:nvPicPr>
          <p:blipFill>
            <a:blip r:embed="rId2"/>
            <a:srcRect b="85555"/>
            <a:stretch>
              <a:fillRect/>
            </a:stretch>
          </p:blipFill>
          <p:spPr bwMode="auto">
            <a:xfrm>
              <a:off x="0" y="0"/>
              <a:ext cx="9144000" cy="990600"/>
            </a:xfrm>
            <a:prstGeom prst="rect">
              <a:avLst/>
            </a:prstGeom>
            <a:noFill/>
            <a:ln w="9525">
              <a:noFill/>
              <a:miter lim="800000"/>
              <a:headEnd/>
              <a:tailEnd/>
            </a:ln>
          </p:spPr>
        </p:pic>
        <p:pic>
          <p:nvPicPr>
            <p:cNvPr id="9" name="Picture 11" descr="Overlay-HorizontalBridge.jpg"/>
            <p:cNvPicPr>
              <a:picLocks noChangeAspect="1"/>
            </p:cNvPicPr>
            <p:nvPr userDrawn="1"/>
          </p:nvPicPr>
          <p:blipFill>
            <a:blip r:embed="rId3"/>
            <a:srcRect/>
            <a:stretch>
              <a:fillRect/>
            </a:stretch>
          </p:blipFill>
          <p:spPr bwMode="auto">
            <a:xfrm flipV="1">
              <a:off x="0" y="923365"/>
              <a:ext cx="9144000" cy="267891"/>
            </a:xfrm>
            <a:prstGeom prst="rect">
              <a:avLst/>
            </a:prstGeom>
            <a:noFill/>
            <a:ln w="9525">
              <a:noFill/>
              <a:miter lim="800000"/>
              <a:headEnd/>
              <a:tailEnd/>
            </a:ln>
          </p:spPr>
        </p:pic>
      </p:grpSp>
      <p:pic>
        <p:nvPicPr>
          <p:cNvPr id="10" name="Picture 12" descr="HR-Color.png"/>
          <p:cNvPicPr>
            <a:picLocks noChangeAspect="1"/>
          </p:cNvPicPr>
          <p:nvPr/>
        </p:nvPicPr>
        <p:blipFill>
          <a:blip r:embed="rId4"/>
          <a:srcRect/>
          <a:stretch>
            <a:fillRect/>
          </a:stretch>
        </p:blipFill>
        <p:spPr bwMode="auto">
          <a:xfrm>
            <a:off x="1554163" y="3259138"/>
            <a:ext cx="6035675" cy="339725"/>
          </a:xfrm>
          <a:prstGeom prst="rect">
            <a:avLst/>
          </a:prstGeom>
          <a:noFill/>
          <a:ln w="9525">
            <a:noFill/>
            <a:miter lim="800000"/>
            <a:headEnd/>
            <a:tailEnd/>
          </a:ln>
        </p:spPr>
      </p:pic>
      <p:sp>
        <p:nvSpPr>
          <p:cNvPr id="2" name="Title 1"/>
          <p:cNvSpPr>
            <a:spLocks noGrp="1"/>
          </p:cNvSpPr>
          <p:nvPr>
            <p:ph type="title"/>
          </p:nvPr>
        </p:nvSpPr>
        <p:spPr>
          <a:xfrm>
            <a:off x="1854200" y="1851212"/>
            <a:ext cx="5446714" cy="1730375"/>
          </a:xfrm>
        </p:spPr>
        <p:txBody>
          <a:bodyPr anchor="b"/>
          <a:lstStyle>
            <a:lvl1pPr algn="ctr">
              <a:lnSpc>
                <a:spcPts val="6800"/>
              </a:lnSpc>
              <a:defRPr sz="6500" b="0" cap="none" baseline="0">
                <a:latin typeface="+mj-lt"/>
              </a:defRPr>
            </a:lvl1pPr>
          </a:lstStyle>
          <a:p>
            <a:r>
              <a:rPr lang="en-US" smtClean="0"/>
              <a:t>Click to edit Master title style</a:t>
            </a:r>
            <a:endParaRPr/>
          </a:p>
        </p:txBody>
      </p:sp>
      <p:sp>
        <p:nvSpPr>
          <p:cNvPr id="3" name="Text Placeholder 2"/>
          <p:cNvSpPr>
            <a:spLocks noGrp="1"/>
          </p:cNvSpPr>
          <p:nvPr>
            <p:ph type="body" idx="1"/>
          </p:nvPr>
        </p:nvSpPr>
        <p:spPr>
          <a:xfrm>
            <a:off x="1854200" y="3576918"/>
            <a:ext cx="5446714" cy="829982"/>
          </a:xfrm>
        </p:spPr>
        <p:txBody>
          <a:bodyPr>
            <a:normAutofit/>
          </a:bodyPr>
          <a:lstStyle>
            <a:lvl1pPr marL="0" indent="0" algn="ctr">
              <a:spcBef>
                <a:spcPts val="300"/>
              </a:spcBef>
              <a:buNone/>
              <a:defRPr sz="1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1" name="Date Placeholder 3"/>
          <p:cNvSpPr>
            <a:spLocks noGrp="1"/>
          </p:cNvSpPr>
          <p:nvPr>
            <p:ph type="dt" sz="half" idx="10"/>
          </p:nvPr>
        </p:nvSpPr>
        <p:spPr/>
        <p:txBody>
          <a:bodyPr/>
          <a:lstStyle>
            <a:lvl1pPr>
              <a:defRPr smtClean="0"/>
            </a:lvl1pPr>
          </a:lstStyle>
          <a:p>
            <a:pPr>
              <a:defRPr/>
            </a:pPr>
            <a:endParaRPr lang="en-US" dirty="0"/>
          </a:p>
        </p:txBody>
      </p:sp>
      <p:sp>
        <p:nvSpPr>
          <p:cNvPr id="12"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3" name="Slide Number Placeholder 5"/>
          <p:cNvSpPr>
            <a:spLocks noGrp="1"/>
          </p:cNvSpPr>
          <p:nvPr>
            <p:ph type="sldNum" sz="quarter" idx="12"/>
          </p:nvPr>
        </p:nvSpPr>
        <p:spPr/>
        <p:txBody>
          <a:bodyPr/>
          <a:lstStyle>
            <a:lvl1pPr>
              <a:defRPr/>
            </a:lvl1pPr>
          </a:lstStyle>
          <a:p>
            <a:pPr>
              <a:defRPr/>
            </a:pPr>
            <a:fld id="{EC3F0E40-9566-FF47-84D5-E4C9DFD1FA8E}" type="slidenum">
              <a:rPr lang="en-US"/>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grpSp>
        <p:nvGrpSpPr>
          <p:cNvPr id="5" name="Group 6"/>
          <p:cNvGrpSpPr>
            <a:grpSpLocks/>
          </p:cNvGrpSpPr>
          <p:nvPr/>
        </p:nvGrpSpPr>
        <p:grpSpPr bwMode="auto">
          <a:xfrm>
            <a:off x="0" y="1373188"/>
            <a:ext cx="9144000" cy="5484812"/>
            <a:chOff x="0" y="1372650"/>
            <a:chExt cx="9144000" cy="5485350"/>
          </a:xfrm>
        </p:grpSpPr>
        <p:pic>
          <p:nvPicPr>
            <p:cNvPr id="6"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7"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792162"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766534" y="1774825"/>
            <a:ext cx="3566160" cy="4303713"/>
          </a:xfrm>
        </p:spPr>
        <p:txBody>
          <a:bodyPr>
            <a:normAutofit/>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4FF0B399-20FE-C646-851D-65041BC80C79}" type="slidenum">
              <a:rPr lang="en-US"/>
              <a:pPr>
                <a:defRPr/>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grpSp>
        <p:nvGrpSpPr>
          <p:cNvPr id="7" name="Group 6"/>
          <p:cNvGrpSpPr>
            <a:grpSpLocks/>
          </p:cNvGrpSpPr>
          <p:nvPr/>
        </p:nvGrpSpPr>
        <p:grpSpPr bwMode="auto">
          <a:xfrm>
            <a:off x="0" y="1373188"/>
            <a:ext cx="9144000" cy="5484812"/>
            <a:chOff x="0" y="1372650"/>
            <a:chExt cx="9144000" cy="5485350"/>
          </a:xfrm>
        </p:grpSpPr>
        <p:pic>
          <p:nvPicPr>
            <p:cNvPr id="8"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9"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pic>
        <p:nvPicPr>
          <p:cNvPr id="10" name="Picture 9" descr="Overlay-HorizontalBridge.jpg"/>
          <p:cNvPicPr>
            <a:picLocks noChangeAspect="1"/>
          </p:cNvPicPr>
          <p:nvPr/>
        </p:nvPicPr>
        <p:blipFill>
          <a:blip r:embed="rId3"/>
          <a:srcRect t="23425" r="61031" b="39764"/>
          <a:stretch>
            <a:fillRect/>
          </a:stretch>
        </p:blipFill>
        <p:spPr>
          <a:xfrm>
            <a:off x="4765675" y="2460625"/>
            <a:ext cx="3563938" cy="98425"/>
          </a:xfrm>
          <a:prstGeom prst="rect">
            <a:avLst/>
          </a:prstGeom>
          <a:solidFill>
            <a:schemeClr val="bg2">
              <a:lumMod val="40000"/>
              <a:lumOff val="60000"/>
            </a:schemeClr>
          </a:solidFill>
        </p:spPr>
      </p:pic>
      <p:pic>
        <p:nvPicPr>
          <p:cNvPr id="11" name="Picture 10" descr="Overlay-HorizontalBridge.jpg"/>
          <p:cNvPicPr>
            <a:picLocks noChangeAspect="1"/>
          </p:cNvPicPr>
          <p:nvPr/>
        </p:nvPicPr>
        <p:blipFill>
          <a:blip r:embed="rId3"/>
          <a:srcRect t="23425" r="61031" b="39764"/>
          <a:stretch>
            <a:fillRect/>
          </a:stretch>
        </p:blipFill>
        <p:spPr>
          <a:xfrm>
            <a:off x="779463" y="2460625"/>
            <a:ext cx="3563937" cy="98425"/>
          </a:xfrm>
          <a:prstGeom prst="rect">
            <a:avLst/>
          </a:prstGeom>
          <a:solidFill>
            <a:schemeClr val="bg2">
              <a:lumMod val="40000"/>
              <a:lumOff val="60000"/>
            </a:schemeClr>
          </a:solidFill>
        </p:spPr>
      </p:pic>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777240"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77240"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4766048" y="1879320"/>
            <a:ext cx="3566160" cy="639762"/>
          </a:xfrm>
        </p:spPr>
        <p:txBody>
          <a:bodyPr anchor="b">
            <a:noAutofit/>
          </a:bodyPr>
          <a:lstStyle>
            <a:lvl1pPr marL="0" indent="0" algn="ctr">
              <a:spcBef>
                <a:spcPts val="0"/>
              </a:spcBef>
              <a:buNone/>
              <a:defRPr sz="2800" b="0">
                <a:solidFill>
                  <a:schemeClr val="tx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66048" y="2590799"/>
            <a:ext cx="3566160" cy="3487739"/>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2" name="Date Placeholder 6"/>
          <p:cNvSpPr>
            <a:spLocks noGrp="1"/>
          </p:cNvSpPr>
          <p:nvPr>
            <p:ph type="dt" sz="half" idx="10"/>
          </p:nvPr>
        </p:nvSpPr>
        <p:spPr/>
        <p:txBody>
          <a:bodyPr/>
          <a:lstStyle>
            <a:lvl1pPr>
              <a:defRPr/>
            </a:lvl1pPr>
          </a:lstStyle>
          <a:p>
            <a:pPr>
              <a:defRPr/>
            </a:pPr>
            <a:endParaRPr lang="en-US" dirty="0"/>
          </a:p>
        </p:txBody>
      </p:sp>
      <p:sp>
        <p:nvSpPr>
          <p:cNvPr id="13" name="Footer Placeholder 7"/>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4" name="Slide Number Placeholder 8"/>
          <p:cNvSpPr>
            <a:spLocks noGrp="1"/>
          </p:cNvSpPr>
          <p:nvPr>
            <p:ph type="sldNum" sz="quarter" idx="12"/>
          </p:nvPr>
        </p:nvSpPr>
        <p:spPr/>
        <p:txBody>
          <a:bodyPr/>
          <a:lstStyle>
            <a:lvl1pPr>
              <a:defRPr/>
            </a:lvl1pPr>
          </a:lstStyle>
          <a:p>
            <a:pPr>
              <a:defRPr/>
            </a:pPr>
            <a:fld id="{3E06906F-F82C-C24B-ADFB-A876A59C3E1B}" type="slidenum">
              <a:rPr lang="en-US"/>
              <a:pPr>
                <a:defRPr/>
              </a:pPr>
              <a:t>‹#›</a:t>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grpSp>
        <p:nvGrpSpPr>
          <p:cNvPr id="3" name="Group 6"/>
          <p:cNvGrpSpPr>
            <a:grpSpLocks/>
          </p:cNvGrpSpPr>
          <p:nvPr/>
        </p:nvGrpSpPr>
        <p:grpSpPr bwMode="auto">
          <a:xfrm>
            <a:off x="0" y="1373188"/>
            <a:ext cx="9144000" cy="5484812"/>
            <a:chOff x="0" y="1372650"/>
            <a:chExt cx="9144000" cy="5485350"/>
          </a:xfrm>
        </p:grpSpPr>
        <p:pic>
          <p:nvPicPr>
            <p:cNvPr id="4"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5"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6" name="Date Placeholder 2"/>
          <p:cNvSpPr>
            <a:spLocks noGrp="1"/>
          </p:cNvSpPr>
          <p:nvPr>
            <p:ph type="dt" sz="half" idx="10"/>
          </p:nvPr>
        </p:nvSpPr>
        <p:spPr/>
        <p:txBody>
          <a:bodyPr/>
          <a:lstStyle>
            <a:lvl1pPr>
              <a:defRPr/>
            </a:lvl1pPr>
          </a:lstStyle>
          <a:p>
            <a:pPr>
              <a:defRPr/>
            </a:pPr>
            <a:endParaRPr lang="en-US" dirty="0"/>
          </a:p>
        </p:txBody>
      </p:sp>
      <p:sp>
        <p:nvSpPr>
          <p:cNvPr id="7" name="Footer Placeholder 3"/>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4"/>
          <p:cNvSpPr>
            <a:spLocks noGrp="1"/>
          </p:cNvSpPr>
          <p:nvPr>
            <p:ph type="sldNum" sz="quarter" idx="12"/>
          </p:nvPr>
        </p:nvSpPr>
        <p:spPr/>
        <p:txBody>
          <a:bodyPr/>
          <a:lstStyle>
            <a:lvl1pPr>
              <a:defRPr/>
            </a:lvl1pPr>
          </a:lstStyle>
          <a:p>
            <a:pPr>
              <a:defRPr/>
            </a:pPr>
            <a:fld id="{2738C610-EA48-3F45-BACD-67F8C6BE9BE5}" type="slidenum">
              <a:rPr lang="en-US"/>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pic>
        <p:nvPicPr>
          <p:cNvPr id="2"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3" name="Date Placeholder 1"/>
          <p:cNvSpPr>
            <a:spLocks noGrp="1"/>
          </p:cNvSpPr>
          <p:nvPr>
            <p:ph type="dt" sz="half" idx="10"/>
          </p:nvPr>
        </p:nvSpPr>
        <p:spPr/>
        <p:txBody>
          <a:bodyPr/>
          <a:lstStyle>
            <a:lvl1pPr>
              <a:defRPr/>
            </a:lvl1pPr>
          </a:lstStyle>
          <a:p>
            <a:pPr>
              <a:defRPr/>
            </a:pPr>
            <a:endParaRPr lang="en-US" dirty="0"/>
          </a:p>
        </p:txBody>
      </p:sp>
      <p:sp>
        <p:nvSpPr>
          <p:cNvPr id="4" name="Footer Placeholder 2"/>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5" name="Slide Number Placeholder 3"/>
          <p:cNvSpPr>
            <a:spLocks noGrp="1"/>
          </p:cNvSpPr>
          <p:nvPr>
            <p:ph type="sldNum" sz="quarter" idx="12"/>
          </p:nvPr>
        </p:nvSpPr>
        <p:spPr/>
        <p:txBody>
          <a:bodyPr/>
          <a:lstStyle>
            <a:lvl1pPr>
              <a:defRPr/>
            </a:lvl1pPr>
          </a:lstStyle>
          <a:p>
            <a:pPr>
              <a:defRPr/>
            </a:pPr>
            <a:fld id="{7A0671E9-418D-2440-8FFC-982A85567CAA}" type="slidenum">
              <a:rPr lang="en-US"/>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grpSp>
        <p:nvGrpSpPr>
          <p:cNvPr id="5" name="Group 11"/>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776" cy="1537447"/>
          </a:xfrm>
        </p:spPr>
        <p:txBody>
          <a:bodyPr anchor="b"/>
          <a:lstStyle>
            <a:lvl1pPr algn="ctr">
              <a:lnSpc>
                <a:spcPct val="100000"/>
              </a:lnSpc>
              <a:defRPr sz="3600" b="0"/>
            </a:lvl1pPr>
          </a:lstStyle>
          <a:p>
            <a:r>
              <a:rPr lang="en-US" smtClean="0"/>
              <a:t>Click to edit Master title style</a:t>
            </a:r>
            <a:endParaRPr/>
          </a:p>
        </p:txBody>
      </p:sp>
      <p:sp>
        <p:nvSpPr>
          <p:cNvPr id="3" name="Content Placeholder 2"/>
          <p:cNvSpPr>
            <a:spLocks noGrp="1"/>
          </p:cNvSpPr>
          <p:nvPr>
            <p:ph idx="1"/>
          </p:nvPr>
        </p:nvSpPr>
        <p:spPr>
          <a:xfrm>
            <a:off x="4885859" y="381001"/>
            <a:ext cx="3813174" cy="5697537"/>
          </a:xfrm>
        </p:spPr>
        <p:txBody>
          <a:bodyPr>
            <a:normAutofit/>
          </a:bodyPr>
          <a:lstStyle>
            <a:lvl1pPr>
              <a:defRPr sz="2400" b="0"/>
            </a:lvl1pPr>
            <a:lvl2pPr>
              <a:defRPr sz="2200" b="0"/>
            </a:lvl2pPr>
            <a:lvl3pPr>
              <a:defRPr sz="2000" b="0"/>
            </a:lvl3pPr>
            <a:lvl4pPr>
              <a:defRPr sz="1800" b="0"/>
            </a:lvl4pPr>
            <a:lvl5pPr>
              <a:defRPr sz="1800" b="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00" y="2209801"/>
            <a:ext cx="3612776" cy="3200400"/>
          </a:xfrm>
        </p:spPr>
        <p:txBody>
          <a:bodyPr>
            <a:normAutofit/>
          </a:bodyPr>
          <a:lstStyle>
            <a:lvl1pPr marL="0" indent="0" algn="ctr">
              <a:buNone/>
              <a:defRPr sz="1800" b="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dirty="0">
                <a:solidFill>
                  <a:schemeClr val="tx2"/>
                </a:solidFill>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lgn="ctr">
              <a:defRPr smtClean="0">
                <a:solidFill>
                  <a:schemeClr val="tx2">
                    <a:lumMod val="40000"/>
                    <a:lumOff val="60000"/>
                  </a:schemeClr>
                </a:solidFill>
              </a:defRPr>
            </a:lvl1pPr>
          </a:lstStyle>
          <a:p>
            <a:pPr>
              <a:defRPr/>
            </a:pPr>
            <a:fld id="{8CA6F8B6-D79F-7D42-8296-26A8574CEF86}" type="slidenum">
              <a:rPr lang="en-US"/>
              <a:pPr>
                <a:defRPr/>
              </a:pPr>
              <a:t>‹#›</a:t>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pic>
        <p:nvPicPr>
          <p:cNvPr id="5" name="Picture 6" descr="Overlay-Blank.jpg"/>
          <p:cNvPicPr>
            <a:picLocks noChangeAspect="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solidFill>
              <a:schemeClr val="accent1">
                <a:lumMod val="40000"/>
                <a:lumOff val="60000"/>
                <a:alpha val="40000"/>
              </a:schemeClr>
            </a:solidFill>
            <a:miter lim="800000"/>
          </a:ln>
          <a:effectLst>
            <a:innerShdw blurRad="457200">
              <a:schemeClr val="accent1">
                <a:alpha val="80000"/>
              </a:schemeClr>
            </a:innerShdw>
            <a:softEdge rad="3175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dirty="0"/>
          </a:p>
        </p:txBody>
      </p:sp>
      <p:sp>
        <p:nvSpPr>
          <p:cNvPr id="7"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8" name="Slide Number Placeholder 6"/>
          <p:cNvSpPr>
            <a:spLocks noGrp="1"/>
          </p:cNvSpPr>
          <p:nvPr>
            <p:ph type="sldNum" sz="quarter" idx="12"/>
          </p:nvPr>
        </p:nvSpPr>
        <p:spPr/>
        <p:txBody>
          <a:bodyPr/>
          <a:lstStyle>
            <a:lvl1pPr>
              <a:defRPr/>
            </a:lvl1pPr>
          </a:lstStyle>
          <a:p>
            <a:pPr>
              <a:defRPr/>
            </a:pPr>
            <a:fld id="{D5C89D08-05CB-8041-A6F5-8B39A23581E0}" type="slidenum">
              <a:rPr lang="en-US"/>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Alt.">
    <p:spTree>
      <p:nvGrpSpPr>
        <p:cNvPr id="1" name=""/>
        <p:cNvGrpSpPr/>
        <p:nvPr/>
      </p:nvGrpSpPr>
      <p:grpSpPr>
        <a:xfrm>
          <a:off x="0" y="0"/>
          <a:ext cx="0" cy="0"/>
          <a:chOff x="0" y="0"/>
          <a:chExt cx="0" cy="0"/>
        </a:xfrm>
      </p:grpSpPr>
      <p:grpSp>
        <p:nvGrpSpPr>
          <p:cNvPr id="5" name="Group 8"/>
          <p:cNvGrpSpPr>
            <a:grpSpLocks/>
          </p:cNvGrpSpPr>
          <p:nvPr/>
        </p:nvGrpSpPr>
        <p:grpSpPr bwMode="auto">
          <a:xfrm>
            <a:off x="4267200" y="0"/>
            <a:ext cx="4876800" cy="6858000"/>
            <a:chOff x="4267200" y="0"/>
            <a:chExt cx="4876800" cy="6858000"/>
          </a:xfrm>
        </p:grpSpPr>
        <p:pic>
          <p:nvPicPr>
            <p:cNvPr id="6" name="Picture 7" descr="Overlay-Blank.jpg"/>
            <p:cNvPicPr>
              <a:picLocks noChangeAspect="1"/>
            </p:cNvPicPr>
            <p:nvPr userDrawn="1"/>
          </p:nvPicPr>
          <p:blipFill>
            <a:blip r:embed="rId2"/>
            <a:srcRect l="4301" r="46875"/>
            <a:stretch>
              <a:fillRect/>
            </a:stretch>
          </p:blipFill>
          <p:spPr bwMode="auto">
            <a:xfrm>
              <a:off x="4495800" y="0"/>
              <a:ext cx="4648200" cy="6858000"/>
            </a:xfrm>
            <a:prstGeom prst="rect">
              <a:avLst/>
            </a:prstGeom>
            <a:noFill/>
            <a:ln w="9525">
              <a:noFill/>
              <a:miter lim="800000"/>
              <a:headEnd/>
              <a:tailEnd/>
            </a:ln>
          </p:spPr>
        </p:pic>
        <p:pic>
          <p:nvPicPr>
            <p:cNvPr id="7" name="Picture 8" descr="Overlay-VerticalBridge.jpg"/>
            <p:cNvPicPr>
              <a:picLocks noChangeAspect="1"/>
            </p:cNvPicPr>
            <p:nvPr userDrawn="1"/>
          </p:nvPicPr>
          <p:blipFill>
            <a:blip r:embed="rId3"/>
            <a:srcRect/>
            <a:stretch>
              <a:fillRect/>
            </a:stretch>
          </p:blipFill>
          <p:spPr bwMode="auto">
            <a:xfrm flipH="1">
              <a:off x="4267200" y="0"/>
              <a:ext cx="267891" cy="6858000"/>
            </a:xfrm>
            <a:prstGeom prst="rect">
              <a:avLst/>
            </a:prstGeom>
            <a:noFill/>
            <a:ln w="9525">
              <a:noFill/>
              <a:miter lim="800000"/>
              <a:headEnd/>
              <a:tailEnd/>
            </a:ln>
          </p:spPr>
        </p:pic>
      </p:grpSp>
      <p:sp>
        <p:nvSpPr>
          <p:cNvPr id="2" name="Title 1"/>
          <p:cNvSpPr>
            <a:spLocks noGrp="1"/>
          </p:cNvSpPr>
          <p:nvPr>
            <p:ph type="title"/>
          </p:nvPr>
        </p:nvSpPr>
        <p:spPr>
          <a:xfrm>
            <a:off x="381000" y="609600"/>
            <a:ext cx="3612822" cy="1536192"/>
          </a:xfrm>
        </p:spPr>
        <p:txBody>
          <a:bodyPr rtlCol="0" anchor="b">
            <a:noAutofit/>
          </a:bodyPr>
          <a:lstStyle>
            <a:lvl1pPr algn="ctr" defTabSz="914400" rtl="0" eaLnBrk="1" latinLnBrk="0" hangingPunct="1">
              <a:lnSpc>
                <a:spcPct val="100000"/>
              </a:lnSpc>
              <a:spcBef>
                <a:spcPct val="0"/>
              </a:spcBef>
              <a:buNone/>
              <a:defRPr sz="3600" b="0" kern="1200">
                <a:solidFill>
                  <a:schemeClr val="tx2"/>
                </a:solidFill>
                <a:latin typeface="+mn-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4873625" y="381000"/>
            <a:ext cx="3813175" cy="5697538"/>
          </a:xfrm>
          <a:solidFill>
            <a:schemeClr val="bg1">
              <a:lumMod val="85000"/>
            </a:schemeClr>
          </a:solidFill>
          <a:ln w="101600">
            <a:noFill/>
            <a:miter lim="800000"/>
          </a:ln>
          <a:effectLst>
            <a:innerShdw blurRad="457200">
              <a:schemeClr val="tx1">
                <a:lumMod val="50000"/>
                <a:lumOff val="50000"/>
                <a:alpha val="80000"/>
              </a:schemeClr>
            </a:innerShdw>
            <a:softEdge rad="1270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smtClean="0"/>
              <a:t>Click icon to add picture</a:t>
            </a:r>
            <a:endParaRPr noProof="0" dirty="0"/>
          </a:p>
        </p:txBody>
      </p:sp>
      <p:sp>
        <p:nvSpPr>
          <p:cNvPr id="4" name="Text Placeholder 3"/>
          <p:cNvSpPr>
            <a:spLocks noGrp="1"/>
          </p:cNvSpPr>
          <p:nvPr>
            <p:ph type="body" sz="half" idx="2"/>
          </p:nvPr>
        </p:nvSpPr>
        <p:spPr>
          <a:xfrm>
            <a:off x="379984" y="2209799"/>
            <a:ext cx="3613792" cy="3222625"/>
          </a:xfrm>
        </p:spPr>
        <p:txBody>
          <a:bodyPr rtlCol="0">
            <a:normAutofit/>
          </a:bodyPr>
          <a:lstStyle>
            <a:lvl1pPr marL="0" indent="0" algn="ctr">
              <a:buNone/>
              <a:defRPr sz="1800" b="0" kern="1200">
                <a:solidFill>
                  <a:schemeClr val="tx2"/>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4"/>
          <p:cNvSpPr>
            <a:spLocks noGrp="1"/>
          </p:cNvSpPr>
          <p:nvPr>
            <p:ph type="dt" sz="half" idx="10"/>
          </p:nvPr>
        </p:nvSpPr>
        <p:spPr/>
        <p:txBody>
          <a:bodyPr/>
          <a:lstStyle>
            <a:lvl1pPr>
              <a:defRPr/>
            </a:lvl1pPr>
          </a:lstStyle>
          <a:p>
            <a:pPr>
              <a:defRPr/>
            </a:pPr>
            <a:endParaRPr lang="en-US" dirty="0"/>
          </a:p>
        </p:txBody>
      </p:sp>
      <p:sp>
        <p:nvSpPr>
          <p:cNvPr id="9" name="Footer Placeholder 5"/>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10" name="Slide Number Placeholder 6"/>
          <p:cNvSpPr>
            <a:spLocks noGrp="1"/>
          </p:cNvSpPr>
          <p:nvPr>
            <p:ph type="sldNum" sz="quarter" idx="12"/>
          </p:nvPr>
        </p:nvSpPr>
        <p:spPr/>
        <p:txBody>
          <a:bodyPr/>
          <a:lstStyle>
            <a:lvl1pPr>
              <a:defRPr/>
            </a:lvl1pPr>
          </a:lstStyle>
          <a:p>
            <a:pPr>
              <a:defRPr/>
            </a:pPr>
            <a:fld id="{5D128D79-964E-A448-8064-06DBA4282F16}" type="slidenum">
              <a:rPr lang="en-US"/>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grpSp>
        <p:nvGrpSpPr>
          <p:cNvPr id="4" name="Group 6"/>
          <p:cNvGrpSpPr>
            <a:grpSpLocks/>
          </p:cNvGrpSpPr>
          <p:nvPr/>
        </p:nvGrpSpPr>
        <p:grpSpPr bwMode="auto">
          <a:xfrm>
            <a:off x="0" y="1373188"/>
            <a:ext cx="9144000" cy="5484812"/>
            <a:chOff x="0" y="1372650"/>
            <a:chExt cx="9144000" cy="5485350"/>
          </a:xfrm>
        </p:grpSpPr>
        <p:pic>
          <p:nvPicPr>
            <p:cNvPr id="5" name="Picture 7" descr="Overlay-Blank.jpg"/>
            <p:cNvPicPr>
              <a:picLocks noChangeAspect="1"/>
            </p:cNvPicPr>
            <p:nvPr userDrawn="1"/>
          </p:nvPicPr>
          <p:blipFill>
            <a:blip r:embed="rId2"/>
            <a:srcRect t="23334"/>
            <a:stretch>
              <a:fillRect/>
            </a:stretch>
          </p:blipFill>
          <p:spPr bwMode="auto">
            <a:xfrm>
              <a:off x="0" y="1600200"/>
              <a:ext cx="9144000" cy="5257800"/>
            </a:xfrm>
            <a:prstGeom prst="rect">
              <a:avLst/>
            </a:prstGeom>
            <a:noFill/>
            <a:ln w="9525">
              <a:noFill/>
              <a:miter lim="800000"/>
              <a:headEnd/>
              <a:tailEnd/>
            </a:ln>
          </p:spPr>
        </p:pic>
        <p:pic>
          <p:nvPicPr>
            <p:cNvPr id="6" name="Picture 8" descr="Overlay-HorizontalBridge.jpg"/>
            <p:cNvPicPr>
              <a:picLocks noChangeAspect="1"/>
            </p:cNvPicPr>
            <p:nvPr userDrawn="1"/>
          </p:nvPicPr>
          <p:blipFill>
            <a:blip r:embed="rId3"/>
            <a:srcRect/>
            <a:stretch>
              <a:fillRect/>
            </a:stretch>
          </p:blipFill>
          <p:spPr bwMode="auto">
            <a:xfrm>
              <a:off x="0" y="1372650"/>
              <a:ext cx="9144000" cy="267891"/>
            </a:xfrm>
            <a:prstGeom prst="rect">
              <a:avLst/>
            </a:prstGeom>
            <a:noFill/>
            <a:ln w="9525">
              <a:noFill/>
              <a:miter lim="800000"/>
              <a:headEnd/>
              <a:tailEnd/>
            </a:ln>
          </p:spPr>
        </p:pic>
      </p:gr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6193134-7B2A-5144-91AA-8D21FF7C19B5}" type="slidenum">
              <a:rPr lang="en-US"/>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a:off x="0" y="0"/>
            <a:ext cx="7696200" cy="6858000"/>
            <a:chOff x="0" y="0"/>
            <a:chExt cx="7696200" cy="6858000"/>
          </a:xfrm>
        </p:grpSpPr>
        <p:pic>
          <p:nvPicPr>
            <p:cNvPr id="5" name="Picture 7" descr="Overlay-Blank.jpg"/>
            <p:cNvPicPr>
              <a:picLocks noChangeAspect="1"/>
            </p:cNvPicPr>
            <p:nvPr userDrawn="1"/>
          </p:nvPicPr>
          <p:blipFill>
            <a:blip r:embed="rId2"/>
            <a:srcRect l="1471" r="16862"/>
            <a:stretch>
              <a:fillRect/>
            </a:stretch>
          </p:blipFill>
          <p:spPr bwMode="auto">
            <a:xfrm>
              <a:off x="0" y="0"/>
              <a:ext cx="7467600" cy="6858000"/>
            </a:xfrm>
            <a:prstGeom prst="rect">
              <a:avLst/>
            </a:prstGeom>
            <a:noFill/>
            <a:ln w="9525">
              <a:noFill/>
              <a:miter lim="800000"/>
              <a:headEnd/>
              <a:tailEnd/>
            </a:ln>
          </p:spPr>
        </p:pic>
        <p:pic>
          <p:nvPicPr>
            <p:cNvPr id="6" name="Picture 8" descr="Overlay-VerticalBridge.jpg"/>
            <p:cNvPicPr>
              <a:picLocks noChangeAspect="1"/>
            </p:cNvPicPr>
            <p:nvPr userDrawn="1"/>
          </p:nvPicPr>
          <p:blipFill>
            <a:blip r:embed="rId3"/>
            <a:srcRect/>
            <a:stretch>
              <a:fillRect/>
            </a:stretch>
          </p:blipFill>
          <p:spPr bwMode="auto">
            <a:xfrm>
              <a:off x="7428309" y="0"/>
              <a:ext cx="267891" cy="6858000"/>
            </a:xfrm>
            <a:prstGeom prst="rect">
              <a:avLst/>
            </a:prstGeom>
            <a:noFill/>
            <a:ln w="9525">
              <a:noFill/>
              <a:miter lim="800000"/>
              <a:headEnd/>
              <a:tailEnd/>
            </a:ln>
          </p:spPr>
        </p:pic>
      </p:grpSp>
      <p:sp>
        <p:nvSpPr>
          <p:cNvPr id="2" name="Vertical Title 1"/>
          <p:cNvSpPr>
            <a:spLocks noGrp="1"/>
          </p:cNvSpPr>
          <p:nvPr>
            <p:ph type="title" orient="vert"/>
          </p:nvPr>
        </p:nvSpPr>
        <p:spPr>
          <a:xfrm>
            <a:off x="7620000" y="381001"/>
            <a:ext cx="1447800" cy="5697538"/>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381000" y="381001"/>
            <a:ext cx="6705600" cy="569753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smtClean="0"/>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9A747C69-A4E4-6642-9B2D-EA3DE70B39AF}"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grpSp>
        <p:nvGrpSpPr>
          <p:cNvPr id="1026" name="Group 1026"/>
          <p:cNvGrpSpPr>
            <a:grpSpLocks/>
          </p:cNvGrpSpPr>
          <p:nvPr/>
        </p:nvGrpSpPr>
        <p:grpSpPr bwMode="auto">
          <a:xfrm>
            <a:off x="3175" y="4267200"/>
            <a:ext cx="9140825" cy="2590800"/>
            <a:chOff x="2" y="2688"/>
            <a:chExt cx="5758" cy="1632"/>
          </a:xfrm>
        </p:grpSpPr>
        <p:sp>
          <p:nvSpPr>
            <p:cNvPr id="79875" name="Freeform 1027"/>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grpSp>
          <p:nvGrpSpPr>
            <p:cNvPr id="1033" name="Group 1028"/>
            <p:cNvGrpSpPr>
              <a:grpSpLocks/>
            </p:cNvGrpSpPr>
            <p:nvPr/>
          </p:nvGrpSpPr>
          <p:grpSpPr bwMode="auto">
            <a:xfrm>
              <a:off x="1776" y="3024"/>
              <a:ext cx="3929" cy="1290"/>
              <a:chOff x="1776" y="3024"/>
              <a:chExt cx="3929" cy="1290"/>
            </a:xfrm>
          </p:grpSpPr>
          <p:grpSp>
            <p:nvGrpSpPr>
              <p:cNvPr id="1034" name="Group 1029"/>
              <p:cNvGrpSpPr>
                <a:grpSpLocks/>
              </p:cNvGrpSpPr>
              <p:nvPr userDrawn="1"/>
            </p:nvGrpSpPr>
            <p:grpSpPr bwMode="auto">
              <a:xfrm>
                <a:off x="2268" y="3934"/>
                <a:ext cx="638" cy="377"/>
                <a:chOff x="2268" y="3934"/>
                <a:chExt cx="638" cy="377"/>
              </a:xfrm>
            </p:grpSpPr>
            <p:sp>
              <p:nvSpPr>
                <p:cNvPr id="79878" name="Oval 1030"/>
                <p:cNvSpPr>
                  <a:spLocks noChangeArrowheads="1"/>
                </p:cNvSpPr>
                <p:nvPr/>
              </p:nvSpPr>
              <p:spPr bwMode="hidden">
                <a:xfrm>
                  <a:off x="2268" y="3934"/>
                  <a:ext cx="638" cy="377"/>
                </a:xfrm>
                <a:prstGeom prst="ellipse">
                  <a:avLst/>
                </a:prstGeom>
                <a:gradFill rotWithShape="0">
                  <a:gsLst>
                    <a:gs pos="0">
                      <a:schemeClr val="accent1">
                        <a:gamma/>
                        <a:shade val="87843"/>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79" name="Oval 1031"/>
                <p:cNvSpPr>
                  <a:spLocks noChangeArrowheads="1"/>
                </p:cNvSpPr>
                <p:nvPr/>
              </p:nvSpPr>
              <p:spPr bwMode="hidden">
                <a:xfrm>
                  <a:off x="2314" y="3958"/>
                  <a:ext cx="543" cy="332"/>
                </a:xfrm>
                <a:prstGeom prst="ellipse">
                  <a:avLst/>
                </a:prstGeom>
                <a:gradFill rotWithShape="0">
                  <a:gsLst>
                    <a:gs pos="0">
                      <a:schemeClr val="accent1"/>
                    </a:gs>
                    <a:gs pos="100000">
                      <a:schemeClr val="accent1">
                        <a:gamma/>
                        <a:shade val="87843"/>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0" name="Oval 1032"/>
                <p:cNvSpPr>
                  <a:spLocks noChangeArrowheads="1"/>
                </p:cNvSpPr>
                <p:nvPr/>
              </p:nvSpPr>
              <p:spPr bwMode="hidden">
                <a:xfrm>
                  <a:off x="2341" y="3979"/>
                  <a:ext cx="501" cy="299"/>
                </a:xfrm>
                <a:prstGeom prst="ellipse">
                  <a:avLst/>
                </a:prstGeom>
                <a:gradFill rotWithShape="0">
                  <a:gsLst>
                    <a:gs pos="0">
                      <a:schemeClr val="accent1">
                        <a:gamma/>
                        <a:shade val="90980"/>
                        <a:invGamma/>
                      </a:schemeClr>
                    </a:gs>
                    <a:gs pos="100000">
                      <a:schemeClr val="accent1"/>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1" name="Oval 1033"/>
                <p:cNvSpPr>
                  <a:spLocks noChangeArrowheads="1"/>
                </p:cNvSpPr>
                <p:nvPr/>
              </p:nvSpPr>
              <p:spPr bwMode="hidden">
                <a:xfrm>
                  <a:off x="2368" y="3997"/>
                  <a:ext cx="444" cy="258"/>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2" name="Oval 1034"/>
                <p:cNvSpPr>
                  <a:spLocks noChangeArrowheads="1"/>
                </p:cNvSpPr>
                <p:nvPr/>
              </p:nvSpPr>
              <p:spPr bwMode="hidden">
                <a:xfrm>
                  <a:off x="2385" y="4005"/>
                  <a:ext cx="413" cy="240"/>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3" name="Oval 1035"/>
                <p:cNvSpPr>
                  <a:spLocks noChangeArrowheads="1"/>
                </p:cNvSpPr>
                <p:nvPr/>
              </p:nvSpPr>
              <p:spPr bwMode="hidden">
                <a:xfrm>
                  <a:off x="2437" y="4026"/>
                  <a:ext cx="306" cy="192"/>
                </a:xfrm>
                <a:prstGeom prst="ellipse">
                  <a:avLst/>
                </a:prstGeom>
                <a:gradFill rotWithShape="0">
                  <a:gsLst>
                    <a:gs pos="0">
                      <a:schemeClr val="accent1">
                        <a:gamma/>
                        <a:shade val="8784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4" name="Oval 1036"/>
                <p:cNvSpPr>
                  <a:spLocks noChangeArrowheads="1"/>
                </p:cNvSpPr>
                <p:nvPr/>
              </p:nvSpPr>
              <p:spPr bwMode="hidden">
                <a:xfrm>
                  <a:off x="2476" y="4056"/>
                  <a:ext cx="227" cy="135"/>
                </a:xfrm>
                <a:prstGeom prst="ellipse">
                  <a:avLst/>
                </a:prstGeom>
                <a:gradFill rotWithShape="0">
                  <a:gsLst>
                    <a:gs pos="0">
                      <a:schemeClr val="accent1"/>
                    </a:gs>
                    <a:gs pos="100000">
                      <a:schemeClr val="accent1">
                        <a:gamma/>
                        <a:shade val="90980"/>
                        <a:invGamma/>
                      </a:schemeClr>
                    </a:gs>
                  </a:gsLst>
                  <a:lin ang="27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5" name="Oval 1037"/>
                <p:cNvSpPr>
                  <a:spLocks noChangeArrowheads="1"/>
                </p:cNvSpPr>
                <p:nvPr/>
              </p:nvSpPr>
              <p:spPr bwMode="hidden">
                <a:xfrm>
                  <a:off x="2542" y="4097"/>
                  <a:ext cx="90" cy="60"/>
                </a:xfrm>
                <a:prstGeom prst="ellipse">
                  <a:avLst/>
                </a:prstGeom>
                <a:gradFill rotWithShape="0">
                  <a:gsLst>
                    <a:gs pos="0">
                      <a:schemeClr val="accent1"/>
                    </a:gs>
                    <a:gs pos="100000">
                      <a:schemeClr val="accent1">
                        <a:gamma/>
                        <a:shade val="90980"/>
                        <a:invGamma/>
                      </a:schemeClr>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sp>
            <p:nvSpPr>
              <p:cNvPr id="79886" name="Oval 1038"/>
              <p:cNvSpPr>
                <a:spLocks noChangeArrowheads="1"/>
              </p:cNvSpPr>
              <p:nvPr/>
            </p:nvSpPr>
            <p:spPr bwMode="hidden">
              <a:xfrm>
                <a:off x="3686" y="3810"/>
                <a:ext cx="532" cy="327"/>
              </a:xfrm>
              <a:prstGeom prst="ellipse">
                <a:avLst/>
              </a:prstGeom>
              <a:gradFill rotWithShape="0">
                <a:gsLst>
                  <a:gs pos="0">
                    <a:schemeClr val="accent1"/>
                  </a:gs>
                  <a:gs pos="100000">
                    <a:schemeClr val="accent1">
                      <a:gamma/>
                      <a:shade val="90980"/>
                      <a:invGamma/>
                    </a:schemeClr>
                  </a:gs>
                </a:gsLst>
                <a:path path="shape">
                  <a:fillToRect l="50000" t="50000" r="50000" b="50000"/>
                </a:path>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7" name="Oval 1039"/>
              <p:cNvSpPr>
                <a:spLocks noChangeArrowheads="1"/>
              </p:cNvSpPr>
              <p:nvPr/>
            </p:nvSpPr>
            <p:spPr bwMode="hidden">
              <a:xfrm>
                <a:off x="3726" y="3840"/>
                <a:ext cx="452" cy="275"/>
              </a:xfrm>
              <a:prstGeom prst="ellipse">
                <a:avLst/>
              </a:prstGeom>
              <a:gradFill rotWithShape="0">
                <a:gsLst>
                  <a:gs pos="0">
                    <a:schemeClr val="accent1">
                      <a:gamma/>
                      <a:shade val="90980"/>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8" name="Oval 1040"/>
              <p:cNvSpPr>
                <a:spLocks noChangeArrowheads="1"/>
              </p:cNvSpPr>
              <p:nvPr/>
            </p:nvSpPr>
            <p:spPr bwMode="hidden">
              <a:xfrm>
                <a:off x="3782" y="3872"/>
                <a:ext cx="344" cy="2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89" name="Oval 1041"/>
              <p:cNvSpPr>
                <a:spLocks noChangeArrowheads="1"/>
              </p:cNvSpPr>
              <p:nvPr/>
            </p:nvSpPr>
            <p:spPr bwMode="hidden">
              <a:xfrm>
                <a:off x="3822" y="3896"/>
                <a:ext cx="262" cy="159"/>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90" name="Oval 1042"/>
              <p:cNvSpPr>
                <a:spLocks noChangeArrowheads="1"/>
              </p:cNvSpPr>
              <p:nvPr/>
            </p:nvSpPr>
            <p:spPr bwMode="hidden">
              <a:xfrm>
                <a:off x="3856" y="3922"/>
                <a:ext cx="192" cy="107"/>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891" name="Freeform 1043"/>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1">
                      <a:gamma/>
                      <a:shade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2" name="Freeform 1044"/>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1">
                      <a:gamma/>
                      <a:shade val="84706"/>
                      <a:invGamma/>
                    </a:schemeClr>
                  </a:gs>
                  <a:gs pos="100000">
                    <a:schemeClr val="accent1"/>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3" name="Freeform 1045"/>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4" name="Freeform 1046"/>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1"/>
                  </a:gs>
                  <a:gs pos="100000">
                    <a:schemeClr val="accent1">
                      <a:gamma/>
                      <a:shade val="90980"/>
                      <a:invGamma/>
                    </a:schemeClr>
                  </a:gs>
                </a:gsLst>
                <a:path path="rect">
                  <a:fillToRect l="50000" t="50000" r="50000" b="50000"/>
                </a:path>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5" name="Freeform 1047"/>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1"/>
                  </a:gs>
                  <a:gs pos="100000">
                    <a:schemeClr val="accent1">
                      <a:gamma/>
                      <a:shade val="87843"/>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6" name="Freeform 1048"/>
              <p:cNvSpPr>
                <a:spLocks/>
              </p:cNvSpPr>
              <p:nvPr/>
            </p:nvSpPr>
            <p:spPr bwMode="hidden">
              <a:xfrm>
                <a:off x="4175" y="4050"/>
                <a:ext cx="180" cy="132"/>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1"/>
                  </a:gs>
                  <a:gs pos="100000">
                    <a:schemeClr val="accent1">
                      <a:gamma/>
                      <a:shade val="87843"/>
                      <a:invGamma/>
                    </a:schemeClr>
                  </a:gs>
                </a:gsLst>
                <a:lin ang="189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7" name="Freeform 1049"/>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1">
                      <a:gamma/>
                      <a:shade val="90980"/>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8" name="Freeform 1050"/>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1"/>
                  </a:gs>
                  <a:gs pos="100000">
                    <a:schemeClr val="accent1">
                      <a:gamma/>
                      <a:shade val="84706"/>
                      <a:invGamma/>
                    </a:schemeClr>
                  </a:gs>
                </a:gsLst>
                <a:lin ang="27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899" name="Freeform 1051"/>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1"/>
                  </a:gs>
                  <a:gs pos="100000">
                    <a:schemeClr val="accent1">
                      <a:gamma/>
                      <a:shade val="90980"/>
                      <a:invGamma/>
                    </a:schemeClr>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0" name="Freeform 1052"/>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1"/>
                  </a:gs>
                  <a:gs pos="100000">
                    <a:schemeClr val="accent1">
                      <a:gamma/>
                      <a:shade val="81961"/>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1" name="Freeform 1053"/>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2" name="Freeform 1054"/>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3" name="Freeform 1055"/>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4" name="Freeform 1056"/>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5" name="Freeform 1057"/>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1"/>
                  </a:gs>
                  <a:gs pos="100000">
                    <a:schemeClr val="accent1">
                      <a:gamma/>
                      <a:shade val="8784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6" name="Freeform 1058"/>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1"/>
              </a:soli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7" name="Freeform 1059"/>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8" name="Freeform 1060"/>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09" name="Freeform 1061"/>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1">
                      <a:gamma/>
                      <a:tint val="94118"/>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0" name="Freeform 1062"/>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1" name="Freeform 1063"/>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2" name="Freeform 1064"/>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3" name="Freeform 1065"/>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1"/>
                  </a:gs>
                  <a:gs pos="100000">
                    <a:schemeClr val="accent1">
                      <a:gamma/>
                      <a:shade val="94118"/>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4" name="Freeform 1066"/>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gradFill rotWithShape="0">
                <a:gsLst>
                  <a:gs pos="0">
                    <a:schemeClr val="accent1"/>
                  </a:gs>
                  <a:gs pos="100000">
                    <a:schemeClr val="accent1">
                      <a:gamma/>
                      <a:shade val="96863"/>
                      <a:invGamma/>
                    </a:schemeClr>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5" name="Freeform 1067"/>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1">
                      <a:gamma/>
                      <a:tint val="96863"/>
                      <a:invGamma/>
                    </a:schemeClr>
                  </a:gs>
                  <a:gs pos="100000">
                    <a:schemeClr val="accent1"/>
                  </a:gs>
                </a:gsLst>
                <a:lin ang="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6" name="Freeform 1068"/>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7" name="Freeform 1069"/>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1">
                      <a:gamma/>
                      <a:tint val="96863"/>
                      <a:invGamma/>
                    </a:schemeClr>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8" name="Freeform 1070"/>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19" name="Freeform 1071"/>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0" name="Freeform 1072"/>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1" name="Freeform 1073"/>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2" name="Freeform 1074"/>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3" name="Freeform 1075"/>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4" name="Freeform 1076"/>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1"/>
                  </a:gs>
                  <a:gs pos="100000">
                    <a:schemeClr val="bg1"/>
                  </a:gs>
                </a:gsLst>
                <a:lin ang="5400000" scaled="1"/>
              </a:gradFill>
              <a:ln w="9525">
                <a:noFill/>
                <a:round/>
                <a:headEnd/>
                <a:tailEnd/>
              </a:ln>
            </p:spPr>
            <p:txBody>
              <a:bodyPr>
                <a:prstTxWarp prst="textNoShape">
                  <a:avLst/>
                </a:prstTxWarp>
              </a:bodyPr>
              <a:lstStyle/>
              <a:p>
                <a:pPr>
                  <a:defRPr/>
                </a:pPr>
                <a:endParaRPr lang="en-US" dirty="0">
                  <a:latin typeface="Arial" pitchFamily="-107" charset="0"/>
                </a:endParaRPr>
              </a:p>
            </p:txBody>
          </p:sp>
          <p:sp>
            <p:nvSpPr>
              <p:cNvPr id="79925" name="Oval 1077"/>
              <p:cNvSpPr>
                <a:spLocks noChangeArrowheads="1"/>
              </p:cNvSpPr>
              <p:nvPr/>
            </p:nvSpPr>
            <p:spPr bwMode="hidden">
              <a:xfrm>
                <a:off x="3910" y="3948"/>
                <a:ext cx="84" cy="53"/>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nvGrpSpPr>
              <p:cNvPr id="1075" name="Group 1078"/>
              <p:cNvGrpSpPr>
                <a:grpSpLocks/>
              </p:cNvGrpSpPr>
              <p:nvPr userDrawn="1"/>
            </p:nvGrpSpPr>
            <p:grpSpPr bwMode="auto">
              <a:xfrm>
                <a:off x="4546" y="3608"/>
                <a:ext cx="518" cy="319"/>
                <a:chOff x="4546" y="3608"/>
                <a:chExt cx="518" cy="319"/>
              </a:xfrm>
            </p:grpSpPr>
            <p:sp>
              <p:nvSpPr>
                <p:cNvPr id="79927" name="Oval 1079"/>
                <p:cNvSpPr>
                  <a:spLocks noChangeArrowheads="1"/>
                </p:cNvSpPr>
                <p:nvPr/>
              </p:nvSpPr>
              <p:spPr bwMode="hidden">
                <a:xfrm>
                  <a:off x="4546" y="3608"/>
                  <a:ext cx="518" cy="319"/>
                </a:xfrm>
                <a:prstGeom prst="ellipse">
                  <a:avLst/>
                </a:prstGeom>
                <a:gradFill rotWithShape="0">
                  <a:gsLst>
                    <a:gs pos="0">
                      <a:schemeClr val="accent1">
                        <a:gamma/>
                        <a:shade val="94118"/>
                        <a:invGamma/>
                      </a:schemeClr>
                    </a:gs>
                    <a:gs pos="100000">
                      <a:schemeClr val="accent1"/>
                    </a:gs>
                  </a:gsLst>
                  <a:lin ang="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28" name="Oval 1080"/>
                <p:cNvSpPr>
                  <a:spLocks noChangeArrowheads="1"/>
                </p:cNvSpPr>
                <p:nvPr/>
              </p:nvSpPr>
              <p:spPr bwMode="hidden">
                <a:xfrm>
                  <a:off x="4578" y="3630"/>
                  <a:ext cx="446" cy="271"/>
                </a:xfrm>
                <a:prstGeom prst="ellipse">
                  <a:avLst/>
                </a:prstGeom>
                <a:gradFill rotWithShape="0">
                  <a:gsLst>
                    <a:gs pos="0">
                      <a:schemeClr val="accent1">
                        <a:gamma/>
                        <a:tint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29" name="Oval 1081"/>
                <p:cNvSpPr>
                  <a:spLocks noChangeArrowheads="1"/>
                </p:cNvSpPr>
                <p:nvPr/>
              </p:nvSpPr>
              <p:spPr bwMode="hidden">
                <a:xfrm>
                  <a:off x="4610" y="3650"/>
                  <a:ext cx="386" cy="233"/>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0" name="Oval 1082"/>
                <p:cNvSpPr>
                  <a:spLocks noChangeArrowheads="1"/>
                </p:cNvSpPr>
                <p:nvPr/>
              </p:nvSpPr>
              <p:spPr bwMode="hidden">
                <a:xfrm>
                  <a:off x="4654" y="3678"/>
                  <a:ext cx="298" cy="177"/>
                </a:xfrm>
                <a:prstGeom prst="ellipse">
                  <a:avLst/>
                </a:prstGeom>
                <a:gradFill rotWithShape="0">
                  <a:gsLst>
                    <a:gs pos="0">
                      <a:schemeClr val="accent1">
                        <a:gamma/>
                        <a:shade val="94118"/>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1" name="Oval 1083"/>
                <p:cNvSpPr>
                  <a:spLocks noChangeArrowheads="1"/>
                </p:cNvSpPr>
                <p:nvPr/>
              </p:nvSpPr>
              <p:spPr bwMode="hidden">
                <a:xfrm>
                  <a:off x="4690" y="3698"/>
                  <a:ext cx="222" cy="139"/>
                </a:xfrm>
                <a:prstGeom prst="ellipse">
                  <a:avLst/>
                </a:prstGeom>
                <a:gradFill rotWithShape="0">
                  <a:gsLst>
                    <a:gs pos="0">
                      <a:schemeClr val="accent1"/>
                    </a:gs>
                    <a:gs pos="100000">
                      <a:schemeClr val="accent1">
                        <a:gamma/>
                        <a:shade val="94118"/>
                        <a:invGamma/>
                      </a:schemeClr>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2" name="Oval 1084"/>
                <p:cNvSpPr>
                  <a:spLocks noChangeArrowheads="1"/>
                </p:cNvSpPr>
                <p:nvPr/>
              </p:nvSpPr>
              <p:spPr bwMode="hidden">
                <a:xfrm>
                  <a:off x="4738" y="3728"/>
                  <a:ext cx="126" cy="81"/>
                </a:xfrm>
                <a:prstGeom prst="ellipse">
                  <a:avLst/>
                </a:prstGeom>
                <a:gradFill rotWithShape="0">
                  <a:gsLst>
                    <a:gs pos="0">
                      <a:schemeClr val="accent1">
                        <a:gamma/>
                        <a:shade val="96863"/>
                        <a:invGamma/>
                      </a:schemeClr>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nvGrpSpPr>
              <p:cNvPr id="1076" name="Group 1085"/>
              <p:cNvGrpSpPr>
                <a:grpSpLocks/>
              </p:cNvGrpSpPr>
              <p:nvPr userDrawn="1"/>
            </p:nvGrpSpPr>
            <p:grpSpPr bwMode="auto">
              <a:xfrm>
                <a:off x="5381" y="3085"/>
                <a:ext cx="227" cy="132"/>
                <a:chOff x="5381" y="3085"/>
                <a:chExt cx="227" cy="132"/>
              </a:xfrm>
            </p:grpSpPr>
            <p:sp>
              <p:nvSpPr>
                <p:cNvPr id="79934" name="Oval 1086"/>
                <p:cNvSpPr>
                  <a:spLocks noChangeArrowheads="1"/>
                </p:cNvSpPr>
                <p:nvPr/>
              </p:nvSpPr>
              <p:spPr bwMode="hidden">
                <a:xfrm>
                  <a:off x="5381" y="3085"/>
                  <a:ext cx="227" cy="13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5" name="Oval 1087"/>
                <p:cNvSpPr>
                  <a:spLocks noChangeArrowheads="1"/>
                </p:cNvSpPr>
                <p:nvPr/>
              </p:nvSpPr>
              <p:spPr bwMode="hidden">
                <a:xfrm>
                  <a:off x="5403" y="3099"/>
                  <a:ext cx="182" cy="102"/>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6" name="Oval 1088"/>
                <p:cNvSpPr>
                  <a:spLocks noChangeArrowheads="1"/>
                </p:cNvSpPr>
                <p:nvPr/>
              </p:nvSpPr>
              <p:spPr bwMode="hidden">
                <a:xfrm>
                  <a:off x="5431" y="3109"/>
                  <a:ext cx="125" cy="82"/>
                </a:xfrm>
                <a:prstGeom prst="ellipse">
                  <a:avLst/>
                </a:prstGeom>
                <a:gradFill rotWithShape="0">
                  <a:gsLst>
                    <a:gs pos="0">
                      <a:schemeClr val="bg1"/>
                    </a:gs>
                    <a:gs pos="100000">
                      <a:schemeClr val="accent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sp>
              <p:nvSpPr>
                <p:cNvPr id="79937" name="Oval 1089"/>
                <p:cNvSpPr>
                  <a:spLocks noChangeArrowheads="1"/>
                </p:cNvSpPr>
                <p:nvPr/>
              </p:nvSpPr>
              <p:spPr bwMode="hidden">
                <a:xfrm>
                  <a:off x="5458" y="3125"/>
                  <a:ext cx="73" cy="47"/>
                </a:xfrm>
                <a:prstGeom prst="ellipse">
                  <a:avLst/>
                </a:prstGeom>
                <a:gradFill rotWithShape="0">
                  <a:gsLst>
                    <a:gs pos="0">
                      <a:schemeClr val="accent1"/>
                    </a:gs>
                    <a:gs pos="100000">
                      <a:schemeClr val="bg1"/>
                    </a:gs>
                  </a:gsLst>
                  <a:lin ang="5400000" scaled="1"/>
                </a:gradFill>
                <a:ln w="9525">
                  <a:noFill/>
                  <a:round/>
                  <a:headEnd/>
                  <a:tailEnd/>
                </a:ln>
                <a:effectLst/>
              </p:spPr>
              <p:txBody>
                <a:bodyPr>
                  <a:prstTxWarp prst="textNoShape">
                    <a:avLst/>
                  </a:prstTxWarp>
                </a:bodyPr>
                <a:lstStyle/>
                <a:p>
                  <a:pPr>
                    <a:defRPr/>
                  </a:pPr>
                  <a:endParaRPr lang="en-US" dirty="0">
                    <a:latin typeface="Arial" pitchFamily="-107" charset="0"/>
                  </a:endParaRPr>
                </a:p>
              </p:txBody>
            </p:sp>
          </p:grpSp>
        </p:grpSp>
      </p:grpSp>
      <p:sp>
        <p:nvSpPr>
          <p:cNvPr id="79938" name="Rectangle 1090"/>
          <p:cNvSpPr>
            <a:spLocks noGrp="1" noChangeArrowheads="1"/>
          </p:cNvSpPr>
          <p:nvPr>
            <p:ph type="title"/>
          </p:nvPr>
        </p:nvSpPr>
        <p:spPr bwMode="black">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79939" name="Rectangle 1091"/>
          <p:cNvSpPr>
            <a:spLocks noGrp="1" noChangeArrowheads="1"/>
          </p:cNvSpPr>
          <p:nvPr>
            <p:ph type="dt" sz="half" idx="2"/>
          </p:nvPr>
        </p:nvSpPr>
        <p:spPr bwMode="black">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effectLst>
                  <a:outerShdw blurRad="38100" dist="38100" dir="2700000" algn="tl">
                    <a:srgbClr val="000000"/>
                  </a:outerShdw>
                </a:effectLst>
                <a:latin typeface="Arial" pitchFamily="-107" charset="0"/>
              </a:defRPr>
            </a:lvl1pPr>
          </a:lstStyle>
          <a:p>
            <a:pPr>
              <a:defRPr/>
            </a:pPr>
            <a:endParaRPr lang="en-US" dirty="0"/>
          </a:p>
        </p:txBody>
      </p:sp>
      <p:sp>
        <p:nvSpPr>
          <p:cNvPr id="79940" name="Rectangle 1092"/>
          <p:cNvSpPr>
            <a:spLocks noGrp="1" noChangeArrowheads="1"/>
          </p:cNvSpPr>
          <p:nvPr>
            <p:ph type="ftr" sz="quarter" idx="3"/>
          </p:nvPr>
        </p:nvSpPr>
        <p:spPr bwMode="black">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effectLst>
                  <a:outerShdw blurRad="38100" dist="38100" dir="2700000" algn="tl">
                    <a:srgbClr val="000000"/>
                  </a:outerShdw>
                </a:effectLst>
                <a:latin typeface="Arial" pitchFamily="-107" charset="0"/>
              </a:defRPr>
            </a:lvl1pPr>
          </a:lstStyle>
          <a:p>
            <a:pPr>
              <a:defRPr/>
            </a:pPr>
            <a:r>
              <a:rPr lang="en-US" smtClean="0"/>
              <a:t>© 2017 Pearson Education, Inc., Hoboken, NJ. All rights reserved. </a:t>
            </a:r>
            <a:endParaRPr lang="en-US" dirty="0"/>
          </a:p>
        </p:txBody>
      </p:sp>
      <p:sp>
        <p:nvSpPr>
          <p:cNvPr id="79941" name="Rectangle 1093"/>
          <p:cNvSpPr>
            <a:spLocks noGrp="1" noChangeArrowheads="1"/>
          </p:cNvSpPr>
          <p:nvPr>
            <p:ph type="sldNum" sz="quarter" idx="4"/>
          </p:nvPr>
        </p:nvSpPr>
        <p:spPr bwMode="black">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effectLst>
                  <a:outerShdw blurRad="38100" dist="38100" dir="2700000" algn="tl">
                    <a:srgbClr val="000000"/>
                  </a:outerShdw>
                </a:effectLst>
                <a:latin typeface="Arial" pitchFamily="-107" charset="0"/>
              </a:defRPr>
            </a:lvl1pPr>
          </a:lstStyle>
          <a:p>
            <a:pPr>
              <a:defRPr/>
            </a:pPr>
            <a:fld id="{661DEBDE-F9F2-A542-87FC-7133F93D0E70}" type="slidenum">
              <a:rPr lang="en-US"/>
              <a:pPr>
                <a:defRPr/>
              </a:pPr>
              <a:t>‹#›</a:t>
            </a:fld>
            <a:endParaRPr lang="en-US" dirty="0"/>
          </a:p>
        </p:txBody>
      </p:sp>
      <p:sp>
        <p:nvSpPr>
          <p:cNvPr id="79942" name="Rectangle 1094"/>
          <p:cNvSpPr>
            <a:spLocks noGrp="1" noChangeArrowheads="1"/>
          </p:cNvSpPr>
          <p:nvPr>
            <p:ph type="body" idx="1"/>
          </p:nvPr>
        </p:nvSpPr>
        <p:spPr bwMode="black">
          <a:xfrm>
            <a:off x="457200" y="1676400"/>
            <a:ext cx="8229600" cy="44545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dk2" tx1="lt1" bg2="dk1" tx2="lt2" accent1="accent1" accent2="accent2" accent3="accent3" accent4="accent4" accent5="accent5" accent6="accent6" hlink="hlink" folHlink="folHlink"/>
  <p:sldLayoutIdLst>
    <p:sldLayoutId id="2147483720"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ＭＳ Ｐゴシック" charset="-128"/>
          <a:cs typeface="ＭＳ Ｐゴシック" charset="-128"/>
        </a:defRPr>
      </a:lvl1pPr>
      <a:lvl2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2pPr>
      <a:lvl3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3pPr>
      <a:lvl4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4pPr>
      <a:lvl5pPr algn="ctr"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128"/>
          <a:cs typeface="ＭＳ Ｐゴシック" charset="-128"/>
        </a:defRPr>
      </a:lvl5pPr>
      <a:lvl6pPr marL="4572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b="1">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84" charset="2"/>
        <a:buChar char="Ø"/>
        <a:defRPr sz="3200">
          <a:solidFill>
            <a:schemeClr val="tx1"/>
          </a:solidFill>
          <a:effectLst>
            <a:outerShdw blurRad="38100" dist="38100" dir="2700000" algn="tl">
              <a:srgbClr val="000000"/>
            </a:outerShdw>
          </a:effectLst>
          <a:latin typeface="+mn-lt"/>
          <a:ea typeface="ＭＳ Ｐゴシック" charset="-128"/>
          <a:cs typeface="ＭＳ Ｐゴシック" charset="-128"/>
        </a:defRPr>
      </a:lvl1pPr>
      <a:lvl2pPr marL="742950" indent="-285750" algn="l" rtl="0" eaLnBrk="0" fontAlgn="base" hangingPunct="0">
        <a:spcBef>
          <a:spcPct val="20000"/>
        </a:spcBef>
        <a:spcAft>
          <a:spcPct val="0"/>
        </a:spcAft>
        <a:buClr>
          <a:schemeClr val="tx2"/>
        </a:buClr>
        <a:buSzPct val="50000"/>
        <a:buFont typeface="Wingdings" pitchFamily="-84" charset="2"/>
        <a:buChar char="l"/>
        <a:defRPr sz="2800">
          <a:solidFill>
            <a:schemeClr val="tx1"/>
          </a:solidFill>
          <a:effectLst>
            <a:outerShdw blurRad="38100" dist="38100" dir="2700000" algn="tl">
              <a:srgbClr val="000000"/>
            </a:outerShdw>
          </a:effectLst>
          <a:latin typeface="+mn-lt"/>
          <a:ea typeface="ＭＳ Ｐゴシック" charset="-128"/>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ea typeface="ＭＳ Ｐゴシック" charset="-128"/>
        </a:defRPr>
      </a:lvl3pPr>
      <a:lvl4pPr marL="1600200" indent="-228600" algn="l" rtl="0" eaLnBrk="0" fontAlgn="base" hangingPunct="0">
        <a:spcBef>
          <a:spcPct val="20000"/>
        </a:spcBef>
        <a:spcAft>
          <a:spcPct val="0"/>
        </a:spcAft>
        <a:buClr>
          <a:schemeClr val="folHlink"/>
        </a:buClr>
        <a:buSzPct val="50000"/>
        <a:buFont typeface="Wingdings" pitchFamily="-84" charset="2"/>
        <a:buChar char="l"/>
        <a:defRPr sz="2000">
          <a:solidFill>
            <a:schemeClr val="tx1"/>
          </a:solidFill>
          <a:effectLst>
            <a:outerShdw blurRad="38100" dist="38100" dir="2700000" algn="tl">
              <a:srgbClr val="000000"/>
            </a:outerShdw>
          </a:effectLst>
          <a:latin typeface="+mn-lt"/>
          <a:ea typeface="ＭＳ Ｐゴシック" charset="-128"/>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2"/>
      </p:bgRef>
    </p:bg>
    <p:spTree>
      <p:nvGrpSpPr>
        <p:cNvPr id="1" name=""/>
        <p:cNvGrpSpPr/>
        <p:nvPr/>
      </p:nvGrpSpPr>
      <p:grpSpPr>
        <a:xfrm>
          <a:off x="0" y="0"/>
          <a:ext cx="0" cy="0"/>
          <a:chOff x="0" y="0"/>
          <a:chExt cx="0" cy="0"/>
        </a:xfrm>
      </p:grpSpPr>
      <p:sp>
        <p:nvSpPr>
          <p:cNvPr id="13314" name="Title Placeholder 1"/>
          <p:cNvSpPr>
            <a:spLocks noGrp="1"/>
          </p:cNvSpPr>
          <p:nvPr>
            <p:ph type="title"/>
          </p:nvPr>
        </p:nvSpPr>
        <p:spPr bwMode="auto">
          <a:xfrm>
            <a:off x="792163" y="39688"/>
            <a:ext cx="7570787" cy="1412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3315" name="Text Placeholder 2"/>
          <p:cNvSpPr>
            <a:spLocks noGrp="1"/>
          </p:cNvSpPr>
          <p:nvPr>
            <p:ph type="body" idx="1"/>
          </p:nvPr>
        </p:nvSpPr>
        <p:spPr bwMode="auto">
          <a:xfrm>
            <a:off x="792163" y="1762125"/>
            <a:ext cx="7570787" cy="42894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651625" y="6356350"/>
            <a:ext cx="2133600" cy="365125"/>
          </a:xfrm>
          <a:prstGeom prst="rect">
            <a:avLst/>
          </a:prstGeom>
        </p:spPr>
        <p:txBody>
          <a:bodyPr vert="horz" lIns="91440" tIns="45720" rIns="91440" bIns="45720" rtlCol="0" anchor="ctr"/>
          <a:lstStyle>
            <a:lvl1pPr algn="r">
              <a:defRPr sz="1200" b="1" dirty="0">
                <a:solidFill>
                  <a:schemeClr val="tx2">
                    <a:lumMod val="40000"/>
                    <a:lumOff val="60000"/>
                  </a:schemeClr>
                </a:solidFill>
                <a:latin typeface="Arial" pitchFamily="-1" charset="0"/>
              </a:defRPr>
            </a:lvl1pPr>
          </a:lstStyle>
          <a:p>
            <a:pPr>
              <a:defRPr/>
            </a:pPr>
            <a:endParaRPr lang="en-US" dirty="0"/>
          </a:p>
        </p:txBody>
      </p:sp>
      <p:sp>
        <p:nvSpPr>
          <p:cNvPr id="6" name="Slide Number Placeholder 5"/>
          <p:cNvSpPr>
            <a:spLocks noGrp="1"/>
          </p:cNvSpPr>
          <p:nvPr>
            <p:ph type="sldNum" sz="quarter" idx="4"/>
          </p:nvPr>
        </p:nvSpPr>
        <p:spPr>
          <a:xfrm>
            <a:off x="4267200" y="6356350"/>
            <a:ext cx="609600" cy="365125"/>
          </a:xfrm>
          <a:prstGeom prst="rect">
            <a:avLst/>
          </a:prstGeom>
        </p:spPr>
        <p:txBody>
          <a:bodyPr vert="horz" lIns="91440" tIns="45720" rIns="91440" bIns="45720" rtlCol="0" anchor="ctr"/>
          <a:lstStyle>
            <a:lvl1pPr algn="ctr">
              <a:defRPr sz="1200" b="1" smtClean="0">
                <a:solidFill>
                  <a:schemeClr val="tx2">
                    <a:lumMod val="40000"/>
                    <a:lumOff val="60000"/>
                  </a:schemeClr>
                </a:solidFill>
                <a:latin typeface="Arial" pitchFamily="-1" charset="0"/>
              </a:defRPr>
            </a:lvl1pPr>
          </a:lstStyle>
          <a:p>
            <a:pPr>
              <a:defRPr/>
            </a:pPr>
            <a:fld id="{FD05123F-ECCC-3744-8046-0E4114F7D95B}" type="slidenum">
              <a:rPr lang="en-US"/>
              <a:pPr>
                <a:defRPr/>
              </a:pPr>
              <a:t>‹#›</a:t>
            </a:fld>
            <a:endParaRPr lang="en-US" dirty="0"/>
          </a:p>
        </p:txBody>
      </p:sp>
      <p:sp>
        <p:nvSpPr>
          <p:cNvPr id="5" name="Footer Placeholder 4"/>
          <p:cNvSpPr>
            <a:spLocks noGrp="1"/>
          </p:cNvSpPr>
          <p:nvPr>
            <p:ph type="ftr" sz="quarter" idx="3"/>
          </p:nvPr>
        </p:nvSpPr>
        <p:spPr>
          <a:xfrm>
            <a:off x="371475" y="6356350"/>
            <a:ext cx="2895600" cy="365125"/>
          </a:xfrm>
          <a:prstGeom prst="rect">
            <a:avLst/>
          </a:prstGeom>
        </p:spPr>
        <p:txBody>
          <a:bodyPr vert="horz" lIns="91440" tIns="45720" rIns="91440" bIns="45720" rtlCol="0" anchor="ctr"/>
          <a:lstStyle>
            <a:lvl1pPr algn="l">
              <a:defRPr sz="1200" b="1" dirty="0">
                <a:solidFill>
                  <a:schemeClr val="tx2">
                    <a:lumMod val="40000"/>
                    <a:lumOff val="60000"/>
                  </a:schemeClr>
                </a:solidFill>
                <a:latin typeface="Arial" pitchFamily="-1" charset="0"/>
              </a:defRPr>
            </a:lvl1pPr>
          </a:lstStyle>
          <a:p>
            <a:pPr>
              <a:defRPr/>
            </a:pPr>
            <a:r>
              <a:rPr lang="en-US" smtClean="0"/>
              <a:t>© 2017 Pearson Education, Inc., Hoboken, NJ. All rights reserved. </a:t>
            </a:r>
            <a:endParaRPr lang="en-US" dirty="0"/>
          </a:p>
        </p:txBody>
      </p:sp>
    </p:spTree>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Lst>
  <p:hf sldNum="0" hdr="0" dt="0"/>
  <p:txStyles>
    <p:titleStyle>
      <a:lvl1pPr algn="ctr" rtl="0" fontAlgn="base">
        <a:lnSpc>
          <a:spcPts val="6000"/>
        </a:lnSpc>
        <a:spcBef>
          <a:spcPct val="0"/>
        </a:spcBef>
        <a:spcAft>
          <a:spcPct val="0"/>
        </a:spcAft>
        <a:defRPr sz="5400" kern="1200">
          <a:solidFill>
            <a:schemeClr val="tx2"/>
          </a:solidFill>
          <a:latin typeface="+mn-lt"/>
          <a:ea typeface="ＭＳ Ｐゴシック" pitchFamily="-84" charset="-128"/>
          <a:cs typeface="ＭＳ Ｐゴシック" pitchFamily="-84" charset="-128"/>
        </a:defRPr>
      </a:lvl1pPr>
      <a:lvl2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2pPr>
      <a:lvl3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3pPr>
      <a:lvl4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4pPr>
      <a:lvl5pPr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5pPr>
      <a:lvl6pPr marL="4572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6pPr>
      <a:lvl7pPr marL="9144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7pPr>
      <a:lvl8pPr marL="13716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8pPr>
      <a:lvl9pPr marL="1828800" algn="ctr" rtl="0" fontAlgn="base">
        <a:lnSpc>
          <a:spcPts val="6000"/>
        </a:lnSpc>
        <a:spcBef>
          <a:spcPct val="0"/>
        </a:spcBef>
        <a:spcAft>
          <a:spcPct val="0"/>
        </a:spcAft>
        <a:defRPr sz="5400">
          <a:solidFill>
            <a:schemeClr val="tx2"/>
          </a:solidFill>
          <a:latin typeface="Candara" pitchFamily="-84" charset="0"/>
          <a:ea typeface="ＭＳ Ｐゴシック" pitchFamily="-84" charset="-128"/>
          <a:cs typeface="ＭＳ Ｐゴシック" pitchFamily="-84" charset="-128"/>
        </a:defRPr>
      </a:lvl9pPr>
    </p:titleStyle>
    <p:bodyStyle>
      <a:lvl1pPr marL="342900" indent="-342900" algn="l" rtl="0" fontAlgn="base">
        <a:spcBef>
          <a:spcPts val="2400"/>
        </a:spcBef>
        <a:spcAft>
          <a:spcPct val="0"/>
        </a:spcAft>
        <a:buClr>
          <a:srgbClr val="BAABE3"/>
        </a:buClr>
        <a:buFont typeface="Candara" pitchFamily="-84" charset="0"/>
        <a:buChar char="•"/>
        <a:defRPr sz="2800" kern="1200">
          <a:solidFill>
            <a:schemeClr val="tx2"/>
          </a:solidFill>
          <a:latin typeface="+mn-lt"/>
          <a:ea typeface="ＭＳ Ｐゴシック" pitchFamily="-84" charset="-128"/>
          <a:cs typeface="ＭＳ Ｐゴシック" pitchFamily="-84" charset="-128"/>
        </a:defRPr>
      </a:lvl1pPr>
      <a:lvl2pPr marL="685800" indent="-336550" algn="l" rtl="0" fontAlgn="base">
        <a:spcBef>
          <a:spcPts val="600"/>
        </a:spcBef>
        <a:spcAft>
          <a:spcPct val="0"/>
        </a:spcAft>
        <a:buClr>
          <a:schemeClr val="tx2"/>
        </a:buClr>
        <a:buFont typeface="Candara" pitchFamily="-84" charset="0"/>
        <a:buChar char="•"/>
        <a:defRPr sz="2600" kern="1200">
          <a:solidFill>
            <a:schemeClr val="tx2"/>
          </a:solidFill>
          <a:latin typeface="+mn-lt"/>
          <a:ea typeface="ＭＳ Ｐゴシック" pitchFamily="-84" charset="-128"/>
          <a:cs typeface="+mn-cs"/>
        </a:defRPr>
      </a:lvl2pPr>
      <a:lvl3pPr marL="1035050" indent="-349250" algn="l" rtl="0" fontAlgn="base">
        <a:spcBef>
          <a:spcPts val="600"/>
        </a:spcBef>
        <a:spcAft>
          <a:spcPct val="0"/>
        </a:spcAft>
        <a:buClr>
          <a:srgbClr val="BAABE3"/>
        </a:buClr>
        <a:buFont typeface="Candara" pitchFamily="-84" charset="0"/>
        <a:buChar char="•"/>
        <a:defRPr sz="2400" kern="1200">
          <a:solidFill>
            <a:schemeClr val="tx2"/>
          </a:solidFill>
          <a:latin typeface="+mn-lt"/>
          <a:ea typeface="ＭＳ Ｐゴシック" pitchFamily="-84" charset="-128"/>
          <a:cs typeface="+mn-cs"/>
        </a:defRPr>
      </a:lvl3pPr>
      <a:lvl4pPr marL="1371600" indent="-336550" algn="l" rtl="0" fontAlgn="base">
        <a:spcBef>
          <a:spcPts val="600"/>
        </a:spcBef>
        <a:spcAft>
          <a:spcPct val="0"/>
        </a:spcAft>
        <a:buClr>
          <a:schemeClr val="tx2"/>
        </a:buClr>
        <a:buFont typeface="Candara" pitchFamily="-84" charset="0"/>
        <a:buChar char="•"/>
        <a:defRPr sz="2200" kern="1200">
          <a:solidFill>
            <a:schemeClr val="tx2"/>
          </a:solidFill>
          <a:latin typeface="+mn-lt"/>
          <a:ea typeface="ＭＳ Ｐゴシック" pitchFamily="-84" charset="-128"/>
          <a:cs typeface="+mn-cs"/>
        </a:defRPr>
      </a:lvl4pPr>
      <a:lvl5pPr marL="1720850" indent="-349250" algn="l" rtl="0" fontAlgn="base">
        <a:spcBef>
          <a:spcPts val="600"/>
        </a:spcBef>
        <a:spcAft>
          <a:spcPct val="0"/>
        </a:spcAft>
        <a:buClr>
          <a:srgbClr val="BAABE3"/>
        </a:buClr>
        <a:buFont typeface="Candara" pitchFamily="-84" charset="0"/>
        <a:buChar char="•"/>
        <a:defRPr sz="2000" kern="1200">
          <a:solidFill>
            <a:schemeClr val="tx2"/>
          </a:solidFill>
          <a:latin typeface="+mn-lt"/>
          <a:ea typeface="ＭＳ Ｐゴシック" pitchFamily="-8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0.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1.pdf"/><Relationship Id="rId4" Type="http://schemas.openxmlformats.org/officeDocument/2006/relationships/image" Target="../media/image12.png"/><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3.pdf"/><Relationship Id="rId4" Type="http://schemas.openxmlformats.org/officeDocument/2006/relationships/image" Target="../media/image14.png"/><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15.pdf"/><Relationship Id="rId4" Type="http://schemas.openxmlformats.org/officeDocument/2006/relationships/image" Target="../media/image16.png"/><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7.pdf"/><Relationship Id="rId4" Type="http://schemas.openxmlformats.org/officeDocument/2006/relationships/image" Target="../media/image18.png"/><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df"/><Relationship Id="rId4" Type="http://schemas.openxmlformats.org/officeDocument/2006/relationships/image" Target="../media/image20.png"/><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df"/><Relationship Id="rId4" Type="http://schemas.openxmlformats.org/officeDocument/2006/relationships/image" Target="../media/image22.png"/><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23.pdf"/><Relationship Id="rId4" Type="http://schemas.openxmlformats.org/officeDocument/2006/relationships/image" Target="../media/image24.png"/><Relationship Id="rId1" Type="http://schemas.openxmlformats.org/officeDocument/2006/relationships/slideLayout" Target="../slideLayouts/slideLayout1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df"/><Relationship Id="rId4" Type="http://schemas.openxmlformats.org/officeDocument/2006/relationships/image" Target="../media/image26.png"/><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4" Type="http://schemas.openxmlformats.org/officeDocument/2006/relationships/diagramLayout" Target="../diagrams/layout3.xml"/><Relationship Id="rId5" Type="http://schemas.openxmlformats.org/officeDocument/2006/relationships/diagramQuickStyle" Target="../diagrams/quickStyle3.xml"/><Relationship Id="rId6" Type="http://schemas.openxmlformats.org/officeDocument/2006/relationships/diagramColors" Target="../diagrams/colors3.xml"/><Relationship Id="rId7" Type="http://schemas.microsoft.com/office/2007/relationships/diagramDrawing" Target="../diagrams/drawing3.xml"/><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df"/><Relationship Id="rId4" Type="http://schemas.openxmlformats.org/officeDocument/2006/relationships/image" Target="../media/image28.png"/><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29.pdf"/><Relationship Id="rId4" Type="http://schemas.openxmlformats.org/officeDocument/2006/relationships/image" Target="../media/image30.png"/><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df"/><Relationship Id="rId4" Type="http://schemas.openxmlformats.org/officeDocument/2006/relationships/image" Target="../media/image32.png"/><Relationship Id="rId1" Type="http://schemas.openxmlformats.org/officeDocument/2006/relationships/slideLayout" Target="../slideLayouts/slideLayout1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854200" y="3694113"/>
            <a:ext cx="5446713" cy="1470025"/>
          </a:xfrm>
        </p:spPr>
        <p:txBody>
          <a:bodyPr rtlCol="0">
            <a:noAutofit/>
          </a:bodyPr>
          <a:lstStyle/>
          <a:p>
            <a:pPr fontAlgn="auto">
              <a:spcAft>
                <a:spcPts val="0"/>
              </a:spcAft>
              <a:defRPr/>
            </a:pPr>
            <a:r>
              <a:rPr lang="en-US" dirty="0">
                <a:ea typeface="+mj-ea"/>
                <a:cs typeface="+mj-cs"/>
              </a:rPr>
              <a:t>Cryptography and Network Security</a:t>
            </a:r>
            <a:endParaRPr lang="en-AU" dirty="0">
              <a:ea typeface="+mj-ea"/>
              <a:cs typeface="+mj-cs"/>
            </a:endParaRPr>
          </a:p>
        </p:txBody>
      </p:sp>
      <p:sp>
        <p:nvSpPr>
          <p:cNvPr id="28675" name="Rectangle 3"/>
          <p:cNvSpPr>
            <a:spLocks noGrp="1" noChangeArrowheads="1"/>
          </p:cNvSpPr>
          <p:nvPr>
            <p:ph type="subTitle" idx="1"/>
          </p:nvPr>
        </p:nvSpPr>
        <p:spPr>
          <a:xfrm>
            <a:off x="1854200" y="5203825"/>
            <a:ext cx="5446713" cy="852488"/>
          </a:xfrm>
        </p:spPr>
        <p:txBody>
          <a:bodyPr/>
          <a:lstStyle/>
          <a:p>
            <a:pPr>
              <a:buFont typeface="Wingdings" pitchFamily="-84" charset="2"/>
              <a:buNone/>
            </a:pPr>
            <a:r>
              <a:rPr lang="en-US" dirty="0" smtClean="0"/>
              <a:t>Seventh </a:t>
            </a:r>
            <a:r>
              <a:rPr lang="en-US" dirty="0" smtClean="0"/>
              <a:t>Edition</a:t>
            </a:r>
          </a:p>
          <a:p>
            <a:pPr>
              <a:buFont typeface="Wingdings" pitchFamily="-84" charset="2"/>
              <a:buNone/>
            </a:pPr>
            <a:r>
              <a:rPr lang="en-US" dirty="0" smtClean="0"/>
              <a:t>by William Stallings	</a:t>
            </a:r>
          </a:p>
          <a:p>
            <a:pPr>
              <a:buFont typeface="Wingdings" pitchFamily="-84" charset="2"/>
              <a:buNone/>
            </a:pPr>
            <a:endParaRPr lang="en-US" dirty="0" smtClean="0"/>
          </a:p>
        </p:txBody>
      </p:sp>
      <p:pic>
        <p:nvPicPr>
          <p:cNvPr id="14" name="Picture Placeholder 4" descr="crypto.jpg"/>
          <p:cNvPicPr>
            <a:picLocks noGrp="1" noChangeAspect="1"/>
          </p:cNvPicPr>
          <p:nvPr>
            <p:ph type="pic" sz="quarter" idx="12"/>
          </p:nvPr>
        </p:nvPicPr>
        <p:blipFill>
          <a:blip r:embed="rId3">
            <a:alphaModFix/>
            <a:lum bright="28000"/>
          </a:blip>
          <a:srcRect l="-16674" t="-1111" r="-18211" b="44444"/>
          <a:stretch>
            <a:fillRect/>
          </a:stretch>
        </p:blipFill>
        <p:spPr>
          <a:xfrm>
            <a:off x="3581400" y="1447800"/>
            <a:ext cx="2109547" cy="1209027"/>
          </a:xfrm>
          <a:effectLst>
            <a:innerShdw blurRad="762000">
              <a:schemeClr val="accent1">
                <a:alpha val="80000"/>
              </a:schemeClr>
            </a:innerShdw>
            <a:softEdge rad="76200"/>
          </a:effectLst>
        </p:spPr>
      </p:pic>
      <p:sp>
        <p:nvSpPr>
          <p:cNvPr id="5" name="Footer Placeholder 4"/>
          <p:cNvSpPr>
            <a:spLocks noGrp="1"/>
          </p:cNvSpPr>
          <p:nvPr>
            <p:ph type="ftr" sz="quarter" idx="14"/>
          </p:nvPr>
        </p:nvSpPr>
        <p:spPr>
          <a:xfrm>
            <a:off x="0" y="6492875"/>
            <a:ext cx="49530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 name="Title 12"/>
          <p:cNvSpPr>
            <a:spLocks noGrp="1"/>
          </p:cNvSpPr>
          <p:nvPr>
            <p:ph type="ctrTitle"/>
          </p:nvPr>
        </p:nvSpPr>
        <p:spPr>
          <a:xfrm>
            <a:off x="1854200" y="3694113"/>
            <a:ext cx="5446713" cy="1470025"/>
          </a:xfrm>
        </p:spPr>
        <p:txBody>
          <a:bodyPr rtlCol="0">
            <a:noAutofit/>
          </a:bodyPr>
          <a:lstStyle/>
          <a:p>
            <a:pPr fontAlgn="auto">
              <a:spcAft>
                <a:spcPts val="0"/>
              </a:spcAft>
              <a:defRPr/>
            </a:pPr>
            <a:r>
              <a:rPr lang="en-US" dirty="0" smtClean="0">
                <a:ea typeface="+mj-ea"/>
                <a:cs typeface="+mj-cs"/>
              </a:rPr>
              <a:t>Chapter 10</a:t>
            </a:r>
            <a:endParaRPr lang="en-US" dirty="0">
              <a:ea typeface="+mj-ea"/>
              <a:cs typeface="+mj-cs"/>
            </a:endParaRPr>
          </a:p>
        </p:txBody>
      </p:sp>
      <p:sp>
        <p:nvSpPr>
          <p:cNvPr id="30723" name="Subtitle 13"/>
          <p:cNvSpPr>
            <a:spLocks noGrp="1"/>
          </p:cNvSpPr>
          <p:nvPr>
            <p:ph type="subTitle" idx="1"/>
          </p:nvPr>
        </p:nvSpPr>
        <p:spPr>
          <a:xfrm>
            <a:off x="1524000" y="5334000"/>
            <a:ext cx="6096000" cy="852488"/>
          </a:xfrm>
        </p:spPr>
        <p:txBody>
          <a:bodyPr>
            <a:normAutofit fontScale="92500"/>
          </a:bodyPr>
          <a:lstStyle/>
          <a:p>
            <a:r>
              <a:rPr lang="en-AU" sz="3600" dirty="0" smtClean="0"/>
              <a:t>Other Public-Key Cryptosystems</a:t>
            </a:r>
            <a:endParaRPr lang="en-US" sz="3600" dirty="0" smtClean="0"/>
          </a:p>
        </p:txBody>
      </p:sp>
      <p:pic>
        <p:nvPicPr>
          <p:cNvPr id="6" name="Picture Placeholder 4" descr="crypto.jpg"/>
          <p:cNvPicPr>
            <a:picLocks noChangeAspect="1"/>
          </p:cNvPicPr>
          <p:nvPr/>
        </p:nvPicPr>
        <p:blipFill>
          <a:blip r:embed="rId3">
            <a:alphaModFix/>
            <a:lum bright="28000"/>
          </a:blip>
          <a:srcRect l="-16674" t="-1111" r="-18211" b="44444"/>
          <a:stretch>
            <a:fillRect/>
          </a:stretch>
        </p:blipFill>
        <p:spPr bwMode="auto">
          <a:xfrm>
            <a:off x="3581400" y="14478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5" name="Footer Placeholder 4"/>
          <p:cNvSpPr>
            <a:spLocks noGrp="1"/>
          </p:cNvSpPr>
          <p:nvPr>
            <p:ph type="ftr" sz="quarter" idx="11"/>
          </p:nvPr>
        </p:nvSpPr>
        <p:spPr>
          <a:xfrm>
            <a:off x="0" y="6492875"/>
            <a:ext cx="46482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0" y="39688"/>
            <a:ext cx="9143999" cy="1412875"/>
          </a:xfrm>
        </p:spPr>
        <p:txBody>
          <a:bodyPr/>
          <a:lstStyle/>
          <a:p>
            <a:r>
              <a:rPr lang="en-AU" dirty="0" smtClean="0"/>
              <a:t>Diffie-Hellman Key Exchange</a:t>
            </a:r>
            <a:endParaRPr lang="en-AU" dirty="0"/>
          </a:p>
        </p:txBody>
      </p:sp>
      <p:sp>
        <p:nvSpPr>
          <p:cNvPr id="60419" name="Rectangle 3"/>
          <p:cNvSpPr>
            <a:spLocks noGrp="1" noChangeArrowheads="1"/>
          </p:cNvSpPr>
          <p:nvPr>
            <p:ph idx="1"/>
          </p:nvPr>
        </p:nvSpPr>
        <p:spPr>
          <a:xfrm>
            <a:off x="762000" y="1676400"/>
            <a:ext cx="7570787" cy="4648200"/>
          </a:xfrm>
        </p:spPr>
        <p:txBody>
          <a:bodyPr>
            <a:normAutofit fontScale="92500" lnSpcReduction="20000"/>
          </a:bodyPr>
          <a:lstStyle/>
          <a:p>
            <a:r>
              <a:rPr lang="en-AU" dirty="0" smtClean="0"/>
              <a:t>First published public-key algorithm</a:t>
            </a:r>
          </a:p>
          <a:p>
            <a:r>
              <a:rPr lang="en-AU" dirty="0" smtClean="0"/>
              <a:t>A number of commercial products employ this key exchange technique</a:t>
            </a:r>
          </a:p>
          <a:p>
            <a:r>
              <a:rPr lang="en-AU" dirty="0" smtClean="0"/>
              <a:t>Purpose is to enable two users to securely exchange a key that can then be used for subsequent symmetric encryption of messages</a:t>
            </a:r>
          </a:p>
          <a:p>
            <a:r>
              <a:rPr lang="en-AU" dirty="0" smtClean="0"/>
              <a:t>The algorithm itself is limited to the exchange of secret values</a:t>
            </a:r>
          </a:p>
          <a:p>
            <a:r>
              <a:rPr lang="en-AU" dirty="0" smtClean="0"/>
              <a:t>Its effectiveness depends on the difficulty of computing discrete logarithms</a:t>
            </a:r>
          </a:p>
        </p:txBody>
      </p:sp>
      <p:sp>
        <p:nvSpPr>
          <p:cNvPr id="4" name="Footer Placeholder 3"/>
          <p:cNvSpPr>
            <a:spLocks noGrp="1"/>
          </p:cNvSpPr>
          <p:nvPr>
            <p:ph type="ftr" sz="quarter" idx="11"/>
          </p:nvPr>
        </p:nvSpPr>
        <p:spPr>
          <a:xfrm>
            <a:off x="0" y="6492875"/>
            <a:ext cx="5257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1.pdf"/>
          <p:cNvPicPr>
            <a:picLocks noChangeAspect="1"/>
          </p:cNvPicPr>
          <p:nvPr/>
        </p:nvPicPr>
        <mc:AlternateContent>
          <mc:Choice xmlns:ma="http://schemas.microsoft.com/office/mac/drawingml/2008/main" Requires="ma">
            <p:blipFill>
              <a:blip r:embed="rId3"/>
              <a:srcRect l="4706" t="909" r="3529" b="21818"/>
              <a:stretch>
                <a:fillRect/>
              </a:stretch>
            </p:blipFill>
          </mc:Choice>
          <mc:Fallback>
            <p:blipFill>
              <a:blip r:embed="rId4"/>
              <a:srcRect l="4706" t="909" r="3529" b="21818"/>
              <a:stretch>
                <a:fillRect/>
              </a:stretch>
            </p:blipFill>
          </mc:Fallback>
        </mc:AlternateContent>
        <p:spPr>
          <a:xfrm>
            <a:off x="1447800" y="-152400"/>
            <a:ext cx="6293132" cy="6857999"/>
          </a:xfrm>
          <a:prstGeom prst="rect">
            <a:avLst/>
          </a:prstGeom>
        </p:spPr>
      </p:pic>
      <p:sp>
        <p:nvSpPr>
          <p:cNvPr id="3" name="Footer Placeholder 2"/>
          <p:cNvSpPr>
            <a:spLocks noGrp="1"/>
          </p:cNvSpPr>
          <p:nvPr>
            <p:ph type="ftr" sz="quarter" idx="11"/>
          </p:nvPr>
        </p:nvSpPr>
        <p:spPr>
          <a:xfrm>
            <a:off x="0" y="6492875"/>
            <a:ext cx="5257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p:dissolv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2.pdf"/>
          <p:cNvPicPr>
            <a:picLocks noChangeAspect="1"/>
          </p:cNvPicPr>
          <p:nvPr/>
        </p:nvPicPr>
        <mc:AlternateContent>
          <mc:Choice xmlns:ma="http://schemas.microsoft.com/office/mac/drawingml/2008/main" Requires="ma">
            <p:blipFill>
              <a:blip r:embed="rId3"/>
              <a:srcRect l="5882" t="1818" r="5882" b="10000"/>
              <a:stretch>
                <a:fillRect/>
              </a:stretch>
            </p:blipFill>
          </mc:Choice>
          <mc:Fallback>
            <p:blipFill>
              <a:blip r:embed="rId4"/>
              <a:srcRect l="5882" t="1818" r="5882" b="10000"/>
              <a:stretch>
                <a:fillRect/>
              </a:stretch>
            </p:blipFill>
          </mc:Fallback>
        </mc:AlternateContent>
        <p:spPr>
          <a:xfrm>
            <a:off x="1828800" y="-152400"/>
            <a:ext cx="5302501" cy="6858000"/>
          </a:xfrm>
          <a:prstGeom prst="rect">
            <a:avLst/>
          </a:prstGeom>
        </p:spPr>
      </p:pic>
      <p:sp>
        <p:nvSpPr>
          <p:cNvPr id="3" name="Footer Placeholder 2"/>
          <p:cNvSpPr>
            <a:spLocks noGrp="1"/>
          </p:cNvSpPr>
          <p:nvPr>
            <p:ph type="ftr" sz="quarter" idx="11"/>
          </p:nvPr>
        </p:nvSpPr>
        <p:spPr>
          <a:xfrm>
            <a:off x="0" y="6492875"/>
            <a:ext cx="55626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AU" dirty="0" smtClean="0"/>
              <a:t>ElGamal Cryptography</a:t>
            </a:r>
          </a:p>
        </p:txBody>
      </p:sp>
      <p:graphicFrame>
        <p:nvGraphicFramePr>
          <p:cNvPr id="20" name="Content Placeholder 19"/>
          <p:cNvGraphicFramePr>
            <a:graphicFrameLocks noGrp="1"/>
          </p:cNvGraphicFramePr>
          <p:nvPr>
            <p:ph idx="1"/>
          </p:nvPr>
        </p:nvGraphicFramePr>
        <p:xfrm>
          <a:off x="0" y="1524000"/>
          <a:ext cx="9143999" cy="5333999"/>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0" y="6492875"/>
            <a:ext cx="61722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descr="f3.pdf"/>
          <p:cNvPicPr>
            <a:picLocks noChangeAspect="1"/>
          </p:cNvPicPr>
          <p:nvPr/>
        </p:nvPicPr>
        <mc:AlternateContent>
          <mc:Choice xmlns:ma="http://schemas.microsoft.com/office/mac/drawingml/2008/main" Requires="ma">
            <p:blipFill>
              <a:blip r:embed="rId3"/>
              <a:srcRect l="11765" t="6364" r="10588" b="10000"/>
              <a:stretch>
                <a:fillRect/>
              </a:stretch>
            </p:blipFill>
          </mc:Choice>
          <mc:Fallback>
            <p:blipFill>
              <a:blip r:embed="rId4"/>
              <a:srcRect l="11765" t="6364" r="10588" b="10000"/>
              <a:stretch>
                <a:fillRect/>
              </a:stretch>
            </p:blipFill>
          </mc:Fallback>
        </mc:AlternateContent>
        <p:spPr>
          <a:xfrm>
            <a:off x="2286000" y="-152400"/>
            <a:ext cx="4919802" cy="6858000"/>
          </a:xfrm>
          <a:prstGeom prst="rect">
            <a:avLst/>
          </a:prstGeom>
        </p:spPr>
      </p:pic>
      <p:sp>
        <p:nvSpPr>
          <p:cNvPr id="3" name="Footer Placeholder 2"/>
          <p:cNvSpPr>
            <a:spLocks noGrp="1"/>
          </p:cNvSpPr>
          <p:nvPr>
            <p:ph type="ftr" sz="quarter" idx="11"/>
          </p:nvPr>
        </p:nvSpPr>
        <p:spPr>
          <a:xfrm>
            <a:off x="0" y="6492875"/>
            <a:ext cx="58674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0" y="39688"/>
            <a:ext cx="9143999" cy="1412875"/>
          </a:xfrm>
        </p:spPr>
        <p:txBody>
          <a:bodyPr/>
          <a:lstStyle/>
          <a:p>
            <a:r>
              <a:rPr lang="en-US" dirty="0" smtClean="0"/>
              <a:t>Elliptic Curve Arithmetic</a:t>
            </a:r>
            <a:endParaRPr lang="en-AU" dirty="0"/>
          </a:p>
        </p:txBody>
      </p:sp>
      <p:sp>
        <p:nvSpPr>
          <p:cNvPr id="68611" name="Rectangle 3"/>
          <p:cNvSpPr>
            <a:spLocks noGrp="1" noChangeArrowheads="1"/>
          </p:cNvSpPr>
          <p:nvPr>
            <p:ph idx="1"/>
          </p:nvPr>
        </p:nvSpPr>
        <p:spPr>
          <a:xfrm>
            <a:off x="762000" y="1905000"/>
            <a:ext cx="7570787" cy="4289425"/>
          </a:xfrm>
        </p:spPr>
        <p:txBody>
          <a:bodyPr>
            <a:normAutofit fontScale="85000" lnSpcReduction="20000"/>
          </a:bodyPr>
          <a:lstStyle/>
          <a:p>
            <a:r>
              <a:rPr lang="en-AU" dirty="0" smtClean="0"/>
              <a:t>Most of the products and standards that use public-key cryptography for encryption and digital signatures use RSA</a:t>
            </a:r>
          </a:p>
          <a:p>
            <a:pPr lvl="1"/>
            <a:r>
              <a:rPr lang="en-AU" dirty="0" smtClean="0"/>
              <a:t>The key length for secure RSA use has increased over recent years and this has put a heavier processing load on applications using RSA</a:t>
            </a:r>
          </a:p>
          <a:p>
            <a:r>
              <a:rPr lang="en-AU" dirty="0" smtClean="0"/>
              <a:t>Elliptic curve cryptography (ECC) is showing up in standardization efforts including the IEEE P1363 Standard for Public-Key Cryptography</a:t>
            </a:r>
          </a:p>
          <a:p>
            <a:r>
              <a:rPr lang="en-AU" dirty="0" smtClean="0"/>
              <a:t>Principal attraction of ECC is that it appears to offer equal security for a far smaller key </a:t>
            </a:r>
            <a:r>
              <a:rPr lang="en-AU" dirty="0" smtClean="0"/>
              <a:t>size</a:t>
            </a:r>
            <a:endParaRPr lang="en-AU" dirty="0" smtClean="0"/>
          </a:p>
        </p:txBody>
      </p:sp>
      <p:sp>
        <p:nvSpPr>
          <p:cNvPr id="4" name="Footer Placeholder 3"/>
          <p:cNvSpPr>
            <a:spLocks noGrp="1"/>
          </p:cNvSpPr>
          <p:nvPr>
            <p:ph type="ftr" sz="quarter" idx="11"/>
          </p:nvPr>
        </p:nvSpPr>
        <p:spPr>
          <a:xfrm>
            <a:off x="0" y="6492875"/>
            <a:ext cx="5257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Abelian Group</a:t>
            </a:r>
            <a:endParaRPr lang="en-US" dirty="0"/>
          </a:p>
        </p:txBody>
      </p:sp>
      <p:sp>
        <p:nvSpPr>
          <p:cNvPr id="9" name="Content Placeholder 8"/>
          <p:cNvSpPr>
            <a:spLocks noGrp="1"/>
          </p:cNvSpPr>
          <p:nvPr>
            <p:ph idx="1"/>
          </p:nvPr>
        </p:nvSpPr>
        <p:spPr>
          <a:xfrm>
            <a:off x="457200" y="1676400"/>
            <a:ext cx="8382000" cy="4943475"/>
          </a:xfrm>
        </p:spPr>
        <p:txBody>
          <a:bodyPr>
            <a:normAutofit fontScale="92500" lnSpcReduction="20000"/>
          </a:bodyPr>
          <a:lstStyle/>
          <a:p>
            <a:r>
              <a:rPr lang="en-US" dirty="0" smtClean="0"/>
              <a:t>A set of elements with a binary operation, denoted by </a:t>
            </a:r>
            <a:r>
              <a:rPr lang="en-US" sz="2000" dirty="0" smtClean="0">
                <a:latin typeface="Wingdings"/>
                <a:ea typeface="Wingdings"/>
                <a:cs typeface="Wingdings"/>
              </a:rPr>
              <a:t></a:t>
            </a:r>
            <a:r>
              <a:rPr lang="en-US" dirty="0" smtClean="0"/>
              <a:t>, that associates to each ordered pair (</a:t>
            </a:r>
            <a:r>
              <a:rPr lang="en-US" i="1" dirty="0" smtClean="0"/>
              <a:t>a, b) </a:t>
            </a:r>
            <a:r>
              <a:rPr lang="en-US" dirty="0" smtClean="0"/>
              <a:t>of elements in </a:t>
            </a:r>
            <a:r>
              <a:rPr lang="en-US" i="1" dirty="0" smtClean="0"/>
              <a:t>G </a:t>
            </a:r>
            <a:r>
              <a:rPr lang="en-US" dirty="0" smtClean="0"/>
              <a:t>an element (</a:t>
            </a:r>
            <a:r>
              <a:rPr lang="en-US" i="1" dirty="0" smtClean="0"/>
              <a:t>a </a:t>
            </a:r>
            <a:r>
              <a:rPr lang="en-US" sz="2000" i="1" dirty="0" smtClean="0">
                <a:latin typeface="Wingdings"/>
                <a:ea typeface="Wingdings"/>
                <a:cs typeface="Wingdings"/>
              </a:rPr>
              <a:t></a:t>
            </a:r>
            <a:r>
              <a:rPr lang="en-US" i="1" dirty="0" smtClean="0"/>
              <a:t> b)</a:t>
            </a:r>
            <a:r>
              <a:rPr lang="en-US" dirty="0" smtClean="0"/>
              <a:t> in </a:t>
            </a:r>
            <a:r>
              <a:rPr lang="en-US" i="1" dirty="0" smtClean="0"/>
              <a:t>G, </a:t>
            </a:r>
            <a:r>
              <a:rPr lang="en-US" dirty="0" smtClean="0"/>
              <a:t>such that the following axioms are obeyed:</a:t>
            </a:r>
          </a:p>
          <a:p>
            <a:pPr>
              <a:buNone/>
            </a:pPr>
            <a:r>
              <a:rPr lang="en-US" dirty="0" smtClean="0"/>
              <a:t>	</a:t>
            </a:r>
            <a:r>
              <a:rPr lang="en-US" sz="2200" b="1" dirty="0" smtClean="0"/>
              <a:t>(A1) Closure: </a:t>
            </a:r>
            <a:r>
              <a:rPr lang="en-US" sz="2200" dirty="0" smtClean="0"/>
              <a:t>		If </a:t>
            </a:r>
            <a:r>
              <a:rPr lang="en-US" sz="2200" i="1" dirty="0" smtClean="0"/>
              <a:t>a</a:t>
            </a:r>
            <a:r>
              <a:rPr lang="en-US" sz="2200" dirty="0" smtClean="0"/>
              <a:t> and </a:t>
            </a:r>
            <a:r>
              <a:rPr lang="en-US" sz="2200" i="1" dirty="0" smtClean="0"/>
              <a:t>b</a:t>
            </a:r>
            <a:r>
              <a:rPr lang="en-US" sz="2200" dirty="0" smtClean="0"/>
              <a:t> belong to </a:t>
            </a:r>
            <a:r>
              <a:rPr lang="en-US" sz="2200" i="1" dirty="0" smtClean="0"/>
              <a:t>G</a:t>
            </a:r>
            <a:r>
              <a:rPr lang="en-US" sz="2200" dirty="0" smtClean="0"/>
              <a:t>, then </a:t>
            </a:r>
            <a:r>
              <a:rPr lang="en-US" sz="2200" i="1" dirty="0" smtClean="0"/>
              <a:t>a </a:t>
            </a:r>
            <a:r>
              <a:rPr lang="en-US" sz="2000" dirty="0" smtClean="0">
                <a:latin typeface="Wingdings"/>
                <a:ea typeface="Wingdings"/>
                <a:cs typeface="Wingdings"/>
              </a:rPr>
              <a:t></a:t>
            </a:r>
            <a:r>
              <a:rPr lang="en-US" sz="2200" i="1" dirty="0" smtClean="0"/>
              <a:t> b </a:t>
            </a:r>
            <a:r>
              <a:rPr lang="en-US" sz="2200" dirty="0" smtClean="0"/>
              <a:t>is also in </a:t>
            </a:r>
            <a:r>
              <a:rPr lang="en-US" sz="2200" i="1" dirty="0" smtClean="0"/>
              <a:t>G</a:t>
            </a:r>
            <a:endParaRPr lang="en-US" sz="2200" dirty="0" smtClean="0"/>
          </a:p>
          <a:p>
            <a:pPr>
              <a:buNone/>
            </a:pPr>
            <a:r>
              <a:rPr lang="en-US" sz="2200" dirty="0" smtClean="0"/>
              <a:t>	</a:t>
            </a:r>
            <a:r>
              <a:rPr lang="en-US" sz="2200" b="1" dirty="0" smtClean="0"/>
              <a:t>(A2) Associative: </a:t>
            </a:r>
            <a:r>
              <a:rPr lang="en-US" sz="2200" dirty="0" smtClean="0"/>
              <a:t>	</a:t>
            </a:r>
            <a:r>
              <a:rPr lang="en-US" sz="2200" i="1" dirty="0" smtClean="0"/>
              <a:t>a </a:t>
            </a:r>
            <a:r>
              <a:rPr lang="en-US" sz="2400" i="1" dirty="0" smtClean="0">
                <a:latin typeface="Wingdings"/>
                <a:ea typeface="Wingdings"/>
                <a:cs typeface="Wingdings"/>
              </a:rPr>
              <a:t></a:t>
            </a:r>
            <a:r>
              <a:rPr lang="en-US" sz="2200" i="1" dirty="0" smtClean="0"/>
              <a:t> (b </a:t>
            </a:r>
            <a:r>
              <a:rPr lang="en-US" sz="2400" i="1" dirty="0" smtClean="0">
                <a:latin typeface="Wingdings"/>
                <a:ea typeface="Wingdings"/>
                <a:cs typeface="Wingdings"/>
              </a:rPr>
              <a:t></a:t>
            </a:r>
            <a:r>
              <a:rPr lang="en-US" sz="2200" i="1" dirty="0" smtClean="0"/>
              <a:t> c) = (a </a:t>
            </a:r>
            <a:r>
              <a:rPr lang="en-US" sz="2400" i="1" dirty="0" smtClean="0">
                <a:latin typeface="Wingdings"/>
                <a:ea typeface="Wingdings"/>
                <a:cs typeface="Wingdings"/>
              </a:rPr>
              <a:t></a:t>
            </a:r>
            <a:r>
              <a:rPr lang="en-US" sz="2200" i="1" dirty="0" smtClean="0"/>
              <a:t> b) </a:t>
            </a:r>
            <a:r>
              <a:rPr lang="en-US" sz="2400" i="1" dirty="0" smtClean="0">
                <a:latin typeface="Wingdings"/>
                <a:ea typeface="Wingdings"/>
                <a:cs typeface="Wingdings"/>
              </a:rPr>
              <a:t></a:t>
            </a:r>
            <a:r>
              <a:rPr lang="en-US" sz="2200" i="1" dirty="0" smtClean="0"/>
              <a:t> c </a:t>
            </a:r>
            <a:r>
              <a:rPr lang="en-US" sz="2200" dirty="0" smtClean="0"/>
              <a:t>for all </a:t>
            </a:r>
            <a:r>
              <a:rPr lang="en-US" sz="2200" i="1" dirty="0" smtClean="0"/>
              <a:t>a, b, c </a:t>
            </a:r>
            <a:r>
              <a:rPr lang="en-US" sz="2200" dirty="0" smtClean="0"/>
              <a:t>in </a:t>
            </a:r>
            <a:r>
              <a:rPr lang="en-US" sz="2200" i="1" dirty="0" smtClean="0"/>
              <a:t>G</a:t>
            </a:r>
          </a:p>
          <a:p>
            <a:pPr>
              <a:buNone/>
            </a:pPr>
            <a:r>
              <a:rPr lang="en-US" sz="2200" dirty="0" smtClean="0"/>
              <a:t>	</a:t>
            </a:r>
            <a:r>
              <a:rPr lang="en-US" sz="2200" b="1" dirty="0" smtClean="0"/>
              <a:t>(A3) Identity element: </a:t>
            </a:r>
            <a:r>
              <a:rPr lang="en-US" sz="2200" dirty="0" smtClean="0"/>
              <a:t>There is an element </a:t>
            </a:r>
            <a:r>
              <a:rPr lang="en-US" sz="2200" i="1" dirty="0" smtClean="0"/>
              <a:t>e</a:t>
            </a:r>
            <a:r>
              <a:rPr lang="en-US" sz="2200" dirty="0" smtClean="0"/>
              <a:t> in </a:t>
            </a:r>
            <a:r>
              <a:rPr lang="en-US" sz="2200" i="1" dirty="0" smtClean="0"/>
              <a:t>G </a:t>
            </a:r>
            <a:r>
              <a:rPr lang="en-US" sz="2200" dirty="0" smtClean="0"/>
              <a:t>such that </a:t>
            </a:r>
            <a:r>
              <a:rPr lang="en-US" sz="2200" i="1" dirty="0" smtClean="0"/>
              <a:t>a </a:t>
            </a:r>
            <a:r>
              <a:rPr lang="en-US" sz="2400" i="1" dirty="0" smtClean="0">
                <a:latin typeface="Wingdings"/>
                <a:ea typeface="Wingdings"/>
                <a:cs typeface="Wingdings"/>
              </a:rPr>
              <a:t></a:t>
            </a:r>
            <a:r>
              <a:rPr lang="en-US" sz="2200" i="1" dirty="0" smtClean="0"/>
              <a:t> e = e </a:t>
            </a:r>
            <a:r>
              <a:rPr lang="en-US" sz="2400" i="1" dirty="0" smtClean="0">
                <a:latin typeface="Wingdings"/>
                <a:ea typeface="Wingdings"/>
                <a:cs typeface="Wingdings"/>
              </a:rPr>
              <a:t></a:t>
            </a:r>
            <a:r>
              <a:rPr lang="en-US" sz="2200" i="1" dirty="0" smtClean="0"/>
              <a:t> a = a 			</a:t>
            </a:r>
            <a:r>
              <a:rPr lang="en-US" sz="2200" dirty="0" smtClean="0"/>
              <a:t>for all </a:t>
            </a:r>
            <a:r>
              <a:rPr lang="en-US" sz="2200" i="1" dirty="0" smtClean="0"/>
              <a:t>a</a:t>
            </a:r>
            <a:r>
              <a:rPr lang="en-US" sz="2200" dirty="0" smtClean="0"/>
              <a:t> in </a:t>
            </a:r>
            <a:r>
              <a:rPr lang="en-US" sz="2200" i="1" dirty="0" smtClean="0"/>
              <a:t>G</a:t>
            </a:r>
          </a:p>
          <a:p>
            <a:pPr>
              <a:buNone/>
            </a:pPr>
            <a:r>
              <a:rPr lang="en-US" sz="2200" dirty="0" smtClean="0"/>
              <a:t>	</a:t>
            </a:r>
            <a:r>
              <a:rPr lang="en-US" sz="2200" b="1" dirty="0" smtClean="0"/>
              <a:t>(A4) Inverse element: </a:t>
            </a:r>
            <a:r>
              <a:rPr lang="en-US" sz="2200" dirty="0" smtClean="0"/>
              <a:t>For each </a:t>
            </a:r>
            <a:r>
              <a:rPr lang="en-US" sz="2200" i="1" dirty="0" smtClean="0"/>
              <a:t>a</a:t>
            </a:r>
            <a:r>
              <a:rPr lang="en-US" sz="2200" dirty="0" smtClean="0"/>
              <a:t> in </a:t>
            </a:r>
            <a:r>
              <a:rPr lang="en-US" sz="2200" i="1" dirty="0" smtClean="0"/>
              <a:t>G</a:t>
            </a:r>
            <a:r>
              <a:rPr lang="en-US" sz="2200" dirty="0" smtClean="0"/>
              <a:t> there is an element </a:t>
            </a:r>
            <a:r>
              <a:rPr lang="en-US" sz="2200" i="1" dirty="0" smtClean="0"/>
              <a:t>a′</a:t>
            </a:r>
            <a:r>
              <a:rPr lang="en-US" sz="2200" dirty="0" smtClean="0"/>
              <a:t> in </a:t>
            </a:r>
            <a:r>
              <a:rPr lang="en-US" sz="2200" i="1" dirty="0" smtClean="0"/>
              <a:t>G</a:t>
            </a:r>
            <a:r>
              <a:rPr lang="en-US" sz="2200" dirty="0" smtClean="0"/>
              <a:t> such that 			</a:t>
            </a:r>
            <a:r>
              <a:rPr lang="en-US" sz="2200" i="1" dirty="0" smtClean="0"/>
              <a:t>a </a:t>
            </a:r>
            <a:r>
              <a:rPr lang="en-US" sz="2400" i="1" dirty="0" smtClean="0">
                <a:latin typeface="Wingdings"/>
                <a:ea typeface="Wingdings"/>
                <a:cs typeface="Wingdings"/>
              </a:rPr>
              <a:t></a:t>
            </a:r>
            <a:r>
              <a:rPr lang="en-US" sz="2200" i="1" dirty="0" smtClean="0"/>
              <a:t> a′ = </a:t>
            </a:r>
            <a:r>
              <a:rPr lang="en-US" sz="2200" i="1" dirty="0" err="1" smtClean="0"/>
              <a:t>a′</a:t>
            </a:r>
            <a:r>
              <a:rPr lang="en-US" sz="2400" i="1" dirty="0" err="1" smtClean="0">
                <a:latin typeface="Wingdings"/>
                <a:ea typeface="Wingdings"/>
                <a:cs typeface="Wingdings"/>
              </a:rPr>
              <a:t></a:t>
            </a:r>
            <a:r>
              <a:rPr lang="en-US" sz="2200" i="1" dirty="0" smtClean="0"/>
              <a:t> </a:t>
            </a:r>
            <a:r>
              <a:rPr lang="en-US" sz="2200" i="1" dirty="0" smtClean="0"/>
              <a:t>a = e</a:t>
            </a:r>
          </a:p>
          <a:p>
            <a:pPr>
              <a:buNone/>
            </a:pPr>
            <a:r>
              <a:rPr lang="en-US" sz="2200" dirty="0" smtClean="0"/>
              <a:t>	</a:t>
            </a:r>
            <a:r>
              <a:rPr lang="en-US" sz="2200" b="1" dirty="0" smtClean="0"/>
              <a:t>(A5) Commutative: </a:t>
            </a:r>
            <a:r>
              <a:rPr lang="en-US" sz="2200" dirty="0" smtClean="0"/>
              <a:t>	</a:t>
            </a:r>
            <a:r>
              <a:rPr lang="en-US" sz="2200" i="1" dirty="0" smtClean="0"/>
              <a:t>a </a:t>
            </a:r>
            <a:r>
              <a:rPr lang="en-US" sz="2400" i="1" dirty="0" smtClean="0">
                <a:latin typeface="Wingdings"/>
                <a:ea typeface="Wingdings"/>
                <a:cs typeface="Wingdings"/>
              </a:rPr>
              <a:t></a:t>
            </a:r>
            <a:r>
              <a:rPr lang="en-US" sz="2200" i="1" dirty="0" smtClean="0"/>
              <a:t> b = b </a:t>
            </a:r>
            <a:r>
              <a:rPr lang="en-US" sz="2400" i="1" dirty="0" smtClean="0">
                <a:latin typeface="Wingdings"/>
                <a:ea typeface="Wingdings"/>
                <a:cs typeface="Wingdings"/>
              </a:rPr>
              <a:t></a:t>
            </a:r>
            <a:r>
              <a:rPr lang="en-US" sz="2200" i="1" dirty="0" smtClean="0"/>
              <a:t> a </a:t>
            </a:r>
            <a:r>
              <a:rPr lang="en-US" sz="2200" dirty="0" smtClean="0"/>
              <a:t>for all </a:t>
            </a:r>
            <a:r>
              <a:rPr lang="en-US" sz="2200" i="1" dirty="0" smtClean="0"/>
              <a:t>a, b </a:t>
            </a:r>
            <a:r>
              <a:rPr lang="en-US" sz="2200" dirty="0" smtClean="0"/>
              <a:t>in </a:t>
            </a:r>
            <a:r>
              <a:rPr lang="en-US" sz="2200" i="1" dirty="0" smtClean="0"/>
              <a:t>G</a:t>
            </a:r>
            <a:endParaRPr lang="en-US" sz="2200" i="1" dirty="0"/>
          </a:p>
        </p:txBody>
      </p:sp>
      <p:sp>
        <p:nvSpPr>
          <p:cNvPr id="5" name="Footer Placeholder 4"/>
          <p:cNvSpPr>
            <a:spLocks noGrp="1"/>
          </p:cNvSpPr>
          <p:nvPr>
            <p:ph type="ftr" sz="quarter" idx="11"/>
          </p:nvPr>
        </p:nvSpPr>
        <p:spPr>
          <a:xfrm>
            <a:off x="0" y="6492875"/>
            <a:ext cx="61722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4" name="Picture 3" descr="f4.pdf"/>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752600" y="-219635"/>
            <a:ext cx="5469082" cy="7077635"/>
          </a:xfrm>
          <a:prstGeom prst="rect">
            <a:avLst/>
          </a:prstGeom>
        </p:spPr>
      </p:pic>
      <p:sp>
        <p:nvSpPr>
          <p:cNvPr id="5" name="TextBox 4"/>
          <p:cNvSpPr txBox="1"/>
          <p:nvPr/>
        </p:nvSpPr>
        <p:spPr>
          <a:xfrm>
            <a:off x="1443182" y="2251364"/>
            <a:ext cx="184666" cy="369332"/>
          </a:xfrm>
          <a:prstGeom prst="rect">
            <a:avLst/>
          </a:prstGeom>
          <a:noFill/>
        </p:spPr>
        <p:txBody>
          <a:bodyPr wrap="none" rtlCol="0">
            <a:spAutoFit/>
          </a:bodyPr>
          <a:lstStyle/>
          <a:p>
            <a:endParaRPr lang="en-US" dirty="0"/>
          </a:p>
        </p:txBody>
      </p:sp>
      <p:sp>
        <p:nvSpPr>
          <p:cNvPr id="6" name="Footer Placeholder 5"/>
          <p:cNvSpPr>
            <a:spLocks noGrp="1"/>
          </p:cNvSpPr>
          <p:nvPr>
            <p:ph type="ftr" sz="quarter" idx="11"/>
          </p:nvPr>
        </p:nvSpPr>
        <p:spPr>
          <a:xfrm>
            <a:off x="0" y="6492875"/>
            <a:ext cx="4876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dirty="0" smtClean="0"/>
              <a:t>Elliptic Curves Over Z</a:t>
            </a:r>
            <a:r>
              <a:rPr lang="en-US" baseline="-25000" dirty="0" smtClean="0"/>
              <a:t>p</a:t>
            </a:r>
            <a:endParaRPr lang="en-AU" baseline="-25000" dirty="0"/>
          </a:p>
        </p:txBody>
      </p:sp>
      <p:sp>
        <p:nvSpPr>
          <p:cNvPr id="72707" name="Rectangle 3"/>
          <p:cNvSpPr>
            <a:spLocks noGrp="1" noChangeArrowheads="1"/>
          </p:cNvSpPr>
          <p:nvPr>
            <p:ph idx="1"/>
          </p:nvPr>
        </p:nvSpPr>
        <p:spPr>
          <a:xfrm>
            <a:off x="762000" y="1600200"/>
            <a:ext cx="7570787" cy="1362075"/>
          </a:xfrm>
        </p:spPr>
        <p:txBody>
          <a:bodyPr>
            <a:normAutofit/>
          </a:bodyPr>
          <a:lstStyle/>
          <a:p>
            <a:r>
              <a:rPr lang="en-US" sz="1800" dirty="0" smtClean="0"/>
              <a:t>Elliptic curve cryptography uses curves whose variables and coefficients are finite</a:t>
            </a:r>
          </a:p>
          <a:p>
            <a:r>
              <a:rPr lang="en-US" sz="1800" dirty="0" smtClean="0"/>
              <a:t>Two families of elliptic curves are used in cryptographic applications:</a:t>
            </a:r>
          </a:p>
        </p:txBody>
      </p:sp>
      <p:graphicFrame>
        <p:nvGraphicFramePr>
          <p:cNvPr id="5" name="Diagram 4"/>
          <p:cNvGraphicFramePr/>
          <p:nvPr/>
        </p:nvGraphicFramePr>
        <p:xfrm>
          <a:off x="152400" y="2895600"/>
          <a:ext cx="8686800" cy="38100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0" y="6492875"/>
            <a:ext cx="68580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6" name="Picture 5"/>
          <p:cNvPicPr>
            <a:picLocks noChangeAspect="1"/>
          </p:cNvPicPr>
          <p:nvPr/>
        </p:nvPicPr>
        <mc:AlternateContent>
          <mc:Choice xmlns:ma="http://schemas.microsoft.com/office/mac/drawingml/2008/main" Requires="ma">
            <p:blipFill>
              <a:blip r:embed="rId3"/>
              <a:srcRect l="22594" r="22594"/>
              <a:stretch>
                <a:fillRect/>
              </a:stretch>
            </p:blipFill>
          </mc:Choice>
          <mc:Fallback>
            <p:blipFill>
              <a:blip r:embed="rId4"/>
              <a:srcRect l="22594" r="22594"/>
              <a:stretch>
                <a:fillRect/>
              </a:stretch>
            </p:blipFill>
          </mc:Fallback>
        </mc:AlternateContent>
        <p:spPr>
          <a:xfrm>
            <a:off x="914400" y="1676400"/>
            <a:ext cx="7361133" cy="5029200"/>
          </a:xfrm>
          <a:prstGeom prst="rect">
            <a:avLst/>
          </a:prstGeom>
        </p:spPr>
      </p:pic>
      <p:sp>
        <p:nvSpPr>
          <p:cNvPr id="7" name="Rectangle 6"/>
          <p:cNvSpPr/>
          <p:nvPr/>
        </p:nvSpPr>
        <p:spPr>
          <a:xfrm>
            <a:off x="0" y="0"/>
            <a:ext cx="9144000" cy="1323439"/>
          </a:xfrm>
          <a:prstGeom prst="rect">
            <a:avLst/>
          </a:prstGeom>
        </p:spPr>
        <p:txBody>
          <a:bodyPr wrap="square">
            <a:spAutoFit/>
          </a:bodyPr>
          <a:lstStyle/>
          <a:p>
            <a:pPr algn="ctr"/>
            <a:r>
              <a:rPr lang="en-US" sz="4800" dirty="0" smtClean="0">
                <a:latin typeface="+mn-lt"/>
              </a:rPr>
              <a:t>Table 10.1  </a:t>
            </a:r>
          </a:p>
          <a:p>
            <a:pPr algn="ctr"/>
            <a:r>
              <a:rPr lang="en-US" sz="3200" dirty="0" smtClean="0">
                <a:latin typeface="+mn-lt"/>
              </a:rPr>
              <a:t>Points (other than </a:t>
            </a:r>
            <a:r>
              <a:rPr lang="en-US" sz="3200" i="1" dirty="0" smtClean="0">
                <a:latin typeface="+mn-lt"/>
              </a:rPr>
              <a:t>O</a:t>
            </a:r>
            <a:r>
              <a:rPr lang="en-US" sz="3200" dirty="0" smtClean="0">
                <a:latin typeface="+mn-lt"/>
              </a:rPr>
              <a:t>) on the Elliptic Curve E</a:t>
            </a:r>
            <a:r>
              <a:rPr lang="en-US" sz="3200" baseline="-25000" dirty="0" smtClean="0">
                <a:latin typeface="+mn-lt"/>
              </a:rPr>
              <a:t>23</a:t>
            </a:r>
            <a:r>
              <a:rPr lang="en-US" sz="3200" dirty="0" smtClean="0">
                <a:latin typeface="+mn-lt"/>
              </a:rPr>
              <a:t>(1, 1) </a:t>
            </a:r>
            <a:endParaRPr lang="en-US" sz="3200" dirty="0">
              <a:latin typeface="+mn-lt"/>
            </a:endParaRPr>
          </a:p>
        </p:txBody>
      </p:sp>
      <p:sp>
        <p:nvSpPr>
          <p:cNvPr id="4" name="Footer Placeholder 3"/>
          <p:cNvSpPr>
            <a:spLocks noGrp="1"/>
          </p:cNvSpPr>
          <p:nvPr>
            <p:ph type="ftr" sz="quarter" idx="11"/>
          </p:nvPr>
        </p:nvSpPr>
        <p:spPr>
          <a:xfrm>
            <a:off x="0" y="6492875"/>
            <a:ext cx="73152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pull dir="l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5.pdf"/>
          <p:cNvPicPr>
            <a:picLocks noChangeAspect="1"/>
          </p:cNvPicPr>
          <p:nvPr/>
        </p:nvPicPr>
        <mc:AlternateContent>
          <mc:Choice xmlns:ma="http://schemas.microsoft.com/office/mac/drawingml/2008/main" Requires="ma">
            <p:blipFill>
              <a:blip r:embed="rId3"/>
              <a:srcRect l="14118" t="20000" r="1176" b="15455"/>
              <a:stretch>
                <a:fillRect/>
              </a:stretch>
            </p:blipFill>
          </mc:Choice>
          <mc:Fallback>
            <p:blipFill>
              <a:blip r:embed="rId4"/>
              <a:srcRect l="14118" t="20000" r="1176" b="15455"/>
              <a:stretch>
                <a:fillRect/>
              </a:stretch>
            </p:blipFill>
          </mc:Fallback>
        </mc:AlternateContent>
        <p:spPr>
          <a:xfrm>
            <a:off x="1447800" y="-152400"/>
            <a:ext cx="6954631" cy="6857999"/>
          </a:xfrm>
          <a:prstGeom prst="rect">
            <a:avLst/>
          </a:prstGeom>
        </p:spPr>
      </p:pic>
      <p:sp>
        <p:nvSpPr>
          <p:cNvPr id="3" name="Footer Placeholder 2"/>
          <p:cNvSpPr>
            <a:spLocks noGrp="1"/>
          </p:cNvSpPr>
          <p:nvPr>
            <p:ph type="ftr" sz="quarter" idx="11"/>
          </p:nvPr>
        </p:nvSpPr>
        <p:spPr>
          <a:xfrm>
            <a:off x="0" y="6492875"/>
            <a:ext cx="59436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pull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 name="Title 3"/>
          <p:cNvSpPr>
            <a:spLocks noGrp="1"/>
          </p:cNvSpPr>
          <p:nvPr>
            <p:ph type="title"/>
          </p:nvPr>
        </p:nvSpPr>
        <p:spPr>
          <a:xfrm>
            <a:off x="0" y="39688"/>
            <a:ext cx="9143999" cy="1412875"/>
          </a:xfrm>
        </p:spPr>
        <p:txBody>
          <a:bodyPr/>
          <a:lstStyle/>
          <a:p>
            <a:r>
              <a:rPr lang="en-US" dirty="0" smtClean="0"/>
              <a:t>Elliptic Curves Over GF(2</a:t>
            </a:r>
            <a:r>
              <a:rPr lang="en-US" i="1" baseline="30000" dirty="0" smtClean="0"/>
              <a:t>m</a:t>
            </a:r>
            <a:r>
              <a:rPr lang="en-US" dirty="0" smtClean="0"/>
              <a:t>)</a:t>
            </a:r>
            <a:endParaRPr lang="en-US" dirty="0"/>
          </a:p>
        </p:txBody>
      </p:sp>
      <p:sp>
        <p:nvSpPr>
          <p:cNvPr id="5" name="Content Placeholder 4"/>
          <p:cNvSpPr>
            <a:spLocks noGrp="1"/>
          </p:cNvSpPr>
          <p:nvPr>
            <p:ph idx="1"/>
          </p:nvPr>
        </p:nvSpPr>
        <p:spPr>
          <a:xfrm>
            <a:off x="762000" y="1676400"/>
            <a:ext cx="7570787" cy="4867275"/>
          </a:xfrm>
        </p:spPr>
        <p:txBody>
          <a:bodyPr>
            <a:normAutofit fontScale="92500" lnSpcReduction="10000"/>
          </a:bodyPr>
          <a:lstStyle/>
          <a:p>
            <a:r>
              <a:rPr lang="en-US" dirty="0" smtClean="0"/>
              <a:t>Use a cubic equation in which the variables and coefficients all take on values in GF(2</a:t>
            </a:r>
            <a:r>
              <a:rPr lang="en-US" i="1" baseline="30000" dirty="0" smtClean="0"/>
              <a:t>m</a:t>
            </a:r>
            <a:r>
              <a:rPr lang="en-US" dirty="0" smtClean="0"/>
              <a:t>) for some number </a:t>
            </a:r>
            <a:r>
              <a:rPr lang="en-US" i="1" dirty="0" smtClean="0"/>
              <a:t>m</a:t>
            </a:r>
            <a:r>
              <a:rPr lang="en-US" dirty="0" smtClean="0"/>
              <a:t> </a:t>
            </a:r>
          </a:p>
          <a:p>
            <a:r>
              <a:rPr lang="en-US" dirty="0" smtClean="0"/>
              <a:t>Calculations are performed using the rules of arithmetic in GF(2</a:t>
            </a:r>
            <a:r>
              <a:rPr lang="en-US" i="1" baseline="30000" dirty="0" smtClean="0"/>
              <a:t>m</a:t>
            </a:r>
            <a:r>
              <a:rPr lang="en-US" dirty="0" smtClean="0"/>
              <a:t>)</a:t>
            </a:r>
          </a:p>
          <a:p>
            <a:r>
              <a:rPr lang="en-US" dirty="0" smtClean="0"/>
              <a:t>The form of cubic equation appropriate for cryptographic applications for elliptic curves is somewhat different for GF(2</a:t>
            </a:r>
            <a:r>
              <a:rPr lang="en-US" i="1" baseline="30000" dirty="0" smtClean="0"/>
              <a:t>m</a:t>
            </a:r>
            <a:r>
              <a:rPr lang="en-US" dirty="0" smtClean="0"/>
              <a:t>) than for Z</a:t>
            </a:r>
            <a:r>
              <a:rPr lang="en-US" i="1" baseline="-25000" dirty="0" smtClean="0"/>
              <a:t>p</a:t>
            </a:r>
          </a:p>
          <a:p>
            <a:pPr lvl="1"/>
            <a:r>
              <a:rPr lang="en-US" dirty="0" smtClean="0"/>
              <a:t>It is understood that the variables </a:t>
            </a:r>
            <a:r>
              <a:rPr lang="en-US" i="1" dirty="0" smtClean="0"/>
              <a:t>x </a:t>
            </a:r>
            <a:r>
              <a:rPr lang="en-US" dirty="0" smtClean="0"/>
              <a:t>and </a:t>
            </a:r>
            <a:r>
              <a:rPr lang="en-US" i="1" dirty="0" smtClean="0"/>
              <a:t>y </a:t>
            </a:r>
            <a:r>
              <a:rPr lang="en-US" dirty="0" smtClean="0"/>
              <a:t>and the coefficients </a:t>
            </a:r>
            <a:r>
              <a:rPr lang="en-US" i="1" dirty="0" smtClean="0"/>
              <a:t>a </a:t>
            </a:r>
            <a:r>
              <a:rPr lang="en-US" dirty="0" smtClean="0"/>
              <a:t>and </a:t>
            </a:r>
            <a:r>
              <a:rPr lang="en-US" i="1" dirty="0" smtClean="0"/>
              <a:t>b </a:t>
            </a:r>
            <a:r>
              <a:rPr lang="en-US" dirty="0" smtClean="0"/>
              <a:t>are elements of GF(2</a:t>
            </a:r>
            <a:r>
              <a:rPr lang="en-US" i="1" baseline="30000" dirty="0" smtClean="0"/>
              <a:t>m</a:t>
            </a:r>
            <a:r>
              <a:rPr lang="en-US" dirty="0" smtClean="0"/>
              <a:t>) and that calculations are performed in GF(2</a:t>
            </a:r>
            <a:r>
              <a:rPr lang="en-US" i="1" baseline="30000" dirty="0" smtClean="0"/>
              <a:t>m</a:t>
            </a:r>
            <a:r>
              <a:rPr lang="en-US" dirty="0" smtClean="0"/>
              <a:t>)</a:t>
            </a:r>
            <a:endParaRPr lang="en-US" dirty="0"/>
          </a:p>
        </p:txBody>
      </p:sp>
      <p:sp>
        <p:nvSpPr>
          <p:cNvPr id="6" name="Footer Placeholder 5"/>
          <p:cNvSpPr>
            <a:spLocks noGrp="1"/>
          </p:cNvSpPr>
          <p:nvPr>
            <p:ph type="ftr" sz="quarter" idx="11"/>
          </p:nvPr>
        </p:nvSpPr>
        <p:spPr>
          <a:xfrm>
            <a:off x="0" y="6492875"/>
            <a:ext cx="81534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Title 6"/>
          <p:cNvSpPr>
            <a:spLocks noGrp="1"/>
          </p:cNvSpPr>
          <p:nvPr>
            <p:ph type="title"/>
          </p:nvPr>
        </p:nvSpPr>
        <p:spPr>
          <a:xfrm>
            <a:off x="1" y="0"/>
            <a:ext cx="9143999" cy="1412875"/>
          </a:xfrm>
        </p:spPr>
        <p:txBody>
          <a:bodyPr/>
          <a:lstStyle/>
          <a:p>
            <a:r>
              <a:rPr lang="en-US" sz="4400" dirty="0" smtClean="0"/>
              <a:t>Table 10.2 </a:t>
            </a:r>
            <a:r>
              <a:rPr lang="en-US" sz="4400" dirty="0" smtClean="0"/>
              <a:t> </a:t>
            </a:r>
            <a:br>
              <a:rPr lang="en-US" sz="4400" dirty="0" smtClean="0"/>
            </a:br>
            <a:r>
              <a:rPr lang="en-US" sz="3200" dirty="0" smtClean="0"/>
              <a:t>Points </a:t>
            </a:r>
            <a:r>
              <a:rPr lang="en-US" sz="3200" dirty="0" smtClean="0"/>
              <a:t>(other than </a:t>
            </a:r>
            <a:r>
              <a:rPr lang="en-US" sz="3200" i="1" dirty="0" smtClean="0"/>
              <a:t>O</a:t>
            </a:r>
            <a:r>
              <a:rPr lang="en-US" sz="3200" dirty="0" smtClean="0"/>
              <a:t>) on the Elliptic Curve</a:t>
            </a:r>
            <a:r>
              <a:rPr lang="en-US" sz="3200" dirty="0" smtClean="0"/>
              <a:t> E</a:t>
            </a:r>
            <a:r>
              <a:rPr lang="en-US" sz="3200" baseline="-25000" dirty="0" smtClean="0"/>
              <a:t>2</a:t>
            </a:r>
            <a:r>
              <a:rPr lang="en-US" sz="3200" baseline="30000" dirty="0" smtClean="0"/>
              <a:t>4</a:t>
            </a:r>
            <a:r>
              <a:rPr lang="en-US" sz="3200" dirty="0" smtClean="0"/>
              <a:t>(</a:t>
            </a:r>
            <a:r>
              <a:rPr lang="en-US" sz="3200" i="1" dirty="0" smtClean="0"/>
              <a:t>g</a:t>
            </a:r>
            <a:r>
              <a:rPr lang="en-US" sz="3200" baseline="30000" dirty="0" smtClean="0"/>
              <a:t>4</a:t>
            </a:r>
            <a:r>
              <a:rPr lang="en-US" sz="3200" dirty="0" smtClean="0"/>
              <a:t>, </a:t>
            </a:r>
            <a:r>
              <a:rPr lang="en-US" sz="3200" dirty="0" smtClean="0"/>
              <a:t>1) </a:t>
            </a:r>
            <a:endParaRPr lang="en-US" sz="4400" dirty="0"/>
          </a:p>
        </p:txBody>
      </p:sp>
      <p:sp>
        <p:nvSpPr>
          <p:cNvPr id="4" name="Footer Placeholder 3"/>
          <p:cNvSpPr>
            <a:spLocks noGrp="1"/>
          </p:cNvSpPr>
          <p:nvPr>
            <p:ph type="ftr" sz="quarter" idx="11"/>
          </p:nvPr>
        </p:nvSpPr>
        <p:spPr>
          <a:xfrm>
            <a:off x="0" y="6492875"/>
            <a:ext cx="7315200" cy="365125"/>
          </a:xfrm>
        </p:spPr>
        <p:txBody>
          <a:bodyPr/>
          <a:lstStyle/>
          <a:p>
            <a:pPr>
              <a:defRPr/>
            </a:pPr>
            <a:r>
              <a:rPr lang="en-US" sz="1100" dirty="0" smtClean="0"/>
              <a:t>© 2017 Pearson Education, Inc., Hoboken, NJ. All rights reserved. </a:t>
            </a:r>
            <a:endParaRPr lang="en-US" sz="1100" dirty="0"/>
          </a:p>
        </p:txBody>
      </p:sp>
      <p:pic>
        <p:nvPicPr>
          <p:cNvPr id="5" name="Picture 4"/>
          <p:cNvPicPr>
            <a:picLocks noChangeAspect="1"/>
          </p:cNvPicPr>
          <p:nvPr/>
        </p:nvPicPr>
        <mc:AlternateContent>
          <mc:Choice xmlns:ma="http://schemas.microsoft.com/office/mac/drawingml/2008/main" Requires="ma">
            <p:blipFill>
              <a:blip r:embed="rId3"/>
              <a:srcRect l="22594" r="24100"/>
              <a:stretch>
                <a:fillRect/>
              </a:stretch>
            </p:blipFill>
          </mc:Choice>
          <mc:Fallback>
            <p:blipFill>
              <a:blip r:embed="rId4"/>
              <a:srcRect l="22594" r="24100"/>
              <a:stretch>
                <a:fillRect/>
              </a:stretch>
            </p:blipFill>
          </mc:Fallback>
        </mc:AlternateContent>
        <p:spPr>
          <a:xfrm>
            <a:off x="-457200" y="2057400"/>
            <a:ext cx="9793810" cy="43434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6.pdf"/>
          <p:cNvPicPr>
            <a:picLocks noChangeAspect="1"/>
          </p:cNvPicPr>
          <p:nvPr/>
        </p:nvPicPr>
        <mc:AlternateContent>
          <mc:Choice xmlns:ma="http://schemas.microsoft.com/office/mac/drawingml/2008/main" Requires="ma">
            <p:blipFill>
              <a:blip r:embed="rId3"/>
              <a:srcRect l="15294" t="36364" r="24706" b="12727"/>
              <a:stretch>
                <a:fillRect/>
              </a:stretch>
            </p:blipFill>
          </mc:Choice>
          <mc:Fallback>
            <p:blipFill>
              <a:blip r:embed="rId4"/>
              <a:srcRect l="15294" t="36364" r="24706" b="12727"/>
              <a:stretch>
                <a:fillRect/>
              </a:stretch>
            </p:blipFill>
          </mc:Fallback>
        </mc:AlternateContent>
        <p:spPr>
          <a:xfrm>
            <a:off x="1600200" y="-170343"/>
            <a:ext cx="6400799" cy="7028343"/>
          </a:xfrm>
          <a:prstGeom prst="rect">
            <a:avLst/>
          </a:prstGeom>
        </p:spPr>
      </p:pic>
      <p:sp>
        <p:nvSpPr>
          <p:cNvPr id="3" name="Footer Placeholder 2"/>
          <p:cNvSpPr>
            <a:spLocks noGrp="1"/>
          </p:cNvSpPr>
          <p:nvPr>
            <p:ph type="ftr" sz="quarter" idx="11"/>
          </p:nvPr>
        </p:nvSpPr>
        <p:spPr>
          <a:xfrm>
            <a:off x="0" y="6492875"/>
            <a:ext cx="54102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0" y="39688"/>
            <a:ext cx="9143999" cy="1412875"/>
          </a:xfrm>
        </p:spPr>
        <p:txBody>
          <a:bodyPr/>
          <a:lstStyle/>
          <a:p>
            <a:r>
              <a:rPr lang="en-US" dirty="0" smtClean="0"/>
              <a:t>Elliptic Curve Cryptography (ECC)</a:t>
            </a:r>
            <a:endParaRPr lang="en-AU" dirty="0"/>
          </a:p>
        </p:txBody>
      </p:sp>
      <p:sp>
        <p:nvSpPr>
          <p:cNvPr id="74755" name="Rectangle 3"/>
          <p:cNvSpPr>
            <a:spLocks noGrp="1" noChangeArrowheads="1"/>
          </p:cNvSpPr>
          <p:nvPr>
            <p:ph idx="1"/>
          </p:nvPr>
        </p:nvSpPr>
        <p:spPr>
          <a:xfrm>
            <a:off x="792163" y="1762125"/>
            <a:ext cx="7570787" cy="4714875"/>
          </a:xfrm>
        </p:spPr>
        <p:txBody>
          <a:bodyPr>
            <a:normAutofit/>
          </a:bodyPr>
          <a:lstStyle/>
          <a:p>
            <a:r>
              <a:rPr lang="en-US" dirty="0" smtClean="0"/>
              <a:t>Addition operation in ECC is the counterpart of modular multiplication in RSA</a:t>
            </a:r>
          </a:p>
          <a:p>
            <a:r>
              <a:rPr lang="en-US" dirty="0" smtClean="0"/>
              <a:t>Multiple addition is the counterpart of modular exponentiation</a:t>
            </a:r>
          </a:p>
          <a:p>
            <a:endParaRPr lang="en-US" dirty="0" smtClean="0"/>
          </a:p>
          <a:p>
            <a:endParaRPr lang="en-US" dirty="0" smtClean="0"/>
          </a:p>
        </p:txBody>
      </p:sp>
      <p:graphicFrame>
        <p:nvGraphicFramePr>
          <p:cNvPr id="4" name="Diagram 3"/>
          <p:cNvGraphicFramePr/>
          <p:nvPr/>
        </p:nvGraphicFramePr>
        <p:xfrm>
          <a:off x="838200" y="4114800"/>
          <a:ext cx="7620000" cy="2184400"/>
        </p:xfrm>
        <a:graphic>
          <a:graphicData uri="http://schemas.openxmlformats.org/drawingml/2006/diagram">
            <a: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0" y="6492875"/>
            <a:ext cx="57150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7.pdf"/>
          <p:cNvPicPr>
            <a:picLocks noChangeAspect="1"/>
          </p:cNvPicPr>
          <p:nvPr/>
        </p:nvPicPr>
        <mc:AlternateContent>
          <mc:Choice xmlns:ma="http://schemas.microsoft.com/office/mac/drawingml/2008/main" Requires="ma">
            <p:blipFill>
              <a:blip r:embed="rId3"/>
              <a:srcRect l="11765" t="6364" r="10588" b="18182"/>
              <a:stretch>
                <a:fillRect/>
              </a:stretch>
            </p:blipFill>
          </mc:Choice>
          <mc:Fallback>
            <p:blipFill>
              <a:blip r:embed="rId4"/>
              <a:srcRect l="11765" t="6364" r="10588" b="18182"/>
              <a:stretch>
                <a:fillRect/>
              </a:stretch>
            </p:blipFill>
          </mc:Fallback>
        </mc:AlternateContent>
        <p:spPr>
          <a:xfrm>
            <a:off x="1828800" y="-152400"/>
            <a:ext cx="5453290" cy="6858000"/>
          </a:xfrm>
          <a:prstGeom prst="rect">
            <a:avLst/>
          </a:prstGeom>
        </p:spPr>
      </p:pic>
      <p:sp>
        <p:nvSpPr>
          <p:cNvPr id="3" name="Footer Placeholder 2"/>
          <p:cNvSpPr>
            <a:spLocks noGrp="1"/>
          </p:cNvSpPr>
          <p:nvPr>
            <p:ph type="ftr" sz="quarter" idx="11"/>
          </p:nvPr>
        </p:nvSpPr>
        <p:spPr>
          <a:xfrm>
            <a:off x="0" y="6492875"/>
            <a:ext cx="58674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p:dissolv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0" y="39688"/>
            <a:ext cx="9143999" cy="1412875"/>
          </a:xfrm>
        </p:spPr>
        <p:txBody>
          <a:bodyPr/>
          <a:lstStyle/>
          <a:p>
            <a:r>
              <a:rPr lang="en-US" dirty="0" smtClean="0"/>
              <a:t>ECC </a:t>
            </a:r>
            <a:r>
              <a:rPr lang="en-US" dirty="0" smtClean="0"/>
              <a:t>Encryption/Decryption</a:t>
            </a:r>
            <a:endParaRPr lang="en-AU" dirty="0"/>
          </a:p>
        </p:txBody>
      </p:sp>
      <p:sp>
        <p:nvSpPr>
          <p:cNvPr id="76803" name="Rectangle 3"/>
          <p:cNvSpPr>
            <a:spLocks noGrp="1" noChangeArrowheads="1"/>
          </p:cNvSpPr>
          <p:nvPr>
            <p:ph idx="1"/>
          </p:nvPr>
        </p:nvSpPr>
        <p:spPr>
          <a:xfrm>
            <a:off x="838199" y="1762125"/>
            <a:ext cx="7620001" cy="4562475"/>
          </a:xfrm>
        </p:spPr>
        <p:txBody>
          <a:bodyPr>
            <a:normAutofit fontScale="62500" lnSpcReduction="20000"/>
          </a:bodyPr>
          <a:lstStyle/>
          <a:p>
            <a:r>
              <a:rPr lang="en-US" dirty="0" smtClean="0"/>
              <a:t>Several approaches using elliptic curves have been analyzed</a:t>
            </a:r>
          </a:p>
          <a:p>
            <a:r>
              <a:rPr lang="en-US" dirty="0" smtClean="0"/>
              <a:t>Must first encode any message </a:t>
            </a:r>
            <a:r>
              <a:rPr lang="en-US" i="1" dirty="0" smtClean="0"/>
              <a:t>m</a:t>
            </a:r>
            <a:r>
              <a:rPr lang="en-US" dirty="0" smtClean="0"/>
              <a:t> as a point on the elliptic curve P</a:t>
            </a:r>
            <a:r>
              <a:rPr lang="en-US" i="1" baseline="-25000" dirty="0" smtClean="0"/>
              <a:t>m</a:t>
            </a:r>
          </a:p>
          <a:p>
            <a:r>
              <a:rPr lang="en-US" dirty="0" smtClean="0"/>
              <a:t>Select suitable curve and point </a:t>
            </a:r>
            <a:r>
              <a:rPr lang="en-US" i="1" dirty="0" smtClean="0"/>
              <a:t>G</a:t>
            </a:r>
            <a:r>
              <a:rPr lang="en-US" dirty="0" smtClean="0"/>
              <a:t> as in Diffie-Hellman</a:t>
            </a:r>
          </a:p>
          <a:p>
            <a:r>
              <a:rPr lang="en-US" dirty="0" smtClean="0"/>
              <a:t>Each user chooses a private key </a:t>
            </a:r>
            <a:r>
              <a:rPr lang="en-US" i="1" dirty="0" smtClean="0"/>
              <a:t>n</a:t>
            </a:r>
            <a:r>
              <a:rPr lang="en-US" i="1" baseline="-25000" dirty="0" smtClean="0"/>
              <a:t>A </a:t>
            </a:r>
            <a:r>
              <a:rPr lang="en-US" dirty="0" smtClean="0"/>
              <a:t>and generates a public key </a:t>
            </a:r>
            <a:r>
              <a:rPr lang="en-US" i="1" dirty="0" smtClean="0"/>
              <a:t>P</a:t>
            </a:r>
            <a:r>
              <a:rPr lang="en-US" i="1" baseline="-25000" dirty="0" smtClean="0"/>
              <a:t>A</a:t>
            </a:r>
            <a:r>
              <a:rPr lang="en-US" i="1" dirty="0" smtClean="0"/>
              <a:t>=n</a:t>
            </a:r>
            <a:r>
              <a:rPr lang="en-US" sz="2839" i="1" baseline="-25000" dirty="0" smtClean="0"/>
              <a:t>A</a:t>
            </a:r>
            <a:r>
              <a:rPr lang="en-US" i="1" dirty="0" smtClean="0"/>
              <a:t> * G</a:t>
            </a:r>
          </a:p>
          <a:p>
            <a:r>
              <a:rPr lang="en-US" dirty="0" smtClean="0"/>
              <a:t>To encrypt and send  message P</a:t>
            </a:r>
            <a:r>
              <a:rPr lang="en-US" sz="2839" i="1" baseline="-25000" dirty="0" smtClean="0"/>
              <a:t>m</a:t>
            </a:r>
            <a:r>
              <a:rPr lang="en-US" dirty="0" smtClean="0"/>
              <a:t> to B, A chooses a random positive integer </a:t>
            </a:r>
            <a:r>
              <a:rPr lang="en-US" i="1" dirty="0" smtClean="0"/>
              <a:t>k </a:t>
            </a:r>
            <a:r>
              <a:rPr lang="en-US" dirty="0" smtClean="0"/>
              <a:t>and produces the ciphertext </a:t>
            </a:r>
            <a:r>
              <a:rPr lang="en-US" i="1" dirty="0" smtClean="0"/>
              <a:t>C</a:t>
            </a:r>
            <a:r>
              <a:rPr lang="en-US" sz="2880" i="1" baseline="-25000" dirty="0" smtClean="0"/>
              <a:t>m</a:t>
            </a:r>
            <a:r>
              <a:rPr lang="en-US" i="1" dirty="0" smtClean="0"/>
              <a:t> consisting of the pair of points:</a:t>
            </a:r>
          </a:p>
          <a:p>
            <a:pPr lvl="1">
              <a:buNone/>
            </a:pPr>
            <a:r>
              <a:rPr lang="en-US" i="1" dirty="0" smtClean="0"/>
              <a:t>	</a:t>
            </a:r>
          </a:p>
          <a:p>
            <a:pPr lvl="1">
              <a:buNone/>
            </a:pPr>
            <a:r>
              <a:rPr lang="en-US" i="1" dirty="0" smtClean="0"/>
              <a:t>			 C</a:t>
            </a:r>
            <a:r>
              <a:rPr lang="en-US" sz="2880" i="1" baseline="-25000" dirty="0" smtClean="0">
                <a:cs typeface="ＭＳ Ｐゴシック" pitchFamily="-84" charset="-128"/>
              </a:rPr>
              <a:t>m </a:t>
            </a:r>
            <a:r>
              <a:rPr lang="en-US" i="1" dirty="0" smtClean="0"/>
              <a:t>= {kG, P</a:t>
            </a:r>
            <a:r>
              <a:rPr lang="en-US" sz="2639" i="1" baseline="-25000" dirty="0" smtClean="0"/>
              <a:t>m</a:t>
            </a:r>
            <a:r>
              <a:rPr lang="en-US" i="1" dirty="0" smtClean="0"/>
              <a:t>+kP</a:t>
            </a:r>
            <a:r>
              <a:rPr lang="en-US" sz="2639" i="1" baseline="-25000" dirty="0" smtClean="0"/>
              <a:t>B</a:t>
            </a:r>
            <a:r>
              <a:rPr lang="en-US" i="1" dirty="0" smtClean="0"/>
              <a:t>}</a:t>
            </a:r>
          </a:p>
          <a:p>
            <a:r>
              <a:rPr lang="en-US" dirty="0" smtClean="0"/>
              <a:t>To decrypt the ciphertext, B multiplies the first point in the pair by B’s secret key and subtracts the result from the second point:</a:t>
            </a:r>
          </a:p>
          <a:p>
            <a:pPr>
              <a:buNone/>
            </a:pPr>
            <a:r>
              <a:rPr lang="en-US" dirty="0" smtClean="0"/>
              <a:t>		</a:t>
            </a:r>
            <a:r>
              <a:rPr lang="en-US" i="1" dirty="0" smtClean="0"/>
              <a:t>           P</a:t>
            </a:r>
            <a:r>
              <a:rPr lang="en-US" sz="2880" i="1" baseline="-25000" dirty="0" smtClean="0"/>
              <a:t>m</a:t>
            </a:r>
            <a:r>
              <a:rPr lang="en-AU" i="1" dirty="0" smtClean="0"/>
              <a:t>+k</a:t>
            </a:r>
            <a:r>
              <a:rPr lang="en-US" i="1" dirty="0" smtClean="0"/>
              <a:t>P</a:t>
            </a:r>
            <a:r>
              <a:rPr lang="en-US" sz="2880" i="1" baseline="-25000" dirty="0" smtClean="0"/>
              <a:t>B</a:t>
            </a:r>
            <a:r>
              <a:rPr lang="en-AU" i="1" dirty="0" smtClean="0"/>
              <a:t>–</a:t>
            </a:r>
            <a:r>
              <a:rPr lang="en-US" i="1" dirty="0" smtClean="0"/>
              <a:t>n</a:t>
            </a:r>
            <a:r>
              <a:rPr lang="en-US" sz="2880" i="1" baseline="-25000" dirty="0" smtClean="0"/>
              <a:t>B</a:t>
            </a:r>
            <a:r>
              <a:rPr lang="en-AU" i="1" dirty="0" smtClean="0"/>
              <a:t>(kG) = </a:t>
            </a:r>
            <a:r>
              <a:rPr lang="en-US" i="1" dirty="0" smtClean="0"/>
              <a:t>P</a:t>
            </a:r>
            <a:r>
              <a:rPr lang="en-US" sz="2880" i="1" baseline="-25000" dirty="0" smtClean="0"/>
              <a:t>m</a:t>
            </a:r>
            <a:r>
              <a:rPr lang="en-AU" i="1" dirty="0" smtClean="0"/>
              <a:t>+k(</a:t>
            </a:r>
            <a:r>
              <a:rPr lang="en-US" i="1" dirty="0" smtClean="0"/>
              <a:t>n</a:t>
            </a:r>
            <a:r>
              <a:rPr lang="en-US" sz="2880" i="1" baseline="-25000" dirty="0" smtClean="0"/>
              <a:t>B</a:t>
            </a:r>
            <a:r>
              <a:rPr lang="en-AU" i="1" dirty="0" smtClean="0"/>
              <a:t>G)–</a:t>
            </a:r>
            <a:r>
              <a:rPr lang="en-US" i="1" dirty="0" smtClean="0"/>
              <a:t>n</a:t>
            </a:r>
            <a:r>
              <a:rPr lang="en-US" sz="2880" i="1" baseline="-25000" dirty="0" smtClean="0"/>
              <a:t>B</a:t>
            </a:r>
            <a:r>
              <a:rPr lang="en-AU" i="1" dirty="0" smtClean="0"/>
              <a:t>(kG) = </a:t>
            </a:r>
            <a:r>
              <a:rPr lang="en-US" i="1" dirty="0" smtClean="0"/>
              <a:t>P</a:t>
            </a:r>
            <a:r>
              <a:rPr lang="en-US" sz="2880" i="1" baseline="-25000" dirty="0" smtClean="0"/>
              <a:t>m</a:t>
            </a:r>
            <a:endParaRPr lang="en-AU" sz="2880" i="1" baseline="-25000" dirty="0"/>
          </a:p>
        </p:txBody>
      </p:sp>
      <p:sp>
        <p:nvSpPr>
          <p:cNvPr id="4" name="Footer Placeholder 3"/>
          <p:cNvSpPr>
            <a:spLocks noGrp="1"/>
          </p:cNvSpPr>
          <p:nvPr>
            <p:ph type="ftr" sz="quarter" idx="11"/>
          </p:nvPr>
        </p:nvSpPr>
        <p:spPr>
          <a:xfrm>
            <a:off x="0" y="6492875"/>
            <a:ext cx="72390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0" y="39688"/>
            <a:ext cx="9143999" cy="1412875"/>
          </a:xfrm>
        </p:spPr>
        <p:txBody>
          <a:bodyPr/>
          <a:lstStyle/>
          <a:p>
            <a:r>
              <a:rPr lang="en-US" sz="4800" dirty="0" smtClean="0"/>
              <a:t>Security of Elliptic Curve Cryptography</a:t>
            </a:r>
            <a:endParaRPr lang="en-AU" sz="4800" dirty="0"/>
          </a:p>
        </p:txBody>
      </p:sp>
      <p:sp>
        <p:nvSpPr>
          <p:cNvPr id="78851" name="Rectangle 3"/>
          <p:cNvSpPr>
            <a:spLocks noGrp="1" noChangeArrowheads="1"/>
          </p:cNvSpPr>
          <p:nvPr>
            <p:ph idx="1"/>
          </p:nvPr>
        </p:nvSpPr>
        <p:spPr>
          <a:xfrm>
            <a:off x="792163" y="1762125"/>
            <a:ext cx="7570787" cy="4562475"/>
          </a:xfrm>
        </p:spPr>
        <p:txBody>
          <a:bodyPr>
            <a:normAutofit fontScale="92500" lnSpcReduction="10000"/>
          </a:bodyPr>
          <a:lstStyle/>
          <a:p>
            <a:r>
              <a:rPr lang="en-US" dirty="0" smtClean="0"/>
              <a:t>Depends on the difficulty of the elliptic curve logarithm problem</a:t>
            </a:r>
          </a:p>
          <a:p>
            <a:r>
              <a:rPr lang="en-US" dirty="0" smtClean="0"/>
              <a:t>Fastest known technique is “Pollard rho method”</a:t>
            </a:r>
          </a:p>
          <a:p>
            <a:r>
              <a:rPr lang="en-US" dirty="0" smtClean="0"/>
              <a:t>Compared to factoring, can use much smaller key sizes than with RSA</a:t>
            </a:r>
          </a:p>
          <a:p>
            <a:r>
              <a:rPr lang="en-US" dirty="0" smtClean="0"/>
              <a:t>For equivalent key lengths computations are roughly equivalent</a:t>
            </a:r>
          </a:p>
          <a:p>
            <a:r>
              <a:rPr lang="en-US" dirty="0" smtClean="0"/>
              <a:t>Hence, for similar security ECC offers significant computational advantages</a:t>
            </a:r>
            <a:endParaRPr lang="en-AU" dirty="0"/>
          </a:p>
        </p:txBody>
      </p:sp>
      <p:sp>
        <p:nvSpPr>
          <p:cNvPr id="4" name="Footer Placeholder 3"/>
          <p:cNvSpPr>
            <a:spLocks noGrp="1"/>
          </p:cNvSpPr>
          <p:nvPr>
            <p:ph type="ftr" sz="quarter" idx="11"/>
          </p:nvPr>
        </p:nvSpPr>
        <p:spPr>
          <a:xfrm>
            <a:off x="0" y="6492875"/>
            <a:ext cx="59436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 name="Picture 7"/>
          <p:cNvPicPr>
            <a:picLocks noChangeAspect="1"/>
          </p:cNvPicPr>
          <p:nvPr/>
        </p:nvPicPr>
        <mc:AlternateContent>
          <mc:Choice xmlns:ma="http://schemas.microsoft.com/office/mac/drawingml/2008/main" Requires="ma">
            <p:blipFill>
              <a:blip r:embed="rId3"/>
              <a:stretch>
                <a:fillRect/>
              </a:stretch>
            </p:blipFill>
          </mc:Choice>
          <mc:Fallback>
            <p:blipFill>
              <a:blip r:embed="rId4"/>
              <a:stretch>
                <a:fillRect/>
              </a:stretch>
            </p:blipFill>
          </mc:Fallback>
        </mc:AlternateContent>
        <p:spPr>
          <a:xfrm>
            <a:off x="152400" y="2217884"/>
            <a:ext cx="8847281" cy="3954316"/>
          </a:xfrm>
          <a:prstGeom prst="rect">
            <a:avLst/>
          </a:prstGeom>
        </p:spPr>
      </p:pic>
      <p:sp>
        <p:nvSpPr>
          <p:cNvPr id="9" name="Title 8"/>
          <p:cNvSpPr>
            <a:spLocks noGrp="1"/>
          </p:cNvSpPr>
          <p:nvPr>
            <p:ph type="title" idx="4294967295"/>
          </p:nvPr>
        </p:nvSpPr>
        <p:spPr>
          <a:xfrm>
            <a:off x="0" y="-381000"/>
            <a:ext cx="9144000" cy="2551112"/>
          </a:xfrm>
        </p:spPr>
        <p:txBody>
          <a:bodyPr/>
          <a:lstStyle/>
          <a:p>
            <a:pPr>
              <a:lnSpc>
                <a:spcPct val="100000"/>
              </a:lnSpc>
              <a:spcBef>
                <a:spcPts val="3000"/>
              </a:spcBef>
              <a:spcAft>
                <a:spcPts val="1200"/>
              </a:spcAft>
            </a:pPr>
            <a:r>
              <a:rPr lang="en-US" sz="3600" b="1" dirty="0" smtClean="0">
                <a:solidFill>
                  <a:schemeClr val="tx2">
                    <a:lumMod val="75000"/>
                  </a:schemeClr>
                </a:solidFill>
              </a:rPr>
              <a:t/>
            </a:r>
            <a:br>
              <a:rPr lang="en-US" sz="3600" b="1" dirty="0" smtClean="0">
                <a:solidFill>
                  <a:schemeClr val="tx2">
                    <a:lumMod val="75000"/>
                  </a:schemeClr>
                </a:solidFill>
              </a:rPr>
            </a:br>
            <a:r>
              <a:rPr lang="en-US" sz="3600" b="1" dirty="0" smtClean="0">
                <a:solidFill>
                  <a:schemeClr val="tx2">
                    <a:lumMod val="75000"/>
                  </a:schemeClr>
                </a:solidFill>
              </a:rPr>
              <a:t>Table 10.3 </a:t>
            </a:r>
            <a:r>
              <a:rPr lang="en-US" sz="3600" dirty="0" smtClean="0">
                <a:solidFill>
                  <a:schemeClr val="tx2">
                    <a:lumMod val="75000"/>
                  </a:schemeClr>
                </a:solidFill>
              </a:rPr>
              <a:t/>
            </a:r>
            <a:br>
              <a:rPr lang="en-US" sz="3600" dirty="0" smtClean="0">
                <a:solidFill>
                  <a:schemeClr val="tx2">
                    <a:lumMod val="75000"/>
                  </a:schemeClr>
                </a:solidFill>
              </a:rPr>
            </a:br>
            <a:r>
              <a:rPr lang="en-US" sz="2800" dirty="0" smtClean="0">
                <a:solidFill>
                  <a:schemeClr val="tx2">
                    <a:lumMod val="75000"/>
                  </a:schemeClr>
                </a:solidFill>
              </a:rPr>
              <a:t>Comparable Key Sizes in Terms of Computational Effort</a:t>
            </a:r>
            <a:r>
              <a:rPr lang="en-US" sz="2800" dirty="0" smtClean="0">
                <a:solidFill>
                  <a:schemeClr val="tx2">
                    <a:lumMod val="75000"/>
                  </a:schemeClr>
                </a:solidFill>
              </a:rPr>
              <a:t> </a:t>
            </a:r>
            <a:br>
              <a:rPr lang="en-US" sz="2800" dirty="0" smtClean="0">
                <a:solidFill>
                  <a:schemeClr val="tx2">
                    <a:lumMod val="75000"/>
                  </a:schemeClr>
                </a:solidFill>
              </a:rPr>
            </a:br>
            <a:r>
              <a:rPr lang="en-US" sz="2800" dirty="0" smtClean="0">
                <a:solidFill>
                  <a:schemeClr val="tx2">
                    <a:lumMod val="75000"/>
                  </a:schemeClr>
                </a:solidFill>
              </a:rPr>
              <a:t>for </a:t>
            </a:r>
            <a:r>
              <a:rPr lang="en-US" sz="2800" dirty="0" smtClean="0">
                <a:solidFill>
                  <a:schemeClr val="tx2">
                    <a:lumMod val="75000"/>
                  </a:schemeClr>
                </a:solidFill>
              </a:rPr>
              <a:t>Cryptanalysis</a:t>
            </a:r>
            <a:r>
              <a:rPr lang="en-US" sz="2800" dirty="0" smtClean="0">
                <a:solidFill>
                  <a:schemeClr val="tx2">
                    <a:lumMod val="75000"/>
                  </a:schemeClr>
                </a:solidFill>
              </a:rPr>
              <a:t>  (</a:t>
            </a:r>
            <a:r>
              <a:rPr lang="en-US" sz="2800" dirty="0" smtClean="0">
                <a:solidFill>
                  <a:schemeClr val="tx2">
                    <a:lumMod val="75000"/>
                  </a:schemeClr>
                </a:solidFill>
              </a:rPr>
              <a:t>NIST SP-800-57) </a:t>
            </a:r>
            <a:endParaRPr lang="en-US" sz="3600" dirty="0">
              <a:solidFill>
                <a:schemeClr val="tx2">
                  <a:lumMod val="75000"/>
                </a:schemeClr>
              </a:solidFill>
            </a:endParaRPr>
          </a:p>
        </p:txBody>
      </p:sp>
      <p:sp>
        <p:nvSpPr>
          <p:cNvPr id="11" name="Rectangle 10"/>
          <p:cNvSpPr/>
          <p:nvPr/>
        </p:nvSpPr>
        <p:spPr>
          <a:xfrm>
            <a:off x="304800" y="5943600"/>
            <a:ext cx="8382000" cy="338554"/>
          </a:xfrm>
          <a:prstGeom prst="rect">
            <a:avLst/>
          </a:prstGeom>
        </p:spPr>
        <p:txBody>
          <a:bodyPr wrap="square">
            <a:spAutoFit/>
          </a:bodyPr>
          <a:lstStyle/>
          <a:p>
            <a:r>
              <a:rPr lang="en-US" sz="1600" i="1" dirty="0" smtClean="0">
                <a:latin typeface="+mn-lt"/>
              </a:rPr>
              <a:t>Note: L</a:t>
            </a:r>
            <a:r>
              <a:rPr lang="en-US" sz="1600" dirty="0" smtClean="0">
                <a:latin typeface="+mn-lt"/>
              </a:rPr>
              <a:t> = size of public key, </a:t>
            </a:r>
            <a:r>
              <a:rPr lang="en-US" sz="1600" i="1" dirty="0" smtClean="0">
                <a:latin typeface="+mn-lt"/>
              </a:rPr>
              <a:t>N</a:t>
            </a:r>
            <a:r>
              <a:rPr lang="en-US" sz="1600" dirty="0" smtClean="0">
                <a:latin typeface="+mn-lt"/>
              </a:rPr>
              <a:t> = size of private key </a:t>
            </a:r>
            <a:endParaRPr lang="en-US" sz="1600" dirty="0">
              <a:latin typeface="+mn-lt"/>
            </a:endParaRPr>
          </a:p>
        </p:txBody>
      </p:sp>
      <p:sp>
        <p:nvSpPr>
          <p:cNvPr id="5" name="Footer Placeholder 4"/>
          <p:cNvSpPr>
            <a:spLocks noGrp="1"/>
          </p:cNvSpPr>
          <p:nvPr>
            <p:ph type="ftr" sz="quarter" idx="11"/>
          </p:nvPr>
        </p:nvSpPr>
        <p:spPr>
          <a:xfrm>
            <a:off x="0" y="6492875"/>
            <a:ext cx="6019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ransition>
    <p:dissolv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9688"/>
            <a:ext cx="9143999" cy="1412875"/>
          </a:xfrm>
        </p:spPr>
        <p:txBody>
          <a:bodyPr/>
          <a:lstStyle/>
          <a:p>
            <a:pPr>
              <a:lnSpc>
                <a:spcPts val="4400"/>
              </a:lnSpc>
            </a:pPr>
            <a:r>
              <a:rPr lang="en-US" sz="4000" dirty="0" smtClean="0"/>
              <a:t>Pseudorandom Number Generation (PRNG) Based on Asymmetric Cipher</a:t>
            </a:r>
          </a:p>
        </p:txBody>
      </p:sp>
      <p:sp>
        <p:nvSpPr>
          <p:cNvPr id="3" name="Content Placeholder 2"/>
          <p:cNvSpPr>
            <a:spLocks noGrp="1"/>
          </p:cNvSpPr>
          <p:nvPr>
            <p:ph idx="1"/>
          </p:nvPr>
        </p:nvSpPr>
        <p:spPr>
          <a:xfrm>
            <a:off x="685800" y="1828800"/>
            <a:ext cx="7570787" cy="4419600"/>
          </a:xfrm>
        </p:spPr>
        <p:txBody>
          <a:bodyPr>
            <a:normAutofit lnSpcReduction="10000"/>
          </a:bodyPr>
          <a:lstStyle/>
          <a:p>
            <a:r>
              <a:rPr lang="en-US" dirty="0" smtClean="0"/>
              <a:t>An asymmetric encryption algorithm produces apparently ransom output and can be used to build a PRNG</a:t>
            </a:r>
          </a:p>
          <a:p>
            <a:r>
              <a:rPr lang="en-US" dirty="0" smtClean="0"/>
              <a:t>Much slower than symmetric algorithms so they’re not used to generate open-ended PRNG bit streams</a:t>
            </a:r>
          </a:p>
          <a:p>
            <a:r>
              <a:rPr lang="en-US" dirty="0" smtClean="0"/>
              <a:t>Useful for creating a pseudorandom function (PRF) for generating a short pseudorandom bit sequence</a:t>
            </a:r>
          </a:p>
        </p:txBody>
      </p:sp>
      <p:sp>
        <p:nvSpPr>
          <p:cNvPr id="4" name="Footer Placeholder 3"/>
          <p:cNvSpPr>
            <a:spLocks noGrp="1"/>
          </p:cNvSpPr>
          <p:nvPr>
            <p:ph type="ftr" sz="quarter" idx="11"/>
          </p:nvPr>
        </p:nvSpPr>
        <p:spPr>
          <a:xfrm>
            <a:off x="0" y="6492875"/>
            <a:ext cx="70866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0" y="6492875"/>
            <a:ext cx="7086600" cy="365125"/>
          </a:xfrm>
        </p:spPr>
        <p:txBody>
          <a:bodyPr/>
          <a:lstStyle/>
          <a:p>
            <a:pPr>
              <a:defRPr/>
            </a:pPr>
            <a:r>
              <a:rPr lang="en-US" sz="1100" dirty="0" smtClean="0"/>
              <a:t>© 2017 Pearson Education, Inc., Hoboken, NJ. All rights reserved. </a:t>
            </a:r>
            <a:endParaRPr lang="en-US" sz="1100" dirty="0"/>
          </a:p>
        </p:txBody>
      </p:sp>
      <p:pic>
        <p:nvPicPr>
          <p:cNvPr id="4" name="Picture 3" descr="fo8.pdf"/>
          <p:cNvPicPr>
            <a:picLocks noChangeAspect="1"/>
          </p:cNvPicPr>
          <p:nvPr/>
        </p:nvPicPr>
        <mc:AlternateContent>
          <mc:Choice xmlns:ma="http://schemas.microsoft.com/office/mac/drawingml/2008/main" Requires="ma">
            <p:blipFill>
              <a:blip r:embed="rId3"/>
              <a:srcRect t="27273" b="31818"/>
              <a:stretch>
                <a:fillRect/>
              </a:stretch>
            </p:blipFill>
          </mc:Choice>
          <mc:Fallback>
            <p:blipFill>
              <a:blip r:embed="rId4"/>
              <a:srcRect t="27273" b="31818"/>
              <a:stretch>
                <a:fillRect/>
              </a:stretch>
            </p:blipFill>
          </mc:Fallback>
        </mc:AlternateContent>
        <p:spPr>
          <a:xfrm>
            <a:off x="103561" y="838200"/>
            <a:ext cx="9040439" cy="4786122"/>
          </a:xfrm>
          <a:prstGeom prst="rect">
            <a:avLst/>
          </a:prstGeom>
        </p:spPr>
      </p:pic>
    </p:spTree>
  </p:cSld>
  <p:clrMapOvr>
    <a:masterClrMapping/>
  </p:clrMapOvr>
  <p:transition>
    <p:dissolv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ts val="5200"/>
              </a:lnSpc>
            </a:pPr>
            <a:r>
              <a:rPr lang="en-US" sz="5000" dirty="0" smtClean="0"/>
              <a:t>PRNG Based on Elliptic Curve Cryptography</a:t>
            </a:r>
          </a:p>
        </p:txBody>
      </p:sp>
      <p:sp>
        <p:nvSpPr>
          <p:cNvPr id="3" name="Content Placeholder 2"/>
          <p:cNvSpPr>
            <a:spLocks noGrp="1"/>
          </p:cNvSpPr>
          <p:nvPr>
            <p:ph idx="1"/>
          </p:nvPr>
        </p:nvSpPr>
        <p:spPr>
          <a:xfrm>
            <a:off x="762000" y="1905000"/>
            <a:ext cx="7772400" cy="4724400"/>
          </a:xfrm>
        </p:spPr>
        <p:txBody>
          <a:bodyPr>
            <a:normAutofit fontScale="77500" lnSpcReduction="20000"/>
          </a:bodyPr>
          <a:lstStyle/>
          <a:p>
            <a:r>
              <a:rPr lang="en-US" dirty="0" smtClean="0"/>
              <a:t>Developed by the U.S. National Security Agency (NSA)</a:t>
            </a:r>
          </a:p>
          <a:p>
            <a:r>
              <a:rPr lang="en-US" dirty="0" smtClean="0"/>
              <a:t>Known as dual elliptic curve PRNG (DEC PRNG)</a:t>
            </a:r>
          </a:p>
          <a:p>
            <a:pPr>
              <a:lnSpc>
                <a:spcPct val="110000"/>
              </a:lnSpc>
            </a:pPr>
            <a:r>
              <a:rPr lang="en-US" dirty="0" smtClean="0"/>
              <a:t>Recommended in NIST SP 800-90, the ANSI standard X9.82, and the ISO standard 18031</a:t>
            </a:r>
          </a:p>
          <a:p>
            <a:pPr>
              <a:lnSpc>
                <a:spcPct val="110000"/>
              </a:lnSpc>
            </a:pPr>
            <a:r>
              <a:rPr lang="en-US" dirty="0" smtClean="0"/>
              <a:t>Has been some controversy regarding both the security and efficiency of this algorithm compared to other alternatives</a:t>
            </a:r>
          </a:p>
          <a:p>
            <a:pPr lvl="1">
              <a:lnSpc>
                <a:spcPct val="110000"/>
              </a:lnSpc>
            </a:pPr>
            <a:r>
              <a:rPr lang="en-US" dirty="0" smtClean="0"/>
              <a:t>The only motivation for its use would be that it is used in a system that already implements ECC but does not implement any other symmetric, asymmetric, or hash cryptographic algorithm that could be used to build a PRNG</a:t>
            </a:r>
          </a:p>
        </p:txBody>
      </p:sp>
      <p:sp>
        <p:nvSpPr>
          <p:cNvPr id="4" name="Footer Placeholder 3"/>
          <p:cNvSpPr>
            <a:spLocks noGrp="1"/>
          </p:cNvSpPr>
          <p:nvPr>
            <p:ph type="ftr" sz="quarter" idx="11"/>
          </p:nvPr>
        </p:nvSpPr>
        <p:spPr>
          <a:xfrm>
            <a:off x="0" y="6492875"/>
            <a:ext cx="6400800" cy="365125"/>
          </a:xfrm>
        </p:spPr>
        <p:txBody>
          <a:bodyPr/>
          <a:lstStyle/>
          <a:p>
            <a:pPr>
              <a:defRPr/>
            </a:pPr>
            <a:r>
              <a:rPr lang="en-US" sz="1100" dirty="0" smtClean="0"/>
              <a:t>© 2017 Pearson Education, Inc., Hoboken, NJ. All rights reserved. </a:t>
            </a:r>
            <a:endParaRPr lang="en-US" sz="11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smtClean="0"/>
              <a:t>Summary</a:t>
            </a:r>
            <a:endParaRPr lang="en-AU" dirty="0" smtClean="0"/>
          </a:p>
        </p:txBody>
      </p:sp>
      <p:sp>
        <p:nvSpPr>
          <p:cNvPr id="100355" name="Rectangle 3"/>
          <p:cNvSpPr>
            <a:spLocks noGrp="1" noChangeArrowheads="1"/>
          </p:cNvSpPr>
          <p:nvPr>
            <p:ph sz="half" idx="1"/>
          </p:nvPr>
        </p:nvSpPr>
        <p:spPr>
          <a:xfrm>
            <a:off x="304800" y="1828800"/>
            <a:ext cx="3565525" cy="4800600"/>
          </a:xfrm>
        </p:spPr>
        <p:txBody>
          <a:bodyPr>
            <a:normAutofit fontScale="85000" lnSpcReduction="20000"/>
          </a:bodyPr>
          <a:lstStyle/>
          <a:p>
            <a:r>
              <a:rPr lang="en-US" dirty="0" smtClean="0"/>
              <a:t>Diffie-Hellman Key Exchange</a:t>
            </a:r>
          </a:p>
          <a:p>
            <a:pPr lvl="1"/>
            <a:r>
              <a:rPr lang="en-US" dirty="0" smtClean="0"/>
              <a:t>The algorithm</a:t>
            </a:r>
          </a:p>
          <a:p>
            <a:pPr lvl="1"/>
            <a:r>
              <a:rPr lang="en-US" dirty="0" smtClean="0"/>
              <a:t>Key exchange protocols</a:t>
            </a:r>
          </a:p>
          <a:p>
            <a:pPr lvl="1"/>
            <a:r>
              <a:rPr lang="en-US" dirty="0" smtClean="0"/>
              <a:t>Man-in-the-middle attack</a:t>
            </a:r>
          </a:p>
          <a:p>
            <a:r>
              <a:rPr lang="en-US" dirty="0" smtClean="0"/>
              <a:t>Elgamal cryptographic system</a:t>
            </a:r>
          </a:p>
          <a:p>
            <a:r>
              <a:rPr lang="en-US" dirty="0" smtClean="0"/>
              <a:t>Elliptic curve cryptography</a:t>
            </a:r>
          </a:p>
          <a:p>
            <a:pPr lvl="1"/>
            <a:r>
              <a:rPr lang="en-US" dirty="0" smtClean="0"/>
              <a:t>Analog of Diffie-Hellman key exchange</a:t>
            </a:r>
          </a:p>
          <a:p>
            <a:pPr lvl="1"/>
            <a:r>
              <a:rPr lang="en-US" dirty="0" smtClean="0"/>
              <a:t>Elliptic curve encryption/decryption</a:t>
            </a:r>
          </a:p>
          <a:p>
            <a:pPr lvl="1"/>
            <a:r>
              <a:rPr lang="en-US" dirty="0" smtClean="0"/>
              <a:t>Security of elliptic curve cryptography</a:t>
            </a:r>
            <a:endParaRPr lang="en-AU" dirty="0" smtClean="0"/>
          </a:p>
        </p:txBody>
      </p:sp>
      <p:sp>
        <p:nvSpPr>
          <p:cNvPr id="76804" name="Content Placeholder 11"/>
          <p:cNvSpPr>
            <a:spLocks noGrp="1"/>
          </p:cNvSpPr>
          <p:nvPr>
            <p:ph sz="half" idx="2"/>
          </p:nvPr>
        </p:nvSpPr>
        <p:spPr>
          <a:xfrm>
            <a:off x="5578475" y="2057400"/>
            <a:ext cx="3565525" cy="4800600"/>
          </a:xfrm>
        </p:spPr>
        <p:txBody>
          <a:bodyPr rtlCol="0">
            <a:normAutofit fontScale="85000" lnSpcReduction="20000"/>
          </a:bodyPr>
          <a:lstStyle/>
          <a:p>
            <a:pPr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 arithmetic</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Abelian groups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curves over real numbers</a:t>
            </a:r>
          </a:p>
          <a:p>
            <a:pPr lvl="1" fontAlgn="auto">
              <a:spcAft>
                <a:spcPts val="0"/>
              </a:spcAft>
              <a:buClr>
                <a:schemeClr val="accent1">
                  <a:lumMod val="60000"/>
                  <a:lumOff val="40000"/>
                </a:schemeClr>
              </a:buClr>
              <a:buFont typeface="Candara" pitchFamily="34" charset="0"/>
              <a:buChar char="•"/>
              <a:defRPr/>
            </a:pPr>
            <a:r>
              <a:rPr lang="en-US" dirty="0" smtClean="0">
                <a:ea typeface="+mn-ea"/>
                <a:cs typeface="+mn-cs"/>
              </a:rPr>
              <a:t>Elliptic curves over Z</a:t>
            </a:r>
            <a:r>
              <a:rPr lang="en-US" baseline="-25000" dirty="0" smtClean="0">
                <a:ea typeface="+mn-ea"/>
                <a:cs typeface="+mn-cs"/>
              </a:rPr>
              <a:t>p</a:t>
            </a:r>
          </a:p>
          <a:p>
            <a:pPr lvl="1" fontAlgn="auto">
              <a:spcAft>
                <a:spcPts val="0"/>
              </a:spcAft>
              <a:buClr>
                <a:schemeClr val="accent1">
                  <a:lumMod val="60000"/>
                  <a:lumOff val="40000"/>
                </a:schemeClr>
              </a:buClr>
              <a:buFont typeface="Candara" pitchFamily="34" charset="0"/>
              <a:buChar char="•"/>
              <a:defRPr/>
            </a:pPr>
            <a:r>
              <a:rPr lang="en-US" dirty="0" smtClean="0">
                <a:ea typeface="+mn-ea"/>
              </a:rPr>
              <a:t>Elliptic curves over GF(2</a:t>
            </a:r>
            <a:r>
              <a:rPr lang="en-US" i="1" baseline="30000" dirty="0" smtClean="0">
                <a:ea typeface="+mn-ea"/>
              </a:rPr>
              <a:t>m</a:t>
            </a:r>
            <a:r>
              <a:rPr lang="en-US" dirty="0" smtClean="0">
                <a:ea typeface="+mn-ea"/>
              </a:rPr>
              <a:t>)</a:t>
            </a:r>
          </a:p>
          <a:p>
            <a:pPr fontAlgn="auto">
              <a:spcAft>
                <a:spcPts val="0"/>
              </a:spcAft>
              <a:buClr>
                <a:schemeClr val="accent1">
                  <a:lumMod val="60000"/>
                  <a:lumOff val="40000"/>
                </a:schemeClr>
              </a:buClr>
              <a:buFont typeface="Candara" pitchFamily="34" charset="0"/>
              <a:buChar char="•"/>
              <a:defRPr/>
            </a:pPr>
            <a:r>
              <a:rPr lang="en-US" dirty="0" smtClean="0">
                <a:ea typeface="+mn-ea"/>
              </a:rPr>
              <a:t>Pseudorandom number generation based on an asymmetric cipher</a:t>
            </a:r>
          </a:p>
          <a:p>
            <a:pPr lvl="1" fontAlgn="auto">
              <a:spcAft>
                <a:spcPts val="0"/>
              </a:spcAft>
              <a:buClr>
                <a:schemeClr val="accent1">
                  <a:lumMod val="60000"/>
                  <a:lumOff val="40000"/>
                </a:schemeClr>
              </a:buClr>
              <a:buFont typeface="Candara" pitchFamily="34" charset="0"/>
              <a:buChar char="•"/>
              <a:defRPr/>
            </a:pPr>
            <a:r>
              <a:rPr lang="en-US" dirty="0" smtClean="0">
                <a:ea typeface="+mn-ea"/>
              </a:rPr>
              <a:t>PRNG based on RSA</a:t>
            </a:r>
          </a:p>
          <a:p>
            <a:pPr lvl="1" fontAlgn="auto">
              <a:spcAft>
                <a:spcPts val="0"/>
              </a:spcAft>
              <a:buClr>
                <a:schemeClr val="accent1">
                  <a:lumMod val="60000"/>
                  <a:lumOff val="40000"/>
                </a:schemeClr>
              </a:buClr>
              <a:buFont typeface="Candara" pitchFamily="34" charset="0"/>
              <a:buChar char="•"/>
              <a:defRPr/>
            </a:pPr>
            <a:r>
              <a:rPr lang="en-US" dirty="0" smtClean="0">
                <a:ea typeface="+mn-ea"/>
              </a:rPr>
              <a:t>PRNG based on elliptic curve cryptography</a:t>
            </a:r>
          </a:p>
        </p:txBody>
      </p:sp>
      <p:pic>
        <p:nvPicPr>
          <p:cNvPr id="5" name="Picture Placeholder 4" descr="crypto.jpg"/>
          <p:cNvPicPr>
            <a:picLocks noChangeAspect="1"/>
          </p:cNvPicPr>
          <p:nvPr/>
        </p:nvPicPr>
        <p:blipFill>
          <a:blip r:embed="rId3">
            <a:alphaModFix/>
            <a:lum bright="28000"/>
          </a:blip>
          <a:srcRect l="-16674" t="-1111" r="-18211" b="44444"/>
          <a:stretch>
            <a:fillRect/>
          </a:stretch>
        </p:blipFill>
        <p:spPr bwMode="auto">
          <a:xfrm>
            <a:off x="3581400" y="3048000"/>
            <a:ext cx="2109547" cy="1209027"/>
          </a:xfrm>
          <a:prstGeom prst="ellipse">
            <a:avLst/>
          </a:prstGeom>
          <a:solidFill>
            <a:schemeClr val="bg1">
              <a:lumMod val="85000"/>
            </a:schemeClr>
          </a:solidFill>
          <a:ln w="101600">
            <a:noFill/>
            <a:miter lim="800000"/>
            <a:headEnd/>
            <a:tailEnd/>
          </a:ln>
          <a:effectLst>
            <a:innerShdw blurRad="762000">
              <a:schemeClr val="accent1">
                <a:alpha val="80000"/>
              </a:schemeClr>
            </a:innerShdw>
            <a:softEdge rad="76200"/>
          </a:effectLst>
        </p:spPr>
      </p:pic>
      <p:sp>
        <p:nvSpPr>
          <p:cNvPr id="6" name="Footer Placeholder 5"/>
          <p:cNvSpPr>
            <a:spLocks noGrp="1"/>
          </p:cNvSpPr>
          <p:nvPr>
            <p:ph type="ftr" sz="quarter" idx="11"/>
          </p:nvPr>
        </p:nvSpPr>
        <p:spPr>
          <a:xfrm>
            <a:off x="0" y="6492875"/>
            <a:ext cx="6324600" cy="365125"/>
          </a:xfrm>
        </p:spPr>
        <p:txBody>
          <a:bodyPr/>
          <a:lstStyle/>
          <a:p>
            <a:pPr>
              <a:defRPr/>
            </a:pPr>
            <a:r>
              <a:rPr lang="en-US" dirty="0" smtClean="0"/>
              <a:t>© 2017 Pearson Education, Inc., Hoboken, NJ. All rights reserved. </a:t>
            </a:r>
            <a:endParaRPr lang="en-US" dirty="0"/>
          </a:p>
        </p:txBody>
      </p:sp>
    </p:spTree>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h01">
  <a:themeElements>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fontScheme name="ch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ch01 1">
        <a:dk1>
          <a:srgbClr val="2B2B85"/>
        </a:dk1>
        <a:lt1>
          <a:srgbClr val="FFFFFF"/>
        </a:lt1>
        <a:dk2>
          <a:srgbClr val="00254A"/>
        </a:dk2>
        <a:lt2>
          <a:srgbClr val="C0C0C0"/>
        </a:lt2>
        <a:accent1>
          <a:srgbClr val="2E2E8E"/>
        </a:accent1>
        <a:accent2>
          <a:srgbClr val="0066CC"/>
        </a:accent2>
        <a:accent3>
          <a:srgbClr val="AAACB1"/>
        </a:accent3>
        <a:accent4>
          <a:srgbClr val="DADADA"/>
        </a:accent4>
        <a:accent5>
          <a:srgbClr val="ADADC6"/>
        </a:accent5>
        <a:accent6>
          <a:srgbClr val="005CB9"/>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ch01 2">
        <a:dk1>
          <a:srgbClr val="3B4B5D"/>
        </a:dk1>
        <a:lt1>
          <a:srgbClr val="FFFFFF"/>
        </a:lt1>
        <a:dk2>
          <a:srgbClr val="466886"/>
        </a:dk2>
        <a:lt2>
          <a:srgbClr val="CCECFF"/>
        </a:lt2>
        <a:accent1>
          <a:srgbClr val="58718C"/>
        </a:accent1>
        <a:accent2>
          <a:srgbClr val="6D9D97"/>
        </a:accent2>
        <a:accent3>
          <a:srgbClr val="B0B9C3"/>
        </a:accent3>
        <a:accent4>
          <a:srgbClr val="DADADA"/>
        </a:accent4>
        <a:accent5>
          <a:srgbClr val="B4BBC5"/>
        </a:accent5>
        <a:accent6>
          <a:srgbClr val="628E88"/>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ch01 3">
        <a:dk1>
          <a:srgbClr val="008AE8"/>
        </a:dk1>
        <a:lt1>
          <a:srgbClr val="FFFFFF"/>
        </a:lt1>
        <a:dk2>
          <a:srgbClr val="0068AE"/>
        </a:dk2>
        <a:lt2>
          <a:srgbClr val="CCECFF"/>
        </a:lt2>
        <a:accent1>
          <a:srgbClr val="0088E4"/>
        </a:accent1>
        <a:accent2>
          <a:srgbClr val="009999"/>
        </a:accent2>
        <a:accent3>
          <a:srgbClr val="AAB9D3"/>
        </a:accent3>
        <a:accent4>
          <a:srgbClr val="DADADA"/>
        </a:accent4>
        <a:accent5>
          <a:srgbClr val="AAC3EF"/>
        </a:accent5>
        <a:accent6>
          <a:srgbClr val="008A8A"/>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ch01 4">
        <a:dk1>
          <a:srgbClr val="9B69FF"/>
        </a:dk1>
        <a:lt1>
          <a:srgbClr val="FFFFFF"/>
        </a:lt1>
        <a:dk2>
          <a:srgbClr val="666699"/>
        </a:dk2>
        <a:lt2>
          <a:srgbClr val="D9D9FF"/>
        </a:lt2>
        <a:accent1>
          <a:srgbClr val="9966FF"/>
        </a:accent1>
        <a:accent2>
          <a:srgbClr val="00FFFF"/>
        </a:accent2>
        <a:accent3>
          <a:srgbClr val="B8B8CA"/>
        </a:accent3>
        <a:accent4>
          <a:srgbClr val="DADADA"/>
        </a:accent4>
        <a:accent5>
          <a:srgbClr val="CAB8FF"/>
        </a:accent5>
        <a:accent6>
          <a:srgbClr val="00E7E7"/>
        </a:accent6>
        <a:hlink>
          <a:srgbClr val="5FAFFF"/>
        </a:hlink>
        <a:folHlink>
          <a:srgbClr val="003399"/>
        </a:folHlink>
      </a:clrScheme>
      <a:clrMap bg1="dk2" tx1="lt1" bg2="dk1" tx2="lt2" accent1="accent1" accent2="accent2" accent3="accent3" accent4="accent4" accent5="accent5" accent6="accent6" hlink="hlink" folHlink="folHlink"/>
    </a:extraClrScheme>
    <a:extraClrScheme>
      <a:clrScheme name="ch01 5">
        <a:dk1>
          <a:srgbClr val="008080"/>
        </a:dk1>
        <a:lt1>
          <a:srgbClr val="FFFFFF"/>
        </a:lt1>
        <a:dk2>
          <a:srgbClr val="006666"/>
        </a:dk2>
        <a:lt2>
          <a:srgbClr val="FFFFCC"/>
        </a:lt2>
        <a:accent1>
          <a:srgbClr val="008080"/>
        </a:accent1>
        <a:accent2>
          <a:srgbClr val="0099FF"/>
        </a:accent2>
        <a:accent3>
          <a:srgbClr val="AAB8B8"/>
        </a:accent3>
        <a:accent4>
          <a:srgbClr val="DADADA"/>
        </a:accent4>
        <a:accent5>
          <a:srgbClr val="AAC0C0"/>
        </a:accent5>
        <a:accent6>
          <a:srgbClr val="008AE7"/>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ch01 6">
        <a:dk1>
          <a:srgbClr val="CDD9D1"/>
        </a:dk1>
        <a:lt1>
          <a:srgbClr val="FFFFFF"/>
        </a:lt1>
        <a:dk2>
          <a:srgbClr val="A3BBA9"/>
        </a:dk2>
        <a:lt2>
          <a:srgbClr val="007D80"/>
        </a:lt2>
        <a:accent1>
          <a:srgbClr val="CBD7CE"/>
        </a:accent1>
        <a:accent2>
          <a:srgbClr val="9CA8A4"/>
        </a:accent2>
        <a:accent3>
          <a:srgbClr val="CEDAD1"/>
        </a:accent3>
        <a:accent4>
          <a:srgbClr val="DADADA"/>
        </a:accent4>
        <a:accent5>
          <a:srgbClr val="E2E8E3"/>
        </a:accent5>
        <a:accent6>
          <a:srgbClr val="8D9894"/>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ch01 7">
        <a:dk1>
          <a:srgbClr val="686B5D"/>
        </a:dk1>
        <a:lt1>
          <a:srgbClr val="DCDAD0"/>
        </a:lt1>
        <a:dk2>
          <a:srgbClr val="525040"/>
        </a:dk2>
        <a:lt2>
          <a:srgbClr val="D3D2A6"/>
        </a:lt2>
        <a:accent1>
          <a:srgbClr val="686B5D"/>
        </a:accent1>
        <a:accent2>
          <a:srgbClr val="5D8770"/>
        </a:accent2>
        <a:accent3>
          <a:srgbClr val="B3B3AF"/>
        </a:accent3>
        <a:accent4>
          <a:srgbClr val="BCBAB1"/>
        </a:accent4>
        <a:accent5>
          <a:srgbClr val="B9BAB6"/>
        </a:accent5>
        <a:accent6>
          <a:srgbClr val="537A65"/>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ch01 8">
        <a:dk1>
          <a:srgbClr val="000000"/>
        </a:dk1>
        <a:lt1>
          <a:srgbClr val="EAEAEA"/>
        </a:lt1>
        <a:dk2>
          <a:srgbClr val="000000"/>
        </a:dk2>
        <a:lt2>
          <a:srgbClr val="B2B2B2"/>
        </a:lt2>
        <a:accent1>
          <a:srgbClr val="FFFFFF"/>
        </a:accent1>
        <a:accent2>
          <a:srgbClr val="A4BCC4"/>
        </a:accent2>
        <a:accent3>
          <a:srgbClr val="F3F3F3"/>
        </a:accent3>
        <a:accent4>
          <a:srgbClr val="000000"/>
        </a:accent4>
        <a:accent5>
          <a:srgbClr val="FFFFFF"/>
        </a:accent5>
        <a:accent6>
          <a:srgbClr val="94AAB1"/>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ch01 9">
        <a:dk1>
          <a:srgbClr val="000000"/>
        </a:dk1>
        <a:lt1>
          <a:srgbClr val="D7D1B9"/>
        </a:lt1>
        <a:dk2>
          <a:srgbClr val="B39257"/>
        </a:dk2>
        <a:lt2>
          <a:srgbClr val="B1A887"/>
        </a:lt2>
        <a:accent1>
          <a:srgbClr val="E6E3D4"/>
        </a:accent1>
        <a:accent2>
          <a:srgbClr val="A2A4AC"/>
        </a:accent2>
        <a:accent3>
          <a:srgbClr val="E8E5D9"/>
        </a:accent3>
        <a:accent4>
          <a:srgbClr val="000000"/>
        </a:accent4>
        <a:accent5>
          <a:srgbClr val="F0EFE6"/>
        </a:accent5>
        <a:accent6>
          <a:srgbClr val="9294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Infusion">
  <a:themeElements>
    <a:clrScheme name="Infusion">
      <a:dk1>
        <a:sysClr val="windowText" lastClr="000000"/>
      </a:dk1>
      <a:lt1>
        <a:sysClr val="window" lastClr="FFFFFF"/>
      </a:lt1>
      <a:dk2>
        <a:srgbClr val="2F1F58"/>
      </a:dk2>
      <a:lt2>
        <a:srgbClr val="B7A9E0"/>
      </a:lt2>
      <a:accent1>
        <a:srgbClr val="8C73D0"/>
      </a:accent1>
      <a:accent2>
        <a:srgbClr val="C2E8C4"/>
      </a:accent2>
      <a:accent3>
        <a:srgbClr val="C5A6E8"/>
      </a:accent3>
      <a:accent4>
        <a:srgbClr val="B45EC7"/>
      </a:accent4>
      <a:accent5>
        <a:srgbClr val="9FDAFB"/>
      </a:accent5>
      <a:accent6>
        <a:srgbClr val="95C5B0"/>
      </a:accent6>
      <a:hlink>
        <a:srgbClr val="744AE0"/>
      </a:hlink>
      <a:folHlink>
        <a:srgbClr val="8D8AD1"/>
      </a:folHlink>
    </a:clrScheme>
    <a:fontScheme name="Infusion">
      <a:majorFont>
        <a:latin typeface="Mistral"/>
        <a:ea typeface=""/>
        <a:cs typeface=""/>
        <a:font script="Jpan" typeface="ＭＳ Ｐ明朝"/>
      </a:majorFont>
      <a:minorFont>
        <a:latin typeface="Candara"/>
        <a:ea typeface=""/>
        <a:cs typeface=""/>
        <a:font script="Jpan" typeface="メイリオ"/>
      </a:minorFont>
    </a:fontScheme>
    <a:fmtScheme name="Infusion">
      <a:fillStyleLst>
        <a:solidFill>
          <a:schemeClr val="phClr"/>
        </a:solidFill>
        <a:blipFill rotWithShape="1">
          <a:blip xmlns:r="http://schemas.openxmlformats.org/officeDocument/2006/relationships" r:embed="rId1">
            <a:duotone>
              <a:schemeClr val="phClr">
                <a:shade val="70000"/>
                <a:satMod val="120000"/>
              </a:schemeClr>
              <a:schemeClr val="phClr">
                <a:tint val="70000"/>
                <a:satMod val="300000"/>
                <a:lumMod val="125000"/>
              </a:schemeClr>
            </a:duotone>
          </a:blip>
          <a:tile tx="0" ty="0" sx="50000" sy="50000" flip="none" algn="tl"/>
        </a:blipFill>
        <a:blipFill rotWithShape="1">
          <a:blip xmlns:r="http://schemas.openxmlformats.org/officeDocument/2006/relationships" r:embed="rId2">
            <a:duotone>
              <a:schemeClr val="phClr">
                <a:shade val="70000"/>
                <a:satMod val="120000"/>
              </a:schemeClr>
              <a:schemeClr val="phClr">
                <a:tint val="70000"/>
                <a:satMod val="135000"/>
              </a:schemeClr>
            </a:duotone>
          </a:blip>
          <a:tile tx="0" ty="0" sx="40000" sy="40000" flip="none" algn="tl"/>
        </a:blipFill>
      </a:fillStyleLst>
      <a:lnStyleLst>
        <a:ln w="38100" cap="flat" cmpd="sng" algn="ctr">
          <a:solidFill>
            <a:schemeClr val="phClr">
              <a:alpha val="70000"/>
              <a:satMod val="105000"/>
            </a:schemeClr>
          </a:solidFill>
          <a:prstDash val="solid"/>
          <a:miter/>
        </a:ln>
        <a:ln w="50800" cap="flat" cmpd="sng" algn="ctr">
          <a:solidFill>
            <a:schemeClr val="phClr">
              <a:alpha val="50000"/>
            </a:schemeClr>
          </a:solidFill>
          <a:prstDash val="solid"/>
          <a:miter/>
        </a:ln>
        <a:ln w="88900" cap="flat" cmpd="sng" algn="ctr">
          <a:solidFill>
            <a:schemeClr val="phClr">
              <a:alpha val="40000"/>
            </a:schemeClr>
          </a:solidFill>
          <a:prstDash val="solid"/>
          <a:miter/>
        </a:ln>
      </a:lnStyleLst>
      <a:effectStyleLst>
        <a:effectStyle>
          <a:effectLst/>
        </a:effectStyle>
        <a:effectStyle>
          <a:effectLst>
            <a:outerShdw blurRad="38100" dist="25400" dir="5400000" rotWithShape="0">
              <a:srgbClr val="000000">
                <a:alpha val="50000"/>
              </a:srgbClr>
            </a:outerShdw>
          </a:effectLst>
        </a:effectStyle>
        <a:effectStyle>
          <a:effectLst>
            <a:innerShdw blurRad="190500" dir="13500000">
              <a:srgbClr val="000000">
                <a:alpha val="50000"/>
              </a:srgbClr>
            </a:innerShdw>
            <a:outerShdw blurRad="38100" dist="25400" dir="5400000" rotWithShape="0">
              <a:srgbClr val="000000">
                <a:alpha val="50000"/>
              </a:srgbClr>
            </a:outerShdw>
          </a:effectLst>
        </a:effectStyle>
      </a:effectStyleLst>
      <a:bgFillStyleLst>
        <a:blipFill rotWithShape="1">
          <a:blip xmlns:r="http://schemas.openxmlformats.org/officeDocument/2006/relationships" r:embed="rId3">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4">
            <a:duotone>
              <a:schemeClr val="phClr">
                <a:shade val="70000"/>
                <a:satMod val="500000"/>
                <a:lumMod val="50000"/>
              </a:schemeClr>
              <a:schemeClr val="phClr">
                <a:satMod val="800000"/>
                <a:lumMod val="250000"/>
              </a:schemeClr>
            </a:duotone>
          </a:blip>
          <a:stretch/>
        </a:blipFill>
        <a:blipFill rotWithShape="1">
          <a:blip xmlns:r="http://schemas.openxmlformats.org/officeDocument/2006/relationships" r:embed="rId5">
            <a:duotone>
              <a:schemeClr val="phClr">
                <a:shade val="70000"/>
                <a:satMod val="500000"/>
                <a:lumMod val="50000"/>
              </a:schemeClr>
              <a:schemeClr val="phClr">
                <a:satMod val="800000"/>
                <a:lumMod val="25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Mnementh:Users:lpb:admin:consult:Prentice-Hall:Slides:ch01.ppt</Template>
  <TotalTime>28369</TotalTime>
  <Words>4855</Words>
  <Application>Microsoft Macintosh PowerPoint</Application>
  <PresentationFormat>On-screen Show (4:3)</PresentationFormat>
  <Paragraphs>347</Paragraphs>
  <Slides>25</Slides>
  <Notes>25</Notes>
  <HiddenSlides>0</HiddenSlides>
  <MMClips>0</MMClips>
  <ScaleCrop>false</ScaleCrop>
  <HeadingPairs>
    <vt:vector size="4" baseType="variant">
      <vt:variant>
        <vt:lpstr>Design Template</vt:lpstr>
      </vt:variant>
      <vt:variant>
        <vt:i4>2</vt:i4>
      </vt:variant>
      <vt:variant>
        <vt:lpstr>Slide Titles</vt:lpstr>
      </vt:variant>
      <vt:variant>
        <vt:i4>25</vt:i4>
      </vt:variant>
    </vt:vector>
  </HeadingPairs>
  <TitlesOfParts>
    <vt:vector size="27" baseType="lpstr">
      <vt:lpstr>ch01</vt:lpstr>
      <vt:lpstr>Infusion</vt:lpstr>
      <vt:lpstr>Cryptography and Network Security</vt:lpstr>
      <vt:lpstr>Chapter 10</vt:lpstr>
      <vt:lpstr>Diffie-Hellman Key Exchange</vt:lpstr>
      <vt:lpstr>Slide 4</vt:lpstr>
      <vt:lpstr>Slide 5</vt:lpstr>
      <vt:lpstr>ElGamal Cryptography</vt:lpstr>
      <vt:lpstr>Slide 7</vt:lpstr>
      <vt:lpstr>Elliptic Curve Arithmetic</vt:lpstr>
      <vt:lpstr>Abelian Group</vt:lpstr>
      <vt:lpstr>Slide 10</vt:lpstr>
      <vt:lpstr>Elliptic Curves Over Zp</vt:lpstr>
      <vt:lpstr>Slide 12</vt:lpstr>
      <vt:lpstr>Slide 13</vt:lpstr>
      <vt:lpstr>Elliptic Curves Over GF(2m)</vt:lpstr>
      <vt:lpstr>Table 10.2   Points (other than O) on the Elliptic Curve E24(g4, 1) </vt:lpstr>
      <vt:lpstr>Slide 16</vt:lpstr>
      <vt:lpstr>Elliptic Curve Cryptography (ECC)</vt:lpstr>
      <vt:lpstr>Slide 18</vt:lpstr>
      <vt:lpstr>ECC Encryption/Decryption</vt:lpstr>
      <vt:lpstr>Security of Elliptic Curve Cryptography</vt:lpstr>
      <vt:lpstr> Table 10.3  Comparable Key Sizes in Terms of Computational Effort  for Cryptanalysis  (NIST SP-800-57) </vt:lpstr>
      <vt:lpstr>Pseudorandom Number Generation (PRNG) Based on Asymmetric Cipher</vt:lpstr>
      <vt:lpstr>Slide 23</vt:lpstr>
      <vt:lpstr>PRNG Based on Elliptic Curve Cryptography</vt:lpstr>
      <vt:lpstr>Summary</vt:lpstr>
    </vt:vector>
  </TitlesOfParts>
  <Manager/>
  <Company>School of Eng &amp; IT, UNSW@ADFA</Company>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Cryptography and Network Security 5/e</dc:title>
  <dc:subject>Lecture Overheads - Ch 10</dc:subject>
  <dc:creator>Dr Lawrie Brown</dc:creator>
  <cp:keywords/>
  <dc:description/>
  <cp:lastModifiedBy>Kevin McLaughlin</cp:lastModifiedBy>
  <cp:revision>58</cp:revision>
  <dcterms:created xsi:type="dcterms:W3CDTF">2016-03-31T03:55:02Z</dcterms:created>
  <dcterms:modified xsi:type="dcterms:W3CDTF">2016-04-12T19:24:47Z</dcterms:modified>
  <cp:category/>
</cp:coreProperties>
</file>