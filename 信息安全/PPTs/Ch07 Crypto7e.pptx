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diagrams/colors2.xml" ContentType="application/vnd.openxmlformats-officedocument.drawingml.diagramColors+xml"/>
  <Default Extension="bin" ContentType="application/vnd.openxmlformats-officedocument.presentationml.printerSettings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Default Extension="wmf" ContentType="image/x-wmf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diagrams/drawing3.xml" ContentType="application/vnd.ms-office.drawingml.diagramDrawing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notesSlides/notesSlide1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quickStyle1.xml" ContentType="application/vnd.openxmlformats-officedocument.drawingml.diagramStyle+xml"/>
  <Override PartName="/ppt/notesSlides/notesSlide2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notesSlides/notesSlide26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diagrams/colors3.xml" ContentType="application/vnd.openxmlformats-officedocument.drawingml.diagramColors+xml"/>
  <Override PartName="/ppt/slides/slide1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9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35.xml" ContentType="application/vnd.openxmlformats-officedocument.presentationml.notesSlide+xml"/>
  <Override PartName="/ppt/slides/slide24.xml" ContentType="application/vnd.openxmlformats-officedocument.presentationml.slid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diagrams/drawing4.xml" ContentType="application/vnd.ms-office.drawingml.diagramDrawing+xml"/>
  <Override PartName="/ppt/slideLayouts/slideLayout11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18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quickStyle2.xml" ContentType="application/vnd.openxmlformats-officedocument.drawingml.diagramStyle+xml"/>
  <Default Extension="jpeg" ContentType="image/jpeg"/>
  <Override PartName="/ppt/notesSlides/notesSlide23.xml" ContentType="application/vnd.openxmlformats-officedocument.presentationml.notes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Default Extension="rels" ContentType="application/vnd.openxmlformats-package.relationships+xml"/>
  <Override PartName="/ppt/notesSlides/notesSlide27.xml" ContentType="application/vnd.openxmlformats-officedocument.presentationml.notesSlide+xml"/>
  <Override PartName="/ppt/slides/slide16.xml" ContentType="application/vnd.openxmlformats-officedocument.presentationml.slide+xml"/>
  <Override PartName="/ppt/slides/slide35.xml" ContentType="application/vnd.openxmlformats-officedocument.presentationml.slide+xml"/>
  <Override PartName="/ppt/diagrams/colors4.xml" ContentType="application/vnd.openxmlformats-officedocument.drawingml.diagramColors+xml"/>
  <Override PartName="/ppt/slides/slide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1.xml" ContentType="application/vnd.openxmlformats-officedocument.presentationml.slide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25.xml" ContentType="application/vnd.openxmlformats-officedocument.presentationml.slide+xml"/>
  <Override PartName="/ppt/theme/theme3.xml" ContentType="application/vnd.openxmlformats-officedocument.theme+xml"/>
  <Override PartName="/ppt/diagrams/drawing5.xml" ContentType="application/vnd.ms-office.drawingml.diagramDrawing+xml"/>
  <Override PartName="/ppt/slideLayouts/slideLayout12.xml" ContentType="application/vnd.openxmlformats-officedocument.presentationml.slideLayout+xml"/>
  <Override PartName="/ppt/diagrams/layout3.xml" ContentType="application/vnd.openxmlformats-officedocument.drawingml.diagramLayout+xml"/>
  <Override PartName="/ppt/notesSlides/notesSlide19.xml" ContentType="application/vnd.openxmlformats-officedocument.presentationml.notesSlide+xml"/>
  <Override PartName="/ppt/diagrams/data4.xml" ContentType="application/vnd.openxmlformats-officedocument.drawingml.diagramData+xml"/>
  <Override PartName="/ppt/diagrams/quickStyle3.xml" ContentType="application/vnd.openxmlformats-officedocument.drawingml.diagramStyle+xml"/>
  <Override PartName="/ppt/notesSlides/notesSlide24.xml" ContentType="application/vnd.openxmlformats-officedocument.presentationml.notes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Default Extension="xml" ContentType="application/xml"/>
  <Override PartName="/ppt/diagrams/colors1.xml" ContentType="application/vnd.openxmlformats-officedocument.drawingml.diagramColors+xml"/>
  <Override PartName="/ppt/tableStyles.xml" ContentType="application/vnd.openxmlformats-officedocument.presentationml.tableStyles+xml"/>
  <Override PartName="/ppt/notesSlides/notesSlide10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slides/slide36.xml" ContentType="application/vnd.openxmlformats-officedocument.presentationml.slide+xml"/>
  <Override PartName="/ppt/presentation.xml" ContentType="application/vnd.openxmlformats-officedocument.presentationml.presentation.main+xml"/>
  <Override PartName="/ppt/diagrams/colors5.xml" ContentType="application/vnd.openxmlformats-officedocument.drawingml.diagramColors+xml"/>
  <Override PartName="/ppt/slides/slide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2.xml" ContentType="application/vnd.openxmlformats-officedocument.presentationml.slide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21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0.xml" ContentType="application/vnd.openxmlformats-officedocument.presentationml.slide+xml"/>
  <Override PartName="/ppt/slides/slide26.xml" ContentType="application/vnd.openxmlformats-officedocument.presentationml.slide+xml"/>
  <Override PartName="/ppt/slideLayouts/slideLayout13.xml" ContentType="application/vnd.openxmlformats-officedocument.presentationml.slideLayout+xml"/>
  <Override PartName="/ppt/diagrams/layout4.xml" ContentType="application/vnd.openxmlformats-officedocument.drawingml.diagramLayout+xml"/>
  <Default Extension="pdf" ContentType="application/pdf"/>
  <Override PartName="/ppt/diagrams/data5.xml" ContentType="application/vnd.openxmlformats-officedocument.drawingml.diagramData+xml"/>
  <Override PartName="/ppt/diagrams/quickStyle4.xml" ContentType="application/vnd.openxmlformats-officedocument.drawingml.diagramStyle+xml"/>
  <Default Extension="png" ContentType="image/png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745" r:id="rId1"/>
  </p:sldMasterIdLst>
  <p:notesMasterIdLst>
    <p:notesMasterId r:id="rId40"/>
  </p:notesMasterIdLst>
  <p:handoutMasterIdLst>
    <p:handoutMasterId r:id="rId41"/>
  </p:handoutMasterIdLst>
  <p:sldIdLst>
    <p:sldId id="320" r:id="rId2"/>
    <p:sldId id="321" r:id="rId3"/>
    <p:sldId id="276" r:id="rId4"/>
    <p:sldId id="324" r:id="rId5"/>
    <p:sldId id="277" r:id="rId6"/>
    <p:sldId id="278" r:id="rId7"/>
    <p:sldId id="325" r:id="rId8"/>
    <p:sldId id="326" r:id="rId9"/>
    <p:sldId id="296" r:id="rId10"/>
    <p:sldId id="327" r:id="rId11"/>
    <p:sldId id="297" r:id="rId12"/>
    <p:sldId id="328" r:id="rId13"/>
    <p:sldId id="301" r:id="rId14"/>
    <p:sldId id="319" r:id="rId15"/>
    <p:sldId id="304" r:id="rId16"/>
    <p:sldId id="307" r:id="rId17"/>
    <p:sldId id="310" r:id="rId18"/>
    <p:sldId id="311" r:id="rId19"/>
    <p:sldId id="317" r:id="rId20"/>
    <p:sldId id="314" r:id="rId21"/>
    <p:sldId id="329" r:id="rId22"/>
    <p:sldId id="315" r:id="rId23"/>
    <p:sldId id="331" r:id="rId24"/>
    <p:sldId id="318" r:id="rId25"/>
    <p:sldId id="330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23" r:id="rId39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81156" autoAdjust="0"/>
  </p:normalViewPr>
  <p:slideViewPr>
    <p:cSldViewPr>
      <p:cViewPr varScale="1">
        <p:scale>
          <a:sx n="118" d="100"/>
          <a:sy n="118" d="100"/>
        </p:scale>
        <p:origin x="-112" y="-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-1008" y="-11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interSettings" Target="printerSettings/printerSettings1.bin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0A5A06-352A-F343-A538-22EA1C5C333F}" type="doc">
      <dgm:prSet loTypeId="urn:microsoft.com/office/officeart/2005/8/layout/arrow5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6B1CD2-8455-7E4B-96D7-414CB80DCB2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use of double DES results in a mapping that is not equivalent to a single DES encryption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E3FD17-B4A4-7C45-88C0-20819969C39B}" type="parTrans" cxnId="{FDE91803-A9F0-8749-9D97-93C6C728F0B7}">
      <dgm:prSet/>
      <dgm:spPr/>
      <dgm:t>
        <a:bodyPr/>
        <a:lstStyle/>
        <a:p>
          <a:endParaRPr lang="en-US"/>
        </a:p>
      </dgm:t>
    </dgm:pt>
    <dgm:pt modelId="{ABCF0EFD-C3DE-BE4F-B2F8-E8F911CBF43A}" type="sibTrans" cxnId="{FDE91803-A9F0-8749-9D97-93C6C728F0B7}">
      <dgm:prSet/>
      <dgm:spPr/>
      <dgm:t>
        <a:bodyPr/>
        <a:lstStyle/>
        <a:p>
          <a:endParaRPr lang="en-US"/>
        </a:p>
      </dgm:t>
    </dgm:pt>
    <dgm:pt modelId="{ABBB2B24-D95A-3840-AD62-5975B77AA795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meet-in-the-middle attack algorithm will attack this scheme and does not depend on any particular property of DES but will work against any block encryption cipher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9DE476F-6BD2-884A-9AA9-24E0768961D7}" type="parTrans" cxnId="{B49C7608-0DA3-2D4C-A441-1D1785AEE941}">
      <dgm:prSet/>
      <dgm:spPr/>
      <dgm:t>
        <a:bodyPr/>
        <a:lstStyle/>
        <a:p>
          <a:endParaRPr lang="en-US"/>
        </a:p>
      </dgm:t>
    </dgm:pt>
    <dgm:pt modelId="{1A96AAF2-091E-8A48-807B-D5CEA818EB70}" type="sibTrans" cxnId="{B49C7608-0DA3-2D4C-A441-1D1785AEE941}">
      <dgm:prSet/>
      <dgm:spPr/>
      <dgm:t>
        <a:bodyPr/>
        <a:lstStyle/>
        <a:p>
          <a:endParaRPr lang="en-US"/>
        </a:p>
      </dgm:t>
    </dgm:pt>
    <dgm:pt modelId="{372E3E5B-EF8D-A24F-B8EF-C03EC62A8B69}" type="pres">
      <dgm:prSet presAssocID="{940A5A06-352A-F343-A538-22EA1C5C333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ABB9488-165E-AF46-AD09-198A95CA42D5}" type="pres">
      <dgm:prSet presAssocID="{556B1CD2-8455-7E4B-96D7-414CB80DCB21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700B98-CB5D-6E42-991E-36901AA3DD8A}" type="pres">
      <dgm:prSet presAssocID="{ABBB2B24-D95A-3840-AD62-5975B77AA795}" presName="arrow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49C7608-0DA3-2D4C-A441-1D1785AEE941}" srcId="{940A5A06-352A-F343-A538-22EA1C5C333F}" destId="{ABBB2B24-D95A-3840-AD62-5975B77AA795}" srcOrd="1" destOrd="0" parTransId="{29DE476F-6BD2-884A-9AA9-24E0768961D7}" sibTransId="{1A96AAF2-091E-8A48-807B-D5CEA818EB70}"/>
    <dgm:cxn modelId="{6D38474A-A98C-9F41-A8F2-3D4DE82DB158}" type="presOf" srcId="{556B1CD2-8455-7E4B-96D7-414CB80DCB21}" destId="{CABB9488-165E-AF46-AD09-198A95CA42D5}" srcOrd="0" destOrd="0" presId="urn:microsoft.com/office/officeart/2005/8/layout/arrow5"/>
    <dgm:cxn modelId="{FDE91803-A9F0-8749-9D97-93C6C728F0B7}" srcId="{940A5A06-352A-F343-A538-22EA1C5C333F}" destId="{556B1CD2-8455-7E4B-96D7-414CB80DCB21}" srcOrd="0" destOrd="0" parTransId="{59E3FD17-B4A4-7C45-88C0-20819969C39B}" sibTransId="{ABCF0EFD-C3DE-BE4F-B2F8-E8F911CBF43A}"/>
    <dgm:cxn modelId="{28B4DB83-A615-1240-96C9-8FA04FED8CEE}" type="presOf" srcId="{940A5A06-352A-F343-A538-22EA1C5C333F}" destId="{372E3E5B-EF8D-A24F-B8EF-C03EC62A8B69}" srcOrd="0" destOrd="0" presId="urn:microsoft.com/office/officeart/2005/8/layout/arrow5"/>
    <dgm:cxn modelId="{A2CDDF4A-3187-2942-B816-25914AFBD2B1}" type="presOf" srcId="{ABBB2B24-D95A-3840-AD62-5975B77AA795}" destId="{53700B98-CB5D-6E42-991E-36901AA3DD8A}" srcOrd="0" destOrd="0" presId="urn:microsoft.com/office/officeart/2005/8/layout/arrow5"/>
    <dgm:cxn modelId="{6B018D68-06F7-294B-BA84-FD53C3662530}" type="presParOf" srcId="{372E3E5B-EF8D-A24F-B8EF-C03EC62A8B69}" destId="{CABB9488-165E-AF46-AD09-198A95CA42D5}" srcOrd="0" destOrd="0" presId="urn:microsoft.com/office/officeart/2005/8/layout/arrow5"/>
    <dgm:cxn modelId="{6C8F2DFB-7CB6-CB42-B91F-39A9C3F0E677}" type="presParOf" srcId="{372E3E5B-EF8D-A24F-B8EF-C03EC62A8B69}" destId="{53700B98-CB5D-6E42-991E-36901AA3DD8A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C216DB-ED2B-1644-B547-B90E16F29DD5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83B06D-8E94-E942-B828-2F655F2F04A0}">
      <dgm:prSet phldrT="[Text]" custT="1"/>
      <dgm:spPr/>
      <dgm:t>
        <a:bodyPr/>
        <a:lstStyle/>
        <a:p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Three-key 3DES has an effective key length of 168 bits and is defined as: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CB920F1-553D-2D46-8465-E4F4CF910A57}" type="parTrans" cxnId="{5E24A378-C063-0546-8EE6-D8B851A66715}">
      <dgm:prSet/>
      <dgm:spPr/>
      <dgm:t>
        <a:bodyPr/>
        <a:lstStyle/>
        <a:p>
          <a:endParaRPr lang="en-US"/>
        </a:p>
      </dgm:t>
    </dgm:pt>
    <dgm:pt modelId="{BEC42A92-1379-B24C-A141-0F2FAB9EBC34}" type="sibTrans" cxnId="{5E24A378-C063-0546-8EE6-D8B851A66715}">
      <dgm:prSet/>
      <dgm:spPr/>
      <dgm:t>
        <a:bodyPr/>
        <a:lstStyle/>
        <a:p>
          <a:endParaRPr lang="en-US"/>
        </a:p>
      </dgm:t>
    </dgm:pt>
    <dgm:pt modelId="{E7380C2F-715F-564D-960A-EFF975110623}">
      <dgm:prSet custT="1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800" i="1" dirty="0" smtClean="0">
              <a:ea typeface="+mn-ea"/>
              <a:cs typeface="+mn-cs"/>
            </a:rPr>
            <a:t>C</a:t>
          </a:r>
          <a:r>
            <a:rPr lang="en-US" sz="1800" dirty="0" smtClean="0">
              <a:ea typeface="+mn-ea"/>
              <a:cs typeface="+mn-cs"/>
            </a:rPr>
            <a:t> = E( </a:t>
          </a:r>
          <a:r>
            <a:rPr lang="en-US" sz="1800" i="1" dirty="0" smtClean="0">
              <a:ea typeface="+mn-ea"/>
              <a:cs typeface="+mn-cs"/>
            </a:rPr>
            <a:t>K</a:t>
          </a:r>
          <a:r>
            <a:rPr lang="en-US" sz="1800" i="1" baseline="-25000" dirty="0" smtClean="0">
              <a:ea typeface="+mn-ea"/>
              <a:cs typeface="+mn-cs"/>
            </a:rPr>
            <a:t>3</a:t>
          </a:r>
          <a:r>
            <a:rPr lang="en-US" sz="1800" dirty="0" smtClean="0">
              <a:ea typeface="+mn-ea"/>
              <a:cs typeface="+mn-cs"/>
            </a:rPr>
            <a:t>, D( </a:t>
          </a:r>
          <a:r>
            <a:rPr lang="en-US" sz="1800" i="1" dirty="0" smtClean="0">
              <a:ea typeface="+mn-ea"/>
              <a:cs typeface="+mn-cs"/>
            </a:rPr>
            <a:t>K</a:t>
          </a:r>
          <a:r>
            <a:rPr lang="en-US" sz="1800" i="1" baseline="-25000" dirty="0" smtClean="0">
              <a:ea typeface="+mn-ea"/>
              <a:cs typeface="+mn-cs"/>
            </a:rPr>
            <a:t>2</a:t>
          </a:r>
          <a:r>
            <a:rPr lang="en-US" sz="1800" dirty="0" smtClean="0">
              <a:ea typeface="+mn-ea"/>
              <a:cs typeface="+mn-cs"/>
            </a:rPr>
            <a:t>, E( </a:t>
          </a:r>
          <a:r>
            <a:rPr lang="en-US" sz="1800" i="1" dirty="0" smtClean="0">
              <a:ea typeface="+mn-ea"/>
              <a:cs typeface="+mn-cs"/>
            </a:rPr>
            <a:t>K</a:t>
          </a:r>
          <a:r>
            <a:rPr lang="en-US" sz="1800" i="1" baseline="-25000" dirty="0" smtClean="0">
              <a:ea typeface="+mn-ea"/>
              <a:cs typeface="+mn-cs"/>
            </a:rPr>
            <a:t>1</a:t>
          </a:r>
          <a:r>
            <a:rPr lang="en-US" sz="1800" i="1" dirty="0" smtClean="0">
              <a:ea typeface="+mn-ea"/>
              <a:cs typeface="+mn-cs"/>
            </a:rPr>
            <a:t>,  P</a:t>
          </a:r>
          <a:r>
            <a:rPr lang="en-US" sz="1800" dirty="0" smtClean="0">
              <a:ea typeface="+mn-ea"/>
              <a:cs typeface="+mn-cs"/>
            </a:rPr>
            <a:t>)))</a:t>
          </a:r>
        </a:p>
      </dgm:t>
    </dgm:pt>
    <dgm:pt modelId="{90D40BFD-6BF0-6042-9114-72968A472306}" type="parTrans" cxnId="{CFA63F32-8365-C341-B5FA-457121D21D4F}">
      <dgm:prSet/>
      <dgm:spPr/>
      <dgm:t>
        <a:bodyPr/>
        <a:lstStyle/>
        <a:p>
          <a:endParaRPr lang="en-US"/>
        </a:p>
      </dgm:t>
    </dgm:pt>
    <dgm:pt modelId="{644890B0-9A52-BA4B-81CD-E482EF13A0B4}" type="sibTrans" cxnId="{CFA63F32-8365-C341-B5FA-457121D21D4F}">
      <dgm:prSet/>
      <dgm:spPr/>
      <dgm:t>
        <a:bodyPr/>
        <a:lstStyle/>
        <a:p>
          <a:endParaRPr lang="en-US"/>
        </a:p>
      </dgm:t>
    </dgm:pt>
    <dgm:pt modelId="{1F6D968B-9C81-7149-825C-4C1B5DBBAF05}">
      <dgm:prSet custT="1"/>
      <dgm:spPr/>
      <dgm:t>
        <a:bodyPr/>
        <a:lstStyle/>
        <a:p>
          <a:r>
            <a:rPr lang="en-US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Backward compatibility with DES is provided by putting:</a:t>
          </a:r>
        </a:p>
      </dgm:t>
    </dgm:pt>
    <dgm:pt modelId="{DDC030CC-236E-6D4D-8E64-83324EC40F52}" type="parTrans" cxnId="{7B4EE2F3-0065-0C43-B34D-A1DF098B1CE3}">
      <dgm:prSet/>
      <dgm:spPr/>
      <dgm:t>
        <a:bodyPr/>
        <a:lstStyle/>
        <a:p>
          <a:endParaRPr lang="en-US"/>
        </a:p>
      </dgm:t>
    </dgm:pt>
    <dgm:pt modelId="{E6D289FB-2828-1443-8E24-3175B3B78C5D}" type="sibTrans" cxnId="{7B4EE2F3-0065-0C43-B34D-A1DF098B1CE3}">
      <dgm:prSet/>
      <dgm:spPr/>
      <dgm:t>
        <a:bodyPr/>
        <a:lstStyle/>
        <a:p>
          <a:endParaRPr lang="en-US"/>
        </a:p>
      </dgm:t>
    </dgm:pt>
    <dgm:pt modelId="{3F4EDAF9-9D08-1D44-AB52-71601EE4E50A}">
      <dgm:prSet custT="1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800" dirty="0" smtClean="0">
              <a:ea typeface="+mn-ea"/>
              <a:cs typeface="+mn-cs"/>
            </a:rPr>
            <a:t>K</a:t>
          </a:r>
          <a:r>
            <a:rPr lang="en-US" sz="1800" i="1" baseline="-25000" dirty="0" smtClean="0">
              <a:ea typeface="+mn-ea"/>
              <a:cs typeface="+mn-cs"/>
            </a:rPr>
            <a:t>3</a:t>
          </a:r>
          <a:r>
            <a:rPr lang="en-US" sz="1800" dirty="0" smtClean="0">
              <a:ea typeface="+mn-ea"/>
              <a:cs typeface="+mn-cs"/>
            </a:rPr>
            <a:t> = K</a:t>
          </a:r>
          <a:r>
            <a:rPr lang="en-US" sz="1800" i="1" baseline="-25000" dirty="0" smtClean="0">
              <a:ea typeface="+mn-ea"/>
              <a:cs typeface="+mn-cs"/>
            </a:rPr>
            <a:t>2</a:t>
          </a:r>
          <a:r>
            <a:rPr lang="en-US" sz="1800" dirty="0" smtClean="0">
              <a:ea typeface="+mn-ea"/>
              <a:cs typeface="+mn-cs"/>
            </a:rPr>
            <a:t> or K</a:t>
          </a:r>
          <a:r>
            <a:rPr lang="en-US" sz="1800" i="1" baseline="-25000" dirty="0" smtClean="0">
              <a:ea typeface="+mn-ea"/>
              <a:cs typeface="+mn-cs"/>
            </a:rPr>
            <a:t>1</a:t>
          </a:r>
          <a:r>
            <a:rPr lang="en-US" sz="1800" dirty="0" smtClean="0">
              <a:ea typeface="+mn-ea"/>
              <a:cs typeface="+mn-cs"/>
            </a:rPr>
            <a:t> = K</a:t>
          </a:r>
          <a:r>
            <a:rPr lang="en-US" sz="1800" i="1" baseline="-25000" dirty="0" smtClean="0">
              <a:ea typeface="+mn-ea"/>
              <a:cs typeface="+mn-cs"/>
            </a:rPr>
            <a:t>2</a:t>
          </a:r>
        </a:p>
      </dgm:t>
    </dgm:pt>
    <dgm:pt modelId="{8D97F396-8791-D143-904C-8BCA1AFBE763}" type="parTrans" cxnId="{9CF644C9-2F36-0F4E-88D0-D264FC9C6EE0}">
      <dgm:prSet/>
      <dgm:spPr/>
      <dgm:t>
        <a:bodyPr/>
        <a:lstStyle/>
        <a:p>
          <a:endParaRPr lang="en-US"/>
        </a:p>
      </dgm:t>
    </dgm:pt>
    <dgm:pt modelId="{D4836390-ABAF-D748-893E-862820630DC5}" type="sibTrans" cxnId="{9CF644C9-2F36-0F4E-88D0-D264FC9C6EE0}">
      <dgm:prSet/>
      <dgm:spPr/>
      <dgm:t>
        <a:bodyPr/>
        <a:lstStyle/>
        <a:p>
          <a:endParaRPr lang="en-US"/>
        </a:p>
      </dgm:t>
    </dgm:pt>
    <dgm:pt modelId="{3969A5AD-E6FA-AF46-8F98-FB5D920FDA77}" type="pres">
      <dgm:prSet presAssocID="{93C216DB-ED2B-1644-B547-B90E16F29DD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783D83-5AD2-1A44-A143-B88620F77D99}" type="pres">
      <dgm:prSet presAssocID="{E583B06D-8E94-E942-B828-2F655F2F04A0}" presName="linNode" presStyleCnt="0"/>
      <dgm:spPr/>
    </dgm:pt>
    <dgm:pt modelId="{555409E5-3EC4-B74F-9976-846F69623AD6}" type="pres">
      <dgm:prSet presAssocID="{E583B06D-8E94-E942-B828-2F655F2F04A0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5C4D4F-71A5-CF46-84AE-1A1B3AAB815F}" type="pres">
      <dgm:prSet presAssocID="{E583B06D-8E94-E942-B828-2F655F2F04A0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F88A7A-726D-D546-84B2-30A1F6D47072}" type="pres">
      <dgm:prSet presAssocID="{BEC42A92-1379-B24C-A141-0F2FAB9EBC34}" presName="sp" presStyleCnt="0"/>
      <dgm:spPr/>
    </dgm:pt>
    <dgm:pt modelId="{7F344B22-0B58-694F-8B66-08433083ED11}" type="pres">
      <dgm:prSet presAssocID="{1F6D968B-9C81-7149-825C-4C1B5DBBAF05}" presName="linNode" presStyleCnt="0"/>
      <dgm:spPr/>
    </dgm:pt>
    <dgm:pt modelId="{89932878-5AE7-6E41-B546-D00826EE62FB}" type="pres">
      <dgm:prSet presAssocID="{1F6D968B-9C81-7149-825C-4C1B5DBBAF05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54F1FB-1E63-E44A-A2B5-AFACABCAA9C9}" type="pres">
      <dgm:prSet presAssocID="{1F6D968B-9C81-7149-825C-4C1B5DBBAF05}" presName="descendantText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F644C9-2F36-0F4E-88D0-D264FC9C6EE0}" srcId="{1F6D968B-9C81-7149-825C-4C1B5DBBAF05}" destId="{3F4EDAF9-9D08-1D44-AB52-71601EE4E50A}" srcOrd="0" destOrd="0" parTransId="{8D97F396-8791-D143-904C-8BCA1AFBE763}" sibTransId="{D4836390-ABAF-D748-893E-862820630DC5}"/>
    <dgm:cxn modelId="{9744ECEF-1C6F-9A48-9C75-0E4CFCB4CF84}" type="presOf" srcId="{E7380C2F-715F-564D-960A-EFF975110623}" destId="{0F5C4D4F-71A5-CF46-84AE-1A1B3AAB815F}" srcOrd="0" destOrd="0" presId="urn:microsoft.com/office/officeart/2005/8/layout/vList5"/>
    <dgm:cxn modelId="{69E60DD3-6CC7-CB48-B6E5-38DE13004B92}" type="presOf" srcId="{E583B06D-8E94-E942-B828-2F655F2F04A0}" destId="{555409E5-3EC4-B74F-9976-846F69623AD6}" srcOrd="0" destOrd="0" presId="urn:microsoft.com/office/officeart/2005/8/layout/vList5"/>
    <dgm:cxn modelId="{E27F98C2-B950-3849-A4ED-53372449227A}" type="presOf" srcId="{3F4EDAF9-9D08-1D44-AB52-71601EE4E50A}" destId="{3454F1FB-1E63-E44A-A2B5-AFACABCAA9C9}" srcOrd="0" destOrd="0" presId="urn:microsoft.com/office/officeart/2005/8/layout/vList5"/>
    <dgm:cxn modelId="{CFA63F32-8365-C341-B5FA-457121D21D4F}" srcId="{E583B06D-8E94-E942-B828-2F655F2F04A0}" destId="{E7380C2F-715F-564D-960A-EFF975110623}" srcOrd="0" destOrd="0" parTransId="{90D40BFD-6BF0-6042-9114-72968A472306}" sibTransId="{644890B0-9A52-BA4B-81CD-E482EF13A0B4}"/>
    <dgm:cxn modelId="{C4942CE2-4478-C24F-8816-573632A06092}" type="presOf" srcId="{1F6D968B-9C81-7149-825C-4C1B5DBBAF05}" destId="{89932878-5AE7-6E41-B546-D00826EE62FB}" srcOrd="0" destOrd="0" presId="urn:microsoft.com/office/officeart/2005/8/layout/vList5"/>
    <dgm:cxn modelId="{76413CE6-7162-AB41-9348-0052F43912B9}" type="presOf" srcId="{93C216DB-ED2B-1644-B547-B90E16F29DD5}" destId="{3969A5AD-E6FA-AF46-8F98-FB5D920FDA77}" srcOrd="0" destOrd="0" presId="urn:microsoft.com/office/officeart/2005/8/layout/vList5"/>
    <dgm:cxn modelId="{5E24A378-C063-0546-8EE6-D8B851A66715}" srcId="{93C216DB-ED2B-1644-B547-B90E16F29DD5}" destId="{E583B06D-8E94-E942-B828-2F655F2F04A0}" srcOrd="0" destOrd="0" parTransId="{5CB920F1-553D-2D46-8465-E4F4CF910A57}" sibTransId="{BEC42A92-1379-B24C-A141-0F2FAB9EBC34}"/>
    <dgm:cxn modelId="{7B4EE2F3-0065-0C43-B34D-A1DF098B1CE3}" srcId="{93C216DB-ED2B-1644-B547-B90E16F29DD5}" destId="{1F6D968B-9C81-7149-825C-4C1B5DBBAF05}" srcOrd="1" destOrd="0" parTransId="{DDC030CC-236E-6D4D-8E64-83324EC40F52}" sibTransId="{E6D289FB-2828-1443-8E24-3175B3B78C5D}"/>
    <dgm:cxn modelId="{DEFF0041-B968-474C-B0BD-1037F4CFFA6F}" type="presParOf" srcId="{3969A5AD-E6FA-AF46-8F98-FB5D920FDA77}" destId="{B2783D83-5AD2-1A44-A143-B88620F77D99}" srcOrd="0" destOrd="0" presId="urn:microsoft.com/office/officeart/2005/8/layout/vList5"/>
    <dgm:cxn modelId="{0B2C3CB9-749A-3B4F-A72F-E93F93EA7CBE}" type="presParOf" srcId="{B2783D83-5AD2-1A44-A143-B88620F77D99}" destId="{555409E5-3EC4-B74F-9976-846F69623AD6}" srcOrd="0" destOrd="0" presId="urn:microsoft.com/office/officeart/2005/8/layout/vList5"/>
    <dgm:cxn modelId="{39BFEA21-E380-584B-A5F1-B87E2B6AE378}" type="presParOf" srcId="{B2783D83-5AD2-1A44-A143-B88620F77D99}" destId="{0F5C4D4F-71A5-CF46-84AE-1A1B3AAB815F}" srcOrd="1" destOrd="0" presId="urn:microsoft.com/office/officeart/2005/8/layout/vList5"/>
    <dgm:cxn modelId="{912E7A75-0F92-DD4E-B23C-6E00331DA0E7}" type="presParOf" srcId="{3969A5AD-E6FA-AF46-8F98-FB5D920FDA77}" destId="{31F88A7A-726D-D546-84B2-30A1F6D47072}" srcOrd="1" destOrd="0" presId="urn:microsoft.com/office/officeart/2005/8/layout/vList5"/>
    <dgm:cxn modelId="{9A15E987-9A27-8C44-B0DD-06F65B34C097}" type="presParOf" srcId="{3969A5AD-E6FA-AF46-8F98-FB5D920FDA77}" destId="{7F344B22-0B58-694F-8B66-08433083ED11}" srcOrd="2" destOrd="0" presId="urn:microsoft.com/office/officeart/2005/8/layout/vList5"/>
    <dgm:cxn modelId="{222AC303-2C65-5C47-9AFF-8F84EC07360A}" type="presParOf" srcId="{7F344B22-0B58-694F-8B66-08433083ED11}" destId="{89932878-5AE7-6E41-B546-D00826EE62FB}" srcOrd="0" destOrd="0" presId="urn:microsoft.com/office/officeart/2005/8/layout/vList5"/>
    <dgm:cxn modelId="{1BD0B8E6-9ACA-1744-9BBD-72CB1A7C09D1}" type="presParOf" srcId="{7F344B22-0B58-694F-8B66-08433083ED11}" destId="{3454F1FB-1E63-E44A-A2B5-AFACABCAA9C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BE7BEC-545D-D64E-96EC-FE79BE33ECE6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431F54-E767-4243-8D8B-D3814424A10E}">
      <dgm:prSet phldrT="[Text]"/>
      <dgm:spPr/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There are three modes that make it possible to convert a block cipher into a stream cipher:</a:t>
          </a:r>
          <a:endParaRPr lang="en-US" b="1" i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22EB2EB-EB41-CF4E-BE7F-DD80A1B607F4}" type="parTrans" cxnId="{0CCAF309-2128-3445-8447-E606527F255A}">
      <dgm:prSet/>
      <dgm:spPr/>
      <dgm:t>
        <a:bodyPr/>
        <a:lstStyle/>
        <a:p>
          <a:endParaRPr lang="en-US"/>
        </a:p>
      </dgm:t>
    </dgm:pt>
    <dgm:pt modelId="{2B8BB445-5489-D644-849A-1A709E7BBF83}" type="sibTrans" cxnId="{0CCAF309-2128-3445-8447-E606527F255A}">
      <dgm:prSet/>
      <dgm:spPr/>
      <dgm:t>
        <a:bodyPr/>
        <a:lstStyle/>
        <a:p>
          <a:endParaRPr lang="en-US"/>
        </a:p>
      </dgm:t>
    </dgm:pt>
    <dgm:pt modelId="{58DD8CBF-0CDA-2F41-A832-938B991D04E2}">
      <dgm:prSet/>
      <dgm:spPr/>
      <dgm:t>
        <a:bodyPr/>
        <a:lstStyle/>
        <a:p>
          <a:r>
            <a:rPr lang="en-US" smtClean="0"/>
            <a:t>Cipher feedback (CFB) mode</a:t>
          </a:r>
          <a:endParaRPr lang="en-US" dirty="0" smtClean="0"/>
        </a:p>
      </dgm:t>
    </dgm:pt>
    <dgm:pt modelId="{4A86C97F-E9D6-5E41-9C6B-22CBDA85F866}" type="parTrans" cxnId="{092FD197-9B8E-BE43-885A-CD339F8BEBA3}">
      <dgm:prSet/>
      <dgm:spPr/>
      <dgm:t>
        <a:bodyPr/>
        <a:lstStyle/>
        <a:p>
          <a:endParaRPr lang="en-US"/>
        </a:p>
      </dgm:t>
    </dgm:pt>
    <dgm:pt modelId="{DB86FFFF-B2EF-2649-8D0B-33BAB33541C1}" type="sibTrans" cxnId="{092FD197-9B8E-BE43-885A-CD339F8BEBA3}">
      <dgm:prSet/>
      <dgm:spPr/>
      <dgm:t>
        <a:bodyPr/>
        <a:lstStyle/>
        <a:p>
          <a:endParaRPr lang="en-US"/>
        </a:p>
      </dgm:t>
    </dgm:pt>
    <dgm:pt modelId="{708EB527-8AD5-C840-89A6-88AF5EE9105B}">
      <dgm:prSet/>
      <dgm:spPr/>
      <dgm:t>
        <a:bodyPr/>
        <a:lstStyle/>
        <a:p>
          <a:r>
            <a:rPr lang="en-US" smtClean="0"/>
            <a:t>Output feedback (OFB) mode</a:t>
          </a:r>
          <a:endParaRPr lang="en-US" dirty="0" smtClean="0"/>
        </a:p>
      </dgm:t>
    </dgm:pt>
    <dgm:pt modelId="{3EADD320-B312-D443-86BA-21405D0AE39C}" type="parTrans" cxnId="{2708B42F-9165-2745-976A-80D6BB00462C}">
      <dgm:prSet/>
      <dgm:spPr/>
      <dgm:t>
        <a:bodyPr/>
        <a:lstStyle/>
        <a:p>
          <a:endParaRPr lang="en-US"/>
        </a:p>
      </dgm:t>
    </dgm:pt>
    <dgm:pt modelId="{C2AB7DC5-786D-4E4E-92A2-795F6F8871A7}" type="sibTrans" cxnId="{2708B42F-9165-2745-976A-80D6BB00462C}">
      <dgm:prSet/>
      <dgm:spPr/>
      <dgm:t>
        <a:bodyPr/>
        <a:lstStyle/>
        <a:p>
          <a:endParaRPr lang="en-US"/>
        </a:p>
      </dgm:t>
    </dgm:pt>
    <dgm:pt modelId="{DE5FE457-1C66-D84E-8BF1-85EFC0F4B3ED}">
      <dgm:prSet/>
      <dgm:spPr/>
      <dgm:t>
        <a:bodyPr/>
        <a:lstStyle/>
        <a:p>
          <a:r>
            <a:rPr lang="en-US" smtClean="0"/>
            <a:t>Counter (CTR) mode</a:t>
          </a:r>
          <a:endParaRPr lang="en-US" dirty="0" smtClean="0"/>
        </a:p>
      </dgm:t>
    </dgm:pt>
    <dgm:pt modelId="{0F72127E-7521-1E4E-962F-7378C8E261E1}" type="parTrans" cxnId="{B3DACF62-C4B6-C844-AFE7-D0D5A2695A7A}">
      <dgm:prSet/>
      <dgm:spPr/>
      <dgm:t>
        <a:bodyPr/>
        <a:lstStyle/>
        <a:p>
          <a:endParaRPr lang="en-US"/>
        </a:p>
      </dgm:t>
    </dgm:pt>
    <dgm:pt modelId="{E907E514-6085-DE46-A0F9-A9B7F7A4AD6E}" type="sibTrans" cxnId="{B3DACF62-C4B6-C844-AFE7-D0D5A2695A7A}">
      <dgm:prSet/>
      <dgm:spPr/>
      <dgm:t>
        <a:bodyPr/>
        <a:lstStyle/>
        <a:p>
          <a:endParaRPr lang="en-US"/>
        </a:p>
      </dgm:t>
    </dgm:pt>
    <dgm:pt modelId="{80F64FA5-C481-3543-8044-B7061D04AC23}" type="pres">
      <dgm:prSet presAssocID="{A1BE7BEC-545D-D64E-96EC-FE79BE33ECE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01821D2-68AC-424D-9A0A-86676DF95596}" type="pres">
      <dgm:prSet presAssocID="{96431F54-E767-4243-8D8B-D3814424A10E}" presName="root" presStyleCnt="0"/>
      <dgm:spPr/>
    </dgm:pt>
    <dgm:pt modelId="{EBCA17E4-FBD7-0B42-AD1B-2722B4074462}" type="pres">
      <dgm:prSet presAssocID="{96431F54-E767-4243-8D8B-D3814424A10E}" presName="rootComposite" presStyleCnt="0"/>
      <dgm:spPr/>
    </dgm:pt>
    <dgm:pt modelId="{CF140ED0-2604-B044-A020-DF33CC6F82A1}" type="pres">
      <dgm:prSet presAssocID="{96431F54-E767-4243-8D8B-D3814424A10E}" presName="rootText" presStyleLbl="node1" presStyleIdx="0" presStyleCnt="1"/>
      <dgm:spPr/>
      <dgm:t>
        <a:bodyPr/>
        <a:lstStyle/>
        <a:p>
          <a:endParaRPr lang="en-US"/>
        </a:p>
      </dgm:t>
    </dgm:pt>
    <dgm:pt modelId="{B0C7A249-3D26-1940-8E51-4AC8C83A92E5}" type="pres">
      <dgm:prSet presAssocID="{96431F54-E767-4243-8D8B-D3814424A10E}" presName="rootConnector" presStyleLbl="node1" presStyleIdx="0" presStyleCnt="1"/>
      <dgm:spPr/>
      <dgm:t>
        <a:bodyPr/>
        <a:lstStyle/>
        <a:p>
          <a:endParaRPr lang="en-US"/>
        </a:p>
      </dgm:t>
    </dgm:pt>
    <dgm:pt modelId="{8EE36E6F-F651-6444-BFE9-5ECE2483AF06}" type="pres">
      <dgm:prSet presAssocID="{96431F54-E767-4243-8D8B-D3814424A10E}" presName="childShape" presStyleCnt="0"/>
      <dgm:spPr/>
    </dgm:pt>
    <dgm:pt modelId="{49DAA590-1612-E647-8ED8-B7F56BBB34EC}" type="pres">
      <dgm:prSet presAssocID="{4A86C97F-E9D6-5E41-9C6B-22CBDA85F866}" presName="Name13" presStyleLbl="parChTrans1D2" presStyleIdx="0" presStyleCnt="3"/>
      <dgm:spPr/>
      <dgm:t>
        <a:bodyPr/>
        <a:lstStyle/>
        <a:p>
          <a:endParaRPr lang="en-US"/>
        </a:p>
      </dgm:t>
    </dgm:pt>
    <dgm:pt modelId="{C1BE3AAD-2BE3-1547-9164-66C5DFF33B78}" type="pres">
      <dgm:prSet presAssocID="{58DD8CBF-0CDA-2F41-A832-938B991D04E2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6CB8C7-B4B5-7D47-A868-DAA68895D727}" type="pres">
      <dgm:prSet presAssocID="{3EADD320-B312-D443-86BA-21405D0AE39C}" presName="Name13" presStyleLbl="parChTrans1D2" presStyleIdx="1" presStyleCnt="3"/>
      <dgm:spPr/>
      <dgm:t>
        <a:bodyPr/>
        <a:lstStyle/>
        <a:p>
          <a:endParaRPr lang="en-US"/>
        </a:p>
      </dgm:t>
    </dgm:pt>
    <dgm:pt modelId="{C5A15383-9A9A-E74E-B74C-4985D51F9BC1}" type="pres">
      <dgm:prSet presAssocID="{708EB527-8AD5-C840-89A6-88AF5EE9105B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3825C2-9D45-054A-AC04-3945249603C4}" type="pres">
      <dgm:prSet presAssocID="{0F72127E-7521-1E4E-962F-7378C8E261E1}" presName="Name13" presStyleLbl="parChTrans1D2" presStyleIdx="2" presStyleCnt="3"/>
      <dgm:spPr/>
      <dgm:t>
        <a:bodyPr/>
        <a:lstStyle/>
        <a:p>
          <a:endParaRPr lang="en-US"/>
        </a:p>
      </dgm:t>
    </dgm:pt>
    <dgm:pt modelId="{BCDA1758-61EC-A349-A07F-7AF5A8B669EC}" type="pres">
      <dgm:prSet presAssocID="{DE5FE457-1C66-D84E-8BF1-85EFC0F4B3ED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79BD42-051F-114C-825A-7E935752EF15}" type="presOf" srcId="{3EADD320-B312-D443-86BA-21405D0AE39C}" destId="{6F6CB8C7-B4B5-7D47-A868-DAA68895D727}" srcOrd="0" destOrd="0" presId="urn:microsoft.com/office/officeart/2005/8/layout/hierarchy3"/>
    <dgm:cxn modelId="{0FA180E3-E194-FC4D-8B9C-E645AA0FFE65}" type="presOf" srcId="{708EB527-8AD5-C840-89A6-88AF5EE9105B}" destId="{C5A15383-9A9A-E74E-B74C-4985D51F9BC1}" srcOrd="0" destOrd="0" presId="urn:microsoft.com/office/officeart/2005/8/layout/hierarchy3"/>
    <dgm:cxn modelId="{0CCAF309-2128-3445-8447-E606527F255A}" srcId="{A1BE7BEC-545D-D64E-96EC-FE79BE33ECE6}" destId="{96431F54-E767-4243-8D8B-D3814424A10E}" srcOrd="0" destOrd="0" parTransId="{222EB2EB-EB41-CF4E-BE7F-DD80A1B607F4}" sibTransId="{2B8BB445-5489-D644-849A-1A709E7BBF83}"/>
    <dgm:cxn modelId="{C2CB3AC3-6584-5542-ADAB-CC04993A7B21}" type="presOf" srcId="{58DD8CBF-0CDA-2F41-A832-938B991D04E2}" destId="{C1BE3AAD-2BE3-1547-9164-66C5DFF33B78}" srcOrd="0" destOrd="0" presId="urn:microsoft.com/office/officeart/2005/8/layout/hierarchy3"/>
    <dgm:cxn modelId="{42833C12-EE4F-9F48-82C8-BDD3673190C1}" type="presOf" srcId="{96431F54-E767-4243-8D8B-D3814424A10E}" destId="{CF140ED0-2604-B044-A020-DF33CC6F82A1}" srcOrd="0" destOrd="0" presId="urn:microsoft.com/office/officeart/2005/8/layout/hierarchy3"/>
    <dgm:cxn modelId="{2708B42F-9165-2745-976A-80D6BB00462C}" srcId="{96431F54-E767-4243-8D8B-D3814424A10E}" destId="{708EB527-8AD5-C840-89A6-88AF5EE9105B}" srcOrd="1" destOrd="0" parTransId="{3EADD320-B312-D443-86BA-21405D0AE39C}" sibTransId="{C2AB7DC5-786D-4E4E-92A2-795F6F8871A7}"/>
    <dgm:cxn modelId="{20D6E141-6978-E544-90B0-CB27A78F15AF}" type="presOf" srcId="{A1BE7BEC-545D-D64E-96EC-FE79BE33ECE6}" destId="{80F64FA5-C481-3543-8044-B7061D04AC23}" srcOrd="0" destOrd="0" presId="urn:microsoft.com/office/officeart/2005/8/layout/hierarchy3"/>
    <dgm:cxn modelId="{42CD3BA4-A18B-ED49-B90A-1CBEBCA53ED7}" type="presOf" srcId="{0F72127E-7521-1E4E-962F-7378C8E261E1}" destId="{FA3825C2-9D45-054A-AC04-3945249603C4}" srcOrd="0" destOrd="0" presId="urn:microsoft.com/office/officeart/2005/8/layout/hierarchy3"/>
    <dgm:cxn modelId="{DC0EA702-34E6-4C4F-923A-6380D4028155}" type="presOf" srcId="{DE5FE457-1C66-D84E-8BF1-85EFC0F4B3ED}" destId="{BCDA1758-61EC-A349-A07F-7AF5A8B669EC}" srcOrd="0" destOrd="0" presId="urn:microsoft.com/office/officeart/2005/8/layout/hierarchy3"/>
    <dgm:cxn modelId="{0BC5F6F2-2D36-C541-9F87-9036D89E0DEA}" type="presOf" srcId="{96431F54-E767-4243-8D8B-D3814424A10E}" destId="{B0C7A249-3D26-1940-8E51-4AC8C83A92E5}" srcOrd="1" destOrd="0" presId="urn:microsoft.com/office/officeart/2005/8/layout/hierarchy3"/>
    <dgm:cxn modelId="{B3DACF62-C4B6-C844-AFE7-D0D5A2695A7A}" srcId="{96431F54-E767-4243-8D8B-D3814424A10E}" destId="{DE5FE457-1C66-D84E-8BF1-85EFC0F4B3ED}" srcOrd="2" destOrd="0" parTransId="{0F72127E-7521-1E4E-962F-7378C8E261E1}" sibTransId="{E907E514-6085-DE46-A0F9-A9B7F7A4AD6E}"/>
    <dgm:cxn modelId="{DE4F9511-A23E-1C46-9F6E-910331B65BBC}" type="presOf" srcId="{4A86C97F-E9D6-5E41-9C6B-22CBDA85F866}" destId="{49DAA590-1612-E647-8ED8-B7F56BBB34EC}" srcOrd="0" destOrd="0" presId="urn:microsoft.com/office/officeart/2005/8/layout/hierarchy3"/>
    <dgm:cxn modelId="{092FD197-9B8E-BE43-885A-CD339F8BEBA3}" srcId="{96431F54-E767-4243-8D8B-D3814424A10E}" destId="{58DD8CBF-0CDA-2F41-A832-938B991D04E2}" srcOrd="0" destOrd="0" parTransId="{4A86C97F-E9D6-5E41-9C6B-22CBDA85F866}" sibTransId="{DB86FFFF-B2EF-2649-8D0B-33BAB33541C1}"/>
    <dgm:cxn modelId="{479037D5-0A88-8F47-A29E-FFAD4DD0D85E}" type="presParOf" srcId="{80F64FA5-C481-3543-8044-B7061D04AC23}" destId="{601821D2-68AC-424D-9A0A-86676DF95596}" srcOrd="0" destOrd="0" presId="urn:microsoft.com/office/officeart/2005/8/layout/hierarchy3"/>
    <dgm:cxn modelId="{B87BFF52-514C-884C-BBA7-6B3D9B97D720}" type="presParOf" srcId="{601821D2-68AC-424D-9A0A-86676DF95596}" destId="{EBCA17E4-FBD7-0B42-AD1B-2722B4074462}" srcOrd="0" destOrd="0" presId="urn:microsoft.com/office/officeart/2005/8/layout/hierarchy3"/>
    <dgm:cxn modelId="{09F09E58-02AA-404B-8187-1F1B1B22A633}" type="presParOf" srcId="{EBCA17E4-FBD7-0B42-AD1B-2722B4074462}" destId="{CF140ED0-2604-B044-A020-DF33CC6F82A1}" srcOrd="0" destOrd="0" presId="urn:microsoft.com/office/officeart/2005/8/layout/hierarchy3"/>
    <dgm:cxn modelId="{9686C54F-EB3A-DF4C-B32B-4FF9AB43458C}" type="presParOf" srcId="{EBCA17E4-FBD7-0B42-AD1B-2722B4074462}" destId="{B0C7A249-3D26-1940-8E51-4AC8C83A92E5}" srcOrd="1" destOrd="0" presId="urn:microsoft.com/office/officeart/2005/8/layout/hierarchy3"/>
    <dgm:cxn modelId="{53423FBB-8E22-F041-9E15-927FAECABCCE}" type="presParOf" srcId="{601821D2-68AC-424D-9A0A-86676DF95596}" destId="{8EE36E6F-F651-6444-BFE9-5ECE2483AF06}" srcOrd="1" destOrd="0" presId="urn:microsoft.com/office/officeart/2005/8/layout/hierarchy3"/>
    <dgm:cxn modelId="{E530470F-C834-8246-96A2-C21B4E5E6E2B}" type="presParOf" srcId="{8EE36E6F-F651-6444-BFE9-5ECE2483AF06}" destId="{49DAA590-1612-E647-8ED8-B7F56BBB34EC}" srcOrd="0" destOrd="0" presId="urn:microsoft.com/office/officeart/2005/8/layout/hierarchy3"/>
    <dgm:cxn modelId="{69AE9138-E46F-384E-B8D2-B6FBF46A7C61}" type="presParOf" srcId="{8EE36E6F-F651-6444-BFE9-5ECE2483AF06}" destId="{C1BE3AAD-2BE3-1547-9164-66C5DFF33B78}" srcOrd="1" destOrd="0" presId="urn:microsoft.com/office/officeart/2005/8/layout/hierarchy3"/>
    <dgm:cxn modelId="{E3C84BE8-4258-B74D-B29C-3250F10E4EE5}" type="presParOf" srcId="{8EE36E6F-F651-6444-BFE9-5ECE2483AF06}" destId="{6F6CB8C7-B4B5-7D47-A868-DAA68895D727}" srcOrd="2" destOrd="0" presId="urn:microsoft.com/office/officeart/2005/8/layout/hierarchy3"/>
    <dgm:cxn modelId="{D05CCC19-DAD3-C047-A91C-6D1BA1E3AE16}" type="presParOf" srcId="{8EE36E6F-F651-6444-BFE9-5ECE2483AF06}" destId="{C5A15383-9A9A-E74E-B74C-4985D51F9BC1}" srcOrd="3" destOrd="0" presId="urn:microsoft.com/office/officeart/2005/8/layout/hierarchy3"/>
    <dgm:cxn modelId="{CD05A527-D3E5-8A46-A28D-3BE9A4C688A0}" type="presParOf" srcId="{8EE36E6F-F651-6444-BFE9-5ECE2483AF06}" destId="{FA3825C2-9D45-054A-AC04-3945249603C4}" srcOrd="4" destOrd="0" presId="urn:microsoft.com/office/officeart/2005/8/layout/hierarchy3"/>
    <dgm:cxn modelId="{630457C4-EEEB-4349-A18A-5DBC75622D5A}" type="presParOf" srcId="{8EE36E6F-F651-6444-BFE9-5ECE2483AF06}" destId="{BCDA1758-61EC-A349-A07F-7AF5A8B669EC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4A5FC0-9BF7-B64F-B658-33E02B8ADA54}" type="doc">
      <dgm:prSet loTypeId="urn:microsoft.com/office/officeart/2005/8/layout/venn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81B7D5-9248-1346-BA1B-B5EFA9F5651A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>
              <a:ea typeface="+mn-ea"/>
            </a:rPr>
            <a:t>A </a:t>
          </a:r>
        </a:p>
        <a:p>
          <a:r>
            <a:rPr lang="en-US" b="1" i="0" dirty="0" smtClean="0">
              <a:ea typeface="+mn-ea"/>
            </a:rPr>
            <a:t>plaintext </a:t>
          </a:r>
        </a:p>
        <a:p>
          <a:r>
            <a:rPr lang="en-US" b="1" i="0" dirty="0" smtClean="0">
              <a:ea typeface="+mn-ea"/>
            </a:rPr>
            <a:t>P</a:t>
          </a:r>
          <a:endParaRPr lang="en-US" b="1" i="0" dirty="0"/>
        </a:p>
      </dgm:t>
    </dgm:pt>
    <dgm:pt modelId="{D4E1CA1D-45CE-0E49-AD5E-F94E022A92E5}" type="parTrans" cxnId="{CEBAEE55-DB95-9C4B-B87A-152048A3102A}">
      <dgm:prSet/>
      <dgm:spPr/>
      <dgm:t>
        <a:bodyPr/>
        <a:lstStyle/>
        <a:p>
          <a:endParaRPr lang="en-US"/>
        </a:p>
      </dgm:t>
    </dgm:pt>
    <dgm:pt modelId="{8243C005-3DF9-7F4A-9FD1-375C4D81F0CB}" type="sibTrans" cxnId="{CEBAEE55-DB95-9C4B-B87A-152048A3102A}">
      <dgm:prSet/>
      <dgm:spPr/>
      <dgm:t>
        <a:bodyPr/>
        <a:lstStyle/>
        <a:p>
          <a:endParaRPr lang="en-US"/>
        </a:p>
      </dgm:t>
    </dgm:pt>
    <dgm:pt modelId="{8D0CE915-DB1A-AB44-B7C0-05F2B8C44D5B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>
              <a:ea typeface="+mn-ea"/>
            </a:rPr>
            <a:t>A symmetric key </a:t>
          </a:r>
        </a:p>
        <a:p>
          <a:r>
            <a:rPr lang="en-US" b="1" i="0" dirty="0" smtClean="0">
              <a:ea typeface="+mn-ea"/>
            </a:rPr>
            <a:t>K</a:t>
          </a:r>
        </a:p>
      </dgm:t>
    </dgm:pt>
    <dgm:pt modelId="{7653926F-B238-794C-BFC2-A9BEAEFEED50}" type="parTrans" cxnId="{74229A0D-C19C-9943-AC08-F19739D9624E}">
      <dgm:prSet/>
      <dgm:spPr/>
      <dgm:t>
        <a:bodyPr/>
        <a:lstStyle/>
        <a:p>
          <a:endParaRPr lang="en-US"/>
        </a:p>
      </dgm:t>
    </dgm:pt>
    <dgm:pt modelId="{75A5BAC7-C1D0-594D-B607-CA7487EB3109}" type="sibTrans" cxnId="{74229A0D-C19C-9943-AC08-F19739D9624E}">
      <dgm:prSet/>
      <dgm:spPr/>
      <dgm:t>
        <a:bodyPr/>
        <a:lstStyle/>
        <a:p>
          <a:endParaRPr lang="en-US"/>
        </a:p>
      </dgm:t>
    </dgm:pt>
    <dgm:pt modelId="{4248B631-8187-5F44-8639-C9D50BEDA927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>
              <a:ea typeface="+mn-ea"/>
            </a:rPr>
            <a:t>A </a:t>
          </a:r>
        </a:p>
        <a:p>
          <a:r>
            <a:rPr lang="en-US" b="1" i="0" dirty="0" smtClean="0">
              <a:ea typeface="+mn-ea"/>
            </a:rPr>
            <a:t>tweak </a:t>
          </a:r>
        </a:p>
        <a:p>
          <a:r>
            <a:rPr lang="en-US" b="1" i="0" dirty="0" smtClean="0">
              <a:ea typeface="+mn-ea"/>
            </a:rPr>
            <a:t>T</a:t>
          </a:r>
        </a:p>
      </dgm:t>
    </dgm:pt>
    <dgm:pt modelId="{0B48AD14-2FF2-064E-A5C6-BC9B598868D4}" type="parTrans" cxnId="{4307799C-48B5-1F4E-ABBA-4BD4D68287A4}">
      <dgm:prSet/>
      <dgm:spPr/>
      <dgm:t>
        <a:bodyPr/>
        <a:lstStyle/>
        <a:p>
          <a:endParaRPr lang="en-US"/>
        </a:p>
      </dgm:t>
    </dgm:pt>
    <dgm:pt modelId="{D38E12EE-AF9A-F54E-BB84-EC62044BDF72}" type="sibTrans" cxnId="{4307799C-48B5-1F4E-ABBA-4BD4D68287A4}">
      <dgm:prSet/>
      <dgm:spPr/>
      <dgm:t>
        <a:bodyPr/>
        <a:lstStyle/>
        <a:p>
          <a:endParaRPr lang="en-US"/>
        </a:p>
      </dgm:t>
    </dgm:pt>
    <dgm:pt modelId="{A5AD9E62-00A9-7C4B-A207-E9FF4615E486}" type="pres">
      <dgm:prSet presAssocID="{644A5FC0-9BF7-B64F-B658-33E02B8ADA5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66C7A0-2BB9-604B-BE8A-1884C11DC43A}" type="pres">
      <dgm:prSet presAssocID="{8881B7D5-9248-1346-BA1B-B5EFA9F5651A}" presName="Name5" presStyleLbl="venn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B156C7-2C57-6442-8169-1B9D62C21849}" type="pres">
      <dgm:prSet presAssocID="{8243C005-3DF9-7F4A-9FD1-375C4D81F0CB}" presName="space" presStyleCnt="0"/>
      <dgm:spPr/>
    </dgm:pt>
    <dgm:pt modelId="{092D7A93-89F8-CC4D-A39E-0F1057655758}" type="pres">
      <dgm:prSet presAssocID="{8D0CE915-DB1A-AB44-B7C0-05F2B8C44D5B}" presName="Name5" presStyleLbl="vennNode1" presStyleIdx="1" presStyleCnt="3" custLinFactNeighborX="17273" custLinFactNeighborY="-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D8B56F-B023-CA4E-BBD2-F18C0E2B9888}" type="pres">
      <dgm:prSet presAssocID="{75A5BAC7-C1D0-594D-B607-CA7487EB3109}" presName="space" presStyleCnt="0"/>
      <dgm:spPr/>
    </dgm:pt>
    <dgm:pt modelId="{1387E1CC-22E4-7841-A5C3-409515B2A207}" type="pres">
      <dgm:prSet presAssocID="{4248B631-8187-5F44-8639-C9D50BEDA927}" presName="Name5" presStyleLbl="vennNode1" presStyleIdx="2" presStyleCnt="3" custLinFactNeighborX="40413" custLinFactNeighborY="-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49ADD6-56D8-8544-B452-63CAC4FC73D1}" type="presOf" srcId="{8881B7D5-9248-1346-BA1B-B5EFA9F5651A}" destId="{EA66C7A0-2BB9-604B-BE8A-1884C11DC43A}" srcOrd="0" destOrd="0" presId="urn:microsoft.com/office/officeart/2005/8/layout/venn3"/>
    <dgm:cxn modelId="{74229A0D-C19C-9943-AC08-F19739D9624E}" srcId="{644A5FC0-9BF7-B64F-B658-33E02B8ADA54}" destId="{8D0CE915-DB1A-AB44-B7C0-05F2B8C44D5B}" srcOrd="1" destOrd="0" parTransId="{7653926F-B238-794C-BFC2-A9BEAEFEED50}" sibTransId="{75A5BAC7-C1D0-594D-B607-CA7487EB3109}"/>
    <dgm:cxn modelId="{C7000ECD-519E-BB4E-BC0C-8C33DA68A51A}" type="presOf" srcId="{8D0CE915-DB1A-AB44-B7C0-05F2B8C44D5B}" destId="{092D7A93-89F8-CC4D-A39E-0F1057655758}" srcOrd="0" destOrd="0" presId="urn:microsoft.com/office/officeart/2005/8/layout/venn3"/>
    <dgm:cxn modelId="{CEBAEE55-DB95-9C4B-B87A-152048A3102A}" srcId="{644A5FC0-9BF7-B64F-B658-33E02B8ADA54}" destId="{8881B7D5-9248-1346-BA1B-B5EFA9F5651A}" srcOrd="0" destOrd="0" parTransId="{D4E1CA1D-45CE-0E49-AD5E-F94E022A92E5}" sibTransId="{8243C005-3DF9-7F4A-9FD1-375C4D81F0CB}"/>
    <dgm:cxn modelId="{F72145AE-CC61-344B-BF14-E32380481B59}" type="presOf" srcId="{4248B631-8187-5F44-8639-C9D50BEDA927}" destId="{1387E1CC-22E4-7841-A5C3-409515B2A207}" srcOrd="0" destOrd="0" presId="urn:microsoft.com/office/officeart/2005/8/layout/venn3"/>
    <dgm:cxn modelId="{22CF9C4E-31E7-9F4B-A4E4-CE2792749C68}" type="presOf" srcId="{644A5FC0-9BF7-B64F-B658-33E02B8ADA54}" destId="{A5AD9E62-00A9-7C4B-A207-E9FF4615E486}" srcOrd="0" destOrd="0" presId="urn:microsoft.com/office/officeart/2005/8/layout/venn3"/>
    <dgm:cxn modelId="{4307799C-48B5-1F4E-ABBA-4BD4D68287A4}" srcId="{644A5FC0-9BF7-B64F-B658-33E02B8ADA54}" destId="{4248B631-8187-5F44-8639-C9D50BEDA927}" srcOrd="2" destOrd="0" parTransId="{0B48AD14-2FF2-064E-A5C6-BC9B598868D4}" sibTransId="{D38E12EE-AF9A-F54E-BB84-EC62044BDF72}"/>
    <dgm:cxn modelId="{CBAE441F-E870-9644-A6FF-2DF63C152BBD}" type="presParOf" srcId="{A5AD9E62-00A9-7C4B-A207-E9FF4615E486}" destId="{EA66C7A0-2BB9-604B-BE8A-1884C11DC43A}" srcOrd="0" destOrd="0" presId="urn:microsoft.com/office/officeart/2005/8/layout/venn3"/>
    <dgm:cxn modelId="{2ACEF40E-89D0-4045-9103-EA7C5E737E3C}" type="presParOf" srcId="{A5AD9E62-00A9-7C4B-A207-E9FF4615E486}" destId="{03B156C7-2C57-6442-8169-1B9D62C21849}" srcOrd="1" destOrd="0" presId="urn:microsoft.com/office/officeart/2005/8/layout/venn3"/>
    <dgm:cxn modelId="{339F2FF9-EA3B-0A49-A1BD-DA4AC617C25B}" type="presParOf" srcId="{A5AD9E62-00A9-7C4B-A207-E9FF4615E486}" destId="{092D7A93-89F8-CC4D-A39E-0F1057655758}" srcOrd="2" destOrd="0" presId="urn:microsoft.com/office/officeart/2005/8/layout/venn3"/>
    <dgm:cxn modelId="{D852F623-624F-AF41-A645-2A7A8EF1458D}" type="presParOf" srcId="{A5AD9E62-00A9-7C4B-A207-E9FF4615E486}" destId="{D8D8B56F-B023-CA4E-BBD2-F18C0E2B9888}" srcOrd="3" destOrd="0" presId="urn:microsoft.com/office/officeart/2005/8/layout/venn3"/>
    <dgm:cxn modelId="{0252B4F0-94AF-1046-8B51-AAB239F92683}" type="presParOf" srcId="{A5AD9E62-00A9-7C4B-A207-E9FF4615E486}" destId="{1387E1CC-22E4-7841-A5C3-409515B2A207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AC9957-A9F3-B941-993B-7EE9F6C5F3BA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5FC5F3-7DD6-FA45-88D2-DA27100F3D6D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pPr rtl="0"/>
          <a:r>
            <a:rPr lang="en-US" dirty="0" smtClean="0"/>
            <a:t>FPE facilitates the retrofitting of encryption technology to legacy applications, where a conventional encryption mode might not be feasible because it would disrupt data fields/pathways</a:t>
          </a:r>
          <a:endParaRPr lang="en-US" dirty="0"/>
        </a:p>
      </dgm:t>
    </dgm:pt>
    <dgm:pt modelId="{C3367ABF-7B89-DE46-8275-975C75FF8A2D}" type="parTrans" cxnId="{75808926-AA10-384C-940A-4B2B089452F2}">
      <dgm:prSet/>
      <dgm:spPr/>
      <dgm:t>
        <a:bodyPr/>
        <a:lstStyle/>
        <a:p>
          <a:endParaRPr lang="en-US"/>
        </a:p>
      </dgm:t>
    </dgm:pt>
    <dgm:pt modelId="{C3C3B2F4-0922-7945-ACD8-5B43B37DFA68}" type="sibTrans" cxnId="{75808926-AA10-384C-940A-4B2B089452F2}">
      <dgm:prSet/>
      <dgm:spPr/>
      <dgm:t>
        <a:bodyPr/>
        <a:lstStyle/>
        <a:p>
          <a:endParaRPr lang="en-US"/>
        </a:p>
      </dgm:t>
    </dgm:pt>
    <dgm:pt modelId="{D8077001-5807-4E46-91EE-A8FA8710268C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pPr rtl="0"/>
          <a:r>
            <a:rPr lang="en-US" dirty="0" smtClean="0"/>
            <a:t>FPE has emerged as a useful cryptographic tool, whose applications include financial-information security, data sanitization, and transparent encryption of fields in legacy databases</a:t>
          </a:r>
          <a:endParaRPr lang="en-US" dirty="0"/>
        </a:p>
      </dgm:t>
    </dgm:pt>
    <dgm:pt modelId="{4684361B-E461-CB44-BCC1-F346B9E5CB1D}" type="parTrans" cxnId="{12B1C230-6F93-A940-9FC5-5B9C2506768F}">
      <dgm:prSet/>
      <dgm:spPr/>
      <dgm:t>
        <a:bodyPr/>
        <a:lstStyle/>
        <a:p>
          <a:endParaRPr lang="en-US"/>
        </a:p>
      </dgm:t>
    </dgm:pt>
    <dgm:pt modelId="{9C1E6F14-FBA3-0F40-A35D-40C5A75BCB11}" type="sibTrans" cxnId="{12B1C230-6F93-A940-9FC5-5B9C2506768F}">
      <dgm:prSet/>
      <dgm:spPr/>
      <dgm:t>
        <a:bodyPr/>
        <a:lstStyle/>
        <a:p>
          <a:endParaRPr lang="en-US"/>
        </a:p>
      </dgm:t>
    </dgm:pt>
    <dgm:pt modelId="{05861B09-2CD1-F74B-8922-7CB98642484B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dirty="0" smtClean="0"/>
            <a:t>The principal benefit of FPE is that it enables protection of particular data elements, while still enabling workflows that were in place before FPE was in use</a:t>
          </a:r>
          <a:endParaRPr lang="en-US" dirty="0"/>
        </a:p>
      </dgm:t>
    </dgm:pt>
    <dgm:pt modelId="{6291D4FF-FB20-2743-9431-35DFD602BE8B}" type="parTrans" cxnId="{FE17734D-510E-774A-9403-9DBE172C9787}">
      <dgm:prSet/>
      <dgm:spPr/>
      <dgm:t>
        <a:bodyPr/>
        <a:lstStyle/>
        <a:p>
          <a:endParaRPr lang="en-US"/>
        </a:p>
      </dgm:t>
    </dgm:pt>
    <dgm:pt modelId="{6B71E542-2D20-CB4D-A913-2851CEF40FAD}" type="sibTrans" cxnId="{FE17734D-510E-774A-9403-9DBE172C9787}">
      <dgm:prSet/>
      <dgm:spPr/>
      <dgm:t>
        <a:bodyPr/>
        <a:lstStyle/>
        <a:p>
          <a:endParaRPr lang="en-US"/>
        </a:p>
      </dgm:t>
    </dgm:pt>
    <dgm:pt modelId="{2FB0A1BA-D77D-E641-A27E-E965B5280C55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dirty="0" smtClean="0"/>
            <a:t>No database schema changes and minimal application changes are required</a:t>
          </a:r>
          <a:endParaRPr lang="en-US" dirty="0"/>
        </a:p>
      </dgm:t>
    </dgm:pt>
    <dgm:pt modelId="{426B593D-5D40-BD4A-AF12-0C2B4CADF912}" type="parTrans" cxnId="{45165A9E-34F1-9C4E-97BF-4298BCEE0578}">
      <dgm:prSet/>
      <dgm:spPr/>
      <dgm:t>
        <a:bodyPr/>
        <a:lstStyle/>
        <a:p>
          <a:endParaRPr lang="en-US"/>
        </a:p>
      </dgm:t>
    </dgm:pt>
    <dgm:pt modelId="{C53C54AA-CAF9-EC4D-B2D6-CE2D038FBDE8}" type="sibTrans" cxnId="{45165A9E-34F1-9C4E-97BF-4298BCEE0578}">
      <dgm:prSet/>
      <dgm:spPr/>
      <dgm:t>
        <a:bodyPr/>
        <a:lstStyle/>
        <a:p>
          <a:endParaRPr lang="en-US"/>
        </a:p>
      </dgm:t>
    </dgm:pt>
    <dgm:pt modelId="{5AEECE23-DAF2-8A48-8840-FFC52FF02A06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dirty="0" smtClean="0"/>
            <a:t>Only applications that need to see the plaintext of a data element need to be modified and generally these modifications will be minimal</a:t>
          </a:r>
          <a:endParaRPr lang="en-US" dirty="0"/>
        </a:p>
      </dgm:t>
    </dgm:pt>
    <dgm:pt modelId="{F957D76B-9CCC-C342-960D-6601CB2F9D97}" type="parTrans" cxnId="{E69BAFE4-EF90-BC4A-A603-2FF451BDB0B1}">
      <dgm:prSet/>
      <dgm:spPr/>
      <dgm:t>
        <a:bodyPr/>
        <a:lstStyle/>
        <a:p>
          <a:endParaRPr lang="en-US"/>
        </a:p>
      </dgm:t>
    </dgm:pt>
    <dgm:pt modelId="{55F3B7D2-92FC-E74F-914D-F7835BD98E7F}" type="sibTrans" cxnId="{E69BAFE4-EF90-BC4A-A603-2FF451BDB0B1}">
      <dgm:prSet/>
      <dgm:spPr/>
      <dgm:t>
        <a:bodyPr/>
        <a:lstStyle/>
        <a:p>
          <a:endParaRPr lang="en-US"/>
        </a:p>
      </dgm:t>
    </dgm:pt>
    <dgm:pt modelId="{778635C8-5002-B54D-9CF3-651EDF49164C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en-US" dirty="0" smtClean="0"/>
            <a:t>Some examples of legacy applications where FPE is desirable are:</a:t>
          </a:r>
          <a:endParaRPr lang="en-US" dirty="0"/>
        </a:p>
      </dgm:t>
    </dgm:pt>
    <dgm:pt modelId="{E147B65D-DDD2-5941-9E34-477553884553}" type="parTrans" cxnId="{E93DAA6E-F3AD-6444-9B96-E2ADE78171C7}">
      <dgm:prSet/>
      <dgm:spPr/>
      <dgm:t>
        <a:bodyPr/>
        <a:lstStyle/>
        <a:p>
          <a:endParaRPr lang="en-US"/>
        </a:p>
      </dgm:t>
    </dgm:pt>
    <dgm:pt modelId="{DE02273E-1416-4C40-B33B-08FF420625C9}" type="sibTrans" cxnId="{E93DAA6E-F3AD-6444-9B96-E2ADE78171C7}">
      <dgm:prSet/>
      <dgm:spPr/>
      <dgm:t>
        <a:bodyPr/>
        <a:lstStyle/>
        <a:p>
          <a:endParaRPr lang="en-US"/>
        </a:p>
      </dgm:t>
    </dgm:pt>
    <dgm:pt modelId="{56BD8BC1-B780-7543-BBA8-C432E3FDF1D4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en-US" dirty="0" smtClean="0"/>
            <a:t>COBOL data-processing applications</a:t>
          </a:r>
          <a:endParaRPr lang="en-US" dirty="0"/>
        </a:p>
      </dgm:t>
    </dgm:pt>
    <dgm:pt modelId="{7539752D-9D6B-5B44-99C4-8C6F72CE844D}" type="parTrans" cxnId="{4CD6984A-6D15-3545-8054-84EC6196E384}">
      <dgm:prSet/>
      <dgm:spPr/>
      <dgm:t>
        <a:bodyPr/>
        <a:lstStyle/>
        <a:p>
          <a:endParaRPr lang="en-US"/>
        </a:p>
      </dgm:t>
    </dgm:pt>
    <dgm:pt modelId="{A3BDD0B2-BECA-8649-B31B-14ED08CFB7FB}" type="sibTrans" cxnId="{4CD6984A-6D15-3545-8054-84EC6196E384}">
      <dgm:prSet/>
      <dgm:spPr/>
      <dgm:t>
        <a:bodyPr/>
        <a:lstStyle/>
        <a:p>
          <a:endParaRPr lang="en-US"/>
        </a:p>
      </dgm:t>
    </dgm:pt>
    <dgm:pt modelId="{D84E65DD-A494-284A-9715-B727B1B15F65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en-US" dirty="0" smtClean="0"/>
            <a:t>Database applications</a:t>
          </a:r>
          <a:endParaRPr lang="en-US" dirty="0"/>
        </a:p>
      </dgm:t>
    </dgm:pt>
    <dgm:pt modelId="{F7000923-05BE-9A49-A311-32A8AC137A9C}" type="parTrans" cxnId="{A69994D9-C940-174D-A8E8-E67C66B723B4}">
      <dgm:prSet/>
      <dgm:spPr/>
      <dgm:t>
        <a:bodyPr/>
        <a:lstStyle/>
        <a:p>
          <a:endParaRPr lang="en-US"/>
        </a:p>
      </dgm:t>
    </dgm:pt>
    <dgm:pt modelId="{07D03153-B331-594C-B11F-1C00A0A33134}" type="sibTrans" cxnId="{A69994D9-C940-174D-A8E8-E67C66B723B4}">
      <dgm:prSet/>
      <dgm:spPr/>
      <dgm:t>
        <a:bodyPr/>
        <a:lstStyle/>
        <a:p>
          <a:endParaRPr lang="en-US"/>
        </a:p>
      </dgm:t>
    </dgm:pt>
    <dgm:pt modelId="{D02B2921-DB89-644B-9964-F3DDBF516607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pPr rtl="0"/>
          <a:r>
            <a:rPr lang="en-US" dirty="0" smtClean="0"/>
            <a:t>FPE-encrypted characters can be significantly compressed for efficient transmission </a:t>
          </a:r>
          <a:endParaRPr lang="en-US" dirty="0"/>
        </a:p>
      </dgm:t>
    </dgm:pt>
    <dgm:pt modelId="{D7ACFFBC-7442-E643-892F-17406651FFB4}" type="parTrans" cxnId="{167D9208-7C4B-DC47-85B8-96F7051A19CB}">
      <dgm:prSet/>
      <dgm:spPr/>
      <dgm:t>
        <a:bodyPr/>
        <a:lstStyle/>
        <a:p>
          <a:endParaRPr lang="en-US"/>
        </a:p>
      </dgm:t>
    </dgm:pt>
    <dgm:pt modelId="{0C6BB945-5F05-C847-AF3E-E213068AFC93}" type="sibTrans" cxnId="{167D9208-7C4B-DC47-85B8-96F7051A19CB}">
      <dgm:prSet/>
      <dgm:spPr/>
      <dgm:t>
        <a:bodyPr/>
        <a:lstStyle/>
        <a:p>
          <a:endParaRPr lang="en-US"/>
        </a:p>
      </dgm:t>
    </dgm:pt>
    <dgm:pt modelId="{6D003D5D-17A9-AD42-803E-A3680F78B3DB}" type="pres">
      <dgm:prSet presAssocID="{94AC9957-A9F3-B941-993B-7EE9F6C5F3BA}" presName="Name0" presStyleCnt="0">
        <dgm:presLayoutVars>
          <dgm:dir/>
          <dgm:resizeHandles val="exact"/>
        </dgm:presLayoutVars>
      </dgm:prSet>
      <dgm:spPr/>
    </dgm:pt>
    <dgm:pt modelId="{95EA17E3-64D9-0746-8692-50A23A427AF6}" type="pres">
      <dgm:prSet presAssocID="{1D5FC5F3-7DD6-FA45-88D2-DA27100F3D6D}" presName="node" presStyleLbl="node1" presStyleIdx="0" presStyleCnt="4">
        <dgm:presLayoutVars>
          <dgm:bulletEnabled val="1"/>
        </dgm:presLayoutVars>
      </dgm:prSet>
      <dgm:spPr/>
    </dgm:pt>
    <dgm:pt modelId="{D3F8DCBB-3FA6-8F48-9E9F-8E964D948147}" type="pres">
      <dgm:prSet presAssocID="{C3C3B2F4-0922-7945-ACD8-5B43B37DFA68}" presName="sibTrans" presStyleCnt="0"/>
      <dgm:spPr/>
    </dgm:pt>
    <dgm:pt modelId="{7D09C471-1E29-0843-A2FD-475C9B44AA7C}" type="pres">
      <dgm:prSet presAssocID="{D8077001-5807-4E46-91EE-A8FA8710268C}" presName="node" presStyleLbl="node1" presStyleIdx="1" presStyleCnt="4">
        <dgm:presLayoutVars>
          <dgm:bulletEnabled val="1"/>
        </dgm:presLayoutVars>
      </dgm:prSet>
      <dgm:spPr/>
    </dgm:pt>
    <dgm:pt modelId="{D78ECE7A-DCEF-A844-BE0E-000F964D343F}" type="pres">
      <dgm:prSet presAssocID="{9C1E6F14-FBA3-0F40-A35D-40C5A75BCB11}" presName="sibTrans" presStyleCnt="0"/>
      <dgm:spPr/>
    </dgm:pt>
    <dgm:pt modelId="{65D90740-ACBB-F845-930A-0A528B33F5F5}" type="pres">
      <dgm:prSet presAssocID="{05861B09-2CD1-F74B-8922-7CB98642484B}" presName="node" presStyleLbl="node1" presStyleIdx="2" presStyleCnt="4">
        <dgm:presLayoutVars>
          <dgm:bulletEnabled val="1"/>
        </dgm:presLayoutVars>
      </dgm:prSet>
      <dgm:spPr/>
    </dgm:pt>
    <dgm:pt modelId="{7D91DC3F-EB1C-DB4F-9B71-B74F7AA01056}" type="pres">
      <dgm:prSet presAssocID="{6B71E542-2D20-CB4D-A913-2851CEF40FAD}" presName="sibTrans" presStyleCnt="0"/>
      <dgm:spPr/>
    </dgm:pt>
    <dgm:pt modelId="{DD39C3EE-E053-544A-98F7-3ECBB2E66917}" type="pres">
      <dgm:prSet presAssocID="{778635C8-5002-B54D-9CF3-651EDF49164C}" presName="node" presStyleLbl="node1" presStyleIdx="3" presStyleCnt="4">
        <dgm:presLayoutVars>
          <dgm:bulletEnabled val="1"/>
        </dgm:presLayoutVars>
      </dgm:prSet>
      <dgm:spPr/>
    </dgm:pt>
  </dgm:ptLst>
  <dgm:cxnLst>
    <dgm:cxn modelId="{167D9208-7C4B-DC47-85B8-96F7051A19CB}" srcId="{778635C8-5002-B54D-9CF3-651EDF49164C}" destId="{D02B2921-DB89-644B-9964-F3DDBF516607}" srcOrd="2" destOrd="0" parTransId="{D7ACFFBC-7442-E643-892F-17406651FFB4}" sibTransId="{0C6BB945-5F05-C847-AF3E-E213068AFC93}"/>
    <dgm:cxn modelId="{C09FF3D9-3A82-9A49-AED4-8E8B7BEEEB57}" type="presOf" srcId="{778635C8-5002-B54D-9CF3-651EDF49164C}" destId="{DD39C3EE-E053-544A-98F7-3ECBB2E66917}" srcOrd="0" destOrd="0" presId="urn:microsoft.com/office/officeart/2005/8/layout/hList6"/>
    <dgm:cxn modelId="{5C198763-AC5F-5042-B847-EF6326D3C889}" type="presOf" srcId="{2FB0A1BA-D77D-E641-A27E-E965B5280C55}" destId="{65D90740-ACBB-F845-930A-0A528B33F5F5}" srcOrd="0" destOrd="1" presId="urn:microsoft.com/office/officeart/2005/8/layout/hList6"/>
    <dgm:cxn modelId="{12B1C230-6F93-A940-9FC5-5B9C2506768F}" srcId="{94AC9957-A9F3-B941-993B-7EE9F6C5F3BA}" destId="{D8077001-5807-4E46-91EE-A8FA8710268C}" srcOrd="1" destOrd="0" parTransId="{4684361B-E461-CB44-BCC1-F346B9E5CB1D}" sibTransId="{9C1E6F14-FBA3-0F40-A35D-40C5A75BCB11}"/>
    <dgm:cxn modelId="{4CD6984A-6D15-3545-8054-84EC6196E384}" srcId="{778635C8-5002-B54D-9CF3-651EDF49164C}" destId="{56BD8BC1-B780-7543-BBA8-C432E3FDF1D4}" srcOrd="0" destOrd="0" parTransId="{7539752D-9D6B-5B44-99C4-8C6F72CE844D}" sibTransId="{A3BDD0B2-BECA-8649-B31B-14ED08CFB7FB}"/>
    <dgm:cxn modelId="{06815876-14CC-F340-9E56-043EDD0CA913}" type="presOf" srcId="{D02B2921-DB89-644B-9964-F3DDBF516607}" destId="{DD39C3EE-E053-544A-98F7-3ECBB2E66917}" srcOrd="0" destOrd="3" presId="urn:microsoft.com/office/officeart/2005/8/layout/hList6"/>
    <dgm:cxn modelId="{A69994D9-C940-174D-A8E8-E67C66B723B4}" srcId="{778635C8-5002-B54D-9CF3-651EDF49164C}" destId="{D84E65DD-A494-284A-9715-B727B1B15F65}" srcOrd="1" destOrd="0" parTransId="{F7000923-05BE-9A49-A311-32A8AC137A9C}" sibTransId="{07D03153-B331-594C-B11F-1C00A0A33134}"/>
    <dgm:cxn modelId="{A0BB6974-9901-0948-A491-0318C8471F5F}" type="presOf" srcId="{1D5FC5F3-7DD6-FA45-88D2-DA27100F3D6D}" destId="{95EA17E3-64D9-0746-8692-50A23A427AF6}" srcOrd="0" destOrd="0" presId="urn:microsoft.com/office/officeart/2005/8/layout/hList6"/>
    <dgm:cxn modelId="{45165A9E-34F1-9C4E-97BF-4298BCEE0578}" srcId="{05861B09-2CD1-F74B-8922-7CB98642484B}" destId="{2FB0A1BA-D77D-E641-A27E-E965B5280C55}" srcOrd="0" destOrd="0" parTransId="{426B593D-5D40-BD4A-AF12-0C2B4CADF912}" sibTransId="{C53C54AA-CAF9-EC4D-B2D6-CE2D038FBDE8}"/>
    <dgm:cxn modelId="{3E51BB06-5836-704F-916D-8FD6600603BB}" type="presOf" srcId="{05861B09-2CD1-F74B-8922-7CB98642484B}" destId="{65D90740-ACBB-F845-930A-0A528B33F5F5}" srcOrd="0" destOrd="0" presId="urn:microsoft.com/office/officeart/2005/8/layout/hList6"/>
    <dgm:cxn modelId="{5DA3CCEE-4E52-5742-B777-87AECE4BCADC}" type="presOf" srcId="{94AC9957-A9F3-B941-993B-7EE9F6C5F3BA}" destId="{6D003D5D-17A9-AD42-803E-A3680F78B3DB}" srcOrd="0" destOrd="0" presId="urn:microsoft.com/office/officeart/2005/8/layout/hList6"/>
    <dgm:cxn modelId="{75808926-AA10-384C-940A-4B2B089452F2}" srcId="{94AC9957-A9F3-B941-993B-7EE9F6C5F3BA}" destId="{1D5FC5F3-7DD6-FA45-88D2-DA27100F3D6D}" srcOrd="0" destOrd="0" parTransId="{C3367ABF-7B89-DE46-8275-975C75FF8A2D}" sibTransId="{C3C3B2F4-0922-7945-ACD8-5B43B37DFA68}"/>
    <dgm:cxn modelId="{E93DAA6E-F3AD-6444-9B96-E2ADE78171C7}" srcId="{94AC9957-A9F3-B941-993B-7EE9F6C5F3BA}" destId="{778635C8-5002-B54D-9CF3-651EDF49164C}" srcOrd="3" destOrd="0" parTransId="{E147B65D-DDD2-5941-9E34-477553884553}" sibTransId="{DE02273E-1416-4C40-B33B-08FF420625C9}"/>
    <dgm:cxn modelId="{2F76C480-5E83-5548-BC2F-148693AF7673}" type="presOf" srcId="{56BD8BC1-B780-7543-BBA8-C432E3FDF1D4}" destId="{DD39C3EE-E053-544A-98F7-3ECBB2E66917}" srcOrd="0" destOrd="1" presId="urn:microsoft.com/office/officeart/2005/8/layout/hList6"/>
    <dgm:cxn modelId="{FE17734D-510E-774A-9403-9DBE172C9787}" srcId="{94AC9957-A9F3-B941-993B-7EE9F6C5F3BA}" destId="{05861B09-2CD1-F74B-8922-7CB98642484B}" srcOrd="2" destOrd="0" parTransId="{6291D4FF-FB20-2743-9431-35DFD602BE8B}" sibTransId="{6B71E542-2D20-CB4D-A913-2851CEF40FAD}"/>
    <dgm:cxn modelId="{FEBCEF6E-4C54-DB47-8161-957B9FAD8DD5}" type="presOf" srcId="{5AEECE23-DAF2-8A48-8840-FFC52FF02A06}" destId="{65D90740-ACBB-F845-930A-0A528B33F5F5}" srcOrd="0" destOrd="2" presId="urn:microsoft.com/office/officeart/2005/8/layout/hList6"/>
    <dgm:cxn modelId="{4F4EDE46-5274-D04D-8C62-8EC62F5455AB}" type="presOf" srcId="{D8077001-5807-4E46-91EE-A8FA8710268C}" destId="{7D09C471-1E29-0843-A2FD-475C9B44AA7C}" srcOrd="0" destOrd="0" presId="urn:microsoft.com/office/officeart/2005/8/layout/hList6"/>
    <dgm:cxn modelId="{E69BAFE4-EF90-BC4A-A603-2FF451BDB0B1}" srcId="{05861B09-2CD1-F74B-8922-7CB98642484B}" destId="{5AEECE23-DAF2-8A48-8840-FFC52FF02A06}" srcOrd="1" destOrd="0" parTransId="{F957D76B-9CCC-C342-960D-6601CB2F9D97}" sibTransId="{55F3B7D2-92FC-E74F-914D-F7835BD98E7F}"/>
    <dgm:cxn modelId="{DE0D1664-8D0B-E046-8AED-D86E7A2F0631}" type="presOf" srcId="{D84E65DD-A494-284A-9715-B727B1B15F65}" destId="{DD39C3EE-E053-544A-98F7-3ECBB2E66917}" srcOrd="0" destOrd="2" presId="urn:microsoft.com/office/officeart/2005/8/layout/hList6"/>
    <dgm:cxn modelId="{B176D888-AA6C-C643-B96E-1A7208AB122D}" type="presParOf" srcId="{6D003D5D-17A9-AD42-803E-A3680F78B3DB}" destId="{95EA17E3-64D9-0746-8692-50A23A427AF6}" srcOrd="0" destOrd="0" presId="urn:microsoft.com/office/officeart/2005/8/layout/hList6"/>
    <dgm:cxn modelId="{110F6B70-9498-EA41-BE06-7562C2340A30}" type="presParOf" srcId="{6D003D5D-17A9-AD42-803E-A3680F78B3DB}" destId="{D3F8DCBB-3FA6-8F48-9E9F-8E964D948147}" srcOrd="1" destOrd="0" presId="urn:microsoft.com/office/officeart/2005/8/layout/hList6"/>
    <dgm:cxn modelId="{042B1764-FF69-C04E-842A-A0471531A45C}" type="presParOf" srcId="{6D003D5D-17A9-AD42-803E-A3680F78B3DB}" destId="{7D09C471-1E29-0843-A2FD-475C9B44AA7C}" srcOrd="2" destOrd="0" presId="urn:microsoft.com/office/officeart/2005/8/layout/hList6"/>
    <dgm:cxn modelId="{D4D86228-93B0-4242-8084-11BF1A5F4C4B}" type="presParOf" srcId="{6D003D5D-17A9-AD42-803E-A3680F78B3DB}" destId="{D78ECE7A-DCEF-A844-BE0E-000F964D343F}" srcOrd="3" destOrd="0" presId="urn:microsoft.com/office/officeart/2005/8/layout/hList6"/>
    <dgm:cxn modelId="{C7D41CAF-E2DB-F846-83C7-88E9045EFC99}" type="presParOf" srcId="{6D003D5D-17A9-AD42-803E-A3680F78B3DB}" destId="{65D90740-ACBB-F845-930A-0A528B33F5F5}" srcOrd="4" destOrd="0" presId="urn:microsoft.com/office/officeart/2005/8/layout/hList6"/>
    <dgm:cxn modelId="{C3699C64-0C34-9E46-ABBD-77C9BFCF6382}" type="presParOf" srcId="{6D003D5D-17A9-AD42-803E-A3680F78B3DB}" destId="{7D91DC3F-EB1C-DB4F-9B71-B74F7AA01056}" srcOrd="5" destOrd="0" presId="urn:microsoft.com/office/officeart/2005/8/layout/hList6"/>
    <dgm:cxn modelId="{0EB6610E-36B7-4945-A1F7-5D024A732A9E}" type="presParOf" srcId="{6D003D5D-17A9-AD42-803E-A3680F78B3DB}" destId="{DD39C3EE-E053-544A-98F7-3ECBB2E66917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ABB9488-165E-AF46-AD09-198A95CA42D5}">
      <dsp:nvSpPr>
        <dsp:cNvPr id="0" name=""/>
        <dsp:cNvSpPr/>
      </dsp:nvSpPr>
      <dsp:spPr>
        <a:xfrm rot="16200000">
          <a:off x="654" y="340872"/>
          <a:ext cx="4109330" cy="4109330"/>
        </a:xfrm>
        <a:prstGeom prst="downArrow">
          <a:avLst>
            <a:gd name="adj1" fmla="val 50000"/>
            <a:gd name="adj2" fmla="val 35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use of double DES results in a mapping that is not equivalent to a single DES encryption</a:t>
          </a:r>
          <a:endParaRPr lang="en-US" sz="1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6200000">
        <a:off x="654" y="340872"/>
        <a:ext cx="4109330" cy="4109330"/>
      </dsp:txXfrm>
    </dsp:sp>
    <dsp:sp modelId="{53700B98-CB5D-6E42-991E-36901AA3DD8A}">
      <dsp:nvSpPr>
        <dsp:cNvPr id="0" name=""/>
        <dsp:cNvSpPr/>
      </dsp:nvSpPr>
      <dsp:spPr>
        <a:xfrm rot="5400000">
          <a:off x="4348215" y="340872"/>
          <a:ext cx="4109330" cy="4109330"/>
        </a:xfrm>
        <a:prstGeom prst="downArrow">
          <a:avLst>
            <a:gd name="adj1" fmla="val 50000"/>
            <a:gd name="adj2" fmla="val 35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meet-in-the-middle attack algorithm will attack this scheme and does not depend on any particular property of DES but will work against any block encryption cipher</a:t>
          </a:r>
          <a:endParaRPr lang="en-US" sz="19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4348215" y="340872"/>
        <a:ext cx="4109330" cy="410933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F5C4D4F-71A5-CF46-84AE-1A1B3AAB815F}">
      <dsp:nvSpPr>
        <dsp:cNvPr id="0" name=""/>
        <dsp:cNvSpPr/>
      </dsp:nvSpPr>
      <dsp:spPr>
        <a:xfrm rot="5400000">
          <a:off x="3881726" y="-1459704"/>
          <a:ext cx="941635" cy="4096512"/>
        </a:xfrm>
        <a:prstGeom prst="round2SameRect">
          <a:avLst/>
        </a:prstGeom>
        <a:solidFill>
          <a:schemeClr val="bg1"/>
        </a:solidFill>
        <a:ln w="38100" cap="flat" cmpd="sng" algn="ctr">
          <a:solidFill>
            <a:schemeClr val="accent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i="1" kern="1200" dirty="0" smtClean="0">
              <a:ea typeface="+mn-ea"/>
              <a:cs typeface="+mn-cs"/>
            </a:rPr>
            <a:t>C</a:t>
          </a:r>
          <a:r>
            <a:rPr lang="en-US" sz="1800" kern="1200" dirty="0" smtClean="0">
              <a:ea typeface="+mn-ea"/>
              <a:cs typeface="+mn-cs"/>
            </a:rPr>
            <a:t> = E( </a:t>
          </a:r>
          <a:r>
            <a:rPr lang="en-US" sz="1800" i="1" kern="1200" dirty="0" smtClean="0">
              <a:ea typeface="+mn-ea"/>
              <a:cs typeface="+mn-cs"/>
            </a:rPr>
            <a:t>K</a:t>
          </a:r>
          <a:r>
            <a:rPr lang="en-US" sz="1800" i="1" kern="1200" baseline="-25000" dirty="0" smtClean="0">
              <a:ea typeface="+mn-ea"/>
              <a:cs typeface="+mn-cs"/>
            </a:rPr>
            <a:t>3</a:t>
          </a:r>
          <a:r>
            <a:rPr lang="en-US" sz="1800" kern="1200" dirty="0" smtClean="0">
              <a:ea typeface="+mn-ea"/>
              <a:cs typeface="+mn-cs"/>
            </a:rPr>
            <a:t>, D( </a:t>
          </a:r>
          <a:r>
            <a:rPr lang="en-US" sz="1800" i="1" kern="1200" dirty="0" smtClean="0">
              <a:ea typeface="+mn-ea"/>
              <a:cs typeface="+mn-cs"/>
            </a:rPr>
            <a:t>K</a:t>
          </a:r>
          <a:r>
            <a:rPr lang="en-US" sz="1800" i="1" kern="1200" baseline="-25000" dirty="0" smtClean="0">
              <a:ea typeface="+mn-ea"/>
              <a:cs typeface="+mn-cs"/>
            </a:rPr>
            <a:t>2</a:t>
          </a:r>
          <a:r>
            <a:rPr lang="en-US" sz="1800" kern="1200" dirty="0" smtClean="0">
              <a:ea typeface="+mn-ea"/>
              <a:cs typeface="+mn-cs"/>
            </a:rPr>
            <a:t>, E( </a:t>
          </a:r>
          <a:r>
            <a:rPr lang="en-US" sz="1800" i="1" kern="1200" dirty="0" smtClean="0">
              <a:ea typeface="+mn-ea"/>
              <a:cs typeface="+mn-cs"/>
            </a:rPr>
            <a:t>K</a:t>
          </a:r>
          <a:r>
            <a:rPr lang="en-US" sz="1800" i="1" kern="1200" baseline="-25000" dirty="0" smtClean="0">
              <a:ea typeface="+mn-ea"/>
              <a:cs typeface="+mn-cs"/>
            </a:rPr>
            <a:t>1</a:t>
          </a:r>
          <a:r>
            <a:rPr lang="en-US" sz="1800" i="1" kern="1200" dirty="0" smtClean="0">
              <a:ea typeface="+mn-ea"/>
              <a:cs typeface="+mn-cs"/>
            </a:rPr>
            <a:t>,  P</a:t>
          </a:r>
          <a:r>
            <a:rPr lang="en-US" sz="1800" kern="1200" dirty="0" smtClean="0">
              <a:ea typeface="+mn-ea"/>
              <a:cs typeface="+mn-cs"/>
            </a:rPr>
            <a:t>)))</a:t>
          </a:r>
        </a:p>
      </dsp:txBody>
      <dsp:txXfrm rot="5400000">
        <a:off x="3881726" y="-1459704"/>
        <a:ext cx="941635" cy="4096512"/>
      </dsp:txXfrm>
    </dsp:sp>
    <dsp:sp modelId="{555409E5-3EC4-B74F-9976-846F69623AD6}">
      <dsp:nvSpPr>
        <dsp:cNvPr id="0" name=""/>
        <dsp:cNvSpPr/>
      </dsp:nvSpPr>
      <dsp:spPr>
        <a:xfrm>
          <a:off x="0" y="29"/>
          <a:ext cx="2304288" cy="1177044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Three-key 3DES has an effective key length of 168 bits and is defined as: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9"/>
        <a:ext cx="2304288" cy="1177044"/>
      </dsp:txXfrm>
    </dsp:sp>
    <dsp:sp modelId="{3454F1FB-1E63-E44A-A2B5-AFACABCAA9C9}">
      <dsp:nvSpPr>
        <dsp:cNvPr id="0" name=""/>
        <dsp:cNvSpPr/>
      </dsp:nvSpPr>
      <dsp:spPr>
        <a:xfrm rot="5400000">
          <a:off x="3881726" y="-223807"/>
          <a:ext cx="941635" cy="4096512"/>
        </a:xfrm>
        <a:prstGeom prst="round2SameRect">
          <a:avLst/>
        </a:prstGeom>
        <a:solidFill>
          <a:schemeClr val="bg1"/>
        </a:solidFill>
        <a:ln w="38100" cap="flat" cmpd="sng" algn="ctr">
          <a:solidFill>
            <a:schemeClr val="accent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>
              <a:ea typeface="+mn-ea"/>
              <a:cs typeface="+mn-cs"/>
            </a:rPr>
            <a:t>K</a:t>
          </a:r>
          <a:r>
            <a:rPr lang="en-US" sz="1800" i="1" kern="1200" baseline="-25000" dirty="0" smtClean="0">
              <a:ea typeface="+mn-ea"/>
              <a:cs typeface="+mn-cs"/>
            </a:rPr>
            <a:t>3</a:t>
          </a:r>
          <a:r>
            <a:rPr lang="en-US" sz="1800" kern="1200" dirty="0" smtClean="0">
              <a:ea typeface="+mn-ea"/>
              <a:cs typeface="+mn-cs"/>
            </a:rPr>
            <a:t> = K</a:t>
          </a:r>
          <a:r>
            <a:rPr lang="en-US" sz="1800" i="1" kern="1200" baseline="-25000" dirty="0" smtClean="0">
              <a:ea typeface="+mn-ea"/>
              <a:cs typeface="+mn-cs"/>
            </a:rPr>
            <a:t>2</a:t>
          </a:r>
          <a:r>
            <a:rPr lang="en-US" sz="1800" kern="1200" dirty="0" smtClean="0">
              <a:ea typeface="+mn-ea"/>
              <a:cs typeface="+mn-cs"/>
            </a:rPr>
            <a:t> or K</a:t>
          </a:r>
          <a:r>
            <a:rPr lang="en-US" sz="1800" i="1" kern="1200" baseline="-25000" dirty="0" smtClean="0">
              <a:ea typeface="+mn-ea"/>
              <a:cs typeface="+mn-cs"/>
            </a:rPr>
            <a:t>1</a:t>
          </a:r>
          <a:r>
            <a:rPr lang="en-US" sz="1800" kern="1200" dirty="0" smtClean="0">
              <a:ea typeface="+mn-ea"/>
              <a:cs typeface="+mn-cs"/>
            </a:rPr>
            <a:t> = K</a:t>
          </a:r>
          <a:r>
            <a:rPr lang="en-US" sz="1800" i="1" kern="1200" baseline="-25000" dirty="0" smtClean="0">
              <a:ea typeface="+mn-ea"/>
              <a:cs typeface="+mn-cs"/>
            </a:rPr>
            <a:t>2</a:t>
          </a:r>
        </a:p>
      </dsp:txBody>
      <dsp:txXfrm rot="5400000">
        <a:off x="3881726" y="-223807"/>
        <a:ext cx="941635" cy="4096512"/>
      </dsp:txXfrm>
    </dsp:sp>
    <dsp:sp modelId="{89932878-5AE7-6E41-B546-D00826EE62FB}">
      <dsp:nvSpPr>
        <dsp:cNvPr id="0" name=""/>
        <dsp:cNvSpPr/>
      </dsp:nvSpPr>
      <dsp:spPr>
        <a:xfrm>
          <a:off x="0" y="1235926"/>
          <a:ext cx="2304288" cy="1177044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rPr>
            <a:t>Backward compatibility with DES is provided by putting:</a:t>
          </a:r>
        </a:p>
      </dsp:txBody>
      <dsp:txXfrm>
        <a:off x="0" y="1235926"/>
        <a:ext cx="2304288" cy="1177044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F140ED0-2604-B044-A020-DF33CC6F82A1}">
      <dsp:nvSpPr>
        <dsp:cNvPr id="0" name=""/>
        <dsp:cNvSpPr/>
      </dsp:nvSpPr>
      <dsp:spPr>
        <a:xfrm>
          <a:off x="1607120" y="560"/>
          <a:ext cx="2043559" cy="102177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There are three modes that make it possible to convert a block cipher into a stream cipher:</a:t>
          </a:r>
          <a:endParaRPr lang="en-US" sz="1500" b="1" i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607120" y="560"/>
        <a:ext cx="2043559" cy="1021779"/>
      </dsp:txXfrm>
    </dsp:sp>
    <dsp:sp modelId="{49DAA590-1612-E647-8ED8-B7F56BBB34EC}">
      <dsp:nvSpPr>
        <dsp:cNvPr id="0" name=""/>
        <dsp:cNvSpPr/>
      </dsp:nvSpPr>
      <dsp:spPr>
        <a:xfrm>
          <a:off x="1811476" y="1022340"/>
          <a:ext cx="204355" cy="7663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6334"/>
              </a:lnTo>
              <a:lnTo>
                <a:pt x="204355" y="766334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BE3AAD-2BE3-1547-9164-66C5DFF33B78}">
      <dsp:nvSpPr>
        <dsp:cNvPr id="0" name=""/>
        <dsp:cNvSpPr/>
      </dsp:nvSpPr>
      <dsp:spPr>
        <a:xfrm>
          <a:off x="2015832" y="1277785"/>
          <a:ext cx="1634847" cy="1021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/>
            <a:t>Cipher feedback (CFB) mode</a:t>
          </a:r>
          <a:endParaRPr lang="en-US" sz="2100" kern="1200" dirty="0" smtClean="0"/>
        </a:p>
      </dsp:txBody>
      <dsp:txXfrm>
        <a:off x="2015832" y="1277785"/>
        <a:ext cx="1634847" cy="1021779"/>
      </dsp:txXfrm>
    </dsp:sp>
    <dsp:sp modelId="{6F6CB8C7-B4B5-7D47-A868-DAA68895D727}">
      <dsp:nvSpPr>
        <dsp:cNvPr id="0" name=""/>
        <dsp:cNvSpPr/>
      </dsp:nvSpPr>
      <dsp:spPr>
        <a:xfrm>
          <a:off x="1811476" y="1022340"/>
          <a:ext cx="204355" cy="20435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3559"/>
              </a:lnTo>
              <a:lnTo>
                <a:pt x="204355" y="2043559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15383-9A9A-E74E-B74C-4985D51F9BC1}">
      <dsp:nvSpPr>
        <dsp:cNvPr id="0" name=""/>
        <dsp:cNvSpPr/>
      </dsp:nvSpPr>
      <dsp:spPr>
        <a:xfrm>
          <a:off x="2015832" y="2555009"/>
          <a:ext cx="1634847" cy="1021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/>
            <a:t>Output feedback (OFB) mode</a:t>
          </a:r>
          <a:endParaRPr lang="en-US" sz="2100" kern="1200" dirty="0" smtClean="0"/>
        </a:p>
      </dsp:txBody>
      <dsp:txXfrm>
        <a:off x="2015832" y="2555009"/>
        <a:ext cx="1634847" cy="1021779"/>
      </dsp:txXfrm>
    </dsp:sp>
    <dsp:sp modelId="{FA3825C2-9D45-054A-AC04-3945249603C4}">
      <dsp:nvSpPr>
        <dsp:cNvPr id="0" name=""/>
        <dsp:cNvSpPr/>
      </dsp:nvSpPr>
      <dsp:spPr>
        <a:xfrm>
          <a:off x="1811476" y="1022340"/>
          <a:ext cx="204355" cy="3320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0783"/>
              </a:lnTo>
              <a:lnTo>
                <a:pt x="204355" y="3320783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DA1758-61EC-A349-A07F-7AF5A8B669EC}">
      <dsp:nvSpPr>
        <dsp:cNvPr id="0" name=""/>
        <dsp:cNvSpPr/>
      </dsp:nvSpPr>
      <dsp:spPr>
        <a:xfrm>
          <a:off x="2015832" y="3832234"/>
          <a:ext cx="1634847" cy="10217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/>
            <a:t>Counter (CTR) mode</a:t>
          </a:r>
          <a:endParaRPr lang="en-US" sz="2100" kern="1200" dirty="0" smtClean="0"/>
        </a:p>
      </dsp:txBody>
      <dsp:txXfrm>
        <a:off x="2015832" y="3832234"/>
        <a:ext cx="1634847" cy="10217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A66C7A0-2BB9-604B-BE8A-1884C11DC43A}">
      <dsp:nvSpPr>
        <dsp:cNvPr id="0" name=""/>
        <dsp:cNvSpPr/>
      </dsp:nvSpPr>
      <dsp:spPr>
        <a:xfrm>
          <a:off x="1011733" y="1289"/>
          <a:ext cx="1800820" cy="1800820"/>
        </a:xfrm>
        <a:prstGeom prst="ellipse">
          <a:avLst/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9105" tIns="22860" rIns="99105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A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plaintext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P</a:t>
          </a:r>
          <a:endParaRPr lang="en-US" sz="1800" b="1" i="0" kern="1200" dirty="0"/>
        </a:p>
      </dsp:txBody>
      <dsp:txXfrm>
        <a:off x="1011733" y="1289"/>
        <a:ext cx="1800820" cy="1800820"/>
      </dsp:txXfrm>
    </dsp:sp>
    <dsp:sp modelId="{092D7A93-89F8-CC4D-A39E-0F1057655758}">
      <dsp:nvSpPr>
        <dsp:cNvPr id="0" name=""/>
        <dsp:cNvSpPr/>
      </dsp:nvSpPr>
      <dsp:spPr>
        <a:xfrm>
          <a:off x="2514600" y="0"/>
          <a:ext cx="1800820" cy="1800820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alpha val="5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alpha val="5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9105" tIns="22860" rIns="99105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A symmetric key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K</a:t>
          </a:r>
        </a:p>
      </dsp:txBody>
      <dsp:txXfrm>
        <a:off x="2514600" y="0"/>
        <a:ext cx="1800820" cy="1800820"/>
      </dsp:txXfrm>
    </dsp:sp>
    <dsp:sp modelId="{1387E1CC-22E4-7841-A5C3-409515B2A207}">
      <dsp:nvSpPr>
        <dsp:cNvPr id="0" name=""/>
        <dsp:cNvSpPr/>
      </dsp:nvSpPr>
      <dsp:spPr>
        <a:xfrm>
          <a:off x="4038599" y="0"/>
          <a:ext cx="1800820" cy="1800820"/>
        </a:xfrm>
        <a:prstGeom prst="ellipse">
          <a:avLst/>
        </a:prstGeom>
        <a:solidFill>
          <a:schemeClr val="bg1"/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9105" tIns="22860" rIns="99105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A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tweak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>
              <a:ea typeface="+mn-ea"/>
            </a:rPr>
            <a:t>T</a:t>
          </a:r>
        </a:p>
      </dsp:txBody>
      <dsp:txXfrm>
        <a:off x="4038599" y="0"/>
        <a:ext cx="1800820" cy="180082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5EA17E3-64D9-0746-8692-50A23A427AF6}">
      <dsp:nvSpPr>
        <dsp:cNvPr id="0" name=""/>
        <dsp:cNvSpPr/>
      </dsp:nvSpPr>
      <dsp:spPr>
        <a:xfrm rot="16200000">
          <a:off x="-1650593" y="1652418"/>
          <a:ext cx="5095875" cy="1791038"/>
        </a:xfrm>
        <a:prstGeom prst="flowChartManualOperation">
          <a:avLst/>
        </a:prstGeom>
        <a:solidFill>
          <a:schemeClr val="accent4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5310" bIns="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FPE facilitates the retrofitting of encryption technology to legacy applications, where a conventional encryption mode might not be feasible because it would disrupt data fields/pathways</a:t>
          </a:r>
          <a:endParaRPr lang="en-US" sz="1300" kern="1200" dirty="0"/>
        </a:p>
      </dsp:txBody>
      <dsp:txXfrm rot="16200000">
        <a:off x="-1650593" y="1652418"/>
        <a:ext cx="5095875" cy="1791038"/>
      </dsp:txXfrm>
    </dsp:sp>
    <dsp:sp modelId="{7D09C471-1E29-0843-A2FD-475C9B44AA7C}">
      <dsp:nvSpPr>
        <dsp:cNvPr id="0" name=""/>
        <dsp:cNvSpPr/>
      </dsp:nvSpPr>
      <dsp:spPr>
        <a:xfrm rot="16200000">
          <a:off x="274772" y="1652418"/>
          <a:ext cx="5095875" cy="1791038"/>
        </a:xfrm>
        <a:prstGeom prst="flowChartManualOperation">
          <a:avLst/>
        </a:prstGeom>
        <a:solidFill>
          <a:schemeClr val="accent2">
            <a:lumMod val="5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5310" bIns="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FPE has emerged as a useful cryptographic tool, whose applications include financial-information security, data sanitization, and transparent encryption of fields in legacy databases</a:t>
          </a:r>
          <a:endParaRPr lang="en-US" sz="1300" kern="1200" dirty="0"/>
        </a:p>
      </dsp:txBody>
      <dsp:txXfrm rot="16200000">
        <a:off x="274772" y="1652418"/>
        <a:ext cx="5095875" cy="1791038"/>
      </dsp:txXfrm>
    </dsp:sp>
    <dsp:sp modelId="{65D90740-ACBB-F845-930A-0A528B33F5F5}">
      <dsp:nvSpPr>
        <dsp:cNvPr id="0" name=""/>
        <dsp:cNvSpPr/>
      </dsp:nvSpPr>
      <dsp:spPr>
        <a:xfrm rot="16200000">
          <a:off x="2200139" y="1652418"/>
          <a:ext cx="5095875" cy="1791038"/>
        </a:xfrm>
        <a:prstGeom prst="flowChartManualOperation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5310" bIns="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principal benefit of FPE is that it enables protection of particular data elements, while still enabling workflows that were in place before FPE was in use</a:t>
          </a:r>
          <a:endParaRPr lang="en-US" sz="13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No database schema changes and minimal application changes are required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Only applications that need to see the plaintext of a data element need to be modified and generally these modifications will be minimal</a:t>
          </a:r>
          <a:endParaRPr lang="en-US" sz="1000" kern="1200" dirty="0"/>
        </a:p>
      </dsp:txBody>
      <dsp:txXfrm rot="16200000">
        <a:off x="2200139" y="1652418"/>
        <a:ext cx="5095875" cy="1791038"/>
      </dsp:txXfrm>
    </dsp:sp>
    <dsp:sp modelId="{DD39C3EE-E053-544A-98F7-3ECBB2E66917}">
      <dsp:nvSpPr>
        <dsp:cNvPr id="0" name=""/>
        <dsp:cNvSpPr/>
      </dsp:nvSpPr>
      <dsp:spPr>
        <a:xfrm rot="16200000">
          <a:off x="4125505" y="1652418"/>
          <a:ext cx="5095875" cy="1791038"/>
        </a:xfrm>
        <a:prstGeom prst="flowChartManualOperation">
          <a:avLst/>
        </a:prstGeom>
        <a:solidFill>
          <a:schemeClr val="accent5">
            <a:lumMod val="5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5310" bIns="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Some examples of legacy applications where FPE is desirable are:</a:t>
          </a:r>
          <a:endParaRPr lang="en-US" sz="13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COBOL data-processing applications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Database applications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FPE-encrypted characters can be significantly compressed for efficient transmission </a:t>
          </a:r>
          <a:endParaRPr lang="en-US" sz="1000" kern="1200" dirty="0"/>
        </a:p>
      </dsp:txBody>
      <dsp:txXfrm rot="16200000">
        <a:off x="4125505" y="1652418"/>
        <a:ext cx="5095875" cy="1791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C7A15-62B5-1148-96E2-BA2999B5E40A}" type="datetimeFigureOut">
              <a:rPr lang="en-US" smtClean="0"/>
              <a:t>3/16/16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1B32-3298-3B4C-A413-EF612BF99D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38076705-864B-4D45-B85F-06B6083622B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DAC19D-5794-124D-943B-99E3BD3527A0}" type="slidenum">
              <a:rPr lang="en-AU">
                <a:latin typeface="Arial" pitchFamily="-84" charset="0"/>
              </a:rPr>
              <a:pPr/>
              <a:t>1</a:t>
            </a:fld>
            <a:endParaRPr lang="en-AU">
              <a:latin typeface="Arial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 7/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– “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Cipher Operation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This chapter continues our discussion of symmetric ciphers. We begin with the topic of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multiple encryption, looking in particular at the most widely used multiple-encryption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scheme: triple DES.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chapter next turns to the subject of block cipher modes of operation. We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find that there are a number of different ways to apply a block cipher to plaintext, each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its own advantages and particular applications.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E75397-88F1-B841-BCAE-5B838BFB5C3F}" type="slidenum">
              <a:rPr lang="en-AU" smtClean="0">
                <a:latin typeface="Arial" pitchFamily="-84" charset="0"/>
              </a:rPr>
              <a:pPr/>
              <a:t>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D3A70E-C97E-DC4B-9C68-0A144DA905F7}" type="slidenum">
              <a:rPr lang="en-AU">
                <a:latin typeface="Arial" pitchFamily="-84" charset="0"/>
              </a:rPr>
              <a:pPr/>
              <a:t>3</a:t>
            </a:fld>
            <a:endParaRPr lang="en-AU">
              <a:latin typeface="Arial" pitchFamily="-84" charset="0"/>
            </a:endParaRPr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Because of its vulnerability to brute-force attack, DES, once the most widely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symmetric cipher, has been largely replaced by stronger encryption schemes.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approaches have been taken. One approach is to design a completely new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 resistant to both cryptanalytic and brute-force attacks, of which AES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a prime example. Another alternative, which preserves the existing investment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software and equipment, is to use multiple encryption with DES and multiple keys.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 begin by examining the simplest example of this second alternative. We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look at the widely accepted triple DES (3DES) algorithm.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simplest form of multiple encryption has two encryption stages and two keys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7.1a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Given a plaintext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two encryption keys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and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ciphertext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generated as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 =  E(K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E(K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P ))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Decryption requires that the keys be applied in reverse order: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 =  D(K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D(K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C ))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For DES, this scheme apparently involves a key length of 56 *  2 =  112 bits, resulting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 dramatic increase in cryptographic strength. But we need to examine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 more closely.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it is reasonable to assume that if DES is used twice with different keys, it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will produce one of the many mappings that are not defined by a single application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DES. Although there was much supporting evidence for this assumption, it was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not until 1992 that the assumption was proven [CAMP92].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Thus, the use of double DES results in a mapping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is not equivalent to a single DES encryption. But there is a way to attack this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scheme, one that does not depend on any particular property of DES but that will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work against any block encryption cipher.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algorithm, known as a meet-in-the-middle attack , was first described in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[DIFF77].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60A7CE-322E-B748-A38B-12157840A821}" type="slidenum">
              <a:rPr lang="en-AU" smtClean="0">
                <a:latin typeface="Arial" pitchFamily="-84" charset="0"/>
              </a:rPr>
              <a:pPr/>
              <a:t>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A26369-A0B6-224A-81CC-EF1238DA308E}" type="slidenum">
              <a:rPr lang="en-AU">
                <a:latin typeface="Arial" pitchFamily="-84" charset="0"/>
              </a:rPr>
              <a:pPr/>
              <a:t>5</a:t>
            </a:fld>
            <a:endParaRPr lang="en-AU">
              <a:latin typeface="Arial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 obvious counter to the meet-in-the-middle attack is to use three stages of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three different keys. This raises the cost of the meet-in-the-middle attack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112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which is beyond what is practical now and far into the future. However, it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has the drawback of requiring a key length of 56 *  3 =  168 bits, which may be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somewhat unwieldy.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an alternative, Tuchman proposed a triple encryption method that uses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only two keys [TUCH79].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3DES with two keys is a relatively popular alternative to DES and has been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adopted for use in the key management standards ANSI X9.17 and ISO 8732.1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2A333F-2D17-9744-BE06-B6D2230133E3}" type="slidenum">
              <a:rPr lang="en-AU">
                <a:latin typeface="Arial" pitchFamily="-84" charset="0"/>
              </a:rPr>
              <a:pPr/>
              <a:t>6</a:t>
            </a:fld>
            <a:endParaRPr lang="en-AU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first serious proposal came from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Merkle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and Hellman [MERK81]. Their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plan involves finding plaintext values that produce a first intermediate value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=  0 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7.1b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and then using the meet-in-the-middle attack to determine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two keys. The level of effort is 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56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but the technique requires 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56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chosen plaintext–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 pairs, which is a number unlikely to be provided by the holder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keys.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known-plaintext attack is outlined in [VANO90]. This method is an improvement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over the chosen-plaintext approach but requires more effort. The attack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based on the observation that if we know A  and C  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7.1b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), then the problem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reduces to that of an attack on double DES. Of course, the attacker does not know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, even if P  and C  are known, as long as the two keys are unknown. However,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attacker can choose a potential value of A  and then try to find a known (P , C ) pair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produces A 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 smtClean="0"/>
              <a:t> The attack proceeds as follows.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1.  Obtain </a:t>
            </a:r>
            <a:r>
              <a:rPr lang="en-US" i="1" dirty="0" smtClean="0"/>
              <a:t>n</a:t>
            </a:r>
            <a:r>
              <a:rPr lang="en-US" dirty="0" smtClean="0"/>
              <a:t>  (</a:t>
            </a:r>
            <a:r>
              <a:rPr lang="en-US" i="1" dirty="0" smtClean="0"/>
              <a:t>P , C </a:t>
            </a:r>
            <a:r>
              <a:rPr lang="en-US" dirty="0" smtClean="0"/>
              <a:t>) pairs. This is the known plaintext. Place these in a table</a:t>
            </a:r>
          </a:p>
          <a:p>
            <a:pPr>
              <a:defRPr/>
            </a:pPr>
            <a:r>
              <a:rPr lang="en-US" dirty="0" smtClean="0"/>
              <a:t>(Table 1) sorted on the values of </a:t>
            </a:r>
            <a:r>
              <a:rPr lang="en-US" i="1" dirty="0" smtClean="0"/>
              <a:t>P</a:t>
            </a:r>
            <a:r>
              <a:rPr lang="en-US" dirty="0" smtClean="0"/>
              <a:t>  (</a:t>
            </a:r>
            <a:r>
              <a:rPr lang="en-US" dirty="0" smtClean="0"/>
              <a:t>Figure7.2b)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2. Pick an arbitrary value </a:t>
            </a:r>
            <a:r>
              <a:rPr lang="en-US" i="1" dirty="0" smtClean="0"/>
              <a:t>a</a:t>
            </a:r>
            <a:r>
              <a:rPr lang="en-US" dirty="0" smtClean="0"/>
              <a:t> for </a:t>
            </a:r>
            <a:r>
              <a:rPr lang="en-US" i="1" dirty="0" smtClean="0"/>
              <a:t>A</a:t>
            </a:r>
            <a:r>
              <a:rPr lang="en-US" dirty="0" smtClean="0"/>
              <a:t>, and create a second table (Figure 6.2c) with entries</a:t>
            </a:r>
          </a:p>
          <a:p>
            <a:pPr>
              <a:defRPr/>
            </a:pPr>
            <a:r>
              <a:rPr lang="en-US" dirty="0" smtClean="0"/>
              <a:t>defined in the following fashion. For each of the 2</a:t>
            </a:r>
            <a:r>
              <a:rPr lang="en-US" baseline="30000" dirty="0" smtClean="0"/>
              <a:t>56</a:t>
            </a:r>
            <a:r>
              <a:rPr lang="en-US" dirty="0" smtClean="0"/>
              <a:t> possible keys </a:t>
            </a:r>
            <a:r>
              <a:rPr lang="en-US" i="1" dirty="0" smtClean="0"/>
              <a:t>K</a:t>
            </a:r>
            <a:r>
              <a:rPr lang="en-US" i="1" baseline="-25000" dirty="0" smtClean="0"/>
              <a:t>1</a:t>
            </a:r>
            <a:r>
              <a:rPr lang="en-US" i="1" dirty="0" smtClean="0"/>
              <a:t> = i,</a:t>
            </a:r>
          </a:p>
          <a:p>
            <a:pPr>
              <a:defRPr/>
            </a:pPr>
            <a:r>
              <a:rPr lang="en-US" dirty="0" smtClean="0"/>
              <a:t>calculate the plaintext value P</a:t>
            </a:r>
            <a:r>
              <a:rPr lang="en-US" i="1" baseline="-25000" dirty="0" smtClean="0"/>
              <a:t>i </a:t>
            </a:r>
            <a:r>
              <a:rPr lang="en-US" dirty="0" smtClean="0"/>
              <a:t>that produces </a:t>
            </a:r>
            <a:r>
              <a:rPr lang="en-US" i="1" dirty="0" smtClean="0"/>
              <a:t>a:</a:t>
            </a:r>
          </a:p>
          <a:p>
            <a:pPr>
              <a:defRPr/>
            </a:pPr>
            <a:endParaRPr lang="en-US" i="1" dirty="0" smtClean="0"/>
          </a:p>
          <a:p>
            <a:pPr>
              <a:defRPr/>
            </a:pPr>
            <a:r>
              <a:rPr lang="en-US" i="1" dirty="0" smtClean="0"/>
              <a:t>P</a:t>
            </a:r>
            <a:r>
              <a:rPr lang="en-US" i="1" baseline="-25000" dirty="0" smtClean="0"/>
              <a:t>i </a:t>
            </a:r>
            <a:r>
              <a:rPr lang="en-US" i="1" dirty="0" smtClean="0"/>
              <a:t>= </a:t>
            </a:r>
            <a:r>
              <a:rPr lang="en-US" dirty="0" smtClean="0"/>
              <a:t>D</a:t>
            </a:r>
            <a:r>
              <a:rPr lang="en-US" i="1" dirty="0" smtClean="0"/>
              <a:t>(i, a)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For each </a:t>
            </a:r>
            <a:r>
              <a:rPr lang="en-US" i="1" dirty="0" smtClean="0"/>
              <a:t>P</a:t>
            </a:r>
            <a:r>
              <a:rPr lang="en-US" i="1" baseline="-25000" dirty="0" smtClean="0"/>
              <a:t>i  </a:t>
            </a:r>
            <a:r>
              <a:rPr lang="en-US" dirty="0" smtClean="0"/>
              <a:t>that matches an entry in Table 1, create an entry in Table 2 consisting</a:t>
            </a:r>
          </a:p>
          <a:p>
            <a:pPr>
              <a:defRPr/>
            </a:pPr>
            <a:r>
              <a:rPr lang="en-US" dirty="0" smtClean="0"/>
              <a:t>of the </a:t>
            </a:r>
            <a:r>
              <a:rPr lang="en-US" i="1" dirty="0" smtClean="0"/>
              <a:t>K</a:t>
            </a:r>
            <a:r>
              <a:rPr lang="en-US" i="1" baseline="-25000" dirty="0" smtClean="0"/>
              <a:t>1</a:t>
            </a:r>
            <a:r>
              <a:rPr lang="en-US" dirty="0" smtClean="0"/>
              <a:t> value and the value of </a:t>
            </a:r>
            <a:r>
              <a:rPr lang="en-US" i="1" dirty="0" smtClean="0"/>
              <a:t>B</a:t>
            </a:r>
            <a:r>
              <a:rPr lang="en-US" dirty="0" smtClean="0"/>
              <a:t> that is produced for the </a:t>
            </a:r>
            <a:r>
              <a:rPr lang="en-US" i="1" dirty="0" smtClean="0"/>
              <a:t>(P, C) </a:t>
            </a:r>
            <a:r>
              <a:rPr lang="en-US" dirty="0" smtClean="0"/>
              <a:t>pair from</a:t>
            </a:r>
          </a:p>
          <a:p>
            <a:pPr>
              <a:defRPr/>
            </a:pPr>
            <a:r>
              <a:rPr lang="en-US" dirty="0" smtClean="0"/>
              <a:t>Table 1, assuming that value of K</a:t>
            </a:r>
            <a:r>
              <a:rPr lang="en-US" i="1" baseline="-25000" dirty="0" smtClean="0"/>
              <a:t>1</a:t>
            </a:r>
            <a:r>
              <a:rPr lang="en-US" dirty="0" smtClean="0"/>
              <a:t>: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i="1" dirty="0" smtClean="0"/>
              <a:t>B </a:t>
            </a:r>
            <a:r>
              <a:rPr lang="en-US" dirty="0" smtClean="0"/>
              <a:t>= D</a:t>
            </a:r>
            <a:r>
              <a:rPr lang="en-US" i="1" dirty="0" smtClean="0"/>
              <a:t>(i, C)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At the end of this step, sort Table 2 on the values of </a:t>
            </a:r>
            <a:r>
              <a:rPr lang="en-US" i="1" dirty="0" smtClean="0"/>
              <a:t>B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3. We now have a number of candidate values of </a:t>
            </a:r>
            <a:r>
              <a:rPr lang="en-US" i="1" dirty="0" smtClean="0"/>
              <a:t>K</a:t>
            </a:r>
            <a:r>
              <a:rPr lang="en-US" i="1" baseline="-25000" dirty="0" smtClean="0"/>
              <a:t>1</a:t>
            </a:r>
            <a:r>
              <a:rPr lang="en-US" dirty="0" smtClean="0"/>
              <a:t> in Table 2 and are in a position</a:t>
            </a:r>
          </a:p>
          <a:p>
            <a:pPr>
              <a:defRPr/>
            </a:pPr>
            <a:r>
              <a:rPr lang="en-US" dirty="0" smtClean="0"/>
              <a:t>to search for a value of </a:t>
            </a:r>
            <a:r>
              <a:rPr lang="en-US" i="1" dirty="0" smtClean="0"/>
              <a:t>K</a:t>
            </a:r>
            <a:r>
              <a:rPr lang="en-US" i="1" baseline="-25000" dirty="0" smtClean="0"/>
              <a:t>2</a:t>
            </a:r>
            <a:r>
              <a:rPr lang="en-US" dirty="0" smtClean="0"/>
              <a:t>. For each of the 2</a:t>
            </a:r>
            <a:r>
              <a:rPr lang="en-US" baseline="30000" dirty="0" smtClean="0"/>
              <a:t>56</a:t>
            </a:r>
            <a:r>
              <a:rPr lang="en-US" dirty="0" smtClean="0"/>
              <a:t> possible keys </a:t>
            </a:r>
            <a:r>
              <a:rPr lang="en-US" i="1" dirty="0" smtClean="0"/>
              <a:t>K</a:t>
            </a:r>
            <a:r>
              <a:rPr lang="en-US" i="1" baseline="-25000" dirty="0" smtClean="0"/>
              <a:t>2</a:t>
            </a:r>
            <a:r>
              <a:rPr lang="en-US" i="1" dirty="0" smtClean="0"/>
              <a:t> = j</a:t>
            </a:r>
            <a:r>
              <a:rPr lang="en-US" dirty="0" smtClean="0"/>
              <a:t>, calculate</a:t>
            </a:r>
          </a:p>
          <a:p>
            <a:pPr>
              <a:defRPr/>
            </a:pPr>
            <a:r>
              <a:rPr lang="en-US" dirty="0" smtClean="0"/>
              <a:t>the second intermediate value for our chosen value of </a:t>
            </a:r>
            <a:r>
              <a:rPr lang="en-US" i="1" dirty="0" smtClean="0"/>
              <a:t>a</a:t>
            </a:r>
            <a:r>
              <a:rPr lang="en-US" dirty="0" smtClean="0"/>
              <a:t>: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i="1" dirty="0" smtClean="0"/>
              <a:t>B</a:t>
            </a:r>
            <a:r>
              <a:rPr lang="en-US" i="1" baseline="-25000" dirty="0" smtClean="0"/>
              <a:t>j</a:t>
            </a:r>
            <a:r>
              <a:rPr lang="en-US" i="1" dirty="0" smtClean="0"/>
              <a:t> </a:t>
            </a:r>
            <a:r>
              <a:rPr lang="en-US" dirty="0" smtClean="0"/>
              <a:t>= D</a:t>
            </a:r>
            <a:r>
              <a:rPr lang="en-US" i="1" dirty="0" smtClean="0"/>
              <a:t>(j, a)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At each step, look up </a:t>
            </a:r>
            <a:r>
              <a:rPr lang="en-US" i="1" dirty="0" smtClean="0"/>
              <a:t>B</a:t>
            </a:r>
            <a:r>
              <a:rPr lang="en-US" i="1" baseline="-25000" dirty="0" smtClean="0"/>
              <a:t>j </a:t>
            </a:r>
            <a:r>
              <a:rPr lang="en-US" dirty="0" smtClean="0"/>
              <a:t>in Table 2. If there is a match, then the corresponding</a:t>
            </a:r>
          </a:p>
          <a:p>
            <a:pPr>
              <a:defRPr/>
            </a:pPr>
            <a:r>
              <a:rPr lang="en-US" dirty="0" smtClean="0"/>
              <a:t>key</a:t>
            </a:r>
            <a:r>
              <a:rPr lang="en-US" i="1" dirty="0" smtClean="0"/>
              <a:t> i </a:t>
            </a:r>
            <a:r>
              <a:rPr lang="en-US" dirty="0" smtClean="0"/>
              <a:t>from Table 2 plus this value of</a:t>
            </a:r>
            <a:r>
              <a:rPr lang="en-US" i="1" dirty="0" smtClean="0"/>
              <a:t> j </a:t>
            </a:r>
            <a:r>
              <a:rPr lang="en-US" dirty="0" smtClean="0"/>
              <a:t>are candidate values for the unknown</a:t>
            </a:r>
          </a:p>
          <a:p>
            <a:pPr>
              <a:defRPr/>
            </a:pPr>
            <a:r>
              <a:rPr lang="en-US" dirty="0" smtClean="0"/>
              <a:t>keys (</a:t>
            </a:r>
            <a:r>
              <a:rPr lang="en-US" i="1" dirty="0" smtClean="0"/>
              <a:t>K</a:t>
            </a:r>
            <a:r>
              <a:rPr lang="en-US" i="1" baseline="-25000" dirty="0" smtClean="0"/>
              <a:t>1</a:t>
            </a:r>
            <a:r>
              <a:rPr lang="en-US" i="1" dirty="0" smtClean="0"/>
              <a:t>, K</a:t>
            </a:r>
            <a:r>
              <a:rPr lang="en-US" i="1" baseline="-25000" dirty="0" smtClean="0"/>
              <a:t>2</a:t>
            </a:r>
            <a:r>
              <a:rPr lang="en-US" dirty="0" smtClean="0"/>
              <a:t>). Why? Because we have found a pair of keys </a:t>
            </a:r>
            <a:r>
              <a:rPr lang="en-US" i="1" dirty="0" smtClean="0"/>
              <a:t>(i, j</a:t>
            </a:r>
            <a:r>
              <a:rPr lang="en-US" dirty="0" smtClean="0"/>
              <a:t>) that produce a</a:t>
            </a:r>
          </a:p>
          <a:p>
            <a:pPr>
              <a:defRPr/>
            </a:pPr>
            <a:r>
              <a:rPr lang="en-US" dirty="0" smtClean="0"/>
              <a:t>known (</a:t>
            </a:r>
            <a:r>
              <a:rPr lang="en-US" i="1" dirty="0" smtClean="0"/>
              <a:t>P, C</a:t>
            </a:r>
            <a:r>
              <a:rPr lang="en-US" dirty="0" smtClean="0"/>
              <a:t>) pair (Figure</a:t>
            </a:r>
            <a:r>
              <a:rPr lang="en-US" dirty="0" smtClean="0"/>
              <a:t> 7.2a</a:t>
            </a:r>
            <a:r>
              <a:rPr lang="en-US" dirty="0" smtClean="0"/>
              <a:t>).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4. Test each candidate pair of keys (</a:t>
            </a:r>
            <a:r>
              <a:rPr lang="en-US" i="1" dirty="0" smtClean="0"/>
              <a:t>i, j</a:t>
            </a:r>
            <a:r>
              <a:rPr lang="en-US" dirty="0" smtClean="0"/>
              <a:t>) on a few other plaintext–ciphertext</a:t>
            </a:r>
          </a:p>
          <a:p>
            <a:pPr>
              <a:defRPr/>
            </a:pPr>
            <a:r>
              <a:rPr lang="en-US" dirty="0" smtClean="0"/>
              <a:t>pairs. If a pair of keys produces the desired ciphertext, the task is complete. If</a:t>
            </a:r>
          </a:p>
          <a:p>
            <a:pPr>
              <a:defRPr/>
            </a:pPr>
            <a:r>
              <a:rPr lang="en-US" dirty="0" smtClean="0"/>
              <a:t>no pair succeeds, repeat from step 1 with a new value of </a:t>
            </a:r>
            <a:r>
              <a:rPr lang="en-US" i="1" dirty="0" smtClean="0"/>
              <a:t>a</a:t>
            </a:r>
            <a:r>
              <a:rPr lang="en-US" dirty="0" smtClean="0"/>
              <a:t>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 For a given known (</a:t>
            </a:r>
            <a:r>
              <a:rPr lang="en-US" i="1" dirty="0" smtClean="0"/>
              <a:t>P , C </a:t>
            </a:r>
            <a:r>
              <a:rPr lang="en-US" dirty="0" smtClean="0"/>
              <a:t>), the probability of selecting the unique value of </a:t>
            </a:r>
            <a:r>
              <a:rPr lang="en-US" i="1" dirty="0" smtClean="0"/>
              <a:t>a</a:t>
            </a:r>
          </a:p>
          <a:p>
            <a:pPr>
              <a:defRPr/>
            </a:pPr>
            <a:r>
              <a:rPr lang="en-US" dirty="0" smtClean="0"/>
              <a:t> that leads to success is 1/2</a:t>
            </a:r>
            <a:r>
              <a:rPr lang="en-US" baseline="30000" dirty="0" smtClean="0"/>
              <a:t>64</a:t>
            </a:r>
            <a:r>
              <a:rPr lang="en-US" dirty="0" smtClean="0"/>
              <a:t> . Thus, given </a:t>
            </a:r>
            <a:r>
              <a:rPr lang="en-US" i="1" dirty="0" smtClean="0"/>
              <a:t>n  (P , C </a:t>
            </a:r>
            <a:r>
              <a:rPr lang="en-US" dirty="0" smtClean="0"/>
              <a:t>) pairs, the probability of success for</a:t>
            </a:r>
          </a:p>
          <a:p>
            <a:pPr>
              <a:defRPr/>
            </a:pPr>
            <a:r>
              <a:rPr lang="en-US" dirty="0" smtClean="0"/>
              <a:t>a single selected value of </a:t>
            </a:r>
            <a:r>
              <a:rPr lang="en-US" i="1" dirty="0" smtClean="0"/>
              <a:t>a</a:t>
            </a:r>
            <a:r>
              <a:rPr lang="en-US" dirty="0" smtClean="0"/>
              <a:t>  is </a:t>
            </a:r>
            <a:r>
              <a:rPr lang="en-US" i="1" dirty="0" smtClean="0"/>
              <a:t>n</a:t>
            </a:r>
            <a:r>
              <a:rPr lang="en-US" dirty="0" smtClean="0"/>
              <a:t> /2</a:t>
            </a:r>
            <a:r>
              <a:rPr lang="en-US" baseline="30000" dirty="0" smtClean="0"/>
              <a:t>64 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60F62B-9800-6C42-98CB-BF35256CC925}" type="slidenum">
              <a:rPr lang="en-AU" smtClean="0">
                <a:latin typeface="Arial" pitchFamily="-84" charset="0"/>
              </a:rPr>
              <a:pPr/>
              <a:t>7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the attacks just described appear impractical, anyone using two-key 3DES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may feel some concern. Thus, many researchers now feel that three-key 3DES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preferred alternative (e.g., [KALI96a]). Three-key 3DES has an effective key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length of 168 bits and is defined as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E(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D(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E(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 P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)))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Backward compatibility with DES is provided by putting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sz="1400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K</a:t>
            </a:r>
            <a:r>
              <a:rPr lang="en-US" sz="1400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or K</a:t>
            </a:r>
            <a:r>
              <a:rPr lang="en-US" sz="1400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K</a:t>
            </a:r>
            <a:r>
              <a:rPr lang="en-US" sz="1400" i="1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</a:p>
          <a:p>
            <a:endParaRPr lang="en-US" b="1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number of Internet-based applications have adopted three-key 3DES, including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PGP and S/MIME, both discussed in Chapter 19.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1E1BE9-2DB0-9443-A29F-B27DFB5E21C0}" type="slidenum">
              <a:rPr lang="en-AU" smtClean="0">
                <a:latin typeface="Arial" pitchFamily="-84" charset="0"/>
              </a:rPr>
              <a:pPr/>
              <a:t>8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72F409-F23D-5F4E-81D9-1B454B56C927}" type="slidenum">
              <a:rPr lang="en-AU">
                <a:latin typeface="Arial" pitchFamily="-84" charset="0"/>
              </a:rPr>
              <a:pPr/>
              <a:t>9</a:t>
            </a:fld>
            <a:endParaRPr lang="en-AU">
              <a:latin typeface="Arial" pitchFamily="-84" charset="0"/>
            </a:endParaRPr>
          </a:p>
        </p:txBody>
      </p:sp>
      <p:sp>
        <p:nvSpPr>
          <p:cNvPr id="358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block cipher takes a fixed-length block of text of length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and a key as input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produces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 of ciphertext. If the amount of plaintext to be encrypted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greater than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 then the block cipher can still be used by breaking the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up into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blocks. When multiple blocks of plaintext are encrypted using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same key, a number of security issues arise. To apply a block cipher in a variety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applications, five modes of operation  have been defined by NIST (SP 800-38A).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essence, a mode of operation is a technique for enhancing the effect of a cryptographic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 or adapting the algorithm for an application, such as applying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block cipher to a sequence of data blocks or a data stream. The five modes are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intended to cover a wide variety of applications of encryption for which a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could be used. These modes are intended for use with any symmetric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cipher, including triple DES and AES.</a:t>
            </a:r>
            <a:endParaRPr lang="en-AU" dirty="0" smtClean="0">
              <a:latin typeface="Times-Roman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modes are summarized in Table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7.1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described in this and the following sections.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4DA7A-72C1-AF4C-A5E0-570FD844E82A}" type="slidenum">
              <a:rPr lang="en-AU" smtClean="0">
                <a:latin typeface="Arial" pitchFamily="-84" charset="0"/>
              </a:rPr>
              <a:pPr/>
              <a:t>10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D560C3-1BC1-9F41-B0DE-6AFA2BDA5545}" type="slidenum">
              <a:rPr lang="en-AU">
                <a:latin typeface="Arial" pitchFamily="-84" charset="0"/>
              </a:rPr>
              <a:pPr/>
              <a:t>11</a:t>
            </a:fld>
            <a:endParaRPr lang="en-AU">
              <a:latin typeface="Arial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simplest mode is the electronic codebook  (ECB ) mode, in which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handled one block at a time and each block of plaintext is encrypted using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same key 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 The term codebook  is used because, for a given key, there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unique ciphertext for every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 of plaintext. Therefore, we can imagine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gigantic codebook in which there is an entry for every possible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plaintext pattern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showing its corresponding ciphertext.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For a message longer than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 the procedure is simply to break the message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into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blocks, padding the last block if necessary. Decryption is performed one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at a time, always using the same key.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7.3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the plaintext (padded 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necessary) consists of a sequence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blocks, P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P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. . . , P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; the corresponding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sequence of ciphertext blocks is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. . . ,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We can define ECB mode 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follows.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ECB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baseline="-25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E(K,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Pj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1, . . . , 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baseline="-25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D(K,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Cj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1, . . . , N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ECB method is ideal for a short amount of data, such as an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key. Thus, if you want to transmit a DES or AES key securely, ECB is the appropriate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 to use.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most significant characteristic of ECB is that if the same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plaintext appears more than once in the message, it always produces the same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lengthy messages, the ECB mode may not be secure. If the message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highly structured, it may be possible for a cryptanalyst to exploit these regularities.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example, if it is known that the message always starts out with certain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predefined fields, then the cryptanalyst may have a number of known plaintext–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 pairs to work with. If the message has repetitive elements with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period of repetition a multiple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 then these elements can be identified by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analyst. This may help in the analysis or may provide an opportunity for substituting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or rearranging blocks.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b="0" dirty="0" smtClean="0"/>
              <a:t>We now turn to more complex modes of operation. [KNUD00] lists the following</a:t>
            </a:r>
          </a:p>
          <a:p>
            <a:pPr>
              <a:defRPr/>
            </a:pPr>
            <a:r>
              <a:rPr lang="en-US" b="0" dirty="0" smtClean="0"/>
              <a:t>criteria and properties for evaluating and constructing block cipher modes of</a:t>
            </a:r>
          </a:p>
          <a:p>
            <a:pPr>
              <a:defRPr/>
            </a:pPr>
            <a:r>
              <a:rPr lang="en-US" b="0" dirty="0" smtClean="0"/>
              <a:t>operation that are superior to ECB:</a:t>
            </a:r>
          </a:p>
          <a:p>
            <a:pPr>
              <a:defRPr/>
            </a:pPr>
            <a:endParaRPr lang="en-US" b="0" dirty="0" smtClean="0"/>
          </a:p>
          <a:p>
            <a:pPr>
              <a:defRPr/>
            </a:pPr>
            <a:r>
              <a:rPr lang="en-US" b="0" dirty="0" smtClean="0"/>
              <a:t>• Overhead:  The additional operations for the encryption and decryption</a:t>
            </a:r>
          </a:p>
          <a:p>
            <a:pPr>
              <a:defRPr/>
            </a:pPr>
            <a:r>
              <a:rPr lang="en-US" b="0" dirty="0" smtClean="0"/>
              <a:t>operation when compared to encrypting and decrypting in the ECB mode.</a:t>
            </a:r>
          </a:p>
          <a:p>
            <a:pPr>
              <a:defRPr/>
            </a:pPr>
            <a:endParaRPr lang="en-US" b="0" dirty="0" smtClean="0"/>
          </a:p>
          <a:p>
            <a:pPr>
              <a:defRPr/>
            </a:pPr>
            <a:r>
              <a:rPr lang="en-US" b="0" dirty="0" smtClean="0"/>
              <a:t>• Error recovery:  The property that an error in the</a:t>
            </a:r>
            <a:r>
              <a:rPr lang="en-US" b="0" i="1" dirty="0" smtClean="0"/>
              <a:t> </a:t>
            </a:r>
            <a:r>
              <a:rPr lang="en-US" b="0" dirty="0" smtClean="0"/>
              <a:t>i th ciphertext block is inherited</a:t>
            </a:r>
          </a:p>
          <a:p>
            <a:pPr>
              <a:defRPr/>
            </a:pPr>
            <a:r>
              <a:rPr lang="en-US" b="0" dirty="0" smtClean="0"/>
              <a:t>by only a few plaintext blocks after which the mode resynchronizes.</a:t>
            </a:r>
          </a:p>
          <a:p>
            <a:pPr>
              <a:defRPr/>
            </a:pPr>
            <a:endParaRPr lang="en-US" b="0" dirty="0" smtClean="0"/>
          </a:p>
          <a:p>
            <a:pPr>
              <a:defRPr/>
            </a:pPr>
            <a:r>
              <a:rPr lang="en-US" b="0" dirty="0" smtClean="0"/>
              <a:t>• Error propagation:  The property that an error in the i th ciphertext block is</a:t>
            </a:r>
          </a:p>
          <a:p>
            <a:pPr>
              <a:defRPr/>
            </a:pPr>
            <a:r>
              <a:rPr lang="en-US" b="0" dirty="0" smtClean="0"/>
              <a:t>inherited by the i th and all subsequent plaintext blocks. What is meant here is</a:t>
            </a:r>
          </a:p>
          <a:p>
            <a:pPr>
              <a:defRPr/>
            </a:pPr>
            <a:r>
              <a:rPr lang="en-US" b="0" dirty="0" smtClean="0"/>
              <a:t>a bit error that occurs in the transmission of a ciphertext block, not a computational</a:t>
            </a:r>
          </a:p>
          <a:p>
            <a:pPr>
              <a:defRPr/>
            </a:pPr>
            <a:r>
              <a:rPr lang="en-US" b="0" dirty="0" smtClean="0"/>
              <a:t>error in the encryption of a plaintext block.</a:t>
            </a:r>
          </a:p>
          <a:p>
            <a:pPr>
              <a:defRPr/>
            </a:pPr>
            <a:endParaRPr lang="en-US" b="0" dirty="0" smtClean="0"/>
          </a:p>
          <a:p>
            <a:pPr>
              <a:defRPr/>
            </a:pPr>
            <a:r>
              <a:rPr lang="en-US" b="0" dirty="0" smtClean="0"/>
              <a:t>• Diffusion:  How the plaintext statistics are reflected in the ciphertext. Low</a:t>
            </a:r>
          </a:p>
          <a:p>
            <a:pPr>
              <a:defRPr/>
            </a:pPr>
            <a:r>
              <a:rPr lang="en-US" b="0" dirty="0" smtClean="0"/>
              <a:t>entropy plaintext blocks should not be reflected in the ciphertext blocks.</a:t>
            </a:r>
          </a:p>
          <a:p>
            <a:pPr>
              <a:defRPr/>
            </a:pPr>
            <a:r>
              <a:rPr lang="en-US" b="0" dirty="0" smtClean="0"/>
              <a:t>Roughly, low entropy equates to predictability or lack of randomness (see</a:t>
            </a:r>
          </a:p>
          <a:p>
            <a:pPr>
              <a:defRPr/>
            </a:pPr>
            <a:r>
              <a:rPr lang="en-US" b="0" dirty="0" smtClean="0"/>
              <a:t>Appendix F).</a:t>
            </a:r>
          </a:p>
          <a:p>
            <a:pPr>
              <a:defRPr/>
            </a:pPr>
            <a:endParaRPr lang="en-US" b="0" dirty="0" smtClean="0"/>
          </a:p>
          <a:p>
            <a:pPr>
              <a:defRPr/>
            </a:pPr>
            <a:r>
              <a:rPr lang="en-US" b="0" dirty="0" smtClean="0"/>
              <a:t>• Security:  Whether or not the ciphertext blocks leak information about the</a:t>
            </a:r>
          </a:p>
          <a:p>
            <a:pPr>
              <a:defRPr/>
            </a:pPr>
            <a:r>
              <a:rPr lang="en-US" b="0" dirty="0" smtClean="0"/>
              <a:t>plaintext blocks.</a:t>
            </a:r>
            <a:endParaRPr lang="en-US" b="0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9A0F7E-D632-054D-B9F1-E5498BFF6CE6}" type="slidenum">
              <a:rPr lang="en-AU" smtClean="0">
                <a:latin typeface="Arial" pitchFamily="-84" charset="0"/>
              </a:rPr>
              <a:pPr/>
              <a:t>12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5BADCD-40B0-4943-A8D6-6BC32A70B22D}" type="slidenum">
              <a:rPr lang="en-AU">
                <a:latin typeface="Arial" pitchFamily="-84" charset="0"/>
              </a:rPr>
              <a:pPr/>
              <a:t>13</a:t>
            </a:fld>
            <a:endParaRPr lang="en-AU">
              <a:latin typeface="Arial" pitchFamily="-8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overcome the security deficiencies of ECB, we would like a technique in which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same plaintext block, if repeated, produces different ciphertext blocks.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simple way to satisfy this requirement is the cipher block chaining  (CBC ) mode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7.4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 In this scheme, the input to the encryption algorithm is the XOR of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current plaintext block and the preceding ciphertext block; the same key is used for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each block. In effect, we have chained together the processing of the sequence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plaintext blocks. The input to the encryption function for each plaintext block bears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 fixed relationship to the plaintext block. Therefore, repeating patterns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not exposed. As with the ECB mode, the CBC mode requires that the last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 padded to a full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if it is a partial block.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decryption, each cipher block is passed through the decryption algorithm.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result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preceding ciphertext block to produce the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produce the first block of ciphertext, an initialization vector (IV)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the first block of plaintext. On decryption, the IV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output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decryption algorithm to recover the first block of plaintext. The IV is a data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that is the same size as the cipher block.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IV must be known to both the sender and receiver but be unpredictable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a third party. In particular, for any given plaintext, it must not be possible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predict the IV that will be associated to the plaintext in advance of the generation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IV. For maximum security, the IV should be protected against unauthorized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changes. This could be done by sending the IV using ECB encryption. One reason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protecting the IV is as follows: If an opponent is able to fool the receiver into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a different value for IV, then the opponent is able to invert selected bits in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block of plaintext.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So long as it is unpredictable, the specific choice of IV is unimportant.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SP800-38A recommends two possible methods: The first method is to apply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encryption function, under the same key that is used for the encryption of the plaintext,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a nonce .  The nonce must be a data block that is unique to each execution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encryption operation. For example, the nonce may be a counter, a timestamp, 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message number. The second method is to generate a random data block using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random number generator.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conclusion, because of the chaining mechanism of CBC, it is an appropriate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 for encrypting messages of length greater than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addition to its use to achieve confidentiality, the CBC mode can be used for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authentication. This use is described in Chapter 12.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AES, DES, or any block cipher, encryption is performed on a block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bits.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case of DES,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64 and in the case of AES,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128. However, it is possible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convert a block cipher into a stream cipher, using one of the three modes to be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discussed in this and the next two sections: cipher feedback  (CFB) mode, output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feedback  (OFB) mode, and counter  (CTR) mode. A stream cipher eliminates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need to pad a message to be an integral number of blocks. It also can operate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real time. Thus, if a character stream is being transmitted, each character can be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encrypted and transmitted immediately using a character-oriented stream cipher.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desirable property of a stream cipher is that the ciphertext be of the same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length as the plaintext. Thus, if 8-bit characters are being transmitted, each character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should be encrypted to produce a ciphertext output of 8 bits. If more than 8 bits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produced, transmission capacity is wasted.</a:t>
            </a: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E262A1-A75C-1D4B-83F3-37F18A3B635E}" type="slidenum">
              <a:rPr lang="en-AU" smtClean="0">
                <a:latin typeface="Arial" pitchFamily="-84" charset="0"/>
              </a:rPr>
              <a:pPr/>
              <a:t>14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B7D299-6A89-A044-B96D-D64C68644C90}" type="slidenum">
              <a:rPr lang="en-AU">
                <a:latin typeface="Arial" pitchFamily="-84" charset="0"/>
              </a:rPr>
              <a:pPr/>
              <a:t>15</a:t>
            </a:fld>
            <a:endParaRPr lang="en-AU">
              <a:latin typeface="Arial" pitchFamily="-8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7.5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depicts the CFB scheme. In the figure, it is assumed that the unit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transmission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bits; a common value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8. As with CBC, the units of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chained together, so that the ciphertext of any plaintext unit is a function of all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preceding plaintext. In this case, rather than blocks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 the plaintext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divided into segments 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First, consider encryption. The input to the encryption function is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shift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register that is initially set to some initialization vector (IV). The leftmost (most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significant)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of the output of the encryption function are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segment of plaintext P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to produce the first unit of ciphertext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which is then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transmitted. In addition, the contents of the shift register are shifted left by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placed in the rightmost (least significant)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of the shift register. This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process continues until all plaintext units have been encrypted.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decryption, the same scheme is used, except that the received ciphertext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unit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output of the encryption function to produce the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unit. Note that it is the encryption  function that is used, not the decryption function.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CFB can be viewed as a stream cipher, it does not conform to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typical construction of a stream cipher. In a typical stream cipher, the cipher takes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input some initial value and a key and generates a stream of bits, which is then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plaintext bits (see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4.1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 In the case of CFB, the stream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that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plaintext also depends on the plaintext.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CFB encryption, like CBC encryption, the input block to each forward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function (except the first) depends on the result of the previous forward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function; therefore, multiple forward cipher operations cannot be performed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parallel. In CFB decryption, the required forward cipher operations can be performed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parallel if the input blocks are first constructed (in series) from the IV 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ciphertext.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84A11-D313-4048-98E1-5F3A82032797}" type="slidenum">
              <a:rPr lang="en-AU">
                <a:latin typeface="Arial" pitchFamily="-84" charset="0"/>
              </a:rPr>
              <a:pPr/>
              <a:t>16</a:t>
            </a:fld>
            <a:endParaRPr lang="en-AU">
              <a:latin typeface="Arial" pitchFamily="-8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output feedback  (OFB) mode is similar in structure to that of CFB. For OFB,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output of the encryption function is fed back to become the input for encrypting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next block of plaintext (Figure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7.6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 In CFB, the output of the XOR unit is fed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back to become input for encrypting the next block. The other difference is that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OFB mode operates on full blocks of plaintext and ciphertext, whereas CFB operates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an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subset.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with CBC and CFB, the OFB mode requires an initialization vector.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case of OFB, the IV must be a nonce; that is, the IV must be unique to each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execution of the encryption operation. The reason for this is that the sequence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encryption output blocks,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</a:t>
            </a:r>
            <a:r>
              <a:rPr lang="en-US" baseline="-25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depends only on the key and the IV and does not depend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the plaintext. Therefore, for a given key and IV, the stream of output bits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used to XOR with the stream of plaintext bits is fixed. If two different messages had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 identical block of plaintext in the identical position, then an attacker would be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able to determine that portion of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</a:t>
            </a:r>
            <a:r>
              <a:rPr lang="en-US" baseline="-25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stream.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advantage of the OFB method is that bit errors in transmission do not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propagate. For example, if a bit error occurs in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only the recovered value of P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affected; subsequent plaintext units are not corrupted. With CFB, C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also serves as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input to the shift register and therefore causes additional corruption downstream.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disadvantage of OFB is that it is more vulnerable to a message stream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modification attack than is CFB. Consider that complementing a bit in the ciphertext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complements the corresponding bit in the recovered plaintext. Thus, controlled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changes to the recovered plaintext can be made. This may make it possible for an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opponent, by making the necessary changes to the checksum portion of the message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well as to the data portion, to alter the ciphertext in such a way that it is not detected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an error-correcting code. For a further discussion, see [VOYD83].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OFB has the structure of a typical stream cipher, because the cipher generates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stream of bits as a function of an initial value and a key, and that stream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is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plaintext bits (see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4.1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). The generated stream that is</a:t>
            </a:r>
          </a:p>
          <a:p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plaintext is itself independent of the plaintext; this is highlighted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dashed boxes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7.6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One distinction from the stream ciphers we discuss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8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that OFB encrypts plaintext a full block at a time, where typically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is 64 or 128 bits. Many stream ciphers encrypt one byte at a time.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9C05F5-00ED-0346-BDE6-91FAB24304DA}" type="slidenum">
              <a:rPr lang="en-AU">
                <a:latin typeface="Arial" pitchFamily="-84" charset="0"/>
              </a:rPr>
              <a:pPr/>
              <a:t>17</a:t>
            </a:fld>
            <a:endParaRPr lang="en-AU">
              <a:latin typeface="Arial" pitchFamily="-8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interest in the counter  (CTR) mode has increased recently with applications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ATM (asynchronous transfer mode) network security and IP sec (IP security),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mode was proposed early on (e.g., [DIFF79]).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7.7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depicts the CTR mode. A counter equal to the plaintext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size is used. The only requirement stated in SP 800-38A is that the counter value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must be different for each plaintext block that is encrypted. Typically, the counter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initialized to some value and then incremented by 1 for each subsequent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(modulo 2</a:t>
            </a:r>
            <a:r>
              <a:rPr lang="en-US" baseline="30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where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the block size). For encryption, the counter is encrypted and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then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the plaintext block to produce the ciphertext block; there is no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chaining. For decryption, the same sequence of counter values is used, with each encrypted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with a ciphertext block to recover the corresponding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block. Thus, the initial counter value must be made available for decryption.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with the OFB mode, the initial counter value must be a nonce; that is, T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must be different for all of the messages encrypted using the same key. Further,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all T</a:t>
            </a:r>
            <a:r>
              <a:rPr lang="en-US" baseline="-2500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values across all messages must be unique. If, contrary to this requirement, a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value is used multiple times, then the confidentiality of all of the plaintext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blocks corresponding to that counter value may be compromised. In particular, if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any plaintext block that is encrypted using a given counter value is known, then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output of the encryption function can be determined easily from the associated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 block. This output allows any other plaintext blocks that are encrypted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the same counter value to be easily recovered from their associated ciphertext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blocks.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way to ensure the uniqueness of counter values is to continue to increment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counter value by 1 across messages. That is, the first counter value of the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each message is one more than the last counter value of the preceding message.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6AD6C2-D0B3-5A40-887C-212A744B9F58}" type="slidenum">
              <a:rPr lang="en-AU">
                <a:latin typeface="Arial" pitchFamily="-84" charset="0"/>
              </a:rPr>
              <a:pPr/>
              <a:t>18</a:t>
            </a:fld>
            <a:endParaRPr lang="en-AU">
              <a:latin typeface="Arial" pitchFamily="-8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[LIPM00] lists the following advantages of CTR mode.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Hardware efficiency: Unlike the three chaining modes, encryption (or decryption)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CTR mode can be done in parallel on multiple blocks of plaintext or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ciphertext. For the chaining modes, the algorithm must complete the computation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one block before beginning on the next block. This limits the maximum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throughput of the algorithm to the reciprocal of the time for one execution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encryption or decryption. In CTR mode, the throughput is only limited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the amount of parallelism that is achieved.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Software efficiency: Similarly, because of the opportunities for parallel execution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CTR mode, processors that support parallel features, such as aggressive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pipelining, multiple instruction dispatch per clock cycle, a large number of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registers, and SIMD instructions, can be effectively utilized.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Preprocessing: The execution of the underlying encryption algorithm does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not depend on input of the plaintext or ciphertext. Therefore, if sufficient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memory is available and security is maintained, preprocessing can be used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prepare the output of the encryption boxes that feed into the XOR functions,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7.7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When the plaintext or ciphertext input is presented, then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only computation is a series of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Such a strategy greatly enhances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throughput.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Random access: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ith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block of plaintext or ciphertext can be processed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random-access fashion. With the chaining modes, block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baseline="-25000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cannot be computed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until the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- 1 prior block are computed. There may be applications in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which a ciphertext is stored and it is desired to decrypt just one block; for such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applications, the random access feature is attractive.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Provable security: It can be shown that CTR is at least as secure as the other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modes discussed in this section.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• Simplicity: Unlike ECB and CBC modes, CTR mode requires only the implementation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encryption algorithm and not the decryption algorithm.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matters most when the decryption algorithm differs substantially from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encryption algorithm, as it does for AES. In addition, the decryption key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scheduling need not be implemented.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8D2938-7B65-D742-9CA2-55F207A148F0}" type="slidenum">
              <a:rPr lang="en-AU">
                <a:latin typeface="Arial" pitchFamily="-84" charset="0"/>
              </a:rPr>
              <a:pPr/>
              <a:t>19</a:t>
            </a:fld>
            <a:endParaRPr lang="en-AU">
              <a:latin typeface="Arial" pitchFamily="-8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Note that, with the exception of ECB, all of the NIST-approved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modes of operation involve feedback. This is clearly seen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7.8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To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highlight the feedback mechanism, it is useful to think of the encryption function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taking input from a input register whose length equals the encryption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length and with output stored in an output register. The input register is updated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block at a time by the feedback mechanism. After each update, the encryption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algorithm is executed, producing a result in the output register. Meanwhile,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block of plaintext is accessed. Note that both OFB and CTR produce output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is independent of both the plaintext and the ciphertext. Thus, they are natural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candidates for stream ciphers that encrypt plaintext by XOR one full block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at a time.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4DE1DC-D3CA-C74A-B857-832FA00E8F1D}" type="slidenum">
              <a:rPr lang="en-AU">
                <a:latin typeface="Arial" pitchFamily="-84" charset="0"/>
              </a:rPr>
              <a:pPr/>
              <a:t>20</a:t>
            </a:fld>
            <a:endParaRPr lang="en-AU">
              <a:latin typeface="Arial" pitchFamily="-8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 2010, NIST approved an additional block cipher mode of operation, XTS-AES.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mode is also an IEEE standard, IEEE Std 1619-2007, which was developed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the IEEE Security in Storage Working Group (P1619). The standard describes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method of encryption for data stored in sector-based devices where the threat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model includes possible access to stored data by the adversary. The standard has</a:t>
            </a:r>
          </a:p>
          <a:p>
            <a:r>
              <a:rPr lang="en-US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received widespread industry support.</a:t>
            </a: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XTS-AES mode is based on the concept of a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tweakable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block cipher , introduced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[LISK02], which functions in much the same manner as a salt used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passwords, as described in Chapter 22. The form of this concept used in XTS-AES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was first described in [ROGA04].</a:t>
            </a: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Before examining XTS-AES, let us consider the general structure of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tweakable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cipher. A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tweakable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block cipher is one that has three inputs: a plaintext P ,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symmetric key K , and a tweak T ; and produces a ciphertext output C . We can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write this as C =  E(K , T , P ). The tweak need not be kept secret. Whereas the purpose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key is to provide security, the purpose of the tweak is to provide variability.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is, the use of different tweaks with the same plaintext and same key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produces different outputs.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716256-34F0-2545-A0AA-4766A5E81DFA}" type="slidenum">
              <a:rPr lang="en-AU" smtClean="0">
                <a:latin typeface="Arial" pitchFamily="-84" charset="0"/>
              </a:rPr>
              <a:pPr/>
              <a:t>21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209FAD-895E-FC44-8D65-9503197CB2CC}" type="slidenum">
              <a:rPr lang="en-AU">
                <a:latin typeface="Arial" pitchFamily="-84" charset="0"/>
              </a:rPr>
              <a:pPr/>
              <a:t>22</a:t>
            </a:fld>
            <a:endParaRPr lang="en-AU">
              <a:latin typeface="Arial" pitchFamily="-8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basic structure of several </a:t>
            </a:r>
            <a:r>
              <a:rPr lang="en-US" dirty="0" err="1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tweakable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clock ciphers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have been implemented is shown in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7.9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requirements for encrypting stored data, also referred to as “data at rest” differ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somewhat from those for transmitted data. The P1619 standard was designed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have the following characteristics: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ciphertext is freely available for an attacker. Among the circumstances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lead to this situation: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a.  A group of users has authorized access to a database. Some of the records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database are encrypted so that only specific users can successfully read/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write them. Other users can retrieve an encrypted record but are unable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read it without the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 An unauthorized user manages to gain access to encrypted records.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.  A data disk or laptop is stolen, giving the adversary access to the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data layout is not changed on the storage medium and in transit. The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data must be the same size as the plaintext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 Data are accessed in fixed sized blocks, independently from each other. That is,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authorized user may access one or more blocks in any order.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4.  Encryption is performed in 16-byte blocks, independently from other blocks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(except the last two plaintext blocks of a sector, if its size is not a multiple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16 bytes).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5.  There are no other metadata used, except the location of the data blocks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within the whole data set.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6.  The same plaintext is encrypted to different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at different locations,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but always to the same ciphertext when written to the same location again.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7.  A standard conformant device can be constructed for decryption of data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another standard conformant device.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P1619 group considered some of the existing modes of operation for use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stored data. For CTR mode, an adversary with write access to the encrypted media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flip any bit of the plaintext simply by flipping the corresponding ciphertext bit.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Next, consider requirement 6 and the use of CBC. To enforce the requirement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the same plaintext encrypts to different ciphertext in different locations, the IV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be derived from the sector number. Each sector contains multiple blocks.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adversary with read/write access to the encrypted disk can copy a ciphertext sector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one position to another, and an application reading the sector off the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location will still get the same plaintext sector (except perhaps the first 128 bits).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example, this means that an adversary that is allowed to read a sector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second position but not the first can find the content of the sector in the first position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manipulating the ciphertext. Another weakness is that an adversary can flip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any bit of the plaintext by flipping the corresponding ciphertext bit of the previous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block, with the side-effect of “randomizing” the previous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15F0C9-7D18-5647-BB4F-F516422E2DBB}" type="slidenum">
              <a:rPr lang="en-AU">
                <a:latin typeface="Arial" pitchFamily="-84" charset="0"/>
              </a:rPr>
              <a:pPr/>
              <a:t>24</a:t>
            </a:fld>
            <a:endParaRPr lang="en-AU">
              <a:latin typeface="Arial" pitchFamily="-8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7.10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shows the encryption and decryption of a single block. The operation involves</a:t>
            </a:r>
          </a:p>
          <a:p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two instances of the AES algorithm with two keys.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dirty="0" smtClean="0"/>
              <a:t>The plaintext of a sector or data unit is organized into blocks of 128 bits. Blocks are</a:t>
            </a:r>
          </a:p>
          <a:p>
            <a:pPr>
              <a:defRPr/>
            </a:pPr>
            <a:r>
              <a:rPr lang="en-US" dirty="0" smtClean="0"/>
              <a:t>labeled P</a:t>
            </a:r>
            <a:r>
              <a:rPr lang="en-US" baseline="-25000" dirty="0" smtClean="0"/>
              <a:t>0</a:t>
            </a:r>
            <a:r>
              <a:rPr lang="en-US" dirty="0" smtClean="0"/>
              <a:t> , P</a:t>
            </a:r>
            <a:r>
              <a:rPr lang="en-US" baseline="-25000" dirty="0" smtClean="0"/>
              <a:t>1 </a:t>
            </a:r>
            <a:r>
              <a:rPr lang="en-US" dirty="0" smtClean="0"/>
              <a:t>, . . .  , P</a:t>
            </a:r>
            <a:r>
              <a:rPr lang="en-US" baseline="-25000" dirty="0" smtClean="0"/>
              <a:t>m</a:t>
            </a:r>
            <a:r>
              <a:rPr lang="en-US" dirty="0" smtClean="0"/>
              <a:t> . The last block my be null or may contain from 1 to 127 bits.</a:t>
            </a:r>
          </a:p>
          <a:p>
            <a:pPr>
              <a:defRPr/>
            </a:pPr>
            <a:r>
              <a:rPr lang="en-US" dirty="0" smtClean="0"/>
              <a:t>In other words, the input to the XTS-AES algorithm consists of m  128-bit blocks</a:t>
            </a:r>
          </a:p>
          <a:p>
            <a:pPr>
              <a:defRPr/>
            </a:pPr>
            <a:r>
              <a:rPr lang="en-US" dirty="0" smtClean="0"/>
              <a:t>and possibly a final partial block.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 As can be seen, XTS-AES mode, like CTR mode, is suitable for parallel operation.</a:t>
            </a:r>
          </a:p>
          <a:p>
            <a:pPr>
              <a:defRPr/>
            </a:pPr>
            <a:r>
              <a:rPr lang="en-US" dirty="0" smtClean="0"/>
              <a:t>Because there is no chaining, multiple blocks can be encrypted or decrypted</a:t>
            </a:r>
          </a:p>
          <a:p>
            <a:pPr>
              <a:defRPr/>
            </a:pPr>
            <a:r>
              <a:rPr lang="en-US" dirty="0" smtClean="0"/>
              <a:t>simultaneously. Unlike CTR mode, XTS-AES mode includes a nonce (the parameter</a:t>
            </a:r>
          </a:p>
          <a:p>
            <a:pPr>
              <a:defRPr/>
            </a:pPr>
            <a:r>
              <a:rPr lang="en-US" dirty="0" smtClean="0"/>
              <a:t>i ) as well as a counter (parameter j ).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For encryption and decryption, each block is treated independently and</a:t>
            </a:r>
          </a:p>
          <a:p>
            <a:pPr>
              <a:defRPr/>
            </a:pPr>
            <a:r>
              <a:rPr lang="en-US" dirty="0" smtClean="0"/>
              <a:t>encrypted/decrypted as shown in Figure</a:t>
            </a:r>
            <a:r>
              <a:rPr lang="en-US" dirty="0" smtClean="0"/>
              <a:t> 7.10</a:t>
            </a:r>
            <a:r>
              <a:rPr lang="en-US" dirty="0" smtClean="0"/>
              <a:t>. The only exception occurs when</a:t>
            </a:r>
          </a:p>
          <a:p>
            <a:pPr>
              <a:defRPr/>
            </a:pPr>
            <a:r>
              <a:rPr lang="en-US" dirty="0" smtClean="0"/>
              <a:t>the last block has less than 128 bits. In that case, the last two blocks are encrypted/</a:t>
            </a:r>
          </a:p>
          <a:p>
            <a:pPr>
              <a:defRPr/>
            </a:pPr>
            <a:r>
              <a:rPr lang="en-US" dirty="0" smtClean="0"/>
              <a:t>decrypted using a ciphertext-stealing  technique instead of padding.</a:t>
            </a:r>
          </a:p>
          <a:p>
            <a:pPr>
              <a:defRPr/>
            </a:pPr>
            <a:r>
              <a:rPr lang="en-US" dirty="0" smtClean="0"/>
              <a:t>Figure</a:t>
            </a:r>
            <a:r>
              <a:rPr lang="en-US" dirty="0" smtClean="0"/>
              <a:t> 7.11 </a:t>
            </a:r>
            <a:r>
              <a:rPr lang="en-US" dirty="0" smtClean="0"/>
              <a:t>shows the scheme.</a:t>
            </a:r>
            <a:endParaRPr lang="en-US" dirty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45595F-7135-2A4A-B860-5475D590E484}" type="slidenum">
              <a:rPr lang="en-AU" smtClean="0">
                <a:latin typeface="Arial" pitchFamily="-84" charset="0"/>
              </a:rPr>
              <a:pPr/>
              <a:t>25</a:t>
            </a:fld>
            <a:endParaRPr lang="en-AU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Format-preserving encryption (FPE) refers to any encryption technique that takes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plaintext in a given format and produces a ciphertext in the same format.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example, credit cards consist of 16 decimal digits. An FPE that can accept this type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input would produce a ciphertext output of 16 decimal digits. Note that the ciphertext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need not be, and in fact is unlikely to be, a valid credit card number. But it will 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same format and can be stored in the same way as credit card number plaintext.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26</a:t>
            </a:fld>
            <a:endParaRPr lang="en-A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simple encryption algorithm is not format preserving, with the exception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it preserves the format of binary strings. For example, Table 7.2 shows three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types of plaintext for which it might be desired to perform FPE. The third row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shows examples of what might be generated by an FPE algorithm. The fourth row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shows (in hexadecimal) what is produced by AES with a given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27</a:t>
            </a:fld>
            <a:endParaRPr lang="en-A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FPE facilitates the retrofitting of encryption technology to legacy applications,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where a conventional encryption mode might not be feasible because it would disrupt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data fields/pathways. FPE has emerged as a useful cryptographic tool, whose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applications include financial-information security, data sanitization, and transparent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 of fields in legacy databases.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principal benefit of FPE is that it enables protection of particular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elements in a legacy database that did not provide encryption of those data elements,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while still enabling workflows that were in place before FPE was in use.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FPE, as opposed to ordinary AES encryption or TDEA encryption, no database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schema changes and minimal application changes are required. Only applications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need to see the plaintext of a data element need to be modified and generally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these modifications will be minimal.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Some examples of legacy applications where FPE is desirable: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■  COBOL data-processing applications: Any changes in the structure of a record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Typical code sizes involve hundreds of modules, each containing around 5,000–10,000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lines on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general-purpose standardized FPE should meet a number of requirements: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ciphertext is of the same length and format as the plaintext.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It should be adaptable to work with a variety of character and number types.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Examples include decimal digits, lowercase alphabetic characters, and the full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character set of a standard keyboard or international keyboard.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 It should work with variable plaintext lengths.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4.  Security strength should be comparable to that achieved with AES.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pPr marL="228600" indent="-228600">
              <a:buAutoNum type="arabicPeriod" startAt="5"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Security should be strong even for very small plaintext lengths.</a:t>
            </a:r>
          </a:p>
          <a:p>
            <a:pPr marL="228600" indent="-228600">
              <a:buAutoNum type="arabicPeriod" startAt="5"/>
            </a:pPr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Meeting the first requirement is not at all straightforward. As illustrated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Table 7.2, a straightforward encryption with AES yields a 128-bit binary block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does not resemble the required format. Also, a standard symmetric block cipher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 easily adaptable to produce an FPE.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7.12 shows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Feistel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structure used in all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NIST algorithms, with encryption shown on the left-hand side and decryption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 the right-hand side. The structure in Figure 7.12 is the same as that shown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4.3 but, to simplify the presentation, it is untwisted, not illustrating the swap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occurs at the end of each round.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process of decryption is essentially the same as the encryption process.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differences are: (1) the addition function is replaced by a subtraction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 its inverse; and (2) the order of the round indices is reversed.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demonstrate that the decryption produces the correct result, Figure 7.12b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shows the encryption process going down the left-hand side and the decryption process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going up the right-hand side. The diagram indicates that, at every round,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intermediate value of the decryption process is equal to the corresponding value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encryption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NIST algorithms, and the other FPE algorithms that 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been proposed, are used with plaintext consisting of a string of elements, called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characters. Specifically, a finite set of two or more symbols is called an alphabet 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the elements of an alphabet are called characters . A character string  is a finite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of characters from an alphabet. Individual characters may repeat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string. The number of different characters in an alphabet is called the base ,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referred to as the radix  of the alphabet.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31</a:t>
            </a:fld>
            <a:endParaRPr lang="en-A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NIST document defines notation for specifying these conversions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(Table 7.3a).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Algorithm FF1 was submitted to NIST as a proposed FPE mode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[BELL10a, BELL10b] with the name </a:t>
            </a:r>
            <a:r>
              <a:rPr lang="en-US" sz="1200" b="0" kern="1200" baseline="0" dirty="0" err="1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FFX[Radix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]. FF1 uses a pseudorandom function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PRFK (X ) that produces a 128-bit output with inputs X  that is a multiple of 128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and encryption key K  (Figure 7.13).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34</a:t>
            </a:fld>
            <a:endParaRPr lang="en-A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FF1 encryption algorithm is illustrated in Figure 7.14.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35</a:t>
            </a:fld>
            <a:endParaRPr lang="en-A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Algorithm FF2 was submitted to NIST as a proposed FPE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 with the name VAES3 [VANC11]. The encryption algorithm is defined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36</a:t>
            </a:fld>
            <a:endParaRPr lang="en-A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Algorithm FF3 was submitted to NIST as a proposed FPE mode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the name BPS-BC [BRIE10]. The encryption algorithm is illustrated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076705-864B-4D45-B85F-06B6083622B7}" type="slidenum">
              <a:rPr lang="en-AU" smtClean="0"/>
              <a:pPr>
                <a:defRPr/>
              </a:pPr>
              <a:t>37</a:t>
            </a:fld>
            <a:endParaRPr lang="en-A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628671-9218-F34E-ACAD-109D5A3EEE55}" type="slidenum">
              <a:rPr lang="en-AU">
                <a:latin typeface="Arial" pitchFamily="-84" charset="0"/>
              </a:rPr>
              <a:pPr/>
              <a:t>38</a:t>
            </a:fld>
            <a:endParaRPr lang="en-AU">
              <a:latin typeface="Arial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DA52A-DEDD-8B48-A1A9-86710A9BD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7E39F-087E-504B-9397-D16438C770A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3710C-E6C4-314D-9C2D-EC5776BDD5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8AAC1-1608-C646-A661-28DAF77D6D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8EE822-8447-B24E-AE7F-D1C17ADC12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7DC2E-1A2E-5148-9006-D076986610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6499D577-E5A2-D04C-A286-E08280E1E8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29E9F-8B4C-D14E-916C-94EE5D15A2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9FA3E-02AA-4347-A8B7-25086473D2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F3B96-5106-F246-86FE-363CF815F2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64BF8-F63F-4542-8D4F-18AA23E61C9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D5C58473-7B4C-2A41-A28F-1EC9C1D9C2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</p:sldLayoutIdLst>
  <p:hf sldNum="0" hdr="0" dt="0"/>
  <p:txStyles>
    <p:titleStyle>
      <a:lvl1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eaLnBrk="0" fontAlgn="base" hangingPunct="0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1.pdf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df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df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df"/><Relationship Id="rId4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df"/><Relationship Id="rId4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7.pdf"/><Relationship Id="rId3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df"/><Relationship Id="rId4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df"/><Relationship Id="rId4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df"/><Relationship Id="rId4" Type="http://schemas.openxmlformats.org/officeDocument/2006/relationships/image" Target="../media/image5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df"/><Relationship Id="rId4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Seventh </a:t>
            </a:r>
            <a:r>
              <a:rPr lang="en-US" dirty="0" smtClean="0"/>
              <a:t>Edition</a:t>
            </a:r>
          </a:p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 eaLnBrk="1" hangingPunct="1"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</a:t>
            </a:r>
            <a:r>
              <a:rPr lang="en-US" dirty="0" smtClean="0">
                <a:ea typeface="+mj-ea"/>
                <a:cs typeface="+mj-cs"/>
              </a:rPr>
              <a:t> 7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8435" name="Subtitle 13"/>
          <p:cNvSpPr>
            <a:spLocks noGrp="1"/>
          </p:cNvSpPr>
          <p:nvPr>
            <p:ph type="subTitle" idx="1"/>
          </p:nvPr>
        </p:nvSpPr>
        <p:spPr>
          <a:xfrm>
            <a:off x="1524000" y="5203825"/>
            <a:ext cx="6096000" cy="852488"/>
          </a:xfrm>
        </p:spPr>
        <p:txBody>
          <a:bodyPr/>
          <a:lstStyle/>
          <a:p>
            <a:pPr eaLnBrk="1" hangingPunct="1"/>
            <a:r>
              <a:rPr lang="en-US" sz="3600" smtClean="0"/>
              <a:t>Block Cipher Operation</a:t>
            </a:r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2941" r="17647" b="56364"/>
              <a:stretch>
                <a:fillRect/>
              </a:stretch>
            </p:blipFill>
          </mc:Choice>
          <mc:Fallback>
            <p:blipFill>
              <a:blip r:embed="rId4"/>
              <a:srcRect l="12941" r="17647" b="56364"/>
              <a:stretch>
                <a:fillRect/>
              </a:stretch>
            </p:blipFill>
          </mc:Fallback>
        </mc:AlternateContent>
        <p:spPr>
          <a:xfrm>
            <a:off x="609600" y="-609600"/>
            <a:ext cx="7872424" cy="6404729"/>
          </a:xfrm>
          <a:prstGeom prst="rect">
            <a:avLst/>
          </a:prstGeom>
        </p:spPr>
      </p:pic>
      <p:pic>
        <p:nvPicPr>
          <p:cNvPr id="6" name="Picture 5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88182" b="2727"/>
              <a:stretch>
                <a:fillRect/>
              </a:stretch>
            </p:blipFill>
          </mc:Choice>
          <mc:Fallback>
            <p:blipFill>
              <a:blip r:embed="rId4"/>
              <a:srcRect t="88182" b="2727"/>
              <a:stretch>
                <a:fillRect/>
              </a:stretch>
            </p:blipFill>
          </mc:Fallback>
        </mc:AlternateContent>
        <p:spPr>
          <a:xfrm>
            <a:off x="2209800" y="5943600"/>
            <a:ext cx="5638800" cy="66339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pPr eaLnBrk="1" hangingPunct="1"/>
            <a:r>
              <a:rPr lang="en-US" smtClean="0"/>
              <a:t>Meet-in-the-Middle Attack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1" y="1762125"/>
          <a:ext cx="8458200" cy="47910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0" y="4495800"/>
            <a:ext cx="1557337" cy="179329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Triple-DES with Two-Keys</a:t>
            </a:r>
            <a:endParaRPr lang="en-AU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Obvious counter to the meet-in-the-middle attack is to use three stages of encryption with three different keys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This raises the cost of the meet-in-the-middle attack to 2</a:t>
            </a:r>
            <a:r>
              <a:rPr lang="en-US" baseline="30000" dirty="0" smtClean="0">
                <a:ea typeface="+mn-ea"/>
              </a:rPr>
              <a:t>112</a:t>
            </a:r>
            <a:r>
              <a:rPr lang="en-US" dirty="0" smtClean="0">
                <a:ea typeface="+mn-ea"/>
              </a:rPr>
              <a:t>, which is beyond what is practical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Has the drawback of requiring a key length of                  56 x 3 = 168 bits, which may be somewhat unwieldy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As an alternative Tuchman proposed a triple encryption method that uses only two keys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839" dirty="0" smtClean="0">
                <a:ea typeface="+mn-ea"/>
                <a:cs typeface="+mn-cs"/>
              </a:rPr>
              <a:t> 3DES with two keys is a relatively popular alternative to DES and has been </a:t>
            </a:r>
            <a:r>
              <a:rPr lang="en-US" dirty="0" smtClean="0">
                <a:ea typeface="+mn-ea"/>
                <a:cs typeface="+mn-cs"/>
              </a:rPr>
              <a:t>adopted for use in the key management standards ANSI X9.17 and ISO 8732</a:t>
            </a:r>
            <a:endParaRPr lang="en-AU" dirty="0"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724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28675" name="Picture 6" descr="f1.pdf"/>
          <p:cNvPicPr>
            <a:picLocks noChangeAspect="1"/>
          </p:cNvPicPr>
          <p:nvPr/>
        </p:nvPicPr>
        <p:blipFill>
          <a:blip r:embed="rId3"/>
          <a:srcRect l="4706" t="46364" r="7059" b="10909"/>
          <a:stretch>
            <a:fillRect/>
          </a:stretch>
        </p:blipFill>
        <p:spPr bwMode="auto">
          <a:xfrm>
            <a:off x="-45326" y="0"/>
            <a:ext cx="899741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rcRect t="88182" b="2727"/>
              <a:stretch>
                <a:fillRect/>
              </a:stretch>
            </p:blipFill>
          </mc:Choice>
          <mc:Fallback>
            <p:blipFill>
              <a:blip r:embed="rId5"/>
              <a:srcRect t="88182" b="2727"/>
              <a:stretch>
                <a:fillRect/>
              </a:stretch>
            </p:blipFill>
          </mc:Fallback>
        </mc:AlternateContent>
        <p:spPr>
          <a:xfrm>
            <a:off x="1828800" y="5638800"/>
            <a:ext cx="5638800" cy="663397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4" name="Picture 3" descr="f0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8182" b="18182"/>
              <a:stretch>
                <a:fillRect/>
              </a:stretch>
            </p:blipFill>
          </mc:Choice>
          <mc:Fallback>
            <p:blipFill>
              <a:blip r:embed="rId4"/>
              <a:srcRect t="8182" b="18182"/>
              <a:stretch>
                <a:fillRect/>
              </a:stretch>
            </p:blipFill>
          </mc:Fallback>
        </mc:AlternateContent>
        <p:spPr>
          <a:xfrm>
            <a:off x="914400" y="-152400"/>
            <a:ext cx="7356610" cy="701040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4000" cy="1412875"/>
          </a:xfrm>
        </p:spPr>
        <p:txBody>
          <a:bodyPr/>
          <a:lstStyle/>
          <a:p>
            <a:pPr eaLnBrk="1" hangingPunct="1"/>
            <a:r>
              <a:rPr lang="en-US" smtClean="0"/>
              <a:t>Triple DES with Three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Many researchers now feel that three-key 3DES is the preferred alternative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 number of Internet-based applications have adopted three-key 3DES including PGP and S/MIME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219200" y="2667000"/>
          <a:ext cx="6400800" cy="24130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Modes of Operation</a:t>
            </a:r>
            <a:endParaRPr lang="en-AU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7570788" cy="45720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A technique for enhancing the effect of a cryptographic algorithm or adapting the algorithm for an application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  <a:cs typeface="+mn-cs"/>
              </a:rPr>
              <a:t>To apply a block cipher in a variety of applications, five </a:t>
            </a:r>
            <a:r>
              <a:rPr lang="en-AU" i="1" dirty="0" smtClean="0">
                <a:ea typeface="+mn-ea"/>
                <a:cs typeface="+mn-cs"/>
              </a:rPr>
              <a:t>modes of operation </a:t>
            </a:r>
            <a:r>
              <a:rPr lang="en-AU" dirty="0" smtClean="0">
                <a:ea typeface="+mn-ea"/>
                <a:cs typeface="+mn-cs"/>
              </a:rPr>
              <a:t>have been defined by NIST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</a:rPr>
              <a:t>The five modes are intended to cover a wide variety of applications of encryption for which a block cipher could be used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AU" dirty="0" smtClean="0">
                <a:ea typeface="+mn-ea"/>
              </a:rPr>
              <a:t>These modes are intended for use with any symmetric block cipher, including triple DES and AES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4"/>
          <p:cNvPicPr>
            <a:picLocks noChangeAspect="1"/>
          </p:cNvPicPr>
          <p:nvPr/>
        </p:nvPicPr>
        <p:blipFill>
          <a:blip r:embed="rId3"/>
          <a:srcRect r="3019" b="3945"/>
          <a:stretch>
            <a:fillRect/>
          </a:stretch>
        </p:blipFill>
        <p:spPr bwMode="auto">
          <a:xfrm>
            <a:off x="685800" y="685800"/>
            <a:ext cx="7745597" cy="5870738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-1676400" y="152400"/>
            <a:ext cx="12630150" cy="4318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0000" b="14545"/>
              <a:stretch>
                <a:fillRect/>
              </a:stretch>
            </p:blipFill>
          </mc:Choice>
          <mc:Fallback>
            <p:blipFill>
              <a:blip r:embed="rId4"/>
              <a:srcRect t="10000" b="14545"/>
              <a:stretch>
                <a:fillRect/>
              </a:stretch>
            </p:blipFill>
          </mc:Fallback>
        </mc:AlternateContent>
        <p:spPr>
          <a:xfrm>
            <a:off x="1066800" y="-149591"/>
            <a:ext cx="7010400" cy="6845399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3613150" cy="3581400"/>
          </a:xfrm>
        </p:spPr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en-US" sz="2800" dirty="0" smtClean="0"/>
              <a:t>Criteria and properties for evaluating and constructing block cipher modes of operation that are superior to ECB: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5105400" y="838200"/>
            <a:ext cx="3813175" cy="5240338"/>
          </a:xfrm>
        </p:spPr>
        <p:txBody>
          <a:bodyPr/>
          <a:lstStyle/>
          <a:p>
            <a:pPr eaLnBrk="1" hangingPunct="1"/>
            <a:r>
              <a:rPr lang="en-US" sz="2800" smtClean="0"/>
              <a:t>Overhead</a:t>
            </a:r>
          </a:p>
          <a:p>
            <a:pPr eaLnBrk="1" hangingPunct="1"/>
            <a:r>
              <a:rPr lang="en-US" sz="2800" smtClean="0"/>
              <a:t>Error recovery</a:t>
            </a:r>
          </a:p>
          <a:p>
            <a:pPr eaLnBrk="1" hangingPunct="1"/>
            <a:r>
              <a:rPr lang="en-US" sz="2800" smtClean="0"/>
              <a:t>Error propagation</a:t>
            </a:r>
          </a:p>
          <a:p>
            <a:pPr eaLnBrk="1" hangingPunct="1"/>
            <a:r>
              <a:rPr lang="en-US" sz="2800" smtClean="0"/>
              <a:t>Diffusion</a:t>
            </a:r>
          </a:p>
          <a:p>
            <a:pPr eaLnBrk="1" hangingPunct="1"/>
            <a:r>
              <a:rPr lang="en-US" sz="2800" smtClean="0"/>
              <a:t>Security</a:t>
            </a:r>
          </a:p>
          <a:p>
            <a:pPr eaLnBrk="1" hangingPunct="1"/>
            <a:endParaRPr lang="en-US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43400"/>
            <a:ext cx="2057400" cy="20574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6" name="Picture 5" descr="f0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0909" b="14545"/>
              <a:stretch>
                <a:fillRect/>
              </a:stretch>
            </p:blipFill>
          </mc:Choice>
          <mc:Fallback>
            <p:blipFill>
              <a:blip r:embed="rId4"/>
              <a:srcRect t="10909" b="14545"/>
              <a:stretch>
                <a:fillRect/>
              </a:stretch>
            </p:blipFill>
          </mc:Fallback>
        </mc:AlternateContent>
        <p:spPr>
          <a:xfrm>
            <a:off x="1146805" y="0"/>
            <a:ext cx="6930395" cy="6685740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Cipher Feedback Mode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286000"/>
            <a:ext cx="4038600" cy="4303713"/>
          </a:xfrm>
        </p:spPr>
        <p:txBody>
          <a:bodyPr/>
          <a:lstStyle/>
          <a:p>
            <a:pPr eaLnBrk="1" hangingPunct="1"/>
            <a:r>
              <a:rPr lang="en-US" dirty="0" smtClean="0"/>
              <a:t>For AES, DES, or any block cipher, encryption is performed on a block of </a:t>
            </a:r>
            <a:r>
              <a:rPr lang="en-US" i="1" dirty="0" smtClean="0"/>
              <a:t>b </a:t>
            </a:r>
            <a:r>
              <a:rPr lang="en-US" dirty="0" smtClean="0"/>
              <a:t>bits</a:t>
            </a:r>
          </a:p>
          <a:p>
            <a:pPr lvl="1" eaLnBrk="1" hangingPunct="1"/>
            <a:r>
              <a:rPr lang="en-US" dirty="0" smtClean="0"/>
              <a:t>In the case of DES </a:t>
            </a:r>
            <a:r>
              <a:rPr lang="en-US" i="1" dirty="0" err="1" smtClean="0"/>
              <a:t>b</a:t>
            </a:r>
            <a:r>
              <a:rPr lang="en-US" i="1" dirty="0" smtClean="0"/>
              <a:t> </a:t>
            </a:r>
            <a:r>
              <a:rPr lang="en-US" dirty="0" smtClean="0"/>
              <a:t>= 64</a:t>
            </a:r>
          </a:p>
          <a:p>
            <a:pPr lvl="1" eaLnBrk="1" hangingPunct="1"/>
            <a:r>
              <a:rPr lang="en-US" dirty="0" smtClean="0"/>
              <a:t>In the case of AES </a:t>
            </a:r>
            <a:r>
              <a:rPr lang="en-US" i="1" dirty="0" err="1" smtClean="0"/>
              <a:t>b</a:t>
            </a:r>
            <a:r>
              <a:rPr lang="en-US" i="1" dirty="0" smtClean="0"/>
              <a:t> </a:t>
            </a:r>
            <a:r>
              <a:rPr lang="en-US" dirty="0" smtClean="0"/>
              <a:t>= 128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3657600" y="1774825"/>
          <a:ext cx="5257801" cy="48545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4545" b="7273"/>
              <a:stretch>
                <a:fillRect/>
              </a:stretch>
            </p:blipFill>
          </mc:Choice>
          <mc:Fallback>
            <p:blipFill>
              <a:blip r:embed="rId4"/>
              <a:srcRect t="4545" b="7273"/>
              <a:stretch>
                <a:fillRect/>
              </a:stretch>
            </p:blipFill>
          </mc:Fallback>
        </mc:AlternateContent>
        <p:spPr>
          <a:xfrm>
            <a:off x="1649100" y="0"/>
            <a:ext cx="5742300" cy="6552895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6364" b="9091"/>
              <a:stretch>
                <a:fillRect/>
              </a:stretch>
            </p:blipFill>
          </mc:Choice>
          <mc:Fallback>
            <p:blipFill>
              <a:blip r:embed="rId4"/>
              <a:srcRect t="6364" b="9091"/>
              <a:stretch>
                <a:fillRect/>
              </a:stretch>
            </p:blipFill>
          </mc:Fallback>
        </mc:AlternateContent>
        <p:spPr>
          <a:xfrm>
            <a:off x="1447800" y="-82700"/>
            <a:ext cx="6248400" cy="6836424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6364" b="11818"/>
              <a:stretch>
                <a:fillRect/>
              </a:stretch>
            </p:blipFill>
          </mc:Choice>
          <mc:Fallback>
            <p:blipFill>
              <a:blip r:embed="rId4"/>
              <a:srcRect t="6364" b="11818"/>
              <a:stretch>
                <a:fillRect/>
              </a:stretch>
            </p:blipFill>
          </mc:Fallback>
        </mc:AlternateContent>
        <p:spPr>
          <a:xfrm>
            <a:off x="1371600" y="-65952"/>
            <a:ext cx="6324600" cy="669657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3613150" cy="3048000"/>
          </a:xfrm>
        </p:spPr>
        <p:txBody>
          <a:bodyPr/>
          <a:lstStyle/>
          <a:p>
            <a:pPr eaLnBrk="1" hangingPunct="1"/>
            <a:r>
              <a:rPr lang="en-AU" sz="4400" smtClean="0"/>
              <a:t>Advantages </a:t>
            </a:r>
            <a:br>
              <a:rPr lang="en-AU" sz="4400" smtClean="0"/>
            </a:br>
            <a:r>
              <a:rPr lang="en-AU" sz="4400" smtClean="0"/>
              <a:t>of </a:t>
            </a:r>
            <a:br>
              <a:rPr lang="en-AU" sz="4400" smtClean="0"/>
            </a:br>
            <a:r>
              <a:rPr lang="en-AU" sz="4400" smtClean="0"/>
              <a:t>CTR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4876800" y="685800"/>
            <a:ext cx="3813175" cy="5697538"/>
          </a:xfrm>
        </p:spPr>
        <p:txBody>
          <a:bodyPr/>
          <a:lstStyle/>
          <a:p>
            <a:pPr eaLnBrk="1" hangingPunct="1"/>
            <a:r>
              <a:rPr lang="en-AU" sz="2800" smtClean="0"/>
              <a:t>Hardware efficiency</a:t>
            </a:r>
          </a:p>
          <a:p>
            <a:pPr eaLnBrk="1" hangingPunct="1"/>
            <a:r>
              <a:rPr lang="en-AU" sz="2800" smtClean="0"/>
              <a:t>Software efficiency</a:t>
            </a:r>
          </a:p>
          <a:p>
            <a:pPr eaLnBrk="1" hangingPunct="1"/>
            <a:r>
              <a:rPr lang="en-AU" sz="2800" smtClean="0"/>
              <a:t>Preprocessing</a:t>
            </a:r>
          </a:p>
          <a:p>
            <a:pPr eaLnBrk="1" hangingPunct="1"/>
            <a:r>
              <a:rPr lang="en-AU" sz="2800" smtClean="0"/>
              <a:t>Random access</a:t>
            </a:r>
          </a:p>
          <a:p>
            <a:pPr eaLnBrk="1" hangingPunct="1"/>
            <a:r>
              <a:rPr lang="en-AU" sz="2800" smtClean="0"/>
              <a:t>Provable security</a:t>
            </a:r>
          </a:p>
          <a:p>
            <a:pPr eaLnBrk="1" hangingPunct="1"/>
            <a:r>
              <a:rPr lang="en-AU" sz="2800" smtClean="0"/>
              <a:t>Simplicity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43400"/>
            <a:ext cx="1826520" cy="122072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  <p:pic>
        <p:nvPicPr>
          <p:cNvPr id="5" name="Picture 4" descr="f0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3636" b="5455"/>
              <a:stretch>
                <a:fillRect/>
              </a:stretch>
            </p:blipFill>
          </mc:Choice>
          <mc:Fallback>
            <p:blipFill>
              <a:blip r:embed="rId4"/>
              <a:srcRect t="3636" b="5455"/>
              <a:stretch>
                <a:fillRect/>
              </a:stretch>
            </p:blipFill>
          </mc:Fallback>
        </mc:AlternateContent>
        <p:spPr>
          <a:xfrm>
            <a:off x="1710310" y="-1"/>
            <a:ext cx="5681090" cy="668350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400" y="39688"/>
            <a:ext cx="9296400" cy="1412875"/>
          </a:xfrm>
        </p:spPr>
        <p:txBody>
          <a:bodyPr/>
          <a:lstStyle/>
          <a:p>
            <a:pPr eaLnBrk="1" hangingPunct="1"/>
            <a:r>
              <a:rPr lang="en-US" sz="4400" dirty="0" smtClean="0"/>
              <a:t>XTS-AES Mode for Block-Oriented Storage Devices</a:t>
            </a:r>
            <a:endParaRPr lang="en-AU" sz="4400" dirty="0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81200"/>
            <a:ext cx="7570787" cy="4486275"/>
          </a:xfrm>
        </p:spPr>
        <p:txBody>
          <a:bodyPr/>
          <a:lstStyle/>
          <a:p>
            <a:pPr eaLnBrk="1" hangingPunct="1"/>
            <a:r>
              <a:rPr lang="en-US" dirty="0" smtClean="0"/>
              <a:t>Approved as an additional block cipher mode of operation by NIST in 2010</a:t>
            </a:r>
          </a:p>
          <a:p>
            <a:pPr eaLnBrk="1" hangingPunct="1"/>
            <a:r>
              <a:rPr lang="en-US" dirty="0" smtClean="0"/>
              <a:t>Mode is also an IEEE Standard, IEEE Std 1619-2007</a:t>
            </a:r>
          </a:p>
          <a:p>
            <a:pPr lvl="1" eaLnBrk="1" hangingPunct="1"/>
            <a:r>
              <a:rPr lang="en-US" dirty="0" smtClean="0"/>
              <a:t>Standard describes a method of encryption for data stored in sector-based devices where the threat model includes possible access to stored data by the adversary</a:t>
            </a:r>
          </a:p>
          <a:p>
            <a:pPr lvl="1" eaLnBrk="1" hangingPunct="1"/>
            <a:r>
              <a:rPr lang="en-US" dirty="0" smtClean="0"/>
              <a:t>Has received widespread industry support</a:t>
            </a:r>
            <a:endParaRPr lang="en-AU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Tweakable Block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524000"/>
            <a:ext cx="7570787" cy="5333999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XTS-AES mode is based on the concept of a </a:t>
            </a:r>
            <a:r>
              <a:rPr lang="en-US" i="1" dirty="0" smtClean="0">
                <a:ea typeface="+mn-ea"/>
                <a:cs typeface="+mn-cs"/>
              </a:rPr>
              <a:t>tweakable block cipher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General structure: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Has three inputs: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None/>
              <a:defRPr/>
            </a:pPr>
            <a:endParaRPr lang="en-US" dirty="0" smtClean="0">
              <a:ea typeface="+mn-ea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Tweak need not be kept secret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Purpose is to provide variability</a:t>
            </a:r>
            <a:endParaRPr lang="en-US" dirty="0">
              <a:ea typeface="+mn-ea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533400" y="3276600"/>
          <a:ext cx="6705600" cy="1803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96200" y="4038600"/>
            <a:ext cx="144780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en-US" b="1" dirty="0" smtClean="0"/>
              <a:t>Produces </a:t>
            </a:r>
          </a:p>
          <a:p>
            <a:pPr marL="0" lvl="1" algn="ctr"/>
            <a:r>
              <a:rPr lang="en-US" b="1" dirty="0" smtClean="0"/>
              <a:t>a ciphertext output </a:t>
            </a:r>
          </a:p>
          <a:p>
            <a:pPr marL="0" lvl="1" algn="ctr"/>
            <a:r>
              <a:rPr lang="en-US" b="1" i="1" dirty="0" smtClean="0"/>
              <a:t>C</a:t>
            </a:r>
          </a:p>
          <a:p>
            <a:endParaRPr lang="en-US" dirty="0"/>
          </a:p>
        </p:txBody>
      </p:sp>
      <p:cxnSp>
        <p:nvCxnSpPr>
          <p:cNvPr id="9" name="Elbow Connector 8"/>
          <p:cNvCxnSpPr/>
          <p:nvPr/>
        </p:nvCxnSpPr>
        <p:spPr>
          <a:xfrm>
            <a:off x="6553200" y="4038600"/>
            <a:ext cx="1143000" cy="685800"/>
          </a:xfrm>
          <a:prstGeom prst="bentConnector3">
            <a:avLst>
              <a:gd name="adj1" fmla="val 47101"/>
            </a:avLst>
          </a:prstGeom>
          <a:ln>
            <a:solidFill>
              <a:schemeClr val="bg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reserved.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 descr="f0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3636" b="24545"/>
              <a:stretch>
                <a:fillRect/>
              </a:stretch>
            </p:blipFill>
          </mc:Choice>
          <mc:Fallback>
            <p:blipFill>
              <a:blip r:embed="rId4"/>
              <a:srcRect t="23636" b="24545"/>
              <a:stretch>
                <a:fillRect/>
              </a:stretch>
            </p:blipFill>
          </mc:Fallback>
        </mc:AlternateContent>
        <p:spPr>
          <a:xfrm>
            <a:off x="-380999" y="76442"/>
            <a:ext cx="9982200" cy="6693857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Storage Encryption Requirements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3400" y="1981201"/>
            <a:ext cx="8077199" cy="4876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requirements for encrypting stored data, also referred to as “data at rest”, differ somewhat from those for transmitted data</a:t>
            </a:r>
          </a:p>
          <a:p>
            <a:r>
              <a:rPr lang="en-US" dirty="0" smtClean="0"/>
              <a:t>The P1619 standard was designed to have the following characteristics:</a:t>
            </a:r>
          </a:p>
          <a:p>
            <a:pPr lvl="1"/>
            <a:r>
              <a:rPr lang="en-US" dirty="0" smtClean="0"/>
              <a:t>The ciphertext is freely available for an attacker</a:t>
            </a:r>
          </a:p>
          <a:p>
            <a:pPr lvl="1"/>
            <a:r>
              <a:rPr lang="en-US" dirty="0" smtClean="0"/>
              <a:t>The data layout is not changed on the storage medium and in transit</a:t>
            </a:r>
          </a:p>
          <a:p>
            <a:pPr lvl="1"/>
            <a:r>
              <a:rPr lang="en-US" dirty="0" smtClean="0"/>
              <a:t>Data are accessed in fixed sized blocks, independently from each other</a:t>
            </a:r>
          </a:p>
          <a:p>
            <a:pPr lvl="1"/>
            <a:r>
              <a:rPr lang="en-US" dirty="0" smtClean="0"/>
              <a:t>Encryption is performed in 16-byte blocks, independently from each other</a:t>
            </a:r>
          </a:p>
          <a:p>
            <a:pPr lvl="1"/>
            <a:r>
              <a:rPr lang="en-US" dirty="0" smtClean="0"/>
              <a:t>There are no other metadata used, except the location of the data blocks within the whole data set</a:t>
            </a:r>
          </a:p>
          <a:p>
            <a:pPr lvl="1"/>
            <a:r>
              <a:rPr lang="en-US" dirty="0" smtClean="0"/>
              <a:t>The same plaintext is encrypted to different </a:t>
            </a:r>
            <a:r>
              <a:rPr lang="en-US" dirty="0" err="1" smtClean="0"/>
              <a:t>ciphertexts</a:t>
            </a:r>
            <a:r>
              <a:rPr lang="en-US" dirty="0" smtClean="0"/>
              <a:t> at different locations, but always to the same ciphertext when written to the same location again</a:t>
            </a:r>
          </a:p>
          <a:p>
            <a:pPr lvl="1"/>
            <a:r>
              <a:rPr lang="en-US" dirty="0" smtClean="0"/>
              <a:t>A standard conformant device can be constructed for decryption of data encrypted by another standard conformant device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768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3613150" cy="3657600"/>
          </a:xfrm>
        </p:spPr>
        <p:txBody>
          <a:bodyPr/>
          <a:lstStyle/>
          <a:p>
            <a:pPr eaLnBrk="1" hangingPunct="1"/>
            <a:r>
              <a:rPr lang="en-US" sz="4400" smtClean="0"/>
              <a:t>XTS-AES</a:t>
            </a:r>
            <a:br>
              <a:rPr lang="en-US" sz="4400" smtClean="0"/>
            </a:br>
            <a:r>
              <a:rPr lang="en-US" sz="4400" smtClean="0"/>
              <a:t>Operation </a:t>
            </a:r>
            <a:br>
              <a:rPr lang="en-US" sz="4400" smtClean="0"/>
            </a:br>
            <a:r>
              <a:rPr lang="en-US" sz="4400" smtClean="0"/>
              <a:t>on </a:t>
            </a:r>
            <a:br>
              <a:rPr lang="en-US" sz="4400" smtClean="0"/>
            </a:br>
            <a:r>
              <a:rPr lang="en-US" sz="4400" smtClean="0"/>
              <a:t>Single Block</a:t>
            </a:r>
            <a:endParaRPr lang="en-AU" sz="44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9091" b="7273"/>
              <a:stretch>
                <a:fillRect/>
              </a:stretch>
            </p:blipFill>
          </mc:Choice>
          <mc:Fallback>
            <p:blipFill>
              <a:blip r:embed="rId4"/>
              <a:srcRect t="9091" b="7273"/>
              <a:stretch>
                <a:fillRect/>
              </a:stretch>
            </p:blipFill>
          </mc:Fallback>
        </mc:AlternateContent>
        <p:spPr>
          <a:xfrm>
            <a:off x="3581400" y="-78532"/>
            <a:ext cx="6408782" cy="6936532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9091" b="10000"/>
              <a:stretch>
                <a:fillRect/>
              </a:stretch>
            </p:blipFill>
          </mc:Choice>
          <mc:Fallback>
            <p:blipFill>
              <a:blip r:embed="rId4"/>
              <a:srcRect t="9091" b="10000"/>
              <a:stretch>
                <a:fillRect/>
              </a:stretch>
            </p:blipFill>
          </mc:Fallback>
        </mc:AlternateContent>
        <p:spPr>
          <a:xfrm>
            <a:off x="1371600" y="-152400"/>
            <a:ext cx="6439125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sz="4800" dirty="0" smtClean="0"/>
              <a:t>Format-Preserving Encryption</a:t>
            </a:r>
            <a:br>
              <a:rPr lang="en-US" sz="4800" dirty="0" smtClean="0"/>
            </a:br>
            <a:r>
              <a:rPr lang="en-US" sz="4800" dirty="0" smtClean="0"/>
              <a:t>(FPE)</a:t>
            </a:r>
            <a:endParaRPr lang="en-US" sz="4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0" y="1905000"/>
            <a:ext cx="7570787" cy="4289425"/>
          </a:xfrm>
        </p:spPr>
        <p:txBody>
          <a:bodyPr/>
          <a:lstStyle/>
          <a:p>
            <a:r>
              <a:rPr lang="en-US" dirty="0" smtClean="0"/>
              <a:t>Refers to any encryption technique that takes a plaintext in a given format and produces a ciphertext in the same format</a:t>
            </a:r>
          </a:p>
          <a:p>
            <a:pPr lvl="1"/>
            <a:r>
              <a:rPr lang="en-US" sz="2000" dirty="0" smtClean="0"/>
              <a:t>For example:  credit cards consist of 16 decimal digits.  An FPE that can accept this type of input would produce a ciphertext output of 16 decimal digits. (Note that the ciphertext need not be, and in fact in unlikely to be, a valid credit card number.) But it will have the same format and can be stored in the same way as credit card number plaintext.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52552">
            <a:off x="6521182" y="5169047"/>
            <a:ext cx="1912272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33400"/>
            <a:ext cx="9144000" cy="141287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4400" dirty="0" smtClean="0"/>
              <a:t>Table 7.2 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3200" dirty="0" smtClean="0"/>
              <a:t>Comparison </a:t>
            </a:r>
            <a:r>
              <a:rPr lang="en-US" sz="3200" dirty="0" smtClean="0"/>
              <a:t>of Format-Preserving</a:t>
            </a:r>
            <a:r>
              <a:rPr lang="en-US" sz="3200" dirty="0" smtClean="0"/>
              <a:t> </a:t>
            </a:r>
            <a:br>
              <a:rPr lang="en-US" sz="3200" dirty="0" smtClean="0"/>
            </a:br>
            <a:r>
              <a:rPr lang="en-US" sz="3200" dirty="0" smtClean="0"/>
              <a:t>Encryption </a:t>
            </a:r>
            <a:r>
              <a:rPr lang="en-US" sz="3200" dirty="0" smtClean="0"/>
              <a:t>and AES 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04800" y="2743200"/>
            <a:ext cx="8506046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762000" y="1524000"/>
          <a:ext cx="7570787" cy="50958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038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Difficulties in Designing an FPE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general-purpose standardized FPE should meet a number of requirements:</a:t>
            </a:r>
          </a:p>
          <a:p>
            <a:pPr lvl="1"/>
            <a:r>
              <a:rPr lang="en-US" dirty="0" smtClean="0"/>
              <a:t>The ciphertext is of the same length and format as the plaintext</a:t>
            </a:r>
          </a:p>
          <a:p>
            <a:pPr lvl="1"/>
            <a:r>
              <a:rPr lang="en-US" dirty="0" smtClean="0"/>
              <a:t>It should be adaptable to work with a variety of character and number types</a:t>
            </a:r>
          </a:p>
          <a:p>
            <a:pPr lvl="1"/>
            <a:r>
              <a:rPr lang="en-US" dirty="0" smtClean="0"/>
              <a:t>It should work with variable plaintext length</a:t>
            </a:r>
          </a:p>
          <a:p>
            <a:pPr lvl="1"/>
            <a:r>
              <a:rPr lang="en-US" dirty="0" smtClean="0"/>
              <a:t>Security strength should be comparable to that achieved with AES</a:t>
            </a:r>
          </a:p>
          <a:p>
            <a:pPr lvl="1"/>
            <a:r>
              <a:rPr lang="en-US" dirty="0" smtClean="0"/>
              <a:t>Security should be strong even for very small plaintext lengths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 descr="f1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5455" b="12727"/>
              <a:stretch>
                <a:fillRect/>
              </a:stretch>
            </p:blipFill>
          </mc:Choice>
          <mc:Fallback>
            <p:blipFill>
              <a:blip r:embed="rId4"/>
              <a:srcRect t="5455" b="12727"/>
              <a:stretch>
                <a:fillRect/>
              </a:stretch>
            </p:blipFill>
          </mc:Fallback>
        </mc:AlternateContent>
        <p:spPr>
          <a:xfrm>
            <a:off x="1295400" y="33100"/>
            <a:ext cx="6248400" cy="66158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NIST, and the other FPE algorithms that have been proposed, are used with plaintext consisting of a string of elements, called characters</a:t>
            </a:r>
          </a:p>
          <a:p>
            <a:r>
              <a:rPr lang="en-US" dirty="0" smtClean="0"/>
              <a:t>A finite set of two or more symbols is called an </a:t>
            </a:r>
            <a:r>
              <a:rPr lang="en-US" i="1" dirty="0" smtClean="0"/>
              <a:t>alphabet</a:t>
            </a:r>
          </a:p>
          <a:p>
            <a:r>
              <a:rPr lang="en-US" dirty="0" smtClean="0"/>
              <a:t>The elements of an alphabet are called </a:t>
            </a:r>
            <a:r>
              <a:rPr lang="en-US" i="1" dirty="0" smtClean="0"/>
              <a:t>characters</a:t>
            </a:r>
          </a:p>
          <a:p>
            <a:r>
              <a:rPr lang="en-US" dirty="0" smtClean="0"/>
              <a:t>A </a:t>
            </a:r>
            <a:r>
              <a:rPr lang="en-US" i="1" dirty="0" smtClean="0"/>
              <a:t>character string </a:t>
            </a:r>
            <a:r>
              <a:rPr lang="en-US" dirty="0" smtClean="0"/>
              <a:t>is a finite sequence of characters from an alphabet</a:t>
            </a:r>
          </a:p>
          <a:p>
            <a:r>
              <a:rPr lang="en-US" dirty="0" smtClean="0"/>
              <a:t>Individual characters may repeat in the string</a:t>
            </a:r>
          </a:p>
          <a:p>
            <a:r>
              <a:rPr lang="en-US" dirty="0" smtClean="0"/>
              <a:t>The number of different characters in an alphabet is called the </a:t>
            </a:r>
            <a:r>
              <a:rPr lang="en-US" i="1" dirty="0" smtClean="0"/>
              <a:t>base </a:t>
            </a:r>
            <a:r>
              <a:rPr lang="en-US" dirty="0" smtClean="0"/>
              <a:t>(also referred to as the </a:t>
            </a:r>
            <a:r>
              <a:rPr lang="en-US" i="1" dirty="0" smtClean="0"/>
              <a:t>radix) </a:t>
            </a:r>
            <a:r>
              <a:rPr lang="en-US" dirty="0" smtClean="0"/>
              <a:t>of the alphabet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29590" y="609600"/>
            <a:ext cx="8862010" cy="5624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00" dirty="0" smtClean="0"/>
              <a:t>© 2017 Pearson Education, Inc., Hoboken, NJ. All rights reserved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228600" y="3352800"/>
            <a:ext cx="8739388" cy="2590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2400" y="304800"/>
            <a:ext cx="899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atin typeface="+mn-lt"/>
              </a:rPr>
              <a:t>Table </a:t>
            </a:r>
            <a:r>
              <a:rPr lang="en-US" sz="3600" b="1" dirty="0" smtClean="0">
                <a:latin typeface="+mn-lt"/>
              </a:rPr>
              <a:t>7.3</a:t>
            </a:r>
          </a:p>
          <a:p>
            <a:pPr algn="ctr"/>
            <a:r>
              <a:rPr lang="en-US" sz="3600" b="1" dirty="0" smtClean="0">
                <a:latin typeface="+mn-lt"/>
              </a:rPr>
              <a:t>  </a:t>
            </a:r>
          </a:p>
          <a:p>
            <a:pPr algn="ctr"/>
            <a:r>
              <a:rPr lang="en-US" sz="3600" b="1" dirty="0" smtClean="0">
                <a:latin typeface="+mn-lt"/>
              </a:rPr>
              <a:t>Notation </a:t>
            </a:r>
            <a:r>
              <a:rPr lang="en-US" sz="3600" b="1" dirty="0" smtClean="0">
                <a:latin typeface="+mn-lt"/>
              </a:rPr>
              <a:t>and Parameters</a:t>
            </a:r>
            <a:r>
              <a:rPr lang="en-US" sz="3600" b="1" dirty="0" smtClean="0">
                <a:latin typeface="+mn-lt"/>
              </a:rPr>
              <a:t> </a:t>
            </a:r>
          </a:p>
          <a:p>
            <a:pPr algn="ctr"/>
            <a:r>
              <a:rPr lang="en-US" sz="3600" b="1" dirty="0" smtClean="0">
                <a:latin typeface="+mn-lt"/>
              </a:rPr>
              <a:t>Used </a:t>
            </a:r>
            <a:r>
              <a:rPr lang="en-US" sz="3600" b="1" dirty="0" smtClean="0">
                <a:latin typeface="+mn-lt"/>
              </a:rPr>
              <a:t>in FPE Algorithms</a:t>
            </a:r>
            <a:r>
              <a:rPr lang="en-US" sz="3600" dirty="0" smtClean="0">
                <a:latin typeface="+mn-lt"/>
              </a:rPr>
              <a:t> </a:t>
            </a:r>
            <a:endParaRPr lang="en-US" sz="3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1000" y="152400"/>
            <a:ext cx="9092527" cy="586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" y="152400"/>
            <a:ext cx="457200" cy="304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0" y="152400"/>
            <a:ext cx="6108700" cy="647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7244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828800" y="228600"/>
            <a:ext cx="6108700" cy="629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910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71600" y="149489"/>
            <a:ext cx="6248400" cy="6402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  <a:endParaRPr lang="en-AU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2400" y="1676400"/>
            <a:ext cx="3641725" cy="5006975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Multiple encryption and triple DES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Double DES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Triple DES </a:t>
            </a:r>
            <a:r>
              <a:rPr lang="en-US" smtClean="0">
                <a:ea typeface="+mn-ea"/>
              </a:rPr>
              <a:t>with </a:t>
            </a:r>
            <a:r>
              <a:rPr lang="en-US" smtClean="0">
                <a:ea typeface="+mn-ea"/>
              </a:rPr>
              <a:t>two</a:t>
            </a:r>
            <a:r>
              <a:rPr lang="en-US" smtClean="0">
                <a:ea typeface="+mn-ea"/>
              </a:rPr>
              <a:t> </a:t>
            </a:r>
            <a:r>
              <a:rPr lang="en-US" smtClean="0">
                <a:ea typeface="+mn-ea"/>
              </a:rPr>
              <a:t>keys</a:t>
            </a:r>
            <a:endParaRPr lang="en-US" dirty="0" smtClean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Triple DES with three keys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Electronic </a:t>
            </a:r>
            <a:r>
              <a:rPr lang="en-US" dirty="0" smtClean="0">
                <a:ea typeface="+mn-ea"/>
                <a:cs typeface="+mn-cs"/>
              </a:rPr>
              <a:t>codebook</a:t>
            </a: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Cipher block chaining </a:t>
            </a:r>
            <a:r>
              <a:rPr lang="en-US" dirty="0" smtClean="0">
                <a:ea typeface="+mn-ea"/>
                <a:cs typeface="+mn-cs"/>
              </a:rPr>
              <a:t>mode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Format-preserving encryption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Motivation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Difficulties in </a:t>
            </a:r>
            <a:r>
              <a:rPr lang="en-US" dirty="0" smtClean="0">
                <a:ea typeface="+mn-ea"/>
              </a:rPr>
              <a:t>designing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err="1" smtClean="0">
                <a:ea typeface="+mn-ea"/>
                <a:cs typeface="+mn-cs"/>
              </a:rPr>
              <a:t>Feistel</a:t>
            </a:r>
            <a:r>
              <a:rPr lang="en-US" dirty="0" smtClean="0">
                <a:ea typeface="+mn-ea"/>
                <a:cs typeface="+mn-cs"/>
              </a:rPr>
              <a:t> structure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NIST methods</a:t>
            </a:r>
            <a:endParaRPr lang="en-AU" dirty="0" smtClean="0">
              <a:ea typeface="+mn-ea"/>
              <a:cs typeface="+mn-cs"/>
            </a:endParaRP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638800" y="1752600"/>
            <a:ext cx="3336925" cy="4953000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Cipher feedback mode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Output feedback mode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Counter mode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XTS-AES mode for block-oriented storage </a:t>
            </a:r>
            <a:r>
              <a:rPr lang="en-US" dirty="0" smtClean="0">
                <a:ea typeface="+mn-ea"/>
                <a:cs typeface="+mn-cs"/>
              </a:rPr>
              <a:t>devices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err="1" smtClean="0">
                <a:ea typeface="+mn-ea"/>
              </a:rPr>
              <a:t>Tweakable</a:t>
            </a:r>
            <a:r>
              <a:rPr lang="en-US" dirty="0" smtClean="0">
                <a:ea typeface="+mn-ea"/>
              </a:rPr>
              <a:t> block ciphers</a:t>
            </a:r>
            <a:endParaRPr lang="en-US" dirty="0" smtClean="0">
              <a:ea typeface="+mn-ea"/>
              <a:cs typeface="+mn-cs"/>
            </a:endParaRP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Storage encryption requirements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Operation on a single block</a:t>
            </a:r>
          </a:p>
          <a:p>
            <a:pPr lvl="1" eaLnBrk="1" fontAlgn="auto" hangingPunct="1">
              <a:spcAft>
                <a:spcPts val="0"/>
              </a:spcAft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Operation on a sector</a:t>
            </a:r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28194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1000" b="0" dirty="0" smtClean="0"/>
              <a:t>© 2017 Pearson Education, Inc., Hoboken, NJ. All rights reserved. </a:t>
            </a:r>
            <a:endParaRPr lang="en-US" sz="1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6713</TotalTime>
  <Words>8568</Words>
  <Application>Microsoft Macintosh PowerPoint</Application>
  <PresentationFormat>On-screen Show (4:3)</PresentationFormat>
  <Paragraphs>772</Paragraphs>
  <Slides>38</Slides>
  <Notes>37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Infusion</vt:lpstr>
      <vt:lpstr>Cryptography and Network Security</vt:lpstr>
      <vt:lpstr>Chapter 7</vt:lpstr>
      <vt:lpstr>Slide 3</vt:lpstr>
      <vt:lpstr>Meet-in-the-Middle Attack</vt:lpstr>
      <vt:lpstr>Triple-DES with Two-Keys</vt:lpstr>
      <vt:lpstr>Slide 6</vt:lpstr>
      <vt:lpstr>Slide 7</vt:lpstr>
      <vt:lpstr>Triple DES with Three Keys</vt:lpstr>
      <vt:lpstr>Modes of Operation</vt:lpstr>
      <vt:lpstr>Slide 10</vt:lpstr>
      <vt:lpstr>Slide 11</vt:lpstr>
      <vt:lpstr>Criteria and properties for evaluating and constructing block cipher modes of operation that are superior to ECB:</vt:lpstr>
      <vt:lpstr>Slide 13</vt:lpstr>
      <vt:lpstr>Cipher Feedback Mode</vt:lpstr>
      <vt:lpstr>Slide 15</vt:lpstr>
      <vt:lpstr>Slide 16</vt:lpstr>
      <vt:lpstr>Slide 17</vt:lpstr>
      <vt:lpstr>Advantages  of  CTR</vt:lpstr>
      <vt:lpstr>Slide 19</vt:lpstr>
      <vt:lpstr>XTS-AES Mode for Block-Oriented Storage Devices</vt:lpstr>
      <vt:lpstr>Tweakable Block Ciphers</vt:lpstr>
      <vt:lpstr>Slide 22</vt:lpstr>
      <vt:lpstr>Storage Encryption Requirements</vt:lpstr>
      <vt:lpstr>XTS-AES Operation  on  Single Block</vt:lpstr>
      <vt:lpstr>Slide 25</vt:lpstr>
      <vt:lpstr>Format-Preserving Encryption (FPE)</vt:lpstr>
      <vt:lpstr>Table 7.2   Comparison of Format-Preserving  Encryption and AES </vt:lpstr>
      <vt:lpstr>Motivation</vt:lpstr>
      <vt:lpstr>Difficulties in Designing an FPE</vt:lpstr>
      <vt:lpstr>Slide 30</vt:lpstr>
      <vt:lpstr>Character Strings</vt:lpstr>
      <vt:lpstr>Slide 32</vt:lpstr>
      <vt:lpstr>Slide 33</vt:lpstr>
      <vt:lpstr>Slide 34</vt:lpstr>
      <vt:lpstr>Slide 35</vt:lpstr>
      <vt:lpstr>Slide 36</vt:lpstr>
      <vt:lpstr>Slide 37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6</dc:subject>
  <dc:creator>Dr Lawrie Brown</dc:creator>
  <cp:keywords/>
  <dc:description/>
  <cp:lastModifiedBy>Kevin McLaughlin</cp:lastModifiedBy>
  <cp:revision>64</cp:revision>
  <dcterms:created xsi:type="dcterms:W3CDTF">2016-03-16T20:44:23Z</dcterms:created>
  <dcterms:modified xsi:type="dcterms:W3CDTF">2016-03-17T20:24:36Z</dcterms:modified>
  <cp:category/>
</cp:coreProperties>
</file>