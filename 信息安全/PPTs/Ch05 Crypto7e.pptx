
<file path=[Content_Types].xml><?xml version="1.0" encoding="utf-8"?>
<Types xmlns="http://schemas.openxmlformats.org/package/2006/content-types">
  <Override PartName="/ppt/notesSlides/notesSlide24.xml" ContentType="application/vnd.openxmlformats-officedocument.presentationml.notesSlide+xml"/>
  <Default Extension="rels" ContentType="application/vnd.openxmlformats-package.relationships+xml"/>
  <Override PartName="/ppt/slides/slide14.xml" ContentType="application/vnd.openxmlformats-officedocument.presentationml.slide+xml"/>
  <Override PartName="/ppt/slideMasters/slideMaster2.xml" ContentType="application/vnd.openxmlformats-officedocument.presentationml.slideMaster+xml"/>
  <Override PartName="/ppt/notesSlides/notesSlide16.xml" ContentType="application/vnd.openxmlformats-officedocument.presentationml.notesSlide+xml"/>
  <Default Extension="xml" ContentType="application/xml"/>
  <Override PartName="/ppt/tableStyles.xml" ContentType="application/vnd.openxmlformats-officedocument.presentationml.tableStyles+xml"/>
  <Override PartName="/ppt/notesSlides/notesSlide31.xml" ContentType="application/vnd.openxmlformats-officedocument.presentationml.notesSlide+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s/slide28.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slides/slide5.xml" ContentType="application/vnd.openxmlformats-officedocument.presentationml.slide+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5.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notesSlides/notesSlide30.xml" ContentType="application/vnd.openxmlformats-officedocument.presentationml.notesSlide+xml"/>
  <Override PartName="/ppt/handoutMasters/handoutMaster1.xml" ContentType="application/vnd.openxmlformats-officedocument.presentationml.handoutMaster+xml"/>
  <Override PartName="/ppt/slideLayouts/slideLayout15.xml" ContentType="application/vnd.openxmlformats-officedocument.presentationml.slideLayout+xml"/>
  <Override PartName="/ppt/slides/slide27.xml" ContentType="application/vnd.openxmlformats-officedocument.presentationml.slide+xml"/>
  <Override PartName="/ppt/notesSlides/notesSlide29.xml" ContentType="application/vnd.openxmlformats-officedocument.presentationml.notesSlide+xml"/>
  <Override PartName="/ppt/slides/slide20.xml" ContentType="application/vnd.openxmlformats-officedocument.presentationml.slide+xml"/>
  <Override PartName="/ppt/slideLayouts/slideLayout24.xml" ContentType="application/vnd.openxmlformats-officedocument.presentationml.slideLayout+xml"/>
  <Override PartName="/ppt/notesSlides/notesSlide22.xml" ContentType="application/vnd.openxmlformats-officedocument.presentationml.notesSlide+xml"/>
  <Override PartName="/ppt/slides/slide4.xml" ContentType="application/vnd.openxmlformats-officedocument.presentationml.slide+xml"/>
  <Override PartName="/ppt/slides/slide19.xml" ContentType="application/vnd.openxmlformats-officedocument.presentationml.slide+xml"/>
  <Override PartName="/ppt/notesSlides/notesSlide8.xml" ContentType="application/vnd.openxmlformats-officedocument.presentationml.notesSlide+xml"/>
  <Default Extension="png" ContentType="image/png"/>
  <Override PartName="/ppt/slideLayouts/slideLayout4.xml" ContentType="application/vnd.openxmlformats-officedocument.presentationml.slideLayout+xml"/>
  <Override PartName="/ppt/slides/slide12.xml" ContentType="application/vnd.openxmlformats-officedocument.presentationml.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slides/slide26.xml" ContentType="application/vnd.openxmlformats-officedocument.presentationml.slide+xml"/>
  <Override PartName="/ppt/slideLayouts/slideLayout14.xml" ContentType="application/vnd.openxmlformats-officedocument.presentationml.slideLayout+xml"/>
  <Override PartName="/ppt/notesSlides/notesSlide28.xml" ContentType="application/vnd.openxmlformats-officedocument.presentationml.notesSlide+xml"/>
  <Override PartName="/ppt/slideLayouts/slideLayout23.xml" ContentType="application/vnd.openxmlformats-officedocument.presentationml.slideLayout+xml"/>
  <Override PartName="/ppt/notesSlides/notesSlide21.xml" ContentType="application/vnd.openxmlformats-officedocument.presentationml.notesSlide+xml"/>
  <Override PartName="/ppt/slides/slide3.xml" ContentType="application/vnd.openxmlformats-officedocument.presentationml.slide+xml"/>
  <Override PartName="/ppt/slides/slide18.xml" ContentType="application/vnd.openxmlformats-officedocument.presentationml.slide+xml"/>
  <Override PartName="/ppt/slideLayouts/slideLayout3.xml" ContentType="application/vnd.openxmlformats-officedocument.presentationml.slideLayout+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theme/theme4.xml" ContentType="application/vnd.openxmlformats-officedocument.theme+xml"/>
  <Override PartName="/ppt/slideLayouts/slideLayout13.xml" ContentType="application/vnd.openxmlformats-officedocument.presentationml.slideLayout+xml"/>
  <Override PartName="/ppt/slides/slide25.xml" ContentType="application/vnd.openxmlformats-officedocument.presentationml.slide+xml"/>
  <Override PartName="/ppt/notesSlides/notesSlide27.xml" ContentType="application/vnd.openxmlformats-officedocument.presentationml.notesSlide+xml"/>
  <Override PartName="/ppt/slides/slide9.xml" ContentType="application/vnd.openxmlformats-officedocument.presentationml.slide+xml"/>
  <Override PartName="/ppt/slideLayouts/slideLayout9.xml" ContentType="application/vnd.openxmlformats-officedocument.presentationml.slideLayout+xml"/>
  <Override PartName="/ppt/slides/slide34.xml" ContentType="application/vnd.openxmlformats-officedocument.presentationml.slide+xml"/>
  <Override PartName="/ppt/slideLayouts/slideLayout22.xml" ContentType="application/vnd.openxmlformats-officedocument.presentationml.slideLayout+xml"/>
  <Override PartName="/ppt/slides/slide2.xml" ContentType="application/vnd.openxmlformats-officedocument.presentationml.slide+xml"/>
  <Override PartName="/ppt/notesSlides/notesSlide20.xml" ContentType="application/vnd.openxmlformats-officedocument.presentationml.notesSlide+xml"/>
  <Override PartName="/ppt/slideLayouts/slideLayout2.xml" ContentType="application/vnd.openxmlformats-officedocument.presentationml.slideLayout+xml"/>
  <Override PartName="/ppt/slides/slide17.xml" ContentType="application/vnd.openxmlformats-officedocument.presentationml.slide+xml"/>
  <Override PartName="/ppt/notesSlides/notesSlide19.xml" ContentType="application/vnd.openxmlformats-officedocument.presentationml.notesSlide+xml"/>
  <Override PartName="/ppt/slides/slide10.xml" ContentType="application/vnd.openxmlformats-officedocument.presentationml.slide+xml"/>
  <Override PartName="/ppt/notesSlides/notesSlide12.xml" ContentType="application/vnd.openxmlformats-officedocument.presentationml.notesSlide+xml"/>
  <Override PartName="/docProps/app.xml" ContentType="application/vnd.openxmlformats-officedocument.extended-properties+xml"/>
  <Override PartName="/ppt/notesSlides/notesSlide34.xml" ContentType="application/vnd.openxmlformats-officedocument.presentationml.notesSlide+xml"/>
  <Override PartName="/ppt/notesSlides/notesSlide4.xml" ContentType="application/vnd.openxmlformats-officedocument.presentationml.notesSlide+xml"/>
  <Override PartName="/ppt/slideLayouts/slideLayout19.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s/slide24.xml" ContentType="application/vnd.openxmlformats-officedocument.presentationml.slide+xml"/>
  <Override PartName="/ppt/notesSlides/notesSlide10.xml" ContentType="application/vnd.openxmlformats-officedocument.presentationml.notesSlide+xml"/>
  <Override PartName="/ppt/slides/slide8.xml" ContentType="application/vnd.openxmlformats-officedocument.presentationml.slide+xml"/>
  <Override PartName="/ppt/notesSlides/notesSlide26.xml" ContentType="application/vnd.openxmlformats-officedocument.presentationml.notesSlide+xml"/>
  <Override PartName="/ppt/slideLayouts/slideLayout8.xml" ContentType="application/vnd.openxmlformats-officedocument.presentationml.slideLayout+xml"/>
  <Override PartName="/ppt/slideLayouts/slideLayout21.xml" ContentType="application/vnd.openxmlformats-officedocument.presentationml.slideLayout+xml"/>
  <Override PartName="/ppt/slides/slide33.xml" ContentType="application/vnd.openxmlformats-officedocument.presentationml.slide+xml"/>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notesSlides/notesSlide18.xml" ContentType="application/vnd.openxmlformats-officedocument.presentationml.notesSlide+xml"/>
  <Default Extension="jpeg" ContentType="image/jpeg"/>
  <Override PartName="/ppt/viewProps.xml" ContentType="application/vnd.openxmlformats-officedocument.presentationml.viewProps+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slideLayouts/slideLayout18.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s/slide23.xml" ContentType="application/vnd.openxmlformats-officedocument.presentationml.slide+xml"/>
  <Override PartName="/ppt/notesSlides/notesSlide25.xml" ContentType="application/vnd.openxmlformats-officedocument.presentationml.notesSlide+xml"/>
  <Override PartName="/ppt/slides/slide7.xml" ContentType="application/vnd.openxmlformats-officedocument.presentationml.slide+xml"/>
  <Override PartName="/ppt/slideLayouts/slideLayout7.xml" ContentType="application/vnd.openxmlformats-officedocument.presentationml.slideLayout+xml"/>
  <Override PartName="/ppt/slideLayouts/slideLayout20.xml" ContentType="application/vnd.openxmlformats-officedocument.presentationml.slideLayout+xml"/>
  <Override PartName="/ppt/slides/slide32.xml" ContentType="application/vnd.openxmlformats-officedocument.presentationml.slide+xml"/>
  <Override PartName="/ppt/notesMasters/notesMaster1.xml" ContentType="application/vnd.openxmlformats-officedocument.presentationml.notesMaster+xml"/>
  <Override PartName="/ppt/slides/slide15.xml" ContentType="application/vnd.openxmlformats-officedocument.presentationml.slide+xml"/>
  <Override PartName="/ppt/notesSlides/notesSlide1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slideLayouts/slideLayout17.xml" ContentType="application/vnd.openxmlformats-officedocument.presentationml.slideLayout+xml"/>
  <Override PartName="/ppt/slides/slide29.xml" ContentType="application/vnd.openxmlformats-officedocument.presentationml.slide+xml"/>
  <Override PartName="/ppt/theme/theme1.xml" ContentType="application/vnd.openxmlformats-officedocument.them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s/slide6.xml" ContentType="application/vnd.openxmlformats-officedocument.presentationml.slide+xml"/>
  <Default Extension="bin" ContentType="application/vnd.openxmlformats-officedocument.presentationml.printerSettings"/>
  <Override PartName="/ppt/slideLayouts/slideLayout6.xml" ContentType="application/vnd.openxmlformats-officedocument.presentationml.slideLayout+xml"/>
  <Override PartName="/ppt/slides/slide31.xml" ContentType="application/vnd.openxmlformats-officedocument.presentationml.slide+xml"/>
  <Default Extension="pdf" ContentType="application/pd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9" r:id="rId1"/>
    <p:sldMasterId id="2147483697" r:id="rId2"/>
  </p:sldMasterIdLst>
  <p:notesMasterIdLst>
    <p:notesMasterId r:id="rId37"/>
  </p:notesMasterIdLst>
  <p:handoutMasterIdLst>
    <p:handoutMasterId r:id="rId38"/>
  </p:handoutMasterIdLst>
  <p:sldIdLst>
    <p:sldId id="324" r:id="rId3"/>
    <p:sldId id="325" r:id="rId4"/>
    <p:sldId id="360" r:id="rId5"/>
    <p:sldId id="319" r:id="rId6"/>
    <p:sldId id="320" r:id="rId7"/>
    <p:sldId id="321" r:id="rId8"/>
    <p:sldId id="342" r:id="rId9"/>
    <p:sldId id="322" r:id="rId10"/>
    <p:sldId id="323" r:id="rId11"/>
    <p:sldId id="361" r:id="rId12"/>
    <p:sldId id="289" r:id="rId13"/>
    <p:sldId id="362" r:id="rId14"/>
    <p:sldId id="363" r:id="rId15"/>
    <p:sldId id="364" r:id="rId16"/>
    <p:sldId id="365" r:id="rId17"/>
    <p:sldId id="366" r:id="rId18"/>
    <p:sldId id="367" r:id="rId19"/>
    <p:sldId id="348" r:id="rId20"/>
    <p:sldId id="294" r:id="rId21"/>
    <p:sldId id="349" r:id="rId22"/>
    <p:sldId id="296" r:id="rId23"/>
    <p:sldId id="297" r:id="rId24"/>
    <p:sldId id="350" r:id="rId25"/>
    <p:sldId id="298" r:id="rId26"/>
    <p:sldId id="351" r:id="rId27"/>
    <p:sldId id="354" r:id="rId28"/>
    <p:sldId id="355" r:id="rId29"/>
    <p:sldId id="300" r:id="rId30"/>
    <p:sldId id="356" r:id="rId31"/>
    <p:sldId id="301" r:id="rId32"/>
    <p:sldId id="303" r:id="rId33"/>
    <p:sldId id="357" r:id="rId34"/>
    <p:sldId id="359" r:id="rId35"/>
    <p:sldId id="327" r:id="rId36"/>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clrMode="gray"/>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9721" autoAdjust="0"/>
    <p:restoredTop sz="81538" autoAdjust="0"/>
  </p:normalViewPr>
  <p:slideViewPr>
    <p:cSldViewPr>
      <p:cViewPr>
        <p:scale>
          <a:sx n="100" d="100"/>
          <a:sy n="100" d="100"/>
        </p:scale>
        <p:origin x="-808" y="-5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7" d="100"/>
          <a:sy n="127" d="100"/>
        </p:scale>
        <p:origin x="-1496" y="-12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printerSettings" Target="printerSettings/printerSettings1.bin"/><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8499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8499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8499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F217DA43-F7AE-7641-96F9-03D7730E69DC}"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B1B765E1-EB55-3F42-96E6-9BC39CDD5E78}"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F8213168-CBB8-004E-B161-E3C8E26BC09B}" type="slidenum">
              <a:rPr lang="en-AU">
                <a:latin typeface="Arial" pitchFamily="-84" charset="0"/>
              </a:rPr>
              <a:pPr/>
              <a:t>1</a:t>
            </a:fld>
            <a:endParaRPr lang="en-AU">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a:t>
            </a:r>
            <a:r>
              <a:rPr lang="en-US" dirty="0" smtClean="0">
                <a:latin typeface="Times New Roman" pitchFamily="-84" charset="0"/>
                <a:ea typeface="ＭＳ Ｐゴシック" pitchFamily="-84" charset="-128"/>
                <a:cs typeface="ＭＳ Ｐゴシック" pitchFamily="-84" charset="-128"/>
              </a:rPr>
              <a:t> 7/</a:t>
            </a:r>
            <a:r>
              <a:rPr lang="en-US" dirty="0" smtClean="0">
                <a:latin typeface="Times New Roman" pitchFamily="-84" charset="0"/>
                <a:ea typeface="ＭＳ Ｐゴシック" pitchFamily="-84" charset="-128"/>
                <a:cs typeface="ＭＳ Ｐゴシック" pitchFamily="-84" charset="-128"/>
              </a:rPr>
              <a:t>e, by William Stallings</a:t>
            </a:r>
            <a:r>
              <a:rPr lang="en-US" dirty="0" smtClean="0">
                <a:latin typeface="Arial" pitchFamily="-84" charset="0"/>
                <a:ea typeface="ＭＳ Ｐゴシック" pitchFamily="-84" charset="-128"/>
                <a:cs typeface="ＭＳ Ｐゴシック" pitchFamily="-84" charset="-128"/>
              </a:rPr>
              <a:t>, Chapter</a:t>
            </a:r>
            <a:r>
              <a:rPr lang="en-US" dirty="0" smtClean="0">
                <a:latin typeface="Arial" pitchFamily="-84" charset="0"/>
                <a:ea typeface="ＭＳ Ｐゴシック" pitchFamily="-84" charset="-128"/>
                <a:cs typeface="ＭＳ Ｐゴシック" pitchFamily="-84" charset="-128"/>
              </a:rPr>
              <a:t> 5 </a:t>
            </a:r>
            <a:r>
              <a:rPr lang="en-US"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“Finite </a:t>
            </a:r>
            <a:r>
              <a:rPr lang="en-US" dirty="0" smtClean="0">
                <a:latin typeface="Arial" pitchFamily="-84" charset="0"/>
                <a:ea typeface="ＭＳ Ｐゴシック" pitchFamily="-84" charset="-128"/>
                <a:cs typeface="ＭＳ Ｐゴシック" pitchFamily="-84" charset="-128"/>
              </a:rPr>
              <a:t>Fields”.</a:t>
            </a:r>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Finite fields have become increasingly important in cryptography. A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cryptographic algorithms rely heavily on properties of finite fields, notably the</a:t>
            </a:r>
          </a:p>
          <a:p>
            <a:r>
              <a:rPr lang="en-US" sz="1200" kern="1200" baseline="0" dirty="0" smtClean="0">
                <a:solidFill>
                  <a:schemeClr val="tx1"/>
                </a:solidFill>
                <a:latin typeface="Arial" charset="0"/>
                <a:ea typeface="ＭＳ Ｐゴシック" pitchFamily="-107" charset="-128"/>
                <a:cs typeface="ＭＳ Ｐゴシック" pitchFamily="-107" charset="-128"/>
              </a:rPr>
              <a:t>Advanced Encryption Standard (AES) and elliptic curve cryptography. Other examples</a:t>
            </a:r>
          </a:p>
          <a:p>
            <a:r>
              <a:rPr lang="en-US" sz="1200" kern="1200" baseline="0" dirty="0" smtClean="0">
                <a:solidFill>
                  <a:schemeClr val="tx1"/>
                </a:solidFill>
                <a:latin typeface="Arial" charset="0"/>
                <a:ea typeface="ＭＳ Ｐゴシック" pitchFamily="-107" charset="-128"/>
                <a:cs typeface="ＭＳ Ｐゴシック" pitchFamily="-107" charset="-128"/>
              </a:rPr>
              <a:t>include the message authentication code CMAC and the authenticated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scheme GCM.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This chapter provides the reader with sufficient background on the concepts of</a:t>
            </a:r>
          </a:p>
          <a:p>
            <a:r>
              <a:rPr lang="en-US" sz="1200" kern="1200" baseline="0" dirty="0" smtClean="0">
                <a:solidFill>
                  <a:schemeClr val="tx1"/>
                </a:solidFill>
                <a:latin typeface="Arial" charset="0"/>
                <a:ea typeface="ＭＳ Ｐゴシック" pitchFamily="-107" charset="-128"/>
                <a:cs typeface="ＭＳ Ｐゴシック" pitchFamily="-107" charset="-128"/>
              </a:rPr>
              <a:t>finite fields to be able to understand the design of AES and other cryptographic algorithms</a:t>
            </a:r>
          </a:p>
          <a:p>
            <a:r>
              <a:rPr lang="en-US" sz="1200" kern="1200" baseline="0" dirty="0" smtClean="0">
                <a:solidFill>
                  <a:schemeClr val="tx1"/>
                </a:solidFill>
                <a:latin typeface="Arial" charset="0"/>
                <a:ea typeface="ＭＳ Ｐゴシック" pitchFamily="-107" charset="-128"/>
                <a:cs typeface="ＭＳ Ｐゴシック" pitchFamily="-107" charset="-128"/>
              </a:rPr>
              <a:t>that use finite fields. Because students unfamiliar with abstract algebra may find</a:t>
            </a:r>
          </a:p>
          <a:p>
            <a:r>
              <a:rPr lang="en-US" sz="1200" kern="1200" baseline="0" dirty="0" smtClean="0">
                <a:solidFill>
                  <a:schemeClr val="tx1"/>
                </a:solidFill>
                <a:latin typeface="Arial" charset="0"/>
                <a:ea typeface="ＭＳ Ｐゴシック" pitchFamily="-107" charset="-128"/>
                <a:cs typeface="ＭＳ Ｐゴシック" pitchFamily="-107" charset="-128"/>
              </a:rPr>
              <a:t>the concepts behind finite fields somewhat difficult to grasp, we approach the topic in a</a:t>
            </a:r>
          </a:p>
          <a:p>
            <a:r>
              <a:rPr lang="en-US" sz="1200" kern="1200" baseline="0" dirty="0" smtClean="0">
                <a:solidFill>
                  <a:schemeClr val="tx1"/>
                </a:solidFill>
                <a:latin typeface="Arial" charset="0"/>
                <a:ea typeface="ＭＳ Ｐゴシック" pitchFamily="-107" charset="-128"/>
                <a:cs typeface="ＭＳ Ｐゴシック" pitchFamily="-107" charset="-128"/>
              </a:rPr>
              <a:t>way designed to enhance understanding. Our plan of attack is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Fields are a subset of a larger class of algebraic structures called rings, which</a:t>
            </a:r>
          </a:p>
          <a:p>
            <a:r>
              <a:rPr lang="en-US" sz="1200" kern="1200" baseline="0" dirty="0" smtClean="0">
                <a:solidFill>
                  <a:schemeClr val="tx1"/>
                </a:solidFill>
                <a:latin typeface="Arial" charset="0"/>
                <a:ea typeface="ＭＳ Ｐゴシック" pitchFamily="-107" charset="-128"/>
                <a:cs typeface="ＭＳ Ｐゴシック" pitchFamily="-107" charset="-128"/>
              </a:rPr>
              <a:t>are in turn a subset of the larger class of groups. In fact, as shown in Figure 5.1,</a:t>
            </a:r>
          </a:p>
          <a:p>
            <a:r>
              <a:rPr lang="en-US" sz="1200" kern="1200" baseline="0" dirty="0" smtClean="0">
                <a:solidFill>
                  <a:schemeClr val="tx1"/>
                </a:solidFill>
                <a:latin typeface="Arial" charset="0"/>
                <a:ea typeface="ＭＳ Ｐゴシック" pitchFamily="-107" charset="-128"/>
                <a:cs typeface="ＭＳ Ｐゴシック" pitchFamily="-107" charset="-128"/>
              </a:rPr>
              <a:t>both groups and rings can be further differentiated. Groups are defined by</a:t>
            </a:r>
          </a:p>
          <a:p>
            <a:r>
              <a:rPr lang="en-US" sz="1200" kern="1200" baseline="0" dirty="0" smtClean="0">
                <a:solidFill>
                  <a:schemeClr val="tx1"/>
                </a:solidFill>
                <a:latin typeface="Arial" charset="0"/>
                <a:ea typeface="ＭＳ Ｐゴシック" pitchFamily="-107" charset="-128"/>
                <a:cs typeface="ＭＳ Ｐゴシック" pitchFamily="-107" charset="-128"/>
              </a:rPr>
              <a:t>a simple set of properties and are easily understood. Each successive subset</a:t>
            </a:r>
          </a:p>
          <a:p>
            <a:r>
              <a:rPr lang="en-US" sz="1200" kern="1200" baseline="0" dirty="0" smtClean="0">
                <a:solidFill>
                  <a:schemeClr val="tx1"/>
                </a:solidFill>
                <a:latin typeface="Arial" charset="0"/>
                <a:ea typeface="ＭＳ Ｐゴシック" pitchFamily="-107" charset="-128"/>
                <a:cs typeface="ＭＳ Ｐゴシック" pitchFamily="-107" charset="-128"/>
              </a:rPr>
              <a:t>(</a:t>
            </a:r>
            <a:r>
              <a:rPr lang="en-US" sz="1200" kern="1200" baseline="0" dirty="0" err="1" smtClean="0">
                <a:solidFill>
                  <a:schemeClr val="tx1"/>
                </a:solidFill>
                <a:latin typeface="Arial" charset="0"/>
                <a:ea typeface="ＭＳ Ｐゴシック" pitchFamily="-107" charset="-128"/>
                <a:cs typeface="ＭＳ Ｐゴシック" pitchFamily="-107" charset="-128"/>
              </a:rPr>
              <a:t>abelian</a:t>
            </a:r>
            <a:r>
              <a:rPr lang="en-US" sz="1200" kern="1200" baseline="0" dirty="0" smtClean="0">
                <a:solidFill>
                  <a:schemeClr val="tx1"/>
                </a:solidFill>
                <a:latin typeface="Arial" charset="0"/>
                <a:ea typeface="ＭＳ Ｐゴシック" pitchFamily="-107" charset="-128"/>
                <a:cs typeface="ＭＳ Ｐゴシック" pitchFamily="-107" charset="-128"/>
              </a:rPr>
              <a:t> group, ring, commutative ring, and so on) adds additional properties</a:t>
            </a:r>
          </a:p>
          <a:p>
            <a:r>
              <a:rPr lang="en-US" sz="1200" kern="1200" baseline="0" dirty="0" smtClean="0">
                <a:solidFill>
                  <a:schemeClr val="tx1"/>
                </a:solidFill>
                <a:latin typeface="Arial" charset="0"/>
                <a:ea typeface="ＭＳ Ｐゴシック" pitchFamily="-107" charset="-128"/>
                <a:cs typeface="ＭＳ Ｐゴシック" pitchFamily="-107" charset="-128"/>
              </a:rPr>
              <a:t>and is thus more complex. Sections 5.1 through 5.3 will examine groups, rings,</a:t>
            </a:r>
          </a:p>
          <a:p>
            <a:r>
              <a:rPr lang="en-US" sz="1200" kern="1200" baseline="0" dirty="0" smtClean="0">
                <a:solidFill>
                  <a:schemeClr val="tx1"/>
                </a:solidFill>
                <a:latin typeface="Arial" charset="0"/>
                <a:ea typeface="ＭＳ Ｐゴシック" pitchFamily="-107" charset="-128"/>
                <a:cs typeface="ＭＳ Ｐゴシック" pitchFamily="-107" charset="-128"/>
              </a:rPr>
              <a:t>and fields, successively.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Finite fields are a subset of fields, consisting of those fields with a finite number</a:t>
            </a:r>
          </a:p>
          <a:p>
            <a:r>
              <a:rPr lang="en-US" sz="1200" kern="1200" baseline="0" dirty="0" smtClean="0">
                <a:solidFill>
                  <a:schemeClr val="tx1"/>
                </a:solidFill>
                <a:latin typeface="Arial" charset="0"/>
                <a:ea typeface="ＭＳ Ｐゴシック" pitchFamily="-107" charset="-128"/>
                <a:cs typeface="ＭＳ Ｐゴシック" pitchFamily="-107" charset="-128"/>
              </a:rPr>
              <a:t>of elements. These are the class of fields that are found in cryptographic</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With the concepts of fields in hand, we turn in Section 5.4 to a</a:t>
            </a:r>
          </a:p>
          <a:p>
            <a:r>
              <a:rPr lang="en-US" sz="1200" kern="1200" baseline="0" dirty="0" smtClean="0">
                <a:solidFill>
                  <a:schemeClr val="tx1"/>
                </a:solidFill>
                <a:latin typeface="Arial" charset="0"/>
                <a:ea typeface="ＭＳ Ｐゴシック" pitchFamily="-107" charset="-128"/>
                <a:cs typeface="ＭＳ Ｐゴシック" pitchFamily="-107" charset="-128"/>
              </a:rPr>
              <a:t>specific class of finite fields, namely those with </a:t>
            </a:r>
            <a:r>
              <a:rPr lang="en-US" sz="1200" kern="1200" baseline="0" dirty="0" err="1" smtClean="0">
                <a:solidFill>
                  <a:schemeClr val="tx1"/>
                </a:solidFill>
                <a:latin typeface="Arial" charset="0"/>
                <a:ea typeface="ＭＳ Ｐゴシック" pitchFamily="-107" charset="-128"/>
                <a:cs typeface="ＭＳ Ｐゴシック" pitchFamily="-107" charset="-128"/>
              </a:rPr>
              <a:t>p</a:t>
            </a:r>
            <a:r>
              <a:rPr lang="en-US" sz="1200" kern="1200" baseline="0" dirty="0" smtClean="0">
                <a:solidFill>
                  <a:schemeClr val="tx1"/>
                </a:solidFill>
                <a:latin typeface="Arial" charset="0"/>
                <a:ea typeface="ＭＳ Ｐゴシック" pitchFamily="-107" charset="-128"/>
                <a:cs typeface="ＭＳ Ｐゴシック" pitchFamily="-107" charset="-128"/>
              </a:rPr>
              <a:t>  elements, where</a:t>
            </a:r>
            <a:r>
              <a:rPr lang="en-US" sz="1200" i="1" kern="1200" baseline="0" dirty="0" smtClean="0">
                <a:solidFill>
                  <a:schemeClr val="tx1"/>
                </a:solidFill>
                <a:latin typeface="Arial" charset="0"/>
                <a:ea typeface="ＭＳ Ｐゴシック" pitchFamily="-107" charset="-128"/>
                <a:cs typeface="ＭＳ Ｐゴシック" pitchFamily="-107" charset="-128"/>
              </a:rPr>
              <a:t> </a:t>
            </a:r>
            <a:r>
              <a:rPr lang="en-US" sz="1200" i="1" kern="1200" baseline="0" dirty="0" err="1" smtClean="0">
                <a:solidFill>
                  <a:schemeClr val="tx1"/>
                </a:solidFill>
                <a:latin typeface="Arial" charset="0"/>
                <a:ea typeface="ＭＳ Ｐゴシック" pitchFamily="-107" charset="-128"/>
                <a:cs typeface="ＭＳ Ｐゴシック" pitchFamily="-107" charset="-128"/>
              </a:rPr>
              <a:t>p</a:t>
            </a:r>
            <a:r>
              <a:rPr lang="en-US" sz="1200" i="1" kern="1200" baseline="0" dirty="0" smtClean="0">
                <a:solidFill>
                  <a:schemeClr val="tx1"/>
                </a:solidFill>
                <a:latin typeface="Arial" charset="0"/>
                <a:ea typeface="ＭＳ Ｐゴシック" pitchFamily="-107" charset="-128"/>
                <a:cs typeface="ＭＳ Ｐゴシック" pitchFamily="-107" charset="-128"/>
              </a:rPr>
              <a:t>  </a:t>
            </a:r>
            <a:r>
              <a:rPr lang="en-US" sz="1200" kern="1200" baseline="0" dirty="0" smtClean="0">
                <a:solidFill>
                  <a:schemeClr val="tx1"/>
                </a:solidFill>
                <a:latin typeface="Arial" charset="0"/>
                <a:ea typeface="ＭＳ Ｐゴシック" pitchFamily="-107" charset="-128"/>
                <a:cs typeface="ＭＳ Ｐゴシック" pitchFamily="-107" charset="-128"/>
              </a:rPr>
              <a:t>is prime.</a:t>
            </a:r>
          </a:p>
          <a:p>
            <a:r>
              <a:rPr lang="en-US" sz="1200" kern="1200" baseline="0" dirty="0" smtClean="0">
                <a:solidFill>
                  <a:schemeClr val="tx1"/>
                </a:solidFill>
                <a:latin typeface="Arial" charset="0"/>
                <a:ea typeface="ＭＳ Ｐゴシック" pitchFamily="-107" charset="-128"/>
                <a:cs typeface="ＭＳ Ｐゴシック" pitchFamily="-107" charset="-128"/>
              </a:rPr>
              <a:t>Certain asymmetric cryptographic algorithms make use of such fields.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A more important class of finite fields, for cryptography, comprises those with</a:t>
            </a:r>
          </a:p>
          <a:p>
            <a:r>
              <a:rPr lang="en-US" sz="1200" kern="1200" baseline="0" dirty="0" smtClean="0">
                <a:solidFill>
                  <a:schemeClr val="tx1"/>
                </a:solidFill>
                <a:latin typeface="Arial" charset="0"/>
                <a:ea typeface="ＭＳ Ｐゴシック" pitchFamily="-107" charset="-128"/>
                <a:cs typeface="ＭＳ Ｐゴシック" pitchFamily="-107" charset="-128"/>
              </a:rPr>
              <a:t>2</a:t>
            </a:r>
            <a:r>
              <a:rPr lang="en-US" sz="1200" b="0" i="1"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elements depicted as fields of the form GF(2</a:t>
            </a:r>
            <a:r>
              <a:rPr lang="en-US" sz="1200" b="0" i="1"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 These are used in a wide</a:t>
            </a:r>
          </a:p>
          <a:p>
            <a:r>
              <a:rPr lang="en-US" sz="1200" kern="1200" baseline="0" dirty="0" smtClean="0">
                <a:solidFill>
                  <a:schemeClr val="tx1"/>
                </a:solidFill>
                <a:latin typeface="Arial" charset="0"/>
                <a:ea typeface="ＭＳ Ｐゴシック" pitchFamily="-107" charset="-128"/>
                <a:cs typeface="ＭＳ Ｐゴシック" pitchFamily="-107" charset="-128"/>
              </a:rPr>
              <a:t>variety of cryptographic algorithms. However, before discussing these fields, we</a:t>
            </a:r>
          </a:p>
          <a:p>
            <a:r>
              <a:rPr lang="en-US" sz="1200" kern="1200" baseline="0" dirty="0" smtClean="0">
                <a:solidFill>
                  <a:schemeClr val="tx1"/>
                </a:solidFill>
                <a:latin typeface="Arial" charset="0"/>
                <a:ea typeface="ＭＳ Ｐゴシック" pitchFamily="-107" charset="-128"/>
                <a:cs typeface="ＭＳ Ｐゴシック" pitchFamily="-107" charset="-128"/>
              </a:rPr>
              <a:t>need to analyze the topic of polynomial arithmetic, which is done in Section 5.5.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With all of this preliminary work done, we are able at last, in Section 5.6, to</a:t>
            </a:r>
          </a:p>
          <a:p>
            <a:r>
              <a:rPr lang="en-US" sz="1200" kern="1200" baseline="0" dirty="0" smtClean="0">
                <a:solidFill>
                  <a:schemeClr val="tx1"/>
                </a:solidFill>
                <a:latin typeface="Arial" charset="0"/>
                <a:ea typeface="ＭＳ Ｐゴシック" pitchFamily="-107" charset="-128"/>
                <a:cs typeface="ＭＳ Ｐゴシック" pitchFamily="-107" charset="-128"/>
              </a:rPr>
              <a:t>discuss finite fields of the form GF(2</a:t>
            </a:r>
            <a:r>
              <a:rPr lang="en-US" sz="1200" b="0" i="1" kern="1200" baseline="30000" dirty="0" smtClean="0">
                <a:solidFill>
                  <a:schemeClr val="tx1"/>
                </a:solidFill>
                <a:latin typeface="Arial" charset="0"/>
                <a:ea typeface="ＭＳ Ｐゴシック" pitchFamily="-107" charset="-128"/>
                <a:cs typeface="ＭＳ Ｐゴシック" pitchFamily="-107" charset="-128"/>
              </a:rPr>
              <a:t>n</a:t>
            </a:r>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the reader may wish to review Sections 2.1 through 2.3, which</a:t>
            </a:r>
          </a:p>
          <a:p>
            <a:r>
              <a:rPr lang="en-US" sz="1200" kern="1200" baseline="0" dirty="0" smtClean="0">
                <a:solidFill>
                  <a:schemeClr val="tx1"/>
                </a:solidFill>
                <a:latin typeface="Arial" charset="0"/>
                <a:ea typeface="ＭＳ Ｐゴシック" pitchFamily="-107" charset="-128"/>
                <a:cs typeface="ＭＳ Ｐゴシック" pitchFamily="-107" charset="-128"/>
              </a:rPr>
              <a:t>cover relevant topics in number theory.</a:t>
            </a:r>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B80C2CB9-0E3F-284F-82E5-C13EA3B1B06E}" type="slidenum">
              <a:rPr lang="en-AU" smtClean="0">
                <a:latin typeface="Arial" pitchFamily="-84" charset="0"/>
              </a:rPr>
              <a:pPr/>
              <a:t>2</a:t>
            </a:fld>
            <a:endParaRPr lang="en-AU"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dirty="0" smtClean="0"/>
              <a:t>Groups, rings, and fields are the fundamental elements of a branch of mathematics</a:t>
            </a:r>
          </a:p>
          <a:p>
            <a:pPr>
              <a:defRPr/>
            </a:pPr>
            <a:r>
              <a:rPr lang="en-US" dirty="0" smtClean="0"/>
              <a:t>known as abstract algebra, or modern algebra. In abstract algebra, we are concerned</a:t>
            </a:r>
          </a:p>
          <a:p>
            <a:pPr>
              <a:defRPr/>
            </a:pPr>
            <a:r>
              <a:rPr lang="en-US" dirty="0" smtClean="0"/>
              <a:t>with sets on whose elements we can operate algebraically; that is, we can combine</a:t>
            </a:r>
          </a:p>
          <a:p>
            <a:pPr>
              <a:defRPr/>
            </a:pPr>
            <a:r>
              <a:rPr lang="en-US" dirty="0" smtClean="0"/>
              <a:t>two elements of the set, perhaps in several ways, to obtain a third element of the set.</a:t>
            </a:r>
          </a:p>
          <a:p>
            <a:pPr>
              <a:defRPr/>
            </a:pPr>
            <a:r>
              <a:rPr lang="en-US" dirty="0" smtClean="0"/>
              <a:t>These operations are subject to specific rules, which define the nature of the set. By</a:t>
            </a:r>
          </a:p>
          <a:p>
            <a:pPr>
              <a:defRPr/>
            </a:pPr>
            <a:r>
              <a:rPr lang="en-US" dirty="0" smtClean="0"/>
              <a:t>convention, the notation for the two principal classes of operations</a:t>
            </a:r>
          </a:p>
          <a:p>
            <a:pPr>
              <a:defRPr/>
            </a:pPr>
            <a:r>
              <a:rPr lang="en-US" dirty="0" smtClean="0"/>
              <a:t>on set elements is usually the same as the notation for addition and multiplication on ordinary numbers.</a:t>
            </a:r>
          </a:p>
          <a:p>
            <a:pPr>
              <a:defRPr/>
            </a:pPr>
            <a:r>
              <a:rPr lang="en-US" dirty="0" smtClean="0"/>
              <a:t>However, it is important to note that, in abstract algebra, we are not limited to</a:t>
            </a:r>
          </a:p>
          <a:p>
            <a:pPr>
              <a:defRPr/>
            </a:pPr>
            <a:r>
              <a:rPr lang="en-US" dirty="0" smtClean="0"/>
              <a:t>ordinary arithmetical operations. All this should become clear as we proceed.</a:t>
            </a:r>
          </a:p>
          <a:p>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3</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2215C305-00C5-CE4B-9FC2-6AC8B787271B}" type="slidenum">
              <a:rPr lang="en-AU">
                <a:latin typeface="Arial" pitchFamily="-84" charset="0"/>
              </a:rPr>
              <a:pPr/>
              <a:t>4</a:t>
            </a:fld>
            <a:endParaRPr lang="en-AU">
              <a:latin typeface="Arial" pitchFamily="-84" charset="0"/>
            </a:endParaRPr>
          </a:p>
        </p:txBody>
      </p:sp>
      <p:sp>
        <p:nvSpPr>
          <p:cNvPr id="7577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ln/>
        </p:spPr>
        <p:txBody>
          <a:bodyPr/>
          <a:lstStyle/>
          <a:p>
            <a:pPr>
              <a:defRPr/>
            </a:pPr>
            <a:r>
              <a:rPr lang="en-US" dirty="0" smtClean="0"/>
              <a:t>A </a:t>
            </a:r>
            <a:r>
              <a:rPr lang="en-US" dirty="0" smtClean="0"/>
              <a:t>group </a:t>
            </a:r>
            <a:r>
              <a:rPr lang="en-US" i="1" dirty="0" smtClean="0"/>
              <a:t>G</a:t>
            </a:r>
            <a:r>
              <a:rPr lang="en-US" dirty="0" smtClean="0"/>
              <a:t> , sometimes denoted by {</a:t>
            </a:r>
            <a:r>
              <a:rPr lang="en-US" i="1" dirty="0" smtClean="0"/>
              <a:t>G</a:t>
            </a:r>
            <a:r>
              <a:rPr lang="en-US" dirty="0" smtClean="0"/>
              <a:t> , * }, is a set of elements with a binary operation</a:t>
            </a:r>
          </a:p>
          <a:p>
            <a:pPr>
              <a:defRPr/>
            </a:pPr>
            <a:r>
              <a:rPr lang="en-US" dirty="0" smtClean="0"/>
              <a:t>denoted by *  that associates to each ordered pair (</a:t>
            </a:r>
            <a:r>
              <a:rPr lang="en-US" i="1" dirty="0" smtClean="0"/>
              <a:t>a, b </a:t>
            </a:r>
            <a:r>
              <a:rPr lang="en-US" dirty="0" smtClean="0"/>
              <a:t>) of elements in </a:t>
            </a:r>
            <a:r>
              <a:rPr lang="en-US" i="1" dirty="0" smtClean="0"/>
              <a:t>G</a:t>
            </a:r>
            <a:r>
              <a:rPr lang="en-US" dirty="0" smtClean="0"/>
              <a:t>  an element</a:t>
            </a:r>
          </a:p>
          <a:p>
            <a:pPr>
              <a:defRPr/>
            </a:pPr>
            <a:r>
              <a:rPr lang="en-US" dirty="0" smtClean="0"/>
              <a:t>(</a:t>
            </a:r>
            <a:r>
              <a:rPr lang="en-US" i="1" dirty="0" smtClean="0"/>
              <a:t>a</a:t>
            </a:r>
            <a:r>
              <a:rPr lang="en-US" i="1" dirty="0" smtClean="0"/>
              <a:t> * </a:t>
            </a:r>
            <a:r>
              <a:rPr lang="en-US" i="1" dirty="0" smtClean="0"/>
              <a:t>b </a:t>
            </a:r>
            <a:r>
              <a:rPr lang="en-US" dirty="0" smtClean="0"/>
              <a:t>) in G , such that the following axioms are obeyed:</a:t>
            </a:r>
          </a:p>
          <a:p>
            <a:pPr>
              <a:defRPr/>
            </a:pPr>
            <a:endParaRPr lang="en-US" dirty="0" smtClean="0"/>
          </a:p>
          <a:p>
            <a:pPr lvl="1">
              <a:spcBef>
                <a:spcPts val="1300"/>
              </a:spcBef>
              <a:defRPr/>
            </a:pPr>
            <a:r>
              <a:rPr lang="en-US" dirty="0" smtClean="0"/>
              <a:t>(A1) Closure: </a:t>
            </a:r>
          </a:p>
          <a:p>
            <a:pPr lvl="2">
              <a:spcBef>
                <a:spcPts val="1300"/>
              </a:spcBef>
              <a:defRPr/>
            </a:pPr>
            <a:r>
              <a:rPr lang="en-US" dirty="0" smtClean="0"/>
              <a:t>If </a:t>
            </a:r>
            <a:r>
              <a:rPr lang="en-US" i="1" dirty="0" smtClean="0"/>
              <a:t>a</a:t>
            </a:r>
            <a:r>
              <a:rPr lang="en-US" dirty="0" smtClean="0"/>
              <a:t> and </a:t>
            </a:r>
            <a:r>
              <a:rPr lang="en-US" i="1" dirty="0" smtClean="0"/>
              <a:t>b</a:t>
            </a:r>
            <a:r>
              <a:rPr lang="en-US" dirty="0" smtClean="0"/>
              <a:t> belong to </a:t>
            </a:r>
            <a:r>
              <a:rPr lang="en-US" i="1" dirty="0" smtClean="0"/>
              <a:t>G</a:t>
            </a:r>
            <a:r>
              <a:rPr lang="en-US" dirty="0" smtClean="0"/>
              <a:t>, then </a:t>
            </a:r>
            <a:r>
              <a:rPr lang="en-US" i="1" dirty="0" smtClean="0"/>
              <a:t>a * b</a:t>
            </a:r>
            <a:r>
              <a:rPr lang="en-US" dirty="0" smtClean="0"/>
              <a:t> is also in </a:t>
            </a:r>
            <a:r>
              <a:rPr lang="en-US" i="1" dirty="0" smtClean="0"/>
              <a:t>G</a:t>
            </a:r>
          </a:p>
          <a:p>
            <a:pPr lvl="1">
              <a:spcBef>
                <a:spcPts val="1300"/>
              </a:spcBef>
              <a:defRPr/>
            </a:pPr>
            <a:r>
              <a:rPr lang="en-US" dirty="0" smtClean="0"/>
              <a:t>(A2) Associative: </a:t>
            </a:r>
          </a:p>
          <a:p>
            <a:pPr lvl="2">
              <a:spcBef>
                <a:spcPts val="1300"/>
              </a:spcBef>
              <a:defRPr/>
            </a:pPr>
            <a:r>
              <a:rPr lang="en-US" i="1" dirty="0" smtClean="0"/>
              <a:t>a * (b * c) = (a * b) * c </a:t>
            </a:r>
            <a:r>
              <a:rPr lang="en-US" dirty="0" smtClean="0"/>
              <a:t>for all </a:t>
            </a:r>
            <a:r>
              <a:rPr lang="en-US" i="1" dirty="0" smtClean="0"/>
              <a:t>a, b, c </a:t>
            </a:r>
            <a:r>
              <a:rPr lang="en-US" dirty="0" smtClean="0"/>
              <a:t>in </a:t>
            </a:r>
            <a:r>
              <a:rPr lang="en-US" i="1" dirty="0" smtClean="0"/>
              <a:t>G</a:t>
            </a:r>
          </a:p>
          <a:p>
            <a:pPr lvl="1">
              <a:spcBef>
                <a:spcPts val="1300"/>
              </a:spcBef>
              <a:defRPr/>
            </a:pPr>
            <a:r>
              <a:rPr lang="en-US" dirty="0" smtClean="0"/>
              <a:t>(A3) Identity element: </a:t>
            </a:r>
          </a:p>
          <a:p>
            <a:pPr lvl="2">
              <a:spcBef>
                <a:spcPts val="1300"/>
              </a:spcBef>
              <a:defRPr/>
            </a:pPr>
            <a:r>
              <a:rPr lang="en-US" dirty="0" smtClean="0"/>
              <a:t>There is an element </a:t>
            </a:r>
            <a:r>
              <a:rPr lang="en-US" i="1" dirty="0" smtClean="0"/>
              <a:t>e</a:t>
            </a:r>
            <a:r>
              <a:rPr lang="en-US" dirty="0" smtClean="0"/>
              <a:t> in </a:t>
            </a:r>
            <a:r>
              <a:rPr lang="en-US" i="1" dirty="0" smtClean="0"/>
              <a:t>G</a:t>
            </a:r>
            <a:r>
              <a:rPr lang="en-US" dirty="0" smtClean="0"/>
              <a:t> such that </a:t>
            </a:r>
            <a:r>
              <a:rPr lang="en-US" i="1" dirty="0" smtClean="0"/>
              <a:t>a * e = e * a = a </a:t>
            </a:r>
            <a:r>
              <a:rPr lang="en-US" dirty="0" smtClean="0"/>
              <a:t>for all </a:t>
            </a:r>
            <a:r>
              <a:rPr lang="en-US" i="1" dirty="0" smtClean="0"/>
              <a:t>a</a:t>
            </a:r>
            <a:r>
              <a:rPr lang="en-US" dirty="0" smtClean="0"/>
              <a:t> in </a:t>
            </a:r>
            <a:r>
              <a:rPr lang="en-US" i="1" dirty="0" smtClean="0"/>
              <a:t>G</a:t>
            </a:r>
          </a:p>
          <a:p>
            <a:pPr lvl="1">
              <a:spcBef>
                <a:spcPts val="1300"/>
              </a:spcBef>
              <a:defRPr/>
            </a:pPr>
            <a:r>
              <a:rPr lang="en-US" dirty="0" smtClean="0"/>
              <a:t>(A4) Inverse element: </a:t>
            </a:r>
          </a:p>
          <a:p>
            <a:pPr lvl="2">
              <a:defRPr/>
            </a:pPr>
            <a:r>
              <a:rPr lang="en-US" dirty="0" smtClean="0"/>
              <a:t>For each </a:t>
            </a:r>
            <a:r>
              <a:rPr lang="en-US" i="1" dirty="0" smtClean="0"/>
              <a:t>a</a:t>
            </a:r>
            <a:r>
              <a:rPr lang="en-US" dirty="0" smtClean="0"/>
              <a:t> in </a:t>
            </a:r>
            <a:r>
              <a:rPr lang="en-US" i="1" dirty="0" smtClean="0"/>
              <a:t>G</a:t>
            </a:r>
            <a:r>
              <a:rPr lang="en-US" dirty="0" smtClean="0"/>
              <a:t>, there is an element </a:t>
            </a:r>
            <a:r>
              <a:rPr lang="en-US" i="1" dirty="0" smtClean="0"/>
              <a:t>a</a:t>
            </a:r>
            <a:r>
              <a:rPr lang="en-US" sz="800" kern="1200" baseline="30000" dirty="0" smtClean="0">
                <a:solidFill>
                  <a:schemeClr val="tx1"/>
                </a:solidFill>
                <a:latin typeface="Arial" charset="0"/>
                <a:ea typeface="ＭＳ Ｐゴシック" charset="-128"/>
                <a:cs typeface="+mn-cs"/>
              </a:rPr>
              <a:t>1</a:t>
            </a:r>
            <a:r>
              <a:rPr lang="en-US" dirty="0" smtClean="0"/>
              <a:t> </a:t>
            </a:r>
            <a:r>
              <a:rPr lang="en-US" dirty="0" smtClean="0"/>
              <a:t>in </a:t>
            </a:r>
            <a:r>
              <a:rPr lang="en-US" i="1" dirty="0" smtClean="0"/>
              <a:t>G </a:t>
            </a:r>
            <a:r>
              <a:rPr lang="en-US" dirty="0" smtClean="0"/>
              <a:t>such that </a:t>
            </a:r>
            <a:r>
              <a:rPr lang="en-US" i="1" dirty="0" smtClean="0"/>
              <a:t>a*</a:t>
            </a:r>
            <a:r>
              <a:rPr lang="en-US" i="1" dirty="0" smtClean="0"/>
              <a:t>a</a:t>
            </a:r>
            <a:r>
              <a:rPr lang="en-US" sz="800" kern="1200" baseline="30000" dirty="0" smtClean="0">
                <a:solidFill>
                  <a:schemeClr val="tx1"/>
                </a:solidFill>
                <a:latin typeface="Arial" charset="0"/>
                <a:ea typeface="ＭＳ Ｐゴシック" charset="-128"/>
                <a:cs typeface="+mn-cs"/>
              </a:rPr>
              <a:t>1</a:t>
            </a:r>
            <a:r>
              <a:rPr lang="en-US" i="1" dirty="0" smtClean="0"/>
              <a:t> </a:t>
            </a:r>
            <a:r>
              <a:rPr lang="en-US" i="1" dirty="0" smtClean="0"/>
              <a:t>= </a:t>
            </a:r>
            <a:r>
              <a:rPr lang="en-US" i="1" dirty="0" smtClean="0"/>
              <a:t>a</a:t>
            </a:r>
            <a:r>
              <a:rPr lang="en-US" sz="800" kern="1200" baseline="30000" dirty="0" smtClean="0">
                <a:solidFill>
                  <a:schemeClr val="tx1"/>
                </a:solidFill>
                <a:latin typeface="Arial" charset="0"/>
                <a:ea typeface="ＭＳ Ｐゴシック" charset="-128"/>
                <a:cs typeface="+mn-cs"/>
              </a:rPr>
              <a:t>1</a:t>
            </a:r>
            <a:r>
              <a:rPr lang="en-US" i="1" dirty="0" smtClean="0"/>
              <a:t> </a:t>
            </a:r>
            <a:r>
              <a:rPr lang="en-US" i="1" dirty="0" smtClean="0"/>
              <a:t>* a = e</a:t>
            </a:r>
          </a:p>
          <a:p>
            <a:pPr lvl="1">
              <a:spcBef>
                <a:spcPts val="1300"/>
              </a:spcBef>
              <a:defRPr/>
            </a:pPr>
            <a:r>
              <a:rPr lang="en-US" sz="2571" dirty="0" smtClean="0"/>
              <a:t>(A5) Commutative: </a:t>
            </a:r>
          </a:p>
          <a:p>
            <a:pPr lvl="2">
              <a:defRPr/>
            </a:pPr>
            <a:r>
              <a:rPr lang="en-US" i="1" dirty="0" smtClean="0"/>
              <a:t>a * b = b * a </a:t>
            </a:r>
            <a:r>
              <a:rPr lang="en-US" dirty="0" smtClean="0"/>
              <a:t>for all </a:t>
            </a:r>
            <a:r>
              <a:rPr lang="en-US" i="1" dirty="0" smtClean="0"/>
              <a:t>a, b </a:t>
            </a:r>
            <a:r>
              <a:rPr lang="en-US" dirty="0" smtClean="0"/>
              <a:t>in </a:t>
            </a:r>
            <a:r>
              <a:rPr lang="en-US" i="1" dirty="0" smtClean="0"/>
              <a:t>G</a:t>
            </a:r>
          </a:p>
          <a:p>
            <a:pPr lvl="2">
              <a:defRPr/>
            </a:pPr>
            <a:endParaRPr lang="en-US" i="1" dirty="0" smtClean="0"/>
          </a:p>
          <a:p>
            <a:r>
              <a:rPr lang="en-US" sz="1200" kern="1200" baseline="0" dirty="0" smtClean="0">
                <a:solidFill>
                  <a:schemeClr val="tx1"/>
                </a:solidFill>
                <a:latin typeface="Arial" charset="0"/>
                <a:ea typeface="ＭＳ Ｐゴシック" pitchFamily="-107" charset="-128"/>
                <a:cs typeface="ＭＳ Ｐゴシック" pitchFamily="-107" charset="-128"/>
              </a:rPr>
              <a:t> If a group has a finite number of elements, it is referred to as a finite group , and</a:t>
            </a:r>
          </a:p>
          <a:p>
            <a:r>
              <a:rPr lang="en-US" sz="1200" kern="1200" baseline="0" dirty="0" smtClean="0">
                <a:solidFill>
                  <a:schemeClr val="tx1"/>
                </a:solidFill>
                <a:latin typeface="Arial" charset="0"/>
                <a:ea typeface="ＭＳ Ｐゴシック" pitchFamily="-107" charset="-128"/>
                <a:cs typeface="ＭＳ Ｐゴシック" pitchFamily="-107" charset="-128"/>
              </a:rPr>
              <a:t>the order  of the group is equal to the number of elements in the group. Otherwise,</a:t>
            </a:r>
          </a:p>
          <a:p>
            <a:r>
              <a:rPr lang="en-US" sz="1200" kern="1200" baseline="0" dirty="0" smtClean="0">
                <a:solidFill>
                  <a:schemeClr val="tx1"/>
                </a:solidFill>
                <a:latin typeface="Arial" charset="0"/>
                <a:ea typeface="ＭＳ Ｐゴシック" pitchFamily="-107" charset="-128"/>
                <a:cs typeface="ＭＳ Ｐゴシック" pitchFamily="-107" charset="-128"/>
              </a:rPr>
              <a:t>the group is an infinite group .</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 group is said to be </a:t>
            </a:r>
            <a:r>
              <a:rPr lang="en-US" sz="1200" kern="1200" baseline="0" dirty="0" err="1" smtClean="0">
                <a:solidFill>
                  <a:schemeClr val="tx1"/>
                </a:solidFill>
                <a:latin typeface="Arial" charset="0"/>
                <a:ea typeface="ＭＳ Ｐゴシック" pitchFamily="-107" charset="-128"/>
                <a:cs typeface="ＭＳ Ｐゴシック" pitchFamily="-107" charset="-128"/>
              </a:rPr>
              <a:t>abelian</a:t>
            </a:r>
            <a:r>
              <a:rPr lang="en-US" sz="1200" kern="1200" baseline="0" dirty="0" smtClean="0">
                <a:solidFill>
                  <a:schemeClr val="tx1"/>
                </a:solidFill>
                <a:latin typeface="Arial" charset="0"/>
                <a:ea typeface="ＭＳ Ｐゴシック" pitchFamily="-107" charset="-128"/>
                <a:cs typeface="ＭＳ Ｐゴシック" pitchFamily="-107" charset="-128"/>
              </a:rPr>
              <a:t>  if it satisfies the following additional condition: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(A5) Commutative: a * </a:t>
            </a:r>
            <a:r>
              <a:rPr lang="en-US" sz="1200" kern="1200" baseline="0" dirty="0" err="1" smtClean="0">
                <a:solidFill>
                  <a:schemeClr val="tx1"/>
                </a:solidFill>
                <a:latin typeface="Arial" charset="0"/>
                <a:ea typeface="ＭＳ Ｐゴシック" pitchFamily="-107" charset="-128"/>
                <a:cs typeface="ＭＳ Ｐゴシック" pitchFamily="-107" charset="-128"/>
              </a:rPr>
              <a:t>b</a:t>
            </a:r>
            <a:r>
              <a:rPr lang="en-US" sz="1200" kern="1200" baseline="0" dirty="0" smtClean="0">
                <a:solidFill>
                  <a:schemeClr val="tx1"/>
                </a:solidFill>
                <a:latin typeface="Arial" charset="0"/>
                <a:ea typeface="ＭＳ Ｐゴシック" pitchFamily="-107" charset="-128"/>
                <a:cs typeface="ＭＳ Ｐゴシック" pitchFamily="-107" charset="-128"/>
              </a:rPr>
              <a:t> = </a:t>
            </a:r>
            <a:r>
              <a:rPr lang="en-US" sz="1200" kern="1200" baseline="0" dirty="0" err="1" smtClean="0">
                <a:solidFill>
                  <a:schemeClr val="tx1"/>
                </a:solidFill>
                <a:latin typeface="Arial" charset="0"/>
                <a:ea typeface="ＭＳ Ｐゴシック" pitchFamily="-107" charset="-128"/>
                <a:cs typeface="ＭＳ Ｐゴシック" pitchFamily="-107" charset="-128"/>
              </a:rPr>
              <a:t>b</a:t>
            </a:r>
            <a:r>
              <a:rPr lang="en-US" sz="1200" kern="1200" baseline="0" dirty="0" smtClean="0">
                <a:solidFill>
                  <a:schemeClr val="tx1"/>
                </a:solidFill>
                <a:latin typeface="Arial" charset="0"/>
                <a:ea typeface="ＭＳ Ｐゴシック" pitchFamily="-107" charset="-128"/>
                <a:cs typeface="ＭＳ Ｐゴシック" pitchFamily="-107" charset="-128"/>
              </a:rPr>
              <a:t> * a for all a, </a:t>
            </a:r>
            <a:r>
              <a:rPr lang="en-US" sz="1200" kern="1200" baseline="0" dirty="0" err="1" smtClean="0">
                <a:solidFill>
                  <a:schemeClr val="tx1"/>
                </a:solidFill>
                <a:latin typeface="Arial" charset="0"/>
                <a:ea typeface="ＭＳ Ｐゴシック" pitchFamily="-107" charset="-128"/>
                <a:cs typeface="ＭＳ Ｐゴシック" pitchFamily="-107" charset="-128"/>
              </a:rPr>
              <a:t>b</a:t>
            </a:r>
            <a:r>
              <a:rPr lang="en-US" sz="1200" kern="1200" baseline="0" dirty="0" smtClean="0">
                <a:solidFill>
                  <a:schemeClr val="tx1"/>
                </a:solidFill>
                <a:latin typeface="Arial" charset="0"/>
                <a:ea typeface="ＭＳ Ｐゴシック" pitchFamily="-107" charset="-128"/>
                <a:cs typeface="ＭＳ Ｐゴシック" pitchFamily="-107" charset="-128"/>
              </a:rPr>
              <a:t> in G.</a:t>
            </a:r>
            <a:endParaRPr lang="en-AU"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3728D505-0565-2344-8E61-EAF171809637}" type="slidenum">
              <a:rPr lang="en-AU">
                <a:latin typeface="Arial" pitchFamily="-84" charset="0"/>
              </a:rPr>
              <a:pPr/>
              <a:t>5</a:t>
            </a:fld>
            <a:endParaRPr lang="en-AU">
              <a:latin typeface="Arial" pitchFamily="-84" charset="0"/>
            </a:endParaRPr>
          </a:p>
        </p:txBody>
      </p:sp>
      <p:sp>
        <p:nvSpPr>
          <p:cNvPr id="77827" name="Rectangle 1026"/>
          <p:cNvSpPr>
            <a:spLocks noGrp="1" noRot="1" noChangeAspect="1" noChangeArrowheads="1" noTextEdit="1"/>
          </p:cNvSpPr>
          <p:nvPr>
            <p:ph type="sldImg"/>
          </p:nvPr>
        </p:nvSpPr>
        <p:spPr>
          <a:ln/>
        </p:spPr>
      </p:sp>
      <p:sp>
        <p:nvSpPr>
          <p:cNvPr id="77828" name="Rectangle 1027"/>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We</a:t>
            </a:r>
            <a:r>
              <a:rPr lang="en-US" baseline="0" dirty="0" smtClean="0">
                <a:latin typeface="Arial" pitchFamily="-84" charset="0"/>
                <a:ea typeface="ＭＳ Ｐゴシック" pitchFamily="-84" charset="-128"/>
                <a:cs typeface="ＭＳ Ｐゴシック" pitchFamily="-84" charset="-128"/>
              </a:rPr>
              <a:t> d</a:t>
            </a:r>
            <a:r>
              <a:rPr lang="en-US" dirty="0" smtClean="0">
                <a:latin typeface="Arial" pitchFamily="-84" charset="0"/>
                <a:ea typeface="ＭＳ Ｐゴシック" pitchFamily="-84" charset="-128"/>
                <a:cs typeface="ＭＳ Ｐゴシック" pitchFamily="-84" charset="-128"/>
              </a:rPr>
              <a:t>efine </a:t>
            </a:r>
            <a:r>
              <a:rPr lang="en-US" dirty="0">
                <a:latin typeface="Arial" pitchFamily="-84" charset="0"/>
                <a:ea typeface="ＭＳ Ｐゴシック" pitchFamily="-84" charset="-128"/>
                <a:cs typeface="ＭＳ Ｐゴシック" pitchFamily="-84" charset="-128"/>
              </a:rPr>
              <a:t>exponentiation in a group as the repeated use of the group operator. Note that we are most familiar with it being applied to multiplication, but it is more general than that. If the repeated use of the operator on some value a in the group results in every possible value being created, then the group is said to be cyclic, and a is a generator of (or generates) the group 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52157904-C6CC-5240-98EA-AECAE7FDAA7E}" type="slidenum">
              <a:rPr lang="en-AU">
                <a:latin typeface="Arial" pitchFamily="-84" charset="0"/>
              </a:rPr>
              <a:pPr/>
              <a:t>6</a:t>
            </a:fld>
            <a:endParaRPr lang="en-AU">
              <a:latin typeface="Arial" pitchFamily="-84" charset="0"/>
            </a:endParaRPr>
          </a:p>
        </p:txBody>
      </p:sp>
      <p:sp>
        <p:nvSpPr>
          <p:cNvPr id="7987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ln/>
        </p:spPr>
        <p:txBody>
          <a:bodyPr/>
          <a:lstStyle/>
          <a:p>
            <a:pPr>
              <a:lnSpc>
                <a:spcPct val="140000"/>
              </a:lnSpc>
              <a:defRPr/>
            </a:pPr>
            <a:r>
              <a:rPr lang="en-US" dirty="0" smtClean="0"/>
              <a:t>A </a:t>
            </a:r>
            <a:r>
              <a:rPr lang="en-US" b="1" dirty="0" smtClean="0"/>
              <a:t>ring</a:t>
            </a:r>
            <a:r>
              <a:rPr lang="en-US" dirty="0" smtClean="0"/>
              <a:t> </a:t>
            </a:r>
            <a:r>
              <a:rPr lang="en-US" i="1" dirty="0" smtClean="0"/>
              <a:t>R</a:t>
            </a:r>
            <a:r>
              <a:rPr lang="en-US" dirty="0" smtClean="0"/>
              <a:t> , sometimes denoted by {R , + , * }, is a set of elements with two binary operations, called </a:t>
            </a:r>
            <a:r>
              <a:rPr lang="en-US" i="1" dirty="0" smtClean="0"/>
              <a:t>addition</a:t>
            </a:r>
            <a:r>
              <a:rPr lang="en-US" dirty="0" smtClean="0"/>
              <a:t> and </a:t>
            </a:r>
            <a:r>
              <a:rPr lang="en-US" i="1" dirty="0" smtClean="0"/>
              <a:t>multiplication</a:t>
            </a:r>
            <a:r>
              <a:rPr lang="en-US" dirty="0" smtClean="0"/>
              <a:t>,  such that for all </a:t>
            </a:r>
            <a:r>
              <a:rPr lang="en-US" i="1" dirty="0" smtClean="0"/>
              <a:t>a , b , c  </a:t>
            </a:r>
            <a:r>
              <a:rPr lang="en-US" dirty="0" smtClean="0"/>
              <a:t>in </a:t>
            </a:r>
            <a:r>
              <a:rPr lang="en-US" i="1" dirty="0" smtClean="0"/>
              <a:t>R</a:t>
            </a:r>
            <a:r>
              <a:rPr lang="en-US" dirty="0" smtClean="0"/>
              <a:t>  the following axioms are obeyed: </a:t>
            </a:r>
          </a:p>
          <a:p>
            <a:pPr>
              <a:defRPr/>
            </a:pPr>
            <a:r>
              <a:rPr lang="en-US" dirty="0" smtClean="0"/>
              <a:t>	</a:t>
            </a:r>
            <a:r>
              <a:rPr lang="en-US" b="1" dirty="0" smtClean="0"/>
              <a:t>(A1–A5) </a:t>
            </a:r>
          </a:p>
          <a:p>
            <a:pPr lvl="1">
              <a:lnSpc>
                <a:spcPct val="140000"/>
              </a:lnSpc>
              <a:spcBef>
                <a:spcPts val="1200"/>
              </a:spcBef>
              <a:defRPr/>
            </a:pPr>
            <a:r>
              <a:rPr lang="en-US" i="1" dirty="0" smtClean="0"/>
              <a:t>	R</a:t>
            </a:r>
            <a:r>
              <a:rPr lang="en-US" dirty="0" smtClean="0"/>
              <a:t>  is an abelian group with respect to addition; that is, </a:t>
            </a:r>
            <a:r>
              <a:rPr lang="en-US" i="1" dirty="0" smtClean="0"/>
              <a:t>R </a:t>
            </a:r>
            <a:r>
              <a:rPr lang="en-US" dirty="0" smtClean="0"/>
              <a:t>satisfies axioms A1 through A5. For the case of an additive group, we denote the identity element as 0 and the inverse of </a:t>
            </a:r>
            <a:r>
              <a:rPr lang="en-US" i="1" dirty="0" smtClean="0"/>
              <a:t>a</a:t>
            </a:r>
            <a:r>
              <a:rPr lang="en-US" dirty="0" smtClean="0"/>
              <a:t>  as </a:t>
            </a:r>
            <a:r>
              <a:rPr lang="en-US" i="1" dirty="0" smtClean="0"/>
              <a:t>–a </a:t>
            </a:r>
          </a:p>
          <a:p>
            <a:pPr lvl="1">
              <a:spcBef>
                <a:spcPts val="1200"/>
              </a:spcBef>
              <a:defRPr/>
            </a:pPr>
            <a:r>
              <a:rPr lang="en-US" sz="2880" b="1" i="1" dirty="0" smtClean="0"/>
              <a:t> (M1) Closure under multiplication:  </a:t>
            </a:r>
          </a:p>
          <a:p>
            <a:pPr lvl="1">
              <a:spcBef>
                <a:spcPts val="1200"/>
              </a:spcBef>
              <a:defRPr/>
            </a:pPr>
            <a:r>
              <a:rPr lang="en-US" sz="2545" dirty="0" smtClean="0"/>
              <a:t>	If</a:t>
            </a:r>
            <a:r>
              <a:rPr lang="en-US" sz="2545" i="1" dirty="0" smtClean="0"/>
              <a:t> a  </a:t>
            </a:r>
            <a:r>
              <a:rPr lang="en-US" sz="2545" dirty="0" smtClean="0"/>
              <a:t>and </a:t>
            </a:r>
            <a:r>
              <a:rPr lang="en-US" sz="2545" i="1" dirty="0" smtClean="0"/>
              <a:t>b  </a:t>
            </a:r>
            <a:r>
              <a:rPr lang="en-US" sz="2545" dirty="0" smtClean="0"/>
              <a:t>belong</a:t>
            </a:r>
            <a:r>
              <a:rPr lang="en-US" sz="2545" i="1" dirty="0" smtClean="0"/>
              <a:t> </a:t>
            </a:r>
            <a:r>
              <a:rPr lang="en-US" sz="2545" dirty="0" smtClean="0"/>
              <a:t>to</a:t>
            </a:r>
            <a:r>
              <a:rPr lang="en-US" sz="2545" i="1" dirty="0" smtClean="0"/>
              <a:t> R , </a:t>
            </a:r>
            <a:r>
              <a:rPr lang="en-US" sz="2545" dirty="0" smtClean="0"/>
              <a:t>then</a:t>
            </a:r>
            <a:r>
              <a:rPr lang="en-US" sz="2545" i="1" dirty="0" smtClean="0"/>
              <a:t> ab  </a:t>
            </a:r>
            <a:r>
              <a:rPr lang="en-US" sz="2545" dirty="0" smtClean="0"/>
              <a:t>is also in </a:t>
            </a:r>
            <a:r>
              <a:rPr lang="en-US" sz="2545" i="1" dirty="0" smtClean="0"/>
              <a:t>R </a:t>
            </a:r>
          </a:p>
          <a:p>
            <a:pPr>
              <a:spcBef>
                <a:spcPts val="1200"/>
              </a:spcBef>
              <a:defRPr/>
            </a:pPr>
            <a:r>
              <a:rPr lang="en-US" dirty="0" smtClean="0"/>
              <a:t>	</a:t>
            </a:r>
            <a:r>
              <a:rPr lang="en-US" b="1" dirty="0" smtClean="0"/>
              <a:t>(M2) Associativity of multiplication: </a:t>
            </a:r>
          </a:p>
          <a:p>
            <a:pPr>
              <a:spcBef>
                <a:spcPts val="1200"/>
              </a:spcBef>
              <a:defRPr/>
            </a:pPr>
            <a:r>
              <a:rPr lang="en-US" sz="2545" dirty="0" smtClean="0"/>
              <a:t>	         </a:t>
            </a:r>
            <a:r>
              <a:rPr lang="en-US" sz="2545" i="1" dirty="0" smtClean="0"/>
              <a:t>a (bc ) =  (ab)c  </a:t>
            </a:r>
            <a:r>
              <a:rPr lang="en-US" sz="2545" dirty="0" smtClean="0"/>
              <a:t>for all </a:t>
            </a:r>
            <a:r>
              <a:rPr lang="en-US" sz="2545" i="1" dirty="0" smtClean="0"/>
              <a:t>a , b , c  in R </a:t>
            </a:r>
          </a:p>
          <a:p>
            <a:pPr>
              <a:spcBef>
                <a:spcPts val="1200"/>
              </a:spcBef>
              <a:defRPr/>
            </a:pPr>
            <a:r>
              <a:rPr lang="en-US" sz="2727" dirty="0" smtClean="0"/>
              <a:t>	</a:t>
            </a:r>
            <a:r>
              <a:rPr lang="en-US" sz="2727" b="1" dirty="0" smtClean="0"/>
              <a:t>(M3) Distributive laws: </a:t>
            </a:r>
          </a:p>
          <a:p>
            <a:pPr>
              <a:spcBef>
                <a:spcPts val="1200"/>
              </a:spcBef>
              <a:defRPr/>
            </a:pPr>
            <a:r>
              <a:rPr lang="en-US" sz="2727" dirty="0" smtClean="0"/>
              <a:t>	       </a:t>
            </a:r>
            <a:r>
              <a:rPr lang="en-US" sz="2727" i="1" dirty="0" smtClean="0"/>
              <a:t>a (b + c ) = ab + ac  </a:t>
            </a:r>
            <a:r>
              <a:rPr lang="en-US" sz="2727" dirty="0" smtClean="0"/>
              <a:t>for all </a:t>
            </a:r>
            <a:r>
              <a:rPr lang="en-US" sz="2727" i="1" dirty="0" smtClean="0"/>
              <a:t>a , b , c  </a:t>
            </a:r>
            <a:r>
              <a:rPr lang="en-US" sz="2727" dirty="0" smtClean="0"/>
              <a:t>in </a:t>
            </a:r>
            <a:r>
              <a:rPr lang="en-US" sz="2727" i="1" dirty="0" smtClean="0"/>
              <a:t>R</a:t>
            </a:r>
            <a:r>
              <a:rPr lang="en-US" sz="2727" dirty="0" smtClean="0"/>
              <a:t> </a:t>
            </a:r>
          </a:p>
          <a:p>
            <a:pPr marL="342900" lvl="1" indent="-342900">
              <a:spcBef>
                <a:spcPts val="1200"/>
              </a:spcBef>
              <a:buClr>
                <a:schemeClr val="accent1">
                  <a:lumMod val="60000"/>
                  <a:lumOff val="40000"/>
                </a:schemeClr>
              </a:buClr>
              <a:defRPr/>
            </a:pPr>
            <a:r>
              <a:rPr lang="en-US" sz="2545" dirty="0" smtClean="0"/>
              <a:t>	       </a:t>
            </a:r>
            <a:r>
              <a:rPr lang="en-US" sz="2545" i="1" dirty="0" smtClean="0"/>
              <a:t> (a + b )c = ac + bc  </a:t>
            </a:r>
            <a:r>
              <a:rPr lang="en-US" sz="2545" dirty="0" smtClean="0"/>
              <a:t>for all </a:t>
            </a:r>
            <a:r>
              <a:rPr lang="en-US" sz="2545" i="1" dirty="0" smtClean="0"/>
              <a:t>a , b , c  </a:t>
            </a:r>
            <a:r>
              <a:rPr lang="en-US" sz="2545" dirty="0" smtClean="0"/>
              <a:t>in </a:t>
            </a:r>
            <a:r>
              <a:rPr lang="en-US" sz="2545" i="1" dirty="0" smtClean="0"/>
              <a:t>R</a:t>
            </a:r>
            <a:r>
              <a:rPr lang="en-US" sz="2727" i="1" dirty="0" smtClean="0"/>
              <a:t> </a:t>
            </a:r>
          </a:p>
          <a:p>
            <a:pPr>
              <a:lnSpc>
                <a:spcPct val="150000"/>
              </a:lnSpc>
              <a:spcBef>
                <a:spcPts val="1200"/>
              </a:spcBef>
              <a:defRPr/>
            </a:pPr>
            <a:r>
              <a:rPr lang="en-US" dirty="0" smtClean="0"/>
              <a:t>In essence, a ring is a set in which we can do addition, subtraction </a:t>
            </a:r>
            <a:r>
              <a:rPr lang="en-US" i="1" dirty="0" smtClean="0"/>
              <a:t>[a - b = a +  (-b )]</a:t>
            </a:r>
            <a:r>
              <a:rPr lang="en-US" dirty="0" smtClean="0"/>
              <a:t>, and multiplication without leaving the set</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22" name="Slide Image Placeholder 1"/>
          <p:cNvSpPr>
            <a:spLocks noGrp="1" noRot="1" noChangeAspect="1"/>
          </p:cNvSpPr>
          <p:nvPr>
            <p:ph type="sldImg"/>
          </p:nvPr>
        </p:nvSpPr>
        <p:spPr>
          <a:ln/>
        </p:spPr>
      </p:sp>
      <p:sp>
        <p:nvSpPr>
          <p:cNvPr id="81923" name="Notes Placeholder 2"/>
          <p:cNvSpPr>
            <a:spLocks noGrp="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A ring is said to be commutative if it satisfies the following additional condition:</a:t>
            </a:r>
          </a:p>
          <a:p>
            <a:pPr>
              <a:spcBef>
                <a:spcPts val="800"/>
              </a:spcBef>
            </a:pPr>
            <a:r>
              <a:rPr lang="en-US" smtClean="0">
                <a:latin typeface="Arial" pitchFamily="-84" charset="0"/>
                <a:ea typeface="ＭＳ Ｐゴシック" pitchFamily="-84" charset="-128"/>
                <a:cs typeface="ＭＳ Ｐゴシック" pitchFamily="-84" charset="-128"/>
              </a:rPr>
              <a:t>		</a:t>
            </a:r>
            <a:r>
              <a:rPr lang="en-US" b="1" smtClean="0">
                <a:latin typeface="Arial" pitchFamily="-84" charset="0"/>
                <a:ea typeface="ＭＳ Ｐゴシック" pitchFamily="-84" charset="-128"/>
                <a:cs typeface="ＭＳ Ｐゴシック" pitchFamily="-84" charset="-128"/>
              </a:rPr>
              <a:t>(M4) Commutativity of multiplication: </a:t>
            </a:r>
          </a:p>
          <a:p>
            <a:pPr>
              <a:spcBef>
                <a:spcPts val="800"/>
              </a:spcBef>
            </a:pPr>
            <a:r>
              <a:rPr lang="en-US" smtClean="0">
                <a:latin typeface="Arial" pitchFamily="-84" charset="0"/>
                <a:ea typeface="ＭＳ Ｐゴシック" pitchFamily="-84" charset="-128"/>
                <a:cs typeface="ＭＳ Ｐゴシック" pitchFamily="-84" charset="-128"/>
              </a:rPr>
              <a:t>		          ab = ba for all a, b in R</a:t>
            </a:r>
          </a:p>
          <a:p>
            <a:r>
              <a:rPr lang="en-US" smtClean="0">
                <a:latin typeface="Arial" pitchFamily="-84" charset="0"/>
                <a:ea typeface="ＭＳ Ｐゴシック" pitchFamily="-84" charset="-128"/>
                <a:cs typeface="ＭＳ Ｐゴシック" pitchFamily="-84" charset="-128"/>
              </a:rPr>
              <a:t> An integral domain  is a commutative ring that obeys the following axioms.</a:t>
            </a:r>
          </a:p>
          <a:p>
            <a:pPr>
              <a:spcBef>
                <a:spcPts val="800"/>
              </a:spcBef>
            </a:pPr>
            <a:r>
              <a:rPr lang="en-US" smtClean="0">
                <a:latin typeface="Arial" pitchFamily="-84" charset="0"/>
                <a:ea typeface="ＭＳ Ｐゴシック" pitchFamily="-84" charset="-128"/>
                <a:cs typeface="ＭＳ Ｐゴシック" pitchFamily="-84" charset="-128"/>
              </a:rPr>
              <a:t>		</a:t>
            </a:r>
            <a:r>
              <a:rPr lang="en-US" b="1" smtClean="0">
                <a:latin typeface="Arial" pitchFamily="-84" charset="0"/>
                <a:ea typeface="ＭＳ Ｐゴシック" pitchFamily="-84" charset="-128"/>
                <a:cs typeface="ＭＳ Ｐゴシック" pitchFamily="-84" charset="-128"/>
              </a:rPr>
              <a:t>(M5) Multiplicative identity:  </a:t>
            </a:r>
          </a:p>
          <a:p>
            <a:pPr>
              <a:spcBef>
                <a:spcPts val="800"/>
              </a:spcBef>
            </a:pPr>
            <a:r>
              <a:rPr lang="en-US" smtClean="0">
                <a:latin typeface="Arial" pitchFamily="-84" charset="0"/>
                <a:ea typeface="ＭＳ Ｐゴシック" pitchFamily="-84" charset="-128"/>
                <a:cs typeface="ＭＳ Ｐゴシック" pitchFamily="-84" charset="-128"/>
              </a:rPr>
              <a:t>		        There is an element 1 in </a:t>
            </a:r>
            <a:r>
              <a:rPr lang="en-US" i="1" smtClean="0">
                <a:latin typeface="Arial" pitchFamily="-84" charset="0"/>
                <a:ea typeface="ＭＳ Ｐゴシック" pitchFamily="-84" charset="-128"/>
                <a:cs typeface="ＭＳ Ｐゴシック" pitchFamily="-84" charset="-128"/>
              </a:rPr>
              <a:t>R</a:t>
            </a:r>
            <a:r>
              <a:rPr lang="en-US" smtClean="0">
                <a:latin typeface="Arial" pitchFamily="-84" charset="0"/>
                <a:ea typeface="ＭＳ Ｐゴシック" pitchFamily="-84" charset="-128"/>
                <a:cs typeface="ＭＳ Ｐゴシック" pitchFamily="-84" charset="-128"/>
              </a:rPr>
              <a:t>  such that </a:t>
            </a:r>
            <a:r>
              <a:rPr lang="en-US" i="1" smtClean="0">
                <a:latin typeface="Arial" pitchFamily="-84" charset="0"/>
                <a:ea typeface="ＭＳ Ｐゴシック" pitchFamily="-84" charset="-128"/>
                <a:cs typeface="ＭＳ Ｐゴシック" pitchFamily="-84" charset="-128"/>
              </a:rPr>
              <a:t>a 1 =  1a = a  </a:t>
            </a:r>
            <a:r>
              <a:rPr lang="en-US" smtClean="0">
                <a:latin typeface="Arial" pitchFamily="-84" charset="0"/>
                <a:ea typeface="ＭＳ Ｐゴシック" pitchFamily="-84" charset="-128"/>
                <a:cs typeface="ＭＳ Ｐゴシック" pitchFamily="-84" charset="-128"/>
              </a:rPr>
              <a:t>for all </a:t>
            </a:r>
            <a:r>
              <a:rPr lang="en-US" i="1" smtClean="0">
                <a:latin typeface="Arial" pitchFamily="-84" charset="0"/>
                <a:ea typeface="ＭＳ Ｐゴシック" pitchFamily="-84" charset="-128"/>
                <a:cs typeface="ＭＳ Ｐゴシック" pitchFamily="-84" charset="-128"/>
              </a:rPr>
              <a:t>a</a:t>
            </a:r>
            <a:r>
              <a:rPr lang="en-US" smtClean="0">
                <a:latin typeface="Arial" pitchFamily="-84" charset="0"/>
                <a:ea typeface="ＭＳ Ｐゴシック" pitchFamily="-84" charset="-128"/>
                <a:cs typeface="ＭＳ Ｐゴシック" pitchFamily="-84" charset="-128"/>
              </a:rPr>
              <a:t>  in </a:t>
            </a:r>
            <a:r>
              <a:rPr lang="en-US" i="1" smtClean="0">
                <a:latin typeface="Arial" pitchFamily="-84" charset="0"/>
                <a:ea typeface="ＭＳ Ｐゴシック" pitchFamily="-84" charset="-128"/>
                <a:cs typeface="ＭＳ Ｐゴシック" pitchFamily="-84" charset="-128"/>
              </a:rPr>
              <a:t>R </a:t>
            </a:r>
          </a:p>
          <a:p>
            <a:pPr>
              <a:spcBef>
                <a:spcPts val="800"/>
              </a:spcBef>
            </a:pPr>
            <a:r>
              <a:rPr lang="en-US" smtClean="0">
                <a:latin typeface="Arial" pitchFamily="-84" charset="0"/>
                <a:ea typeface="ＭＳ Ｐゴシック" pitchFamily="-84" charset="-128"/>
                <a:cs typeface="ＭＳ Ｐゴシック" pitchFamily="-84" charset="-128"/>
              </a:rPr>
              <a:t>		</a:t>
            </a:r>
            <a:r>
              <a:rPr lang="en-US" b="1" smtClean="0">
                <a:latin typeface="Arial" pitchFamily="-84" charset="0"/>
                <a:ea typeface="ＭＳ Ｐゴシック" pitchFamily="-84" charset="-128"/>
                <a:cs typeface="ＭＳ Ｐゴシック" pitchFamily="-84" charset="-128"/>
              </a:rPr>
              <a:t>(M6) No zero divisors:  </a:t>
            </a:r>
          </a:p>
          <a:p>
            <a:pPr>
              <a:spcBef>
                <a:spcPts val="800"/>
              </a:spcBef>
            </a:pPr>
            <a:r>
              <a:rPr lang="en-US" smtClean="0">
                <a:latin typeface="Arial" pitchFamily="-84" charset="0"/>
                <a:ea typeface="ＭＳ Ｐゴシック" pitchFamily="-84" charset="-128"/>
                <a:cs typeface="ＭＳ Ｐゴシック" pitchFamily="-84" charset="-128"/>
              </a:rPr>
              <a:t>		         If </a:t>
            </a:r>
            <a:r>
              <a:rPr lang="en-US" i="1" smtClean="0">
                <a:latin typeface="Arial" pitchFamily="-84" charset="0"/>
                <a:ea typeface="ＭＳ Ｐゴシック" pitchFamily="-84" charset="-128"/>
                <a:cs typeface="ＭＳ Ｐゴシック" pitchFamily="-84" charset="-128"/>
              </a:rPr>
              <a:t>a , b  </a:t>
            </a:r>
            <a:r>
              <a:rPr lang="en-US" smtClean="0">
                <a:latin typeface="Arial" pitchFamily="-84" charset="0"/>
                <a:ea typeface="ＭＳ Ｐゴシック" pitchFamily="-84" charset="-128"/>
                <a:cs typeface="ＭＳ Ｐゴシック" pitchFamily="-84" charset="-128"/>
              </a:rPr>
              <a:t>in </a:t>
            </a:r>
            <a:r>
              <a:rPr lang="en-US" i="1" smtClean="0">
                <a:latin typeface="Arial" pitchFamily="-84" charset="0"/>
                <a:ea typeface="ＭＳ Ｐゴシック" pitchFamily="-84" charset="-128"/>
                <a:cs typeface="ＭＳ Ｐゴシック" pitchFamily="-84" charset="-128"/>
              </a:rPr>
              <a:t>R</a:t>
            </a:r>
            <a:r>
              <a:rPr lang="en-US" smtClean="0">
                <a:latin typeface="Arial" pitchFamily="-84" charset="0"/>
                <a:ea typeface="ＭＳ Ｐゴシック" pitchFamily="-84" charset="-128"/>
                <a:cs typeface="ＭＳ Ｐゴシック" pitchFamily="-84" charset="-128"/>
              </a:rPr>
              <a:t>  and </a:t>
            </a:r>
            <a:r>
              <a:rPr lang="en-US" i="1" smtClean="0">
                <a:latin typeface="Arial" pitchFamily="-84" charset="0"/>
                <a:ea typeface="ＭＳ Ｐゴシック" pitchFamily="-84" charset="-128"/>
                <a:cs typeface="ＭＳ Ｐゴシック" pitchFamily="-84" charset="-128"/>
              </a:rPr>
              <a:t>ab =  0, </a:t>
            </a:r>
            <a:r>
              <a:rPr lang="en-US" smtClean="0">
                <a:latin typeface="Arial" pitchFamily="-84" charset="0"/>
                <a:ea typeface="ＭＳ Ｐゴシック" pitchFamily="-84" charset="-128"/>
                <a:cs typeface="ＭＳ Ｐゴシック" pitchFamily="-84" charset="-128"/>
              </a:rPr>
              <a:t>then either </a:t>
            </a:r>
            <a:r>
              <a:rPr lang="en-US" i="1" smtClean="0">
                <a:latin typeface="Arial" pitchFamily="-84" charset="0"/>
                <a:ea typeface="ＭＳ Ｐゴシック" pitchFamily="-84" charset="-128"/>
                <a:cs typeface="ＭＳ Ｐゴシック" pitchFamily="-84" charset="-128"/>
              </a:rPr>
              <a:t>a = 0 </a:t>
            </a:r>
            <a:r>
              <a:rPr lang="en-US" smtClean="0">
                <a:latin typeface="Arial" pitchFamily="-84" charset="0"/>
                <a:ea typeface="ＭＳ Ｐゴシック" pitchFamily="-84" charset="-128"/>
                <a:cs typeface="ＭＳ Ｐゴシック" pitchFamily="-84" charset="-128"/>
              </a:rPr>
              <a:t> or </a:t>
            </a:r>
            <a:r>
              <a:rPr lang="en-US" i="1" smtClean="0">
                <a:latin typeface="Arial" pitchFamily="-84" charset="0"/>
                <a:ea typeface="ＭＳ Ｐゴシック" pitchFamily="-84" charset="-128"/>
                <a:cs typeface="ＭＳ Ｐゴシック" pitchFamily="-84" charset="-128"/>
              </a:rPr>
              <a:t>b =  0</a:t>
            </a:r>
          </a:p>
          <a:p>
            <a:endParaRPr lang="en-US" smtClean="0">
              <a:latin typeface="Arial" pitchFamily="-84" charset="0"/>
              <a:ea typeface="ＭＳ Ｐゴシック" pitchFamily="-84" charset="-128"/>
              <a:cs typeface="ＭＳ Ｐゴシック" pitchFamily="-84" charset="-128"/>
            </a:endParaRPr>
          </a:p>
        </p:txBody>
      </p:sp>
      <p:sp>
        <p:nvSpPr>
          <p:cNvPr id="81924" name="Slide Number Placeholder 3"/>
          <p:cNvSpPr>
            <a:spLocks noGrp="1"/>
          </p:cNvSpPr>
          <p:nvPr>
            <p:ph type="sldNum" sz="quarter" idx="5"/>
          </p:nvPr>
        </p:nvSpPr>
        <p:spPr>
          <a:noFill/>
        </p:spPr>
        <p:txBody>
          <a:bodyPr/>
          <a:lstStyle/>
          <a:p>
            <a:fld id="{9DB690A8-F4EC-E447-9ED8-F82E70EDA88D}" type="slidenum">
              <a:rPr lang="en-AU" smtClean="0">
                <a:latin typeface="Arial" pitchFamily="-84" charset="0"/>
              </a:rPr>
              <a:pPr/>
              <a:t>7</a:t>
            </a:fld>
            <a:endParaRPr lang="en-AU" smtClean="0">
              <a:latin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5878854A-33D3-A44E-B858-B1C07C7B7475}" type="slidenum">
              <a:rPr lang="en-AU">
                <a:latin typeface="Arial" pitchFamily="-84" charset="0"/>
              </a:rPr>
              <a:pPr/>
              <a:t>8</a:t>
            </a:fld>
            <a:endParaRPr lang="en-AU">
              <a:latin typeface="Arial" pitchFamily="-8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A field F , sometimes denoted by {F , + , * }, is a set of elements with two binary operations,</a:t>
            </a:r>
          </a:p>
          <a:p>
            <a:r>
              <a:rPr lang="en-US" dirty="0" smtClean="0">
                <a:latin typeface="Arial" pitchFamily="-84" charset="0"/>
                <a:ea typeface="ＭＳ Ｐゴシック" pitchFamily="-84" charset="-128"/>
                <a:cs typeface="ＭＳ Ｐゴシック" pitchFamily="-84" charset="-128"/>
              </a:rPr>
              <a:t>called addition  and multiplication , such that for all a , </a:t>
            </a:r>
            <a:r>
              <a:rPr lang="en-US" dirty="0" err="1"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 </a:t>
            </a:r>
            <a:r>
              <a:rPr lang="en-US" dirty="0" err="1" smtClean="0">
                <a:latin typeface="Arial" pitchFamily="-84" charset="0"/>
                <a:ea typeface="ＭＳ Ｐゴシック" pitchFamily="-84" charset="-128"/>
                <a:cs typeface="ＭＳ Ｐゴシック" pitchFamily="-84" charset="-128"/>
              </a:rPr>
              <a:t>c</a:t>
            </a:r>
            <a:r>
              <a:rPr lang="en-US" dirty="0" smtClean="0">
                <a:latin typeface="Arial" pitchFamily="-84" charset="0"/>
                <a:ea typeface="ＭＳ Ｐゴシック" pitchFamily="-84" charset="-128"/>
                <a:cs typeface="ＭＳ Ｐゴシック" pitchFamily="-84" charset="-128"/>
              </a:rPr>
              <a:t>  in F  the following</a:t>
            </a:r>
          </a:p>
          <a:p>
            <a:r>
              <a:rPr lang="en-US" dirty="0" smtClean="0">
                <a:latin typeface="Arial" pitchFamily="-84" charset="0"/>
                <a:ea typeface="ＭＳ Ｐゴシック" pitchFamily="-84" charset="-128"/>
                <a:cs typeface="ＭＳ Ｐゴシック" pitchFamily="-84" charset="-128"/>
              </a:rPr>
              <a:t>axioms are obeyed.</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(A1–M6) F  is an integral domain; that is, F  satisfies axioms A1 through A5 and</a:t>
            </a:r>
          </a:p>
          <a:p>
            <a:r>
              <a:rPr lang="en-US" dirty="0" smtClean="0">
                <a:latin typeface="Arial" pitchFamily="-84" charset="0"/>
                <a:ea typeface="ＭＳ Ｐゴシック" pitchFamily="-84" charset="-128"/>
                <a:cs typeface="ＭＳ Ｐゴシック" pitchFamily="-84" charset="-128"/>
              </a:rPr>
              <a:t>M1 through M6.</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(M7) Multiplicative inverse:  For each a  in F , except 0, there is an element</a:t>
            </a:r>
          </a:p>
          <a:p>
            <a:r>
              <a:rPr lang="en-US" dirty="0" smtClean="0">
                <a:latin typeface="Arial" pitchFamily="-84" charset="0"/>
                <a:ea typeface="ＭＳ Ｐゴシック" pitchFamily="-84" charset="-128"/>
                <a:cs typeface="ＭＳ Ｐゴシック" pitchFamily="-84" charset="-128"/>
              </a:rPr>
              <a:t>a</a:t>
            </a:r>
            <a:r>
              <a:rPr lang="en-US" baseline="30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in F  such that aa</a:t>
            </a:r>
            <a:r>
              <a:rPr lang="en-US" baseline="30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  (a</a:t>
            </a:r>
            <a:r>
              <a:rPr lang="en-US" baseline="30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)a =  1.</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In essence, a field is a set in which we can do addition, subtraction, multiplication,</a:t>
            </a:r>
          </a:p>
          <a:p>
            <a:r>
              <a:rPr lang="en-US" dirty="0" smtClean="0">
                <a:latin typeface="Arial" pitchFamily="-84" charset="0"/>
                <a:ea typeface="ＭＳ Ｐゴシック" pitchFamily="-84" charset="-128"/>
                <a:cs typeface="ＭＳ Ｐゴシック" pitchFamily="-84" charset="-128"/>
              </a:rPr>
              <a:t>and division without leaving the set. Division is defined with the following </a:t>
            </a:r>
            <a:r>
              <a:rPr lang="en-US" dirty="0" err="1" smtClean="0">
                <a:latin typeface="Arial" pitchFamily="-84" charset="0"/>
                <a:ea typeface="ＭＳ Ｐゴシック" pitchFamily="-84" charset="-128"/>
                <a:cs typeface="ＭＳ Ｐゴシック" pitchFamily="-84" charset="-128"/>
              </a:rPr>
              <a:t>rule:a</a:t>
            </a:r>
            <a:r>
              <a:rPr lang="en-US" dirty="0" smtClean="0">
                <a:latin typeface="Arial" pitchFamily="-84" charset="0"/>
                <a:ea typeface="ＭＳ Ｐゴシック" pitchFamily="-84" charset="-128"/>
                <a:cs typeface="ＭＳ Ｐゴシック" pitchFamily="-84" charset="-128"/>
              </a:rPr>
              <a:t> /</a:t>
            </a:r>
            <a:r>
              <a:rPr lang="en-US" dirty="0" err="1"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 a (b</a:t>
            </a:r>
            <a:r>
              <a:rPr lang="en-US" baseline="30000" dirty="0" smtClean="0">
                <a:latin typeface="Arial" pitchFamily="-84" charset="0"/>
                <a:ea typeface="ＭＳ Ｐゴシック" pitchFamily="-84" charset="-128"/>
                <a:cs typeface="ＭＳ Ｐゴシック" pitchFamily="-84" charset="-128"/>
              </a:rPr>
              <a:t>-1</a:t>
            </a:r>
            <a:r>
              <a:rPr lang="en-US" dirty="0" smtClean="0">
                <a:latin typeface="Arial" pitchFamily="-84" charset="0"/>
                <a:ea typeface="ＭＳ Ｐゴシック" pitchFamily="-84" charset="-128"/>
                <a:cs typeface="ＭＳ Ｐゴシック" pitchFamily="-84" charset="-128"/>
              </a:rPr>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Slide Image Placeholder 1"/>
          <p:cNvSpPr>
            <a:spLocks noGrp="1" noRot="1" noChangeAspect="1"/>
          </p:cNvSpPr>
          <p:nvPr>
            <p:ph type="sldImg"/>
          </p:nvPr>
        </p:nvSpPr>
        <p:spPr>
          <a:ln/>
        </p:spPr>
      </p:sp>
      <p:sp>
        <p:nvSpPr>
          <p:cNvPr id="86019"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 Figure</a:t>
            </a:r>
            <a:r>
              <a:rPr lang="en-US" dirty="0" smtClean="0">
                <a:latin typeface="Arial" pitchFamily="-84" charset="0"/>
                <a:ea typeface="ＭＳ Ｐゴシック" pitchFamily="-84" charset="-128"/>
                <a:cs typeface="ＭＳ Ｐゴシック" pitchFamily="-84" charset="-128"/>
              </a:rPr>
              <a:t> 5.2 </a:t>
            </a:r>
            <a:r>
              <a:rPr lang="en-US" dirty="0" smtClean="0">
                <a:latin typeface="Arial" pitchFamily="-84" charset="0"/>
                <a:ea typeface="ＭＳ Ｐゴシック" pitchFamily="-84" charset="-128"/>
                <a:cs typeface="ＭＳ Ｐゴシック" pitchFamily="-84" charset="-128"/>
              </a:rPr>
              <a:t>summarizes the axioms that define groups, rings, and fields.</a:t>
            </a:r>
          </a:p>
        </p:txBody>
      </p:sp>
      <p:sp>
        <p:nvSpPr>
          <p:cNvPr id="86020" name="Slide Number Placeholder 3"/>
          <p:cNvSpPr>
            <a:spLocks noGrp="1"/>
          </p:cNvSpPr>
          <p:nvPr>
            <p:ph type="sldNum" sz="quarter" idx="5"/>
          </p:nvPr>
        </p:nvSpPr>
        <p:spPr>
          <a:noFill/>
        </p:spPr>
        <p:txBody>
          <a:bodyPr/>
          <a:lstStyle/>
          <a:p>
            <a:fld id="{02F9C099-20F3-4A4C-9125-27C7DCADA5EC}" type="slidenum">
              <a:rPr lang="en-AU" smtClean="0">
                <a:latin typeface="Arial" pitchFamily="-84" charset="0"/>
              </a:rPr>
              <a:pPr/>
              <a:t>9</a:t>
            </a:fld>
            <a:endParaRPr lang="en-AU" smtClean="0">
              <a:latin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Slide Image Placeholder 1"/>
          <p:cNvSpPr>
            <a:spLocks noGrp="1" noRot="1" noChangeAspect="1"/>
          </p:cNvSpPr>
          <p:nvPr>
            <p:ph type="sldImg"/>
          </p:nvPr>
        </p:nvSpPr>
        <p:spPr>
          <a:ln/>
        </p:spPr>
      </p:sp>
      <p:sp>
        <p:nvSpPr>
          <p:cNvPr id="8601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In Section 5.3, we defined a field as a set that obeys all of the axioms of Figure 5.2</a:t>
            </a:r>
          </a:p>
          <a:p>
            <a:r>
              <a:rPr lang="en-US" sz="1200" kern="1200" baseline="0" dirty="0" smtClean="0">
                <a:solidFill>
                  <a:schemeClr val="tx1"/>
                </a:solidFill>
                <a:latin typeface="Arial" charset="0"/>
                <a:ea typeface="ＭＳ Ｐゴシック" pitchFamily="-107" charset="-128"/>
                <a:cs typeface="ＭＳ Ｐゴシック" pitchFamily="-107" charset="-128"/>
              </a:rPr>
              <a:t>and gave some examples of infinite fields. Infinite fields are not of particular interest</a:t>
            </a:r>
          </a:p>
          <a:p>
            <a:r>
              <a:rPr lang="en-US" sz="1200" kern="1200" baseline="0" dirty="0" smtClean="0">
                <a:solidFill>
                  <a:schemeClr val="tx1"/>
                </a:solidFill>
                <a:latin typeface="Arial" charset="0"/>
                <a:ea typeface="ＭＳ Ｐゴシック" pitchFamily="-107" charset="-128"/>
                <a:cs typeface="ＭＳ Ｐゴシック" pitchFamily="-107" charset="-128"/>
              </a:rPr>
              <a:t>in the context of cryptography. However, in addition to infinite fields, there are</a:t>
            </a:r>
          </a:p>
          <a:p>
            <a:r>
              <a:rPr lang="en-US" sz="1200" kern="1200" baseline="0" dirty="0" smtClean="0">
                <a:solidFill>
                  <a:schemeClr val="tx1"/>
                </a:solidFill>
                <a:latin typeface="Arial" charset="0"/>
                <a:ea typeface="ＭＳ Ｐゴシック" pitchFamily="-107" charset="-128"/>
                <a:cs typeface="ＭＳ Ｐゴシック" pitchFamily="-107" charset="-128"/>
              </a:rPr>
              <a:t>two types of finite fields, as illustrated in Figure 5.3. Finite fields play a crucial role</a:t>
            </a:r>
          </a:p>
          <a:p>
            <a:r>
              <a:rPr lang="en-US" sz="1200" kern="1200" baseline="0" dirty="0" smtClean="0">
                <a:solidFill>
                  <a:schemeClr val="tx1"/>
                </a:solidFill>
                <a:latin typeface="Arial" charset="0"/>
                <a:ea typeface="ＭＳ Ｐゴシック" pitchFamily="-107" charset="-128"/>
                <a:cs typeface="ＭＳ Ｐゴシック" pitchFamily="-107" charset="-128"/>
              </a:rPr>
              <a:t>in many cryptographic algorithms.</a:t>
            </a:r>
            <a:endParaRPr lang="en-US" dirty="0" smtClean="0">
              <a:latin typeface="Arial" pitchFamily="-84" charset="0"/>
              <a:ea typeface="ＭＳ Ｐゴシック" pitchFamily="-84" charset="-128"/>
              <a:cs typeface="ＭＳ Ｐゴシック" pitchFamily="-84" charset="-128"/>
            </a:endParaRPr>
          </a:p>
        </p:txBody>
      </p:sp>
      <p:sp>
        <p:nvSpPr>
          <p:cNvPr id="86020" name="Slide Number Placeholder 3"/>
          <p:cNvSpPr>
            <a:spLocks noGrp="1"/>
          </p:cNvSpPr>
          <p:nvPr>
            <p:ph type="sldNum" sz="quarter" idx="5"/>
          </p:nvPr>
        </p:nvSpPr>
        <p:spPr>
          <a:noFill/>
        </p:spPr>
        <p:txBody>
          <a:bodyPr/>
          <a:lstStyle/>
          <a:p>
            <a:fld id="{02F9C099-20F3-4A4C-9125-27C7DCADA5EC}" type="slidenum">
              <a:rPr lang="en-AU" smtClean="0">
                <a:latin typeface="Arial" pitchFamily="-84" charset="0"/>
              </a:rPr>
              <a:pPr/>
              <a:t>10</a:t>
            </a:fld>
            <a:endParaRPr lang="en-AU" smtClean="0">
              <a:latin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DA368F6D-1967-6F4C-B546-1461B740D02F}" type="slidenum">
              <a:rPr lang="en-AU">
                <a:latin typeface="Arial" pitchFamily="-84" charset="0"/>
              </a:rPr>
              <a:pPr/>
              <a:t>11</a:t>
            </a:fld>
            <a:endParaRPr lang="en-AU">
              <a:latin typeface="Arial" pitchFamily="-84" charset="0"/>
            </a:endParaRPr>
          </a:p>
        </p:txBody>
      </p:sp>
      <p:sp>
        <p:nvSpPr>
          <p:cNvPr id="88067" name="Rectangle 1026"/>
          <p:cNvSpPr>
            <a:spLocks noGrp="1" noRot="1" noChangeAspect="1" noChangeArrowheads="1" noTextEdit="1"/>
          </p:cNvSpPr>
          <p:nvPr>
            <p:ph type="sldImg"/>
          </p:nvPr>
        </p:nvSpPr>
        <p:spPr>
          <a:ln/>
        </p:spPr>
      </p:sp>
      <p:sp>
        <p:nvSpPr>
          <p:cNvPr id="88068" name="Rectangle 1027"/>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It </a:t>
            </a:r>
            <a:r>
              <a:rPr lang="en-US" dirty="0" smtClean="0">
                <a:latin typeface="Arial" pitchFamily="-84" charset="0"/>
                <a:ea typeface="ＭＳ Ｐゴシック" pitchFamily="-84" charset="-128"/>
                <a:cs typeface="ＭＳ Ｐゴシック" pitchFamily="-84" charset="-128"/>
              </a:rPr>
              <a:t>can be shown that the order of a finite field (number of</a:t>
            </a:r>
          </a:p>
          <a:p>
            <a:r>
              <a:rPr lang="en-US" dirty="0" smtClean="0">
                <a:latin typeface="Arial" pitchFamily="-84" charset="0"/>
                <a:ea typeface="ＭＳ Ｐゴシック" pitchFamily="-84" charset="-128"/>
                <a:cs typeface="ＭＳ Ｐゴシック" pitchFamily="-84" charset="-128"/>
              </a:rPr>
              <a:t>elements in the field) must be a power of a prime </a:t>
            </a:r>
            <a:r>
              <a:rPr lang="en-US" dirty="0" err="1" smtClean="0">
                <a:latin typeface="Arial" pitchFamily="-84" charset="0"/>
                <a:ea typeface="ＭＳ Ｐゴシック" pitchFamily="-84" charset="-128"/>
                <a:cs typeface="ＭＳ Ｐゴシック" pitchFamily="-84" charset="-128"/>
              </a:rPr>
              <a:t>p</a:t>
            </a:r>
            <a:r>
              <a:rPr lang="en-US" baseline="30000"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 where </a:t>
            </a:r>
            <a:r>
              <a:rPr lang="en-US" i="1"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is a positive integer.</a:t>
            </a:r>
            <a:endParaRPr lang="en-US" dirty="0" smtClean="0">
              <a:latin typeface="Arial" pitchFamily="-84" charset="0"/>
              <a:ea typeface="ＭＳ Ｐゴシック" pitchFamily="-84" charset="-128"/>
              <a:cs typeface="ＭＳ Ｐゴシック" pitchFamily="-84" charset="-128"/>
            </a:endParaRP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The finite field of order </a:t>
            </a:r>
            <a:r>
              <a:rPr lang="en-US" dirty="0" err="1" smtClean="0">
                <a:latin typeface="Arial" pitchFamily="-84" charset="0"/>
                <a:ea typeface="ＭＳ Ｐゴシック" pitchFamily="-84" charset="-128"/>
                <a:cs typeface="ＭＳ Ｐゴシック" pitchFamily="-84" charset="-128"/>
              </a:rPr>
              <a:t>p</a:t>
            </a:r>
            <a:r>
              <a:rPr lang="en-US" baseline="30000"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is generally written </a:t>
            </a:r>
            <a:r>
              <a:rPr lang="en-US" dirty="0" err="1" smtClean="0">
                <a:latin typeface="Arial" pitchFamily="-84" charset="0"/>
                <a:ea typeface="ＭＳ Ｐゴシック" pitchFamily="-84" charset="-128"/>
                <a:cs typeface="ＭＳ Ｐゴシック" pitchFamily="-84" charset="-128"/>
              </a:rPr>
              <a:t>GF(p</a:t>
            </a:r>
            <a:r>
              <a:rPr lang="en-US" baseline="30000"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GF stands for Galois</a:t>
            </a:r>
          </a:p>
          <a:p>
            <a:r>
              <a:rPr lang="en-US" dirty="0" smtClean="0">
                <a:latin typeface="Arial" pitchFamily="-84" charset="0"/>
                <a:ea typeface="ＭＳ Ｐゴシック" pitchFamily="-84" charset="-128"/>
                <a:cs typeface="ＭＳ Ｐゴシック" pitchFamily="-84" charset="-128"/>
              </a:rPr>
              <a:t>field, in honor of the mathematician who first studied finite fields. Two special cases</a:t>
            </a:r>
          </a:p>
          <a:p>
            <a:r>
              <a:rPr lang="en-US" dirty="0" smtClean="0">
                <a:latin typeface="Arial" pitchFamily="-84" charset="0"/>
                <a:ea typeface="ＭＳ Ｐゴシック" pitchFamily="-84" charset="-128"/>
                <a:cs typeface="ＭＳ Ｐゴシック" pitchFamily="-84" charset="-128"/>
              </a:rPr>
              <a:t>are of interest for our purposes. For </a:t>
            </a:r>
            <a:r>
              <a:rPr lang="en-US" i="1"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  1, we have the finite field </a:t>
            </a:r>
            <a:r>
              <a:rPr lang="en-US" dirty="0" err="1" smtClean="0">
                <a:latin typeface="Arial" pitchFamily="-84" charset="0"/>
                <a:ea typeface="ＭＳ Ｐゴシック" pitchFamily="-84" charset="-128"/>
                <a:cs typeface="ＭＳ Ｐゴシック" pitchFamily="-84" charset="-128"/>
              </a:rPr>
              <a:t>GF(</a:t>
            </a:r>
            <a:r>
              <a:rPr lang="en-US" i="1" dirty="0" err="1" smtClean="0">
                <a:latin typeface="Arial" pitchFamily="-84" charset="0"/>
                <a:ea typeface="ＭＳ Ｐゴシック" pitchFamily="-84" charset="-128"/>
                <a:cs typeface="ＭＳ Ｐゴシック" pitchFamily="-84" charset="-128"/>
              </a:rPr>
              <a:t>p</a:t>
            </a:r>
            <a:r>
              <a:rPr lang="en-US" dirty="0" smtClean="0">
                <a:latin typeface="Arial" pitchFamily="-84" charset="0"/>
                <a:ea typeface="ＭＳ Ｐゴシック" pitchFamily="-84" charset="-128"/>
                <a:cs typeface="ＭＳ Ｐゴシック" pitchFamily="-84" charset="-128"/>
              </a:rPr>
              <a:t>); this finite</a:t>
            </a:r>
          </a:p>
          <a:p>
            <a:r>
              <a:rPr lang="en-US" dirty="0" smtClean="0">
                <a:latin typeface="Arial" pitchFamily="-84" charset="0"/>
                <a:ea typeface="ＭＳ Ｐゴシック" pitchFamily="-84" charset="-128"/>
                <a:cs typeface="ＭＳ Ｐゴシック" pitchFamily="-84" charset="-128"/>
              </a:rPr>
              <a:t>field has a different structure than that for finite fields with </a:t>
            </a:r>
            <a:r>
              <a:rPr lang="en-US" i="1"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&gt; 1 and is studied in</a:t>
            </a:r>
          </a:p>
          <a:p>
            <a:r>
              <a:rPr lang="en-US" dirty="0" smtClean="0">
                <a:latin typeface="Arial" pitchFamily="-84" charset="0"/>
                <a:ea typeface="ＭＳ Ｐゴシック" pitchFamily="-84" charset="-128"/>
                <a:cs typeface="ＭＳ Ｐゴシック" pitchFamily="-84" charset="-128"/>
              </a:rPr>
              <a:t>this </a:t>
            </a:r>
            <a:r>
              <a:rPr lang="en-US" dirty="0" smtClean="0">
                <a:latin typeface="Arial" pitchFamily="-84" charset="0"/>
                <a:ea typeface="ＭＳ Ｐゴシック" pitchFamily="-84" charset="-128"/>
                <a:cs typeface="ＭＳ Ｐゴシック" pitchFamily="-84" charset="-128"/>
              </a:rPr>
              <a:t>section.</a:t>
            </a:r>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5.1 Arithmetic Modulo 8 and Modulo 7</a:t>
            </a:r>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5.1 Arithmetic Modulo 8 and Modulo 7</a:t>
            </a:r>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5.1 Arithmetic Modulo 8 and Modulo 7</a:t>
            </a:r>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5.1 Arithmetic Modulo 8 and Modulo 7</a:t>
            </a:r>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5.1 Arithmetic Modulo 8 and Modulo 7</a:t>
            </a:r>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5.1 Arithmetic Modulo 8 and Modulo 7</a:t>
            </a:r>
            <a:endParaRPr lang="en-US" dirty="0"/>
          </a:p>
        </p:txBody>
      </p:sp>
      <p:sp>
        <p:nvSpPr>
          <p:cNvPr id="4" name="Slide Number Placeholder 3"/>
          <p:cNvSpPr>
            <a:spLocks noGrp="1"/>
          </p:cNvSpPr>
          <p:nvPr>
            <p:ph type="sldNum" sz="quarter" idx="10"/>
          </p:nvPr>
        </p:nvSpPr>
        <p:spPr/>
        <p:txBody>
          <a:bodyPr/>
          <a:lstStyle/>
          <a:p>
            <a:pPr>
              <a:defRPr/>
            </a:pPr>
            <a:fld id="{B1B765E1-EB55-3F42-96E6-9BC39CDD5E78}"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625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spcBef>
                <a:spcPts val="1800"/>
              </a:spcBef>
              <a:defRPr/>
            </a:pPr>
            <a:r>
              <a:rPr lang="en-US" dirty="0" smtClean="0"/>
              <a:t>In this section, we have shown how to construct a finite field of order </a:t>
            </a:r>
            <a:r>
              <a:rPr lang="en-US" i="1" dirty="0" smtClean="0"/>
              <a:t>p</a:t>
            </a:r>
            <a:r>
              <a:rPr lang="en-US" dirty="0" smtClean="0"/>
              <a:t>, where </a:t>
            </a:r>
            <a:r>
              <a:rPr lang="en-US" i="1" dirty="0" smtClean="0"/>
              <a:t>p</a:t>
            </a:r>
            <a:r>
              <a:rPr lang="en-US" dirty="0" smtClean="0"/>
              <a:t>  is prime. </a:t>
            </a:r>
            <a:br>
              <a:rPr lang="en-US" dirty="0" smtClean="0"/>
            </a:br>
            <a:r>
              <a:rPr lang="en-US" dirty="0" smtClean="0"/>
              <a:t>GF(</a:t>
            </a:r>
            <a:r>
              <a:rPr lang="en-US" i="1" dirty="0" smtClean="0"/>
              <a:t>p</a:t>
            </a:r>
            <a:r>
              <a:rPr lang="en-US" dirty="0" smtClean="0"/>
              <a:t>) is defined with the following properties:</a:t>
            </a:r>
          </a:p>
          <a:p>
            <a:pPr>
              <a:spcBef>
                <a:spcPts val="1800"/>
              </a:spcBef>
              <a:defRPr/>
            </a:pPr>
            <a:endParaRPr lang="en-US" dirty="0" smtClean="0"/>
          </a:p>
          <a:p>
            <a:pPr marL="228600" indent="-228600">
              <a:buFontTx/>
              <a:buAutoNum type="arabicPeriod"/>
              <a:defRPr/>
            </a:pPr>
            <a:r>
              <a:rPr lang="en-US" dirty="0" smtClean="0"/>
              <a:t>GF(</a:t>
            </a:r>
            <a:r>
              <a:rPr lang="en-US" i="1" dirty="0" smtClean="0"/>
              <a:t>p</a:t>
            </a:r>
            <a:r>
              <a:rPr lang="en-US" dirty="0" smtClean="0"/>
              <a:t>) consists of </a:t>
            </a:r>
            <a:r>
              <a:rPr lang="en-US" i="1" dirty="0" smtClean="0"/>
              <a:t>p</a:t>
            </a:r>
            <a:r>
              <a:rPr lang="en-US" dirty="0" smtClean="0"/>
              <a:t> elements</a:t>
            </a:r>
          </a:p>
          <a:p>
            <a:pPr marL="228600" indent="-228600">
              <a:defRPr/>
            </a:pPr>
            <a:endParaRPr lang="en-US" dirty="0" smtClean="0"/>
          </a:p>
          <a:p>
            <a:pPr>
              <a:defRPr/>
            </a:pPr>
            <a:r>
              <a:rPr lang="en-US" dirty="0" smtClean="0"/>
              <a:t>2. The binary operations + and * are defined over the set. The operations of addition, subtraction, multiplication, and division can be performed without leaving the set. Each element of the set other than 0 has a multiplicative inverse</a:t>
            </a:r>
          </a:p>
          <a:p>
            <a:pPr>
              <a:defRPr/>
            </a:pPr>
            <a:endParaRPr lang="en-US" dirty="0" smtClean="0"/>
          </a:p>
          <a:p>
            <a:pPr>
              <a:defRPr/>
            </a:pPr>
            <a:r>
              <a:rPr lang="en-US" dirty="0" smtClean="0"/>
              <a:t>We have shown that the elements of GF(</a:t>
            </a:r>
            <a:r>
              <a:rPr lang="en-US" i="1" dirty="0" smtClean="0"/>
              <a:t>p</a:t>
            </a:r>
            <a:r>
              <a:rPr lang="en-US" dirty="0" smtClean="0"/>
              <a:t>) are the integers {0, 1, . . . , </a:t>
            </a:r>
            <a:r>
              <a:rPr lang="en-US" i="1" dirty="0" smtClean="0"/>
              <a:t>p</a:t>
            </a:r>
            <a:r>
              <a:rPr lang="en-US" dirty="0" smtClean="0"/>
              <a:t> – 1} and that the arithmetic operations are addition and multiplication mod </a:t>
            </a:r>
            <a:r>
              <a:rPr lang="en-US" i="1" dirty="0" smtClean="0"/>
              <a:t>p</a:t>
            </a:r>
            <a:endParaRPr lang="en-US" dirty="0" smtClean="0"/>
          </a:p>
          <a:p>
            <a:pPr>
              <a:spcBef>
                <a:spcPts val="1800"/>
              </a:spcBef>
              <a:defRPr/>
            </a:pPr>
            <a:endParaRPr lang="en-US" dirty="0"/>
          </a:p>
        </p:txBody>
      </p:sp>
      <p:sp>
        <p:nvSpPr>
          <p:cNvPr id="96260" name="Slide Number Placeholder 3"/>
          <p:cNvSpPr>
            <a:spLocks noGrp="1"/>
          </p:cNvSpPr>
          <p:nvPr>
            <p:ph type="sldNum" sz="quarter" idx="5"/>
          </p:nvPr>
        </p:nvSpPr>
        <p:spPr>
          <a:noFill/>
        </p:spPr>
        <p:txBody>
          <a:bodyPr/>
          <a:lstStyle/>
          <a:p>
            <a:fld id="{7C2DDFC6-BFF4-B345-9357-CD07D4DE3BCB}" type="slidenum">
              <a:rPr lang="en-AU" smtClean="0">
                <a:latin typeface="Arial" pitchFamily="-84" charset="0"/>
              </a:rPr>
              <a:pPr/>
              <a:t>18</a:t>
            </a:fld>
            <a:endParaRPr lang="en-AU" smtClean="0">
              <a:latin typeface="Arial" pitchFamily="-8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D16B76F1-CE66-AF48-814A-0E2CCE42D630}" type="slidenum">
              <a:rPr lang="en-AU">
                <a:latin typeface="Arial" pitchFamily="-84" charset="0"/>
              </a:rPr>
              <a:pPr/>
              <a:t>19</a:t>
            </a:fld>
            <a:endParaRPr lang="en-AU">
              <a:latin typeface="Arial" pitchFamily="-8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Before continuing our discussion of finite fields, we need to introduce the interesting</a:t>
            </a:r>
          </a:p>
          <a:p>
            <a:r>
              <a:rPr lang="en-US" dirty="0" smtClean="0">
                <a:latin typeface="Arial" pitchFamily="-84" charset="0"/>
                <a:ea typeface="ＭＳ Ｐゴシック" pitchFamily="-84" charset="-128"/>
                <a:cs typeface="ＭＳ Ｐゴシック" pitchFamily="-84" charset="-128"/>
              </a:rPr>
              <a:t>subject of polynomial arithmetic. We are concerned with polynomials in a single</a:t>
            </a:r>
          </a:p>
          <a:p>
            <a:r>
              <a:rPr lang="en-US" dirty="0" smtClean="0">
                <a:latin typeface="Arial" pitchFamily="-84" charset="0"/>
                <a:ea typeface="ＭＳ Ｐゴシック" pitchFamily="-84" charset="-128"/>
                <a:cs typeface="ＭＳ Ｐゴシック" pitchFamily="-84" charset="-128"/>
              </a:rPr>
              <a:t>variable </a:t>
            </a:r>
            <a:r>
              <a:rPr lang="en-US" dirty="0" err="1"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 and we can distinguish three classes of polynomial arithmetic</a:t>
            </a:r>
            <a:r>
              <a:rPr lang="en-US" dirty="0" smtClean="0">
                <a:latin typeface="Arial" pitchFamily="-84" charset="0"/>
                <a:ea typeface="ＭＳ Ｐゴシック" pitchFamily="-84" charset="-128"/>
                <a:cs typeface="ＭＳ Ｐゴシック" pitchFamily="-84" charset="-128"/>
              </a:rPr>
              <a:t>. (Figure 5.4)</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Ordinary polynomial arithmetic, using the basic rules of algebra.</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Polynomial arithmetic in which the arithmetic on the coefficients is performed</a:t>
            </a:r>
          </a:p>
          <a:p>
            <a:r>
              <a:rPr lang="en-US" dirty="0" smtClean="0">
                <a:latin typeface="Arial" pitchFamily="-84" charset="0"/>
                <a:ea typeface="ＭＳ Ｐゴシック" pitchFamily="-84" charset="-128"/>
                <a:cs typeface="ＭＳ Ｐゴシック" pitchFamily="-84" charset="-128"/>
              </a:rPr>
              <a:t>modulo </a:t>
            </a:r>
            <a:r>
              <a:rPr lang="en-US" dirty="0" err="1" smtClean="0">
                <a:latin typeface="Arial" pitchFamily="-84" charset="0"/>
                <a:ea typeface="ＭＳ Ｐゴシック" pitchFamily="-84" charset="-128"/>
                <a:cs typeface="ＭＳ Ｐゴシック" pitchFamily="-84" charset="-128"/>
              </a:rPr>
              <a:t>p</a:t>
            </a:r>
            <a:r>
              <a:rPr lang="en-US" dirty="0" smtClean="0">
                <a:latin typeface="Arial" pitchFamily="-84" charset="0"/>
                <a:ea typeface="ＭＳ Ｐゴシック" pitchFamily="-84" charset="-128"/>
                <a:cs typeface="ＭＳ Ｐゴシック" pitchFamily="-84" charset="-128"/>
              </a:rPr>
              <a:t> ; that is, the coefficients are in </a:t>
            </a:r>
            <a:r>
              <a:rPr lang="en-US" dirty="0" err="1" smtClean="0">
                <a:latin typeface="Arial" pitchFamily="-84" charset="0"/>
                <a:ea typeface="ＭＳ Ｐゴシック" pitchFamily="-84" charset="-128"/>
                <a:cs typeface="ＭＳ Ｐゴシック" pitchFamily="-84" charset="-128"/>
              </a:rPr>
              <a:t>GF(p</a:t>
            </a:r>
            <a:r>
              <a:rPr lang="en-US" dirty="0" smtClean="0">
                <a:latin typeface="Arial" pitchFamily="-84" charset="0"/>
                <a:ea typeface="ＭＳ Ｐゴシック" pitchFamily="-84" charset="-128"/>
                <a:cs typeface="ＭＳ Ｐゴシック" pitchFamily="-84" charset="-128"/>
              </a:rPr>
              <a:t>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Polynomial arithmetic in which the coefficients are in </a:t>
            </a:r>
            <a:r>
              <a:rPr lang="en-US" dirty="0" err="1" smtClean="0">
                <a:latin typeface="Arial" pitchFamily="-84" charset="0"/>
                <a:ea typeface="ＭＳ Ｐゴシック" pitchFamily="-84" charset="-128"/>
                <a:cs typeface="ＭＳ Ｐゴシック" pitchFamily="-84" charset="-128"/>
              </a:rPr>
              <a:t>GF(p</a:t>
            </a:r>
            <a:r>
              <a:rPr lang="en-US" dirty="0" smtClean="0">
                <a:latin typeface="Arial" pitchFamily="-84" charset="0"/>
                <a:ea typeface="ＭＳ Ｐゴシック" pitchFamily="-84" charset="-128"/>
                <a:cs typeface="ＭＳ Ｐゴシック" pitchFamily="-84" charset="-128"/>
              </a:rPr>
              <a:t> ), and the polynomials</a:t>
            </a:r>
          </a:p>
          <a:p>
            <a:r>
              <a:rPr lang="en-US" dirty="0" smtClean="0">
                <a:latin typeface="Arial" pitchFamily="-84" charset="0"/>
                <a:ea typeface="ＭＳ Ｐゴシック" pitchFamily="-84" charset="-128"/>
                <a:cs typeface="ＭＳ Ｐゴシック" pitchFamily="-84" charset="-128"/>
              </a:rPr>
              <a:t>are defined modulo a polynomial </a:t>
            </a:r>
            <a:r>
              <a:rPr lang="en-US" dirty="0" err="1" smtClean="0">
                <a:latin typeface="Arial" pitchFamily="-84" charset="0"/>
                <a:ea typeface="ＭＳ Ｐゴシック" pitchFamily="-84" charset="-128"/>
                <a:cs typeface="ＭＳ Ｐゴシック" pitchFamily="-84" charset="-128"/>
              </a:rPr>
              <a:t>m</a:t>
            </a:r>
            <a:r>
              <a:rPr lang="en-US" dirty="0" smtClean="0">
                <a:latin typeface="Arial" pitchFamily="-84" charset="0"/>
                <a:ea typeface="ＭＳ Ｐゴシック" pitchFamily="-84" charset="-128"/>
                <a:cs typeface="ＭＳ Ｐゴシック" pitchFamily="-84" charset="-128"/>
              </a:rPr>
              <a:t> (</a:t>
            </a:r>
            <a:r>
              <a:rPr lang="en-US" dirty="0" err="1"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 whose highest power is some integer </a:t>
            </a:r>
            <a:r>
              <a:rPr lang="en-US" dirty="0" err="1"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02" name="Slide Image Placeholder 1"/>
          <p:cNvSpPr>
            <a:spLocks noGrp="1" noRot="1" noChangeAspect="1"/>
          </p:cNvSpPr>
          <p:nvPr>
            <p:ph type="sldImg"/>
          </p:nvPr>
        </p:nvSpPr>
        <p:spPr>
          <a:ln/>
        </p:spPr>
      </p:sp>
      <p:sp>
        <p:nvSpPr>
          <p:cNvPr id="102403" name="Notes Placeholder 2"/>
          <p:cNvSpPr>
            <a:spLocks noGrp="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Examples of Polynomial Arithmetic</a:t>
            </a:r>
          </a:p>
        </p:txBody>
      </p:sp>
      <p:sp>
        <p:nvSpPr>
          <p:cNvPr id="102404" name="Slide Number Placeholder 3"/>
          <p:cNvSpPr>
            <a:spLocks noGrp="1"/>
          </p:cNvSpPr>
          <p:nvPr>
            <p:ph type="sldNum" sz="quarter" idx="5"/>
          </p:nvPr>
        </p:nvSpPr>
        <p:spPr>
          <a:noFill/>
        </p:spPr>
        <p:txBody>
          <a:bodyPr/>
          <a:lstStyle/>
          <a:p>
            <a:fld id="{24B8884A-E331-D241-A123-0A9BF055A4A2}" type="slidenum">
              <a:rPr lang="en-AU" smtClean="0">
                <a:latin typeface="Arial" pitchFamily="-84" charset="0"/>
              </a:rPr>
              <a:pPr/>
              <a:t>20</a:t>
            </a:fld>
            <a:endParaRPr lang="en-AU" smtClean="0">
              <a:latin typeface="Arial" pitchFamily="-8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9171186E-E6FF-D24F-86F0-B1F99332E6AF}" type="slidenum">
              <a:rPr lang="en-AU">
                <a:latin typeface="Arial" pitchFamily="-84" charset="0"/>
              </a:rPr>
              <a:pPr/>
              <a:t>21</a:t>
            </a:fld>
            <a:endParaRPr lang="en-AU">
              <a:latin typeface="Arial" pitchFamily="-84" charset="0"/>
            </a:endParaRPr>
          </a:p>
        </p:txBody>
      </p:sp>
      <p:sp>
        <p:nvSpPr>
          <p:cNvPr id="104451" name="Rectangle 1026"/>
          <p:cNvSpPr>
            <a:spLocks noGrp="1" noRot="1" noChangeAspect="1" noChangeArrowheads="1" noTextEdit="1"/>
          </p:cNvSpPr>
          <p:nvPr>
            <p:ph type="sldImg"/>
          </p:nvPr>
        </p:nvSpPr>
        <p:spPr>
          <a:ln/>
        </p:spPr>
      </p:sp>
      <p:sp>
        <p:nvSpPr>
          <p:cNvPr id="104452" name="Rectangle 1027"/>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Let us now consider polynomials in which the coefficients are elements of some</a:t>
            </a:r>
          </a:p>
          <a:p>
            <a:r>
              <a:rPr lang="en-US" dirty="0" smtClean="0">
                <a:latin typeface="Arial" pitchFamily="-84" charset="0"/>
                <a:ea typeface="ＭＳ Ｐゴシック" pitchFamily="-84" charset="-128"/>
                <a:cs typeface="ＭＳ Ｐゴシック" pitchFamily="-84" charset="-128"/>
              </a:rPr>
              <a:t>field F; we refer to this as a polynomial over the field F. In that case, it is easy to</a:t>
            </a:r>
          </a:p>
          <a:p>
            <a:r>
              <a:rPr lang="en-US" dirty="0" smtClean="0">
                <a:latin typeface="Arial" pitchFamily="-84" charset="0"/>
                <a:ea typeface="ＭＳ Ｐゴシック" pitchFamily="-84" charset="-128"/>
                <a:cs typeface="ＭＳ Ｐゴシック" pitchFamily="-84" charset="-128"/>
              </a:rPr>
              <a:t>show that the set of such polynomials is a ring, referred to as a polynomial ring .</a:t>
            </a:r>
          </a:p>
          <a:p>
            <a:r>
              <a:rPr lang="en-US" dirty="0" smtClean="0">
                <a:latin typeface="Arial" pitchFamily="-84" charset="0"/>
                <a:ea typeface="ＭＳ Ｐゴシック" pitchFamily="-84" charset="-128"/>
                <a:cs typeface="ＭＳ Ｐゴシック" pitchFamily="-84" charset="-128"/>
              </a:rPr>
              <a:t>That is, if we consider each distinct polynomial to be an element of the set, then</a:t>
            </a:r>
          </a:p>
          <a:p>
            <a:r>
              <a:rPr lang="en-US" dirty="0" smtClean="0">
                <a:latin typeface="Arial" pitchFamily="-84" charset="0"/>
                <a:ea typeface="ＭＳ Ｐゴシック" pitchFamily="-84" charset="-128"/>
                <a:cs typeface="ＭＳ Ｐゴシック" pitchFamily="-84" charset="-128"/>
              </a:rPr>
              <a:t>that set is a ring.</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When polynomial arithmetic is performed on polynomials over a field, then</a:t>
            </a:r>
          </a:p>
          <a:p>
            <a:r>
              <a:rPr lang="en-US" dirty="0" smtClean="0">
                <a:latin typeface="Arial" pitchFamily="-84" charset="0"/>
                <a:ea typeface="ＭＳ Ｐゴシック" pitchFamily="-84" charset="-128"/>
                <a:cs typeface="ＭＳ Ｐゴシック" pitchFamily="-84" charset="-128"/>
              </a:rPr>
              <a:t>division is possible. Note that this does not mean that exact division  is possible.</a:t>
            </a:r>
          </a:p>
          <a:p>
            <a:r>
              <a:rPr lang="en-US" dirty="0" smtClean="0">
                <a:latin typeface="Arial" pitchFamily="-84" charset="0"/>
                <a:ea typeface="ＭＳ Ｐゴシック" pitchFamily="-84" charset="-128"/>
                <a:cs typeface="ＭＳ Ｐゴシック" pitchFamily="-84" charset="-128"/>
              </a:rPr>
              <a:t>Let us clarify this distinction. Within a field, given two elements a  and </a:t>
            </a:r>
            <a:r>
              <a:rPr lang="en-US" dirty="0" err="1"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 the</a:t>
            </a:r>
          </a:p>
          <a:p>
            <a:r>
              <a:rPr lang="en-US" dirty="0" smtClean="0">
                <a:latin typeface="Arial" pitchFamily="-84" charset="0"/>
                <a:ea typeface="ＭＳ Ｐゴシック" pitchFamily="-84" charset="-128"/>
                <a:cs typeface="ＭＳ Ｐゴシック" pitchFamily="-84" charset="-128"/>
              </a:rPr>
              <a:t>quotient a /</a:t>
            </a:r>
            <a:r>
              <a:rPr lang="en-US" dirty="0" err="1"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is also an element of the field. However, given a ring R  that is not a</a:t>
            </a:r>
          </a:p>
          <a:p>
            <a:r>
              <a:rPr lang="en-US" dirty="0" smtClean="0">
                <a:latin typeface="Arial" pitchFamily="-84" charset="0"/>
                <a:ea typeface="ＭＳ Ｐゴシック" pitchFamily="-84" charset="-128"/>
                <a:cs typeface="ＭＳ Ｐゴシック" pitchFamily="-84" charset="-128"/>
              </a:rPr>
              <a:t>field, in general, division will result in both a quotient and a remainder; this is not</a:t>
            </a:r>
          </a:p>
          <a:p>
            <a:r>
              <a:rPr lang="en-US" dirty="0" smtClean="0">
                <a:latin typeface="Arial" pitchFamily="-84" charset="0"/>
                <a:ea typeface="ＭＳ Ｐゴシック" pitchFamily="-84" charset="-128"/>
                <a:cs typeface="ＭＳ Ｐゴシック" pitchFamily="-84" charset="-128"/>
              </a:rPr>
              <a:t>exact division.</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Now, if we attempt to perform polynomial division over a coefficient set that</a:t>
            </a:r>
          </a:p>
          <a:p>
            <a:r>
              <a:rPr lang="en-US" dirty="0" smtClean="0">
                <a:latin typeface="Arial" pitchFamily="-84" charset="0"/>
                <a:ea typeface="ＭＳ Ｐゴシック" pitchFamily="-84" charset="-128"/>
                <a:cs typeface="ＭＳ Ｐゴシック" pitchFamily="-84" charset="-128"/>
              </a:rPr>
              <a:t>is not a field, we find that division is not always defined.</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However, as we demonstrate presently, even if the coefficient set is a field,</a:t>
            </a:r>
          </a:p>
          <a:p>
            <a:r>
              <a:rPr lang="en-US" dirty="0" smtClean="0">
                <a:latin typeface="Arial" pitchFamily="-84" charset="0"/>
                <a:ea typeface="ＭＳ Ｐゴシック" pitchFamily="-84" charset="-128"/>
                <a:cs typeface="ＭＳ Ｐゴシック" pitchFamily="-84" charset="-128"/>
              </a:rPr>
              <a:t>polynomial division is not necessarily exact. In general, division will produce a quotient</a:t>
            </a:r>
          </a:p>
          <a:p>
            <a:r>
              <a:rPr lang="en-US" dirty="0" smtClean="0">
                <a:latin typeface="Arial" pitchFamily="-84" charset="0"/>
                <a:ea typeface="ＭＳ Ｐゴシック" pitchFamily="-84" charset="-128"/>
                <a:cs typeface="ＭＳ Ｐゴシック" pitchFamily="-84" charset="-128"/>
              </a:rPr>
              <a:t>and a remainder.</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 With the understanding that remainders are allowed, we can say that polynomial</a:t>
            </a:r>
          </a:p>
          <a:p>
            <a:r>
              <a:rPr lang="en-US" dirty="0" smtClean="0">
                <a:latin typeface="Arial" pitchFamily="-84" charset="0"/>
                <a:ea typeface="ＭＳ Ｐゴシック" pitchFamily="-84" charset="-128"/>
                <a:cs typeface="ＭＳ Ｐゴシック" pitchFamily="-84" charset="-128"/>
              </a:rPr>
              <a:t>division is possible if the coefficient set is a field.</a:t>
            </a:r>
          </a:p>
          <a:p>
            <a:endParaRPr lang="en-US" dirty="0" smtClean="0">
              <a:latin typeface="Arial" pitchFamily="-84" charset="0"/>
              <a:ea typeface="ＭＳ Ｐゴシック" pitchFamily="-84" charset="-128"/>
              <a:cs typeface="ＭＳ Ｐゴシック" pitchFamily="-84" charset="-128"/>
            </a:endParaRPr>
          </a:p>
          <a:p>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1DC982EB-7DD1-C04B-9FAA-A6E4C7F33760}" type="slidenum">
              <a:rPr lang="en-AU">
                <a:latin typeface="Arial" pitchFamily="-84" charset="0"/>
              </a:rPr>
              <a:pPr/>
              <a:t>22</a:t>
            </a:fld>
            <a:endParaRPr lang="en-AU">
              <a:latin typeface="Arial" pitchFamily="-84" charset="0"/>
            </a:endParaRPr>
          </a:p>
        </p:txBody>
      </p:sp>
      <p:sp>
        <p:nvSpPr>
          <p:cNvPr id="106499" name="Rectangle 1026"/>
          <p:cNvSpPr>
            <a:spLocks noGrp="1" noRot="1" noChangeAspect="1" noChangeArrowheads="1" noTextEdit="1"/>
          </p:cNvSpPr>
          <p:nvPr>
            <p:ph type="sldImg"/>
          </p:nvPr>
        </p:nvSpPr>
        <p:spPr>
          <a:ln/>
        </p:spPr>
      </p:sp>
      <p:sp>
        <p:nvSpPr>
          <p:cNvPr id="106500" name="Rectangle 1027"/>
          <p:cNvSpPr>
            <a:spLocks noGrp="1" noChangeArrowheads="1"/>
          </p:cNvSpPr>
          <p:nvPr>
            <p:ph type="body" idx="1"/>
          </p:nvPr>
        </p:nvSpPr>
        <p:spPr>
          <a:noFill/>
          <a:ln/>
        </p:spPr>
        <p:txBody>
          <a:bodyPr/>
          <a:lstStyle/>
          <a:p>
            <a:pPr eaLnBrk="1" hangingPunct="1"/>
            <a:r>
              <a:rPr lang="en-US">
                <a:latin typeface="Arial" pitchFamily="-84" charset="0"/>
                <a:ea typeface="Arial" pitchFamily="-84" charset="0"/>
                <a:cs typeface="Arial" pitchFamily="-84" charset="0"/>
              </a:rPr>
              <a:t>Note that we can write any polynomial in the form of </a:t>
            </a:r>
            <a:r>
              <a:rPr lang="en-AU" i="1">
                <a:latin typeface="Arial" pitchFamily="-84" charset="0"/>
                <a:ea typeface="Arial" pitchFamily="-84" charset="0"/>
                <a:cs typeface="Arial" pitchFamily="-84" charset="0"/>
              </a:rPr>
              <a:t>f</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 </a:t>
            </a:r>
            <a:r>
              <a:rPr lang="en-AU" i="1">
                <a:latin typeface="Arial" pitchFamily="-84" charset="0"/>
                <a:ea typeface="Arial" pitchFamily="-84" charset="0"/>
                <a:cs typeface="Arial" pitchFamily="-84" charset="0"/>
              </a:rPr>
              <a:t>q</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a:t>
            </a:r>
            <a:r>
              <a:rPr lang="en-AU" i="1">
                <a:latin typeface="Arial" pitchFamily="-84" charset="0"/>
                <a:ea typeface="Arial" pitchFamily="-84" charset="0"/>
                <a:cs typeface="Arial" pitchFamily="-84" charset="0"/>
              </a:rPr>
              <a:t>g</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 </a:t>
            </a:r>
            <a:r>
              <a:rPr lang="en-AU" i="1">
                <a:latin typeface="Arial" pitchFamily="-84" charset="0"/>
                <a:ea typeface="Arial" pitchFamily="-84" charset="0"/>
                <a:cs typeface="Arial" pitchFamily="-84" charset="0"/>
              </a:rPr>
              <a:t>r</a:t>
            </a:r>
            <a:r>
              <a:rPr lang="en-AU">
                <a:latin typeface="Arial" pitchFamily="-84" charset="0"/>
                <a:ea typeface="Arial" pitchFamily="-84" charset="0"/>
                <a:cs typeface="Arial" pitchFamily="-84" charset="0"/>
              </a:rPr>
              <a:t>(</a:t>
            </a:r>
            <a:r>
              <a:rPr lang="en-AU" i="1">
                <a:latin typeface="Arial" pitchFamily="-84" charset="0"/>
                <a:ea typeface="Arial" pitchFamily="-84" charset="0"/>
                <a:cs typeface="Arial" pitchFamily="-84" charset="0"/>
              </a:rPr>
              <a:t>x</a:t>
            </a:r>
            <a:r>
              <a:rPr lang="en-AU">
                <a:latin typeface="Arial" pitchFamily="-84" charset="0"/>
                <a:ea typeface="Arial" pitchFamily="-84" charset="0"/>
                <a:cs typeface="Arial" pitchFamily="-84" charset="0"/>
              </a:rPr>
              <a:t>), where division of f(x) by g(x) results in a quotient q(x) and remainder r(x). Can then extend the concept of divisors from the integer case, and show </a:t>
            </a:r>
            <a:r>
              <a:rPr lang="en-US">
                <a:latin typeface="Arial" pitchFamily="-84" charset="0"/>
                <a:ea typeface="Arial" pitchFamily="-84" charset="0"/>
                <a:cs typeface="Arial" pitchFamily="-84" charset="0"/>
              </a:rPr>
              <a:t>that the Euclidean algorithm can be extended to find the greatest common divisor of two polynomials whose coefficients are elements of a field. </a:t>
            </a:r>
            <a:endParaRPr lang="en-AU">
              <a:latin typeface="Arial" pitchFamily="-84" charset="0"/>
              <a:ea typeface="Arial" pitchFamily="-84" charset="0"/>
              <a:cs typeface="Arial" pitchFamily="-84" charset="0"/>
            </a:endParaRPr>
          </a:p>
          <a:p>
            <a:pPr eaLnBrk="1" hangingPunct="1"/>
            <a:r>
              <a:rPr lang="en-AU">
                <a:latin typeface="Arial" pitchFamily="-84" charset="0"/>
                <a:ea typeface="Arial" pitchFamily="-84" charset="0"/>
                <a:cs typeface="Arial" pitchFamily="-84" charset="0"/>
              </a:rPr>
              <a:t>Define an </a:t>
            </a:r>
            <a:r>
              <a:rPr lang="en-AU" b="1">
                <a:latin typeface="Arial" pitchFamily="-84" charset="0"/>
                <a:ea typeface="Arial" pitchFamily="-84" charset="0"/>
                <a:cs typeface="Arial" pitchFamily="-84" charset="0"/>
              </a:rPr>
              <a:t>irreducible</a:t>
            </a:r>
            <a:r>
              <a:rPr lang="en-AU">
                <a:latin typeface="Arial" pitchFamily="-84" charset="0"/>
                <a:ea typeface="Arial" pitchFamily="-84" charset="0"/>
                <a:cs typeface="Arial" pitchFamily="-84" charset="0"/>
              </a:rPr>
              <a:t> (or prime) polynomial as one with no divisors other than itself &amp; 1. If compute polynomial arithmetic </a:t>
            </a:r>
            <a:r>
              <a:rPr lang="en-US">
                <a:latin typeface="Arial" pitchFamily="-84" charset="0"/>
                <a:ea typeface="Arial" pitchFamily="-84" charset="0"/>
                <a:cs typeface="Arial" pitchFamily="-84" charset="0"/>
              </a:rPr>
              <a:t>modulo an irreducible polynomial, this forms a finite field, and the GCD &amp; Inverse algorithms can be adapted for it.</a:t>
            </a:r>
            <a:endParaRPr lang="en-AU">
              <a:latin typeface="Arial" pitchFamily="-84" charset="0"/>
              <a:ea typeface="Arial" pitchFamily="-84" charset="0"/>
              <a:cs typeface="Arial" pitchFamily="-84" charset="0"/>
            </a:endParaRPr>
          </a:p>
          <a:p>
            <a:pPr lvl="1" eaLnBrk="1" hangingPunct="1"/>
            <a:endParaRPr lang="en-US">
              <a:latin typeface="Arial" pitchFamily="-84" charset="0"/>
              <a:ea typeface="Arial" pitchFamily="-84" charset="0"/>
              <a:cs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8546" name="Slide Image Placeholder 1"/>
          <p:cNvSpPr>
            <a:spLocks noGrp="1" noRot="1" noChangeAspect="1"/>
          </p:cNvSpPr>
          <p:nvPr>
            <p:ph type="sldImg"/>
          </p:nvPr>
        </p:nvSpPr>
        <p:spPr>
          <a:ln/>
        </p:spPr>
      </p:sp>
      <p:sp>
        <p:nvSpPr>
          <p:cNvPr id="108547" name="Notes Placeholder 2"/>
          <p:cNvSpPr>
            <a:spLocks noGrp="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Figure</a:t>
            </a:r>
            <a:r>
              <a:rPr lang="en-US" dirty="0" smtClean="0">
                <a:latin typeface="Arial" pitchFamily="-84" charset="0"/>
                <a:ea typeface="ＭＳ Ｐゴシック" pitchFamily="-84" charset="-128"/>
                <a:cs typeface="ＭＳ Ｐゴシック" pitchFamily="-84" charset="-128"/>
              </a:rPr>
              <a:t> 5.6 </a:t>
            </a:r>
            <a:r>
              <a:rPr lang="en-US" dirty="0" smtClean="0">
                <a:latin typeface="Arial" pitchFamily="-84" charset="0"/>
                <a:ea typeface="ＭＳ Ｐゴシック" pitchFamily="-84" charset="-128"/>
                <a:cs typeface="ＭＳ Ｐゴシック" pitchFamily="-84" charset="-128"/>
              </a:rPr>
              <a:t>shows an example of polynomial arithmetic over GF(2).</a:t>
            </a:r>
          </a:p>
        </p:txBody>
      </p:sp>
      <p:sp>
        <p:nvSpPr>
          <p:cNvPr id="108548" name="Slide Number Placeholder 3"/>
          <p:cNvSpPr>
            <a:spLocks noGrp="1"/>
          </p:cNvSpPr>
          <p:nvPr>
            <p:ph type="sldNum" sz="quarter" idx="5"/>
          </p:nvPr>
        </p:nvSpPr>
        <p:spPr>
          <a:noFill/>
        </p:spPr>
        <p:txBody>
          <a:bodyPr/>
          <a:lstStyle/>
          <a:p>
            <a:fld id="{1D1DFB27-208B-3143-9320-9B1D05A7A8BB}" type="slidenum">
              <a:rPr lang="en-AU" smtClean="0">
                <a:latin typeface="Arial" pitchFamily="-84" charset="0"/>
              </a:rPr>
              <a:pPr/>
              <a:t>23</a:t>
            </a:fld>
            <a:endParaRPr lang="en-AU"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7FE35048-A550-DE44-9335-3A0BB6BECD82}" type="slidenum">
              <a:rPr lang="en-AU">
                <a:latin typeface="Arial" pitchFamily="-84" charset="0"/>
              </a:rPr>
              <a:pPr/>
              <a:t>24</a:t>
            </a:fld>
            <a:endParaRPr lang="en-AU">
              <a:latin typeface="Arial" pitchFamily="-84" charset="0"/>
            </a:endParaRPr>
          </a:p>
        </p:txBody>
      </p:sp>
      <p:sp>
        <p:nvSpPr>
          <p:cNvPr id="110595" name="Rectangle 1026"/>
          <p:cNvSpPr>
            <a:spLocks noGrp="1" noRot="1" noChangeAspect="1" noChangeArrowheads="1" noTextEdit="1"/>
          </p:cNvSpPr>
          <p:nvPr>
            <p:ph type="sldImg"/>
          </p:nvPr>
        </p:nvSpPr>
        <p:spPr>
          <a:ln/>
        </p:spPr>
      </p:sp>
      <p:sp>
        <p:nvSpPr>
          <p:cNvPr id="110596" name="Rectangle 1027"/>
          <p:cNvSpPr>
            <a:spLocks noGrp="1" noChangeArrowheads="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 We can extend the analogy between polynomial arithmetic over a field and integer</a:t>
            </a:r>
          </a:p>
          <a:p>
            <a:r>
              <a:rPr lang="en-US" dirty="0" smtClean="0">
                <a:latin typeface="Arial" pitchFamily="-84" charset="0"/>
                <a:ea typeface="ＭＳ Ｐゴシック" pitchFamily="-84" charset="-128"/>
                <a:cs typeface="ＭＳ Ｐゴシック" pitchFamily="-84" charset="-128"/>
              </a:rPr>
              <a:t>arithmetic by defining the greatest common divisor as follows. The polynomial </a:t>
            </a:r>
            <a:r>
              <a:rPr lang="en-US" i="1" dirty="0" err="1" smtClean="0">
                <a:latin typeface="Arial" pitchFamily="-84" charset="0"/>
                <a:ea typeface="ＭＳ Ｐゴシック" pitchFamily="-84" charset="-128"/>
                <a:cs typeface="ＭＳ Ｐゴシック" pitchFamily="-84" charset="-128"/>
              </a:rPr>
              <a:t>c(x</a:t>
            </a:r>
            <a:r>
              <a:rPr lang="en-US" i="1" dirty="0" smtClean="0">
                <a:latin typeface="Arial" pitchFamily="-84" charset="0"/>
                <a:ea typeface="ＭＳ Ｐゴシック" pitchFamily="-84" charset="-128"/>
                <a:cs typeface="ＭＳ Ｐゴシック" pitchFamily="-84" charset="-128"/>
              </a:rPr>
              <a:t>)</a:t>
            </a:r>
          </a:p>
          <a:p>
            <a:r>
              <a:rPr lang="en-US" dirty="0" smtClean="0">
                <a:latin typeface="Arial" pitchFamily="-84" charset="0"/>
                <a:ea typeface="ＭＳ Ｐゴシック" pitchFamily="-84" charset="-128"/>
                <a:cs typeface="ＭＳ Ｐゴシック" pitchFamily="-84" charset="-128"/>
              </a:rPr>
              <a:t>is said to be the greatest common divisor of </a:t>
            </a:r>
            <a:r>
              <a:rPr lang="en-US" i="1" dirty="0" err="1" smtClean="0">
                <a:latin typeface="Arial" pitchFamily="-84" charset="0"/>
                <a:ea typeface="ＭＳ Ｐゴシック" pitchFamily="-84" charset="-128"/>
                <a:cs typeface="ＭＳ Ｐゴシック" pitchFamily="-84" charset="-128"/>
              </a:rPr>
              <a:t>a(x</a:t>
            </a:r>
            <a:r>
              <a:rPr lang="en-US" i="1" dirty="0" smtClean="0">
                <a:latin typeface="Arial" pitchFamily="-84" charset="0"/>
                <a:ea typeface="ＭＳ Ｐゴシック" pitchFamily="-84" charset="-128"/>
                <a:cs typeface="ＭＳ Ｐゴシック" pitchFamily="-84" charset="-128"/>
              </a:rPr>
              <a:t>)</a:t>
            </a:r>
            <a:r>
              <a:rPr lang="en-US" dirty="0" smtClean="0">
                <a:latin typeface="Arial" pitchFamily="-84" charset="0"/>
                <a:ea typeface="ＭＳ Ｐゴシック" pitchFamily="-84" charset="-128"/>
                <a:cs typeface="ＭＳ Ｐゴシック" pitchFamily="-84" charset="-128"/>
              </a:rPr>
              <a:t> and </a:t>
            </a:r>
            <a:r>
              <a:rPr lang="en-US" i="1" dirty="0" err="1" smtClean="0">
                <a:latin typeface="Arial" pitchFamily="-84" charset="0"/>
                <a:ea typeface="ＭＳ Ｐゴシック" pitchFamily="-84" charset="-128"/>
                <a:cs typeface="ＭＳ Ｐゴシック" pitchFamily="-84" charset="-128"/>
              </a:rPr>
              <a:t>b(x</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if the following are true.</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1.</a:t>
            </a:r>
            <a:r>
              <a:rPr lang="en-US" i="1" dirty="0" smtClean="0">
                <a:latin typeface="Arial" pitchFamily="-84" charset="0"/>
                <a:ea typeface="ＭＳ Ｐゴシック" pitchFamily="-84" charset="-128"/>
                <a:cs typeface="ＭＳ Ｐゴシック" pitchFamily="-84" charset="-128"/>
              </a:rPr>
              <a:t> </a:t>
            </a:r>
            <a:r>
              <a:rPr lang="en-US" i="1" dirty="0" err="1" smtClean="0">
                <a:latin typeface="Arial" pitchFamily="-84" charset="0"/>
                <a:ea typeface="ＭＳ Ｐゴシック" pitchFamily="-84" charset="-128"/>
                <a:cs typeface="ＭＳ Ｐゴシック" pitchFamily="-84" charset="-128"/>
              </a:rPr>
              <a:t>c(x</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divides both </a:t>
            </a:r>
            <a:r>
              <a:rPr lang="en-US" i="1" dirty="0" err="1" smtClean="0">
                <a:latin typeface="Arial" pitchFamily="-84" charset="0"/>
                <a:ea typeface="ＭＳ Ｐゴシック" pitchFamily="-84" charset="-128"/>
                <a:cs typeface="ＭＳ Ｐゴシック" pitchFamily="-84" charset="-128"/>
              </a:rPr>
              <a:t>a(x</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a:t>
            </a:r>
            <a:r>
              <a:rPr lang="en-US" i="1" dirty="0" err="1" smtClean="0">
                <a:latin typeface="Arial" pitchFamily="-84" charset="0"/>
                <a:ea typeface="ＭＳ Ｐゴシック" pitchFamily="-84" charset="-128"/>
                <a:cs typeface="ＭＳ Ｐゴシック" pitchFamily="-84" charset="-128"/>
              </a:rPr>
              <a:t>b(x</a:t>
            </a:r>
            <a:r>
              <a:rPr lang="en-US" i="1" dirty="0" smtClean="0">
                <a:latin typeface="Arial" pitchFamily="-84" charset="0"/>
                <a:ea typeface="ＭＳ Ｐゴシック" pitchFamily="-84" charset="-128"/>
                <a:cs typeface="ＭＳ Ｐゴシック" pitchFamily="-84" charset="-128"/>
              </a:rPr>
              <a:t>)</a:t>
            </a:r>
            <a:r>
              <a:rPr lang="en-US" dirty="0" smtClean="0">
                <a:latin typeface="Arial" pitchFamily="-84" charset="0"/>
                <a:ea typeface="ＭＳ Ｐゴシック" pitchFamily="-84" charset="-128"/>
                <a:cs typeface="ＭＳ Ｐゴシック" pitchFamily="-84" charset="-128"/>
              </a:rPr>
              <a:t>.</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2.  Any divisor of </a:t>
            </a:r>
            <a:r>
              <a:rPr lang="en-US" i="1" dirty="0" err="1" smtClean="0">
                <a:latin typeface="Arial" pitchFamily="-84" charset="0"/>
                <a:ea typeface="ＭＳ Ｐゴシック" pitchFamily="-84" charset="-128"/>
                <a:cs typeface="ＭＳ Ｐゴシック" pitchFamily="-84" charset="-128"/>
              </a:rPr>
              <a:t>a(x</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a:t>
            </a:r>
            <a:r>
              <a:rPr lang="en-US" i="1" dirty="0" err="1" smtClean="0">
                <a:latin typeface="Arial" pitchFamily="-84" charset="0"/>
                <a:ea typeface="ＭＳ Ｐゴシック" pitchFamily="-84" charset="-128"/>
                <a:cs typeface="ＭＳ Ｐゴシック" pitchFamily="-84" charset="-128"/>
              </a:rPr>
              <a:t>b(x</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is a divisor of</a:t>
            </a:r>
            <a:r>
              <a:rPr lang="en-US" i="1" dirty="0" smtClean="0">
                <a:latin typeface="Arial" pitchFamily="-84" charset="0"/>
                <a:ea typeface="ＭＳ Ｐゴシック" pitchFamily="-84" charset="-128"/>
                <a:cs typeface="ＭＳ Ｐゴシック" pitchFamily="-84" charset="-128"/>
              </a:rPr>
              <a:t> </a:t>
            </a:r>
            <a:r>
              <a:rPr lang="en-US" i="1" dirty="0" err="1" smtClean="0">
                <a:latin typeface="Arial" pitchFamily="-84" charset="0"/>
                <a:ea typeface="ＭＳ Ｐゴシック" pitchFamily="-84" charset="-128"/>
                <a:cs typeface="ＭＳ Ｐゴシック" pitchFamily="-84" charset="-128"/>
              </a:rPr>
              <a:t>c(x</a:t>
            </a:r>
            <a:r>
              <a:rPr lang="en-US" i="1" dirty="0" smtClean="0">
                <a:latin typeface="Arial" pitchFamily="-84" charset="0"/>
                <a:ea typeface="ＭＳ Ｐゴシック" pitchFamily="-84" charset="-128"/>
                <a:cs typeface="ＭＳ Ｐゴシック" pitchFamily="-84" charset="-128"/>
              </a:rPr>
              <a:t>)</a:t>
            </a:r>
            <a:r>
              <a:rPr lang="en-US" dirty="0" smtClean="0">
                <a:latin typeface="Arial" pitchFamily="-84" charset="0"/>
                <a:ea typeface="ＭＳ Ｐゴシック" pitchFamily="-84" charset="-128"/>
                <a:cs typeface="ＭＳ Ｐゴシック" pitchFamily="-84" charset="-128"/>
              </a:rPr>
              <a:t>.</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An equivalent definition is the following: </a:t>
            </a:r>
            <a:r>
              <a:rPr lang="en-US" dirty="0" err="1" smtClean="0">
                <a:latin typeface="Arial" pitchFamily="-84" charset="0"/>
                <a:ea typeface="ＭＳ Ｐゴシック" pitchFamily="-84" charset="-128"/>
                <a:cs typeface="ＭＳ Ｐゴシック" pitchFamily="-84" charset="-128"/>
              </a:rPr>
              <a:t>gcd[a</a:t>
            </a:r>
            <a:r>
              <a:rPr lang="en-US" dirty="0" smtClean="0">
                <a:latin typeface="Arial" pitchFamily="-84" charset="0"/>
                <a:ea typeface="ＭＳ Ｐゴシック" pitchFamily="-84" charset="-128"/>
                <a:cs typeface="ＭＳ Ｐゴシック" pitchFamily="-84" charset="-128"/>
              </a:rPr>
              <a:t> (</a:t>
            </a:r>
            <a:r>
              <a:rPr lang="en-US" dirty="0" err="1"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 </a:t>
            </a:r>
            <a:r>
              <a:rPr lang="en-US" dirty="0" err="1"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a:t>
            </a:r>
            <a:r>
              <a:rPr lang="en-US" dirty="0" err="1"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 is the polynomial of</a:t>
            </a:r>
          </a:p>
          <a:p>
            <a:r>
              <a:rPr lang="en-US" dirty="0" smtClean="0">
                <a:latin typeface="Arial" pitchFamily="-84" charset="0"/>
                <a:ea typeface="ＭＳ Ｐゴシック" pitchFamily="-84" charset="-128"/>
                <a:cs typeface="ＭＳ Ｐゴシック" pitchFamily="-84" charset="-128"/>
              </a:rPr>
              <a:t>maximum degree that divides both a (</a:t>
            </a:r>
            <a:r>
              <a:rPr lang="en-US" dirty="0" err="1"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 and </a:t>
            </a:r>
            <a:r>
              <a:rPr lang="en-US" dirty="0" err="1" smtClean="0">
                <a:latin typeface="Arial" pitchFamily="-84" charset="0"/>
                <a:ea typeface="ＭＳ Ｐゴシック" pitchFamily="-84" charset="-128"/>
                <a:cs typeface="ＭＳ Ｐゴシック" pitchFamily="-84" charset="-128"/>
              </a:rPr>
              <a:t>b</a:t>
            </a:r>
            <a:r>
              <a:rPr lang="en-US" dirty="0" smtClean="0">
                <a:latin typeface="Arial" pitchFamily="-84" charset="0"/>
                <a:ea typeface="ＭＳ Ｐゴシック" pitchFamily="-84" charset="-128"/>
                <a:cs typeface="ＭＳ Ｐゴシック" pitchFamily="-84" charset="-128"/>
              </a:rPr>
              <a:t> (</a:t>
            </a:r>
            <a:r>
              <a:rPr lang="en-US" dirty="0" err="1"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 ).</a:t>
            </a:r>
          </a:p>
          <a:p>
            <a:endParaRPr lang="en-US" dirty="0" smtClean="0">
              <a:latin typeface="Arial" pitchFamily="-84" charset="0"/>
              <a:ea typeface="ＭＳ Ｐゴシック" pitchFamily="-84" charset="-128"/>
              <a:cs typeface="ＭＳ Ｐゴシック" pitchFamily="-84" charset="-128"/>
            </a:endParaRPr>
          </a:p>
          <a:p>
            <a:r>
              <a:rPr lang="en-US" dirty="0" smtClean="0">
                <a:latin typeface="Arial" pitchFamily="-84" charset="0"/>
                <a:ea typeface="ＭＳ Ｐゴシック" pitchFamily="-84" charset="-128"/>
                <a:cs typeface="ＭＳ Ｐゴシック" pitchFamily="-84" charset="-128"/>
              </a:rPr>
              <a:t>We can adapt the Euclidean algorithm to compute the greatest common</a:t>
            </a:r>
          </a:p>
          <a:p>
            <a:r>
              <a:rPr lang="en-US" dirty="0" smtClean="0">
                <a:latin typeface="Arial" pitchFamily="-84" charset="0"/>
                <a:ea typeface="ＭＳ Ｐゴシック" pitchFamily="-84" charset="-128"/>
                <a:cs typeface="ＭＳ Ｐゴシック" pitchFamily="-84" charset="-128"/>
              </a:rPr>
              <a:t>Divisor of two polynomials.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42" name="Slide Image Placeholder 1"/>
          <p:cNvSpPr>
            <a:spLocks noGrp="1" noRot="1" noChangeAspect="1"/>
          </p:cNvSpPr>
          <p:nvPr>
            <p:ph type="sldImg"/>
          </p:nvPr>
        </p:nvSpPr>
        <p:spPr>
          <a:ln/>
        </p:spPr>
      </p:sp>
      <p:sp>
        <p:nvSpPr>
          <p:cNvPr id="112643" name="Notes Placeholder 2"/>
          <p:cNvSpPr>
            <a:spLocks noGrp="1"/>
          </p:cNvSpPr>
          <p:nvPr>
            <p:ph type="body" idx="1"/>
          </p:nvPr>
        </p:nvSpPr>
        <p:spPr>
          <a:noFill/>
          <a:ln/>
        </p:spPr>
        <p:txBody>
          <a:bodyPr/>
          <a:lstStyle/>
          <a:p>
            <a:r>
              <a:rPr lang="en-US" b="0" dirty="0" smtClean="0">
                <a:latin typeface="Arial" pitchFamily="-84" charset="0"/>
                <a:ea typeface="ＭＳ Ｐゴシック" pitchFamily="-84" charset="-128"/>
                <a:cs typeface="ＭＳ Ｐゴシック" pitchFamily="-84" charset="-128"/>
              </a:rPr>
              <a:t>Table</a:t>
            </a:r>
            <a:r>
              <a:rPr lang="en-US" b="0" dirty="0" smtClean="0">
                <a:latin typeface="Arial" pitchFamily="-84" charset="0"/>
                <a:ea typeface="ＭＳ Ｐゴシック" pitchFamily="-84" charset="-128"/>
                <a:cs typeface="ＭＳ Ｐゴシック" pitchFamily="-84" charset="-128"/>
              </a:rPr>
              <a:t> 5.2 </a:t>
            </a:r>
            <a:r>
              <a:rPr lang="en-US" b="0" dirty="0" smtClean="0">
                <a:latin typeface="Arial" pitchFamily="-84" charset="0"/>
                <a:ea typeface="ＭＳ Ｐゴシック" pitchFamily="-84" charset="-128"/>
                <a:cs typeface="ＭＳ Ｐゴシック" pitchFamily="-84" charset="-128"/>
              </a:rPr>
              <a:t>Arithmetic in GF(23) </a:t>
            </a:r>
          </a:p>
        </p:txBody>
      </p:sp>
      <p:sp>
        <p:nvSpPr>
          <p:cNvPr id="112644" name="Slide Number Placeholder 3"/>
          <p:cNvSpPr>
            <a:spLocks noGrp="1"/>
          </p:cNvSpPr>
          <p:nvPr>
            <p:ph type="sldNum" sz="quarter" idx="5"/>
          </p:nvPr>
        </p:nvSpPr>
        <p:spPr>
          <a:noFill/>
        </p:spPr>
        <p:txBody>
          <a:bodyPr/>
          <a:lstStyle/>
          <a:p>
            <a:fld id="{6ECCF356-10BB-A043-8E3A-2CBE6DFFB3B6}" type="slidenum">
              <a:rPr lang="en-AU" smtClean="0">
                <a:latin typeface="Arial" pitchFamily="-84" charset="0"/>
              </a:rPr>
              <a:pPr/>
              <a:t>25</a:t>
            </a:fld>
            <a:endParaRPr lang="en-AU" smtClean="0">
              <a:latin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4690" name="Slide Image Placeholder 1"/>
          <p:cNvSpPr>
            <a:spLocks noGrp="1" noRot="1" noChangeAspect="1"/>
          </p:cNvSpPr>
          <p:nvPr>
            <p:ph type="sldImg"/>
          </p:nvPr>
        </p:nvSpPr>
        <p:spPr>
          <a:ln/>
        </p:spPr>
      </p:sp>
      <p:sp>
        <p:nvSpPr>
          <p:cNvPr id="114691" name="Notes Placeholder 2"/>
          <p:cNvSpPr>
            <a:spLocks noGrp="1"/>
          </p:cNvSpPr>
          <p:nvPr>
            <p:ph type="body" idx="1"/>
          </p:nvPr>
        </p:nvSpPr>
        <p:spPr>
          <a:noFill/>
          <a:ln/>
        </p:spPr>
        <p:txBody>
          <a:bodyPr/>
          <a:lstStyle/>
          <a:p>
            <a:r>
              <a:rPr lang="en-US" b="0" dirty="0" smtClean="0">
                <a:latin typeface="Arial" pitchFamily="-84" charset="0"/>
                <a:ea typeface="ＭＳ Ｐゴシック" pitchFamily="-84" charset="-128"/>
                <a:cs typeface="ＭＳ Ｐゴシック" pitchFamily="-84" charset="-128"/>
              </a:rPr>
              <a:t>Table</a:t>
            </a:r>
            <a:r>
              <a:rPr lang="en-US" b="0" dirty="0" smtClean="0">
                <a:latin typeface="Arial" pitchFamily="-84" charset="0"/>
                <a:ea typeface="ＭＳ Ｐゴシック" pitchFamily="-84" charset="-128"/>
                <a:cs typeface="ＭＳ Ｐゴシック" pitchFamily="-84" charset="-128"/>
              </a:rPr>
              <a:t> 5.2 </a:t>
            </a:r>
            <a:r>
              <a:rPr lang="en-US" b="0" dirty="0" smtClean="0">
                <a:latin typeface="Arial" pitchFamily="-84" charset="0"/>
                <a:ea typeface="ＭＳ Ｐゴシック" pitchFamily="-84" charset="-128"/>
                <a:cs typeface="ＭＳ Ｐゴシック" pitchFamily="-84" charset="-128"/>
              </a:rPr>
              <a:t>Arithmetic in GF(23) </a:t>
            </a:r>
          </a:p>
        </p:txBody>
      </p:sp>
      <p:sp>
        <p:nvSpPr>
          <p:cNvPr id="114692" name="Slide Number Placeholder 3"/>
          <p:cNvSpPr>
            <a:spLocks noGrp="1"/>
          </p:cNvSpPr>
          <p:nvPr>
            <p:ph type="sldNum" sz="quarter" idx="5"/>
          </p:nvPr>
        </p:nvSpPr>
        <p:spPr>
          <a:noFill/>
        </p:spPr>
        <p:txBody>
          <a:bodyPr/>
          <a:lstStyle/>
          <a:p>
            <a:fld id="{679A2572-04EC-1242-B8E0-CC58853D6BB1}" type="slidenum">
              <a:rPr lang="en-AU" smtClean="0">
                <a:latin typeface="Arial" pitchFamily="-84" charset="0"/>
              </a:rPr>
              <a:pPr/>
              <a:t>26</a:t>
            </a:fld>
            <a:endParaRPr lang="en-AU" smtClean="0">
              <a:latin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6738" name="Slide Image Placeholder 1"/>
          <p:cNvSpPr>
            <a:spLocks noGrp="1" noRot="1" noChangeAspect="1"/>
          </p:cNvSpPr>
          <p:nvPr>
            <p:ph type="sldImg"/>
          </p:nvPr>
        </p:nvSpPr>
        <p:spPr>
          <a:ln/>
        </p:spPr>
      </p:sp>
      <p:sp>
        <p:nvSpPr>
          <p:cNvPr id="116739" name="Notes Placeholder 2"/>
          <p:cNvSpPr>
            <a:spLocks noGrp="1"/>
          </p:cNvSpPr>
          <p:nvPr>
            <p:ph type="body" idx="1"/>
          </p:nvPr>
        </p:nvSpPr>
        <p:spPr>
          <a:noFill/>
          <a:ln/>
        </p:spPr>
        <p:txBody>
          <a:bodyPr/>
          <a:lstStyle/>
          <a:p>
            <a:r>
              <a:rPr lang="en-US" b="0" dirty="0" smtClean="0">
                <a:latin typeface="Arial" pitchFamily="-84" charset="0"/>
                <a:ea typeface="ＭＳ Ｐゴシック" pitchFamily="-84" charset="-128"/>
                <a:cs typeface="ＭＳ Ｐゴシック" pitchFamily="-84" charset="-128"/>
              </a:rPr>
              <a:t>Table</a:t>
            </a:r>
            <a:r>
              <a:rPr lang="en-US" b="0" dirty="0" smtClean="0">
                <a:latin typeface="Arial" pitchFamily="-84" charset="0"/>
                <a:ea typeface="ＭＳ Ｐゴシック" pitchFamily="-84" charset="-128"/>
                <a:cs typeface="ＭＳ Ｐゴシック" pitchFamily="-84" charset="-128"/>
              </a:rPr>
              <a:t> 5.2 </a:t>
            </a:r>
            <a:r>
              <a:rPr lang="en-US" b="0" dirty="0" smtClean="0">
                <a:latin typeface="Arial" pitchFamily="-84" charset="0"/>
                <a:ea typeface="ＭＳ Ｐゴシック" pitchFamily="-84" charset="-128"/>
                <a:cs typeface="ＭＳ Ｐゴシック" pitchFamily="-84" charset="-128"/>
              </a:rPr>
              <a:t>Arithmetic in GF(23) </a:t>
            </a:r>
          </a:p>
        </p:txBody>
      </p:sp>
      <p:sp>
        <p:nvSpPr>
          <p:cNvPr id="116740" name="Slide Number Placeholder 3"/>
          <p:cNvSpPr>
            <a:spLocks noGrp="1"/>
          </p:cNvSpPr>
          <p:nvPr>
            <p:ph type="sldNum" sz="quarter" idx="5"/>
          </p:nvPr>
        </p:nvSpPr>
        <p:spPr>
          <a:noFill/>
        </p:spPr>
        <p:txBody>
          <a:bodyPr/>
          <a:lstStyle/>
          <a:p>
            <a:fld id="{29811626-CB7D-2644-A5AB-9D5D635EC205}" type="slidenum">
              <a:rPr lang="en-AU" smtClean="0">
                <a:latin typeface="Arial" pitchFamily="-84" charset="0"/>
              </a:rPr>
              <a:pPr/>
              <a:t>27</a:t>
            </a:fld>
            <a:endParaRPr lang="en-AU" smtClean="0">
              <a:latin typeface="Arial" pitchFamily="-8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14D5552C-633F-FC4C-B7EF-FDD3B9D579C6}" type="slidenum">
              <a:rPr lang="en-AU">
                <a:latin typeface="Arial" pitchFamily="-84" charset="0"/>
              </a:rPr>
              <a:pPr/>
              <a:t>28</a:t>
            </a:fld>
            <a:endParaRPr lang="en-AU">
              <a:latin typeface="Arial" pitchFamily="-84"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Example shows addition &amp; multiplication in GF(2</a:t>
            </a:r>
            <a:r>
              <a:rPr lang="en-US" baseline="30000" dirty="0">
                <a:latin typeface="Arial" pitchFamily="-84" charset="0"/>
                <a:ea typeface="ＭＳ Ｐゴシック" pitchFamily="-84" charset="-128"/>
                <a:cs typeface="ＭＳ Ｐゴシック" pitchFamily="-84" charset="-128"/>
              </a:rPr>
              <a:t>3</a:t>
            </a:r>
            <a:r>
              <a:rPr lang="en-US" dirty="0" smtClean="0">
                <a:latin typeface="Arial" pitchFamily="-84" charset="0"/>
                <a:ea typeface="ＭＳ Ｐゴシック" pitchFamily="-84" charset="-128"/>
                <a:cs typeface="ＭＳ Ｐゴシック" pitchFamily="-84" charset="-128"/>
              </a:rPr>
              <a:t>)</a:t>
            </a:r>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3E6017CB-0F3A-254B-853F-DCCF09004C51}" type="slidenum">
              <a:rPr lang="en-AU">
                <a:latin typeface="Arial" pitchFamily="-84" charset="0"/>
              </a:rPr>
              <a:pPr/>
              <a:t>29</a:t>
            </a:fld>
            <a:endParaRPr lang="en-AU">
              <a:latin typeface="Arial" pitchFamily="-84"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r>
              <a:rPr lang="en-US" b="0" dirty="0" smtClean="0">
                <a:latin typeface="Arial" pitchFamily="-84" charset="0"/>
                <a:ea typeface="ＭＳ Ｐゴシック" pitchFamily="-84" charset="-128"/>
                <a:cs typeface="ＭＳ Ｐゴシック" pitchFamily="-84" charset="-128"/>
              </a:rPr>
              <a:t>Table</a:t>
            </a:r>
            <a:r>
              <a:rPr lang="en-US" b="0" dirty="0" smtClean="0">
                <a:latin typeface="Arial" pitchFamily="-84" charset="0"/>
                <a:ea typeface="ＭＳ Ｐゴシック" pitchFamily="-84" charset="-128"/>
                <a:cs typeface="ＭＳ Ｐゴシック" pitchFamily="-84" charset="-128"/>
              </a:rPr>
              <a:t> 5.4  </a:t>
            </a:r>
            <a:r>
              <a:rPr lang="en-US" b="0" dirty="0" smtClean="0">
                <a:latin typeface="Arial" pitchFamily="-84" charset="0"/>
                <a:ea typeface="ＭＳ Ｐゴシック" pitchFamily="-84" charset="-128"/>
                <a:cs typeface="ＭＳ Ｐゴシック" pitchFamily="-84" charset="-128"/>
              </a:rPr>
              <a:t>Extended Euclid [(</a:t>
            </a:r>
            <a:r>
              <a:rPr lang="en-US" b="0" i="1" dirty="0" smtClean="0">
                <a:latin typeface="Arial" pitchFamily="-84" charset="0"/>
                <a:ea typeface="ＭＳ Ｐゴシック" pitchFamily="-84" charset="-128"/>
                <a:cs typeface="ＭＳ Ｐゴシック" pitchFamily="-84" charset="-128"/>
              </a:rPr>
              <a:t>x</a:t>
            </a:r>
            <a:r>
              <a:rPr lang="en-US" b="0" baseline="30000" dirty="0" smtClean="0">
                <a:latin typeface="Arial" pitchFamily="-84" charset="0"/>
                <a:ea typeface="ＭＳ Ｐゴシック" pitchFamily="-84" charset="-128"/>
                <a:cs typeface="ＭＳ Ｐゴシック" pitchFamily="-84" charset="-128"/>
              </a:rPr>
              <a:t>8</a:t>
            </a:r>
            <a:r>
              <a:rPr lang="en-US" b="0" dirty="0" smtClean="0">
                <a:latin typeface="Arial" pitchFamily="-84" charset="0"/>
                <a:ea typeface="ＭＳ Ｐゴシック" pitchFamily="-84" charset="-128"/>
                <a:cs typeface="ＭＳ Ｐゴシック" pitchFamily="-84" charset="-128"/>
              </a:rPr>
              <a:t> + </a:t>
            </a:r>
            <a:r>
              <a:rPr lang="en-US" b="0" i="1" dirty="0" smtClean="0">
                <a:latin typeface="Arial" pitchFamily="-84" charset="0"/>
                <a:ea typeface="ＭＳ Ｐゴシック" pitchFamily="-84" charset="-128"/>
                <a:cs typeface="ＭＳ Ｐゴシック" pitchFamily="-84" charset="-128"/>
              </a:rPr>
              <a:t>x</a:t>
            </a:r>
            <a:r>
              <a:rPr lang="en-US" sz="1200" b="0" kern="1200" baseline="30000" dirty="0" smtClean="0">
                <a:solidFill>
                  <a:schemeClr val="tx1"/>
                </a:solidFill>
                <a:latin typeface="Arial" pitchFamily="-84" charset="0"/>
                <a:ea typeface="ＭＳ Ｐゴシック" pitchFamily="-84" charset="-128"/>
                <a:cs typeface="ＭＳ Ｐゴシック" pitchFamily="-84" charset="-128"/>
              </a:rPr>
              <a:t>4</a:t>
            </a:r>
            <a:r>
              <a:rPr lang="en-US" b="0" dirty="0" smtClean="0">
                <a:latin typeface="Arial" pitchFamily="-84" charset="0"/>
                <a:ea typeface="ＭＳ Ｐゴシック" pitchFamily="-84" charset="-128"/>
                <a:cs typeface="ＭＳ Ｐゴシック" pitchFamily="-84" charset="-128"/>
              </a:rPr>
              <a:t> + </a:t>
            </a:r>
            <a:r>
              <a:rPr lang="en-US" b="0" i="1" dirty="0" smtClean="0">
                <a:latin typeface="Arial" pitchFamily="-84" charset="0"/>
                <a:ea typeface="ＭＳ Ｐゴシック" pitchFamily="-84" charset="-128"/>
                <a:cs typeface="ＭＳ Ｐゴシック" pitchFamily="-84" charset="-128"/>
              </a:rPr>
              <a:t>x</a:t>
            </a:r>
            <a:r>
              <a:rPr lang="en-US" sz="1200" b="0" kern="1200" baseline="30000" dirty="0" smtClean="0">
                <a:solidFill>
                  <a:schemeClr val="tx1"/>
                </a:solidFill>
                <a:latin typeface="Arial" pitchFamily="-84" charset="0"/>
                <a:ea typeface="ＭＳ Ｐゴシック" pitchFamily="-84" charset="-128"/>
                <a:cs typeface="ＭＳ Ｐゴシック" pitchFamily="-84" charset="-128"/>
              </a:rPr>
              <a:t>3 </a:t>
            </a:r>
            <a:r>
              <a:rPr lang="en-US" b="0" dirty="0" smtClean="0">
                <a:latin typeface="Arial" pitchFamily="-84" charset="0"/>
                <a:ea typeface="ＭＳ Ｐゴシック" pitchFamily="-84" charset="-128"/>
                <a:cs typeface="ＭＳ Ｐゴシック" pitchFamily="-84" charset="-128"/>
              </a:rPr>
              <a:t>+ </a:t>
            </a:r>
            <a:r>
              <a:rPr lang="en-US" b="0" i="1" dirty="0" err="1" smtClean="0">
                <a:latin typeface="Arial" pitchFamily="-84" charset="0"/>
                <a:ea typeface="ＭＳ Ｐゴシック" pitchFamily="-84" charset="-128"/>
                <a:cs typeface="ＭＳ Ｐゴシック" pitchFamily="-84" charset="-128"/>
              </a:rPr>
              <a:t>x</a:t>
            </a:r>
            <a:r>
              <a:rPr lang="en-US" b="0" dirty="0" smtClean="0">
                <a:latin typeface="Arial" pitchFamily="-84" charset="0"/>
                <a:ea typeface="ＭＳ Ｐゴシック" pitchFamily="-84" charset="-128"/>
                <a:cs typeface="ＭＳ Ｐゴシック" pitchFamily="-84" charset="-128"/>
              </a:rPr>
              <a:t> + 1), (</a:t>
            </a:r>
            <a:r>
              <a:rPr lang="en-US" b="0" i="1" dirty="0" smtClean="0">
                <a:latin typeface="Arial" pitchFamily="-84" charset="0"/>
                <a:ea typeface="ＭＳ Ｐゴシック" pitchFamily="-84" charset="-128"/>
                <a:cs typeface="ＭＳ Ｐゴシック" pitchFamily="-84" charset="-128"/>
              </a:rPr>
              <a:t>x</a:t>
            </a:r>
            <a:r>
              <a:rPr lang="en-US" sz="1200" b="0" kern="1200" baseline="30000" dirty="0" smtClean="0">
                <a:solidFill>
                  <a:schemeClr val="tx1"/>
                </a:solidFill>
                <a:latin typeface="Arial" pitchFamily="-84" charset="0"/>
                <a:ea typeface="ＭＳ Ｐゴシック" pitchFamily="-84" charset="-128"/>
                <a:cs typeface="ＭＳ Ｐゴシック" pitchFamily="-84" charset="-128"/>
              </a:rPr>
              <a:t>7</a:t>
            </a:r>
            <a:r>
              <a:rPr lang="en-US" b="0" dirty="0" smtClean="0">
                <a:latin typeface="Arial" pitchFamily="-84" charset="0"/>
                <a:ea typeface="ＭＳ Ｐゴシック" pitchFamily="-84" charset="-128"/>
                <a:cs typeface="ＭＳ Ｐゴシック" pitchFamily="-84" charset="-128"/>
              </a:rPr>
              <a:t> + </a:t>
            </a:r>
            <a:r>
              <a:rPr lang="en-US" b="0" i="1" dirty="0" err="1" smtClean="0">
                <a:latin typeface="Arial" pitchFamily="-84" charset="0"/>
                <a:ea typeface="ＭＳ Ｐゴシック" pitchFamily="-84" charset="-128"/>
                <a:cs typeface="ＭＳ Ｐゴシック" pitchFamily="-84" charset="-128"/>
              </a:rPr>
              <a:t>x</a:t>
            </a:r>
            <a:r>
              <a:rPr lang="en-US" b="0" dirty="0" smtClean="0">
                <a:latin typeface="Arial" pitchFamily="-84" charset="0"/>
                <a:ea typeface="ＭＳ Ｐゴシック" pitchFamily="-84" charset="-128"/>
                <a:cs typeface="ＭＳ Ｐゴシック" pitchFamily="-84" charset="-128"/>
              </a:rPr>
              <a:t> + 1)] </a:t>
            </a:r>
            <a:endParaRPr lang="en-AU"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F63EBC7A-ABAF-5B4E-B809-310BE65D983B}" type="slidenum">
              <a:rPr lang="en-AU">
                <a:latin typeface="Arial" pitchFamily="-84" charset="0"/>
              </a:rPr>
              <a:pPr/>
              <a:t>30</a:t>
            </a:fld>
            <a:endParaRPr lang="en-AU">
              <a:latin typeface="Arial" pitchFamily="-84"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A key motivation for using polynomial arithmetic in GF(2</a:t>
            </a:r>
            <a:r>
              <a:rPr lang="en-US" baseline="30000">
                <a:latin typeface="Arial" pitchFamily="-84" charset="0"/>
                <a:ea typeface="ＭＳ Ｐゴシック" pitchFamily="-84" charset="-128"/>
                <a:cs typeface="ＭＳ Ｐゴシック" pitchFamily="-84" charset="-128"/>
              </a:rPr>
              <a:t>n</a:t>
            </a:r>
            <a:r>
              <a:rPr lang="en-US">
                <a:latin typeface="Arial" pitchFamily="-84" charset="0"/>
                <a:ea typeface="ＭＳ Ｐゴシック" pitchFamily="-84" charset="-128"/>
                <a:cs typeface="ＭＳ Ｐゴシック" pitchFamily="-84" charset="-128"/>
              </a:rPr>
              <a:t>) is that the polynomials can be represented as a bit string, using all possible bit values, and the calculations only use simple common machine instructions - addition is just XOR, and multiplication is shifts &amp; </a:t>
            </a:r>
            <a:r>
              <a:rPr lang="en-US" dirty="0" err="1">
                <a:latin typeface="Arial" pitchFamily="-84" charset="0"/>
                <a:ea typeface="ＭＳ Ｐゴシック" pitchFamily="-84" charset="-128"/>
                <a:cs typeface="ＭＳ Ｐゴシック" pitchFamily="-84" charset="-128"/>
              </a:rPr>
              <a:t>XOR’s</a:t>
            </a:r>
            <a:r>
              <a:rPr lang="en-US" dirty="0">
                <a:latin typeface="Arial" pitchFamily="-84" charset="0"/>
                <a:ea typeface="ＭＳ Ｐゴシック" pitchFamily="-84" charset="-128"/>
                <a:cs typeface="ＭＳ Ｐゴシック" pitchFamily="-84" charset="-128"/>
              </a:rPr>
              <a:t>. See text for additional discussion. The shortcut for polynomial reduction comes from the observation that if in GF(2</a:t>
            </a:r>
            <a:r>
              <a:rPr lang="en-US" baseline="30000" dirty="0">
                <a:latin typeface="Arial" pitchFamily="-84" charset="0"/>
                <a:ea typeface="ＭＳ Ｐゴシック" pitchFamily="-84" charset="-128"/>
                <a:cs typeface="ＭＳ Ｐゴシック" pitchFamily="-84" charset="-128"/>
              </a:rPr>
              <a:t>n</a:t>
            </a:r>
            <a:r>
              <a:rPr lang="en-US" dirty="0">
                <a:latin typeface="Arial" pitchFamily="-84" charset="0"/>
                <a:ea typeface="ＭＳ Ｐゴシック" pitchFamily="-84" charset="-128"/>
                <a:cs typeface="ＭＳ Ｐゴシック" pitchFamily="-84" charset="-128"/>
              </a:rPr>
              <a:t>) then irreducible poly </a:t>
            </a:r>
            <a:r>
              <a:rPr lang="en-US" dirty="0" err="1">
                <a:latin typeface="Arial" pitchFamily="-84" charset="0"/>
                <a:ea typeface="ＭＳ Ｐゴシック" pitchFamily="-84" charset="-128"/>
                <a:cs typeface="ＭＳ Ｐゴシック" pitchFamily="-84" charset="-128"/>
              </a:rPr>
              <a:t>g(x</a:t>
            </a:r>
            <a:r>
              <a:rPr lang="en-US" dirty="0">
                <a:latin typeface="Arial" pitchFamily="-84" charset="0"/>
                <a:ea typeface="ＭＳ Ｐゴシック" pitchFamily="-84" charset="-128"/>
                <a:cs typeface="ＭＳ Ｐゴシック" pitchFamily="-84" charset="-128"/>
              </a:rPr>
              <a:t>) has highest term </a:t>
            </a:r>
            <a:r>
              <a:rPr lang="en-US" dirty="0" err="1">
                <a:latin typeface="Arial" pitchFamily="-84" charset="0"/>
                <a:ea typeface="ＭＳ Ｐゴシック" pitchFamily="-84" charset="-128"/>
                <a:cs typeface="ＭＳ Ｐゴシック" pitchFamily="-84" charset="-128"/>
              </a:rPr>
              <a:t>x</a:t>
            </a:r>
            <a:r>
              <a:rPr lang="en-US" baseline="30000" dirty="0" err="1">
                <a:latin typeface="Arial" pitchFamily="-84" charset="0"/>
                <a:ea typeface="ＭＳ Ｐゴシック" pitchFamily="-84" charset="-128"/>
                <a:cs typeface="ＭＳ Ｐゴシック" pitchFamily="-84" charset="-128"/>
              </a:rPr>
              <a:t>n</a:t>
            </a:r>
            <a:r>
              <a:rPr lang="en-US" dirty="0">
                <a:latin typeface="Arial" pitchFamily="-84" charset="0"/>
                <a:ea typeface="ＭＳ Ｐゴシック" pitchFamily="-84" charset="-128"/>
                <a:cs typeface="ＭＳ Ｐゴシック" pitchFamily="-84" charset="-128"/>
              </a:rPr>
              <a:t> , and if compute </a:t>
            </a:r>
            <a:r>
              <a:rPr lang="en-US" dirty="0" err="1">
                <a:latin typeface="Arial" pitchFamily="-84" charset="0"/>
                <a:ea typeface="ＭＳ Ｐゴシック" pitchFamily="-84" charset="-128"/>
                <a:cs typeface="ＭＳ Ｐゴシック" pitchFamily="-84" charset="-128"/>
              </a:rPr>
              <a:t>x</a:t>
            </a:r>
            <a:r>
              <a:rPr lang="en-US" baseline="30000" dirty="0" err="1">
                <a:latin typeface="Arial" pitchFamily="-84" charset="0"/>
                <a:ea typeface="ＭＳ Ｐゴシック" pitchFamily="-84" charset="-128"/>
                <a:cs typeface="ＭＳ Ｐゴシック" pitchFamily="-84" charset="-128"/>
              </a:rPr>
              <a:t>n</a:t>
            </a:r>
            <a:r>
              <a:rPr lang="en-US" dirty="0">
                <a:latin typeface="Arial" pitchFamily="-84" charset="0"/>
                <a:ea typeface="ＭＳ Ｐゴシック" pitchFamily="-84" charset="-128"/>
                <a:cs typeface="ＭＳ Ｐゴシック" pitchFamily="-84" charset="-128"/>
              </a:rPr>
              <a:t> mod </a:t>
            </a:r>
            <a:r>
              <a:rPr lang="en-US" dirty="0" err="1">
                <a:latin typeface="Arial" pitchFamily="-84" charset="0"/>
                <a:ea typeface="ＭＳ Ｐゴシック" pitchFamily="-84" charset="-128"/>
                <a:cs typeface="ＭＳ Ｐゴシック" pitchFamily="-84" charset="-128"/>
              </a:rPr>
              <a:t>g(x</a:t>
            </a:r>
            <a:r>
              <a:rPr lang="en-US" dirty="0">
                <a:latin typeface="Arial" pitchFamily="-84" charset="0"/>
                <a:ea typeface="ＭＳ Ｐゴシック" pitchFamily="-84" charset="-128"/>
                <a:cs typeface="ＭＳ Ｐゴシック" pitchFamily="-84" charset="-128"/>
              </a:rPr>
              <a:t>) answer is </a:t>
            </a:r>
            <a:r>
              <a:rPr lang="en-US" dirty="0" err="1">
                <a:latin typeface="Arial" pitchFamily="-84" charset="0"/>
                <a:ea typeface="ＭＳ Ｐゴシック" pitchFamily="-84" charset="-128"/>
                <a:cs typeface="ＭＳ Ｐゴシック" pitchFamily="-84" charset="-128"/>
              </a:rPr>
              <a:t>g(x</a:t>
            </a:r>
            <a:r>
              <a:rPr lang="en-US" dirty="0">
                <a:latin typeface="Arial" pitchFamily="-84" charset="0"/>
                <a:ea typeface="ＭＳ Ｐゴシック" pitchFamily="-84" charset="-128"/>
                <a:cs typeface="ＭＳ Ｐゴシック" pitchFamily="-84" charset="-128"/>
              </a:rPr>
              <a:t>)- </a:t>
            </a:r>
            <a:r>
              <a:rPr lang="en-US" dirty="0" err="1">
                <a:latin typeface="Arial" pitchFamily="-84" charset="0"/>
                <a:ea typeface="ＭＳ Ｐゴシック" pitchFamily="-84" charset="-128"/>
                <a:cs typeface="ＭＳ Ｐゴシック" pitchFamily="-84" charset="-128"/>
              </a:rPr>
              <a:t>x</a:t>
            </a:r>
            <a:r>
              <a:rPr lang="en-US" baseline="30000" dirty="0" err="1">
                <a:latin typeface="Arial" pitchFamily="-84" charset="0"/>
                <a:ea typeface="ＭＳ Ｐゴシック" pitchFamily="-84" charset="-128"/>
                <a:cs typeface="ＭＳ Ｐゴシック" pitchFamily="-84" charset="-128"/>
              </a:rPr>
              <a:t>n</a:t>
            </a:r>
            <a:endParaRPr lang="en-AU" baseline="3000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0453EBDF-61BC-EF46-9339-2CE0106CD1A8}" type="slidenum">
              <a:rPr lang="en-AU">
                <a:latin typeface="Arial" pitchFamily="-84" charset="0"/>
              </a:rPr>
              <a:pPr/>
              <a:t>31</a:t>
            </a:fld>
            <a:endParaRPr lang="en-AU">
              <a:latin typeface="Arial" pitchFamily="-84" charset="0"/>
            </a:endParaRPr>
          </a:p>
        </p:txBody>
      </p:sp>
      <p:sp>
        <p:nvSpPr>
          <p:cNvPr id="124931" name="Rectangle 1026"/>
          <p:cNvSpPr>
            <a:spLocks noGrp="1" noRot="1" noChangeAspect="1" noChangeArrowheads="1" noTextEdit="1"/>
          </p:cNvSpPr>
          <p:nvPr>
            <p:ph type="sldImg"/>
          </p:nvPr>
        </p:nvSpPr>
        <p:spPr>
          <a:solidFill>
            <a:srgbClr val="FFFFFF"/>
          </a:solidFill>
          <a:ln/>
        </p:spPr>
      </p:sp>
      <p:sp>
        <p:nvSpPr>
          <p:cNvPr id="124932" name="Rectangle 1027"/>
          <p:cNvSpPr>
            <a:spLocks noGrp="1" noChangeArrowheads="1"/>
          </p:cNvSpPr>
          <p:nvPr>
            <p:ph type="body" idx="1"/>
          </p:nvPr>
        </p:nvSpPr>
        <p:spPr>
          <a:noFill/>
          <a:ln/>
        </p:spPr>
        <p:txBody>
          <a:bodyPr/>
          <a:lstStyle/>
          <a:p>
            <a:r>
              <a:rPr lang="en-US" smtClean="0">
                <a:latin typeface="Arial" pitchFamily="-84" charset="0"/>
                <a:ea typeface="ＭＳ Ｐゴシック" pitchFamily="-84" charset="-128"/>
                <a:cs typeface="ＭＳ Ｐゴシック" pitchFamily="-84" charset="-128"/>
              </a:rPr>
              <a:t> An equivalent technique for defining a finite field of the form GF(2</a:t>
            </a:r>
            <a:r>
              <a:rPr lang="en-US" baseline="30000" smtClean="0">
                <a:latin typeface="Arial" pitchFamily="-84" charset="0"/>
                <a:ea typeface="ＭＳ Ｐゴシック" pitchFamily="-84" charset="-128"/>
                <a:cs typeface="ＭＳ Ｐゴシック" pitchFamily="-84" charset="-128"/>
              </a:rPr>
              <a:t>n</a:t>
            </a:r>
            <a:r>
              <a:rPr lang="en-US" smtClean="0">
                <a:latin typeface="Arial" pitchFamily="-84" charset="0"/>
                <a:ea typeface="ＭＳ Ｐゴシック" pitchFamily="-84" charset="-128"/>
                <a:cs typeface="ＭＳ Ｐゴシック" pitchFamily="-84" charset="-128"/>
              </a:rPr>
              <a:t> ), using the</a:t>
            </a:r>
          </a:p>
          <a:p>
            <a:r>
              <a:rPr lang="en-US" smtClean="0">
                <a:latin typeface="Arial" pitchFamily="-84" charset="0"/>
                <a:ea typeface="ＭＳ Ｐゴシック" pitchFamily="-84" charset="-128"/>
                <a:cs typeface="ＭＳ Ｐゴシック" pitchFamily="-84" charset="-128"/>
              </a:rPr>
              <a:t>same irreducible polynomial, is sometimes more convenient. To begin, we need two</a:t>
            </a:r>
          </a:p>
          <a:p>
            <a:r>
              <a:rPr lang="en-US" smtClean="0">
                <a:latin typeface="Arial" pitchFamily="-84" charset="0"/>
                <a:ea typeface="ＭＳ Ｐゴシック" pitchFamily="-84" charset="-128"/>
                <a:cs typeface="ＭＳ Ｐゴシック" pitchFamily="-84" charset="-128"/>
              </a:rPr>
              <a:t>definitions: A generator </a:t>
            </a:r>
            <a:r>
              <a:rPr lang="en-US" i="1" smtClean="0">
                <a:latin typeface="Arial" pitchFamily="-84" charset="0"/>
                <a:ea typeface="ＭＳ Ｐゴシック" pitchFamily="-84" charset="-128"/>
                <a:cs typeface="ＭＳ Ｐゴシック" pitchFamily="-84" charset="-128"/>
              </a:rPr>
              <a:t>g</a:t>
            </a:r>
            <a:r>
              <a:rPr lang="en-US" smtClean="0">
                <a:latin typeface="Arial" pitchFamily="-84" charset="0"/>
                <a:ea typeface="ＭＳ Ｐゴシック" pitchFamily="-84" charset="-128"/>
                <a:cs typeface="ＭＳ Ｐゴシック" pitchFamily="-84" charset="-128"/>
              </a:rPr>
              <a:t>  of a finite field F of order </a:t>
            </a:r>
            <a:r>
              <a:rPr lang="en-US" i="1" smtClean="0">
                <a:latin typeface="Arial" pitchFamily="-84" charset="0"/>
                <a:ea typeface="ＭＳ Ｐゴシック" pitchFamily="-84" charset="-128"/>
                <a:cs typeface="ＭＳ Ｐゴシック" pitchFamily="-84" charset="-128"/>
              </a:rPr>
              <a:t>q</a:t>
            </a:r>
            <a:r>
              <a:rPr lang="en-US" smtClean="0">
                <a:latin typeface="Arial" pitchFamily="-84" charset="0"/>
                <a:ea typeface="ＭＳ Ｐゴシック" pitchFamily="-84" charset="-128"/>
                <a:cs typeface="ＭＳ Ｐゴシック" pitchFamily="-84" charset="-128"/>
              </a:rPr>
              <a:t>  (contains </a:t>
            </a:r>
            <a:r>
              <a:rPr lang="en-US" i="1" smtClean="0">
                <a:latin typeface="Arial" pitchFamily="-84" charset="0"/>
                <a:ea typeface="ＭＳ Ｐゴシック" pitchFamily="-84" charset="-128"/>
                <a:cs typeface="ＭＳ Ｐゴシック" pitchFamily="-84" charset="-128"/>
              </a:rPr>
              <a:t>q</a:t>
            </a:r>
            <a:r>
              <a:rPr lang="en-US" smtClean="0">
                <a:latin typeface="Arial" pitchFamily="-84" charset="0"/>
                <a:ea typeface="ＭＳ Ｐゴシック" pitchFamily="-84" charset="-128"/>
                <a:cs typeface="ＭＳ Ｐゴシック" pitchFamily="-84" charset="-128"/>
              </a:rPr>
              <a:t>  elements) is an</a:t>
            </a:r>
          </a:p>
          <a:p>
            <a:r>
              <a:rPr lang="en-US" smtClean="0">
                <a:latin typeface="Arial" pitchFamily="-84" charset="0"/>
                <a:ea typeface="ＭＳ Ｐゴシック" pitchFamily="-84" charset="-128"/>
                <a:cs typeface="ＭＳ Ｐゴシック" pitchFamily="-84" charset="-128"/>
              </a:rPr>
              <a:t>element whose first </a:t>
            </a:r>
            <a:r>
              <a:rPr lang="en-US" i="1" smtClean="0">
                <a:latin typeface="Arial" pitchFamily="-84" charset="0"/>
                <a:ea typeface="ＭＳ Ｐゴシック" pitchFamily="-84" charset="-128"/>
                <a:cs typeface="ＭＳ Ｐゴシック" pitchFamily="-84" charset="-128"/>
              </a:rPr>
              <a:t>q -  1 </a:t>
            </a:r>
            <a:r>
              <a:rPr lang="en-US" smtClean="0">
                <a:latin typeface="Arial" pitchFamily="-84" charset="0"/>
                <a:ea typeface="ＭＳ Ｐゴシック" pitchFamily="-84" charset="-128"/>
                <a:cs typeface="ＭＳ Ｐゴシック" pitchFamily="-84" charset="-128"/>
              </a:rPr>
              <a:t>powers generate all the nonzero elements of F. That is, the</a:t>
            </a:r>
          </a:p>
          <a:p>
            <a:r>
              <a:rPr lang="en-US" smtClean="0">
                <a:latin typeface="Arial" pitchFamily="-84" charset="0"/>
                <a:ea typeface="ＭＳ Ｐゴシック" pitchFamily="-84" charset="-128"/>
                <a:cs typeface="ＭＳ Ｐゴシック" pitchFamily="-84" charset="-128"/>
              </a:rPr>
              <a:t>elements of F consist of 0, g</a:t>
            </a:r>
            <a:r>
              <a:rPr lang="en-US" baseline="30000" smtClean="0">
                <a:latin typeface="Arial" pitchFamily="-84" charset="0"/>
                <a:ea typeface="ＭＳ Ｐゴシック" pitchFamily="-84" charset="-128"/>
                <a:cs typeface="ＭＳ Ｐゴシック" pitchFamily="-84" charset="-128"/>
              </a:rPr>
              <a:t>0</a:t>
            </a:r>
            <a:r>
              <a:rPr lang="en-US" smtClean="0">
                <a:latin typeface="Arial" pitchFamily="-84" charset="0"/>
                <a:ea typeface="ＭＳ Ｐゴシック" pitchFamily="-84" charset="-128"/>
                <a:cs typeface="ＭＳ Ｐゴシック" pitchFamily="-84" charset="-128"/>
              </a:rPr>
              <a:t> , g</a:t>
            </a:r>
            <a:r>
              <a:rPr lang="en-US" baseline="30000" smtClean="0">
                <a:latin typeface="Arial" pitchFamily="-84" charset="0"/>
                <a:ea typeface="ＭＳ Ｐゴシック" pitchFamily="-84" charset="-128"/>
                <a:cs typeface="ＭＳ Ｐゴシック" pitchFamily="-84" charset="-128"/>
              </a:rPr>
              <a:t>1</a:t>
            </a:r>
            <a:r>
              <a:rPr lang="en-US" smtClean="0">
                <a:latin typeface="Arial" pitchFamily="-84" charset="0"/>
                <a:ea typeface="ＭＳ Ｐゴシック" pitchFamily="-84" charset="-128"/>
                <a:cs typeface="ＭＳ Ｐゴシック" pitchFamily="-84" charset="-128"/>
              </a:rPr>
              <a:t> , c , g</a:t>
            </a:r>
            <a:r>
              <a:rPr lang="en-US" baseline="30000" smtClean="0">
                <a:latin typeface="Arial" pitchFamily="-84" charset="0"/>
                <a:ea typeface="ＭＳ Ｐゴシック" pitchFamily="-84" charset="-128"/>
                <a:cs typeface="ＭＳ Ｐゴシック" pitchFamily="-84" charset="-128"/>
              </a:rPr>
              <a:t>q-2 </a:t>
            </a:r>
            <a:r>
              <a:rPr lang="en-US" smtClean="0">
                <a:latin typeface="Arial" pitchFamily="-84" charset="0"/>
                <a:ea typeface="ＭＳ Ｐゴシック" pitchFamily="-84" charset="-128"/>
                <a:cs typeface="ＭＳ Ｐゴシック" pitchFamily="-84" charset="-128"/>
              </a:rPr>
              <a:t>. Consider a field F defined by a polynomial</a:t>
            </a:r>
          </a:p>
          <a:p>
            <a:r>
              <a:rPr lang="en-US" i="1" smtClean="0">
                <a:latin typeface="Arial" pitchFamily="-84" charset="0"/>
                <a:ea typeface="ＭＳ Ｐゴシック" pitchFamily="-84" charset="-128"/>
                <a:cs typeface="ＭＳ Ｐゴシック" pitchFamily="-84" charset="-128"/>
              </a:rPr>
              <a:t>f (x </a:t>
            </a:r>
            <a:r>
              <a:rPr lang="en-US" smtClean="0">
                <a:latin typeface="Arial" pitchFamily="-84" charset="0"/>
                <a:ea typeface="ＭＳ Ｐゴシック" pitchFamily="-84" charset="-128"/>
                <a:cs typeface="ＭＳ Ｐゴシック" pitchFamily="-84" charset="-128"/>
              </a:rPr>
              <a:t>). An element </a:t>
            </a:r>
            <a:r>
              <a:rPr lang="en-US" i="1" smtClean="0">
                <a:latin typeface="Arial" pitchFamily="-84" charset="0"/>
                <a:ea typeface="ＭＳ Ｐゴシック" pitchFamily="-84" charset="-128"/>
                <a:cs typeface="ＭＳ Ｐゴシック" pitchFamily="-84" charset="-128"/>
              </a:rPr>
              <a:t>b</a:t>
            </a:r>
            <a:r>
              <a:rPr lang="en-US" smtClean="0">
                <a:latin typeface="Arial" pitchFamily="-84" charset="0"/>
                <a:ea typeface="ＭＳ Ｐゴシック" pitchFamily="-84" charset="-128"/>
                <a:cs typeface="ＭＳ Ｐゴシック" pitchFamily="-84" charset="-128"/>
              </a:rPr>
              <a:t>  contained in F is called a root  of the polynomial if </a:t>
            </a:r>
            <a:r>
              <a:rPr lang="en-US" i="1" smtClean="0">
                <a:latin typeface="Arial" pitchFamily="-84" charset="0"/>
                <a:ea typeface="ＭＳ Ｐゴシック" pitchFamily="-84" charset="-128"/>
                <a:cs typeface="ＭＳ Ｐゴシック" pitchFamily="-84" charset="-128"/>
              </a:rPr>
              <a:t>f (b ) =  0.</a:t>
            </a:r>
          </a:p>
          <a:p>
            <a:r>
              <a:rPr lang="en-US" smtClean="0">
                <a:latin typeface="Arial" pitchFamily="-84" charset="0"/>
                <a:ea typeface="ＭＳ Ｐゴシック" pitchFamily="-84" charset="-128"/>
                <a:cs typeface="ＭＳ Ｐゴシック" pitchFamily="-84" charset="-128"/>
              </a:rPr>
              <a:t>Finally, it can be shown that a root </a:t>
            </a:r>
            <a:r>
              <a:rPr lang="en-US" i="1" smtClean="0">
                <a:latin typeface="Arial" pitchFamily="-84" charset="0"/>
                <a:ea typeface="ＭＳ Ｐゴシック" pitchFamily="-84" charset="-128"/>
                <a:cs typeface="ＭＳ Ｐゴシック" pitchFamily="-84" charset="-128"/>
              </a:rPr>
              <a:t>g</a:t>
            </a:r>
            <a:r>
              <a:rPr lang="en-US" smtClean="0">
                <a:latin typeface="Arial" pitchFamily="-84" charset="0"/>
                <a:ea typeface="ＭＳ Ｐゴシック" pitchFamily="-84" charset="-128"/>
                <a:cs typeface="ＭＳ Ｐゴシック" pitchFamily="-84" charset="-128"/>
              </a:rPr>
              <a:t>  of an irreducible polynomial is a generator of the</a:t>
            </a:r>
          </a:p>
          <a:p>
            <a:r>
              <a:rPr lang="en-US" smtClean="0">
                <a:latin typeface="Arial" pitchFamily="-84" charset="0"/>
                <a:ea typeface="ＭＳ Ｐゴシック" pitchFamily="-84" charset="-128"/>
                <a:cs typeface="ＭＳ Ｐゴシック" pitchFamily="-84" charset="-128"/>
              </a:rPr>
              <a:t>finite field defined on that polynomial.</a:t>
            </a:r>
            <a:endParaRPr lang="en-AU"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6978" name="Slide Image Placeholder 1"/>
          <p:cNvSpPr>
            <a:spLocks noGrp="1" noRot="1" noChangeAspect="1"/>
          </p:cNvSpPr>
          <p:nvPr>
            <p:ph type="sldImg"/>
          </p:nvPr>
        </p:nvSpPr>
        <p:spPr>
          <a:ln/>
        </p:spPr>
      </p:sp>
      <p:sp>
        <p:nvSpPr>
          <p:cNvPr id="126979" name="Notes Placeholder 2"/>
          <p:cNvSpPr>
            <a:spLocks noGrp="1"/>
          </p:cNvSpPr>
          <p:nvPr>
            <p:ph type="body" idx="1"/>
          </p:nvPr>
        </p:nvSpPr>
        <p:spPr>
          <a:noFill/>
          <a:ln/>
        </p:spPr>
        <p:txBody>
          <a:bodyPr/>
          <a:lstStyle/>
          <a:p>
            <a:r>
              <a:rPr lang="en-US" b="0" dirty="0" smtClean="0">
                <a:latin typeface="Arial" pitchFamily="-84" charset="0"/>
                <a:ea typeface="ＭＳ Ｐゴシック" pitchFamily="-84" charset="-128"/>
                <a:cs typeface="ＭＳ Ｐゴシック" pitchFamily="-84" charset="-128"/>
              </a:rPr>
              <a:t>Table</a:t>
            </a:r>
            <a:r>
              <a:rPr lang="en-US" b="0" dirty="0" smtClean="0">
                <a:latin typeface="Arial" pitchFamily="-84" charset="0"/>
                <a:ea typeface="ＭＳ Ｐゴシック" pitchFamily="-84" charset="-128"/>
                <a:cs typeface="ＭＳ Ｐゴシック" pitchFamily="-84" charset="-128"/>
              </a:rPr>
              <a:t> 5.5   </a:t>
            </a:r>
            <a:r>
              <a:rPr lang="en-US" b="0" dirty="0" smtClean="0">
                <a:latin typeface="Arial" pitchFamily="-84" charset="0"/>
                <a:ea typeface="ＭＳ Ｐゴシック" pitchFamily="-84" charset="-128"/>
                <a:cs typeface="ＭＳ Ｐゴシック" pitchFamily="-84" charset="-128"/>
              </a:rPr>
              <a:t>Generator for GF(2</a:t>
            </a:r>
            <a:r>
              <a:rPr lang="en-US" b="0" baseline="30000" dirty="0" smtClean="0">
                <a:latin typeface="Arial" pitchFamily="-84" charset="0"/>
                <a:ea typeface="ＭＳ Ｐゴシック" pitchFamily="-84" charset="-128"/>
                <a:cs typeface="ＭＳ Ｐゴシック" pitchFamily="-84" charset="-128"/>
              </a:rPr>
              <a:t>3</a:t>
            </a:r>
            <a:r>
              <a:rPr lang="en-US" b="0" dirty="0" smtClean="0">
                <a:latin typeface="Arial" pitchFamily="-84" charset="0"/>
                <a:ea typeface="ＭＳ Ｐゴシック" pitchFamily="-84" charset="-128"/>
                <a:cs typeface="ＭＳ Ｐゴシック" pitchFamily="-84" charset="-128"/>
              </a:rPr>
              <a:t>) using x</a:t>
            </a:r>
            <a:r>
              <a:rPr lang="en-US" b="0" baseline="30000" dirty="0" smtClean="0">
                <a:latin typeface="Arial" pitchFamily="-84" charset="0"/>
                <a:ea typeface="ＭＳ Ｐゴシック" pitchFamily="-84" charset="-128"/>
                <a:cs typeface="ＭＳ Ｐゴシック" pitchFamily="-84" charset="-128"/>
              </a:rPr>
              <a:t>3</a:t>
            </a:r>
            <a:r>
              <a:rPr lang="en-US" b="0" dirty="0" smtClean="0">
                <a:latin typeface="Arial" pitchFamily="-84" charset="0"/>
                <a:ea typeface="ＭＳ Ｐゴシック" pitchFamily="-84" charset="-128"/>
                <a:cs typeface="ＭＳ Ｐゴシック" pitchFamily="-84" charset="-128"/>
              </a:rPr>
              <a:t> + </a:t>
            </a:r>
            <a:r>
              <a:rPr lang="en-US" b="0" dirty="0" err="1" smtClean="0">
                <a:latin typeface="Arial" pitchFamily="-84" charset="0"/>
                <a:ea typeface="ＭＳ Ｐゴシック" pitchFamily="-84" charset="-128"/>
                <a:cs typeface="ＭＳ Ｐゴシック" pitchFamily="-84" charset="-128"/>
              </a:rPr>
              <a:t>x</a:t>
            </a:r>
            <a:r>
              <a:rPr lang="en-US" b="0" dirty="0" smtClean="0">
                <a:latin typeface="Arial" pitchFamily="-84" charset="0"/>
                <a:ea typeface="ＭＳ Ｐゴシック" pitchFamily="-84" charset="-128"/>
                <a:cs typeface="ＭＳ Ｐゴシック" pitchFamily="-84" charset="-128"/>
              </a:rPr>
              <a:t> + 1 </a:t>
            </a:r>
          </a:p>
        </p:txBody>
      </p:sp>
      <p:sp>
        <p:nvSpPr>
          <p:cNvPr id="126980" name="Slide Number Placeholder 3"/>
          <p:cNvSpPr>
            <a:spLocks noGrp="1"/>
          </p:cNvSpPr>
          <p:nvPr>
            <p:ph type="sldNum" sz="quarter" idx="5"/>
          </p:nvPr>
        </p:nvSpPr>
        <p:spPr>
          <a:noFill/>
        </p:spPr>
        <p:txBody>
          <a:bodyPr/>
          <a:lstStyle/>
          <a:p>
            <a:fld id="{E3B66948-2982-6F49-B22A-D07F1F789481}" type="slidenum">
              <a:rPr lang="en-AU" smtClean="0">
                <a:latin typeface="Arial" pitchFamily="-84" charset="0"/>
              </a:rPr>
              <a:pPr/>
              <a:t>32</a:t>
            </a:fld>
            <a:endParaRPr lang="en-AU" smtClean="0">
              <a:latin typeface="Arial" pitchFamily="-8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7B6153C5-3BDB-654E-AF82-B1F7F7E99A10}" type="slidenum">
              <a:rPr lang="en-AU">
                <a:latin typeface="Arial" pitchFamily="-84" charset="0"/>
              </a:rPr>
              <a:pPr/>
              <a:t>33</a:t>
            </a:fld>
            <a:endParaRPr lang="en-AU">
              <a:latin typeface="Arial" pitchFamily="-8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pPr eaLnBrk="1" hangingPunct="1"/>
            <a:r>
              <a:rPr lang="en-US" b="0" dirty="0" smtClean="0">
                <a:latin typeface="Arial" pitchFamily="-84" charset="0"/>
                <a:ea typeface="ＭＳ Ｐゴシック" pitchFamily="-84" charset="-128"/>
                <a:cs typeface="ＭＳ Ｐゴシック" pitchFamily="-84" charset="-128"/>
              </a:rPr>
              <a:t>Table</a:t>
            </a:r>
            <a:r>
              <a:rPr lang="en-US" b="0" dirty="0" smtClean="0">
                <a:latin typeface="Arial" pitchFamily="-84" charset="0"/>
                <a:ea typeface="ＭＳ Ｐゴシック" pitchFamily="-84" charset="-128"/>
                <a:cs typeface="ＭＳ Ｐゴシック" pitchFamily="-84" charset="-128"/>
              </a:rPr>
              <a:t> 5.6   </a:t>
            </a:r>
            <a:r>
              <a:rPr lang="en-US" b="0" dirty="0" smtClean="0">
                <a:latin typeface="Arial" pitchFamily="-84" charset="0"/>
                <a:ea typeface="ＭＳ Ｐゴシック" pitchFamily="-84" charset="-128"/>
                <a:cs typeface="ＭＳ Ｐゴシック" pitchFamily="-84" charset="-128"/>
              </a:rPr>
              <a:t>GF(2</a:t>
            </a:r>
            <a:r>
              <a:rPr lang="en-US" b="0" baseline="30000" dirty="0" smtClean="0">
                <a:latin typeface="Arial" pitchFamily="-84" charset="0"/>
                <a:ea typeface="ＭＳ Ｐゴシック" pitchFamily="-84" charset="-128"/>
                <a:cs typeface="ＭＳ Ｐゴシック" pitchFamily="-84" charset="-128"/>
              </a:rPr>
              <a:t>3</a:t>
            </a:r>
            <a:r>
              <a:rPr lang="en-US" b="0" dirty="0" smtClean="0">
                <a:latin typeface="Arial" pitchFamily="-84" charset="0"/>
                <a:ea typeface="ＭＳ Ｐゴシック" pitchFamily="-84" charset="-128"/>
                <a:cs typeface="ＭＳ Ｐゴシック" pitchFamily="-84" charset="-128"/>
              </a:rPr>
              <a:t>) Arithmetic Using Generator for the Polynomial (</a:t>
            </a:r>
            <a:r>
              <a:rPr lang="en-US" b="0" i="1" dirty="0" smtClean="0">
                <a:latin typeface="Arial" pitchFamily="-84" charset="0"/>
                <a:ea typeface="ＭＳ Ｐゴシック" pitchFamily="-84" charset="-128"/>
                <a:cs typeface="ＭＳ Ｐゴシック" pitchFamily="-84" charset="-128"/>
              </a:rPr>
              <a:t>x</a:t>
            </a:r>
            <a:r>
              <a:rPr lang="en-US" b="0" baseline="30000" dirty="0" smtClean="0">
                <a:latin typeface="Arial" pitchFamily="-84" charset="0"/>
                <a:ea typeface="ＭＳ Ｐゴシック" pitchFamily="-84" charset="-128"/>
                <a:cs typeface="ＭＳ Ｐゴシック" pitchFamily="-84" charset="-128"/>
              </a:rPr>
              <a:t>3</a:t>
            </a:r>
            <a:r>
              <a:rPr lang="en-US" b="0" dirty="0" smtClean="0">
                <a:latin typeface="Arial" pitchFamily="-84" charset="0"/>
                <a:ea typeface="ＭＳ Ｐゴシック" pitchFamily="-84" charset="-128"/>
                <a:cs typeface="ＭＳ Ｐゴシック" pitchFamily="-84" charset="-128"/>
              </a:rPr>
              <a:t> + </a:t>
            </a:r>
            <a:r>
              <a:rPr lang="en-US" b="0" i="1" dirty="0" err="1" smtClean="0">
                <a:latin typeface="Arial" pitchFamily="-84" charset="0"/>
                <a:ea typeface="ＭＳ Ｐゴシック" pitchFamily="-84" charset="-128"/>
                <a:cs typeface="ＭＳ Ｐゴシック" pitchFamily="-84" charset="-128"/>
              </a:rPr>
              <a:t>x</a:t>
            </a:r>
            <a:r>
              <a:rPr lang="en-US" b="0" dirty="0" smtClean="0">
                <a:latin typeface="Arial" pitchFamily="-84" charset="0"/>
                <a:ea typeface="ＭＳ Ｐゴシック" pitchFamily="-84" charset="-128"/>
                <a:cs typeface="ＭＳ Ｐゴシック" pitchFamily="-84" charset="-128"/>
              </a:rPr>
              <a:t> + 1) </a:t>
            </a:r>
            <a:endParaRPr lang="en-AU"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1074" name="Rectangle 1031"/>
          <p:cNvSpPr>
            <a:spLocks noGrp="1" noChangeArrowheads="1"/>
          </p:cNvSpPr>
          <p:nvPr>
            <p:ph type="sldNum" sz="quarter" idx="5"/>
          </p:nvPr>
        </p:nvSpPr>
        <p:spPr>
          <a:noFill/>
        </p:spPr>
        <p:txBody>
          <a:bodyPr/>
          <a:lstStyle/>
          <a:p>
            <a:fld id="{800FD7ED-C008-874C-A44A-6FBCC1FFE7C2}" type="slidenum">
              <a:rPr lang="en-AU">
                <a:latin typeface="Arial" pitchFamily="-84" charset="0"/>
              </a:rPr>
              <a:pPr/>
              <a:t>34</a:t>
            </a:fld>
            <a:endParaRPr lang="en-AU">
              <a:latin typeface="Arial" pitchFamily="-8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5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90178"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90179" name="Rectangle 67"/>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dirty="0"/>
            </a:lvl1pPr>
          </a:lstStyle>
          <a:p>
            <a:pPr>
              <a:defRPr/>
            </a:pPr>
            <a:endParaRPr lang="en-US"/>
          </a:p>
        </p:txBody>
      </p:sp>
      <p:sp>
        <p:nvSpPr>
          <p:cNvPr id="69" name="Rectangle 69"/>
          <p:cNvSpPr>
            <a:spLocks noGrp="1" noChangeArrowheads="1"/>
          </p:cNvSpPr>
          <p:nvPr>
            <p:ph type="ftr" sz="quarter" idx="11"/>
          </p:nvPr>
        </p:nvSpPr>
        <p:spPr/>
        <p:txBody>
          <a:bodyPr/>
          <a:lstStyle>
            <a:lvl1pPr>
              <a:defRPr dirty="0"/>
            </a:lvl1pPr>
          </a:lstStyle>
          <a:p>
            <a:pPr>
              <a:defRPr/>
            </a:pPr>
            <a:r>
              <a:rPr lang="en-US" smtClean="0"/>
              <a:t>© 2017 Pearson Education, Inc., Hoboken, NJ. All rights reserved.  </a:t>
            </a:r>
            <a:endParaRPr lang="en-US"/>
          </a:p>
        </p:txBody>
      </p:sp>
      <p:sp>
        <p:nvSpPr>
          <p:cNvPr id="70" name="Rectangle 70"/>
          <p:cNvSpPr>
            <a:spLocks noGrp="1" noChangeArrowheads="1"/>
          </p:cNvSpPr>
          <p:nvPr>
            <p:ph type="sldNum" sz="quarter" idx="12"/>
          </p:nvPr>
        </p:nvSpPr>
        <p:spPr/>
        <p:txBody>
          <a:bodyPr/>
          <a:lstStyle>
            <a:lvl1pPr>
              <a:defRPr/>
            </a:lvl1pPr>
          </a:lstStyle>
          <a:p>
            <a:pPr>
              <a:defRPr/>
            </a:pPr>
            <a:fld id="{795EF581-0E8B-1644-973A-58ABAC7E08A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15BB294C-D295-9A41-A644-AA4385FA0158}"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D60B9FC7-6686-5347-9CB0-1546F2BC5E3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7" name="Rectangle 69"/>
          <p:cNvSpPr>
            <a:spLocks noGrp="1" noChangeArrowheads="1"/>
          </p:cNvSpPr>
          <p:nvPr>
            <p:ph type="sldNum" sz="quarter" idx="12"/>
          </p:nvPr>
        </p:nvSpPr>
        <p:spPr>
          <a:ln/>
        </p:spPr>
        <p:txBody>
          <a:bodyPr/>
          <a:lstStyle>
            <a:lvl1pPr>
              <a:defRPr/>
            </a:lvl1pPr>
          </a:lstStyle>
          <a:p>
            <a:pPr>
              <a:defRPr/>
            </a:pPr>
            <a:fld id="{92B5C8B5-2ACE-8D46-AC11-C6D02B882DB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a:p>
        </p:txBody>
      </p:sp>
      <p:sp>
        <p:nvSpPr>
          <p:cNvPr id="8"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9" name="Rectangle 69"/>
          <p:cNvSpPr>
            <a:spLocks noGrp="1" noChangeArrowheads="1"/>
          </p:cNvSpPr>
          <p:nvPr>
            <p:ph type="sldNum" sz="quarter" idx="12"/>
          </p:nvPr>
        </p:nvSpPr>
        <p:spPr>
          <a:ln/>
        </p:spPr>
        <p:txBody>
          <a:bodyPr/>
          <a:lstStyle>
            <a:lvl1pPr>
              <a:defRPr/>
            </a:lvl1pPr>
          </a:lstStyle>
          <a:p>
            <a:pPr>
              <a:defRPr/>
            </a:pPr>
            <a:fld id="{DA9E763C-3782-2941-8360-E3F03AEA7D09}"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a:p>
        </p:txBody>
      </p:sp>
      <p:sp>
        <p:nvSpPr>
          <p:cNvPr id="4"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5" name="Rectangle 69"/>
          <p:cNvSpPr>
            <a:spLocks noGrp="1" noChangeArrowheads="1"/>
          </p:cNvSpPr>
          <p:nvPr>
            <p:ph type="sldNum" sz="quarter" idx="12"/>
          </p:nvPr>
        </p:nvSpPr>
        <p:spPr>
          <a:ln/>
        </p:spPr>
        <p:txBody>
          <a:bodyPr/>
          <a:lstStyle>
            <a:lvl1pPr>
              <a:defRPr/>
            </a:lvl1pPr>
          </a:lstStyle>
          <a:p>
            <a:pPr>
              <a:defRPr/>
            </a:pPr>
            <a:fld id="{1E240AA3-233B-FB4A-9F8F-C96C5A6CF6E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a:p>
        </p:txBody>
      </p:sp>
      <p:sp>
        <p:nvSpPr>
          <p:cNvPr id="3"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4" name="Rectangle 69"/>
          <p:cNvSpPr>
            <a:spLocks noGrp="1" noChangeArrowheads="1"/>
          </p:cNvSpPr>
          <p:nvPr>
            <p:ph type="sldNum" sz="quarter" idx="12"/>
          </p:nvPr>
        </p:nvSpPr>
        <p:spPr>
          <a:ln/>
        </p:spPr>
        <p:txBody>
          <a:bodyPr/>
          <a:lstStyle>
            <a:lvl1pPr>
              <a:defRPr/>
            </a:lvl1pPr>
          </a:lstStyle>
          <a:p>
            <a:pPr>
              <a:defRPr/>
            </a:pPr>
            <a:fld id="{D15D372B-D420-C54D-8767-D73AC5A101C8}"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7" name="Rectangle 69"/>
          <p:cNvSpPr>
            <a:spLocks noGrp="1" noChangeArrowheads="1"/>
          </p:cNvSpPr>
          <p:nvPr>
            <p:ph type="sldNum" sz="quarter" idx="12"/>
          </p:nvPr>
        </p:nvSpPr>
        <p:spPr>
          <a:ln/>
        </p:spPr>
        <p:txBody>
          <a:bodyPr/>
          <a:lstStyle>
            <a:lvl1pPr>
              <a:defRPr/>
            </a:lvl1pPr>
          </a:lstStyle>
          <a:p>
            <a:pPr>
              <a:defRPr/>
            </a:pPr>
            <a:fld id="{1B9642DF-26EE-714A-A24A-028B6D176270}"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7" name="Rectangle 69"/>
          <p:cNvSpPr>
            <a:spLocks noGrp="1" noChangeArrowheads="1"/>
          </p:cNvSpPr>
          <p:nvPr>
            <p:ph type="sldNum" sz="quarter" idx="12"/>
          </p:nvPr>
        </p:nvSpPr>
        <p:spPr>
          <a:ln/>
        </p:spPr>
        <p:txBody>
          <a:bodyPr/>
          <a:lstStyle>
            <a:lvl1pPr>
              <a:defRPr/>
            </a:lvl1pPr>
          </a:lstStyle>
          <a:p>
            <a:pPr>
              <a:defRPr/>
            </a:pPr>
            <a:fld id="{D207D039-DE9B-EB48-B3A9-EAE8E52898D0}"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71E571F1-141D-9947-B89B-C71570E7C7A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a:p>
        </p:txBody>
      </p:sp>
      <p:sp>
        <p:nvSpPr>
          <p:cNvPr id="6" name="Rectangle 69"/>
          <p:cNvSpPr>
            <a:spLocks noGrp="1" noChangeArrowheads="1"/>
          </p:cNvSpPr>
          <p:nvPr>
            <p:ph type="sldNum" sz="quarter" idx="12"/>
          </p:nvPr>
        </p:nvSpPr>
        <p:spPr>
          <a:ln/>
        </p:spPr>
        <p:txBody>
          <a:bodyPr/>
          <a:lstStyle>
            <a:lvl1pPr>
              <a:defRPr/>
            </a:lvl1pPr>
          </a:lstStyle>
          <a:p>
            <a:pPr>
              <a:defRPr/>
            </a:pPr>
            <a:fld id="{C39F3187-063D-B44F-AB3F-7977ABF9E09B}"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9" name="Slide Number Placeholder 5"/>
          <p:cNvSpPr>
            <a:spLocks noGrp="1"/>
          </p:cNvSpPr>
          <p:nvPr>
            <p:ph type="sldNum" sz="quarter" idx="12"/>
          </p:nvPr>
        </p:nvSpPr>
        <p:spPr/>
        <p:txBody>
          <a:bodyPr/>
          <a:lstStyle>
            <a:lvl1pPr>
              <a:defRPr/>
            </a:lvl1pPr>
          </a:lstStyle>
          <a:p>
            <a:pPr>
              <a:defRPr/>
            </a:pPr>
            <a:fld id="{0738E293-5757-B443-AD77-BD23F0D77BC9}"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5"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8"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13" name="Slide Number Placeholder 5"/>
          <p:cNvSpPr>
            <a:spLocks noGrp="1"/>
          </p:cNvSpPr>
          <p:nvPr>
            <p:ph type="sldNum" sz="quarter" idx="12"/>
          </p:nvPr>
        </p:nvSpPr>
        <p:spPr/>
        <p:txBody>
          <a:bodyPr/>
          <a:lstStyle>
            <a:lvl1pPr>
              <a:defRPr/>
            </a:lvl1pPr>
          </a:lstStyle>
          <a:p>
            <a:pPr>
              <a:defRPr/>
            </a:pPr>
            <a:fld id="{4438D00E-85F4-444E-87C2-78E53B8874D5}"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10" name="Slide Number Placeholder 6"/>
          <p:cNvSpPr>
            <a:spLocks noGrp="1"/>
          </p:cNvSpPr>
          <p:nvPr>
            <p:ph type="sldNum" sz="quarter" idx="12"/>
          </p:nvPr>
        </p:nvSpPr>
        <p:spPr/>
        <p:txBody>
          <a:bodyPr/>
          <a:lstStyle>
            <a:lvl1pPr>
              <a:defRPr/>
            </a:lvl1pPr>
          </a:lstStyle>
          <a:p>
            <a:pPr>
              <a:defRPr/>
            </a:pPr>
            <a:fld id="{FBEC1D24-2EC1-FF44-89DA-12B55CC0C8DE}"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14" name="Slide Number Placeholder 8"/>
          <p:cNvSpPr>
            <a:spLocks noGrp="1"/>
          </p:cNvSpPr>
          <p:nvPr>
            <p:ph type="sldNum" sz="quarter" idx="12"/>
          </p:nvPr>
        </p:nvSpPr>
        <p:spPr/>
        <p:txBody>
          <a:bodyPr/>
          <a:lstStyle>
            <a:lvl1pPr>
              <a:defRPr/>
            </a:lvl1pPr>
          </a:lstStyle>
          <a:p>
            <a:pPr>
              <a:defRPr/>
            </a:pPr>
            <a:fld id="{EC751168-E824-D04D-83FF-C98F1CA65931}"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8" name="Slide Number Placeholder 4"/>
          <p:cNvSpPr>
            <a:spLocks noGrp="1"/>
          </p:cNvSpPr>
          <p:nvPr>
            <p:ph type="sldNum" sz="quarter" idx="12"/>
          </p:nvPr>
        </p:nvSpPr>
        <p:spPr/>
        <p:txBody>
          <a:bodyPr/>
          <a:lstStyle>
            <a:lvl1pPr>
              <a:defRPr/>
            </a:lvl1pPr>
          </a:lstStyle>
          <a:p>
            <a:pPr>
              <a:defRPr/>
            </a:pPr>
            <a:fld id="{0130744C-4E5E-B44F-858E-4DFAADC16921}"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5" name="Slide Number Placeholder 3"/>
          <p:cNvSpPr>
            <a:spLocks noGrp="1"/>
          </p:cNvSpPr>
          <p:nvPr>
            <p:ph type="sldNum" sz="quarter" idx="12"/>
          </p:nvPr>
        </p:nvSpPr>
        <p:spPr/>
        <p:txBody>
          <a:bodyPr/>
          <a:lstStyle>
            <a:lvl1pPr>
              <a:defRPr/>
            </a:lvl1pPr>
          </a:lstStyle>
          <a:p>
            <a:pPr>
              <a:defRPr/>
            </a:pPr>
            <a:fld id="{F850C4C7-E6BB-984E-935A-7BAFFF217E53}"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F471B74E-94C9-3A46-BDDD-4A5C29C0C525}"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8" name="Slide Number Placeholder 6"/>
          <p:cNvSpPr>
            <a:spLocks noGrp="1"/>
          </p:cNvSpPr>
          <p:nvPr>
            <p:ph type="sldNum" sz="quarter" idx="12"/>
          </p:nvPr>
        </p:nvSpPr>
        <p:spPr/>
        <p:txBody>
          <a:bodyPr/>
          <a:lstStyle>
            <a:lvl1pPr>
              <a:defRPr/>
            </a:lvl1pPr>
          </a:lstStyle>
          <a:p>
            <a:pPr>
              <a:defRPr/>
            </a:pPr>
            <a:fld id="{3DEC72D9-0234-0849-A78E-7C9F74E65B53}"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10" name="Slide Number Placeholder 6"/>
          <p:cNvSpPr>
            <a:spLocks noGrp="1"/>
          </p:cNvSpPr>
          <p:nvPr>
            <p:ph type="sldNum" sz="quarter" idx="12"/>
          </p:nvPr>
        </p:nvSpPr>
        <p:spPr/>
        <p:txBody>
          <a:bodyPr/>
          <a:lstStyle>
            <a:lvl1pPr>
              <a:defRPr/>
            </a:lvl1pPr>
          </a:lstStyle>
          <a:p>
            <a:pPr>
              <a:defRPr/>
            </a:pPr>
            <a:fld id="{41B14F31-650F-F846-B7A6-35BA09D1AFFB}"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9" name="Slide Number Placeholder 5"/>
          <p:cNvSpPr>
            <a:spLocks noGrp="1"/>
          </p:cNvSpPr>
          <p:nvPr>
            <p:ph type="sldNum" sz="quarter" idx="12"/>
          </p:nvPr>
        </p:nvSpPr>
        <p:spPr/>
        <p:txBody>
          <a:bodyPr/>
          <a:lstStyle>
            <a:lvl1pPr>
              <a:defRPr/>
            </a:lvl1pPr>
          </a:lstStyle>
          <a:p>
            <a:pPr>
              <a:defRPr/>
            </a:pPr>
            <a:fld id="{2B86FEB9-CF7A-B848-AF2F-BE9E1FDF15D2}"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a:p>
        </p:txBody>
      </p:sp>
      <p:sp>
        <p:nvSpPr>
          <p:cNvPr id="9" name="Slide Number Placeholder 5"/>
          <p:cNvSpPr>
            <a:spLocks noGrp="1"/>
          </p:cNvSpPr>
          <p:nvPr>
            <p:ph type="sldNum" sz="quarter" idx="12"/>
          </p:nvPr>
        </p:nvSpPr>
        <p:spPr/>
        <p:txBody>
          <a:bodyPr/>
          <a:lstStyle>
            <a:lvl1pPr>
              <a:defRPr/>
            </a:lvl1pPr>
          </a:lstStyle>
          <a:p>
            <a:pPr>
              <a:defRPr/>
            </a:pPr>
            <a:fld id="{4F8130B2-53C1-C742-BB72-C65A7D6485D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89091"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89094"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5"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6"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7"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8"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099"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0"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1"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9102"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3"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4"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5"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6"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07"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08"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09"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0"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1"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2"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3"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4"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5"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6"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7"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8"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19"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0"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1"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2"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3"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4"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5"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6"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7"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8"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29"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0"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1"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2"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3"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4"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5"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6"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7"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8"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39"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40"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9141"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89143"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4"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5"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6"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7"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48"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891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91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9154"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9155"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dirty="0">
                <a:effectLst>
                  <a:outerShdw blurRad="38100" dist="38100" dir="2700000" algn="tl">
                    <a:srgbClr val="000000"/>
                  </a:outerShdw>
                </a:effectLst>
                <a:latin typeface="Arial" pitchFamily="-107" charset="0"/>
              </a:defRPr>
            </a:lvl1pPr>
          </a:lstStyle>
          <a:p>
            <a:pPr>
              <a:defRPr/>
            </a:pPr>
            <a:endParaRPr lang="en-US"/>
          </a:p>
        </p:txBody>
      </p:sp>
      <p:sp>
        <p:nvSpPr>
          <p:cNvPr id="89156"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dirty="0">
                <a:effectLst>
                  <a:outerShdw blurRad="38100" dist="38100" dir="2700000" algn="tl">
                    <a:srgbClr val="000000"/>
                  </a:outerShdw>
                </a:effectLst>
                <a:latin typeface="Arial" pitchFamily="-107" charset="0"/>
              </a:defRPr>
            </a:lvl1pPr>
          </a:lstStyle>
          <a:p>
            <a:pPr>
              <a:defRPr/>
            </a:pPr>
            <a:r>
              <a:rPr lang="en-US" smtClean="0"/>
              <a:t>© 2017 Pearson Education, Inc., Hoboken, NJ. All rights reserved.  </a:t>
            </a:r>
            <a:endParaRPr lang="en-US"/>
          </a:p>
        </p:txBody>
      </p:sp>
      <p:sp>
        <p:nvSpPr>
          <p:cNvPr id="89157"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6D4DF42E-3762-4049-AE2C-F3CF68EA27A4}" type="slidenum">
              <a:rPr lang="en-US"/>
              <a:pPr>
                <a:defRPr/>
              </a:pPr>
              <a:t>‹#›</a:t>
            </a:fld>
            <a:endParaRPr lang="en-US" dirty="0"/>
          </a:p>
        </p:txBody>
      </p:sp>
      <p:sp>
        <p:nvSpPr>
          <p:cNvPr id="89158"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35"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03C9D31D-5C05-E248-A7ED-46FCD7F50A99}"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  </a:t>
            </a:r>
            <a:endParaRPr lang="en-US"/>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3.pdf"/><Relationship Id="rId4" Type="http://schemas.openxmlformats.org/officeDocument/2006/relationships/image" Target="../media/image14.png"/><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df"/><Relationship Id="rId4" Type="http://schemas.openxmlformats.org/officeDocument/2006/relationships/image" Target="../media/image16.png"/><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df"/><Relationship Id="rId4" Type="http://schemas.openxmlformats.org/officeDocument/2006/relationships/image" Target="../media/image26.png"/><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df"/><Relationship Id="rId4" Type="http://schemas.openxmlformats.org/officeDocument/2006/relationships/image" Target="../media/image28.png"/><Relationship Id="rId1" Type="http://schemas.openxmlformats.org/officeDocument/2006/relationships/slideLayout" Target="../slideLayouts/slideLayout2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9.pdf"/><Relationship Id="rId4" Type="http://schemas.openxmlformats.org/officeDocument/2006/relationships/image" Target="../media/image30.png"/><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31.pdf"/><Relationship Id="rId4" Type="http://schemas.openxmlformats.org/officeDocument/2006/relationships/image" Target="../media/image32.png"/><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df"/><Relationship Id="rId4" Type="http://schemas.openxmlformats.org/officeDocument/2006/relationships/image" Target="../media/image34.png"/><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5.pdf"/><Relationship Id="rId4" Type="http://schemas.openxmlformats.org/officeDocument/2006/relationships/image" Target="../media/image36.png"/><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df"/><Relationship Id="rId4" Type="http://schemas.openxmlformats.org/officeDocument/2006/relationships/image" Target="../media/image38.png"/><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9.pdf"/><Relationship Id="rId4" Type="http://schemas.openxmlformats.org/officeDocument/2006/relationships/image" Target="../media/image40.png"/><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6.png"/><Relationship Id="rId1" Type="http://schemas.openxmlformats.org/officeDocument/2006/relationships/slideLayout" Target="../slideLayouts/slideLayout1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9699"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a:t>
            </a:r>
            <a:r>
              <a:rPr lang="en-US" dirty="0" smtClean="0"/>
              <a:t>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6" name="Footer Placeholder 5"/>
          <p:cNvSpPr>
            <a:spLocks noGrp="1"/>
          </p:cNvSpPr>
          <p:nvPr>
            <p:ph type="ftr" sz="quarter" idx="14"/>
          </p:nvPr>
        </p:nvSpPr>
        <p:spPr>
          <a:xfrm>
            <a:off x="0" y="6492875"/>
            <a:ext cx="4648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a:t>
            </a:r>
            <a:r>
              <a:rPr lang="en-US" dirty="0" smtClean="0">
                <a:ea typeface="+mj-ea"/>
                <a:cs typeface="+mj-cs"/>
              </a:rPr>
              <a:t> 5</a:t>
            </a:r>
            <a:endParaRPr lang="en-US" dirty="0">
              <a:ea typeface="+mj-ea"/>
              <a:cs typeface="+mj-cs"/>
            </a:endParaRPr>
          </a:p>
        </p:txBody>
      </p:sp>
      <p:sp>
        <p:nvSpPr>
          <p:cNvPr id="31747" name="Subtitle 13"/>
          <p:cNvSpPr>
            <a:spLocks noGrp="1"/>
          </p:cNvSpPr>
          <p:nvPr>
            <p:ph type="subTitle" idx="1"/>
          </p:nvPr>
        </p:nvSpPr>
        <p:spPr>
          <a:xfrm>
            <a:off x="1524000" y="5203825"/>
            <a:ext cx="6096000" cy="852488"/>
          </a:xfrm>
        </p:spPr>
        <p:txBody>
          <a:bodyPr>
            <a:normAutofit/>
          </a:bodyPr>
          <a:lstStyle/>
          <a:p>
            <a:r>
              <a:rPr lang="en-US" sz="3600" dirty="0" smtClean="0"/>
              <a:t>Finite </a:t>
            </a:r>
            <a:r>
              <a:rPr lang="en-US" sz="3600" dirty="0" smtClean="0"/>
              <a:t>Fields</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4648200" cy="365125"/>
          </a:xfrm>
        </p:spPr>
        <p:txBody>
          <a:bodyPr/>
          <a:lstStyle/>
          <a:p>
            <a:pPr>
              <a:defRPr/>
            </a:pPr>
            <a:r>
              <a:rPr lang="en-US" sz="900" dirty="0" smtClean="0"/>
              <a:t>© 2017 Pearson Education, Inc., Hoboken, NJ. All rights reserved.  </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724400" cy="365125"/>
          </a:xfrm>
        </p:spPr>
        <p:txBody>
          <a:bodyPr/>
          <a:lstStyle/>
          <a:p>
            <a:pPr>
              <a:defRPr/>
            </a:pPr>
            <a:r>
              <a:rPr lang="en-US" sz="1000" dirty="0" smtClean="0"/>
              <a:t>© 2017 Pearson Education, Inc., Hoboken, NJ. All rights reserved.  </a:t>
            </a:r>
            <a:endParaRPr lang="en-US" sz="1000" dirty="0"/>
          </a:p>
        </p:txBody>
      </p:sp>
      <p:pic>
        <p:nvPicPr>
          <p:cNvPr id="5" name="Picture 4" descr="f01.pdf"/>
          <p:cNvPicPr>
            <a:picLocks noChangeAspect="1"/>
          </p:cNvPicPr>
          <p:nvPr/>
        </p:nvPicPr>
        <mc:AlternateContent>
          <mc:Choice xmlns:ma="http://schemas.microsoft.com/office/mac/drawingml/2008/main" Requires="ma">
            <p:blipFill>
              <a:blip r:embed="rId3"/>
              <a:srcRect t="7273" b="11818"/>
              <a:stretch>
                <a:fillRect/>
              </a:stretch>
            </p:blipFill>
          </mc:Choice>
          <mc:Fallback>
            <p:blipFill>
              <a:blip r:embed="rId4"/>
              <a:srcRect t="7273" b="11818"/>
              <a:stretch>
                <a:fillRect/>
              </a:stretch>
            </p:blipFill>
          </mc:Fallback>
        </mc:AlternateContent>
        <p:spPr>
          <a:xfrm>
            <a:off x="1676401" y="-28887"/>
            <a:ext cx="6354050" cy="665303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smtClean="0"/>
              <a:t>Groups</a:t>
            </a:r>
            <a:endParaRPr lang="en-AU" smtClean="0"/>
          </a:p>
        </p:txBody>
      </p:sp>
      <p:sp>
        <p:nvSpPr>
          <p:cNvPr id="47107" name="Rectangle 3"/>
          <p:cNvSpPr>
            <a:spLocks noGrp="1" noChangeArrowheads="1"/>
          </p:cNvSpPr>
          <p:nvPr>
            <p:ph idx="1"/>
          </p:nvPr>
        </p:nvSpPr>
        <p:spPr>
          <a:xfrm>
            <a:off x="792163" y="1762125"/>
            <a:ext cx="7894637" cy="4867275"/>
          </a:xfrm>
        </p:spPr>
        <p:txBody>
          <a:bodyPr rtlCol="0">
            <a:normAutofit fontScale="70000" lnSpcReduction="20000"/>
          </a:bodyPr>
          <a:lstStyle/>
          <a:p>
            <a:pPr fontAlgn="auto">
              <a:lnSpc>
                <a:spcPct val="110000"/>
              </a:lnSpc>
              <a:spcBef>
                <a:spcPts val="1300"/>
              </a:spcBef>
              <a:spcAft>
                <a:spcPts val="0"/>
              </a:spcAft>
              <a:buClr>
                <a:schemeClr val="accent1">
                  <a:lumMod val="60000"/>
                  <a:lumOff val="40000"/>
                </a:schemeClr>
              </a:buClr>
              <a:buFont typeface="Candara" pitchFamily="34" charset="0"/>
              <a:buChar char="•"/>
              <a:defRPr/>
            </a:pPr>
            <a:r>
              <a:rPr lang="en-US" dirty="0" smtClean="0">
                <a:ea typeface="+mn-ea"/>
                <a:cs typeface="+mn-cs"/>
              </a:rPr>
              <a:t> A set of elements with a binary operation denoted by </a:t>
            </a:r>
            <a:r>
              <a:rPr lang="en-US" dirty="0" smtClean="0">
                <a:latin typeface="Wingdings"/>
                <a:ea typeface="Wingdings"/>
                <a:cs typeface="Wingdings"/>
              </a:rPr>
              <a:t></a:t>
            </a:r>
            <a:r>
              <a:rPr lang="en-US" dirty="0" smtClean="0">
                <a:ea typeface="+mn-ea"/>
                <a:cs typeface="+mn-cs"/>
              </a:rPr>
              <a:t>  that associates to each ordered pair (</a:t>
            </a:r>
            <a:r>
              <a:rPr lang="en-US" i="1" dirty="0" smtClean="0">
                <a:ea typeface="+mn-ea"/>
                <a:cs typeface="+mn-cs"/>
              </a:rPr>
              <a:t>a,b</a:t>
            </a:r>
            <a:r>
              <a:rPr lang="en-US" dirty="0" smtClean="0">
                <a:ea typeface="+mn-ea"/>
                <a:cs typeface="+mn-cs"/>
              </a:rPr>
              <a:t>) of elements in </a:t>
            </a:r>
            <a:r>
              <a:rPr lang="en-US" i="1" dirty="0" smtClean="0">
                <a:ea typeface="+mn-ea"/>
                <a:cs typeface="+mn-cs"/>
              </a:rPr>
              <a:t>G</a:t>
            </a:r>
            <a:r>
              <a:rPr lang="en-US" dirty="0" smtClean="0">
                <a:ea typeface="+mn-ea"/>
                <a:cs typeface="+mn-cs"/>
              </a:rPr>
              <a:t> an element     (</a:t>
            </a:r>
            <a:r>
              <a:rPr lang="en-US" i="1" dirty="0" smtClean="0">
                <a:ea typeface="+mn-ea"/>
                <a:cs typeface="+mn-cs"/>
              </a:rPr>
              <a:t>a </a:t>
            </a:r>
            <a:r>
              <a:rPr lang="en-US" dirty="0" smtClean="0">
                <a:latin typeface="Wingdings"/>
                <a:ea typeface="Wingdings"/>
                <a:cs typeface="Wingdings"/>
              </a:rPr>
              <a:t></a:t>
            </a:r>
            <a:r>
              <a:rPr lang="en-US" i="1" dirty="0" smtClean="0">
                <a:ea typeface="+mn-ea"/>
                <a:cs typeface="+mn-cs"/>
              </a:rPr>
              <a:t> b </a:t>
            </a:r>
            <a:r>
              <a:rPr lang="en-US" dirty="0" smtClean="0">
                <a:ea typeface="+mn-ea"/>
                <a:cs typeface="+mn-cs"/>
              </a:rPr>
              <a:t>) in </a:t>
            </a:r>
            <a:r>
              <a:rPr lang="en-US" i="1" dirty="0" smtClean="0">
                <a:ea typeface="+mn-ea"/>
                <a:cs typeface="+mn-cs"/>
              </a:rPr>
              <a:t>G</a:t>
            </a:r>
            <a:r>
              <a:rPr lang="en-US" dirty="0" smtClean="0">
                <a:ea typeface="+mn-ea"/>
                <a:cs typeface="+mn-cs"/>
              </a:rPr>
              <a:t> , such that the following axioms are obeyed:</a:t>
            </a:r>
          </a:p>
          <a:p>
            <a:pPr lvl="1" fontAlgn="auto">
              <a:spcBef>
                <a:spcPts val="1300"/>
              </a:spcBef>
              <a:spcAft>
                <a:spcPts val="0"/>
              </a:spcAft>
              <a:buFont typeface="Candara" pitchFamily="34" charset="0"/>
              <a:buChar char="•"/>
              <a:defRPr/>
            </a:pPr>
            <a:r>
              <a:rPr lang="en-US" dirty="0" smtClean="0">
                <a:ea typeface="+mn-ea"/>
              </a:rPr>
              <a:t>(A1) Closure: </a:t>
            </a:r>
          </a:p>
          <a:p>
            <a:pPr lvl="2" fontAlgn="auto">
              <a:spcBef>
                <a:spcPts val="1300"/>
              </a:spcBef>
              <a:spcAft>
                <a:spcPts val="0"/>
              </a:spcAft>
              <a:buClr>
                <a:schemeClr val="accent1">
                  <a:lumMod val="60000"/>
                  <a:lumOff val="40000"/>
                </a:schemeClr>
              </a:buClr>
              <a:buFont typeface="Candara" pitchFamily="34" charset="0"/>
              <a:buChar char="•"/>
              <a:defRPr/>
            </a:pPr>
            <a:r>
              <a:rPr lang="en-US" dirty="0" smtClean="0">
                <a:ea typeface="+mn-ea"/>
              </a:rPr>
              <a:t>If </a:t>
            </a:r>
            <a:r>
              <a:rPr lang="en-US" i="1" dirty="0" smtClean="0">
                <a:ea typeface="+mn-ea"/>
              </a:rPr>
              <a:t>a</a:t>
            </a:r>
            <a:r>
              <a:rPr lang="en-US" dirty="0" smtClean="0">
                <a:ea typeface="+mn-ea"/>
              </a:rPr>
              <a:t> and </a:t>
            </a:r>
            <a:r>
              <a:rPr lang="en-US" i="1" dirty="0" smtClean="0">
                <a:ea typeface="+mn-ea"/>
              </a:rPr>
              <a:t>b</a:t>
            </a:r>
            <a:r>
              <a:rPr lang="en-US" dirty="0" smtClean="0">
                <a:ea typeface="+mn-ea"/>
              </a:rPr>
              <a:t> belong to </a:t>
            </a:r>
            <a:r>
              <a:rPr lang="en-US" i="1" dirty="0" smtClean="0">
                <a:ea typeface="+mn-ea"/>
              </a:rPr>
              <a:t>G</a:t>
            </a:r>
            <a:r>
              <a:rPr lang="en-US" dirty="0" smtClean="0">
                <a:ea typeface="+mn-ea"/>
              </a:rPr>
              <a:t>, then </a:t>
            </a:r>
            <a:r>
              <a:rPr lang="en-US" i="1" dirty="0" smtClean="0">
                <a:ea typeface="+mn-ea"/>
              </a:rPr>
              <a:t>a </a:t>
            </a:r>
            <a:r>
              <a:rPr lang="en-US" dirty="0" smtClean="0">
                <a:latin typeface="Wingdings"/>
                <a:ea typeface="Wingdings"/>
                <a:cs typeface="Wingdings"/>
              </a:rPr>
              <a:t></a:t>
            </a:r>
            <a:r>
              <a:rPr lang="en-US" i="1" dirty="0" smtClean="0">
                <a:ea typeface="+mn-ea"/>
              </a:rPr>
              <a:t> b</a:t>
            </a:r>
            <a:r>
              <a:rPr lang="en-US" dirty="0" smtClean="0">
                <a:ea typeface="+mn-ea"/>
              </a:rPr>
              <a:t> is also in </a:t>
            </a:r>
            <a:r>
              <a:rPr lang="en-US" i="1" dirty="0" smtClean="0">
                <a:ea typeface="+mn-ea"/>
              </a:rPr>
              <a:t>G</a:t>
            </a:r>
          </a:p>
          <a:p>
            <a:pPr lvl="1" fontAlgn="auto">
              <a:spcBef>
                <a:spcPts val="1300"/>
              </a:spcBef>
              <a:spcAft>
                <a:spcPts val="0"/>
              </a:spcAft>
              <a:buFont typeface="Candara" pitchFamily="34" charset="0"/>
              <a:buChar char="•"/>
              <a:defRPr/>
            </a:pPr>
            <a:r>
              <a:rPr lang="en-US" dirty="0" smtClean="0">
                <a:ea typeface="+mn-ea"/>
              </a:rPr>
              <a:t>(A2) Associative: </a:t>
            </a:r>
          </a:p>
          <a:p>
            <a:pPr lvl="2" fontAlgn="auto">
              <a:spcBef>
                <a:spcPts val="1300"/>
              </a:spcBef>
              <a:spcAft>
                <a:spcPts val="0"/>
              </a:spcAft>
              <a:buClr>
                <a:schemeClr val="accent1">
                  <a:lumMod val="60000"/>
                  <a:lumOff val="40000"/>
                </a:schemeClr>
              </a:buClr>
              <a:buFont typeface="Candara" pitchFamily="34" charset="0"/>
              <a:buChar char="•"/>
              <a:defRPr/>
            </a:pPr>
            <a:r>
              <a:rPr lang="en-US" i="1" dirty="0" smtClean="0">
                <a:ea typeface="+mn-ea"/>
              </a:rPr>
              <a:t>a </a:t>
            </a:r>
            <a:r>
              <a:rPr lang="en-US" dirty="0" smtClean="0">
                <a:latin typeface="Wingdings"/>
                <a:ea typeface="Wingdings"/>
                <a:cs typeface="Wingdings"/>
              </a:rPr>
              <a:t></a:t>
            </a:r>
            <a:r>
              <a:rPr lang="en-US" i="1" dirty="0" smtClean="0">
                <a:ea typeface="+mn-ea"/>
              </a:rPr>
              <a:t> (b </a:t>
            </a:r>
            <a:r>
              <a:rPr lang="en-US" dirty="0" smtClean="0">
                <a:latin typeface="Wingdings"/>
                <a:ea typeface="Wingdings"/>
                <a:cs typeface="Wingdings"/>
              </a:rPr>
              <a:t></a:t>
            </a:r>
            <a:r>
              <a:rPr lang="en-US" i="1" dirty="0" smtClean="0">
                <a:ea typeface="+mn-ea"/>
              </a:rPr>
              <a:t> c) = (a </a:t>
            </a:r>
            <a:r>
              <a:rPr lang="en-US" dirty="0" smtClean="0">
                <a:latin typeface="Wingdings"/>
                <a:ea typeface="Wingdings"/>
                <a:cs typeface="Wingdings"/>
              </a:rPr>
              <a:t></a:t>
            </a:r>
            <a:r>
              <a:rPr lang="en-US" i="1" dirty="0" smtClean="0">
                <a:ea typeface="+mn-ea"/>
              </a:rPr>
              <a:t> b) </a:t>
            </a:r>
            <a:r>
              <a:rPr lang="en-US" dirty="0" smtClean="0">
                <a:latin typeface="Wingdings"/>
                <a:ea typeface="Wingdings"/>
                <a:cs typeface="Wingdings"/>
              </a:rPr>
              <a:t></a:t>
            </a:r>
            <a:r>
              <a:rPr lang="en-US" i="1" dirty="0" smtClean="0">
                <a:ea typeface="+mn-ea"/>
              </a:rPr>
              <a:t> c </a:t>
            </a:r>
            <a:r>
              <a:rPr lang="en-US" dirty="0" smtClean="0">
                <a:ea typeface="+mn-ea"/>
              </a:rPr>
              <a:t>for all </a:t>
            </a:r>
            <a:r>
              <a:rPr lang="en-US" i="1" dirty="0" smtClean="0">
                <a:ea typeface="+mn-ea"/>
              </a:rPr>
              <a:t>a, b, c </a:t>
            </a:r>
            <a:r>
              <a:rPr lang="en-US" dirty="0" smtClean="0">
                <a:ea typeface="+mn-ea"/>
              </a:rPr>
              <a:t>in </a:t>
            </a:r>
            <a:r>
              <a:rPr lang="en-US" i="1" dirty="0" smtClean="0">
                <a:ea typeface="+mn-ea"/>
              </a:rPr>
              <a:t>G</a:t>
            </a:r>
          </a:p>
          <a:p>
            <a:pPr lvl="1" fontAlgn="auto">
              <a:spcBef>
                <a:spcPts val="1300"/>
              </a:spcBef>
              <a:spcAft>
                <a:spcPts val="0"/>
              </a:spcAft>
              <a:buFont typeface="Candara" pitchFamily="34" charset="0"/>
              <a:buChar char="•"/>
              <a:defRPr/>
            </a:pPr>
            <a:r>
              <a:rPr lang="en-US" dirty="0" smtClean="0">
                <a:ea typeface="+mn-ea"/>
              </a:rPr>
              <a:t>(A3) Identity element: </a:t>
            </a:r>
          </a:p>
          <a:p>
            <a:pPr lvl="2" fontAlgn="auto">
              <a:spcBef>
                <a:spcPts val="1300"/>
              </a:spcBef>
              <a:spcAft>
                <a:spcPts val="0"/>
              </a:spcAft>
              <a:buClr>
                <a:schemeClr val="accent1">
                  <a:lumMod val="60000"/>
                  <a:lumOff val="40000"/>
                </a:schemeClr>
              </a:buClr>
              <a:buFont typeface="Candara" pitchFamily="34" charset="0"/>
              <a:buChar char="•"/>
              <a:defRPr/>
            </a:pPr>
            <a:r>
              <a:rPr lang="en-US" dirty="0" smtClean="0">
                <a:ea typeface="+mn-ea"/>
              </a:rPr>
              <a:t>There is an element </a:t>
            </a:r>
            <a:r>
              <a:rPr lang="en-US" i="1" dirty="0" smtClean="0">
                <a:ea typeface="+mn-ea"/>
              </a:rPr>
              <a:t>e</a:t>
            </a:r>
            <a:r>
              <a:rPr lang="en-US" dirty="0" smtClean="0">
                <a:ea typeface="+mn-ea"/>
              </a:rPr>
              <a:t> in </a:t>
            </a:r>
            <a:r>
              <a:rPr lang="en-US" i="1" dirty="0" smtClean="0">
                <a:ea typeface="+mn-ea"/>
              </a:rPr>
              <a:t>G</a:t>
            </a:r>
            <a:r>
              <a:rPr lang="en-US" dirty="0" smtClean="0">
                <a:ea typeface="+mn-ea"/>
              </a:rPr>
              <a:t> such that </a:t>
            </a:r>
            <a:r>
              <a:rPr lang="en-US" i="1" dirty="0" smtClean="0">
                <a:ea typeface="+mn-ea"/>
              </a:rPr>
              <a:t>a </a:t>
            </a:r>
            <a:r>
              <a:rPr lang="en-US" dirty="0" smtClean="0">
                <a:latin typeface="Wingdings"/>
                <a:ea typeface="Wingdings"/>
                <a:cs typeface="Wingdings"/>
              </a:rPr>
              <a:t></a:t>
            </a:r>
            <a:r>
              <a:rPr lang="en-US" i="1" dirty="0" smtClean="0">
                <a:ea typeface="+mn-ea"/>
              </a:rPr>
              <a:t> e = e </a:t>
            </a:r>
            <a:r>
              <a:rPr lang="en-US" dirty="0" smtClean="0">
                <a:latin typeface="Wingdings"/>
                <a:ea typeface="Wingdings"/>
                <a:cs typeface="Wingdings"/>
              </a:rPr>
              <a:t></a:t>
            </a:r>
            <a:r>
              <a:rPr lang="en-US" i="1" dirty="0" smtClean="0">
                <a:ea typeface="+mn-ea"/>
              </a:rPr>
              <a:t> a = a </a:t>
            </a:r>
            <a:r>
              <a:rPr lang="en-US" dirty="0" smtClean="0">
                <a:ea typeface="+mn-ea"/>
              </a:rPr>
              <a:t>for all </a:t>
            </a:r>
            <a:r>
              <a:rPr lang="en-US" i="1" dirty="0" smtClean="0">
                <a:ea typeface="+mn-ea"/>
              </a:rPr>
              <a:t>a</a:t>
            </a:r>
            <a:r>
              <a:rPr lang="en-US" dirty="0" smtClean="0">
                <a:ea typeface="+mn-ea"/>
              </a:rPr>
              <a:t> in </a:t>
            </a:r>
            <a:r>
              <a:rPr lang="en-US" i="1" dirty="0" smtClean="0">
                <a:ea typeface="+mn-ea"/>
              </a:rPr>
              <a:t>G</a:t>
            </a:r>
          </a:p>
          <a:p>
            <a:pPr lvl="1" fontAlgn="auto">
              <a:spcBef>
                <a:spcPts val="1300"/>
              </a:spcBef>
              <a:spcAft>
                <a:spcPts val="0"/>
              </a:spcAft>
              <a:buFont typeface="Candara" pitchFamily="34" charset="0"/>
              <a:buChar char="•"/>
              <a:defRPr/>
            </a:pPr>
            <a:r>
              <a:rPr lang="en-US" dirty="0" smtClean="0">
                <a:ea typeface="+mn-ea"/>
              </a:rPr>
              <a:t>(A4) Inverse element: </a:t>
            </a:r>
          </a:p>
          <a:p>
            <a:pPr lvl="2" fontAlgn="auto">
              <a:spcAft>
                <a:spcPts val="0"/>
              </a:spcAft>
              <a:buClr>
                <a:schemeClr val="accent1">
                  <a:lumMod val="60000"/>
                  <a:lumOff val="40000"/>
                </a:schemeClr>
              </a:buClr>
              <a:buFont typeface="Candara" pitchFamily="34" charset="0"/>
              <a:buChar char="•"/>
              <a:defRPr/>
            </a:pPr>
            <a:r>
              <a:rPr lang="en-US" dirty="0" smtClean="0">
                <a:ea typeface="+mn-ea"/>
              </a:rPr>
              <a:t>For each </a:t>
            </a:r>
            <a:r>
              <a:rPr lang="en-US" i="1" dirty="0" smtClean="0">
                <a:ea typeface="+mn-ea"/>
              </a:rPr>
              <a:t>a</a:t>
            </a:r>
            <a:r>
              <a:rPr lang="en-US" dirty="0" smtClean="0">
                <a:ea typeface="+mn-ea"/>
              </a:rPr>
              <a:t> in </a:t>
            </a:r>
            <a:r>
              <a:rPr lang="en-US" i="1" dirty="0" smtClean="0">
                <a:ea typeface="+mn-ea"/>
              </a:rPr>
              <a:t>G</a:t>
            </a:r>
            <a:r>
              <a:rPr lang="en-US" dirty="0" smtClean="0">
                <a:ea typeface="+mn-ea"/>
              </a:rPr>
              <a:t>, there is an element </a:t>
            </a:r>
            <a:r>
              <a:rPr lang="en-US" i="1" dirty="0" smtClean="0">
                <a:ea typeface="+mn-ea"/>
              </a:rPr>
              <a:t>a</a:t>
            </a:r>
            <a:r>
              <a:rPr lang="en-US" baseline="30000" dirty="0" smtClean="0">
                <a:ea typeface="+mn-ea"/>
              </a:rPr>
              <a:t>1</a:t>
            </a:r>
            <a:r>
              <a:rPr lang="en-US" dirty="0" smtClean="0">
                <a:ea typeface="+mn-ea"/>
              </a:rPr>
              <a:t> </a:t>
            </a:r>
            <a:r>
              <a:rPr lang="en-US" dirty="0" smtClean="0">
                <a:ea typeface="+mn-ea"/>
              </a:rPr>
              <a:t>in </a:t>
            </a:r>
            <a:r>
              <a:rPr lang="en-US" i="1" dirty="0" smtClean="0">
                <a:ea typeface="+mn-ea"/>
              </a:rPr>
              <a:t>G </a:t>
            </a:r>
            <a:r>
              <a:rPr lang="en-US" dirty="0" smtClean="0">
                <a:ea typeface="+mn-ea"/>
              </a:rPr>
              <a:t>such that </a:t>
            </a:r>
            <a:r>
              <a:rPr lang="en-US" i="1" dirty="0" smtClean="0">
                <a:ea typeface="+mn-ea"/>
              </a:rPr>
              <a:t>a</a:t>
            </a:r>
            <a:r>
              <a:rPr lang="en-US" dirty="0" smtClean="0">
                <a:latin typeface="Wingdings"/>
                <a:ea typeface="Wingdings"/>
                <a:cs typeface="Wingdings"/>
              </a:rPr>
              <a:t></a:t>
            </a:r>
            <a:r>
              <a:rPr lang="en-US" i="1" dirty="0" smtClean="0">
                <a:ea typeface="+mn-ea"/>
              </a:rPr>
              <a:t>a</a:t>
            </a:r>
            <a:r>
              <a:rPr lang="en-US" sz="2000" baseline="30000" dirty="0" smtClean="0"/>
              <a:t>1</a:t>
            </a:r>
            <a:r>
              <a:rPr lang="en-US" i="1" dirty="0" smtClean="0">
                <a:ea typeface="+mn-ea"/>
              </a:rPr>
              <a:t> </a:t>
            </a:r>
            <a:r>
              <a:rPr lang="en-US" i="1" dirty="0" smtClean="0">
                <a:ea typeface="+mn-ea"/>
              </a:rPr>
              <a:t>= </a:t>
            </a:r>
            <a:r>
              <a:rPr lang="en-US" i="1" dirty="0" smtClean="0">
                <a:ea typeface="+mn-ea"/>
              </a:rPr>
              <a:t>a</a:t>
            </a:r>
            <a:r>
              <a:rPr lang="en-US" sz="2000" baseline="30000" dirty="0" smtClean="0"/>
              <a:t>1</a:t>
            </a:r>
            <a:r>
              <a:rPr lang="en-US" i="1" dirty="0" smtClean="0">
                <a:ea typeface="+mn-ea"/>
              </a:rPr>
              <a:t> </a:t>
            </a:r>
            <a:r>
              <a:rPr lang="en-US" dirty="0" smtClean="0">
                <a:latin typeface="Wingdings"/>
                <a:ea typeface="Wingdings"/>
                <a:cs typeface="Wingdings"/>
              </a:rPr>
              <a:t></a:t>
            </a:r>
            <a:r>
              <a:rPr lang="en-US" i="1" dirty="0" smtClean="0">
                <a:ea typeface="+mn-ea"/>
              </a:rPr>
              <a:t> a = e</a:t>
            </a:r>
          </a:p>
          <a:p>
            <a:pPr lvl="1" fontAlgn="auto">
              <a:spcBef>
                <a:spcPts val="1300"/>
              </a:spcBef>
              <a:spcAft>
                <a:spcPts val="0"/>
              </a:spcAft>
              <a:buFont typeface="Candara" pitchFamily="34" charset="0"/>
              <a:buChar char="•"/>
              <a:defRPr/>
            </a:pPr>
            <a:r>
              <a:rPr lang="en-US" sz="2571" dirty="0" smtClean="0">
                <a:ea typeface="+mn-ea"/>
              </a:rPr>
              <a:t>(A5) Commutative: </a:t>
            </a:r>
          </a:p>
          <a:p>
            <a:pPr lvl="2" fontAlgn="auto">
              <a:spcAft>
                <a:spcPts val="0"/>
              </a:spcAft>
              <a:buClr>
                <a:schemeClr val="accent1">
                  <a:lumMod val="60000"/>
                  <a:lumOff val="40000"/>
                </a:schemeClr>
              </a:buClr>
              <a:buFont typeface="Candara" pitchFamily="34" charset="0"/>
              <a:buChar char="•"/>
              <a:defRPr/>
            </a:pPr>
            <a:r>
              <a:rPr lang="en-US" i="1" dirty="0" smtClean="0">
                <a:ea typeface="+mn-ea"/>
              </a:rPr>
              <a:t>a </a:t>
            </a:r>
            <a:r>
              <a:rPr lang="en-US" dirty="0" smtClean="0">
                <a:latin typeface="Wingdings"/>
                <a:ea typeface="Wingdings"/>
                <a:cs typeface="Wingdings"/>
              </a:rPr>
              <a:t></a:t>
            </a:r>
            <a:r>
              <a:rPr lang="en-US" i="1" dirty="0" smtClean="0">
                <a:ea typeface="+mn-ea"/>
              </a:rPr>
              <a:t> b = b </a:t>
            </a:r>
            <a:r>
              <a:rPr lang="en-US" dirty="0" smtClean="0">
                <a:latin typeface="Wingdings"/>
                <a:ea typeface="Wingdings"/>
                <a:cs typeface="Wingdings"/>
              </a:rPr>
              <a:t></a:t>
            </a:r>
            <a:r>
              <a:rPr lang="en-US" i="1" dirty="0" smtClean="0">
                <a:ea typeface="+mn-ea"/>
              </a:rPr>
              <a:t> a </a:t>
            </a:r>
            <a:r>
              <a:rPr lang="en-US" dirty="0" smtClean="0">
                <a:ea typeface="+mn-ea"/>
              </a:rPr>
              <a:t>for all </a:t>
            </a:r>
            <a:r>
              <a:rPr lang="en-US" i="1" dirty="0" smtClean="0">
                <a:ea typeface="+mn-ea"/>
              </a:rPr>
              <a:t>a, b </a:t>
            </a:r>
            <a:r>
              <a:rPr lang="en-US" dirty="0" smtClean="0">
                <a:ea typeface="+mn-ea"/>
              </a:rPr>
              <a:t>in </a:t>
            </a:r>
            <a:r>
              <a:rPr lang="en-US" i="1" dirty="0" smtClean="0">
                <a:ea typeface="+mn-ea"/>
              </a:rPr>
              <a:t>G</a:t>
            </a:r>
          </a:p>
          <a:p>
            <a:pPr lvl="2" fontAlgn="auto">
              <a:spcAft>
                <a:spcPts val="0"/>
              </a:spcAft>
              <a:buClr>
                <a:schemeClr val="accent1">
                  <a:lumMod val="60000"/>
                  <a:lumOff val="40000"/>
                </a:schemeClr>
              </a:buClr>
              <a:buFont typeface="Candara" pitchFamily="34" charset="0"/>
              <a:buNone/>
              <a:defRPr/>
            </a:pPr>
            <a:endParaRPr lang="en-AU" i="1" dirty="0" smtClean="0">
              <a:ea typeface="+mn-ea"/>
            </a:endParaRPr>
          </a:p>
        </p:txBody>
      </p:sp>
      <p:sp>
        <p:nvSpPr>
          <p:cNvPr id="4" name="Footer Placeholder 3"/>
          <p:cNvSpPr>
            <a:spLocks noGrp="1"/>
          </p:cNvSpPr>
          <p:nvPr>
            <p:ph type="ftr" sz="quarter" idx="11"/>
          </p:nvPr>
        </p:nvSpPr>
        <p:spPr>
          <a:xfrm>
            <a:off x="0" y="6492875"/>
            <a:ext cx="4495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smtClean="0"/>
              <a:t>Cyclic Group</a:t>
            </a:r>
            <a:endParaRPr lang="en-AU" smtClean="0"/>
          </a:p>
        </p:txBody>
      </p:sp>
      <p:sp>
        <p:nvSpPr>
          <p:cNvPr id="49155" name="Rectangle 3"/>
          <p:cNvSpPr>
            <a:spLocks noGrp="1" noChangeArrowheads="1"/>
          </p:cNvSpPr>
          <p:nvPr>
            <p:ph idx="1"/>
          </p:nvPr>
        </p:nvSpPr>
        <p:spPr>
          <a:xfrm>
            <a:off x="792163" y="1762125"/>
            <a:ext cx="7570787" cy="4638675"/>
          </a:xfrm>
        </p:spPr>
        <p:txBody>
          <a:bodyPr rtlCol="0">
            <a:normAutofit fontScale="85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Exponentiation is defined within a group as a repeated application of the group operator, so that </a:t>
            </a:r>
            <a:r>
              <a:rPr lang="en-US" i="1" dirty="0" smtClean="0">
                <a:ea typeface="+mn-ea"/>
                <a:cs typeface="+mn-cs"/>
              </a:rPr>
              <a:t>a</a:t>
            </a:r>
            <a:r>
              <a:rPr lang="en-US" i="1" baseline="30000" dirty="0" smtClean="0">
                <a:ea typeface="+mn-ea"/>
                <a:cs typeface="+mn-cs"/>
              </a:rPr>
              <a:t>3</a:t>
            </a:r>
            <a:r>
              <a:rPr lang="en-US" i="1" dirty="0" smtClean="0">
                <a:ea typeface="+mn-ea"/>
                <a:cs typeface="+mn-cs"/>
              </a:rPr>
              <a:t> = </a:t>
            </a:r>
            <a:r>
              <a:rPr lang="en-US" i="1" dirty="0" err="1" smtClean="0">
                <a:ea typeface="+mn-ea"/>
                <a:cs typeface="+mn-cs"/>
              </a:rPr>
              <a:t>a</a:t>
            </a:r>
            <a:r>
              <a:rPr lang="en-US" dirty="0" err="1" smtClean="0">
                <a:latin typeface="Wingdings"/>
                <a:ea typeface="Wingdings"/>
                <a:cs typeface="Wingdings"/>
              </a:rPr>
              <a:t></a:t>
            </a:r>
            <a:r>
              <a:rPr lang="en-US" i="1" dirty="0" err="1" smtClean="0">
                <a:ea typeface="+mn-ea"/>
                <a:cs typeface="+mn-cs"/>
              </a:rPr>
              <a:t>a</a:t>
            </a:r>
            <a:r>
              <a:rPr lang="en-US" dirty="0" err="1" smtClean="0">
                <a:latin typeface="Wingdings"/>
                <a:ea typeface="Wingdings"/>
                <a:cs typeface="Wingdings"/>
              </a:rPr>
              <a:t></a:t>
            </a:r>
            <a:r>
              <a:rPr lang="en-US" i="1" dirty="0" err="1" smtClean="0">
                <a:ea typeface="+mn-ea"/>
                <a:cs typeface="+mn-cs"/>
              </a:rPr>
              <a:t>a</a:t>
            </a:r>
            <a:endParaRPr lang="en-AU" i="1"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We define </a:t>
            </a:r>
            <a:r>
              <a:rPr lang="en-US" i="1" dirty="0" smtClean="0">
                <a:ea typeface="+mn-ea"/>
                <a:cs typeface="+mn-cs"/>
              </a:rPr>
              <a:t>a</a:t>
            </a:r>
            <a:r>
              <a:rPr lang="en-US" i="1" baseline="30000" dirty="0" smtClean="0">
                <a:ea typeface="+mn-ea"/>
                <a:cs typeface="+mn-cs"/>
              </a:rPr>
              <a:t>0</a:t>
            </a:r>
            <a:r>
              <a:rPr lang="en-US" i="1" dirty="0" smtClean="0">
                <a:ea typeface="+mn-ea"/>
                <a:cs typeface="+mn-cs"/>
              </a:rPr>
              <a:t> =  e </a:t>
            </a:r>
            <a:r>
              <a:rPr lang="en-US" dirty="0" smtClean="0">
                <a:ea typeface="+mn-ea"/>
                <a:cs typeface="+mn-cs"/>
              </a:rPr>
              <a:t>as the identity element, and</a:t>
            </a:r>
            <a:r>
              <a:rPr lang="en-US" dirty="0" smtClean="0">
                <a:ea typeface="+mn-ea"/>
                <a:cs typeface="+mn-cs"/>
              </a:rPr>
              <a:t>                 </a:t>
            </a:r>
            <a:r>
              <a:rPr lang="en-US" i="1" dirty="0" smtClean="0">
                <a:ea typeface="+mn-ea"/>
                <a:cs typeface="+mn-cs"/>
              </a:rPr>
              <a:t>a</a:t>
            </a:r>
            <a:r>
              <a:rPr lang="en-US" i="1" baseline="30000" dirty="0" smtClean="0">
                <a:ea typeface="+mn-ea"/>
                <a:cs typeface="+mn-cs"/>
              </a:rPr>
              <a:t>-n</a:t>
            </a:r>
            <a:r>
              <a:rPr lang="en-US" i="1" dirty="0" smtClean="0">
                <a:ea typeface="+mn-ea"/>
                <a:cs typeface="+mn-cs"/>
              </a:rPr>
              <a:t> =  (a</a:t>
            </a:r>
            <a:r>
              <a:rPr lang="en-US" baseline="30000" dirty="0" smtClean="0">
                <a:ea typeface="+mn-ea"/>
                <a:cs typeface="+mn-cs"/>
              </a:rPr>
              <a:t>’</a:t>
            </a:r>
            <a:r>
              <a:rPr lang="en-US" dirty="0" smtClean="0">
                <a:ea typeface="+mn-ea"/>
                <a:cs typeface="+mn-cs"/>
              </a:rPr>
              <a:t>)</a:t>
            </a:r>
            <a:r>
              <a:rPr lang="en-US" i="1" baseline="30000" dirty="0" smtClean="0">
                <a:ea typeface="+mn-ea"/>
                <a:cs typeface="+mn-cs"/>
              </a:rPr>
              <a:t>n</a:t>
            </a:r>
            <a:r>
              <a:rPr lang="en-US" dirty="0" smtClean="0">
                <a:ea typeface="+mn-ea"/>
                <a:cs typeface="+mn-cs"/>
              </a:rPr>
              <a:t> , where </a:t>
            </a:r>
            <a:r>
              <a:rPr lang="en-US" i="1" dirty="0" smtClean="0">
                <a:ea typeface="+mn-ea"/>
                <a:cs typeface="+mn-cs"/>
              </a:rPr>
              <a:t>a</a:t>
            </a:r>
            <a:r>
              <a:rPr lang="en-US" i="1" baseline="30000" dirty="0" smtClean="0">
                <a:ea typeface="+mn-ea"/>
                <a:cs typeface="+mn-cs"/>
              </a:rPr>
              <a:t>’</a:t>
            </a:r>
            <a:r>
              <a:rPr lang="en-US" dirty="0" smtClean="0">
                <a:ea typeface="+mn-ea"/>
                <a:cs typeface="+mn-cs"/>
              </a:rPr>
              <a:t> is the inverse element of </a:t>
            </a:r>
            <a:r>
              <a:rPr lang="en-US" i="1" dirty="0" smtClean="0">
                <a:ea typeface="+mn-ea"/>
                <a:cs typeface="+mn-cs"/>
              </a:rPr>
              <a:t>a</a:t>
            </a:r>
            <a:r>
              <a:rPr lang="en-US" dirty="0" smtClean="0">
                <a:ea typeface="+mn-ea"/>
                <a:cs typeface="+mn-cs"/>
              </a:rPr>
              <a:t>  within the group</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A group </a:t>
            </a:r>
            <a:r>
              <a:rPr lang="en-US" i="1" dirty="0" smtClean="0">
                <a:ea typeface="+mn-ea"/>
                <a:cs typeface="+mn-cs"/>
              </a:rPr>
              <a:t>G</a:t>
            </a:r>
            <a:r>
              <a:rPr lang="en-US" dirty="0" smtClean="0">
                <a:ea typeface="+mn-ea"/>
                <a:cs typeface="+mn-cs"/>
              </a:rPr>
              <a:t> is </a:t>
            </a:r>
            <a:r>
              <a:rPr lang="en-US" b="1" dirty="0" smtClean="0">
                <a:ea typeface="+mn-ea"/>
                <a:cs typeface="+mn-cs"/>
              </a:rPr>
              <a:t>cyclic</a:t>
            </a:r>
            <a:r>
              <a:rPr lang="en-US" dirty="0" smtClean="0">
                <a:ea typeface="+mn-ea"/>
                <a:cs typeface="+mn-cs"/>
              </a:rPr>
              <a:t> if every element of </a:t>
            </a:r>
            <a:r>
              <a:rPr lang="en-US" i="1" dirty="0" smtClean="0">
                <a:ea typeface="+mn-ea"/>
                <a:cs typeface="+mn-cs"/>
              </a:rPr>
              <a:t>G</a:t>
            </a:r>
            <a:r>
              <a:rPr lang="en-US" dirty="0" smtClean="0">
                <a:ea typeface="+mn-ea"/>
                <a:cs typeface="+mn-cs"/>
              </a:rPr>
              <a:t> is a power </a:t>
            </a:r>
            <a:r>
              <a:rPr lang="en-US" i="1" dirty="0" err="1" smtClean="0">
                <a:ea typeface="+mn-ea"/>
                <a:cs typeface="+mn-cs"/>
              </a:rPr>
              <a:t>a</a:t>
            </a:r>
            <a:r>
              <a:rPr lang="en-US" i="1" baseline="30000" dirty="0" err="1" smtClean="0">
                <a:ea typeface="+mn-ea"/>
                <a:cs typeface="+mn-cs"/>
              </a:rPr>
              <a:t>k</a:t>
            </a:r>
            <a:r>
              <a:rPr lang="en-US" dirty="0" smtClean="0">
                <a:ea typeface="+mn-ea"/>
                <a:cs typeface="+mn-cs"/>
              </a:rPr>
              <a:t>   (</a:t>
            </a:r>
            <a:r>
              <a:rPr lang="en-US" i="1" dirty="0" smtClean="0">
                <a:ea typeface="+mn-ea"/>
                <a:cs typeface="+mn-cs"/>
              </a:rPr>
              <a:t>k </a:t>
            </a:r>
            <a:r>
              <a:rPr lang="en-US" dirty="0" smtClean="0">
                <a:ea typeface="+mn-ea"/>
                <a:cs typeface="+mn-cs"/>
              </a:rPr>
              <a:t>is an integer) of a fixed </a:t>
            </a:r>
            <a:r>
              <a:rPr lang="en-US" dirty="0" smtClean="0">
                <a:ea typeface="+mn-ea"/>
                <a:cs typeface="+mn-cs"/>
              </a:rPr>
              <a:t>element </a:t>
            </a:r>
            <a:r>
              <a:rPr lang="en-US" dirty="0" smtClean="0"/>
              <a:t> </a:t>
            </a:r>
            <a:r>
              <a:rPr lang="en-US" i="1" dirty="0" smtClean="0"/>
              <a:t>a € </a:t>
            </a:r>
            <a:r>
              <a:rPr lang="en-US" i="1" dirty="0" smtClean="0"/>
              <a:t>G</a:t>
            </a:r>
            <a:endParaRPr lang="en-US" i="1"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The element </a:t>
            </a:r>
            <a:r>
              <a:rPr lang="en-US" i="1" dirty="0" smtClean="0">
                <a:ea typeface="+mn-ea"/>
                <a:cs typeface="+mn-cs"/>
              </a:rPr>
              <a:t>a</a:t>
            </a:r>
            <a:r>
              <a:rPr lang="en-US" dirty="0" smtClean="0">
                <a:ea typeface="+mn-ea"/>
                <a:cs typeface="+mn-cs"/>
              </a:rPr>
              <a:t> is said to </a:t>
            </a:r>
            <a:r>
              <a:rPr lang="en-US" b="1" dirty="0" smtClean="0">
                <a:ea typeface="+mn-ea"/>
                <a:cs typeface="+mn-cs"/>
              </a:rPr>
              <a:t>generate</a:t>
            </a:r>
            <a:r>
              <a:rPr lang="en-US" dirty="0" smtClean="0">
                <a:ea typeface="+mn-ea"/>
                <a:cs typeface="+mn-cs"/>
              </a:rPr>
              <a:t> the group </a:t>
            </a:r>
            <a:r>
              <a:rPr lang="en-US" i="1" dirty="0" smtClean="0">
                <a:ea typeface="+mn-ea"/>
                <a:cs typeface="+mn-cs"/>
              </a:rPr>
              <a:t>G</a:t>
            </a:r>
            <a:r>
              <a:rPr lang="en-US" dirty="0" smtClean="0">
                <a:ea typeface="+mn-ea"/>
                <a:cs typeface="+mn-cs"/>
              </a:rPr>
              <a:t> or to be a </a:t>
            </a:r>
            <a:r>
              <a:rPr lang="en-US" b="1" dirty="0" smtClean="0">
                <a:ea typeface="+mn-ea"/>
                <a:cs typeface="+mn-cs"/>
              </a:rPr>
              <a:t>generator </a:t>
            </a:r>
            <a:r>
              <a:rPr lang="en-US" dirty="0" smtClean="0">
                <a:ea typeface="+mn-ea"/>
                <a:cs typeface="+mn-cs"/>
              </a:rPr>
              <a:t>of G</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A cyclic group is always abelian and may be finite or infinite</a:t>
            </a:r>
            <a:endParaRPr lang="en-AU" dirty="0">
              <a:ea typeface="+mn-ea"/>
              <a:cs typeface="+mn-cs"/>
            </a:endParaRPr>
          </a:p>
        </p:txBody>
      </p:sp>
      <p:sp>
        <p:nvSpPr>
          <p:cNvPr id="4" name="Footer Placeholder 3"/>
          <p:cNvSpPr>
            <a:spLocks noGrp="1"/>
          </p:cNvSpPr>
          <p:nvPr>
            <p:ph type="ftr" sz="quarter" idx="11"/>
          </p:nvPr>
        </p:nvSpPr>
        <p:spPr>
          <a:xfrm>
            <a:off x="0" y="6492875"/>
            <a:ext cx="5029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smtClean="0"/>
              <a:t>Rings</a:t>
            </a:r>
            <a:endParaRPr lang="en-AU" smtClean="0"/>
          </a:p>
        </p:txBody>
      </p:sp>
      <p:sp>
        <p:nvSpPr>
          <p:cNvPr id="6" name="Content Placeholder 5"/>
          <p:cNvSpPr>
            <a:spLocks noGrp="1"/>
          </p:cNvSpPr>
          <p:nvPr>
            <p:ph idx="1"/>
          </p:nvPr>
        </p:nvSpPr>
        <p:spPr>
          <a:xfrm>
            <a:off x="533400" y="1600200"/>
            <a:ext cx="8229600" cy="5105400"/>
          </a:xfrm>
        </p:spPr>
        <p:txBody>
          <a:bodyPr rtlCol="0">
            <a:normAutofit fontScale="55000" lnSpcReduction="20000"/>
          </a:bodyPr>
          <a:lstStyle/>
          <a:p>
            <a:pPr fontAlgn="auto">
              <a:lnSpc>
                <a:spcPct val="140000"/>
              </a:lnSpc>
              <a:spcAft>
                <a:spcPts val="0"/>
              </a:spcAft>
              <a:buClr>
                <a:schemeClr val="accent1">
                  <a:lumMod val="60000"/>
                  <a:lumOff val="40000"/>
                </a:schemeClr>
              </a:buClr>
              <a:buFont typeface="Candara" pitchFamily="34" charset="0"/>
              <a:buChar char="•"/>
              <a:defRPr/>
            </a:pPr>
            <a:r>
              <a:rPr lang="en-US" dirty="0" smtClean="0">
                <a:ea typeface="+mn-ea"/>
                <a:cs typeface="+mn-cs"/>
              </a:rPr>
              <a:t>A </a:t>
            </a:r>
            <a:r>
              <a:rPr lang="en-US" b="1" dirty="0" smtClean="0">
                <a:ea typeface="+mn-ea"/>
                <a:cs typeface="+mn-cs"/>
              </a:rPr>
              <a:t>ring</a:t>
            </a:r>
            <a:r>
              <a:rPr lang="en-US" dirty="0" smtClean="0">
                <a:ea typeface="+mn-ea"/>
                <a:cs typeface="+mn-cs"/>
              </a:rPr>
              <a:t> </a:t>
            </a:r>
            <a:r>
              <a:rPr lang="en-US" i="1" dirty="0" smtClean="0">
                <a:ea typeface="+mn-ea"/>
                <a:cs typeface="+mn-cs"/>
              </a:rPr>
              <a:t>R</a:t>
            </a:r>
            <a:r>
              <a:rPr lang="en-US" dirty="0" smtClean="0">
                <a:ea typeface="+mn-ea"/>
                <a:cs typeface="+mn-cs"/>
              </a:rPr>
              <a:t> , sometimes denoted by {R , + , * }, is a set of elements with two binary operations, called </a:t>
            </a:r>
            <a:r>
              <a:rPr lang="en-US" i="1" dirty="0" smtClean="0">
                <a:ea typeface="+mn-ea"/>
                <a:cs typeface="+mn-cs"/>
              </a:rPr>
              <a:t>addition</a:t>
            </a:r>
            <a:r>
              <a:rPr lang="en-US" dirty="0" smtClean="0">
                <a:ea typeface="+mn-ea"/>
                <a:cs typeface="+mn-cs"/>
              </a:rPr>
              <a:t> and </a:t>
            </a:r>
            <a:r>
              <a:rPr lang="en-US" i="1" dirty="0" smtClean="0">
                <a:ea typeface="+mn-ea"/>
                <a:cs typeface="+mn-cs"/>
              </a:rPr>
              <a:t>multiplication</a:t>
            </a:r>
            <a:r>
              <a:rPr lang="en-US" dirty="0" smtClean="0">
                <a:ea typeface="+mn-ea"/>
                <a:cs typeface="+mn-cs"/>
              </a:rPr>
              <a:t>,  such that for all </a:t>
            </a:r>
            <a:r>
              <a:rPr lang="en-US" i="1" dirty="0" smtClean="0">
                <a:ea typeface="+mn-ea"/>
                <a:cs typeface="+mn-cs"/>
              </a:rPr>
              <a:t>a , b , c  </a:t>
            </a:r>
            <a:r>
              <a:rPr lang="en-US" dirty="0" smtClean="0">
                <a:ea typeface="+mn-ea"/>
                <a:cs typeface="+mn-cs"/>
              </a:rPr>
              <a:t>in </a:t>
            </a:r>
            <a:r>
              <a:rPr lang="en-US" i="1" dirty="0" smtClean="0">
                <a:ea typeface="+mn-ea"/>
                <a:cs typeface="+mn-cs"/>
              </a:rPr>
              <a:t>R</a:t>
            </a:r>
            <a:r>
              <a:rPr lang="en-US" dirty="0" smtClean="0">
                <a:ea typeface="+mn-ea"/>
                <a:cs typeface="+mn-cs"/>
              </a:rPr>
              <a:t>  the following axioms are obeyed: </a:t>
            </a:r>
          </a:p>
          <a:p>
            <a:pPr fontAlgn="auto">
              <a:spcAft>
                <a:spcPts val="0"/>
              </a:spcAft>
              <a:buClr>
                <a:schemeClr val="accent1">
                  <a:lumMod val="60000"/>
                  <a:lumOff val="40000"/>
                </a:schemeClr>
              </a:buClr>
              <a:buFont typeface="Candara" pitchFamily="34" charset="0"/>
              <a:buNone/>
              <a:defRPr/>
            </a:pPr>
            <a:r>
              <a:rPr lang="en-US" dirty="0" smtClean="0">
                <a:ea typeface="+mn-ea"/>
                <a:cs typeface="+mn-cs"/>
              </a:rPr>
              <a:t>	</a:t>
            </a:r>
            <a:r>
              <a:rPr lang="en-US" b="1" dirty="0" smtClean="0">
                <a:ea typeface="+mn-ea"/>
                <a:cs typeface="+mn-cs"/>
              </a:rPr>
              <a:t>(A1–A5) </a:t>
            </a:r>
          </a:p>
          <a:p>
            <a:pPr lvl="1" fontAlgn="auto">
              <a:lnSpc>
                <a:spcPct val="140000"/>
              </a:lnSpc>
              <a:spcBef>
                <a:spcPts val="1200"/>
              </a:spcBef>
              <a:spcAft>
                <a:spcPts val="0"/>
              </a:spcAft>
              <a:buFont typeface="Candara" pitchFamily="34" charset="0"/>
              <a:buNone/>
              <a:defRPr/>
            </a:pPr>
            <a:r>
              <a:rPr lang="en-US" i="1" dirty="0" smtClean="0">
                <a:ea typeface="+mn-ea"/>
              </a:rPr>
              <a:t>	R</a:t>
            </a:r>
            <a:r>
              <a:rPr lang="en-US" dirty="0" smtClean="0">
                <a:ea typeface="+mn-ea"/>
              </a:rPr>
              <a:t>  is an abelian group with respect to addition; that is, </a:t>
            </a:r>
            <a:r>
              <a:rPr lang="en-US" i="1" dirty="0" smtClean="0">
                <a:ea typeface="+mn-ea"/>
              </a:rPr>
              <a:t>R </a:t>
            </a:r>
            <a:r>
              <a:rPr lang="en-US" dirty="0" smtClean="0">
                <a:ea typeface="+mn-ea"/>
              </a:rPr>
              <a:t>satisfies axioms A1 through A5. For the case of an additive group, we denote the identity element as 0 and the inverse of </a:t>
            </a:r>
            <a:r>
              <a:rPr lang="en-US" i="1" dirty="0" smtClean="0">
                <a:ea typeface="+mn-ea"/>
              </a:rPr>
              <a:t>a</a:t>
            </a:r>
            <a:r>
              <a:rPr lang="en-US" dirty="0" smtClean="0">
                <a:ea typeface="+mn-ea"/>
              </a:rPr>
              <a:t>  as </a:t>
            </a:r>
            <a:r>
              <a:rPr lang="en-US" i="1" dirty="0" smtClean="0">
                <a:ea typeface="+mn-ea"/>
              </a:rPr>
              <a:t>–a </a:t>
            </a:r>
          </a:p>
          <a:p>
            <a:pPr lvl="1" fontAlgn="auto">
              <a:spcBef>
                <a:spcPts val="1200"/>
              </a:spcBef>
              <a:spcAft>
                <a:spcPts val="0"/>
              </a:spcAft>
              <a:buFont typeface="Candara" pitchFamily="34" charset="0"/>
              <a:buNone/>
              <a:defRPr/>
            </a:pPr>
            <a:r>
              <a:rPr lang="en-US" sz="2880" b="1" i="1" dirty="0" smtClean="0">
                <a:ea typeface="+mn-ea"/>
              </a:rPr>
              <a:t> (M1) Closure under multiplication:  </a:t>
            </a:r>
          </a:p>
          <a:p>
            <a:pPr lvl="1" fontAlgn="auto">
              <a:spcBef>
                <a:spcPts val="1200"/>
              </a:spcBef>
              <a:spcAft>
                <a:spcPts val="0"/>
              </a:spcAft>
              <a:buFont typeface="Candara" pitchFamily="34" charset="0"/>
              <a:buNone/>
              <a:defRPr/>
            </a:pPr>
            <a:r>
              <a:rPr lang="en-US" sz="2545" dirty="0" smtClean="0">
                <a:ea typeface="+mn-ea"/>
              </a:rPr>
              <a:t>	If</a:t>
            </a:r>
            <a:r>
              <a:rPr lang="en-US" sz="2545" i="1" dirty="0" smtClean="0">
                <a:ea typeface="+mn-ea"/>
              </a:rPr>
              <a:t> a  </a:t>
            </a:r>
            <a:r>
              <a:rPr lang="en-US" sz="2545" dirty="0" smtClean="0">
                <a:ea typeface="+mn-ea"/>
              </a:rPr>
              <a:t>and </a:t>
            </a:r>
            <a:r>
              <a:rPr lang="en-US" sz="2545" i="1" dirty="0" smtClean="0">
                <a:ea typeface="+mn-ea"/>
              </a:rPr>
              <a:t>b  </a:t>
            </a:r>
            <a:r>
              <a:rPr lang="en-US" sz="2545" dirty="0" smtClean="0">
                <a:ea typeface="+mn-ea"/>
              </a:rPr>
              <a:t>belong</a:t>
            </a:r>
            <a:r>
              <a:rPr lang="en-US" sz="2545" i="1" dirty="0" smtClean="0">
                <a:ea typeface="+mn-ea"/>
              </a:rPr>
              <a:t> </a:t>
            </a:r>
            <a:r>
              <a:rPr lang="en-US" sz="2545" dirty="0" smtClean="0">
                <a:ea typeface="+mn-ea"/>
              </a:rPr>
              <a:t>to</a:t>
            </a:r>
            <a:r>
              <a:rPr lang="en-US" sz="2545" i="1" dirty="0" smtClean="0">
                <a:ea typeface="+mn-ea"/>
              </a:rPr>
              <a:t> R , </a:t>
            </a:r>
            <a:r>
              <a:rPr lang="en-US" sz="2545" dirty="0" smtClean="0">
                <a:ea typeface="+mn-ea"/>
              </a:rPr>
              <a:t>then</a:t>
            </a:r>
            <a:r>
              <a:rPr lang="en-US" sz="2545" i="1" dirty="0" smtClean="0">
                <a:ea typeface="+mn-ea"/>
              </a:rPr>
              <a:t> ab  </a:t>
            </a:r>
            <a:r>
              <a:rPr lang="en-US" sz="2545" dirty="0" smtClean="0">
                <a:ea typeface="+mn-ea"/>
              </a:rPr>
              <a:t>is also in </a:t>
            </a:r>
            <a:r>
              <a:rPr lang="en-US" sz="2545" i="1" dirty="0" smtClean="0">
                <a:ea typeface="+mn-ea"/>
              </a:rPr>
              <a:t>R </a:t>
            </a:r>
          </a:p>
          <a:p>
            <a:pPr fontAlgn="auto">
              <a:spcBef>
                <a:spcPts val="1200"/>
              </a:spcBef>
              <a:spcAft>
                <a:spcPts val="0"/>
              </a:spcAft>
              <a:buClr>
                <a:schemeClr val="accent1">
                  <a:lumMod val="60000"/>
                  <a:lumOff val="40000"/>
                </a:schemeClr>
              </a:buClr>
              <a:buFont typeface="Candara" pitchFamily="34" charset="0"/>
              <a:buNone/>
              <a:defRPr/>
            </a:pPr>
            <a:r>
              <a:rPr lang="en-US" dirty="0" smtClean="0">
                <a:ea typeface="+mn-ea"/>
                <a:cs typeface="+mn-cs"/>
              </a:rPr>
              <a:t>	</a:t>
            </a:r>
            <a:r>
              <a:rPr lang="en-US" b="1" dirty="0" smtClean="0">
                <a:ea typeface="+mn-ea"/>
                <a:cs typeface="+mn-cs"/>
              </a:rPr>
              <a:t>(M2) Associativity of multiplication: </a:t>
            </a:r>
          </a:p>
          <a:p>
            <a:pPr fontAlgn="auto">
              <a:spcBef>
                <a:spcPts val="1200"/>
              </a:spcBef>
              <a:spcAft>
                <a:spcPts val="0"/>
              </a:spcAft>
              <a:buClr>
                <a:schemeClr val="accent1">
                  <a:lumMod val="60000"/>
                  <a:lumOff val="40000"/>
                </a:schemeClr>
              </a:buClr>
              <a:buFont typeface="Candara" pitchFamily="34" charset="0"/>
              <a:buNone/>
              <a:defRPr/>
            </a:pPr>
            <a:r>
              <a:rPr lang="en-US" sz="2545" dirty="0" smtClean="0">
                <a:ea typeface="+mn-ea"/>
                <a:cs typeface="+mn-cs"/>
              </a:rPr>
              <a:t>	         </a:t>
            </a:r>
            <a:r>
              <a:rPr lang="en-US" sz="2545" i="1" dirty="0" smtClean="0">
                <a:ea typeface="+mn-ea"/>
                <a:cs typeface="+mn-cs"/>
              </a:rPr>
              <a:t>a (bc ) =  (ab)c  </a:t>
            </a:r>
            <a:r>
              <a:rPr lang="en-US" sz="2545" dirty="0" smtClean="0">
                <a:ea typeface="+mn-ea"/>
                <a:cs typeface="+mn-cs"/>
              </a:rPr>
              <a:t>for all </a:t>
            </a:r>
            <a:r>
              <a:rPr lang="en-US" sz="2545" i="1" dirty="0" smtClean="0">
                <a:ea typeface="+mn-ea"/>
                <a:cs typeface="+mn-cs"/>
              </a:rPr>
              <a:t>a , b , c  in R </a:t>
            </a:r>
          </a:p>
          <a:p>
            <a:pPr fontAlgn="auto">
              <a:spcBef>
                <a:spcPts val="1200"/>
              </a:spcBef>
              <a:spcAft>
                <a:spcPts val="0"/>
              </a:spcAft>
              <a:buClr>
                <a:schemeClr val="accent1">
                  <a:lumMod val="60000"/>
                  <a:lumOff val="40000"/>
                </a:schemeClr>
              </a:buClr>
              <a:buFont typeface="Candara" pitchFamily="34" charset="0"/>
              <a:buNone/>
              <a:defRPr/>
            </a:pPr>
            <a:r>
              <a:rPr lang="en-US" sz="2727" dirty="0" smtClean="0">
                <a:ea typeface="+mn-ea"/>
                <a:cs typeface="+mn-cs"/>
              </a:rPr>
              <a:t>	</a:t>
            </a:r>
            <a:r>
              <a:rPr lang="en-US" sz="2727" b="1" dirty="0" smtClean="0">
                <a:ea typeface="+mn-ea"/>
                <a:cs typeface="+mn-cs"/>
              </a:rPr>
              <a:t>(M3) Distributive laws: </a:t>
            </a:r>
          </a:p>
          <a:p>
            <a:pPr fontAlgn="auto">
              <a:spcBef>
                <a:spcPts val="1200"/>
              </a:spcBef>
              <a:spcAft>
                <a:spcPts val="0"/>
              </a:spcAft>
              <a:buClr>
                <a:schemeClr val="accent1">
                  <a:lumMod val="60000"/>
                  <a:lumOff val="40000"/>
                </a:schemeClr>
              </a:buClr>
              <a:buFont typeface="Candara" pitchFamily="34" charset="0"/>
              <a:buNone/>
              <a:defRPr/>
            </a:pPr>
            <a:r>
              <a:rPr lang="en-US" sz="2727" dirty="0" smtClean="0">
                <a:ea typeface="+mn-ea"/>
                <a:cs typeface="+mn-cs"/>
              </a:rPr>
              <a:t>	       </a:t>
            </a:r>
            <a:r>
              <a:rPr lang="en-US" sz="2727" i="1" dirty="0" smtClean="0">
                <a:ea typeface="+mn-ea"/>
                <a:cs typeface="+mn-cs"/>
              </a:rPr>
              <a:t>a (b + c ) = ab + ac  </a:t>
            </a:r>
            <a:r>
              <a:rPr lang="en-US" sz="2727" dirty="0" smtClean="0">
                <a:ea typeface="+mn-ea"/>
                <a:cs typeface="+mn-cs"/>
              </a:rPr>
              <a:t>for all </a:t>
            </a:r>
            <a:r>
              <a:rPr lang="en-US" sz="2727" i="1" dirty="0" smtClean="0">
                <a:ea typeface="+mn-ea"/>
                <a:cs typeface="+mn-cs"/>
              </a:rPr>
              <a:t>a , b , c  </a:t>
            </a:r>
            <a:r>
              <a:rPr lang="en-US" sz="2727" dirty="0" smtClean="0">
                <a:ea typeface="+mn-ea"/>
                <a:cs typeface="+mn-cs"/>
              </a:rPr>
              <a:t>in </a:t>
            </a:r>
            <a:r>
              <a:rPr lang="en-US" sz="2727" i="1" dirty="0" smtClean="0">
                <a:ea typeface="+mn-ea"/>
                <a:cs typeface="+mn-cs"/>
              </a:rPr>
              <a:t>R</a:t>
            </a:r>
            <a:r>
              <a:rPr lang="en-US" sz="2727" dirty="0" smtClean="0">
                <a:ea typeface="+mn-ea"/>
                <a:cs typeface="+mn-cs"/>
              </a:rPr>
              <a:t> </a:t>
            </a:r>
          </a:p>
          <a:p>
            <a:pPr marL="342900" lvl="1" indent="-342900" fontAlgn="auto">
              <a:spcBef>
                <a:spcPts val="1200"/>
              </a:spcBef>
              <a:spcAft>
                <a:spcPts val="0"/>
              </a:spcAft>
              <a:buClr>
                <a:schemeClr val="accent1">
                  <a:lumMod val="60000"/>
                  <a:lumOff val="40000"/>
                </a:schemeClr>
              </a:buClr>
              <a:buFont typeface="Candara" pitchFamily="34" charset="0"/>
              <a:buNone/>
              <a:defRPr/>
            </a:pPr>
            <a:r>
              <a:rPr lang="en-US" sz="2545" dirty="0" smtClean="0">
                <a:ea typeface="+mn-ea"/>
              </a:rPr>
              <a:t>	       </a:t>
            </a:r>
            <a:r>
              <a:rPr lang="en-US" sz="2545" i="1" dirty="0" smtClean="0">
                <a:ea typeface="+mn-ea"/>
              </a:rPr>
              <a:t> (a + b )c = ac + bc  </a:t>
            </a:r>
            <a:r>
              <a:rPr lang="en-US" sz="2545" dirty="0" smtClean="0">
                <a:ea typeface="+mn-ea"/>
              </a:rPr>
              <a:t>for all </a:t>
            </a:r>
            <a:r>
              <a:rPr lang="en-US" sz="2545" i="1" dirty="0" smtClean="0">
                <a:ea typeface="+mn-ea"/>
              </a:rPr>
              <a:t>a , b , c  </a:t>
            </a:r>
            <a:r>
              <a:rPr lang="en-US" sz="2545" dirty="0" smtClean="0">
                <a:ea typeface="+mn-ea"/>
              </a:rPr>
              <a:t>in </a:t>
            </a:r>
            <a:r>
              <a:rPr lang="en-US" sz="2545" i="1" dirty="0" smtClean="0">
                <a:ea typeface="+mn-ea"/>
              </a:rPr>
              <a:t>R</a:t>
            </a:r>
            <a:r>
              <a:rPr lang="en-US" sz="2727" i="1" dirty="0" smtClean="0">
                <a:ea typeface="+mn-ea"/>
              </a:rPr>
              <a:t> </a:t>
            </a:r>
          </a:p>
          <a:p>
            <a:pPr fontAlgn="auto">
              <a:lnSpc>
                <a:spcPct val="150000"/>
              </a:lnSpc>
              <a:spcBef>
                <a:spcPts val="1200"/>
              </a:spcBef>
              <a:spcAft>
                <a:spcPts val="0"/>
              </a:spcAft>
              <a:buClr>
                <a:schemeClr val="accent1">
                  <a:lumMod val="60000"/>
                  <a:lumOff val="40000"/>
                </a:schemeClr>
              </a:buClr>
              <a:buFont typeface="Candara" pitchFamily="34" charset="0"/>
              <a:buChar char="•"/>
              <a:defRPr/>
            </a:pPr>
            <a:r>
              <a:rPr lang="en-US" dirty="0" smtClean="0">
                <a:ea typeface="+mn-ea"/>
                <a:cs typeface="+mn-cs"/>
              </a:rPr>
              <a:t>In essence, a ring is a set in which we can do addition, subtraction </a:t>
            </a:r>
            <a:r>
              <a:rPr lang="en-US" i="1" dirty="0" smtClean="0">
                <a:ea typeface="+mn-ea"/>
                <a:cs typeface="+mn-cs"/>
              </a:rPr>
              <a:t>[a - b = a +  (-b )]</a:t>
            </a:r>
            <a:r>
              <a:rPr lang="en-US" dirty="0" smtClean="0">
                <a:ea typeface="+mn-ea"/>
                <a:cs typeface="+mn-cs"/>
              </a:rPr>
              <a:t>, and multiplication without leaving the set</a:t>
            </a:r>
            <a:endParaRPr lang="en-US" dirty="0">
              <a:ea typeface="+mn-ea"/>
              <a:cs typeface="+mn-cs"/>
            </a:endParaRPr>
          </a:p>
        </p:txBody>
      </p:sp>
      <p:sp>
        <p:nvSpPr>
          <p:cNvPr id="4" name="Footer Placeholder 3"/>
          <p:cNvSpPr>
            <a:spLocks noGrp="1"/>
          </p:cNvSpPr>
          <p:nvPr>
            <p:ph type="ftr" sz="quarter" idx="11"/>
          </p:nvPr>
        </p:nvSpPr>
        <p:spPr>
          <a:xfrm>
            <a:off x="0" y="6492875"/>
            <a:ext cx="4953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smtClean="0"/>
              <a:t>Rings (cont.)</a:t>
            </a:r>
          </a:p>
        </p:txBody>
      </p:sp>
      <p:sp>
        <p:nvSpPr>
          <p:cNvPr id="3" name="Content Placeholder 2"/>
          <p:cNvSpPr>
            <a:spLocks noGrp="1"/>
          </p:cNvSpPr>
          <p:nvPr>
            <p:ph idx="1"/>
          </p:nvPr>
        </p:nvSpPr>
        <p:spPr>
          <a:xfrm>
            <a:off x="457200" y="1676400"/>
            <a:ext cx="8153400" cy="4867275"/>
          </a:xfrm>
        </p:spPr>
        <p:txBody>
          <a:bodyPr rtlCol="0">
            <a:normAutofit fontScale="92500" lnSpcReduction="1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 A ring is said to be commutative if it satisfies the following additional condition:</a:t>
            </a:r>
          </a:p>
          <a:p>
            <a:pPr fontAlgn="auto">
              <a:spcBef>
                <a:spcPts val="800"/>
              </a:spcBef>
              <a:spcAft>
                <a:spcPts val="0"/>
              </a:spcAft>
              <a:buClr>
                <a:schemeClr val="accent1">
                  <a:lumMod val="60000"/>
                  <a:lumOff val="40000"/>
                </a:schemeClr>
              </a:buClr>
              <a:buFont typeface="Candara" pitchFamily="34" charset="0"/>
              <a:buNone/>
              <a:defRPr/>
            </a:pPr>
            <a:r>
              <a:rPr lang="en-US" dirty="0" smtClean="0">
                <a:ea typeface="+mn-ea"/>
                <a:cs typeface="+mn-cs"/>
              </a:rPr>
              <a:t>		</a:t>
            </a:r>
            <a:r>
              <a:rPr lang="en-US" sz="2595" b="1" dirty="0" smtClean="0">
                <a:ea typeface="+mn-ea"/>
                <a:cs typeface="+mn-cs"/>
              </a:rPr>
              <a:t>(M4) Commutativity of multiplication: </a:t>
            </a:r>
          </a:p>
          <a:p>
            <a:pPr fontAlgn="auto">
              <a:spcBef>
                <a:spcPts val="800"/>
              </a:spcBef>
              <a:spcAft>
                <a:spcPts val="0"/>
              </a:spcAft>
              <a:buClr>
                <a:schemeClr val="accent1">
                  <a:lumMod val="60000"/>
                  <a:lumOff val="40000"/>
                </a:schemeClr>
              </a:buClr>
              <a:buFont typeface="Candara" pitchFamily="34" charset="0"/>
              <a:buNone/>
              <a:defRPr/>
            </a:pPr>
            <a:r>
              <a:rPr lang="en-US" sz="2595" dirty="0" smtClean="0">
                <a:ea typeface="+mn-ea"/>
                <a:cs typeface="+mn-cs"/>
              </a:rPr>
              <a:t>		          </a:t>
            </a:r>
            <a:r>
              <a:rPr lang="en-US" sz="2595" i="1" dirty="0" smtClean="0">
                <a:ea typeface="+mn-ea"/>
                <a:cs typeface="+mn-cs"/>
              </a:rPr>
              <a:t>ab = ba </a:t>
            </a:r>
            <a:r>
              <a:rPr lang="en-US" sz="2595" dirty="0" smtClean="0">
                <a:ea typeface="+mn-ea"/>
                <a:cs typeface="+mn-cs"/>
              </a:rPr>
              <a:t>for all </a:t>
            </a:r>
            <a:r>
              <a:rPr lang="en-US" sz="2595" i="1" dirty="0" smtClean="0">
                <a:ea typeface="+mn-ea"/>
                <a:cs typeface="+mn-cs"/>
              </a:rPr>
              <a:t>a, b </a:t>
            </a:r>
            <a:r>
              <a:rPr lang="en-US" sz="2595" dirty="0" smtClean="0">
                <a:ea typeface="+mn-ea"/>
                <a:cs typeface="+mn-cs"/>
              </a:rPr>
              <a:t>in </a:t>
            </a:r>
            <a:r>
              <a:rPr lang="en-US" sz="2595" i="1" dirty="0" smtClean="0">
                <a:ea typeface="+mn-ea"/>
                <a:cs typeface="+mn-cs"/>
              </a:rPr>
              <a:t>R</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 An </a:t>
            </a:r>
            <a:r>
              <a:rPr lang="en-US" i="1" dirty="0" smtClean="0">
                <a:ea typeface="+mn-ea"/>
                <a:cs typeface="+mn-cs"/>
              </a:rPr>
              <a:t>integral domain </a:t>
            </a:r>
            <a:r>
              <a:rPr lang="en-US" dirty="0" smtClean="0">
                <a:ea typeface="+mn-ea"/>
                <a:cs typeface="+mn-cs"/>
              </a:rPr>
              <a:t>is a commutative ring that obeys the following axioms.</a:t>
            </a:r>
          </a:p>
          <a:p>
            <a:pPr fontAlgn="auto">
              <a:spcBef>
                <a:spcPts val="800"/>
              </a:spcBef>
              <a:spcAft>
                <a:spcPts val="0"/>
              </a:spcAft>
              <a:buClr>
                <a:schemeClr val="accent1">
                  <a:lumMod val="60000"/>
                  <a:lumOff val="40000"/>
                </a:schemeClr>
              </a:buClr>
              <a:buFont typeface="Candara" pitchFamily="34" charset="0"/>
              <a:buNone/>
              <a:defRPr/>
            </a:pPr>
            <a:r>
              <a:rPr lang="en-US" sz="2595" dirty="0" smtClean="0">
                <a:ea typeface="+mn-ea"/>
                <a:cs typeface="+mn-cs"/>
              </a:rPr>
              <a:t>		</a:t>
            </a:r>
            <a:r>
              <a:rPr lang="en-US" sz="2595" b="1" dirty="0" smtClean="0">
                <a:ea typeface="+mn-ea"/>
                <a:cs typeface="+mn-cs"/>
              </a:rPr>
              <a:t>(M5) Multiplicative identity:  </a:t>
            </a:r>
          </a:p>
          <a:p>
            <a:pPr fontAlgn="auto">
              <a:spcBef>
                <a:spcPts val="800"/>
              </a:spcBef>
              <a:spcAft>
                <a:spcPts val="0"/>
              </a:spcAft>
              <a:buClr>
                <a:schemeClr val="accent1">
                  <a:lumMod val="60000"/>
                  <a:lumOff val="40000"/>
                </a:schemeClr>
              </a:buClr>
              <a:buFont typeface="Candara" pitchFamily="34" charset="0"/>
              <a:buNone/>
              <a:defRPr/>
            </a:pPr>
            <a:r>
              <a:rPr lang="en-US" sz="2595" dirty="0" smtClean="0">
                <a:ea typeface="+mn-ea"/>
                <a:cs typeface="+mn-cs"/>
              </a:rPr>
              <a:t>		        There is an element 1 in </a:t>
            </a:r>
            <a:r>
              <a:rPr lang="en-US" sz="2595" i="1" dirty="0" smtClean="0">
                <a:ea typeface="+mn-ea"/>
                <a:cs typeface="+mn-cs"/>
              </a:rPr>
              <a:t>R</a:t>
            </a:r>
            <a:r>
              <a:rPr lang="en-US" sz="2595" dirty="0" smtClean="0">
                <a:ea typeface="+mn-ea"/>
                <a:cs typeface="+mn-cs"/>
              </a:rPr>
              <a:t>  such that </a:t>
            </a:r>
            <a:r>
              <a:rPr lang="en-US" sz="2595" i="1" dirty="0" smtClean="0">
                <a:ea typeface="+mn-ea"/>
                <a:cs typeface="+mn-cs"/>
              </a:rPr>
              <a:t>a1 </a:t>
            </a:r>
            <a:r>
              <a:rPr lang="en-US" sz="2595" i="1" dirty="0" smtClean="0">
                <a:ea typeface="+mn-ea"/>
                <a:cs typeface="+mn-cs"/>
              </a:rPr>
              <a:t>=  1a = a           	         </a:t>
            </a:r>
            <a:r>
              <a:rPr lang="en-US" sz="2595" dirty="0" smtClean="0">
                <a:ea typeface="+mn-ea"/>
                <a:cs typeface="+mn-cs"/>
              </a:rPr>
              <a:t>for all </a:t>
            </a:r>
            <a:r>
              <a:rPr lang="en-US" sz="2595" i="1" dirty="0" smtClean="0">
                <a:ea typeface="+mn-ea"/>
                <a:cs typeface="+mn-cs"/>
              </a:rPr>
              <a:t>a</a:t>
            </a:r>
            <a:r>
              <a:rPr lang="en-US" sz="2595" dirty="0" smtClean="0">
                <a:ea typeface="+mn-ea"/>
                <a:cs typeface="+mn-cs"/>
              </a:rPr>
              <a:t> </a:t>
            </a:r>
            <a:r>
              <a:rPr lang="en-US" sz="2595" dirty="0" smtClean="0">
                <a:ea typeface="+mn-ea"/>
                <a:cs typeface="+mn-cs"/>
              </a:rPr>
              <a:t>in </a:t>
            </a:r>
            <a:r>
              <a:rPr lang="en-US" sz="2595" i="1" dirty="0" smtClean="0">
                <a:ea typeface="+mn-ea"/>
                <a:cs typeface="+mn-cs"/>
              </a:rPr>
              <a:t>R </a:t>
            </a:r>
          </a:p>
          <a:p>
            <a:pPr fontAlgn="auto">
              <a:spcBef>
                <a:spcPts val="800"/>
              </a:spcBef>
              <a:spcAft>
                <a:spcPts val="0"/>
              </a:spcAft>
              <a:buClr>
                <a:schemeClr val="accent1">
                  <a:lumMod val="60000"/>
                  <a:lumOff val="40000"/>
                </a:schemeClr>
              </a:buClr>
              <a:buFont typeface="Candara" pitchFamily="34" charset="0"/>
              <a:buNone/>
              <a:defRPr/>
            </a:pPr>
            <a:r>
              <a:rPr lang="en-US" sz="2595" dirty="0" smtClean="0">
                <a:ea typeface="+mn-ea"/>
                <a:cs typeface="+mn-cs"/>
              </a:rPr>
              <a:t>		</a:t>
            </a:r>
            <a:r>
              <a:rPr lang="en-US" sz="2595" b="1" dirty="0" smtClean="0">
                <a:ea typeface="+mn-ea"/>
                <a:cs typeface="+mn-cs"/>
              </a:rPr>
              <a:t>(M6) No zero divisors:  </a:t>
            </a:r>
          </a:p>
          <a:p>
            <a:pPr fontAlgn="auto">
              <a:spcBef>
                <a:spcPts val="800"/>
              </a:spcBef>
              <a:spcAft>
                <a:spcPts val="0"/>
              </a:spcAft>
              <a:buClr>
                <a:schemeClr val="accent1">
                  <a:lumMod val="60000"/>
                  <a:lumOff val="40000"/>
                </a:schemeClr>
              </a:buClr>
              <a:buFont typeface="Candara" pitchFamily="34" charset="0"/>
              <a:buNone/>
              <a:defRPr/>
            </a:pPr>
            <a:r>
              <a:rPr lang="en-US" sz="2595" dirty="0" smtClean="0">
                <a:ea typeface="+mn-ea"/>
                <a:cs typeface="+mn-cs"/>
              </a:rPr>
              <a:t>		         If </a:t>
            </a:r>
            <a:r>
              <a:rPr lang="en-US" sz="2595" i="1" dirty="0" smtClean="0">
                <a:ea typeface="+mn-ea"/>
                <a:cs typeface="+mn-cs"/>
              </a:rPr>
              <a:t>a , b  </a:t>
            </a:r>
            <a:r>
              <a:rPr lang="en-US" sz="2595" dirty="0" smtClean="0">
                <a:ea typeface="+mn-ea"/>
                <a:cs typeface="+mn-cs"/>
              </a:rPr>
              <a:t>in </a:t>
            </a:r>
            <a:r>
              <a:rPr lang="en-US" sz="2595" i="1" dirty="0" smtClean="0">
                <a:ea typeface="+mn-ea"/>
                <a:cs typeface="+mn-cs"/>
              </a:rPr>
              <a:t>R</a:t>
            </a:r>
            <a:r>
              <a:rPr lang="en-US" sz="2595" dirty="0" smtClean="0">
                <a:ea typeface="+mn-ea"/>
                <a:cs typeface="+mn-cs"/>
              </a:rPr>
              <a:t>  and </a:t>
            </a:r>
            <a:r>
              <a:rPr lang="en-US" sz="2595" i="1" dirty="0" smtClean="0">
                <a:ea typeface="+mn-ea"/>
                <a:cs typeface="+mn-cs"/>
              </a:rPr>
              <a:t>ab =  0, </a:t>
            </a:r>
            <a:r>
              <a:rPr lang="en-US" sz="2595" dirty="0" smtClean="0">
                <a:ea typeface="+mn-ea"/>
                <a:cs typeface="+mn-cs"/>
              </a:rPr>
              <a:t>then either </a:t>
            </a:r>
            <a:r>
              <a:rPr lang="en-US" sz="2595" i="1" dirty="0" smtClean="0">
                <a:ea typeface="+mn-ea"/>
                <a:cs typeface="+mn-cs"/>
              </a:rPr>
              <a:t>a = 0 </a:t>
            </a:r>
            <a:r>
              <a:rPr lang="en-US" sz="2595" dirty="0" smtClean="0">
                <a:ea typeface="+mn-ea"/>
                <a:cs typeface="+mn-cs"/>
              </a:rPr>
              <a:t> or </a:t>
            </a:r>
            <a:r>
              <a:rPr lang="en-US" sz="2595" i="1" dirty="0" smtClean="0">
                <a:ea typeface="+mn-ea"/>
                <a:cs typeface="+mn-cs"/>
              </a:rPr>
              <a:t>b =  0</a:t>
            </a:r>
            <a:endParaRPr lang="en-US" sz="2595" i="1" dirty="0">
              <a:ea typeface="+mn-ea"/>
              <a:cs typeface="+mn-cs"/>
            </a:endParaRPr>
          </a:p>
        </p:txBody>
      </p:sp>
      <p:sp>
        <p:nvSpPr>
          <p:cNvPr id="4" name="Footer Placeholder 3"/>
          <p:cNvSpPr>
            <a:spLocks noGrp="1"/>
          </p:cNvSpPr>
          <p:nvPr>
            <p:ph type="ftr" sz="quarter" idx="11"/>
          </p:nvPr>
        </p:nvSpPr>
        <p:spPr>
          <a:xfrm>
            <a:off x="0" y="6492875"/>
            <a:ext cx="4800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smtClean="0"/>
              <a:t>Fields</a:t>
            </a:r>
            <a:endParaRPr lang="en-AU" smtClean="0"/>
          </a:p>
        </p:txBody>
      </p:sp>
      <p:sp>
        <p:nvSpPr>
          <p:cNvPr id="5" name="Content Placeholder 4"/>
          <p:cNvSpPr>
            <a:spLocks noGrp="1"/>
          </p:cNvSpPr>
          <p:nvPr>
            <p:ph idx="1"/>
          </p:nvPr>
        </p:nvSpPr>
        <p:spPr>
          <a:xfrm>
            <a:off x="457200" y="1600200"/>
            <a:ext cx="8305800" cy="4724400"/>
          </a:xfrm>
        </p:spPr>
        <p:txBody>
          <a:bodyPr rtlCol="0">
            <a:normAutofit fontScale="55000" lnSpcReduction="20000"/>
          </a:bodyPr>
          <a:lstStyle/>
          <a:p>
            <a:pPr fontAlgn="auto">
              <a:lnSpc>
                <a:spcPct val="120000"/>
              </a:lnSpc>
              <a:spcAft>
                <a:spcPts val="0"/>
              </a:spcAft>
              <a:buClr>
                <a:schemeClr val="accent1">
                  <a:lumMod val="60000"/>
                  <a:lumOff val="40000"/>
                </a:schemeClr>
              </a:buClr>
              <a:buFont typeface="Candara" pitchFamily="34" charset="0"/>
              <a:buChar char="•"/>
              <a:defRPr/>
            </a:pPr>
            <a:r>
              <a:rPr lang="en-US" sz="3636" dirty="0" smtClean="0">
                <a:solidFill>
                  <a:schemeClr val="tx1"/>
                </a:solidFill>
                <a:ea typeface="ＭＳ Ｐゴシック" pitchFamily="-107" charset="-128"/>
                <a:cs typeface="ＭＳ Ｐゴシック" pitchFamily="-107" charset="-128"/>
              </a:rPr>
              <a:t>A </a:t>
            </a:r>
            <a:r>
              <a:rPr lang="en-US" sz="3636" b="1" dirty="0" smtClean="0">
                <a:solidFill>
                  <a:schemeClr val="tx1"/>
                </a:solidFill>
                <a:ea typeface="ＭＳ Ｐゴシック" pitchFamily="-107" charset="-128"/>
                <a:cs typeface="ＭＳ Ｐゴシック" pitchFamily="-107" charset="-128"/>
              </a:rPr>
              <a:t>field</a:t>
            </a:r>
            <a:r>
              <a:rPr lang="en-US" sz="3636" dirty="0" smtClean="0">
                <a:solidFill>
                  <a:schemeClr val="tx1"/>
                </a:solidFill>
                <a:ea typeface="ＭＳ Ｐゴシック" pitchFamily="-107" charset="-128"/>
                <a:cs typeface="ＭＳ Ｐゴシック" pitchFamily="-107" charset="-128"/>
              </a:rPr>
              <a:t> </a:t>
            </a:r>
            <a:r>
              <a:rPr lang="en-US" sz="3636" i="1" dirty="0" smtClean="0">
                <a:solidFill>
                  <a:schemeClr val="tx1"/>
                </a:solidFill>
                <a:ea typeface="ＭＳ Ｐゴシック" pitchFamily="-107" charset="-128"/>
                <a:cs typeface="ＭＳ Ｐゴシック" pitchFamily="-107" charset="-128"/>
              </a:rPr>
              <a:t>F</a:t>
            </a:r>
            <a:r>
              <a:rPr lang="en-US" sz="3636" dirty="0" smtClean="0">
                <a:solidFill>
                  <a:schemeClr val="tx1"/>
                </a:solidFill>
                <a:ea typeface="ＭＳ Ｐゴシック" pitchFamily="-107" charset="-128"/>
                <a:cs typeface="ＭＳ Ｐゴシック" pitchFamily="-107" charset="-128"/>
              </a:rPr>
              <a:t> , sometimes denoted by {F, +,* }, is a set of elements with two binary operations, called </a:t>
            </a:r>
            <a:r>
              <a:rPr lang="en-US" sz="3636" i="1" dirty="0" smtClean="0">
                <a:solidFill>
                  <a:schemeClr val="tx1"/>
                </a:solidFill>
                <a:ea typeface="ＭＳ Ｐゴシック" pitchFamily="-107" charset="-128"/>
                <a:cs typeface="ＭＳ Ｐゴシック" pitchFamily="-107" charset="-128"/>
              </a:rPr>
              <a:t>addition</a:t>
            </a:r>
            <a:r>
              <a:rPr lang="en-US" sz="3636" dirty="0" smtClean="0">
                <a:solidFill>
                  <a:schemeClr val="tx1"/>
                </a:solidFill>
                <a:ea typeface="ＭＳ Ｐゴシック" pitchFamily="-107" charset="-128"/>
                <a:cs typeface="ＭＳ Ｐゴシック" pitchFamily="-107" charset="-128"/>
              </a:rPr>
              <a:t> and </a:t>
            </a:r>
            <a:r>
              <a:rPr lang="en-US" sz="3636" i="1" dirty="0" smtClean="0">
                <a:solidFill>
                  <a:schemeClr val="tx1"/>
                </a:solidFill>
                <a:ea typeface="ＭＳ Ｐゴシック" pitchFamily="-107" charset="-128"/>
                <a:cs typeface="ＭＳ Ｐゴシック" pitchFamily="-107" charset="-128"/>
              </a:rPr>
              <a:t>multiplication</a:t>
            </a:r>
            <a:r>
              <a:rPr lang="en-US" sz="3636" dirty="0" smtClean="0">
                <a:solidFill>
                  <a:schemeClr val="tx1"/>
                </a:solidFill>
                <a:ea typeface="ＭＳ Ｐゴシック" pitchFamily="-107" charset="-128"/>
                <a:cs typeface="ＭＳ Ｐゴシック" pitchFamily="-107" charset="-128"/>
              </a:rPr>
              <a:t>, such that for all </a:t>
            </a:r>
            <a:r>
              <a:rPr lang="en-US" sz="3636" i="1" dirty="0" smtClean="0">
                <a:solidFill>
                  <a:schemeClr val="tx1"/>
                </a:solidFill>
                <a:ea typeface="ＭＳ Ｐゴシック" pitchFamily="-107" charset="-128"/>
                <a:cs typeface="ＭＳ Ｐゴシック" pitchFamily="-107" charset="-128"/>
              </a:rPr>
              <a:t>a, b, c </a:t>
            </a:r>
            <a:r>
              <a:rPr lang="en-US" sz="3636" dirty="0" smtClean="0">
                <a:solidFill>
                  <a:schemeClr val="tx1"/>
                </a:solidFill>
                <a:ea typeface="ＭＳ Ｐゴシック" pitchFamily="-107" charset="-128"/>
                <a:cs typeface="ＭＳ Ｐゴシック" pitchFamily="-107" charset="-128"/>
              </a:rPr>
              <a:t>in </a:t>
            </a:r>
            <a:r>
              <a:rPr lang="en-US" sz="3636" i="1" dirty="0" smtClean="0">
                <a:solidFill>
                  <a:schemeClr val="tx1"/>
                </a:solidFill>
                <a:ea typeface="ＭＳ Ｐゴシック" pitchFamily="-107" charset="-128"/>
                <a:cs typeface="ＭＳ Ｐゴシック" pitchFamily="-107" charset="-128"/>
              </a:rPr>
              <a:t>F</a:t>
            </a:r>
            <a:r>
              <a:rPr lang="en-US" sz="3636" dirty="0" smtClean="0">
                <a:solidFill>
                  <a:schemeClr val="tx1"/>
                </a:solidFill>
                <a:ea typeface="ＭＳ Ｐゴシック" pitchFamily="-107" charset="-128"/>
                <a:cs typeface="ＭＳ Ｐゴシック" pitchFamily="-107" charset="-128"/>
              </a:rPr>
              <a:t> the following axioms are obeyed:</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r>
              <a:rPr lang="en-US" sz="3000" b="1" dirty="0" smtClean="0">
                <a:solidFill>
                  <a:schemeClr val="tx1"/>
                </a:solidFill>
                <a:ea typeface="ＭＳ Ｐゴシック" pitchFamily="-107" charset="-128"/>
                <a:cs typeface="ＭＳ Ｐゴシック" pitchFamily="-107" charset="-128"/>
              </a:rPr>
              <a:t>(A1–M6)</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is an integral domain; that is,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satisfies axioms A1 through A5 and M1                        </a:t>
            </a:r>
          </a:p>
          <a:p>
            <a:pPr fontAlgn="auto">
              <a:lnSpc>
                <a:spcPct val="120000"/>
              </a:lnSpc>
              <a:spcBef>
                <a:spcPts val="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through M6</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r>
              <a:rPr lang="en-US" sz="3000" b="1" dirty="0" smtClean="0">
                <a:solidFill>
                  <a:schemeClr val="tx1"/>
                </a:solidFill>
                <a:ea typeface="ＭＳ Ｐゴシック" pitchFamily="-107" charset="-128"/>
                <a:cs typeface="ＭＳ Ｐゴシック" pitchFamily="-107" charset="-128"/>
              </a:rPr>
              <a:t>(M7) Multiplicative inverse:  </a:t>
            </a: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For each </a:t>
            </a:r>
            <a:r>
              <a:rPr lang="en-US" sz="3000" i="1" dirty="0" smtClean="0">
                <a:solidFill>
                  <a:schemeClr val="tx1"/>
                </a:solidFill>
                <a:ea typeface="ＭＳ Ｐゴシック" pitchFamily="-107" charset="-128"/>
                <a:cs typeface="ＭＳ Ｐゴシック" pitchFamily="-107" charset="-128"/>
              </a:rPr>
              <a:t>a</a:t>
            </a:r>
            <a:r>
              <a:rPr lang="en-US" sz="3000" dirty="0" smtClean="0">
                <a:solidFill>
                  <a:schemeClr val="tx1"/>
                </a:solidFill>
                <a:ea typeface="ＭＳ Ｐゴシック" pitchFamily="-107" charset="-128"/>
                <a:cs typeface="ＭＳ Ｐゴシック" pitchFamily="-107" charset="-128"/>
              </a:rPr>
              <a:t> in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except 0, there is an element </a:t>
            </a:r>
            <a:r>
              <a:rPr lang="en-US" sz="3000" i="1" dirty="0" smtClean="0">
                <a:solidFill>
                  <a:schemeClr val="tx1"/>
                </a:solidFill>
                <a:ea typeface="ＭＳ Ｐゴシック" pitchFamily="-107" charset="-128"/>
                <a:cs typeface="ＭＳ Ｐゴシック" pitchFamily="-107" charset="-128"/>
              </a:rPr>
              <a:t>a</a:t>
            </a:r>
            <a:r>
              <a:rPr lang="en-US" sz="3000" baseline="30000" dirty="0" smtClean="0">
                <a:solidFill>
                  <a:schemeClr val="tx1"/>
                </a:solidFill>
                <a:ea typeface="ＭＳ Ｐゴシック" pitchFamily="-107" charset="-128"/>
                <a:cs typeface="ＭＳ Ｐゴシック" pitchFamily="-107" charset="-128"/>
              </a:rPr>
              <a:t>-1</a:t>
            </a:r>
            <a:r>
              <a:rPr lang="en-US" sz="3000" dirty="0" smtClean="0">
                <a:solidFill>
                  <a:schemeClr val="tx1"/>
                </a:solidFill>
                <a:ea typeface="ＭＳ Ｐゴシック" pitchFamily="-107" charset="-128"/>
                <a:cs typeface="ＭＳ Ｐゴシック" pitchFamily="-107" charset="-128"/>
              </a:rPr>
              <a:t>  in </a:t>
            </a:r>
            <a:r>
              <a:rPr lang="en-US" sz="3000" i="1" dirty="0" smtClean="0">
                <a:solidFill>
                  <a:schemeClr val="tx1"/>
                </a:solidFill>
                <a:ea typeface="ＭＳ Ｐゴシック" pitchFamily="-107" charset="-128"/>
                <a:cs typeface="ＭＳ Ｐゴシック" pitchFamily="-107" charset="-128"/>
              </a:rPr>
              <a:t>F</a:t>
            </a:r>
            <a:r>
              <a:rPr lang="en-US" sz="3000" dirty="0" smtClean="0">
                <a:solidFill>
                  <a:schemeClr val="tx1"/>
                </a:solidFill>
                <a:ea typeface="ＭＳ Ｐゴシック" pitchFamily="-107" charset="-128"/>
                <a:cs typeface="ＭＳ Ｐゴシック" pitchFamily="-107" charset="-128"/>
              </a:rPr>
              <a:t> such that </a:t>
            </a:r>
            <a:r>
              <a:rPr lang="en-US" sz="3000" i="1" dirty="0" smtClean="0">
                <a:solidFill>
                  <a:schemeClr val="tx1"/>
                </a:solidFill>
                <a:ea typeface="ＭＳ Ｐゴシック" pitchFamily="-107" charset="-128"/>
                <a:cs typeface="ＭＳ Ｐゴシック" pitchFamily="-107" charset="-128"/>
              </a:rPr>
              <a:t>aa</a:t>
            </a:r>
            <a:r>
              <a:rPr lang="en-US" sz="3000" baseline="30000" dirty="0" smtClean="0">
                <a:solidFill>
                  <a:schemeClr val="tx1"/>
                </a:solidFill>
                <a:ea typeface="ＭＳ Ｐゴシック" pitchFamily="-107" charset="-128"/>
                <a:cs typeface="ＭＳ Ｐゴシック" pitchFamily="-107" charset="-128"/>
              </a:rPr>
              <a:t>-1</a:t>
            </a:r>
            <a:r>
              <a:rPr lang="en-US" sz="3000" dirty="0" smtClean="0">
                <a:solidFill>
                  <a:schemeClr val="tx1"/>
                </a:solidFill>
                <a:ea typeface="ＭＳ Ｐゴシック" pitchFamily="-107" charset="-128"/>
                <a:cs typeface="ＭＳ Ｐゴシック" pitchFamily="-107" charset="-128"/>
              </a:rPr>
              <a:t> =  (</a:t>
            </a:r>
            <a:r>
              <a:rPr lang="en-US" sz="3000" i="1" dirty="0" smtClean="0">
                <a:solidFill>
                  <a:schemeClr val="tx1"/>
                </a:solidFill>
                <a:ea typeface="ＭＳ Ｐゴシック" pitchFamily="-107" charset="-128"/>
                <a:cs typeface="ＭＳ Ｐゴシック" pitchFamily="-107" charset="-128"/>
              </a:rPr>
              <a:t>a</a:t>
            </a:r>
            <a:r>
              <a:rPr lang="en-US" sz="3000" baseline="30000" dirty="0" smtClean="0">
                <a:solidFill>
                  <a:schemeClr val="tx1"/>
                </a:solidFill>
                <a:ea typeface="ＭＳ Ｐゴシック" pitchFamily="-107" charset="-128"/>
                <a:cs typeface="ＭＳ Ｐゴシック" pitchFamily="-107" charset="-128"/>
              </a:rPr>
              <a:t>-1</a:t>
            </a:r>
            <a:r>
              <a:rPr lang="en-US" sz="3000" dirty="0" smtClean="0">
                <a:solidFill>
                  <a:schemeClr val="tx1"/>
                </a:solidFill>
                <a:ea typeface="ＭＳ Ｐゴシック" pitchFamily="-107" charset="-128"/>
                <a:cs typeface="ＭＳ Ｐゴシック" pitchFamily="-107" charset="-128"/>
              </a:rPr>
              <a:t> )</a:t>
            </a:r>
            <a:r>
              <a:rPr lang="en-US" sz="3000" i="1" dirty="0" smtClean="0">
                <a:solidFill>
                  <a:schemeClr val="tx1"/>
                </a:solidFill>
                <a:ea typeface="ＭＳ Ｐゴシック" pitchFamily="-107" charset="-128"/>
                <a:cs typeface="ＭＳ Ｐゴシック" pitchFamily="-107" charset="-128"/>
              </a:rPr>
              <a:t>a</a:t>
            </a:r>
            <a:r>
              <a:rPr lang="en-US" sz="3000" dirty="0" smtClean="0">
                <a:solidFill>
                  <a:schemeClr val="tx1"/>
                </a:solidFill>
                <a:ea typeface="ＭＳ Ｐゴシック" pitchFamily="-107" charset="-128"/>
                <a:cs typeface="ＭＳ Ｐゴシック" pitchFamily="-107" charset="-128"/>
              </a:rPr>
              <a:t> =  1</a:t>
            </a:r>
          </a:p>
          <a:p>
            <a:pPr fontAlgn="auto">
              <a:lnSpc>
                <a:spcPct val="120000"/>
              </a:lnSpc>
              <a:spcBef>
                <a:spcPts val="1200"/>
              </a:spcBef>
              <a:spcAft>
                <a:spcPts val="0"/>
              </a:spcAft>
              <a:buClr>
                <a:schemeClr val="accent1">
                  <a:lumMod val="60000"/>
                  <a:lumOff val="40000"/>
                </a:schemeClr>
              </a:buClr>
              <a:buFont typeface="Candara" pitchFamily="34" charset="0"/>
              <a:buChar char="•"/>
              <a:defRPr/>
            </a:pPr>
            <a:r>
              <a:rPr lang="en-US" sz="3636" dirty="0" smtClean="0">
                <a:solidFill>
                  <a:schemeClr val="tx1"/>
                </a:solidFill>
                <a:ea typeface="ＭＳ Ｐゴシック" pitchFamily="-107" charset="-128"/>
                <a:cs typeface="ＭＳ Ｐゴシック" pitchFamily="-107" charset="-128"/>
              </a:rPr>
              <a:t>In essence, a field is a set in which we can do addition, subtraction, multiplication, and division without leaving the set. Division is defined with the following rule:   </a:t>
            </a:r>
            <a:r>
              <a:rPr lang="en-US" sz="3636" i="1" dirty="0" smtClean="0">
                <a:solidFill>
                  <a:schemeClr val="tx1"/>
                </a:solidFill>
                <a:ea typeface="ＭＳ Ｐゴシック" pitchFamily="-107" charset="-128"/>
                <a:cs typeface="ＭＳ Ｐゴシック" pitchFamily="-107" charset="-128"/>
              </a:rPr>
              <a:t>a /b = a (b</a:t>
            </a:r>
            <a:r>
              <a:rPr lang="en-US" sz="3636" i="1" baseline="30000" dirty="0" smtClean="0">
                <a:solidFill>
                  <a:schemeClr val="tx1"/>
                </a:solidFill>
                <a:ea typeface="ＭＳ Ｐゴシック" pitchFamily="-107" charset="-128"/>
                <a:cs typeface="ＭＳ Ｐゴシック" pitchFamily="-107" charset="-128"/>
              </a:rPr>
              <a:t>-1</a:t>
            </a:r>
            <a:r>
              <a:rPr lang="en-US" sz="3636" i="1" dirty="0" smtClean="0">
                <a:solidFill>
                  <a:schemeClr val="tx1"/>
                </a:solidFill>
                <a:ea typeface="ＭＳ Ｐゴシック" pitchFamily="-107" charset="-128"/>
                <a:cs typeface="ＭＳ Ｐゴシック" pitchFamily="-107" charset="-128"/>
              </a:rPr>
              <a:t> )</a:t>
            </a:r>
            <a:endParaRPr lang="en-US" sz="3636" dirty="0" smtClean="0">
              <a:solidFill>
                <a:schemeClr val="tx1"/>
              </a:solidFill>
              <a:ea typeface="ＭＳ Ｐゴシック" pitchFamily="-107" charset="-128"/>
              <a:cs typeface="ＭＳ Ｐゴシック" pitchFamily="-107" charset="-128"/>
            </a:endParaRPr>
          </a:p>
          <a:p>
            <a:pPr fontAlgn="auto">
              <a:lnSpc>
                <a:spcPct val="120000"/>
              </a:lnSpc>
              <a:spcBef>
                <a:spcPts val="1200"/>
              </a:spcBef>
              <a:spcAft>
                <a:spcPts val="0"/>
              </a:spcAft>
              <a:buClr>
                <a:schemeClr val="accent1">
                  <a:lumMod val="60000"/>
                  <a:lumOff val="40000"/>
                </a:schemeClr>
              </a:buClr>
              <a:buFont typeface="Candara" pitchFamily="34" charset="0"/>
              <a:buNone/>
              <a:defRPr/>
            </a:pPr>
            <a:r>
              <a:rPr lang="en-US" sz="3000" dirty="0" smtClean="0">
                <a:solidFill>
                  <a:schemeClr val="tx1"/>
                </a:solidFill>
                <a:ea typeface="ＭＳ Ｐゴシック" pitchFamily="-107" charset="-128"/>
                <a:cs typeface="ＭＳ Ｐゴシック" pitchFamily="-107" charset="-128"/>
              </a:rPr>
              <a:t>		</a:t>
            </a:r>
            <a:endParaRPr lang="en-US" sz="3000" i="1" dirty="0" smtClean="0">
              <a:ea typeface="ＭＳ Ｐゴシック" pitchFamily="-1" charset="-128"/>
              <a:cs typeface="ＭＳ Ｐゴシック" pitchFamily="-1" charset="-128"/>
            </a:endParaRPr>
          </a:p>
          <a:p>
            <a:pPr fontAlgn="auto">
              <a:spcAft>
                <a:spcPts val="0"/>
              </a:spcAft>
              <a:buClr>
                <a:schemeClr val="accent1">
                  <a:lumMod val="60000"/>
                  <a:lumOff val="40000"/>
                </a:schemeClr>
              </a:buClr>
              <a:buFont typeface="Candara" pitchFamily="34" charset="0"/>
              <a:buChar char="•"/>
              <a:defRPr/>
            </a:pPr>
            <a:endParaRPr lang="en-US" dirty="0">
              <a:ea typeface="+mn-ea"/>
              <a:cs typeface="+mn-cs"/>
            </a:endParaRPr>
          </a:p>
        </p:txBody>
      </p:sp>
      <p:sp>
        <p:nvSpPr>
          <p:cNvPr id="6" name="TextBox 5"/>
          <p:cNvSpPr txBox="1"/>
          <p:nvPr/>
        </p:nvSpPr>
        <p:spPr>
          <a:xfrm>
            <a:off x="1447800" y="5638800"/>
            <a:ext cx="6934200" cy="830263"/>
          </a:xfrm>
          <a:prstGeom prst="rect">
            <a:avLst/>
          </a:prstGeom>
          <a:solidFill>
            <a:schemeClr val="accent4">
              <a:lumMod val="60000"/>
              <a:lumOff val="40000"/>
            </a:schemeClr>
          </a:solidFill>
          <a:ln w="25400">
            <a:solidFill>
              <a:schemeClr val="accent4">
                <a:lumMod val="75000"/>
              </a:schemeClr>
            </a:solidFill>
          </a:ln>
        </p:spPr>
        <p:txBody>
          <a:bodyPr>
            <a:spAutoFit/>
          </a:bodyPr>
          <a:lstStyle/>
          <a:p>
            <a:pPr>
              <a:defRPr/>
            </a:pPr>
            <a:r>
              <a:rPr lang="en-US" sz="1600" dirty="0">
                <a:latin typeface="+mn-lt"/>
              </a:rPr>
              <a:t>Familiar examples of fields are the rational numbers, the real numbers, and the complex numbers. Note that the set of all integers is not a field, because not every element of the set has a multiplicative inverse.</a:t>
            </a:r>
          </a:p>
        </p:txBody>
      </p:sp>
      <p:sp>
        <p:nvSpPr>
          <p:cNvPr id="7" name="Footer Placeholder 6"/>
          <p:cNvSpPr>
            <a:spLocks noGrp="1"/>
          </p:cNvSpPr>
          <p:nvPr>
            <p:ph type="ftr" sz="quarter" idx="11"/>
          </p:nvPr>
        </p:nvSpPr>
        <p:spPr>
          <a:xfrm>
            <a:off x="0" y="6492875"/>
            <a:ext cx="4810125"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pic>
        <p:nvPicPr>
          <p:cNvPr id="5" name="Picture 4" descr="f02.pdf"/>
          <p:cNvPicPr>
            <a:picLocks noChangeAspect="1"/>
          </p:cNvPicPr>
          <p:nvPr/>
        </p:nvPicPr>
        <mc:AlternateContent>
          <mc:Choice xmlns:ma="http://schemas.microsoft.com/office/mac/drawingml/2008/main" Requires="ma">
            <p:blipFill>
              <a:blip r:embed="rId3"/>
              <a:srcRect t="20909" b="30000"/>
              <a:stretch>
                <a:fillRect/>
              </a:stretch>
            </p:blipFill>
          </mc:Choice>
          <mc:Fallback>
            <p:blipFill>
              <a:blip r:embed="rId4"/>
              <a:srcRect t="20909" b="30000"/>
              <a:stretch>
                <a:fillRect/>
              </a:stretch>
            </p:blipFill>
          </mc:Fallback>
        </mc:AlternateContent>
        <p:spPr>
          <a:xfrm>
            <a:off x="-605707" y="304800"/>
            <a:ext cx="9749707" cy="6194003"/>
          </a:xfrm>
          <a:prstGeom prst="rect">
            <a:avLst/>
          </a:prstGeom>
        </p:spPr>
      </p:pic>
    </p:spTree>
  </p:cSld>
  <p:clrMapOvr>
    <a:masterClrMapping/>
  </p:clrMapOvr>
  <p:transition spd="med">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pic>
        <p:nvPicPr>
          <p:cNvPr id="6" name="Picture 5" descr="f03.pdf"/>
          <p:cNvPicPr>
            <a:picLocks noChangeAspect="1"/>
          </p:cNvPicPr>
          <p:nvPr/>
        </p:nvPicPr>
        <mc:AlternateContent>
          <mc:Choice xmlns:ma="http://schemas.microsoft.com/office/mac/drawingml/2008/main" Requires="ma">
            <p:blipFill>
              <a:blip r:embed="rId3"/>
              <a:srcRect t="18182" b="34545"/>
              <a:stretch>
                <a:fillRect/>
              </a:stretch>
            </p:blipFill>
          </mc:Choice>
          <mc:Fallback>
            <p:blipFill>
              <a:blip r:embed="rId4"/>
              <a:srcRect t="18182" b="34545"/>
              <a:stretch>
                <a:fillRect/>
              </a:stretch>
            </p:blipFill>
          </mc:Fallback>
        </mc:AlternateContent>
        <p:spPr>
          <a:xfrm>
            <a:off x="-914400" y="0"/>
            <a:ext cx="11304003" cy="6915246"/>
          </a:xfrm>
          <a:prstGeom prst="rect">
            <a:avLst/>
          </a:prstGeom>
        </p:spPr>
      </p:pic>
    </p:spTree>
  </p:cSld>
  <p:clrMapOvr>
    <a:masterClrMapping/>
  </p:clrMapOvr>
  <p:transition spd="med">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0" y="39688"/>
            <a:ext cx="9144000" cy="1412875"/>
          </a:xfrm>
        </p:spPr>
        <p:txBody>
          <a:bodyPr/>
          <a:lstStyle/>
          <a:p>
            <a:r>
              <a:rPr lang="en-US" smtClean="0"/>
              <a:t>Finite Fields of the Form GF</a:t>
            </a:r>
            <a:r>
              <a:rPr lang="en-US" i="1" smtClean="0"/>
              <a:t>(p)</a:t>
            </a:r>
            <a:endParaRPr lang="en-AU" smtClean="0"/>
          </a:p>
        </p:txBody>
      </p:sp>
      <p:sp>
        <p:nvSpPr>
          <p:cNvPr id="68611" name="Rectangle 3"/>
          <p:cNvSpPr>
            <a:spLocks noGrp="1" noChangeArrowheads="1"/>
          </p:cNvSpPr>
          <p:nvPr>
            <p:ph idx="1"/>
          </p:nvPr>
        </p:nvSpPr>
        <p:spPr>
          <a:xfrm>
            <a:off x="792163" y="1762125"/>
            <a:ext cx="7570787" cy="4638675"/>
          </a:xfrm>
        </p:spPr>
        <p:txBody>
          <a:bodyPr rtlCol="0">
            <a:normAutofit/>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Finite fields play a crucial role in many cryptographic algorithms</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It can be shown that the order of a finite field must be a power of a prime </a:t>
            </a:r>
            <a:r>
              <a:rPr lang="en-US" i="1" dirty="0" smtClean="0">
                <a:ea typeface="+mn-ea"/>
                <a:cs typeface="+mn-cs"/>
              </a:rPr>
              <a:t>p</a:t>
            </a:r>
            <a:r>
              <a:rPr lang="en-US" i="1" baseline="30000" dirty="0" smtClean="0">
                <a:ea typeface="+mn-ea"/>
                <a:cs typeface="+mn-cs"/>
              </a:rPr>
              <a:t>n</a:t>
            </a:r>
            <a:r>
              <a:rPr lang="en-US" i="1" dirty="0" smtClean="0">
                <a:ea typeface="+mn-ea"/>
                <a:cs typeface="+mn-cs"/>
              </a:rPr>
              <a:t>, </a:t>
            </a:r>
            <a:r>
              <a:rPr lang="en-US" dirty="0" smtClean="0">
                <a:ea typeface="+mn-ea"/>
                <a:cs typeface="+mn-cs"/>
              </a:rPr>
              <a:t>where </a:t>
            </a:r>
            <a:r>
              <a:rPr lang="en-US" i="1" dirty="0" smtClean="0">
                <a:ea typeface="+mn-ea"/>
                <a:cs typeface="+mn-cs"/>
              </a:rPr>
              <a:t>n </a:t>
            </a:r>
            <a:r>
              <a:rPr lang="en-US" dirty="0" smtClean="0">
                <a:ea typeface="+mn-ea"/>
                <a:cs typeface="+mn-cs"/>
              </a:rPr>
              <a:t>is a positive integer</a:t>
            </a:r>
            <a:endParaRPr lang="en-US" dirty="0" smtClean="0">
              <a:ea typeface="+mn-ea"/>
              <a:cs typeface="+mn-cs"/>
            </a:endParaRPr>
          </a:p>
          <a:p>
            <a:pPr lvl="1" fontAlgn="auto">
              <a:spcAft>
                <a:spcPts val="0"/>
              </a:spcAft>
              <a:buFont typeface="Candara" pitchFamily="34" charset="0"/>
              <a:buChar char="•"/>
              <a:defRPr/>
            </a:pPr>
            <a:r>
              <a:rPr lang="en-US" dirty="0" smtClean="0">
                <a:ea typeface="+mn-ea"/>
                <a:cs typeface="+mn-cs"/>
              </a:rPr>
              <a:t>The </a:t>
            </a:r>
            <a:r>
              <a:rPr lang="en-US" dirty="0" smtClean="0">
                <a:ea typeface="+mn-ea"/>
                <a:cs typeface="+mn-cs"/>
              </a:rPr>
              <a:t>finite field of order </a:t>
            </a:r>
            <a:r>
              <a:rPr lang="en-US" i="1" dirty="0" smtClean="0">
                <a:ea typeface="+mn-ea"/>
                <a:cs typeface="+mn-cs"/>
              </a:rPr>
              <a:t>p</a:t>
            </a:r>
            <a:r>
              <a:rPr lang="en-US" i="1" baseline="30000" dirty="0" smtClean="0">
                <a:ea typeface="+mn-ea"/>
                <a:cs typeface="+mn-cs"/>
              </a:rPr>
              <a:t>n</a:t>
            </a:r>
            <a:r>
              <a:rPr lang="en-US" dirty="0" smtClean="0">
                <a:ea typeface="+mn-ea"/>
                <a:cs typeface="+mn-cs"/>
              </a:rPr>
              <a:t>  is generally written GF</a:t>
            </a:r>
            <a:r>
              <a:rPr lang="en-US" i="1" dirty="0" smtClean="0">
                <a:ea typeface="+mn-ea"/>
                <a:cs typeface="+mn-cs"/>
              </a:rPr>
              <a:t>(p</a:t>
            </a:r>
            <a:r>
              <a:rPr lang="en-US" i="1" baseline="30000" dirty="0" smtClean="0">
                <a:ea typeface="+mn-ea"/>
                <a:cs typeface="+mn-cs"/>
              </a:rPr>
              <a:t>n</a:t>
            </a:r>
            <a:r>
              <a:rPr lang="en-US" i="1" dirty="0" smtClean="0">
                <a:ea typeface="+mn-ea"/>
                <a:cs typeface="+mn-cs"/>
              </a:rPr>
              <a:t> </a:t>
            </a:r>
            <a:r>
              <a:rPr lang="en-US" dirty="0" smtClean="0">
                <a:ea typeface="+mn-ea"/>
                <a:cs typeface="+mn-cs"/>
              </a:rPr>
              <a:t>) </a:t>
            </a:r>
          </a:p>
          <a:p>
            <a:pPr lvl="1" fontAlgn="auto">
              <a:spcAft>
                <a:spcPts val="0"/>
              </a:spcAft>
              <a:buFont typeface="Candara" pitchFamily="34" charset="0"/>
              <a:buChar char="•"/>
              <a:defRPr/>
            </a:pPr>
            <a:r>
              <a:rPr lang="en-US" dirty="0" smtClean="0">
                <a:ea typeface="+mn-ea"/>
              </a:rPr>
              <a:t>GF stands for Galois field, in honor of the mathematician who first studied finite fields</a:t>
            </a:r>
          </a:p>
        </p:txBody>
      </p:sp>
      <p:sp>
        <p:nvSpPr>
          <p:cNvPr id="4" name="Footer Placeholder 3"/>
          <p:cNvSpPr>
            <a:spLocks noGrp="1"/>
          </p:cNvSpPr>
          <p:nvPr>
            <p:ph type="ftr" sz="quarter" idx="11"/>
          </p:nvPr>
        </p:nvSpPr>
        <p:spPr>
          <a:xfrm>
            <a:off x="0" y="6492875"/>
            <a:ext cx="5715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Table 5.1(a)</a:t>
            </a:r>
            <a:endParaRPr lang="en-US" dirty="0"/>
          </a:p>
        </p:txBody>
      </p:sp>
      <p:sp>
        <p:nvSpPr>
          <p:cNvPr id="4" name="Footer Placeholder 3"/>
          <p:cNvSpPr>
            <a:spLocks noGrp="1"/>
          </p:cNvSpPr>
          <p:nvPr>
            <p:ph type="ftr" sz="quarter" idx="11"/>
          </p:nvPr>
        </p:nvSpPr>
        <p:spPr>
          <a:xfrm>
            <a:off x="0" y="6492875"/>
            <a:ext cx="6172200" cy="365125"/>
          </a:xfrm>
        </p:spPr>
        <p:txBody>
          <a:bodyPr/>
          <a:lstStyle/>
          <a:p>
            <a:pPr>
              <a:defRPr/>
            </a:pPr>
            <a:r>
              <a:rPr lang="en-US" sz="1000" dirty="0" smtClean="0"/>
              <a:t>© 2017 Pearson Education, Inc., Hoboken, NJ. All rights reserved.  </a:t>
            </a:r>
            <a:endParaRPr lang="en-US" sz="1000" dirty="0"/>
          </a:p>
        </p:txBody>
      </p:sp>
      <p:pic>
        <p:nvPicPr>
          <p:cNvPr id="5" name="Picture 4"/>
          <p:cNvPicPr>
            <a:picLocks noChangeAspect="1"/>
          </p:cNvPicPr>
          <p:nvPr/>
        </p:nvPicPr>
        <mc:AlternateContent>
          <mc:Choice xmlns:ma="http://schemas.microsoft.com/office/mac/drawingml/2008/main" Requires="ma">
            <p:blipFill>
              <a:blip r:embed="rId3"/>
              <a:srcRect r="34500"/>
              <a:stretch>
                <a:fillRect/>
              </a:stretch>
            </p:blipFill>
          </mc:Choice>
          <mc:Fallback>
            <p:blipFill>
              <a:blip r:embed="rId4"/>
              <a:srcRect r="34500"/>
              <a:stretch>
                <a:fillRect/>
              </a:stretch>
            </p:blipFill>
          </mc:Fallback>
        </mc:AlternateContent>
        <p:spPr>
          <a:xfrm>
            <a:off x="1219200" y="1752600"/>
            <a:ext cx="6988971" cy="4379222"/>
          </a:xfrm>
          <a:prstGeom prst="rect">
            <a:avLst/>
          </a:prstGeom>
        </p:spPr>
      </p:pic>
      <p:sp>
        <p:nvSpPr>
          <p:cNvPr id="7" name="TextBox 6"/>
          <p:cNvSpPr txBox="1"/>
          <p:nvPr/>
        </p:nvSpPr>
        <p:spPr>
          <a:xfrm>
            <a:off x="3581400" y="6096000"/>
            <a:ext cx="2366078" cy="369332"/>
          </a:xfrm>
          <a:prstGeom prst="rect">
            <a:avLst/>
          </a:prstGeom>
          <a:noFill/>
        </p:spPr>
        <p:txBody>
          <a:bodyPr wrap="none" rtlCol="0">
            <a:spAutoFit/>
          </a:bodyPr>
          <a:lstStyle/>
          <a:p>
            <a:r>
              <a:rPr lang="en-US" dirty="0" smtClean="0"/>
              <a:t>(a) Addition modulo 8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Table 5.1(b)</a:t>
            </a:r>
            <a:endParaRPr lang="en-US" dirty="0"/>
          </a:p>
        </p:txBody>
      </p:sp>
      <p:sp>
        <p:nvSpPr>
          <p:cNvPr id="4" name="Footer Placeholder 3"/>
          <p:cNvSpPr>
            <a:spLocks noGrp="1"/>
          </p:cNvSpPr>
          <p:nvPr>
            <p:ph type="ftr" sz="quarter" idx="11"/>
          </p:nvPr>
        </p:nvSpPr>
        <p:spPr>
          <a:xfrm>
            <a:off x="0" y="6492875"/>
            <a:ext cx="6172200" cy="365125"/>
          </a:xfrm>
        </p:spPr>
        <p:txBody>
          <a:bodyPr/>
          <a:lstStyle/>
          <a:p>
            <a:pPr>
              <a:defRPr/>
            </a:pPr>
            <a:r>
              <a:rPr lang="en-US" sz="1000" dirty="0" smtClean="0"/>
              <a:t>© 2017 Pearson Education, Inc., Hoboken, NJ. All rights reserved.  </a:t>
            </a:r>
            <a:endParaRPr lang="en-US" sz="1000" dirty="0"/>
          </a:p>
        </p:txBody>
      </p:sp>
      <p:pic>
        <p:nvPicPr>
          <p:cNvPr id="8" name="Picture 7"/>
          <p:cNvPicPr>
            <a:picLocks noChangeAspect="1"/>
          </p:cNvPicPr>
          <p:nvPr/>
        </p:nvPicPr>
        <mc:AlternateContent>
          <mc:Choice xmlns:ma="http://schemas.microsoft.com/office/mac/drawingml/2008/main" Requires="ma">
            <p:blipFill>
              <a:blip r:embed="rId3"/>
              <a:srcRect r="34644"/>
              <a:stretch>
                <a:fillRect/>
              </a:stretch>
            </p:blipFill>
          </mc:Choice>
          <mc:Fallback>
            <p:blipFill>
              <a:blip r:embed="rId4"/>
              <a:srcRect r="34644"/>
              <a:stretch>
                <a:fillRect/>
              </a:stretch>
            </p:blipFill>
          </mc:Fallback>
        </mc:AlternateContent>
        <p:spPr>
          <a:xfrm>
            <a:off x="990600" y="1600200"/>
            <a:ext cx="7308082" cy="4655253"/>
          </a:xfrm>
          <a:prstGeom prst="rect">
            <a:avLst/>
          </a:prstGeom>
        </p:spPr>
      </p:pic>
      <p:sp>
        <p:nvSpPr>
          <p:cNvPr id="9" name="TextBox 8"/>
          <p:cNvSpPr txBox="1"/>
          <p:nvPr/>
        </p:nvSpPr>
        <p:spPr>
          <a:xfrm>
            <a:off x="3505200" y="6019800"/>
            <a:ext cx="2878913" cy="369332"/>
          </a:xfrm>
          <a:prstGeom prst="rect">
            <a:avLst/>
          </a:prstGeom>
          <a:noFill/>
        </p:spPr>
        <p:txBody>
          <a:bodyPr wrap="none" rtlCol="0">
            <a:spAutoFit/>
          </a:bodyPr>
          <a:lstStyle/>
          <a:p>
            <a:r>
              <a:rPr lang="en-US" dirty="0" smtClean="0"/>
              <a:t>(</a:t>
            </a:r>
            <a:r>
              <a:rPr lang="en-US" dirty="0" err="1" smtClean="0"/>
              <a:t>b</a:t>
            </a:r>
            <a:r>
              <a:rPr lang="en-US" dirty="0" smtClean="0"/>
              <a:t>) Multiplication modulo 8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533400"/>
            <a:ext cx="3612776" cy="1537447"/>
          </a:xfrm>
        </p:spPr>
        <p:txBody>
          <a:bodyPr/>
          <a:lstStyle/>
          <a:p>
            <a:r>
              <a:rPr lang="en-US" sz="4400" dirty="0" smtClean="0"/>
              <a:t>Table 5.1(c)</a:t>
            </a:r>
            <a:endParaRPr lang="en-US" sz="4400" dirty="0"/>
          </a:p>
        </p:txBody>
      </p:sp>
      <p:sp>
        <p:nvSpPr>
          <p:cNvPr id="4" name="Footer Placeholder 3"/>
          <p:cNvSpPr>
            <a:spLocks noGrp="1"/>
          </p:cNvSpPr>
          <p:nvPr>
            <p:ph type="ftr" sz="quarter" idx="11"/>
          </p:nvPr>
        </p:nvSpPr>
        <p:spPr>
          <a:xfrm>
            <a:off x="0" y="6492875"/>
            <a:ext cx="4343400" cy="365125"/>
          </a:xfrm>
        </p:spPr>
        <p:txBody>
          <a:bodyPr/>
          <a:lstStyle/>
          <a:p>
            <a:pPr>
              <a:defRPr/>
            </a:pPr>
            <a:r>
              <a:rPr lang="en-US" sz="1000" dirty="0" smtClean="0"/>
              <a:t>© 2017 Pearson Education, Inc., Hoboken, NJ. All rights reserved.  </a:t>
            </a:r>
            <a:endParaRPr lang="en-US" sz="1000" dirty="0"/>
          </a:p>
        </p:txBody>
      </p:sp>
      <p:pic>
        <p:nvPicPr>
          <p:cNvPr id="8" name="Picture 7"/>
          <p:cNvPicPr>
            <a:picLocks noChangeAspect="1"/>
          </p:cNvPicPr>
          <p:nvPr/>
        </p:nvPicPr>
        <mc:AlternateContent>
          <mc:Choice xmlns:ma="http://schemas.microsoft.com/office/mac/drawingml/2008/main" Requires="ma">
            <p:blipFill>
              <a:blip r:embed="rId3"/>
              <a:srcRect r="76820"/>
              <a:stretch>
                <a:fillRect/>
              </a:stretch>
            </p:blipFill>
          </mc:Choice>
          <mc:Fallback>
            <p:blipFill>
              <a:blip r:embed="rId4"/>
              <a:srcRect r="76820"/>
              <a:stretch>
                <a:fillRect/>
              </a:stretch>
            </p:blipFill>
          </mc:Fallback>
        </mc:AlternateContent>
        <p:spPr>
          <a:xfrm>
            <a:off x="5257800" y="228600"/>
            <a:ext cx="3276600" cy="5914348"/>
          </a:xfrm>
          <a:prstGeom prst="rect">
            <a:avLst/>
          </a:prstGeom>
        </p:spPr>
      </p:pic>
      <p:sp>
        <p:nvSpPr>
          <p:cNvPr id="13" name="TextBox 12"/>
          <p:cNvSpPr txBox="1"/>
          <p:nvPr/>
        </p:nvSpPr>
        <p:spPr>
          <a:xfrm>
            <a:off x="4724400" y="5943600"/>
            <a:ext cx="4191000" cy="646331"/>
          </a:xfrm>
          <a:prstGeom prst="rect">
            <a:avLst/>
          </a:prstGeom>
          <a:noFill/>
        </p:spPr>
        <p:txBody>
          <a:bodyPr wrap="square" rtlCol="0">
            <a:spAutoFit/>
          </a:bodyPr>
          <a:lstStyle/>
          <a:p>
            <a:pPr algn="ctr"/>
            <a:r>
              <a:rPr lang="en-US" dirty="0" smtClean="0"/>
              <a:t>(</a:t>
            </a:r>
            <a:r>
              <a:rPr lang="en-US" dirty="0" err="1" smtClean="0"/>
              <a:t>c</a:t>
            </a:r>
            <a:r>
              <a:rPr lang="en-US" dirty="0" smtClean="0"/>
              <a:t>) Additive and multiplicative</a:t>
            </a:r>
          </a:p>
          <a:p>
            <a:pPr algn="ctr"/>
            <a:r>
              <a:rPr lang="en-US" dirty="0" smtClean="0"/>
              <a:t>inverses modulo 8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Table 5.1(d)</a:t>
            </a:r>
            <a:endParaRPr lang="en-US" dirty="0"/>
          </a:p>
        </p:txBody>
      </p:sp>
      <p:sp>
        <p:nvSpPr>
          <p:cNvPr id="4" name="Footer Placeholder 3"/>
          <p:cNvSpPr>
            <a:spLocks noGrp="1"/>
          </p:cNvSpPr>
          <p:nvPr>
            <p:ph type="ftr" sz="quarter" idx="11"/>
          </p:nvPr>
        </p:nvSpPr>
        <p:spPr>
          <a:xfrm>
            <a:off x="0" y="6492875"/>
            <a:ext cx="6172200" cy="365125"/>
          </a:xfrm>
        </p:spPr>
        <p:txBody>
          <a:bodyPr/>
          <a:lstStyle/>
          <a:p>
            <a:pPr>
              <a:defRPr/>
            </a:pPr>
            <a:r>
              <a:rPr lang="en-US" sz="1000" dirty="0" smtClean="0"/>
              <a:t>© 2017 Pearson Education, Inc., Hoboken, NJ. All rights reserved.  </a:t>
            </a:r>
            <a:endParaRPr lang="en-US" sz="1000" dirty="0"/>
          </a:p>
        </p:txBody>
      </p:sp>
      <p:pic>
        <p:nvPicPr>
          <p:cNvPr id="8" name="Picture 7"/>
          <p:cNvPicPr>
            <a:picLocks noChangeAspect="1"/>
          </p:cNvPicPr>
          <p:nvPr/>
        </p:nvPicPr>
        <mc:AlternateContent>
          <mc:Choice xmlns:ma="http://schemas.microsoft.com/office/mac/drawingml/2008/main" Requires="ma">
            <p:blipFill>
              <a:blip r:embed="rId3"/>
              <a:srcRect r="42000"/>
              <a:stretch>
                <a:fillRect/>
              </a:stretch>
            </p:blipFill>
          </mc:Choice>
          <mc:Fallback>
            <p:blipFill>
              <a:blip r:embed="rId4"/>
              <a:srcRect r="42000"/>
              <a:stretch>
                <a:fillRect/>
              </a:stretch>
            </p:blipFill>
          </mc:Fallback>
        </mc:AlternateContent>
        <p:spPr>
          <a:xfrm>
            <a:off x="762000" y="1524000"/>
            <a:ext cx="7509445" cy="4774324"/>
          </a:xfrm>
          <a:prstGeom prst="rect">
            <a:avLst/>
          </a:prstGeom>
        </p:spPr>
      </p:pic>
      <p:sp>
        <p:nvSpPr>
          <p:cNvPr id="9" name="TextBox 8"/>
          <p:cNvSpPr txBox="1"/>
          <p:nvPr/>
        </p:nvSpPr>
        <p:spPr>
          <a:xfrm>
            <a:off x="3505200" y="6019800"/>
            <a:ext cx="2366078" cy="369332"/>
          </a:xfrm>
          <a:prstGeom prst="rect">
            <a:avLst/>
          </a:prstGeom>
          <a:noFill/>
        </p:spPr>
        <p:txBody>
          <a:bodyPr wrap="none" rtlCol="0">
            <a:spAutoFit/>
          </a:bodyPr>
          <a:lstStyle/>
          <a:p>
            <a:r>
              <a:rPr lang="en-US" dirty="0" smtClean="0"/>
              <a:t>(</a:t>
            </a:r>
            <a:r>
              <a:rPr lang="en-US" dirty="0" err="1" smtClean="0"/>
              <a:t>d</a:t>
            </a:r>
            <a:r>
              <a:rPr lang="en-US" dirty="0" smtClean="0"/>
              <a:t>) </a:t>
            </a:r>
            <a:r>
              <a:rPr lang="en-US" dirty="0" smtClean="0"/>
              <a:t>Addition modulo 7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Table 5.1(e)</a:t>
            </a:r>
            <a:endParaRPr lang="en-US" dirty="0"/>
          </a:p>
        </p:txBody>
      </p:sp>
      <p:sp>
        <p:nvSpPr>
          <p:cNvPr id="4" name="Footer Placeholder 3"/>
          <p:cNvSpPr>
            <a:spLocks noGrp="1"/>
          </p:cNvSpPr>
          <p:nvPr>
            <p:ph type="ftr" sz="quarter" idx="11"/>
          </p:nvPr>
        </p:nvSpPr>
        <p:spPr>
          <a:xfrm>
            <a:off x="0" y="6492875"/>
            <a:ext cx="6172200" cy="365125"/>
          </a:xfrm>
        </p:spPr>
        <p:txBody>
          <a:bodyPr/>
          <a:lstStyle/>
          <a:p>
            <a:pPr>
              <a:defRPr/>
            </a:pPr>
            <a:r>
              <a:rPr lang="en-US" sz="1000" dirty="0" smtClean="0"/>
              <a:t>© 2017 Pearson Education, Inc., Hoboken, NJ. All rights reserved.  </a:t>
            </a:r>
            <a:endParaRPr lang="en-US" sz="1000" dirty="0"/>
          </a:p>
        </p:txBody>
      </p:sp>
      <p:sp>
        <p:nvSpPr>
          <p:cNvPr id="7" name="TextBox 6"/>
          <p:cNvSpPr txBox="1"/>
          <p:nvPr/>
        </p:nvSpPr>
        <p:spPr>
          <a:xfrm>
            <a:off x="3581400" y="6019800"/>
            <a:ext cx="2878913" cy="369332"/>
          </a:xfrm>
          <a:prstGeom prst="rect">
            <a:avLst/>
          </a:prstGeom>
          <a:noFill/>
        </p:spPr>
        <p:txBody>
          <a:bodyPr wrap="none" rtlCol="0">
            <a:spAutoFit/>
          </a:bodyPr>
          <a:lstStyle/>
          <a:p>
            <a:r>
              <a:rPr lang="en-US" dirty="0" smtClean="0"/>
              <a:t>(</a:t>
            </a:r>
            <a:r>
              <a:rPr lang="en-US" dirty="0" err="1" smtClean="0"/>
              <a:t>e</a:t>
            </a:r>
            <a:r>
              <a:rPr lang="en-US" dirty="0" smtClean="0"/>
              <a:t>) Multiplication </a:t>
            </a:r>
            <a:r>
              <a:rPr lang="en-US" dirty="0" smtClean="0"/>
              <a:t>modulo</a:t>
            </a:r>
            <a:r>
              <a:rPr lang="en-US" dirty="0" smtClean="0"/>
              <a:t> 7 </a:t>
            </a:r>
            <a:endParaRPr lang="en-US" dirty="0"/>
          </a:p>
        </p:txBody>
      </p:sp>
      <p:pic>
        <p:nvPicPr>
          <p:cNvPr id="8" name="Picture 7"/>
          <p:cNvPicPr>
            <a:picLocks noChangeAspect="1"/>
          </p:cNvPicPr>
          <p:nvPr/>
        </p:nvPicPr>
        <mc:AlternateContent>
          <mc:Choice xmlns:ma="http://schemas.microsoft.com/office/mac/drawingml/2008/main" Requires="ma">
            <p:blipFill>
              <a:blip r:embed="rId3"/>
              <a:srcRect r="40669"/>
              <a:stretch>
                <a:fillRect/>
              </a:stretch>
            </p:blipFill>
          </mc:Choice>
          <mc:Fallback>
            <p:blipFill>
              <a:blip r:embed="rId4"/>
              <a:srcRect r="40669"/>
              <a:stretch>
                <a:fillRect/>
              </a:stretch>
            </p:blipFill>
          </mc:Fallback>
        </mc:AlternateContent>
        <p:spPr>
          <a:xfrm>
            <a:off x="1143000" y="1524000"/>
            <a:ext cx="7485176" cy="47244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400" dirty="0" smtClean="0"/>
              <a:t>Table 5.1(f)</a:t>
            </a:r>
            <a:endParaRPr lang="en-US" sz="4400" dirty="0"/>
          </a:p>
        </p:txBody>
      </p:sp>
      <p:sp>
        <p:nvSpPr>
          <p:cNvPr id="4" name="Footer Placeholder 3"/>
          <p:cNvSpPr>
            <a:spLocks noGrp="1"/>
          </p:cNvSpPr>
          <p:nvPr>
            <p:ph type="ftr" sz="quarter" idx="11"/>
          </p:nvPr>
        </p:nvSpPr>
        <p:spPr>
          <a:xfrm>
            <a:off x="0" y="6492875"/>
            <a:ext cx="4419600" cy="365125"/>
          </a:xfrm>
        </p:spPr>
        <p:txBody>
          <a:bodyPr/>
          <a:lstStyle/>
          <a:p>
            <a:pPr>
              <a:defRPr/>
            </a:pPr>
            <a:r>
              <a:rPr lang="en-US" sz="1000" dirty="0" smtClean="0"/>
              <a:t>© 2017 Pearson Education, Inc., Hoboken, NJ. All rights reserved.  </a:t>
            </a:r>
            <a:endParaRPr lang="en-US" sz="1000" dirty="0"/>
          </a:p>
        </p:txBody>
      </p:sp>
      <p:pic>
        <p:nvPicPr>
          <p:cNvPr id="10" name="Picture 9"/>
          <p:cNvPicPr>
            <a:picLocks noChangeAspect="1"/>
          </p:cNvPicPr>
          <p:nvPr/>
        </p:nvPicPr>
        <mc:AlternateContent>
          <mc:Choice xmlns:ma="http://schemas.microsoft.com/office/mac/drawingml/2008/main" Requires="ma">
            <p:blipFill>
              <a:blip r:embed="rId3"/>
              <a:srcRect r="73808"/>
              <a:stretch>
                <a:fillRect/>
              </a:stretch>
            </p:blipFill>
          </mc:Choice>
          <mc:Fallback>
            <p:blipFill>
              <a:blip r:embed="rId4"/>
              <a:srcRect r="73808"/>
              <a:stretch>
                <a:fillRect/>
              </a:stretch>
            </p:blipFill>
          </mc:Fallback>
        </mc:AlternateContent>
        <p:spPr>
          <a:xfrm>
            <a:off x="4944980" y="0"/>
            <a:ext cx="4199020" cy="6003456"/>
          </a:xfrm>
          <a:prstGeom prst="rect">
            <a:avLst/>
          </a:prstGeom>
        </p:spPr>
      </p:pic>
      <p:sp>
        <p:nvSpPr>
          <p:cNvPr id="11" name="TextBox 10"/>
          <p:cNvSpPr txBox="1"/>
          <p:nvPr/>
        </p:nvSpPr>
        <p:spPr>
          <a:xfrm>
            <a:off x="5105400" y="5791200"/>
            <a:ext cx="3161142" cy="646331"/>
          </a:xfrm>
          <a:prstGeom prst="rect">
            <a:avLst/>
          </a:prstGeom>
          <a:noFill/>
        </p:spPr>
        <p:txBody>
          <a:bodyPr wrap="none" rtlCol="0">
            <a:spAutoFit/>
          </a:bodyPr>
          <a:lstStyle/>
          <a:p>
            <a:pPr algn="ctr"/>
            <a:r>
              <a:rPr lang="en-US" dirty="0" smtClean="0"/>
              <a:t>(</a:t>
            </a:r>
            <a:r>
              <a:rPr lang="en-US" dirty="0" err="1" smtClean="0"/>
              <a:t>f</a:t>
            </a:r>
            <a:r>
              <a:rPr lang="en-US" dirty="0" smtClean="0"/>
              <a:t>) </a:t>
            </a:r>
            <a:r>
              <a:rPr lang="en-US" dirty="0" smtClean="0"/>
              <a:t>Additive and multiplicative</a:t>
            </a:r>
          </a:p>
          <a:p>
            <a:pPr algn="ctr"/>
            <a:r>
              <a:rPr lang="en-US" dirty="0" smtClean="0"/>
              <a:t>inverses modulo</a:t>
            </a:r>
            <a:r>
              <a:rPr lang="en-US" dirty="0" smtClean="0"/>
              <a:t> 7 </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5234" name="Title 1"/>
          <p:cNvSpPr>
            <a:spLocks noGrp="1"/>
          </p:cNvSpPr>
          <p:nvPr>
            <p:ph type="title"/>
          </p:nvPr>
        </p:nvSpPr>
        <p:spPr>
          <a:xfrm>
            <a:off x="381000" y="4572000"/>
            <a:ext cx="3613150" cy="1536700"/>
          </a:xfrm>
        </p:spPr>
        <p:txBody>
          <a:bodyPr/>
          <a:lstStyle/>
          <a:p>
            <a:r>
              <a:rPr lang="en-US" dirty="0" smtClean="0"/>
              <a:t> In this section, we have shown how to construct a finite field of order </a:t>
            </a:r>
            <a:r>
              <a:rPr lang="en-US" i="1" dirty="0" err="1" smtClean="0"/>
              <a:t>p</a:t>
            </a:r>
            <a:r>
              <a:rPr lang="en-US" dirty="0" smtClean="0"/>
              <a:t>, where </a:t>
            </a:r>
            <a:r>
              <a:rPr lang="en-US" i="1" dirty="0" err="1" smtClean="0"/>
              <a:t>p</a:t>
            </a:r>
            <a:r>
              <a:rPr lang="en-US" dirty="0" smtClean="0"/>
              <a:t>  is prime. </a:t>
            </a:r>
            <a:br>
              <a:rPr lang="en-US" dirty="0" smtClean="0"/>
            </a:br>
            <a:r>
              <a:rPr lang="en-US" dirty="0" smtClean="0"/>
              <a:t/>
            </a:r>
            <a:br>
              <a:rPr lang="en-US" dirty="0" smtClean="0"/>
            </a:br>
            <a:r>
              <a:rPr lang="en-US" dirty="0" err="1" smtClean="0"/>
              <a:t>GF(</a:t>
            </a:r>
            <a:r>
              <a:rPr lang="en-US" i="1" dirty="0" err="1" smtClean="0"/>
              <a:t>p</a:t>
            </a:r>
            <a:r>
              <a:rPr lang="en-US" dirty="0" smtClean="0"/>
              <a:t>) is defined with the following properties:</a:t>
            </a:r>
          </a:p>
        </p:txBody>
      </p:sp>
      <p:sp>
        <p:nvSpPr>
          <p:cNvPr id="3" name="Content Placeholder 2"/>
          <p:cNvSpPr>
            <a:spLocks noGrp="1"/>
          </p:cNvSpPr>
          <p:nvPr>
            <p:ph idx="1"/>
          </p:nvPr>
        </p:nvSpPr>
        <p:spPr>
          <a:xfrm>
            <a:off x="4724400" y="381000"/>
            <a:ext cx="4038600" cy="6248400"/>
          </a:xfrm>
        </p:spPr>
        <p:txBody>
          <a:bodyPr rtlCol="0">
            <a:normAutofit fontScale="92500" lnSpcReduction="1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1. GF(</a:t>
            </a:r>
            <a:r>
              <a:rPr lang="en-US" i="1" dirty="0" smtClean="0">
                <a:ea typeface="+mn-ea"/>
                <a:cs typeface="+mn-cs"/>
              </a:rPr>
              <a:t>p</a:t>
            </a:r>
            <a:r>
              <a:rPr lang="en-US" dirty="0" smtClean="0">
                <a:ea typeface="+mn-ea"/>
                <a:cs typeface="+mn-cs"/>
              </a:rPr>
              <a:t>) consists of </a:t>
            </a:r>
            <a:r>
              <a:rPr lang="en-US" i="1" dirty="0" smtClean="0">
                <a:ea typeface="+mn-ea"/>
                <a:cs typeface="+mn-cs"/>
              </a:rPr>
              <a:t>p</a:t>
            </a:r>
            <a:r>
              <a:rPr lang="en-US" dirty="0" smtClean="0">
                <a:ea typeface="+mn-ea"/>
                <a:cs typeface="+mn-cs"/>
              </a:rPr>
              <a:t> elements</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2. The binary operations + and * are defined over the set. The operations of addition, subtraction, multiplication, and division can be performed without leaving the set. Each element of the set other than 0 has a multiplicative inverse</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We have shown that the elements of GF(</a:t>
            </a:r>
            <a:r>
              <a:rPr lang="en-US" i="1" dirty="0" smtClean="0">
                <a:ea typeface="+mn-ea"/>
                <a:cs typeface="+mn-cs"/>
              </a:rPr>
              <a:t>p</a:t>
            </a:r>
            <a:r>
              <a:rPr lang="en-US" dirty="0" smtClean="0">
                <a:ea typeface="+mn-ea"/>
                <a:cs typeface="+mn-cs"/>
              </a:rPr>
              <a:t>) are the integers {0, 1, . . . , </a:t>
            </a:r>
            <a:r>
              <a:rPr lang="en-US" i="1" dirty="0" smtClean="0">
                <a:ea typeface="+mn-ea"/>
                <a:cs typeface="+mn-cs"/>
              </a:rPr>
              <a:t>p</a:t>
            </a:r>
            <a:r>
              <a:rPr lang="en-US" dirty="0" smtClean="0">
                <a:ea typeface="+mn-ea"/>
                <a:cs typeface="+mn-cs"/>
              </a:rPr>
              <a:t> – 1} and that the arithmetic operations are addition and multiplication mod </a:t>
            </a:r>
            <a:r>
              <a:rPr lang="en-US" i="1" dirty="0" smtClean="0">
                <a:ea typeface="+mn-ea"/>
                <a:cs typeface="+mn-cs"/>
              </a:rPr>
              <a:t>p</a:t>
            </a:r>
            <a:endParaRPr lang="en-US" dirty="0">
              <a:ea typeface="+mn-ea"/>
              <a:cs typeface="+mn-cs"/>
            </a:endParaRPr>
          </a:p>
        </p:txBody>
      </p:sp>
      <p:sp>
        <p:nvSpPr>
          <p:cNvPr id="4" name="Footer Placeholder 3"/>
          <p:cNvSpPr>
            <a:spLocks noGrp="1"/>
          </p:cNvSpPr>
          <p:nvPr>
            <p:ph type="ftr" sz="quarter" idx="11"/>
          </p:nvPr>
        </p:nvSpPr>
        <p:spPr>
          <a:xfrm>
            <a:off x="0" y="6492875"/>
            <a:ext cx="4648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0" y="6492875"/>
            <a:ext cx="5334000" cy="365125"/>
          </a:xfrm>
        </p:spPr>
        <p:txBody>
          <a:bodyPr/>
          <a:lstStyle/>
          <a:p>
            <a:pPr>
              <a:defRPr/>
            </a:pPr>
            <a:r>
              <a:rPr lang="en-US" sz="1000" dirty="0" smtClean="0"/>
              <a:t>© 2017 Pearson Education, Inc., Hoboken, NJ. All rights reserved.  </a:t>
            </a:r>
            <a:endParaRPr lang="en-US" sz="1000" dirty="0"/>
          </a:p>
        </p:txBody>
      </p:sp>
      <p:pic>
        <p:nvPicPr>
          <p:cNvPr id="8" name="Picture 7" descr="f04.pdf"/>
          <p:cNvPicPr>
            <a:picLocks noChangeAspect="1"/>
          </p:cNvPicPr>
          <p:nvPr/>
        </p:nvPicPr>
        <mc:AlternateContent>
          <mc:Choice xmlns:ma="http://schemas.microsoft.com/office/mac/drawingml/2008/main" Requires="ma">
            <p:blipFill>
              <a:blip r:embed="rId3"/>
              <a:srcRect t="18182" b="30909"/>
              <a:stretch>
                <a:fillRect/>
              </a:stretch>
            </p:blipFill>
          </mc:Choice>
          <mc:Fallback>
            <p:blipFill>
              <a:blip r:embed="rId4"/>
              <a:srcRect t="18182" b="30909"/>
              <a:stretch>
                <a:fillRect/>
              </a:stretch>
            </p:blipFill>
          </mc:Fallback>
        </mc:AlternateContent>
        <p:spPr>
          <a:xfrm>
            <a:off x="-609600" y="-76200"/>
            <a:ext cx="10525067" cy="69342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029200" cy="365125"/>
          </a:xfrm>
        </p:spPr>
        <p:txBody>
          <a:bodyPr/>
          <a:lstStyle/>
          <a:p>
            <a:pPr>
              <a:defRPr/>
            </a:pPr>
            <a:r>
              <a:rPr lang="en-US" sz="1000" dirty="0" smtClean="0"/>
              <a:t>© 2017 Pearson Education, Inc., Hoboken, NJ. All rights reserved.  </a:t>
            </a:r>
            <a:endParaRPr lang="en-US" sz="1000" dirty="0"/>
          </a:p>
        </p:txBody>
      </p:sp>
      <p:pic>
        <p:nvPicPr>
          <p:cNvPr id="5" name="Picture 4" descr="f05.pdf"/>
          <p:cNvPicPr>
            <a:picLocks noChangeAspect="1"/>
          </p:cNvPicPr>
          <p:nvPr/>
        </p:nvPicPr>
        <mc:AlternateContent>
          <mc:Choice xmlns:ma="http://schemas.microsoft.com/office/mac/drawingml/2008/main" Requires="ma">
            <p:blipFill>
              <a:blip r:embed="rId3"/>
              <a:srcRect t="16364" b="22727"/>
              <a:stretch>
                <a:fillRect/>
              </a:stretch>
            </p:blipFill>
          </mc:Choice>
          <mc:Fallback>
            <p:blipFill>
              <a:blip r:embed="rId4"/>
              <a:srcRect t="16364" b="22727"/>
              <a:stretch>
                <a:fillRect/>
              </a:stretch>
            </p:blipFill>
          </mc:Fallback>
        </mc:AlternateContent>
        <p:spPr>
          <a:xfrm>
            <a:off x="457200" y="0"/>
            <a:ext cx="8416866" cy="6634403"/>
          </a:xfrm>
          <a:prstGeom prst="rect">
            <a:avLst/>
          </a:prstGeom>
        </p:spPr>
      </p:pic>
    </p:spTree>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sz="4800" dirty="0" smtClean="0"/>
              <a:t>Polynomial Arithmetic</a:t>
            </a:r>
            <a:r>
              <a:rPr lang="en-US" sz="4800" dirty="0" smtClean="0"/>
              <a:t> With </a:t>
            </a:r>
            <a:r>
              <a:rPr lang="en-US" sz="4800" dirty="0" smtClean="0"/>
              <a:t>Coefficients in </a:t>
            </a:r>
            <a:r>
              <a:rPr lang="en-US" sz="4800" dirty="0" err="1" smtClean="0"/>
              <a:t>Z</a:t>
            </a:r>
            <a:r>
              <a:rPr lang="en-US" sz="4800" baseline="-25000" dirty="0" err="1" smtClean="0"/>
              <a:t>p</a:t>
            </a:r>
            <a:endParaRPr lang="en-AU" sz="4800" baseline="-25000" dirty="0" smtClean="0"/>
          </a:p>
        </p:txBody>
      </p:sp>
      <p:sp>
        <p:nvSpPr>
          <p:cNvPr id="76803" name="Rectangle 3"/>
          <p:cNvSpPr>
            <a:spLocks noGrp="1" noChangeArrowheads="1"/>
          </p:cNvSpPr>
          <p:nvPr>
            <p:ph idx="1"/>
          </p:nvPr>
        </p:nvSpPr>
        <p:spPr>
          <a:xfrm>
            <a:off x="792163" y="1762125"/>
            <a:ext cx="7570787" cy="4791075"/>
          </a:xfrm>
        </p:spPr>
        <p:txBody>
          <a:bodyPr rtlCol="0">
            <a:normAutofit fontScale="85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If each distinct polynomial is considered to be an element of the set, then that set is a ring</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When polynomial arithmetic is performed on polynomials over a field, then division is possible</a:t>
            </a:r>
          </a:p>
          <a:p>
            <a:pPr lvl="2" fontAlgn="auto">
              <a:spcAft>
                <a:spcPts val="0"/>
              </a:spcAft>
              <a:buClr>
                <a:schemeClr val="accent1">
                  <a:lumMod val="60000"/>
                  <a:lumOff val="40000"/>
                </a:schemeClr>
              </a:buClr>
              <a:buFont typeface="Candara" pitchFamily="34" charset="0"/>
              <a:buChar char="•"/>
              <a:defRPr/>
            </a:pPr>
            <a:r>
              <a:rPr lang="en-US" dirty="0" smtClean="0">
                <a:ea typeface="+mn-ea"/>
              </a:rPr>
              <a:t>Note:  this does not mean that </a:t>
            </a:r>
            <a:r>
              <a:rPr lang="en-US" i="1" dirty="0" smtClean="0">
                <a:ea typeface="+mn-ea"/>
              </a:rPr>
              <a:t>exact division </a:t>
            </a:r>
            <a:r>
              <a:rPr lang="en-US" dirty="0" smtClean="0">
                <a:ea typeface="+mn-ea"/>
              </a:rPr>
              <a:t>is possible</a:t>
            </a:r>
          </a:p>
          <a:p>
            <a:pPr marL="342900" lvl="2" indent="-342900" fontAlgn="auto">
              <a:spcBef>
                <a:spcPts val="2400"/>
              </a:spcBef>
              <a:spcAft>
                <a:spcPts val="0"/>
              </a:spcAft>
              <a:buClr>
                <a:schemeClr val="accent1">
                  <a:lumMod val="60000"/>
                  <a:lumOff val="40000"/>
                </a:schemeClr>
              </a:buClr>
              <a:buFont typeface="Candara" pitchFamily="34" charset="0"/>
              <a:buChar char="•"/>
              <a:defRPr/>
            </a:pPr>
            <a:r>
              <a:rPr lang="en-US" sz="2800" dirty="0" smtClean="0">
                <a:ea typeface="+mn-ea"/>
              </a:rPr>
              <a:t>If we attempt to perform polynomial division over a coefficient set that is not a field, we find that division is not always defined</a:t>
            </a:r>
          </a:p>
          <a:p>
            <a:pPr lvl="2" fontAlgn="auto">
              <a:spcAft>
                <a:spcPts val="0"/>
              </a:spcAft>
              <a:buClr>
                <a:schemeClr val="accent1">
                  <a:lumMod val="60000"/>
                  <a:lumOff val="40000"/>
                </a:schemeClr>
              </a:buClr>
              <a:buFont typeface="Candara" pitchFamily="34" charset="0"/>
              <a:buChar char="•"/>
              <a:defRPr/>
            </a:pPr>
            <a:r>
              <a:rPr lang="en-US" sz="2353" dirty="0" smtClean="0">
                <a:ea typeface="+mn-ea"/>
              </a:rPr>
              <a:t>Even if the coefficient set is a field, polynomial division is not necessarily exact</a:t>
            </a:r>
          </a:p>
          <a:p>
            <a:pPr lvl="2" fontAlgn="auto">
              <a:spcAft>
                <a:spcPts val="0"/>
              </a:spcAft>
              <a:buClr>
                <a:schemeClr val="accent1">
                  <a:lumMod val="60000"/>
                  <a:lumOff val="40000"/>
                </a:schemeClr>
              </a:buClr>
              <a:buFont typeface="Candara" pitchFamily="34" charset="0"/>
              <a:buChar char="•"/>
              <a:defRPr/>
            </a:pPr>
            <a:r>
              <a:rPr lang="en-US" sz="2353" dirty="0" smtClean="0">
                <a:ea typeface="+mn-ea"/>
              </a:rPr>
              <a:t>With the understanding that remainders are allowed, we can say that polynomial division is possible if the coefficient set is a field</a:t>
            </a:r>
          </a:p>
        </p:txBody>
      </p:sp>
      <p:sp>
        <p:nvSpPr>
          <p:cNvPr id="4" name="Footer Placeholder 3"/>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smtClean="0"/>
              <a:t>Polynomial Division</a:t>
            </a:r>
            <a:endParaRPr lang="en-AU" smtClean="0"/>
          </a:p>
        </p:txBody>
      </p:sp>
      <p:sp>
        <p:nvSpPr>
          <p:cNvPr id="77827" name="Rectangle 3"/>
          <p:cNvSpPr>
            <a:spLocks noGrp="1" noChangeArrowheads="1"/>
          </p:cNvSpPr>
          <p:nvPr>
            <p:ph idx="1"/>
          </p:nvPr>
        </p:nvSpPr>
        <p:spPr>
          <a:xfrm>
            <a:off x="792163" y="1762125"/>
            <a:ext cx="7570787" cy="4714875"/>
          </a:xfrm>
        </p:spPr>
        <p:txBody>
          <a:bodyPr rtlCol="0">
            <a:normAutofit fontScale="775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We can write any polynomial in the form:</a:t>
            </a:r>
          </a:p>
          <a:p>
            <a:pPr lvl="1" fontAlgn="auto">
              <a:spcAft>
                <a:spcPts val="0"/>
              </a:spcAft>
              <a:buFont typeface="Candara" pitchFamily="34" charset="0"/>
              <a:buNone/>
              <a:defRPr/>
            </a:pPr>
            <a:r>
              <a:rPr lang="en-AU" dirty="0" smtClean="0">
                <a:ea typeface="+mn-ea"/>
              </a:rPr>
              <a:t>			</a:t>
            </a:r>
            <a:r>
              <a:rPr lang="en-AU" i="1" dirty="0" smtClean="0">
                <a:ea typeface="+mn-ea"/>
              </a:rPr>
              <a:t>f(x) = q(x) g(x) + r(x)</a:t>
            </a:r>
          </a:p>
          <a:p>
            <a:pPr lvl="1" fontAlgn="auto">
              <a:spcAft>
                <a:spcPts val="0"/>
              </a:spcAft>
              <a:buFont typeface="Candara" pitchFamily="34" charset="0"/>
              <a:buChar char="•"/>
              <a:defRPr/>
            </a:pPr>
            <a:r>
              <a:rPr lang="en-AU" i="1" dirty="0" smtClean="0">
                <a:ea typeface="+mn-ea"/>
              </a:rPr>
              <a:t>r(x)</a:t>
            </a:r>
            <a:r>
              <a:rPr lang="en-AU" dirty="0" smtClean="0">
                <a:ea typeface="+mn-ea"/>
              </a:rPr>
              <a:t> can be interpreted </a:t>
            </a:r>
            <a:r>
              <a:rPr lang="en-US" dirty="0" smtClean="0">
                <a:ea typeface="+mn-ea"/>
              </a:rPr>
              <a:t>as being a remainder</a:t>
            </a:r>
          </a:p>
          <a:p>
            <a:pPr lvl="1" fontAlgn="auto">
              <a:spcAft>
                <a:spcPts val="0"/>
              </a:spcAft>
              <a:buFont typeface="Candara" pitchFamily="34" charset="0"/>
              <a:buChar char="•"/>
              <a:defRPr/>
            </a:pPr>
            <a:r>
              <a:rPr lang="en-AU" i="1" dirty="0" smtClean="0">
                <a:ea typeface="+mn-ea"/>
              </a:rPr>
              <a:t>So r(x) = f(x) </a:t>
            </a:r>
            <a:r>
              <a:rPr lang="en-AU" dirty="0" smtClean="0">
                <a:ea typeface="+mn-ea"/>
              </a:rPr>
              <a:t>mod </a:t>
            </a:r>
            <a:r>
              <a:rPr lang="en-AU" i="1" dirty="0" smtClean="0">
                <a:ea typeface="+mn-ea"/>
              </a:rPr>
              <a:t>g(x)</a:t>
            </a: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If there is no remainder we can say </a:t>
            </a:r>
            <a:r>
              <a:rPr lang="en-AU" i="1" dirty="0" smtClean="0">
                <a:ea typeface="+mn-ea"/>
                <a:cs typeface="+mn-cs"/>
              </a:rPr>
              <a:t>g(x)</a:t>
            </a:r>
            <a:r>
              <a:rPr lang="en-AU" dirty="0" smtClean="0">
                <a:ea typeface="+mn-ea"/>
                <a:cs typeface="+mn-cs"/>
              </a:rPr>
              <a:t> </a:t>
            </a:r>
            <a:r>
              <a:rPr lang="en-AU" b="1" dirty="0" smtClean="0">
                <a:ea typeface="+mn-ea"/>
                <a:cs typeface="+mn-cs"/>
              </a:rPr>
              <a:t>divides </a:t>
            </a:r>
            <a:r>
              <a:rPr lang="en-AU" i="1" dirty="0" smtClean="0">
                <a:ea typeface="+mn-ea"/>
                <a:cs typeface="+mn-cs"/>
              </a:rPr>
              <a:t>f(x)</a:t>
            </a:r>
          </a:p>
          <a:p>
            <a:pPr lvl="1" fontAlgn="auto">
              <a:spcAft>
                <a:spcPts val="0"/>
              </a:spcAft>
              <a:buFont typeface="Candara" pitchFamily="34" charset="0"/>
              <a:buChar char="•"/>
              <a:defRPr/>
            </a:pPr>
            <a:r>
              <a:rPr lang="en-AU" dirty="0" smtClean="0">
                <a:ea typeface="+mn-ea"/>
              </a:rPr>
              <a:t>Written as </a:t>
            </a:r>
            <a:r>
              <a:rPr lang="en-AU" i="1" dirty="0" smtClean="0">
                <a:ea typeface="+mn-ea"/>
              </a:rPr>
              <a:t>g(x) | f(x)</a:t>
            </a:r>
          </a:p>
          <a:p>
            <a:pPr lvl="1" fontAlgn="auto">
              <a:spcAft>
                <a:spcPts val="0"/>
              </a:spcAft>
              <a:buFont typeface="Candara" pitchFamily="34" charset="0"/>
              <a:buChar char="•"/>
              <a:defRPr/>
            </a:pPr>
            <a:r>
              <a:rPr lang="en-AU" dirty="0" smtClean="0">
                <a:ea typeface="+mn-ea"/>
              </a:rPr>
              <a:t>We can say that </a:t>
            </a:r>
            <a:r>
              <a:rPr lang="en-AU" i="1" dirty="0" smtClean="0">
                <a:ea typeface="+mn-ea"/>
              </a:rPr>
              <a:t>g(x) </a:t>
            </a:r>
            <a:r>
              <a:rPr lang="en-AU" dirty="0" smtClean="0">
                <a:ea typeface="+mn-ea"/>
              </a:rPr>
              <a:t>is a </a:t>
            </a:r>
            <a:r>
              <a:rPr lang="en-AU" b="1" dirty="0" smtClean="0">
                <a:ea typeface="+mn-ea"/>
              </a:rPr>
              <a:t>factor </a:t>
            </a:r>
            <a:r>
              <a:rPr lang="en-AU" dirty="0" smtClean="0">
                <a:ea typeface="+mn-ea"/>
              </a:rPr>
              <a:t>of </a:t>
            </a:r>
            <a:r>
              <a:rPr lang="en-AU" i="1" dirty="0" smtClean="0">
                <a:ea typeface="+mn-ea"/>
              </a:rPr>
              <a:t>f(x)</a:t>
            </a:r>
          </a:p>
          <a:p>
            <a:pPr lvl="1" fontAlgn="auto">
              <a:spcAft>
                <a:spcPts val="0"/>
              </a:spcAft>
              <a:buFont typeface="Candara" pitchFamily="34" charset="0"/>
              <a:buChar char="•"/>
              <a:defRPr/>
            </a:pPr>
            <a:r>
              <a:rPr lang="en-AU" i="1" dirty="0" smtClean="0">
                <a:ea typeface="+mn-ea"/>
              </a:rPr>
              <a:t>Or </a:t>
            </a:r>
            <a:r>
              <a:rPr lang="en-AU" dirty="0" smtClean="0">
                <a:ea typeface="+mn-ea"/>
              </a:rPr>
              <a:t>g(</a:t>
            </a:r>
            <a:r>
              <a:rPr lang="en-AU" i="1" dirty="0" smtClean="0">
                <a:ea typeface="+mn-ea"/>
              </a:rPr>
              <a:t>x)</a:t>
            </a:r>
            <a:r>
              <a:rPr lang="en-AU" dirty="0" smtClean="0">
                <a:ea typeface="+mn-ea"/>
              </a:rPr>
              <a:t> is a </a:t>
            </a:r>
            <a:r>
              <a:rPr lang="en-AU" b="1" dirty="0" smtClean="0">
                <a:ea typeface="+mn-ea"/>
              </a:rPr>
              <a:t>divisor </a:t>
            </a:r>
            <a:r>
              <a:rPr lang="en-AU" dirty="0" smtClean="0">
                <a:ea typeface="+mn-ea"/>
              </a:rPr>
              <a:t>of </a:t>
            </a:r>
            <a:r>
              <a:rPr lang="en-AU" i="1" dirty="0" smtClean="0">
                <a:ea typeface="+mn-ea"/>
              </a:rPr>
              <a:t>f(x)</a:t>
            </a:r>
            <a:endParaRPr lang="en-AU" dirty="0" smtClean="0">
              <a:ea typeface="+mn-ea"/>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A polynomial </a:t>
            </a:r>
            <a:r>
              <a:rPr lang="en-US" i="1" dirty="0" smtClean="0">
                <a:ea typeface="+mn-ea"/>
                <a:cs typeface="+mn-cs"/>
              </a:rPr>
              <a:t>f(x) </a:t>
            </a:r>
            <a:r>
              <a:rPr lang="en-US" dirty="0" smtClean="0">
                <a:ea typeface="+mn-ea"/>
                <a:cs typeface="+mn-cs"/>
              </a:rPr>
              <a:t>over a field </a:t>
            </a:r>
            <a:r>
              <a:rPr lang="en-US" i="1" dirty="0" smtClean="0">
                <a:ea typeface="+mn-ea"/>
                <a:cs typeface="+mn-cs"/>
              </a:rPr>
              <a:t>F </a:t>
            </a:r>
            <a:r>
              <a:rPr lang="en-US" dirty="0" smtClean="0">
                <a:ea typeface="+mn-ea"/>
                <a:cs typeface="+mn-cs"/>
              </a:rPr>
              <a:t>is called </a:t>
            </a:r>
            <a:r>
              <a:rPr lang="en-US" b="1" dirty="0" smtClean="0">
                <a:ea typeface="+mn-ea"/>
                <a:cs typeface="+mn-cs"/>
              </a:rPr>
              <a:t>irreducible </a:t>
            </a:r>
            <a:r>
              <a:rPr lang="en-US" dirty="0" smtClean="0">
                <a:ea typeface="+mn-ea"/>
                <a:cs typeface="+mn-cs"/>
              </a:rPr>
              <a:t>if and only if </a:t>
            </a:r>
            <a:r>
              <a:rPr lang="en-US" i="1" dirty="0" smtClean="0">
                <a:ea typeface="+mn-ea"/>
                <a:cs typeface="+mn-cs"/>
              </a:rPr>
              <a:t>f(x) </a:t>
            </a:r>
            <a:r>
              <a:rPr lang="en-US" dirty="0" smtClean="0">
                <a:ea typeface="+mn-ea"/>
                <a:cs typeface="+mn-cs"/>
              </a:rPr>
              <a:t>cannot be expressed as a product of two polynomials, both over </a:t>
            </a:r>
            <a:r>
              <a:rPr lang="en-US" i="1" dirty="0" smtClean="0">
                <a:ea typeface="+mn-ea"/>
                <a:cs typeface="+mn-cs"/>
              </a:rPr>
              <a:t>F, </a:t>
            </a:r>
            <a:r>
              <a:rPr lang="en-US" dirty="0" smtClean="0">
                <a:ea typeface="+mn-ea"/>
                <a:cs typeface="+mn-cs"/>
              </a:rPr>
              <a:t>and both of degree lower than that of </a:t>
            </a:r>
            <a:r>
              <a:rPr lang="en-US" i="1" dirty="0" smtClean="0">
                <a:ea typeface="+mn-ea"/>
                <a:cs typeface="+mn-cs"/>
              </a:rPr>
              <a:t>f(x)</a:t>
            </a:r>
          </a:p>
          <a:p>
            <a:pPr lvl="1" fontAlgn="auto">
              <a:spcAft>
                <a:spcPts val="0"/>
              </a:spcAft>
              <a:buFont typeface="Candara" pitchFamily="34" charset="0"/>
              <a:buChar char="•"/>
              <a:defRPr/>
            </a:pPr>
            <a:r>
              <a:rPr lang="en-US" dirty="0" smtClean="0">
                <a:ea typeface="+mn-ea"/>
              </a:rPr>
              <a:t>An irreducible polynomial is also called a </a:t>
            </a:r>
            <a:r>
              <a:rPr lang="en-US" b="1" dirty="0" smtClean="0">
                <a:ea typeface="+mn-ea"/>
              </a:rPr>
              <a:t>prime polynomial</a:t>
            </a:r>
            <a:endParaRPr lang="en-AU" b="1" dirty="0">
              <a:ea typeface="+mn-ea"/>
            </a:endParaRPr>
          </a:p>
        </p:txBody>
      </p:sp>
      <p:sp>
        <p:nvSpPr>
          <p:cNvPr id="4" name="Footer Placeholder 3"/>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7522" name="Title 3"/>
          <p:cNvSpPr>
            <a:spLocks noGrp="1"/>
          </p:cNvSpPr>
          <p:nvPr>
            <p:ph type="title"/>
          </p:nvPr>
        </p:nvSpPr>
        <p:spPr>
          <a:xfrm>
            <a:off x="381000" y="609600"/>
            <a:ext cx="3613150" cy="2819400"/>
          </a:xfrm>
        </p:spPr>
        <p:txBody>
          <a:bodyPr/>
          <a:lstStyle/>
          <a:p>
            <a:r>
              <a:rPr lang="en-US" smtClean="0"/>
              <a:t> Example of Polynomial Arithmetic </a:t>
            </a:r>
            <a:br>
              <a:rPr lang="en-US" smtClean="0"/>
            </a:br>
            <a:r>
              <a:rPr lang="en-US" smtClean="0"/>
              <a:t>Over GF(2)</a:t>
            </a:r>
          </a:p>
        </p:txBody>
      </p:sp>
      <p:sp>
        <p:nvSpPr>
          <p:cNvPr id="107523" name="Text Placeholder 9"/>
          <p:cNvSpPr>
            <a:spLocks noGrp="1"/>
          </p:cNvSpPr>
          <p:nvPr>
            <p:ph type="body" sz="half" idx="2"/>
          </p:nvPr>
        </p:nvSpPr>
        <p:spPr>
          <a:xfrm>
            <a:off x="381000" y="5410200"/>
            <a:ext cx="3613150" cy="1447800"/>
          </a:xfrm>
        </p:spPr>
        <p:txBody>
          <a:bodyPr/>
          <a:lstStyle/>
          <a:p>
            <a:pPr algn="l"/>
            <a:r>
              <a:rPr lang="en-US" dirty="0" smtClean="0"/>
              <a:t>(Figure</a:t>
            </a:r>
            <a:r>
              <a:rPr lang="en-US" dirty="0" smtClean="0"/>
              <a:t> </a:t>
            </a:r>
            <a:r>
              <a:rPr lang="en-US" dirty="0" smtClean="0"/>
              <a:t>5.6</a:t>
            </a:r>
            <a:r>
              <a:rPr lang="en-US" dirty="0" smtClean="0"/>
              <a:t> </a:t>
            </a:r>
            <a:r>
              <a:rPr lang="en-US" dirty="0" smtClean="0"/>
              <a:t>can be found on page </a:t>
            </a:r>
            <a:r>
              <a:rPr lang="en-US" dirty="0" smtClean="0"/>
              <a:t>137 </a:t>
            </a:r>
            <a:r>
              <a:rPr lang="en-US" dirty="0" smtClean="0"/>
              <a:t>in the textbook)</a:t>
            </a:r>
          </a:p>
        </p:txBody>
      </p:sp>
      <p:sp>
        <p:nvSpPr>
          <p:cNvPr id="5" name="Footer Placeholder 4"/>
          <p:cNvSpPr>
            <a:spLocks noGrp="1"/>
          </p:cNvSpPr>
          <p:nvPr>
            <p:ph type="ftr" sz="quarter" idx="11"/>
          </p:nvPr>
        </p:nvSpPr>
        <p:spPr>
          <a:xfrm>
            <a:off x="0" y="6492875"/>
            <a:ext cx="4267200" cy="365125"/>
          </a:xfrm>
        </p:spPr>
        <p:txBody>
          <a:bodyPr/>
          <a:lstStyle/>
          <a:p>
            <a:pPr>
              <a:defRPr/>
            </a:pPr>
            <a:r>
              <a:rPr lang="en-US" sz="1000" dirty="0" smtClean="0"/>
              <a:t>© 2017 Pearson Education, Inc., Hoboken, NJ. All rights reserved.  </a:t>
            </a:r>
            <a:endParaRPr lang="en-US" sz="1000" dirty="0"/>
          </a:p>
        </p:txBody>
      </p:sp>
      <p:pic>
        <p:nvPicPr>
          <p:cNvPr id="6" name="Picture 5" descr="f06.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4038600" y="-152400"/>
            <a:ext cx="5645727" cy="7306235"/>
          </a:xfrm>
          <a:prstGeom prst="rect">
            <a:avLst/>
          </a:prstGeom>
        </p:spPr>
      </p:pic>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smtClean="0"/>
              <a:t>Polynomial GCD</a:t>
            </a:r>
            <a:endParaRPr lang="en-AU" smtClean="0"/>
          </a:p>
        </p:txBody>
      </p:sp>
      <p:sp>
        <p:nvSpPr>
          <p:cNvPr id="78851" name="Rectangle 3"/>
          <p:cNvSpPr>
            <a:spLocks noGrp="1" noChangeArrowheads="1"/>
          </p:cNvSpPr>
          <p:nvPr>
            <p:ph idx="1"/>
          </p:nvPr>
        </p:nvSpPr>
        <p:spPr>
          <a:xfrm>
            <a:off x="609600" y="1676400"/>
            <a:ext cx="8001000" cy="4714875"/>
          </a:xfrm>
        </p:spPr>
        <p:txBody>
          <a:bodyPr rtlCol="0">
            <a:normAutofit fontScale="92500" lnSpcReduction="20000"/>
          </a:bodyPr>
          <a:lstStyle/>
          <a:p>
            <a:pPr fontAlgn="auto">
              <a:spcAft>
                <a:spcPts val="600"/>
              </a:spcAft>
              <a:buClr>
                <a:schemeClr val="accent1">
                  <a:lumMod val="60000"/>
                  <a:lumOff val="40000"/>
                </a:schemeClr>
              </a:buClr>
              <a:buFont typeface="Candara" pitchFamily="34" charset="0"/>
              <a:buChar char="•"/>
              <a:defRPr/>
            </a:pPr>
            <a:r>
              <a:rPr lang="en-US" dirty="0" smtClean="0">
                <a:ea typeface="+mn-ea"/>
                <a:cs typeface="+mn-cs"/>
              </a:rPr>
              <a:t>The polynomial </a:t>
            </a:r>
            <a:r>
              <a:rPr lang="en-US" i="1" dirty="0" smtClean="0">
                <a:ea typeface="+mn-ea"/>
                <a:cs typeface="+mn-cs"/>
              </a:rPr>
              <a:t>c(x)</a:t>
            </a:r>
            <a:r>
              <a:rPr lang="en-US" b="1" i="1" dirty="0" smtClean="0">
                <a:ea typeface="+mn-ea"/>
                <a:cs typeface="+mn-cs"/>
              </a:rPr>
              <a:t> </a:t>
            </a:r>
            <a:r>
              <a:rPr lang="en-US" dirty="0" smtClean="0">
                <a:ea typeface="+mn-ea"/>
                <a:cs typeface="+mn-cs"/>
              </a:rPr>
              <a:t>is said to be the greatest common divisor of </a:t>
            </a:r>
            <a:r>
              <a:rPr lang="en-US" i="1" dirty="0" smtClean="0">
                <a:ea typeface="+mn-ea"/>
                <a:cs typeface="+mn-cs"/>
              </a:rPr>
              <a:t>a(x) </a:t>
            </a:r>
            <a:r>
              <a:rPr lang="en-US" dirty="0" smtClean="0">
                <a:ea typeface="+mn-ea"/>
                <a:cs typeface="+mn-cs"/>
              </a:rPr>
              <a:t>and </a:t>
            </a:r>
            <a:r>
              <a:rPr lang="en-US" i="1" dirty="0" smtClean="0">
                <a:ea typeface="+mn-ea"/>
                <a:cs typeface="+mn-cs"/>
              </a:rPr>
              <a:t>b(x) </a:t>
            </a:r>
            <a:r>
              <a:rPr lang="en-US" dirty="0" smtClean="0">
                <a:ea typeface="+mn-ea"/>
                <a:cs typeface="+mn-cs"/>
              </a:rPr>
              <a:t>if the following are true:</a:t>
            </a:r>
          </a:p>
          <a:p>
            <a:pPr lvl="1" fontAlgn="auto">
              <a:spcAft>
                <a:spcPts val="600"/>
              </a:spcAft>
              <a:buFont typeface="Candara" pitchFamily="34" charset="0"/>
              <a:buChar char="•"/>
              <a:defRPr/>
            </a:pPr>
            <a:r>
              <a:rPr lang="en-US" i="1" dirty="0" smtClean="0">
                <a:ea typeface="+mn-ea"/>
              </a:rPr>
              <a:t>c(x) </a:t>
            </a:r>
            <a:r>
              <a:rPr lang="en-US" dirty="0" smtClean="0">
                <a:ea typeface="+mn-ea"/>
              </a:rPr>
              <a:t>divides both </a:t>
            </a:r>
            <a:r>
              <a:rPr lang="en-US" i="1" dirty="0" smtClean="0">
                <a:ea typeface="+mn-ea"/>
              </a:rPr>
              <a:t>a(x)</a:t>
            </a:r>
            <a:r>
              <a:rPr lang="en-US" dirty="0" smtClean="0">
                <a:ea typeface="+mn-ea"/>
              </a:rPr>
              <a:t> and </a:t>
            </a:r>
            <a:r>
              <a:rPr lang="en-US" i="1" dirty="0" smtClean="0">
                <a:ea typeface="+mn-ea"/>
              </a:rPr>
              <a:t>b(x)</a:t>
            </a:r>
          </a:p>
          <a:p>
            <a:pPr lvl="1" fontAlgn="auto">
              <a:spcAft>
                <a:spcPts val="600"/>
              </a:spcAft>
              <a:buFont typeface="Candara" pitchFamily="34" charset="0"/>
              <a:buChar char="•"/>
              <a:defRPr/>
            </a:pPr>
            <a:r>
              <a:rPr lang="en-US" dirty="0" smtClean="0">
                <a:ea typeface="+mn-ea"/>
              </a:rPr>
              <a:t>Any divisor of </a:t>
            </a:r>
            <a:r>
              <a:rPr lang="en-US" i="1" dirty="0" smtClean="0">
                <a:ea typeface="+mn-ea"/>
              </a:rPr>
              <a:t>a(x)</a:t>
            </a:r>
            <a:r>
              <a:rPr lang="en-US" dirty="0" smtClean="0">
                <a:ea typeface="+mn-ea"/>
              </a:rPr>
              <a:t> and </a:t>
            </a:r>
            <a:r>
              <a:rPr lang="en-US" i="1" dirty="0" smtClean="0">
                <a:ea typeface="+mn-ea"/>
              </a:rPr>
              <a:t>b(x)</a:t>
            </a:r>
            <a:r>
              <a:rPr lang="en-US" dirty="0" smtClean="0">
                <a:ea typeface="+mn-ea"/>
              </a:rPr>
              <a:t> is a divisor of </a:t>
            </a:r>
            <a:r>
              <a:rPr lang="en-US" i="1" dirty="0" smtClean="0">
                <a:ea typeface="+mn-ea"/>
              </a:rPr>
              <a:t>c(x)</a:t>
            </a:r>
          </a:p>
          <a:p>
            <a:pPr fontAlgn="auto">
              <a:spcAft>
                <a:spcPts val="600"/>
              </a:spcAft>
              <a:buClr>
                <a:schemeClr val="accent1">
                  <a:lumMod val="60000"/>
                  <a:lumOff val="40000"/>
                </a:schemeClr>
              </a:buClr>
              <a:buFont typeface="Candara" pitchFamily="34" charset="0"/>
              <a:buChar char="•"/>
              <a:defRPr/>
            </a:pPr>
            <a:r>
              <a:rPr lang="en-US" dirty="0" smtClean="0">
                <a:ea typeface="+mn-ea"/>
                <a:cs typeface="+mn-cs"/>
              </a:rPr>
              <a:t>An equivalent definition is: </a:t>
            </a:r>
          </a:p>
          <a:p>
            <a:pPr lvl="1" fontAlgn="auto">
              <a:spcAft>
                <a:spcPts val="600"/>
              </a:spcAft>
              <a:buFont typeface="Candara" pitchFamily="34" charset="0"/>
              <a:buChar char="•"/>
              <a:defRPr/>
            </a:pPr>
            <a:r>
              <a:rPr lang="en-US" dirty="0" smtClean="0">
                <a:ea typeface="+mn-ea"/>
              </a:rPr>
              <a:t>gcd</a:t>
            </a:r>
            <a:r>
              <a:rPr lang="en-US" i="1" dirty="0" smtClean="0">
                <a:ea typeface="+mn-ea"/>
              </a:rPr>
              <a:t>[a(x), b(x)] </a:t>
            </a:r>
            <a:r>
              <a:rPr lang="en-US" dirty="0" smtClean="0">
                <a:ea typeface="+mn-ea"/>
              </a:rPr>
              <a:t>is the polynomial of maximum degree that divides both </a:t>
            </a:r>
            <a:r>
              <a:rPr lang="en-US" i="1" dirty="0" smtClean="0">
                <a:ea typeface="+mn-ea"/>
              </a:rPr>
              <a:t>a(x)</a:t>
            </a:r>
            <a:r>
              <a:rPr lang="en-US" dirty="0" smtClean="0">
                <a:ea typeface="+mn-ea"/>
              </a:rPr>
              <a:t> and </a:t>
            </a:r>
            <a:r>
              <a:rPr lang="en-US" i="1" dirty="0" smtClean="0">
                <a:ea typeface="+mn-ea"/>
              </a:rPr>
              <a:t>b(x)</a:t>
            </a:r>
          </a:p>
          <a:p>
            <a:pPr fontAlgn="auto">
              <a:spcAft>
                <a:spcPts val="600"/>
              </a:spcAft>
              <a:buClr>
                <a:schemeClr val="accent1">
                  <a:lumMod val="60000"/>
                  <a:lumOff val="40000"/>
                </a:schemeClr>
              </a:buClr>
              <a:buFont typeface="Candara" pitchFamily="34" charset="0"/>
              <a:buChar char="•"/>
              <a:defRPr/>
            </a:pPr>
            <a:r>
              <a:rPr lang="en-US" dirty="0" smtClean="0">
                <a:ea typeface="+mn-ea"/>
                <a:cs typeface="+mn-cs"/>
              </a:rPr>
              <a:t>The Euclidean algorithm can be extended to find the greatest common divisor of two polynomials whose coefficients are elements of a field</a:t>
            </a:r>
            <a:endParaRPr lang="en-AU" dirty="0">
              <a:ea typeface="+mn-ea"/>
              <a:cs typeface="+mn-cs"/>
            </a:endParaRPr>
          </a:p>
        </p:txBody>
      </p:sp>
      <p:sp>
        <p:nvSpPr>
          <p:cNvPr id="4" name="Footer Placeholder 3"/>
          <p:cNvSpPr>
            <a:spLocks noGrp="1"/>
          </p:cNvSpPr>
          <p:nvPr>
            <p:ph type="ftr" sz="quarter" idx="11"/>
          </p:nvPr>
        </p:nvSpPr>
        <p:spPr>
          <a:xfrm>
            <a:off x="0" y="6492875"/>
            <a:ext cx="5257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1618" name="Title 4"/>
          <p:cNvSpPr>
            <a:spLocks noGrp="1"/>
          </p:cNvSpPr>
          <p:nvPr>
            <p:ph type="title"/>
          </p:nvPr>
        </p:nvSpPr>
        <p:spPr/>
        <p:txBody>
          <a:bodyPr/>
          <a:lstStyle/>
          <a:p>
            <a:r>
              <a:rPr lang="en-US" sz="4800" dirty="0" smtClean="0"/>
              <a:t>Table</a:t>
            </a:r>
            <a:r>
              <a:rPr lang="en-US" sz="4800" dirty="0" smtClean="0"/>
              <a:t> </a:t>
            </a:r>
            <a:r>
              <a:rPr lang="en-US" sz="4800" dirty="0" smtClean="0"/>
              <a:t>5.2</a:t>
            </a:r>
            <a:r>
              <a:rPr lang="en-US" sz="4800" dirty="0" smtClean="0"/>
              <a:t>(</a:t>
            </a:r>
            <a:r>
              <a:rPr lang="en-US" sz="4800" dirty="0" smtClean="0"/>
              <a:t>a)</a:t>
            </a:r>
            <a:br>
              <a:rPr lang="en-US" sz="4800" dirty="0" smtClean="0"/>
            </a:br>
            <a:r>
              <a:rPr lang="en-US" sz="4800" dirty="0" smtClean="0"/>
              <a:t>Arithmetic in GF(2</a:t>
            </a:r>
            <a:r>
              <a:rPr lang="en-US" sz="4800" baseline="30000" dirty="0" smtClean="0"/>
              <a:t>3</a:t>
            </a:r>
            <a:r>
              <a:rPr lang="en-US" sz="4800" dirty="0" smtClean="0"/>
              <a:t>)</a:t>
            </a:r>
          </a:p>
        </p:txBody>
      </p:sp>
      <p:sp>
        <p:nvSpPr>
          <p:cNvPr id="111620" name="TextBox 8"/>
          <p:cNvSpPr txBox="1">
            <a:spLocks noChangeArrowheads="1"/>
          </p:cNvSpPr>
          <p:nvPr/>
        </p:nvSpPr>
        <p:spPr bwMode="auto">
          <a:xfrm>
            <a:off x="4419600" y="6324600"/>
            <a:ext cx="1352550" cy="369888"/>
          </a:xfrm>
          <a:prstGeom prst="rect">
            <a:avLst/>
          </a:prstGeom>
          <a:noFill/>
          <a:ln w="9525">
            <a:noFill/>
            <a:miter lim="800000"/>
            <a:headEnd/>
            <a:tailEnd/>
          </a:ln>
        </p:spPr>
        <p:txBody>
          <a:bodyPr wrap="none">
            <a:prstTxWarp prst="textNoShape">
              <a:avLst/>
            </a:prstTxWarp>
            <a:spAutoFit/>
          </a:bodyPr>
          <a:lstStyle/>
          <a:p>
            <a:r>
              <a:rPr lang="en-US"/>
              <a:t>(a) Addition </a:t>
            </a:r>
          </a:p>
        </p:txBody>
      </p:sp>
      <p:sp>
        <p:nvSpPr>
          <p:cNvPr id="5" name="Footer Placeholder 4"/>
          <p:cNvSpPr>
            <a:spLocks noGrp="1"/>
          </p:cNvSpPr>
          <p:nvPr>
            <p:ph type="ftr" sz="quarter" idx="11"/>
          </p:nvPr>
        </p:nvSpPr>
        <p:spPr>
          <a:xfrm>
            <a:off x="0" y="6492875"/>
            <a:ext cx="4267200" cy="365125"/>
          </a:xfrm>
        </p:spPr>
        <p:txBody>
          <a:bodyPr/>
          <a:lstStyle/>
          <a:p>
            <a:pPr>
              <a:defRPr/>
            </a:pPr>
            <a:r>
              <a:rPr lang="en-US" sz="1000" dirty="0" smtClean="0"/>
              <a:t>© 2017 Pearson Education, Inc., Hoboken, NJ. All rights reserved.  </a:t>
            </a:r>
            <a:endParaRPr lang="en-US" sz="1000" dirty="0"/>
          </a:p>
        </p:txBody>
      </p:sp>
      <p:pic>
        <p:nvPicPr>
          <p:cNvPr id="6" name="Picture 5"/>
          <p:cNvPicPr>
            <a:picLocks noChangeAspect="1"/>
          </p:cNvPicPr>
          <p:nvPr/>
        </p:nvPicPr>
        <mc:AlternateContent>
          <mc:Choice xmlns:ma="http://schemas.microsoft.com/office/mac/drawingml/2008/main" Requires="ma">
            <p:blipFill>
              <a:blip r:embed="rId3"/>
              <a:srcRect r="30000"/>
              <a:stretch>
                <a:fillRect/>
              </a:stretch>
            </p:blipFill>
          </mc:Choice>
          <mc:Fallback>
            <p:blipFill>
              <a:blip r:embed="rId4"/>
              <a:srcRect r="30000"/>
              <a:stretch>
                <a:fillRect/>
              </a:stretch>
            </p:blipFill>
          </mc:Fallback>
        </mc:AlternateContent>
        <p:spPr>
          <a:xfrm>
            <a:off x="943898" y="1676401"/>
            <a:ext cx="7438102" cy="4803774"/>
          </a:xfrm>
          <a:prstGeom prst="rect">
            <a:avLst/>
          </a:prstGeom>
        </p:spPr>
      </p:pic>
    </p:spTree>
  </p:cSld>
  <p:clrMapOvr>
    <a:masterClrMapping/>
  </p:clrMapOvr>
  <p:transition spd="med">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3666" name="Title 4"/>
          <p:cNvSpPr>
            <a:spLocks noGrp="1"/>
          </p:cNvSpPr>
          <p:nvPr>
            <p:ph type="title"/>
          </p:nvPr>
        </p:nvSpPr>
        <p:spPr/>
        <p:txBody>
          <a:bodyPr/>
          <a:lstStyle/>
          <a:p>
            <a:r>
              <a:rPr lang="en-US" sz="4800" dirty="0" smtClean="0"/>
              <a:t>Table</a:t>
            </a:r>
            <a:r>
              <a:rPr lang="en-US" sz="4800" dirty="0" smtClean="0"/>
              <a:t> </a:t>
            </a:r>
            <a:r>
              <a:rPr lang="en-US" sz="4800" dirty="0" smtClean="0"/>
              <a:t>5.2</a:t>
            </a:r>
            <a:r>
              <a:rPr lang="en-US" sz="4800" dirty="0" smtClean="0"/>
              <a:t>(</a:t>
            </a:r>
            <a:r>
              <a:rPr lang="en-US" sz="4800" dirty="0" smtClean="0"/>
              <a:t>b)</a:t>
            </a:r>
            <a:br>
              <a:rPr lang="en-US" sz="4800" dirty="0" smtClean="0"/>
            </a:br>
            <a:r>
              <a:rPr lang="en-US" sz="4800" dirty="0" smtClean="0"/>
              <a:t>Arithmetic in GF(2</a:t>
            </a:r>
            <a:r>
              <a:rPr lang="en-US" sz="4800" baseline="30000" dirty="0" smtClean="0"/>
              <a:t>3</a:t>
            </a:r>
            <a:r>
              <a:rPr lang="en-US" sz="4800" dirty="0" smtClean="0"/>
              <a:t>)</a:t>
            </a:r>
          </a:p>
        </p:txBody>
      </p:sp>
      <p:sp>
        <p:nvSpPr>
          <p:cNvPr id="113668" name="Rectangle 9"/>
          <p:cNvSpPr>
            <a:spLocks noChangeArrowheads="1"/>
          </p:cNvSpPr>
          <p:nvPr/>
        </p:nvSpPr>
        <p:spPr bwMode="auto">
          <a:xfrm>
            <a:off x="4572000" y="6324600"/>
            <a:ext cx="1865313" cy="369888"/>
          </a:xfrm>
          <a:prstGeom prst="rect">
            <a:avLst/>
          </a:prstGeom>
          <a:noFill/>
          <a:ln w="9525">
            <a:noFill/>
            <a:miter lim="800000"/>
            <a:headEnd/>
            <a:tailEnd/>
          </a:ln>
        </p:spPr>
        <p:txBody>
          <a:bodyPr wrap="none">
            <a:prstTxWarp prst="textNoShape">
              <a:avLst/>
            </a:prstTxWarp>
            <a:spAutoFit/>
          </a:bodyPr>
          <a:lstStyle/>
          <a:p>
            <a:r>
              <a:rPr lang="en-US"/>
              <a:t>(b) Multiplication </a:t>
            </a:r>
          </a:p>
        </p:txBody>
      </p:sp>
      <p:sp>
        <p:nvSpPr>
          <p:cNvPr id="5" name="Footer Placeholder 4"/>
          <p:cNvSpPr>
            <a:spLocks noGrp="1"/>
          </p:cNvSpPr>
          <p:nvPr>
            <p:ph type="ftr" sz="quarter" idx="11"/>
          </p:nvPr>
        </p:nvSpPr>
        <p:spPr>
          <a:xfrm>
            <a:off x="0" y="6492875"/>
            <a:ext cx="4419600" cy="365125"/>
          </a:xfrm>
        </p:spPr>
        <p:txBody>
          <a:bodyPr/>
          <a:lstStyle/>
          <a:p>
            <a:pPr>
              <a:defRPr/>
            </a:pPr>
            <a:r>
              <a:rPr lang="en-US" sz="1000" dirty="0" smtClean="0"/>
              <a:t>© 2017 Pearson Education, Inc., Hoboken, NJ. All rights reserved.  </a:t>
            </a:r>
            <a:endParaRPr lang="en-US" sz="1000" dirty="0"/>
          </a:p>
        </p:txBody>
      </p:sp>
      <p:pic>
        <p:nvPicPr>
          <p:cNvPr id="6" name="Picture 5"/>
          <p:cNvPicPr>
            <a:picLocks noChangeAspect="1"/>
          </p:cNvPicPr>
          <p:nvPr/>
        </p:nvPicPr>
        <mc:AlternateContent>
          <mc:Choice xmlns:ma="http://schemas.microsoft.com/office/mac/drawingml/2008/main" Requires="ma">
            <p:blipFill>
              <a:blip r:embed="rId3"/>
              <a:srcRect r="30126"/>
              <a:stretch>
                <a:fillRect/>
              </a:stretch>
            </p:blipFill>
          </mc:Choice>
          <mc:Fallback>
            <p:blipFill>
              <a:blip r:embed="rId4"/>
              <a:srcRect r="30126"/>
              <a:stretch>
                <a:fillRect/>
              </a:stretch>
            </p:blipFill>
          </mc:Fallback>
        </mc:AlternateContent>
        <p:spPr>
          <a:xfrm>
            <a:off x="990600" y="1752600"/>
            <a:ext cx="7244911" cy="4750424"/>
          </a:xfrm>
          <a:prstGeom prst="rect">
            <a:avLst/>
          </a:prstGeom>
        </p:spPr>
      </p:pic>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5714" name="Title 4"/>
          <p:cNvSpPr>
            <a:spLocks noGrp="1"/>
          </p:cNvSpPr>
          <p:nvPr>
            <p:ph type="title"/>
          </p:nvPr>
        </p:nvSpPr>
        <p:spPr>
          <a:xfrm>
            <a:off x="381000" y="990600"/>
            <a:ext cx="3613150" cy="2819400"/>
          </a:xfrm>
        </p:spPr>
        <p:txBody>
          <a:bodyPr/>
          <a:lstStyle/>
          <a:p>
            <a:r>
              <a:rPr lang="en-US" sz="4800" dirty="0" smtClean="0"/>
              <a:t>Table</a:t>
            </a:r>
            <a:r>
              <a:rPr lang="en-US" sz="4800" dirty="0" smtClean="0"/>
              <a:t> </a:t>
            </a:r>
            <a:r>
              <a:rPr lang="en-US" sz="4800" dirty="0" smtClean="0"/>
              <a:t>5.2</a:t>
            </a:r>
            <a:r>
              <a:rPr lang="en-US" sz="4800" dirty="0" smtClean="0"/>
              <a:t>(</a:t>
            </a:r>
            <a:r>
              <a:rPr lang="en-US" sz="4800" dirty="0" smtClean="0"/>
              <a:t>c)</a:t>
            </a:r>
            <a:br>
              <a:rPr lang="en-US" sz="4800" dirty="0" smtClean="0"/>
            </a:br>
            <a:r>
              <a:rPr lang="en-US" sz="4800" dirty="0" smtClean="0"/>
              <a:t/>
            </a:r>
            <a:br>
              <a:rPr lang="en-US" sz="4800" dirty="0" smtClean="0"/>
            </a:br>
            <a:r>
              <a:rPr lang="en-US" sz="4800" dirty="0" smtClean="0"/>
              <a:t>Arithmetic </a:t>
            </a:r>
            <a:br>
              <a:rPr lang="en-US" sz="4800" dirty="0" smtClean="0"/>
            </a:br>
            <a:r>
              <a:rPr lang="en-US" sz="4800" dirty="0" smtClean="0"/>
              <a:t>in GF(2</a:t>
            </a:r>
            <a:r>
              <a:rPr lang="en-US" sz="4800" baseline="30000" dirty="0" smtClean="0"/>
              <a:t>3</a:t>
            </a:r>
            <a:r>
              <a:rPr lang="en-US" sz="4800" dirty="0" smtClean="0"/>
              <a:t>)</a:t>
            </a:r>
          </a:p>
        </p:txBody>
      </p:sp>
      <p:sp>
        <p:nvSpPr>
          <p:cNvPr id="115716" name="Rectangle 10"/>
          <p:cNvSpPr>
            <a:spLocks noChangeArrowheads="1"/>
          </p:cNvSpPr>
          <p:nvPr/>
        </p:nvSpPr>
        <p:spPr bwMode="auto">
          <a:xfrm>
            <a:off x="4648200" y="6324600"/>
            <a:ext cx="4191000" cy="369888"/>
          </a:xfrm>
          <a:prstGeom prst="rect">
            <a:avLst/>
          </a:prstGeom>
          <a:noFill/>
          <a:ln w="9525">
            <a:noFill/>
            <a:miter lim="800000"/>
            <a:headEnd/>
            <a:tailEnd/>
          </a:ln>
        </p:spPr>
        <p:txBody>
          <a:bodyPr>
            <a:prstTxWarp prst="textNoShape">
              <a:avLst/>
            </a:prstTxWarp>
            <a:spAutoFit/>
          </a:bodyPr>
          <a:lstStyle/>
          <a:p>
            <a:r>
              <a:rPr lang="en-US" dirty="0"/>
              <a:t>(</a:t>
            </a:r>
            <a:r>
              <a:rPr lang="en-US" dirty="0" err="1"/>
              <a:t>c</a:t>
            </a:r>
            <a:r>
              <a:rPr lang="en-US" dirty="0"/>
              <a:t>) Additive and multiplicative inverses</a:t>
            </a:r>
          </a:p>
        </p:txBody>
      </p:sp>
      <p:sp>
        <p:nvSpPr>
          <p:cNvPr id="5" name="Footer Placeholder 4"/>
          <p:cNvSpPr>
            <a:spLocks noGrp="1"/>
          </p:cNvSpPr>
          <p:nvPr>
            <p:ph type="ftr" sz="quarter" idx="11"/>
          </p:nvPr>
        </p:nvSpPr>
        <p:spPr>
          <a:xfrm>
            <a:off x="0" y="6492875"/>
            <a:ext cx="4572000" cy="365125"/>
          </a:xfrm>
        </p:spPr>
        <p:txBody>
          <a:bodyPr/>
          <a:lstStyle/>
          <a:p>
            <a:pPr>
              <a:defRPr/>
            </a:pPr>
            <a:r>
              <a:rPr lang="en-US" sz="1000" dirty="0" smtClean="0"/>
              <a:t>© 2017 Pearson Education, Inc., Hoboken, NJ. All rights reserved.  </a:t>
            </a:r>
            <a:endParaRPr lang="en-US" sz="1000" dirty="0"/>
          </a:p>
        </p:txBody>
      </p:sp>
      <p:pic>
        <p:nvPicPr>
          <p:cNvPr id="6" name="Picture 5"/>
          <p:cNvPicPr>
            <a:picLocks noChangeAspect="1"/>
          </p:cNvPicPr>
          <p:nvPr/>
        </p:nvPicPr>
        <mc:AlternateContent>
          <mc:Choice xmlns:ma="http://schemas.microsoft.com/office/mac/drawingml/2008/main" Requires="ma">
            <p:blipFill>
              <a:blip r:embed="rId3"/>
              <a:srcRect r="76820"/>
              <a:stretch>
                <a:fillRect/>
              </a:stretch>
            </p:blipFill>
          </mc:Choice>
          <mc:Fallback>
            <p:blipFill>
              <a:blip r:embed="rId4"/>
              <a:srcRect r="76820"/>
              <a:stretch>
                <a:fillRect/>
              </a:stretch>
            </p:blipFill>
          </mc:Fallback>
        </mc:AlternateContent>
        <p:spPr>
          <a:xfrm>
            <a:off x="5181600" y="-685800"/>
            <a:ext cx="3660716" cy="7235417"/>
          </a:xfrm>
          <a:prstGeom prst="rect">
            <a:avLst/>
          </a:prstGeom>
        </p:spPr>
      </p:pic>
    </p:spTree>
  </p:cSld>
  <p:clrMapOvr>
    <a:masterClrMapping/>
  </p:clrMapOvr>
  <p:transition>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17762" name="Picture 3"/>
          <p:cNvPicPr>
            <a:picLocks noChangeAspect="1"/>
          </p:cNvPicPr>
          <p:nvPr/>
        </p:nvPicPr>
        <p:blipFill>
          <a:blip r:embed="rId3"/>
          <a:srcRect/>
          <a:stretch>
            <a:fillRect/>
          </a:stretch>
        </p:blipFill>
        <p:spPr bwMode="auto">
          <a:xfrm>
            <a:off x="228600" y="1219200"/>
            <a:ext cx="8558213" cy="2373313"/>
          </a:xfrm>
          <a:prstGeom prst="rect">
            <a:avLst/>
          </a:prstGeom>
          <a:noFill/>
          <a:ln w="9525">
            <a:noFill/>
            <a:miter lim="800000"/>
            <a:headEnd/>
            <a:tailEnd/>
          </a:ln>
        </p:spPr>
      </p:pic>
      <p:sp>
        <p:nvSpPr>
          <p:cNvPr id="7" name="Rectangle 6"/>
          <p:cNvSpPr/>
          <p:nvPr/>
        </p:nvSpPr>
        <p:spPr>
          <a:xfrm>
            <a:off x="0" y="0"/>
            <a:ext cx="9144000" cy="1077913"/>
          </a:xfrm>
          <a:prstGeom prst="rect">
            <a:avLst/>
          </a:prstGeom>
        </p:spPr>
        <p:txBody>
          <a:bodyPr>
            <a:spAutoFit/>
          </a:bodyPr>
          <a:lstStyle/>
          <a:p>
            <a:pPr algn="ctr">
              <a:defRPr/>
            </a:pPr>
            <a:r>
              <a:rPr lang="en-US" sz="3600" b="1" dirty="0">
                <a:latin typeface="+mn-lt"/>
              </a:rPr>
              <a:t>				Table</a:t>
            </a:r>
            <a:r>
              <a:rPr lang="en-US" sz="3600" b="1" dirty="0" smtClean="0">
                <a:latin typeface="+mn-lt"/>
              </a:rPr>
              <a:t> </a:t>
            </a:r>
            <a:r>
              <a:rPr lang="en-US" sz="3600" b="1" dirty="0" smtClean="0">
                <a:latin typeface="+mn-lt"/>
              </a:rPr>
              <a:t>5.3</a:t>
            </a:r>
            <a:r>
              <a:rPr lang="en-US" sz="3600" b="1" dirty="0" smtClean="0">
                <a:latin typeface="+mn-lt"/>
              </a:rPr>
              <a:t>   </a:t>
            </a:r>
            <a:r>
              <a:rPr lang="en-US" b="1" dirty="0">
                <a:latin typeface="+mn-lt"/>
              </a:rPr>
              <a:t>(page </a:t>
            </a:r>
            <a:r>
              <a:rPr lang="en-US" b="1" dirty="0" smtClean="0">
                <a:latin typeface="+mn-lt"/>
              </a:rPr>
              <a:t>144 </a:t>
            </a:r>
            <a:r>
              <a:rPr lang="en-US" b="1" dirty="0">
                <a:latin typeface="+mn-lt"/>
              </a:rPr>
              <a:t>in textbook)   </a:t>
            </a:r>
            <a:endParaRPr lang="en-US" sz="3600" b="1" dirty="0">
              <a:latin typeface="+mn-lt"/>
            </a:endParaRPr>
          </a:p>
          <a:p>
            <a:pPr algn="ctr">
              <a:defRPr/>
            </a:pPr>
            <a:r>
              <a:rPr lang="en-US" sz="2800" b="1" dirty="0">
                <a:latin typeface="+mn-lt"/>
              </a:rPr>
              <a:t>Polynomial Arithmetic Modulo (</a:t>
            </a:r>
            <a:r>
              <a:rPr lang="en-US" sz="2800" b="1" i="1" dirty="0">
                <a:latin typeface="+mn-lt"/>
              </a:rPr>
              <a:t>x</a:t>
            </a:r>
            <a:r>
              <a:rPr lang="en-US" sz="2800" b="1" baseline="30000" dirty="0">
                <a:latin typeface="+mn-lt"/>
              </a:rPr>
              <a:t>3</a:t>
            </a:r>
            <a:r>
              <a:rPr lang="en-US" sz="2800" b="1" dirty="0">
                <a:latin typeface="+mn-lt"/>
              </a:rPr>
              <a:t> + </a:t>
            </a:r>
            <a:r>
              <a:rPr lang="en-US" sz="2800" b="1" i="1" dirty="0">
                <a:latin typeface="+mn-lt"/>
              </a:rPr>
              <a:t>x</a:t>
            </a:r>
            <a:r>
              <a:rPr lang="en-US" sz="2800" b="1" dirty="0">
                <a:latin typeface="+mn-lt"/>
              </a:rPr>
              <a:t> + 1)</a:t>
            </a:r>
            <a:endParaRPr lang="en-US" sz="1400" dirty="0">
              <a:latin typeface="Arial" pitchFamily="-1" charset="0"/>
            </a:endParaRPr>
          </a:p>
        </p:txBody>
      </p:sp>
      <p:sp>
        <p:nvSpPr>
          <p:cNvPr id="117764" name="TextBox 10"/>
          <p:cNvSpPr txBox="1">
            <a:spLocks noChangeArrowheads="1"/>
          </p:cNvSpPr>
          <p:nvPr/>
        </p:nvSpPr>
        <p:spPr bwMode="auto">
          <a:xfrm>
            <a:off x="3505200" y="3352800"/>
            <a:ext cx="1352550" cy="369888"/>
          </a:xfrm>
          <a:prstGeom prst="rect">
            <a:avLst/>
          </a:prstGeom>
          <a:noFill/>
          <a:ln w="9525">
            <a:noFill/>
            <a:miter lim="800000"/>
            <a:headEnd/>
            <a:tailEnd/>
          </a:ln>
        </p:spPr>
        <p:txBody>
          <a:bodyPr wrap="none">
            <a:prstTxWarp prst="textNoShape">
              <a:avLst/>
            </a:prstTxWarp>
            <a:spAutoFit/>
          </a:bodyPr>
          <a:lstStyle/>
          <a:p>
            <a:r>
              <a:rPr lang="en-US"/>
              <a:t>(a) Addition </a:t>
            </a:r>
          </a:p>
        </p:txBody>
      </p:sp>
      <p:pic>
        <p:nvPicPr>
          <p:cNvPr id="117765" name="Picture 11"/>
          <p:cNvPicPr>
            <a:picLocks noChangeAspect="1"/>
          </p:cNvPicPr>
          <p:nvPr/>
        </p:nvPicPr>
        <p:blipFill>
          <a:blip r:embed="rId4"/>
          <a:srcRect/>
          <a:stretch>
            <a:fillRect/>
          </a:stretch>
        </p:blipFill>
        <p:spPr bwMode="auto">
          <a:xfrm>
            <a:off x="304800" y="3886200"/>
            <a:ext cx="8566150" cy="2362200"/>
          </a:xfrm>
          <a:prstGeom prst="rect">
            <a:avLst/>
          </a:prstGeom>
          <a:noFill/>
          <a:ln w="9525">
            <a:noFill/>
            <a:miter lim="800000"/>
            <a:headEnd/>
            <a:tailEnd/>
          </a:ln>
        </p:spPr>
      </p:pic>
      <p:sp>
        <p:nvSpPr>
          <p:cNvPr id="117766" name="TextBox 12"/>
          <p:cNvSpPr txBox="1">
            <a:spLocks noChangeArrowheads="1"/>
          </p:cNvSpPr>
          <p:nvPr/>
        </p:nvSpPr>
        <p:spPr bwMode="auto">
          <a:xfrm>
            <a:off x="3505200" y="6324600"/>
            <a:ext cx="1865313" cy="369888"/>
          </a:xfrm>
          <a:prstGeom prst="rect">
            <a:avLst/>
          </a:prstGeom>
          <a:noFill/>
          <a:ln w="9525">
            <a:noFill/>
            <a:miter lim="800000"/>
            <a:headEnd/>
            <a:tailEnd/>
          </a:ln>
        </p:spPr>
        <p:txBody>
          <a:bodyPr wrap="none">
            <a:prstTxWarp prst="textNoShape">
              <a:avLst/>
            </a:prstTxWarp>
            <a:spAutoFit/>
          </a:bodyPr>
          <a:lstStyle/>
          <a:p>
            <a:r>
              <a:rPr lang="en-US"/>
              <a:t>(b) Multiplication </a:t>
            </a:r>
          </a:p>
        </p:txBody>
      </p:sp>
      <p:sp>
        <p:nvSpPr>
          <p:cNvPr id="8" name="Footer Placeholder 7"/>
          <p:cNvSpPr>
            <a:spLocks noGrp="1"/>
          </p:cNvSpPr>
          <p:nvPr>
            <p:ph type="ftr" sz="quarter" idx="11"/>
          </p:nvPr>
        </p:nvSpPr>
        <p:spPr>
          <a:xfrm>
            <a:off x="0" y="6492875"/>
            <a:ext cx="5105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6"/>
          <p:cNvSpPr/>
          <p:nvPr/>
        </p:nvSpPr>
        <p:spPr>
          <a:xfrm>
            <a:off x="0" y="381000"/>
            <a:ext cx="9144000" cy="1077913"/>
          </a:xfrm>
          <a:prstGeom prst="rect">
            <a:avLst/>
          </a:prstGeom>
        </p:spPr>
        <p:txBody>
          <a:bodyPr>
            <a:spAutoFit/>
          </a:bodyPr>
          <a:lstStyle/>
          <a:p>
            <a:pPr algn="ctr">
              <a:defRPr/>
            </a:pPr>
            <a:r>
              <a:rPr lang="en-US" sz="3600" dirty="0">
                <a:latin typeface="+mn-lt"/>
              </a:rPr>
              <a:t>Table</a:t>
            </a:r>
            <a:r>
              <a:rPr lang="en-US" sz="3600" dirty="0" smtClean="0">
                <a:latin typeface="+mn-lt"/>
              </a:rPr>
              <a:t> </a:t>
            </a:r>
            <a:r>
              <a:rPr lang="en-US" sz="3600" dirty="0" smtClean="0">
                <a:latin typeface="+mn-lt"/>
              </a:rPr>
              <a:t>5.4</a:t>
            </a:r>
            <a:endParaRPr lang="en-US" dirty="0" smtClean="0">
              <a:latin typeface="+mn-lt"/>
            </a:endParaRPr>
          </a:p>
          <a:p>
            <a:pPr algn="ctr">
              <a:defRPr/>
            </a:pPr>
            <a:r>
              <a:rPr lang="en-US" sz="2800" dirty="0">
                <a:latin typeface="Arial" pitchFamily="-1" charset="0"/>
              </a:rPr>
              <a:t>Extended Euclid [(</a:t>
            </a:r>
            <a:r>
              <a:rPr lang="en-US" sz="2800" i="1" dirty="0">
                <a:latin typeface="Arial" pitchFamily="-1" charset="0"/>
              </a:rPr>
              <a:t>x</a:t>
            </a:r>
            <a:r>
              <a:rPr lang="en-US" sz="2800" baseline="30000" dirty="0">
                <a:latin typeface="Arial" pitchFamily="-1" charset="0"/>
              </a:rPr>
              <a:t>8</a:t>
            </a:r>
            <a:r>
              <a:rPr lang="en-US" sz="2800" dirty="0">
                <a:latin typeface="Arial" pitchFamily="-1" charset="0"/>
              </a:rPr>
              <a:t> + </a:t>
            </a:r>
            <a:r>
              <a:rPr lang="en-US" sz="2800" i="1" dirty="0">
                <a:latin typeface="Arial" pitchFamily="-1" charset="0"/>
              </a:rPr>
              <a:t>x</a:t>
            </a:r>
            <a:r>
              <a:rPr lang="en-US" sz="2800" baseline="30000" dirty="0">
                <a:latin typeface="Arial" pitchFamily="-1" charset="0"/>
              </a:rPr>
              <a:t>4</a:t>
            </a:r>
            <a:r>
              <a:rPr lang="en-US" sz="2800" dirty="0">
                <a:latin typeface="Arial" pitchFamily="-1" charset="0"/>
              </a:rPr>
              <a:t> + </a:t>
            </a:r>
            <a:r>
              <a:rPr lang="en-US" sz="2800" i="1" dirty="0">
                <a:latin typeface="Arial" pitchFamily="-1" charset="0"/>
              </a:rPr>
              <a:t>x</a:t>
            </a:r>
            <a:r>
              <a:rPr lang="en-US" sz="2800" baseline="30000" dirty="0">
                <a:latin typeface="Arial" pitchFamily="-1" charset="0"/>
              </a:rPr>
              <a:t>3</a:t>
            </a:r>
            <a:r>
              <a:rPr lang="en-US" sz="2800" dirty="0">
                <a:latin typeface="Arial" pitchFamily="-1" charset="0"/>
              </a:rPr>
              <a:t> + </a:t>
            </a:r>
            <a:r>
              <a:rPr lang="en-US" sz="2800" i="1" dirty="0">
                <a:latin typeface="Arial" pitchFamily="-1" charset="0"/>
              </a:rPr>
              <a:t>x</a:t>
            </a:r>
            <a:r>
              <a:rPr lang="en-US" sz="2800" dirty="0">
                <a:latin typeface="Arial" pitchFamily="-1" charset="0"/>
              </a:rPr>
              <a:t> + 1), (</a:t>
            </a:r>
            <a:r>
              <a:rPr lang="en-US" sz="2800" i="1" dirty="0">
                <a:latin typeface="Arial" pitchFamily="-1" charset="0"/>
              </a:rPr>
              <a:t>x</a:t>
            </a:r>
            <a:r>
              <a:rPr lang="en-US" sz="2800" baseline="30000" dirty="0">
                <a:latin typeface="Arial" pitchFamily="-1" charset="0"/>
              </a:rPr>
              <a:t>7</a:t>
            </a:r>
            <a:r>
              <a:rPr lang="en-US" sz="2800" dirty="0">
                <a:latin typeface="Arial" pitchFamily="-1" charset="0"/>
              </a:rPr>
              <a:t> + </a:t>
            </a:r>
            <a:r>
              <a:rPr lang="en-US" sz="2800" i="1" dirty="0">
                <a:latin typeface="Arial" pitchFamily="-1" charset="0"/>
              </a:rPr>
              <a:t>x</a:t>
            </a:r>
            <a:r>
              <a:rPr lang="en-US" sz="2800" dirty="0">
                <a:latin typeface="Arial" pitchFamily="-1" charset="0"/>
              </a:rPr>
              <a:t> + 1)] </a:t>
            </a:r>
            <a:endParaRPr lang="en-US" sz="2800" dirty="0">
              <a:latin typeface="+mn-lt"/>
            </a:endParaRPr>
          </a:p>
        </p:txBody>
      </p:sp>
      <p:pic>
        <p:nvPicPr>
          <p:cNvPr id="119811" name="Picture 7"/>
          <p:cNvPicPr>
            <a:picLocks noChangeAspect="1"/>
          </p:cNvPicPr>
          <p:nvPr/>
        </p:nvPicPr>
        <p:blipFill>
          <a:blip r:embed="rId3"/>
          <a:srcRect/>
          <a:stretch>
            <a:fillRect/>
          </a:stretch>
        </p:blipFill>
        <p:spPr bwMode="auto">
          <a:xfrm>
            <a:off x="228600" y="1752600"/>
            <a:ext cx="8628063" cy="3836988"/>
          </a:xfrm>
          <a:prstGeom prst="rect">
            <a:avLst/>
          </a:prstGeom>
          <a:noFill/>
          <a:ln w="9525">
            <a:noFill/>
            <a:miter lim="800000"/>
            <a:headEnd/>
            <a:tailEnd/>
          </a:ln>
        </p:spPr>
      </p:pic>
      <p:sp>
        <p:nvSpPr>
          <p:cNvPr id="119812" name="Rectangle 8"/>
          <p:cNvSpPr>
            <a:spLocks noChangeArrowheads="1"/>
          </p:cNvSpPr>
          <p:nvPr/>
        </p:nvSpPr>
        <p:spPr bwMode="auto">
          <a:xfrm>
            <a:off x="228600" y="5791200"/>
            <a:ext cx="4645022" cy="338554"/>
          </a:xfrm>
          <a:prstGeom prst="rect">
            <a:avLst/>
          </a:prstGeom>
          <a:noFill/>
          <a:ln w="9525">
            <a:noFill/>
            <a:miter lim="800000"/>
            <a:headEnd/>
            <a:tailEnd/>
          </a:ln>
        </p:spPr>
        <p:txBody>
          <a:bodyPr wrap="none">
            <a:prstTxWarp prst="textNoShape">
              <a:avLst/>
            </a:prstTxWarp>
            <a:spAutoFit/>
          </a:bodyPr>
          <a:lstStyle/>
          <a:p>
            <a:r>
              <a:rPr lang="en-US" sz="1600" dirty="0"/>
              <a:t>(Table</a:t>
            </a:r>
            <a:r>
              <a:rPr lang="en-US" sz="1600" dirty="0" smtClean="0"/>
              <a:t> </a:t>
            </a:r>
            <a:r>
              <a:rPr lang="en-US" sz="1600" dirty="0" smtClean="0"/>
              <a:t>5.4</a:t>
            </a:r>
            <a:r>
              <a:rPr lang="en-US" sz="1600" dirty="0" smtClean="0"/>
              <a:t> </a:t>
            </a:r>
            <a:r>
              <a:rPr lang="en-US" sz="1600" dirty="0"/>
              <a:t>can be found on page </a:t>
            </a:r>
            <a:r>
              <a:rPr lang="en-US" sz="1600" dirty="0" smtClean="0"/>
              <a:t>146 </a:t>
            </a:r>
            <a:r>
              <a:rPr lang="en-US" sz="1600" dirty="0"/>
              <a:t>in textbook) </a:t>
            </a:r>
          </a:p>
        </p:txBody>
      </p:sp>
      <p:sp>
        <p:nvSpPr>
          <p:cNvPr id="5" name="Footer Placeholder 4"/>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0" y="39688"/>
            <a:ext cx="9144000" cy="1412875"/>
          </a:xfrm>
        </p:spPr>
        <p:txBody>
          <a:bodyPr/>
          <a:lstStyle/>
          <a:p>
            <a:r>
              <a:rPr lang="en-US" smtClean="0"/>
              <a:t>Computational Considerations</a:t>
            </a:r>
            <a:endParaRPr lang="en-AU" smtClean="0"/>
          </a:p>
        </p:txBody>
      </p:sp>
      <p:sp>
        <p:nvSpPr>
          <p:cNvPr id="121859" name="Rectangle 3"/>
          <p:cNvSpPr>
            <a:spLocks noGrp="1" noChangeArrowheads="1"/>
          </p:cNvSpPr>
          <p:nvPr>
            <p:ph idx="1"/>
          </p:nvPr>
        </p:nvSpPr>
        <p:spPr>
          <a:xfrm>
            <a:off x="792163" y="1762125"/>
            <a:ext cx="7570787" cy="4562475"/>
          </a:xfrm>
        </p:spPr>
        <p:txBody>
          <a:bodyPr/>
          <a:lstStyle/>
          <a:p>
            <a:r>
              <a:rPr lang="en-US" dirty="0" smtClean="0"/>
              <a:t>Since coefficients are 0 or 1, they can represent any such polynomial as a bit string</a:t>
            </a:r>
          </a:p>
          <a:p>
            <a:r>
              <a:rPr lang="en-US" dirty="0" smtClean="0"/>
              <a:t>Addition becomes XOR of these bit strings</a:t>
            </a:r>
          </a:p>
          <a:p>
            <a:r>
              <a:rPr lang="en-US" dirty="0" smtClean="0"/>
              <a:t>Multiplication is shift and XOR</a:t>
            </a:r>
          </a:p>
          <a:p>
            <a:pPr lvl="1"/>
            <a:r>
              <a:rPr lang="en-US" dirty="0" err="1" smtClean="0"/>
              <a:t>cf</a:t>
            </a:r>
            <a:r>
              <a:rPr lang="en-US" dirty="0" smtClean="0"/>
              <a:t> long-hand multiplication</a:t>
            </a:r>
          </a:p>
          <a:p>
            <a:r>
              <a:rPr lang="en-US" dirty="0" smtClean="0"/>
              <a:t>Modulo reduction is done by repeatedly substituting highest power with remainder of irreducible polynomial (also </a:t>
            </a:r>
            <a:r>
              <a:rPr lang="en-US" smtClean="0"/>
              <a:t>shift and </a:t>
            </a:r>
            <a:r>
              <a:rPr lang="en-US" dirty="0" smtClean="0"/>
              <a:t>XOR)</a:t>
            </a:r>
          </a:p>
          <a:p>
            <a:endParaRPr lang="en-AU" dirty="0" smtClean="0"/>
          </a:p>
        </p:txBody>
      </p:sp>
      <p:sp>
        <p:nvSpPr>
          <p:cNvPr id="4" name="Footer Placeholder 3"/>
          <p:cNvSpPr>
            <a:spLocks noGrp="1"/>
          </p:cNvSpPr>
          <p:nvPr>
            <p:ph type="ftr" sz="quarter" idx="11"/>
          </p:nvPr>
        </p:nvSpPr>
        <p:spPr>
          <a:xfrm>
            <a:off x="0" y="6492875"/>
            <a:ext cx="57912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smtClean="0"/>
              <a:t>Using a Generator</a:t>
            </a:r>
            <a:endParaRPr lang="en-AU" smtClean="0"/>
          </a:p>
        </p:txBody>
      </p:sp>
      <p:sp>
        <p:nvSpPr>
          <p:cNvPr id="107523" name="Rectangle 3"/>
          <p:cNvSpPr>
            <a:spLocks noGrp="1" noChangeArrowheads="1"/>
          </p:cNvSpPr>
          <p:nvPr>
            <p:ph idx="1"/>
          </p:nvPr>
        </p:nvSpPr>
        <p:spPr>
          <a:xfrm>
            <a:off x="838200" y="1600200"/>
            <a:ext cx="7570787" cy="4791075"/>
          </a:xfrm>
        </p:spPr>
        <p:txBody>
          <a:bodyPr rtlCol="0">
            <a:normAutofit fontScale="92500"/>
          </a:bodyPr>
          <a:lstStyle/>
          <a:p>
            <a:pPr fontAlgn="auto">
              <a:spcAft>
                <a:spcPts val="0"/>
              </a:spcAft>
              <a:buClr>
                <a:schemeClr val="accent1">
                  <a:lumMod val="60000"/>
                  <a:lumOff val="40000"/>
                </a:schemeClr>
              </a:buClr>
              <a:buFont typeface="Candara" pitchFamily="34" charset="0"/>
              <a:buChar char="•"/>
              <a:defRPr/>
            </a:pPr>
            <a:r>
              <a:rPr lang="en-AU" dirty="0" smtClean="0">
                <a:ea typeface="+mn-ea"/>
                <a:cs typeface="+mn-cs"/>
              </a:rPr>
              <a:t>A </a:t>
            </a:r>
            <a:r>
              <a:rPr lang="en-AU" b="1" dirty="0" smtClean="0">
                <a:ea typeface="+mn-ea"/>
                <a:cs typeface="+mn-cs"/>
              </a:rPr>
              <a:t>generator </a:t>
            </a:r>
            <a:r>
              <a:rPr lang="en-AU" i="1" dirty="0" smtClean="0">
                <a:ea typeface="+mn-ea"/>
                <a:cs typeface="+mn-cs"/>
              </a:rPr>
              <a:t>g </a:t>
            </a:r>
            <a:r>
              <a:rPr lang="en-AU" dirty="0" smtClean="0">
                <a:ea typeface="+mn-ea"/>
                <a:cs typeface="+mn-cs"/>
              </a:rPr>
              <a:t>of a finite field F of order </a:t>
            </a:r>
            <a:r>
              <a:rPr lang="en-AU" i="1" dirty="0" smtClean="0">
                <a:ea typeface="+mn-ea"/>
                <a:cs typeface="+mn-cs"/>
              </a:rPr>
              <a:t>q </a:t>
            </a:r>
            <a:r>
              <a:rPr lang="en-AU" dirty="0" smtClean="0">
                <a:ea typeface="+mn-ea"/>
                <a:cs typeface="+mn-cs"/>
              </a:rPr>
              <a:t>(contains </a:t>
            </a:r>
            <a:r>
              <a:rPr lang="en-AU" i="1" dirty="0" smtClean="0">
                <a:ea typeface="+mn-ea"/>
                <a:cs typeface="+mn-cs"/>
              </a:rPr>
              <a:t>q </a:t>
            </a:r>
            <a:r>
              <a:rPr lang="en-AU" dirty="0" smtClean="0">
                <a:ea typeface="+mn-ea"/>
                <a:cs typeface="+mn-cs"/>
              </a:rPr>
              <a:t>elements) is an element whose first </a:t>
            </a:r>
            <a:r>
              <a:rPr lang="en-AU" i="1" dirty="0" smtClean="0">
                <a:ea typeface="+mn-ea"/>
                <a:cs typeface="+mn-cs"/>
              </a:rPr>
              <a:t>q</a:t>
            </a:r>
            <a:r>
              <a:rPr lang="en-AU" dirty="0" smtClean="0">
                <a:ea typeface="+mn-ea"/>
                <a:cs typeface="+mn-cs"/>
              </a:rPr>
              <a:t>-1 powers generate all the nonzero elements of F</a:t>
            </a:r>
          </a:p>
          <a:p>
            <a:pPr lvl="1" fontAlgn="auto">
              <a:spcAft>
                <a:spcPts val="0"/>
              </a:spcAft>
              <a:buFont typeface="Candara" pitchFamily="34" charset="0"/>
              <a:buChar char="•"/>
              <a:defRPr/>
            </a:pPr>
            <a:r>
              <a:rPr lang="en-AU" dirty="0" smtClean="0">
                <a:ea typeface="+mn-ea"/>
              </a:rPr>
              <a:t>The elements of F consist of 0, g</a:t>
            </a:r>
            <a:r>
              <a:rPr lang="en-AU" baseline="30000" dirty="0" smtClean="0">
                <a:ea typeface="+mn-ea"/>
              </a:rPr>
              <a:t>0</a:t>
            </a:r>
            <a:r>
              <a:rPr lang="en-AU" dirty="0" smtClean="0">
                <a:ea typeface="+mn-ea"/>
              </a:rPr>
              <a:t>, g</a:t>
            </a:r>
            <a:r>
              <a:rPr lang="en-AU" baseline="30000" dirty="0" smtClean="0">
                <a:ea typeface="+mn-ea"/>
              </a:rPr>
              <a:t>1</a:t>
            </a:r>
            <a:r>
              <a:rPr lang="en-AU" dirty="0" smtClean="0">
                <a:ea typeface="+mn-ea"/>
              </a:rPr>
              <a:t>, . . . ., g</a:t>
            </a:r>
            <a:r>
              <a:rPr lang="en-AU" baseline="30000" dirty="0" smtClean="0">
                <a:ea typeface="+mn-ea"/>
              </a:rPr>
              <a:t>q-2</a:t>
            </a:r>
          </a:p>
          <a:p>
            <a:pPr marL="342900" lvl="1" indent="-342900" fontAlgn="auto">
              <a:spcBef>
                <a:spcPts val="2400"/>
              </a:spcBef>
              <a:spcAft>
                <a:spcPts val="0"/>
              </a:spcAft>
              <a:buClr>
                <a:schemeClr val="accent1">
                  <a:lumMod val="60000"/>
                  <a:lumOff val="40000"/>
                </a:schemeClr>
              </a:buClr>
              <a:buFont typeface="Candara" pitchFamily="34" charset="0"/>
              <a:buChar char="•"/>
              <a:defRPr/>
            </a:pPr>
            <a:r>
              <a:rPr lang="en-AU" sz="2800" dirty="0" smtClean="0">
                <a:ea typeface="+mn-ea"/>
              </a:rPr>
              <a:t>Consider a field F defined by a polynomial </a:t>
            </a:r>
            <a:r>
              <a:rPr lang="en-AU" sz="2800" i="1" dirty="0" smtClean="0">
                <a:ea typeface="+mn-ea"/>
              </a:rPr>
              <a:t>fx</a:t>
            </a:r>
          </a:p>
          <a:p>
            <a:pPr lvl="1" fontAlgn="auto">
              <a:spcAft>
                <a:spcPts val="0"/>
              </a:spcAft>
              <a:buFont typeface="Candara" pitchFamily="34" charset="0"/>
              <a:buChar char="•"/>
              <a:defRPr/>
            </a:pPr>
            <a:r>
              <a:rPr lang="en-AU" dirty="0" smtClean="0">
                <a:ea typeface="+mn-ea"/>
              </a:rPr>
              <a:t>An element b contained in F is called a </a:t>
            </a:r>
            <a:r>
              <a:rPr lang="en-AU" b="1" dirty="0" smtClean="0">
                <a:ea typeface="+mn-ea"/>
              </a:rPr>
              <a:t>root</a:t>
            </a:r>
            <a:r>
              <a:rPr lang="en-AU" dirty="0" smtClean="0">
                <a:ea typeface="+mn-ea"/>
              </a:rPr>
              <a:t> of the polynomial if </a:t>
            </a:r>
            <a:r>
              <a:rPr lang="en-AU" i="1" dirty="0" smtClean="0">
                <a:ea typeface="+mn-ea"/>
              </a:rPr>
              <a:t>f(b) = 0</a:t>
            </a:r>
          </a:p>
          <a:p>
            <a:pPr marL="342900" lvl="1" indent="-342900" fontAlgn="auto">
              <a:spcBef>
                <a:spcPts val="2400"/>
              </a:spcBef>
              <a:spcAft>
                <a:spcPts val="0"/>
              </a:spcAft>
              <a:buClr>
                <a:schemeClr val="accent1">
                  <a:lumMod val="60000"/>
                  <a:lumOff val="40000"/>
                </a:schemeClr>
              </a:buClr>
              <a:buFont typeface="Candara" pitchFamily="34" charset="0"/>
              <a:buChar char="•"/>
              <a:defRPr/>
            </a:pPr>
            <a:r>
              <a:rPr lang="en-AU" sz="2800" dirty="0" smtClean="0">
                <a:ea typeface="+mn-ea"/>
              </a:rPr>
              <a:t>Finally, it can be shown that a root </a:t>
            </a:r>
            <a:r>
              <a:rPr lang="en-AU" sz="2800" i="1" dirty="0" smtClean="0">
                <a:ea typeface="+mn-ea"/>
              </a:rPr>
              <a:t>g </a:t>
            </a:r>
            <a:r>
              <a:rPr lang="en-AU" sz="2800" dirty="0" smtClean="0">
                <a:ea typeface="+mn-ea"/>
              </a:rPr>
              <a:t>of an irreducible polynomial is a generator of the finite field defined on that polynomial</a:t>
            </a:r>
          </a:p>
        </p:txBody>
      </p:sp>
      <p:sp>
        <p:nvSpPr>
          <p:cNvPr id="4" name="Footer Placeholder 3"/>
          <p:cNvSpPr>
            <a:spLocks noGrp="1"/>
          </p:cNvSpPr>
          <p:nvPr>
            <p:ph type="ftr" sz="quarter" idx="11"/>
          </p:nvPr>
        </p:nvSpPr>
        <p:spPr>
          <a:xfrm>
            <a:off x="0" y="6492875"/>
            <a:ext cx="5181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5954" name="Title 1"/>
          <p:cNvSpPr>
            <a:spLocks noGrp="1"/>
          </p:cNvSpPr>
          <p:nvPr>
            <p:ph type="title"/>
          </p:nvPr>
        </p:nvSpPr>
        <p:spPr>
          <a:xfrm>
            <a:off x="0" y="39688"/>
            <a:ext cx="9144000" cy="1412875"/>
          </a:xfrm>
        </p:spPr>
        <p:txBody>
          <a:bodyPr/>
          <a:lstStyle/>
          <a:p>
            <a:r>
              <a:rPr lang="en-US" b="1" dirty="0" smtClean="0"/>
              <a:t>Table</a:t>
            </a:r>
            <a:r>
              <a:rPr lang="en-US" b="1" dirty="0" smtClean="0"/>
              <a:t> </a:t>
            </a:r>
            <a:r>
              <a:rPr lang="en-US" b="1" dirty="0" smtClean="0"/>
              <a:t>5.5</a:t>
            </a:r>
            <a:r>
              <a:rPr lang="en-US" b="1" dirty="0" smtClean="0"/>
              <a:t>   </a:t>
            </a:r>
            <a:r>
              <a:rPr lang="en-US" b="1" dirty="0" smtClean="0"/>
              <a:t/>
            </a:r>
            <a:br>
              <a:rPr lang="en-US" b="1" dirty="0" smtClean="0"/>
            </a:br>
            <a:r>
              <a:rPr lang="en-US" sz="4000" b="1" dirty="0" smtClean="0"/>
              <a:t>Generator for GF(2</a:t>
            </a:r>
            <a:r>
              <a:rPr lang="en-US" sz="4000" b="1" baseline="30000" dirty="0" smtClean="0"/>
              <a:t>3</a:t>
            </a:r>
            <a:r>
              <a:rPr lang="en-US" sz="4000" b="1" dirty="0" smtClean="0"/>
              <a:t>) using x</a:t>
            </a:r>
            <a:r>
              <a:rPr lang="en-US" sz="4000" b="1" baseline="30000" dirty="0" smtClean="0"/>
              <a:t>3</a:t>
            </a:r>
            <a:r>
              <a:rPr lang="en-US" sz="4000" b="1" dirty="0" smtClean="0"/>
              <a:t> + </a:t>
            </a:r>
            <a:r>
              <a:rPr lang="en-US" sz="4000" b="1" dirty="0" err="1" smtClean="0"/>
              <a:t>x</a:t>
            </a:r>
            <a:r>
              <a:rPr lang="en-US" sz="4000" b="1" dirty="0" smtClean="0"/>
              <a:t> + 1</a:t>
            </a:r>
            <a:r>
              <a:rPr lang="en-US" sz="4000" dirty="0" smtClean="0"/>
              <a:t> </a:t>
            </a:r>
          </a:p>
        </p:txBody>
      </p:sp>
      <p:pic>
        <p:nvPicPr>
          <p:cNvPr id="125955" name="Picture 3"/>
          <p:cNvPicPr>
            <a:picLocks noChangeAspect="1"/>
          </p:cNvPicPr>
          <p:nvPr/>
        </p:nvPicPr>
        <p:blipFill>
          <a:blip r:embed="rId3"/>
          <a:srcRect/>
          <a:stretch>
            <a:fillRect/>
          </a:stretch>
        </p:blipFill>
        <p:spPr bwMode="auto">
          <a:xfrm>
            <a:off x="-1180914" y="1617060"/>
            <a:ext cx="11443010" cy="5088540"/>
          </a:xfrm>
          <a:prstGeom prst="rect">
            <a:avLst/>
          </a:prstGeom>
          <a:noFill/>
          <a:ln w="9525">
            <a:noFill/>
            <a:miter lim="800000"/>
            <a:headEnd/>
            <a:tailEnd/>
          </a:ln>
        </p:spPr>
      </p:pic>
      <p:sp>
        <p:nvSpPr>
          <p:cNvPr id="4" name="Footer Placeholder 3"/>
          <p:cNvSpPr>
            <a:spLocks noGrp="1"/>
          </p:cNvSpPr>
          <p:nvPr>
            <p:ph type="ftr" sz="quarter" idx="11"/>
          </p:nvPr>
        </p:nvSpPr>
        <p:spPr>
          <a:xfrm>
            <a:off x="0" y="6492875"/>
            <a:ext cx="5943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pull dir="l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6"/>
          <p:cNvSpPr/>
          <p:nvPr/>
        </p:nvSpPr>
        <p:spPr>
          <a:xfrm>
            <a:off x="0" y="0"/>
            <a:ext cx="9144000" cy="1016000"/>
          </a:xfrm>
          <a:prstGeom prst="rect">
            <a:avLst/>
          </a:prstGeom>
        </p:spPr>
        <p:txBody>
          <a:bodyPr>
            <a:spAutoFit/>
          </a:bodyPr>
          <a:lstStyle/>
          <a:p>
            <a:pPr algn="ctr">
              <a:defRPr/>
            </a:pPr>
            <a:r>
              <a:rPr lang="en-US" sz="3600" b="1" dirty="0">
                <a:latin typeface="+mn-lt"/>
              </a:rPr>
              <a:t>				Table</a:t>
            </a:r>
            <a:r>
              <a:rPr lang="en-US" sz="3600" b="1" dirty="0" smtClean="0">
                <a:latin typeface="+mn-lt"/>
              </a:rPr>
              <a:t> </a:t>
            </a:r>
            <a:r>
              <a:rPr lang="en-US" sz="3600" b="1" dirty="0" smtClean="0">
                <a:latin typeface="+mn-lt"/>
              </a:rPr>
              <a:t>5.6</a:t>
            </a:r>
            <a:r>
              <a:rPr lang="en-US" sz="3600" b="1" dirty="0" smtClean="0">
                <a:latin typeface="+mn-lt"/>
              </a:rPr>
              <a:t>   </a:t>
            </a:r>
            <a:r>
              <a:rPr lang="en-US" b="1" dirty="0">
                <a:latin typeface="+mn-lt"/>
              </a:rPr>
              <a:t>(page</a:t>
            </a:r>
            <a:r>
              <a:rPr lang="en-US" b="1" dirty="0" smtClean="0">
                <a:latin typeface="+mn-lt"/>
              </a:rPr>
              <a:t> </a:t>
            </a:r>
            <a:r>
              <a:rPr lang="en-US" b="1" dirty="0" smtClean="0">
                <a:latin typeface="+mn-lt"/>
              </a:rPr>
              <a:t>150</a:t>
            </a:r>
            <a:r>
              <a:rPr lang="en-US" b="1" dirty="0" smtClean="0">
                <a:latin typeface="+mn-lt"/>
              </a:rPr>
              <a:t> </a:t>
            </a:r>
            <a:r>
              <a:rPr lang="en-US" b="1" dirty="0">
                <a:latin typeface="+mn-lt"/>
              </a:rPr>
              <a:t>in textbook)   </a:t>
            </a:r>
            <a:endParaRPr lang="en-US" sz="3600" b="1" dirty="0">
              <a:latin typeface="+mn-lt"/>
            </a:endParaRPr>
          </a:p>
          <a:p>
            <a:pPr algn="ctr">
              <a:defRPr/>
            </a:pPr>
            <a:r>
              <a:rPr lang="en-US" sz="2400" b="1" dirty="0">
                <a:latin typeface="+mn-lt"/>
              </a:rPr>
              <a:t>GF(2</a:t>
            </a:r>
            <a:r>
              <a:rPr lang="en-US" sz="2400" b="1" baseline="30000" dirty="0">
                <a:latin typeface="+mn-lt"/>
              </a:rPr>
              <a:t>3</a:t>
            </a:r>
            <a:r>
              <a:rPr lang="en-US" sz="2400" b="1" dirty="0">
                <a:latin typeface="+mn-lt"/>
              </a:rPr>
              <a:t>) Arithmetic Using Generator for the Polynomial (</a:t>
            </a:r>
            <a:r>
              <a:rPr lang="en-US" sz="2400" b="1" i="1" dirty="0">
                <a:latin typeface="+mn-lt"/>
              </a:rPr>
              <a:t>x</a:t>
            </a:r>
            <a:r>
              <a:rPr lang="en-US" sz="2400" b="1" baseline="30000" dirty="0">
                <a:latin typeface="+mn-lt"/>
              </a:rPr>
              <a:t>3</a:t>
            </a:r>
            <a:r>
              <a:rPr lang="en-US" sz="2400" b="1" dirty="0">
                <a:latin typeface="+mn-lt"/>
              </a:rPr>
              <a:t> + </a:t>
            </a:r>
            <a:r>
              <a:rPr lang="en-US" sz="2400" b="1" i="1" dirty="0">
                <a:latin typeface="+mn-lt"/>
              </a:rPr>
              <a:t>x</a:t>
            </a:r>
            <a:r>
              <a:rPr lang="en-US" sz="2400" b="1" dirty="0">
                <a:latin typeface="+mn-lt"/>
              </a:rPr>
              <a:t> + 1)</a:t>
            </a:r>
            <a:endParaRPr lang="en-US" sz="1200" dirty="0">
              <a:latin typeface="Arial" pitchFamily="-1" charset="0"/>
            </a:endParaRPr>
          </a:p>
        </p:txBody>
      </p:sp>
      <p:sp>
        <p:nvSpPr>
          <p:cNvPr id="128003" name="TextBox 10"/>
          <p:cNvSpPr txBox="1">
            <a:spLocks noChangeArrowheads="1"/>
          </p:cNvSpPr>
          <p:nvPr/>
        </p:nvSpPr>
        <p:spPr bwMode="auto">
          <a:xfrm>
            <a:off x="3505200" y="3352800"/>
            <a:ext cx="1352550" cy="369888"/>
          </a:xfrm>
          <a:prstGeom prst="rect">
            <a:avLst/>
          </a:prstGeom>
          <a:noFill/>
          <a:ln w="9525">
            <a:noFill/>
            <a:miter lim="800000"/>
            <a:headEnd/>
            <a:tailEnd/>
          </a:ln>
        </p:spPr>
        <p:txBody>
          <a:bodyPr wrap="none">
            <a:prstTxWarp prst="textNoShape">
              <a:avLst/>
            </a:prstTxWarp>
            <a:spAutoFit/>
          </a:bodyPr>
          <a:lstStyle/>
          <a:p>
            <a:r>
              <a:rPr lang="en-US"/>
              <a:t>(a) Addition </a:t>
            </a:r>
          </a:p>
        </p:txBody>
      </p:sp>
      <p:sp>
        <p:nvSpPr>
          <p:cNvPr id="128004" name="TextBox 12"/>
          <p:cNvSpPr txBox="1">
            <a:spLocks noChangeArrowheads="1"/>
          </p:cNvSpPr>
          <p:nvPr/>
        </p:nvSpPr>
        <p:spPr bwMode="auto">
          <a:xfrm>
            <a:off x="3505200" y="6096000"/>
            <a:ext cx="1865313" cy="369888"/>
          </a:xfrm>
          <a:prstGeom prst="rect">
            <a:avLst/>
          </a:prstGeom>
          <a:noFill/>
          <a:ln w="9525">
            <a:noFill/>
            <a:miter lim="800000"/>
            <a:headEnd/>
            <a:tailEnd/>
          </a:ln>
        </p:spPr>
        <p:txBody>
          <a:bodyPr wrap="none">
            <a:prstTxWarp prst="textNoShape">
              <a:avLst/>
            </a:prstTxWarp>
            <a:spAutoFit/>
          </a:bodyPr>
          <a:lstStyle/>
          <a:p>
            <a:r>
              <a:rPr lang="en-US" dirty="0"/>
              <a:t>(</a:t>
            </a:r>
            <a:r>
              <a:rPr lang="en-US" dirty="0" err="1"/>
              <a:t>b</a:t>
            </a:r>
            <a:r>
              <a:rPr lang="en-US" dirty="0"/>
              <a:t>) Multiplication </a:t>
            </a:r>
          </a:p>
        </p:txBody>
      </p:sp>
      <p:pic>
        <p:nvPicPr>
          <p:cNvPr id="128005" name="Picture 7"/>
          <p:cNvPicPr>
            <a:picLocks noChangeAspect="1"/>
          </p:cNvPicPr>
          <p:nvPr/>
        </p:nvPicPr>
        <p:blipFill>
          <a:blip r:embed="rId3"/>
          <a:srcRect/>
          <a:stretch>
            <a:fillRect/>
          </a:stretch>
        </p:blipFill>
        <p:spPr bwMode="auto">
          <a:xfrm>
            <a:off x="381000" y="1219200"/>
            <a:ext cx="8382000" cy="2324100"/>
          </a:xfrm>
          <a:prstGeom prst="rect">
            <a:avLst/>
          </a:prstGeom>
          <a:noFill/>
          <a:ln w="9525">
            <a:noFill/>
            <a:miter lim="800000"/>
            <a:headEnd/>
            <a:tailEnd/>
          </a:ln>
        </p:spPr>
      </p:pic>
      <p:pic>
        <p:nvPicPr>
          <p:cNvPr id="128006" name="Picture 8"/>
          <p:cNvPicPr>
            <a:picLocks noChangeAspect="1"/>
          </p:cNvPicPr>
          <p:nvPr/>
        </p:nvPicPr>
        <p:blipFill>
          <a:blip r:embed="rId4"/>
          <a:srcRect/>
          <a:stretch>
            <a:fillRect/>
          </a:stretch>
        </p:blipFill>
        <p:spPr bwMode="auto">
          <a:xfrm>
            <a:off x="301625" y="3810000"/>
            <a:ext cx="8566150" cy="2362200"/>
          </a:xfrm>
          <a:prstGeom prst="rect">
            <a:avLst/>
          </a:prstGeom>
          <a:noFill/>
          <a:ln w="9525">
            <a:noFill/>
            <a:miter lim="800000"/>
            <a:headEnd/>
            <a:tailEnd/>
          </a:ln>
        </p:spPr>
      </p:pic>
      <p:sp>
        <p:nvSpPr>
          <p:cNvPr id="8" name="Footer Placeholder 7"/>
          <p:cNvSpPr>
            <a:spLocks noGrp="1"/>
          </p:cNvSpPr>
          <p:nvPr>
            <p:ph type="ftr" sz="quarter" idx="11"/>
          </p:nvPr>
        </p:nvSpPr>
        <p:spPr>
          <a:xfrm>
            <a:off x="0" y="6492875"/>
            <a:ext cx="4267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smtClean="0"/>
              <a:t>Summary</a:t>
            </a:r>
            <a:endParaRPr lang="en-AU" smtClean="0"/>
          </a:p>
        </p:txBody>
      </p:sp>
      <p:sp>
        <p:nvSpPr>
          <p:cNvPr id="130051" name="Rectangle 3"/>
          <p:cNvSpPr>
            <a:spLocks noGrp="1" noChangeArrowheads="1"/>
          </p:cNvSpPr>
          <p:nvPr>
            <p:ph sz="half" idx="1"/>
          </p:nvPr>
        </p:nvSpPr>
        <p:spPr>
          <a:xfrm>
            <a:off x="304801" y="1600200"/>
            <a:ext cx="3505200" cy="4854575"/>
          </a:xfrm>
        </p:spPr>
        <p:txBody>
          <a:bodyPr>
            <a:normAutofit fontScale="85000" lnSpcReduction="20000"/>
          </a:bodyPr>
          <a:lstStyle/>
          <a:p>
            <a:r>
              <a:rPr lang="en-US" dirty="0" smtClean="0"/>
              <a:t>Groups</a:t>
            </a:r>
          </a:p>
          <a:p>
            <a:pPr lvl="1"/>
            <a:r>
              <a:rPr lang="en-US" dirty="0" err="1" smtClean="0"/>
              <a:t>Abelian</a:t>
            </a:r>
            <a:r>
              <a:rPr lang="en-US" dirty="0" smtClean="0"/>
              <a:t> group</a:t>
            </a:r>
          </a:p>
          <a:p>
            <a:pPr lvl="1"/>
            <a:r>
              <a:rPr lang="en-US" dirty="0" smtClean="0"/>
              <a:t>Cyclic group</a:t>
            </a:r>
          </a:p>
          <a:p>
            <a:r>
              <a:rPr lang="en-US" dirty="0" smtClean="0"/>
              <a:t>Finite fields of the form </a:t>
            </a:r>
            <a:r>
              <a:rPr lang="en-US" dirty="0" err="1" smtClean="0"/>
              <a:t>GF(</a:t>
            </a:r>
            <a:r>
              <a:rPr lang="en-US" i="1" dirty="0" err="1" smtClean="0"/>
              <a:t>p</a:t>
            </a:r>
            <a:r>
              <a:rPr lang="en-US" dirty="0" smtClean="0"/>
              <a:t>)</a:t>
            </a:r>
          </a:p>
          <a:p>
            <a:pPr lvl="1"/>
            <a:r>
              <a:rPr lang="en-US" dirty="0" smtClean="0"/>
              <a:t>Finite fields of Order </a:t>
            </a:r>
            <a:r>
              <a:rPr lang="en-US" i="1" dirty="0" err="1" smtClean="0"/>
              <a:t>p</a:t>
            </a:r>
            <a:endParaRPr lang="en-US" i="1" dirty="0" smtClean="0"/>
          </a:p>
          <a:p>
            <a:pPr lvl="1"/>
            <a:r>
              <a:rPr lang="en-US" dirty="0" smtClean="0"/>
              <a:t>Finding the multiplicative inverse in </a:t>
            </a:r>
            <a:r>
              <a:rPr lang="en-US" dirty="0" err="1" smtClean="0"/>
              <a:t>GF(</a:t>
            </a:r>
            <a:r>
              <a:rPr lang="en-US" i="1" dirty="0" err="1" smtClean="0"/>
              <a:t>p</a:t>
            </a:r>
            <a:r>
              <a:rPr lang="en-US" dirty="0" smtClean="0"/>
              <a:t>)</a:t>
            </a:r>
          </a:p>
          <a:p>
            <a:r>
              <a:rPr lang="en-US" dirty="0" smtClean="0"/>
              <a:t>Polynomial arithmetic</a:t>
            </a:r>
          </a:p>
          <a:p>
            <a:pPr lvl="1"/>
            <a:r>
              <a:rPr lang="en-US" dirty="0" smtClean="0"/>
              <a:t>Ordinary polynomial arithmetic</a:t>
            </a:r>
          </a:p>
          <a:p>
            <a:pPr lvl="1"/>
            <a:r>
              <a:rPr lang="en-US" dirty="0" smtClean="0"/>
              <a:t>Polynomial arithmetic with coefficients in </a:t>
            </a:r>
            <a:r>
              <a:rPr lang="en-US" dirty="0" err="1" smtClean="0"/>
              <a:t>Z</a:t>
            </a:r>
            <a:r>
              <a:rPr lang="en-US" i="1" baseline="-25000" dirty="0" err="1" smtClean="0"/>
              <a:t>p</a:t>
            </a:r>
            <a:endParaRPr lang="en-US" i="1" dirty="0" smtClean="0"/>
          </a:p>
          <a:p>
            <a:pPr lvl="1"/>
            <a:r>
              <a:rPr lang="en-US" dirty="0" smtClean="0"/>
              <a:t>Finding the greatest common divisor</a:t>
            </a:r>
          </a:p>
          <a:p>
            <a:pPr lvl="1"/>
            <a:endParaRPr lang="en-US" i="1" dirty="0" smtClean="0"/>
          </a:p>
        </p:txBody>
      </p:sp>
      <p:sp>
        <p:nvSpPr>
          <p:cNvPr id="130052" name="Content Placeholder 11"/>
          <p:cNvSpPr>
            <a:spLocks noGrp="1"/>
          </p:cNvSpPr>
          <p:nvPr>
            <p:ph sz="half" idx="2"/>
          </p:nvPr>
        </p:nvSpPr>
        <p:spPr>
          <a:xfrm>
            <a:off x="5715000" y="1752600"/>
            <a:ext cx="3124200" cy="4778375"/>
          </a:xfrm>
        </p:spPr>
        <p:txBody>
          <a:bodyPr>
            <a:normAutofit fontScale="85000" lnSpcReduction="20000"/>
          </a:bodyPr>
          <a:lstStyle/>
          <a:p>
            <a:pPr marL="342900" lvl="1" indent="-342900">
              <a:spcBef>
                <a:spcPts val="2400"/>
              </a:spcBef>
              <a:buClr>
                <a:srgbClr val="BAABE3"/>
              </a:buClr>
            </a:pPr>
            <a:r>
              <a:rPr lang="en-US" sz="2353" dirty="0" smtClean="0">
                <a:cs typeface="ＭＳ Ｐゴシック" pitchFamily="-84" charset="-128"/>
              </a:rPr>
              <a:t>Rings </a:t>
            </a:r>
          </a:p>
          <a:p>
            <a:pPr marL="342900" lvl="1" indent="-342900">
              <a:spcBef>
                <a:spcPts val="2400"/>
              </a:spcBef>
              <a:buClr>
                <a:srgbClr val="BAABE3"/>
              </a:buClr>
            </a:pPr>
            <a:r>
              <a:rPr lang="en-US" sz="2353" dirty="0" smtClean="0">
                <a:cs typeface="ＭＳ Ｐゴシック" pitchFamily="-84" charset="-128"/>
              </a:rPr>
              <a:t>fields</a:t>
            </a:r>
          </a:p>
          <a:p>
            <a:r>
              <a:rPr lang="en-US" dirty="0" smtClean="0"/>
              <a:t>Finite fields of the form GF(2</a:t>
            </a:r>
            <a:r>
              <a:rPr lang="en-US" i="1" baseline="30000" dirty="0" smtClean="0"/>
              <a:t>n</a:t>
            </a:r>
            <a:r>
              <a:rPr lang="en-US" dirty="0" smtClean="0"/>
              <a:t>)</a:t>
            </a:r>
          </a:p>
          <a:p>
            <a:pPr lvl="1"/>
            <a:r>
              <a:rPr lang="en-US" dirty="0" smtClean="0"/>
              <a:t>Motivation</a:t>
            </a:r>
          </a:p>
          <a:p>
            <a:pPr lvl="1"/>
            <a:r>
              <a:rPr lang="en-US" dirty="0" smtClean="0"/>
              <a:t>Modular polynomial arithmetic</a:t>
            </a:r>
          </a:p>
          <a:p>
            <a:pPr lvl="1"/>
            <a:r>
              <a:rPr lang="en-US" dirty="0" smtClean="0"/>
              <a:t>Finding the multiplicative inverse</a:t>
            </a:r>
          </a:p>
          <a:p>
            <a:pPr lvl="1"/>
            <a:r>
              <a:rPr lang="en-US" dirty="0" smtClean="0"/>
              <a:t>Computational considerations</a:t>
            </a:r>
          </a:p>
          <a:p>
            <a:pPr lvl="1"/>
            <a:r>
              <a:rPr lang="en-US" dirty="0" smtClean="0"/>
              <a:t>Using a generator</a:t>
            </a:r>
            <a:endParaRPr lang="en-US" dirty="0" smtClean="0"/>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81400" y="2667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5715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8546</TotalTime>
  <Words>5406</Words>
  <Application>Microsoft Macintosh PowerPoint</Application>
  <PresentationFormat>On-screen Show (4:3)</PresentationFormat>
  <Paragraphs>414</Paragraphs>
  <Slides>34</Slides>
  <Notes>34</Notes>
  <HiddenSlides>0</HiddenSlides>
  <MMClips>0</MMClips>
  <ScaleCrop>false</ScaleCrop>
  <HeadingPairs>
    <vt:vector size="4" baseType="variant">
      <vt:variant>
        <vt:lpstr>Design Template</vt:lpstr>
      </vt:variant>
      <vt:variant>
        <vt:i4>2</vt:i4>
      </vt:variant>
      <vt:variant>
        <vt:lpstr>Slide Titles</vt:lpstr>
      </vt:variant>
      <vt:variant>
        <vt:i4>34</vt:i4>
      </vt:variant>
    </vt:vector>
  </HeadingPairs>
  <TitlesOfParts>
    <vt:vector size="36" baseType="lpstr">
      <vt:lpstr>ch01</vt:lpstr>
      <vt:lpstr>Infusion</vt:lpstr>
      <vt:lpstr>Cryptography and Network Security</vt:lpstr>
      <vt:lpstr>Chapter 5</vt:lpstr>
      <vt:lpstr>Slide 3</vt:lpstr>
      <vt:lpstr>Groups</vt:lpstr>
      <vt:lpstr>Cyclic Group</vt:lpstr>
      <vt:lpstr>Rings</vt:lpstr>
      <vt:lpstr>Rings (cont.)</vt:lpstr>
      <vt:lpstr>Fields</vt:lpstr>
      <vt:lpstr>Slide 9</vt:lpstr>
      <vt:lpstr>Slide 10</vt:lpstr>
      <vt:lpstr>Finite Fields of the Form GF(p)</vt:lpstr>
      <vt:lpstr>Table 5.1(a)</vt:lpstr>
      <vt:lpstr>Table 5.1(b)</vt:lpstr>
      <vt:lpstr>Table 5.1(c)</vt:lpstr>
      <vt:lpstr>Table 5.1(d)</vt:lpstr>
      <vt:lpstr>Table 5.1(e)</vt:lpstr>
      <vt:lpstr>Table 5.1(f)</vt:lpstr>
      <vt:lpstr> In this section, we have shown how to construct a finite field of order p, where p  is prime.   GF(p) is defined with the following properties:</vt:lpstr>
      <vt:lpstr>Slide 19</vt:lpstr>
      <vt:lpstr>Slide 20</vt:lpstr>
      <vt:lpstr>Polynomial Arithmetic With Coefficients in Zp</vt:lpstr>
      <vt:lpstr>Polynomial Division</vt:lpstr>
      <vt:lpstr> Example of Polynomial Arithmetic  Over GF(2)</vt:lpstr>
      <vt:lpstr>Polynomial GCD</vt:lpstr>
      <vt:lpstr>Table 5.2(a) Arithmetic in GF(23)</vt:lpstr>
      <vt:lpstr>Table 5.2(b) Arithmetic in GF(23)</vt:lpstr>
      <vt:lpstr>Table 5.2(c)  Arithmetic  in GF(23)</vt:lpstr>
      <vt:lpstr>Slide 28</vt:lpstr>
      <vt:lpstr>Slide 29</vt:lpstr>
      <vt:lpstr>Computational Considerations</vt:lpstr>
      <vt:lpstr>Using a Generator</vt:lpstr>
      <vt:lpstr>Table 5.5    Generator for GF(23) using x3 + x + 1 </vt:lpstr>
      <vt:lpstr>Slide 33</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4</dc:subject>
  <dc:creator>Dr Lawrie Brown</dc:creator>
  <cp:keywords/>
  <dc:description/>
  <cp:lastModifiedBy>Kevin McLaughlin</cp:lastModifiedBy>
  <cp:revision>85</cp:revision>
  <cp:lastPrinted>2009-08-06T03:57:36Z</cp:lastPrinted>
  <dcterms:created xsi:type="dcterms:W3CDTF">2016-03-13T22:43:19Z</dcterms:created>
  <dcterms:modified xsi:type="dcterms:W3CDTF">2016-03-14T04:00:23Z</dcterms:modified>
  <cp:category/>
</cp:coreProperties>
</file>