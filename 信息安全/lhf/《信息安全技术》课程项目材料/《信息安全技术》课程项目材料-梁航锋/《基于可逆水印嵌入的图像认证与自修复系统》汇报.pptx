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0.xml" ContentType="application/vnd.openxmlformats-officedocument.presentationml.notesSlide+xml"/>
  <Override PartName="/ppt/tags/tag51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49" r:id="rId3"/>
    <p:sldId id="511" r:id="rId4"/>
    <p:sldId id="515" r:id="rId5"/>
    <p:sldId id="512" r:id="rId6"/>
    <p:sldId id="516" r:id="rId7"/>
    <p:sldId id="517" r:id="rId8"/>
    <p:sldId id="481" r:id="rId9"/>
    <p:sldId id="518" r:id="rId10"/>
    <p:sldId id="519" r:id="rId11"/>
    <p:sldId id="520" r:id="rId12"/>
    <p:sldId id="521" r:id="rId13"/>
    <p:sldId id="522" r:id="rId14"/>
    <p:sldId id="524" r:id="rId15"/>
    <p:sldId id="525" r:id="rId16"/>
    <p:sldId id="526" r:id="rId17"/>
    <p:sldId id="527" r:id="rId18"/>
    <p:sldId id="528" r:id="rId19"/>
    <p:sldId id="529" r:id="rId20"/>
    <p:sldId id="523" r:id="rId21"/>
    <p:sldId id="460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江 先亮" initials="江" lastIdx="2" clrIdx="0">
    <p:extLst>
      <p:ext uri="{19B8F6BF-5375-455C-9EA6-DF929625EA0E}">
        <p15:presenceInfo xmlns:p15="http://schemas.microsoft.com/office/powerpoint/2012/main" userId="c2205197a7c947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D62A0"/>
    <a:srgbClr val="2C7CB3"/>
    <a:srgbClr val="035C9C"/>
    <a:srgbClr val="047EDA"/>
    <a:srgbClr val="7F7F7F"/>
    <a:srgbClr val="0363A5"/>
    <a:srgbClr val="035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9" autoAdjust="0"/>
    <p:restoredTop sz="95314" autoAdjust="0"/>
  </p:normalViewPr>
  <p:slideViewPr>
    <p:cSldViewPr snapToGrid="0" showGuides="1">
      <p:cViewPr varScale="1">
        <p:scale>
          <a:sx n="107" d="100"/>
          <a:sy n="107" d="100"/>
        </p:scale>
        <p:origin x="11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6262-C5EE-49E8-82C9-5B482EFE4728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21C3-B83B-4F67-8F2E-568770AE23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72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990B09-5614-4441-986A-2B8D4B0D146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70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59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065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4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780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232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502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923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89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57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84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194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85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847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695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661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984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614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005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990B09-5614-4441-986A-2B8D4B0D146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42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8032A-B20A-4D61-930B-4D827A8A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4AC396-59C7-4E2F-A700-E53D3F8F2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C9892-3A12-48D3-8E07-3783FE88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006B2-C4AB-45A6-B40C-6A02FDF8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EDEEE-6D9E-441E-8A29-C8C6F769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6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E5E06-2A11-41B6-8871-36FE65E0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EA20C-945C-4B54-8FF4-05F0638B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DBE8B-C4A9-4E30-B103-F3D78E32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5AD8-9911-4B6F-8419-4F614CAA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2C6D1-7E00-4617-81F8-F4D840AE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967392" y="6430009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02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_矩形 44"/>
          <p:cNvSpPr/>
          <p:nvPr userDrawn="1">
            <p:custDataLst>
              <p:tags r:id="rId1"/>
            </p:custDataLst>
          </p:nvPr>
        </p:nvSpPr>
        <p:spPr>
          <a:xfrm>
            <a:off x="0" y="1653703"/>
            <a:ext cx="12192000" cy="30511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" name="PA_等腰三角形 11"/>
          <p:cNvSpPr/>
          <p:nvPr userDrawn="1">
            <p:custDataLst>
              <p:tags r:id="rId2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783811" y="2460080"/>
            <a:ext cx="10624378" cy="9144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+mn-ea"/>
              </a:rPr>
              <a:t>企业交流汇报</a:t>
            </a:r>
          </a:p>
        </p:txBody>
      </p:sp>
      <p:cxnSp>
        <p:nvCxnSpPr>
          <p:cNvPr id="13" name="PA_直接连接符 4"/>
          <p:cNvCxnSpPr/>
          <p:nvPr userDrawn="1">
            <p:custDataLst>
              <p:tags r:id="rId3"/>
            </p:custDataLst>
          </p:nvPr>
        </p:nvCxnSpPr>
        <p:spPr>
          <a:xfrm>
            <a:off x="2171700" y="3667440"/>
            <a:ext cx="2302833" cy="0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A_直接连接符 52"/>
          <p:cNvCxnSpPr/>
          <p:nvPr userDrawn="1">
            <p:custDataLst>
              <p:tags r:id="rId4"/>
            </p:custDataLst>
          </p:nvPr>
        </p:nvCxnSpPr>
        <p:spPr>
          <a:xfrm>
            <a:off x="7646358" y="3667440"/>
            <a:ext cx="2337430" cy="0"/>
          </a:xfrm>
          <a:prstGeom prst="line">
            <a:avLst/>
          </a:prstGeom>
          <a:ln w="1905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551428" y="3483521"/>
            <a:ext cx="2962556" cy="46499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40944B-198F-99F4-1100-561A18703816}"/>
              </a:ext>
            </a:extLst>
          </p:cNvPr>
          <p:cNvGrpSpPr/>
          <p:nvPr userDrawn="1"/>
        </p:nvGrpSpPr>
        <p:grpSpPr>
          <a:xfrm>
            <a:off x="9077930" y="104993"/>
            <a:ext cx="3012470" cy="531022"/>
            <a:chOff x="9179530" y="135473"/>
            <a:chExt cx="3012470" cy="531022"/>
          </a:xfrm>
        </p:grpSpPr>
        <p:pic>
          <p:nvPicPr>
            <p:cNvPr id="3" name="Picture 2" descr="宁波大学">
              <a:extLst>
                <a:ext uri="{FF2B5EF4-FFF2-40B4-BE49-F238E27FC236}">
                  <a16:creationId xmlns:a16="http://schemas.microsoft.com/office/drawing/2014/main" id="{6194D4DA-8DFC-D757-71EB-37BC25E011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3601" y="135473"/>
              <a:ext cx="1698399" cy="531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301B06B-CCF0-C337-41EE-E42EEE5E3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9530" y="148442"/>
              <a:ext cx="1289374" cy="518053"/>
            </a:xfrm>
            <a:prstGeom prst="rect">
              <a:avLst/>
            </a:prstGeom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B758A65-6E00-9989-6C99-DF66DD900F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67225" y="148442"/>
              <a:ext cx="0" cy="496868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1628959"/>
      </p:ext>
    </p:extLst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8DCBB4-4435-4714-8BAA-4277D222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D4F7D-F1AD-40BC-AD5B-952FD6585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B166F-7E37-43F9-95BD-F4C212350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0F19-8CFC-41BA-AB99-D3970B82F7EB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71A76-7BF3-4B07-B28B-AAD6B8BCB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1A0754-2778-481F-AC59-50C239AB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hyperlink" Target="https://lhfgghc.github.io/en/blog/reversible-steganography/" TargetMode="Externa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hyperlink" Target="https://lhfgghc.github.io/en/blog/reversible-steganography/" TargetMode="Externa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1.jpeg"/><Relationship Id="rId10" Type="http://schemas.openxmlformats.org/officeDocument/2006/relationships/image" Target="../media/image11.png"/><Relationship Id="rId4" Type="http://schemas.openxmlformats.org/officeDocument/2006/relationships/notesSlide" Target="../notesSlides/notesSlide11.xml"/><Relationship Id="rId9" Type="http://schemas.microsoft.com/office/2007/relationships/hdphoto" Target="../media/hdphoto2.wdp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.jpeg"/><Relationship Id="rId10" Type="http://schemas.openxmlformats.org/officeDocument/2006/relationships/image" Target="../media/image22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5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9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3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3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8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34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A_矩形 44"/>
          <p:cNvSpPr/>
          <p:nvPr>
            <p:custDataLst>
              <p:tags r:id="rId1"/>
            </p:custDataLst>
          </p:nvPr>
        </p:nvSpPr>
        <p:spPr>
          <a:xfrm>
            <a:off x="0" y="1653703"/>
            <a:ext cx="12192000" cy="3051117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5" name="PA_文本框 34"/>
          <p:cNvSpPr txBox="1"/>
          <p:nvPr>
            <p:custDataLst>
              <p:tags r:id="rId2"/>
            </p:custDataLst>
          </p:nvPr>
        </p:nvSpPr>
        <p:spPr>
          <a:xfrm>
            <a:off x="296953" y="2590982"/>
            <a:ext cx="11598093" cy="6580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基于可逆信息嵌入的图像认证与自修复系统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PA_文本框 46"/>
          <p:cNvSpPr txBox="1"/>
          <p:nvPr>
            <p:custDataLst>
              <p:tags r:id="rId3"/>
            </p:custDataLst>
          </p:nvPr>
        </p:nvSpPr>
        <p:spPr>
          <a:xfrm>
            <a:off x="3853180" y="3724560"/>
            <a:ext cx="4356100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信息安全技术课程设计</a:t>
            </a:r>
          </a:p>
        </p:txBody>
      </p:sp>
      <p:cxnSp>
        <p:nvCxnSpPr>
          <p:cNvPr id="5" name="PA_直接连接符 4"/>
          <p:cNvCxnSpPr/>
          <p:nvPr>
            <p:custDataLst>
              <p:tags r:id="rId4"/>
            </p:custDataLst>
          </p:nvPr>
        </p:nvCxnSpPr>
        <p:spPr>
          <a:xfrm>
            <a:off x="1395730" y="3924615"/>
            <a:ext cx="2302833" cy="0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_等腰三角形 11"/>
          <p:cNvSpPr/>
          <p:nvPr>
            <p:custDataLst>
              <p:tags r:id="rId5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3" name="PA_直接连接符 52"/>
          <p:cNvCxnSpPr/>
          <p:nvPr>
            <p:custDataLst>
              <p:tags r:id="rId6"/>
            </p:custDataLst>
          </p:nvPr>
        </p:nvCxnSpPr>
        <p:spPr>
          <a:xfrm>
            <a:off x="8308663" y="3924615"/>
            <a:ext cx="2337430" cy="0"/>
          </a:xfrm>
          <a:prstGeom prst="line">
            <a:avLst/>
          </a:prstGeom>
          <a:ln w="1905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8459583" y="5204297"/>
            <a:ext cx="3178493" cy="1010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汇报人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: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梁航锋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216001912</a:t>
            </a:r>
          </a:p>
          <a:p>
            <a:pPr>
              <a:defRPr/>
            </a:pPr>
            <a:r>
              <a:rPr lang="zh-CN" altLang="en-US" b="1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日    期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: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17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日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50838F-AAB6-E1C6-B76D-01EEA1EE3C58}"/>
              </a:ext>
            </a:extLst>
          </p:cNvPr>
          <p:cNvSpPr/>
          <p:nvPr/>
        </p:nvSpPr>
        <p:spPr>
          <a:xfrm>
            <a:off x="8977053" y="47371"/>
            <a:ext cx="1416424" cy="595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108355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文本框 34">
            <a:extLst>
              <a:ext uri="{FF2B5EF4-FFF2-40B4-BE49-F238E27FC236}">
                <a16:creationId xmlns:a16="http://schemas.microsoft.com/office/drawing/2014/main" id="{9556251C-ED50-DBC7-E266-16D113ED89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1849" y="1428012"/>
            <a:ext cx="7014958" cy="474291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项目背景与实现意义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二、设计方案介绍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三、可逆隐写方法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四、恢复质量提升方案探究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五、总结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1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项目背景与实现意义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7C1534-106A-6933-E765-4B4159691421}"/>
              </a:ext>
            </a:extLst>
          </p:cNvPr>
          <p:cNvSpPr txBox="1"/>
          <p:nvPr/>
        </p:nvSpPr>
        <p:spPr>
          <a:xfrm>
            <a:off x="990252" y="1460210"/>
            <a:ext cx="102114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91B1F"/>
                </a:solidFill>
                <a:latin typeface="-apple-system"/>
              </a:rPr>
              <a:t>        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随着信息技术的飞速发展，数字图像已成为人们日常生活和工作中不可或缺的信息载体。然而，数字图像在传输、存储和使用过程中，容易受到各种形式的篡改和攻击，导致图像信息的真实性和完整性受到威胁。因此，如何有效保护数字图像的信息安全，</a:t>
            </a:r>
            <a:r>
              <a:rPr lang="zh-CN" altLang="en-US" sz="2400" b="1" dirty="0">
                <a:solidFill>
                  <a:srgbClr val="FF0000"/>
                </a:solidFill>
                <a:latin typeface="-apple-system"/>
              </a:rPr>
              <a:t>确保图像的真实性和完整性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，已成为当前信息安全领域亟待解决的问题。</a:t>
            </a:r>
          </a:p>
          <a:p>
            <a:endParaRPr lang="zh-CN" altLang="en-US" sz="2400" dirty="0">
              <a:solidFill>
                <a:srgbClr val="191B1F"/>
              </a:solidFill>
              <a:latin typeface="-apple-system"/>
            </a:endParaRPr>
          </a:p>
          <a:p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        传统的图像认证方法主要依赖于密码学技术，通过加密、签名等方式保护图像信息。然而，这些方法往往需要对图像进行整体加密或签名，导致处理效率低下，且无法对图像内容进行局部认证和自修复。针对这一问题，本项目提出了一种基于可逆水印嵌入的图像认证与自修复系统，旨在实现对数字图像的高效、</a:t>
            </a:r>
            <a:r>
              <a:rPr lang="zh-CN" altLang="en-US" sz="2400" b="1" dirty="0">
                <a:solidFill>
                  <a:srgbClr val="FF0000"/>
                </a:solidFill>
                <a:latin typeface="-apple-system"/>
              </a:rPr>
              <a:t>局部化认证和自修复功能</a:t>
            </a:r>
            <a:r>
              <a:rPr lang="zh-CN" altLang="en-US" sz="2400" dirty="0">
                <a:solidFill>
                  <a:srgbClr val="191B1F"/>
                </a:solidFill>
                <a:latin typeface="-apple-system"/>
              </a:rPr>
              <a:t>。</a:t>
            </a:r>
          </a:p>
          <a:p>
            <a:endParaRPr lang="zh-CN" altLang="en-US" sz="2400" dirty="0">
              <a:solidFill>
                <a:srgbClr val="191B1F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668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设计方案介绍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53E685-9346-1A3D-ADDE-8845540B4D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03" y="793299"/>
            <a:ext cx="12085468" cy="582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9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设计方案介绍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46925-C87E-1D5A-93CF-A37C31BB04A1}"/>
              </a:ext>
            </a:extLst>
          </p:cNvPr>
          <p:cNvSpPr txBox="1"/>
          <p:nvPr/>
        </p:nvSpPr>
        <p:spPr>
          <a:xfrm>
            <a:off x="521335" y="793299"/>
            <a:ext cx="364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大致做了个什么事情？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F2D79D-06B0-A499-1884-F4E05F6D3E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E1D6CE2-75DB-FD80-3464-16AA6D77CD20}"/>
              </a:ext>
            </a:extLst>
          </p:cNvPr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C5E3A7-63CB-7C96-996E-6A204846E6C7}"/>
                </a:ext>
              </a:extLst>
            </p:cNvPr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CDCDD9F-B91F-0011-1D03-39DDC1CCEF2F}"/>
                </a:ext>
              </a:extLst>
            </p:cNvPr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1F2379B-AD36-AF7C-56D1-0538A3FD2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F3939911-DC45-D765-8A49-2CACA98AF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F80EFF8-011A-916E-B99A-C1C6B1C2C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6277A2A-F510-F719-C7F9-204773658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75C8EBB-E815-BB89-7950-6B45D8650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778CECA-12BD-2FBF-C239-7D311F4B5E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0A02C96-AF7A-F42A-A323-84C13619C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8763E5F-282A-72E5-FF34-CB6FF91D23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45275B5-0A7A-DA71-E880-DEBF18EEB442}"/>
                </a:ext>
              </a:extLst>
            </p:cNvPr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909EAD6-D6EB-9785-421F-2BDD760C1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6617156-D8E1-4D00-E42B-7AF80C03C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48F1874-96FF-B141-E59C-D9B6F7C6D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BA9D99E-5A86-E0E5-20EA-5C72A89FF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932E08E4-66E7-780E-E412-4C75C2496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70CEF06-00BC-54A0-FA6E-FC23E6B44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EA38BCB-8B3D-B53A-530B-11D0A0DBD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27B3FC5-2683-30DF-14E8-025153DAF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AB18D85-263B-F0A2-ECBE-43383C9E30C7}"/>
              </a:ext>
            </a:extLst>
          </p:cNvPr>
          <p:cNvGrpSpPr/>
          <p:nvPr/>
        </p:nvGrpSpPr>
        <p:grpSpPr>
          <a:xfrm>
            <a:off x="4595108" y="2239295"/>
            <a:ext cx="370083" cy="360885"/>
            <a:chOff x="2345935" y="2594237"/>
            <a:chExt cx="559334" cy="55145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A61721E6-DF00-A231-AB81-E44FA0A1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5935" y="2594237"/>
              <a:ext cx="559334" cy="551456"/>
            </a:xfrm>
            <a:prstGeom prst="rect">
              <a:avLst/>
            </a:prstGeom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4E0F54F-907A-DD7A-DEE3-0EF41B20858D}"/>
                </a:ext>
              </a:extLst>
            </p:cNvPr>
            <p:cNvSpPr/>
            <p:nvPr/>
          </p:nvSpPr>
          <p:spPr>
            <a:xfrm>
              <a:off x="2345935" y="2594237"/>
              <a:ext cx="559334" cy="529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F939077-BF7E-522F-D348-CB5542B289C5}"/>
              </a:ext>
            </a:extLst>
          </p:cNvPr>
          <p:cNvGrpSpPr/>
          <p:nvPr/>
        </p:nvGrpSpPr>
        <p:grpSpPr>
          <a:xfrm>
            <a:off x="2580568" y="2338779"/>
            <a:ext cx="1343025" cy="402668"/>
            <a:chOff x="2580574" y="3249720"/>
            <a:chExt cx="1343025" cy="402668"/>
          </a:xfrm>
        </p:grpSpPr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3D66C10D-3D99-2DCE-72B8-E10F09E7D704}"/>
                </a:ext>
              </a:extLst>
            </p:cNvPr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36919F8-0048-64D7-69F2-8752F03465C6}"/>
                </a:ext>
              </a:extLst>
            </p:cNvPr>
            <p:cNvSpPr txBox="1"/>
            <p:nvPr/>
          </p:nvSpPr>
          <p:spPr>
            <a:xfrm>
              <a:off x="2889984" y="3283056"/>
              <a:ext cx="7242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-apple-system"/>
                </a:rPr>
                <a:t>Code</a:t>
              </a:r>
              <a:endParaRPr lang="zh-CN" altLang="en-US" b="1" dirty="0">
                <a:solidFill>
                  <a:srgbClr val="191B1F"/>
                </a:solidFill>
                <a:latin typeface="-apple-syste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773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22222E-6 L -0.12097 -0.0069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55" y="-34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3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0.23867 0.2439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1219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35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设计方案介绍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46925-C87E-1D5A-93CF-A37C31BB04A1}"/>
              </a:ext>
            </a:extLst>
          </p:cNvPr>
          <p:cNvSpPr txBox="1"/>
          <p:nvPr/>
        </p:nvSpPr>
        <p:spPr>
          <a:xfrm>
            <a:off x="521335" y="793299"/>
            <a:ext cx="364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大致做了个什么事情？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F2D79D-06B0-A499-1884-F4E05F6D3E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E1D6CE2-75DB-FD80-3464-16AA6D77CD20}"/>
              </a:ext>
            </a:extLst>
          </p:cNvPr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C5E3A7-63CB-7C96-996E-6A204846E6C7}"/>
                </a:ext>
              </a:extLst>
            </p:cNvPr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CDCDD9F-B91F-0011-1D03-39DDC1CCEF2F}"/>
                </a:ext>
              </a:extLst>
            </p:cNvPr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1F2379B-AD36-AF7C-56D1-0538A3FD2A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F3939911-DC45-D765-8A49-2CACA98AF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F80EFF8-011A-916E-B99A-C1C6B1C2CE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26277A2A-F510-F719-C7F9-204773658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75C8EBB-E815-BB89-7950-6B45D8650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1778CECA-12BD-2FBF-C239-7D311F4B5E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0A02C96-AF7A-F42A-A323-84C13619C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38763E5F-282A-72E5-FF34-CB6FF91D23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45275B5-0A7A-DA71-E880-DEBF18EEB442}"/>
                </a:ext>
              </a:extLst>
            </p:cNvPr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D909EAD6-D6EB-9785-421F-2BDD760C1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46617156-D8E1-4D00-E42B-7AF80C03C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48F1874-96FF-B141-E59C-D9B6F7C6D3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BA9D99E-5A86-E0E5-20EA-5C72A89FF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932E08E4-66E7-780E-E412-4C75C2496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70CEF06-00BC-54A0-FA6E-FC23E6B44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EA38BCB-8B3D-B53A-530B-11D0A0DBD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A27B3FC5-2683-30DF-14E8-025153DAF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F939077-BF7E-522F-D348-CB5542B289C5}"/>
              </a:ext>
            </a:extLst>
          </p:cNvPr>
          <p:cNvGrpSpPr/>
          <p:nvPr/>
        </p:nvGrpSpPr>
        <p:grpSpPr>
          <a:xfrm>
            <a:off x="2138373" y="2611074"/>
            <a:ext cx="1515944" cy="438487"/>
            <a:chOff x="2580574" y="3249720"/>
            <a:chExt cx="1343025" cy="402668"/>
          </a:xfrm>
        </p:grpSpPr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3D66C10D-3D99-2DCE-72B8-E10F09E7D704}"/>
                </a:ext>
              </a:extLst>
            </p:cNvPr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36919F8-0048-64D7-69F2-8752F03465C6}"/>
                </a:ext>
              </a:extLst>
            </p:cNvPr>
            <p:cNvSpPr txBox="1"/>
            <p:nvPr/>
          </p:nvSpPr>
          <p:spPr>
            <a:xfrm>
              <a:off x="2889984" y="3283056"/>
              <a:ext cx="7242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-apple-system"/>
                </a:rPr>
                <a:t>Code</a:t>
              </a:r>
              <a:endParaRPr lang="zh-CN" altLang="en-US" b="1" dirty="0">
                <a:solidFill>
                  <a:srgbClr val="191B1F"/>
                </a:solidFill>
                <a:latin typeface="-apple-system"/>
              </a:endParaRP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A23FF403-555D-92DD-E410-38D918576F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882" y="2231235"/>
            <a:ext cx="377406" cy="37503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480367F5-BB4D-E6EA-8D08-0627DCA4ED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3242" y="2115965"/>
            <a:ext cx="377406" cy="375033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178F3542-6549-F7AF-7793-6227DF9101F9}"/>
              </a:ext>
            </a:extLst>
          </p:cNvPr>
          <p:cNvSpPr txBox="1"/>
          <p:nvPr/>
        </p:nvSpPr>
        <p:spPr>
          <a:xfrm>
            <a:off x="6223888" y="1459554"/>
            <a:ext cx="5462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对于篡改判断：</a:t>
            </a:r>
            <a:r>
              <a:rPr lang="en-US" altLang="zh-CN" b="1" dirty="0"/>
              <a:t>Code := Code + Hash(Code)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623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 0.20648 L -0.01068 -0.0726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84" y="-1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0.16224 0.0173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设计方案介绍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546925-C87E-1D5A-93CF-A37C31BB04A1}"/>
              </a:ext>
            </a:extLst>
          </p:cNvPr>
          <p:cNvSpPr txBox="1"/>
          <p:nvPr/>
        </p:nvSpPr>
        <p:spPr>
          <a:xfrm>
            <a:off x="521335" y="793299"/>
            <a:ext cx="364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几个关键问题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AC9AE3-08DD-49A5-60B4-95C894CA9AAE}"/>
              </a:ext>
            </a:extLst>
          </p:cNvPr>
          <p:cNvSpPr txBox="1"/>
          <p:nvPr/>
        </p:nvSpPr>
        <p:spPr>
          <a:xfrm>
            <a:off x="600070" y="1630392"/>
            <a:ext cx="9481218" cy="454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怎么进行可逆隐写？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怎么用尽可能短的</a:t>
            </a:r>
            <a:r>
              <a:rPr lang="en-US" altLang="zh-CN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概括一个图片块？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怎么有更高的恢复质量？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每个图像块的信息该嵌入到哪里？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怎么降低“无法修复”的发生概率？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软件业务逻辑与界面如何设计？</a:t>
            </a:r>
            <a:endParaRPr lang="en-US" altLang="zh-CN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zh-CN" altLang="en-US" sz="28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592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可逆隐写方法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395932" y="1139747"/>
            <a:ext cx="11243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Times-Roman"/>
              </a:rPr>
              <a:t>Reversible Data Embedding Using a Difference Expansion  -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-Roman"/>
              </a:rPr>
              <a:t>基于差值拓展</a:t>
            </a: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27507F-A0AA-F1A8-DAB4-D36A83AE2D40}"/>
              </a:ext>
            </a:extLst>
          </p:cNvPr>
          <p:cNvSpPr txBox="1"/>
          <p:nvPr/>
        </p:nvSpPr>
        <p:spPr>
          <a:xfrm>
            <a:off x="395933" y="1746899"/>
            <a:ext cx="6490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1" i="0">
                <a:solidFill>
                  <a:srgbClr val="000000"/>
                </a:solidFill>
                <a:effectLst/>
                <a:latin typeface="Times-Roman"/>
              </a:defRPr>
            </a:lvl1pPr>
          </a:lstStyle>
          <a:p>
            <a:r>
              <a:rPr lang="en-US" altLang="zh-CN" dirty="0"/>
              <a:t>Reversible Data Hiding – </a:t>
            </a:r>
            <a:r>
              <a:rPr lang="zh-CN" altLang="en-US" dirty="0"/>
              <a:t>基于直方图偏移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9080BF0-CC92-8130-48F1-11001EE58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298" y="2399282"/>
            <a:ext cx="5351189" cy="344337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5099D8F-E677-2D33-2BAF-CAB42C930123}"/>
              </a:ext>
            </a:extLst>
          </p:cNvPr>
          <p:cNvSpPr txBox="1"/>
          <p:nvPr/>
        </p:nvSpPr>
        <p:spPr>
          <a:xfrm>
            <a:off x="5827844" y="2399282"/>
            <a:ext cx="671975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加密：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找到最大频数和最低频数的像素值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H(a)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最大，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H(b)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最小为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[a+1,b]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直方图右移，即像素值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H(a+1)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遍历图像，对于所有像素值为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的点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若待嵌入信息为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，则该点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，反之不变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解密：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遍历图片，遇到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则为记录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a+1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3207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可逆隐写方法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7743" y="687070"/>
            <a:ext cx="11243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Times-Roman"/>
              </a:rPr>
              <a:t>Reversible Data Embedding Using a Difference Expansion  -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-Roman"/>
              </a:rPr>
              <a:t>基于差值拓展</a:t>
            </a: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144BBB-044A-8B7F-A109-A8F953838D75}"/>
              </a:ext>
            </a:extLst>
          </p:cNvPr>
          <p:cNvSpPr txBox="1"/>
          <p:nvPr/>
        </p:nvSpPr>
        <p:spPr>
          <a:xfrm>
            <a:off x="3567226" y="226724"/>
            <a:ext cx="8024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【</a:t>
            </a:r>
            <a:r>
              <a:rPr lang="zh-CN" altLang="en-US" dirty="0">
                <a:hlinkClick r:id="rId6"/>
              </a:rPr>
              <a:t>学习笔记</a:t>
            </a:r>
            <a:r>
              <a:rPr lang="en-US" altLang="zh-CN" dirty="0">
                <a:hlinkClick r:id="rId6"/>
              </a:rPr>
              <a:t>】</a:t>
            </a:r>
            <a:r>
              <a:rPr lang="zh-CN" altLang="en-US" dirty="0">
                <a:hlinkClick r:id="rId6"/>
              </a:rPr>
              <a:t>基于差值拓展的可逆隐写方法 </a:t>
            </a:r>
            <a:r>
              <a:rPr lang="en-US" altLang="zh-CN" dirty="0">
                <a:hlinkClick r:id="rId6"/>
              </a:rPr>
              <a:t>(lhfgghc.github.io)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3C3E9DE-FCDD-E77C-46F1-6AACEFDA0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888" y="1068799"/>
            <a:ext cx="9115954" cy="578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7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可逆隐写方法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7743" y="687070"/>
            <a:ext cx="11243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Times-Roman"/>
              </a:rPr>
              <a:t>Reversible Data Embedding Using a Difference Expansion  -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-Roman"/>
              </a:rPr>
              <a:t>基于差值拓展</a:t>
            </a: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144BBB-044A-8B7F-A109-A8F953838D75}"/>
              </a:ext>
            </a:extLst>
          </p:cNvPr>
          <p:cNvSpPr txBox="1"/>
          <p:nvPr/>
        </p:nvSpPr>
        <p:spPr>
          <a:xfrm>
            <a:off x="3567226" y="226724"/>
            <a:ext cx="8024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【</a:t>
            </a:r>
            <a:r>
              <a:rPr lang="zh-CN" altLang="en-US" dirty="0">
                <a:hlinkClick r:id="rId6"/>
              </a:rPr>
              <a:t>学习笔记</a:t>
            </a:r>
            <a:r>
              <a:rPr lang="en-US" altLang="zh-CN" dirty="0">
                <a:hlinkClick r:id="rId6"/>
              </a:rPr>
              <a:t>】</a:t>
            </a:r>
            <a:r>
              <a:rPr lang="zh-CN" altLang="en-US" dirty="0">
                <a:hlinkClick r:id="rId6"/>
              </a:rPr>
              <a:t>基于差值拓展的可逆隐写方法 </a:t>
            </a:r>
            <a:r>
              <a:rPr lang="en-US" altLang="zh-CN" dirty="0">
                <a:hlinkClick r:id="rId6"/>
              </a:rPr>
              <a:t>(lhfgghc.github.io)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A9AF813-E886-2535-119C-83B965B17D95}"/>
              </a:ext>
            </a:extLst>
          </p:cNvPr>
          <p:cNvCxnSpPr/>
          <p:nvPr/>
        </p:nvCxnSpPr>
        <p:spPr>
          <a:xfrm>
            <a:off x="1581912" y="2478024"/>
            <a:ext cx="815644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3E0F54C-0386-9E63-0C1D-E50400F7F031}"/>
              </a:ext>
            </a:extLst>
          </p:cNvPr>
          <p:cNvGrpSpPr/>
          <p:nvPr/>
        </p:nvGrpSpPr>
        <p:grpSpPr>
          <a:xfrm>
            <a:off x="4216942" y="2286000"/>
            <a:ext cx="435795" cy="530245"/>
            <a:chOff x="4216942" y="3529584"/>
            <a:chExt cx="435795" cy="530245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5FC1AC3-3D25-2CDF-66D8-6C8589999564}"/>
                </a:ext>
              </a:extLst>
            </p:cNvPr>
            <p:cNvCxnSpPr>
              <a:cxnSpLocks/>
            </p:cNvCxnSpPr>
            <p:nvPr/>
          </p:nvCxnSpPr>
          <p:spPr>
            <a:xfrm>
              <a:off x="4370832" y="3529584"/>
              <a:ext cx="0" cy="1920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6A5AC37-9EF4-FCDD-0BA7-F9971B953DB7}"/>
                </a:ext>
              </a:extLst>
            </p:cNvPr>
            <p:cNvSpPr txBox="1"/>
            <p:nvPr/>
          </p:nvSpPr>
          <p:spPr>
            <a:xfrm>
              <a:off x="4216942" y="3598164"/>
              <a:ext cx="43579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400" dirty="0">
                  <a:ln w="0"/>
                  <a:latin typeface="Times New Roman Regular"/>
                  <a:ea typeface="微软雅黑" panose="020B0503020204020204" pitchFamily="34" charset="-122"/>
                </a:rPr>
                <a:t>x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CC6E146-520F-58FC-B6BC-FEE0E4C1267B}"/>
              </a:ext>
            </a:extLst>
          </p:cNvPr>
          <p:cNvGrpSpPr/>
          <p:nvPr/>
        </p:nvGrpSpPr>
        <p:grpSpPr>
          <a:xfrm>
            <a:off x="6541856" y="2286000"/>
            <a:ext cx="435795" cy="530244"/>
            <a:chOff x="6541856" y="3529584"/>
            <a:chExt cx="435795" cy="530244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F3B1F89-70AD-5B5D-032E-74DE0D5E4F5E}"/>
                </a:ext>
              </a:extLst>
            </p:cNvPr>
            <p:cNvCxnSpPr>
              <a:cxnSpLocks/>
            </p:cNvCxnSpPr>
            <p:nvPr/>
          </p:nvCxnSpPr>
          <p:spPr>
            <a:xfrm>
              <a:off x="6699504" y="3529584"/>
              <a:ext cx="0" cy="1920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01D97A6-A3FC-3B4F-8509-5D88AD0F6AE9}"/>
                </a:ext>
              </a:extLst>
            </p:cNvPr>
            <p:cNvSpPr txBox="1"/>
            <p:nvPr/>
          </p:nvSpPr>
          <p:spPr>
            <a:xfrm>
              <a:off x="6541856" y="3598163"/>
              <a:ext cx="43579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400" dirty="0">
                  <a:ln w="0"/>
                  <a:latin typeface="Times New Roman Regular"/>
                  <a:ea typeface="微软雅黑" panose="020B0503020204020204" pitchFamily="34" charset="-122"/>
                </a:rPr>
                <a:t>y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040043A-5F08-704C-92B8-43216F41F5DA}"/>
              </a:ext>
            </a:extLst>
          </p:cNvPr>
          <p:cNvCxnSpPr>
            <a:cxnSpLocks/>
          </p:cNvCxnSpPr>
          <p:nvPr/>
        </p:nvCxnSpPr>
        <p:spPr>
          <a:xfrm>
            <a:off x="5538216" y="2359152"/>
            <a:ext cx="0" cy="1920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7AD5F08-EA62-2836-52A1-FD97F815ED1B}"/>
              </a:ext>
            </a:extLst>
          </p:cNvPr>
          <p:cNvSpPr txBox="1"/>
          <p:nvPr/>
        </p:nvSpPr>
        <p:spPr>
          <a:xfrm>
            <a:off x="5413776" y="2468772"/>
            <a:ext cx="435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ln w="0"/>
                <a:latin typeface="Times New Roman Regular"/>
                <a:ea typeface="微软雅黑" panose="020B0503020204020204" pitchFamily="34" charset="-122"/>
              </a:rPr>
              <a:t>l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F7942B4-8DD5-7EE5-56DC-87C7000E6C96}"/>
              </a:ext>
            </a:extLst>
          </p:cNvPr>
          <p:cNvCxnSpPr>
            <a:cxnSpLocks/>
          </p:cNvCxnSpPr>
          <p:nvPr/>
        </p:nvCxnSpPr>
        <p:spPr>
          <a:xfrm>
            <a:off x="4368577" y="2286000"/>
            <a:ext cx="23309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AA82920-8B78-91C7-4D03-64978EA2DDDD}"/>
              </a:ext>
            </a:extLst>
          </p:cNvPr>
          <p:cNvSpPr txBox="1"/>
          <p:nvPr/>
        </p:nvSpPr>
        <p:spPr>
          <a:xfrm>
            <a:off x="5386344" y="1915721"/>
            <a:ext cx="435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ln w="0"/>
                <a:latin typeface="Times New Roman Regular"/>
                <a:ea typeface="微软雅黑" panose="020B0503020204020204" pitchFamily="34" charset="-122"/>
              </a:rPr>
              <a:t>h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A2E75F-D316-F27E-1DF4-43D7B7E43E95}"/>
              </a:ext>
            </a:extLst>
          </p:cNvPr>
          <p:cNvSpPr txBox="1"/>
          <p:nvPr/>
        </p:nvSpPr>
        <p:spPr>
          <a:xfrm>
            <a:off x="4863192" y="1920347"/>
            <a:ext cx="3049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ln w="0"/>
                <a:latin typeface="Times New Roman Regular"/>
                <a:ea typeface="微软雅黑" panose="020B0503020204020204" pitchFamily="34" charset="-122"/>
              </a:rPr>
              <a:t>2 × h + m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D75829E-1123-2520-E751-34F09BA75264}"/>
              </a:ext>
            </a:extLst>
          </p:cNvPr>
          <p:cNvCxnSpPr>
            <a:cxnSpLocks/>
          </p:cNvCxnSpPr>
          <p:nvPr/>
        </p:nvCxnSpPr>
        <p:spPr>
          <a:xfrm>
            <a:off x="3155446" y="2286000"/>
            <a:ext cx="46740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FBA3458-DA40-6B33-A560-1B3EC44B2AA5}"/>
              </a:ext>
            </a:extLst>
          </p:cNvPr>
          <p:cNvSpPr txBox="1"/>
          <p:nvPr/>
        </p:nvSpPr>
        <p:spPr>
          <a:xfrm>
            <a:off x="2269673" y="3659561"/>
            <a:ext cx="6719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均值</a:t>
            </a:r>
            <a:r>
              <a:rPr lang="en-US" altLang="zh-CN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不变，差值的最低位即为嵌入信息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差值初始尽可能小，这样扩展后不会有太大差异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考虑图片中邻近的两个像素值差异不会太大</a:t>
            </a:r>
            <a:endParaRPr lang="en-US" altLang="zh-CN" sz="2400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207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7.40741E-7 L 0.09205 -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6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7.40741E-7 L -0.10013 -0.0004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3" y="-2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607740" y="966210"/>
            <a:ext cx="549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基础方案</a:t>
            </a:r>
            <a:r>
              <a:rPr lang="en-US" altLang="zh-CN" sz="2400" b="1" dirty="0"/>
              <a:t> – </a:t>
            </a:r>
            <a:r>
              <a:rPr lang="zh-CN" altLang="en-US" sz="2400" b="1" dirty="0"/>
              <a:t>聚类构造索引库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DF09A55-817F-2D45-966C-4884B57074D0}"/>
              </a:ext>
            </a:extLst>
          </p:cNvPr>
          <p:cNvGrpSpPr/>
          <p:nvPr/>
        </p:nvGrpSpPr>
        <p:grpSpPr>
          <a:xfrm>
            <a:off x="3353843" y="1079736"/>
            <a:ext cx="5335337" cy="1160368"/>
            <a:chOff x="3253259" y="1314108"/>
            <a:chExt cx="5335337" cy="116036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75BB158F-DDA1-721F-68C8-3D68C9EBC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53259" y="1314108"/>
              <a:ext cx="1036070" cy="1029556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51CD1FA-1E5A-3D02-301E-EB112246DCA6}"/>
                </a:ext>
              </a:extLst>
            </p:cNvPr>
            <p:cNvGrpSpPr/>
            <p:nvPr/>
          </p:nvGrpSpPr>
          <p:grpSpPr>
            <a:xfrm>
              <a:off x="6886225" y="1791844"/>
              <a:ext cx="1702371" cy="682632"/>
              <a:chOff x="2580573" y="3249720"/>
              <a:chExt cx="1508187" cy="626870"/>
            </a:xfrm>
          </p:grpSpPr>
          <p:sp>
            <p:nvSpPr>
              <p:cNvPr id="10" name="立方体 9">
                <a:extLst>
                  <a:ext uri="{FF2B5EF4-FFF2-40B4-BE49-F238E27FC236}">
                    <a16:creationId xmlns:a16="http://schemas.microsoft.com/office/drawing/2014/main" id="{01AEA190-DE24-DAD8-BA92-5B80CCF8441D}"/>
                  </a:ext>
                </a:extLst>
              </p:cNvPr>
              <p:cNvSpPr/>
              <p:nvPr/>
            </p:nvSpPr>
            <p:spPr>
              <a:xfrm>
                <a:off x="2580574" y="3249720"/>
                <a:ext cx="1343025" cy="66672"/>
              </a:xfrm>
              <a:prstGeom prst="cube">
                <a:avLst>
                  <a:gd name="adj" fmla="val 39610"/>
                </a:avLst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F45685A-D0BA-C5E8-5097-97E0AFE41E66}"/>
                  </a:ext>
                </a:extLst>
              </p:cNvPr>
              <p:cNvSpPr txBox="1"/>
              <p:nvPr/>
            </p:nvSpPr>
            <p:spPr>
              <a:xfrm>
                <a:off x="2580573" y="3283056"/>
                <a:ext cx="1508187" cy="593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91B1F"/>
                    </a:solidFill>
                    <a:latin typeface="-apple-system"/>
                  </a:rPr>
                  <a:t>Code</a:t>
                </a:r>
              </a:p>
              <a:p>
                <a:pPr algn="ctr"/>
                <a:r>
                  <a:rPr lang="zh-CN" altLang="en-US" b="1" dirty="0">
                    <a:solidFill>
                      <a:srgbClr val="191B1F"/>
                    </a:solidFill>
                    <a:latin typeface="-apple-system"/>
                  </a:rPr>
                  <a:t>（备份信息）</a:t>
                </a:r>
              </a:p>
            </p:txBody>
          </p:sp>
        </p:grp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1295053-7FDB-D1B0-77A5-5A4F09CB7994}"/>
                </a:ext>
              </a:extLst>
            </p:cNvPr>
            <p:cNvCxnSpPr/>
            <p:nvPr/>
          </p:nvCxnSpPr>
          <p:spPr>
            <a:xfrm>
              <a:off x="4736592" y="1865187"/>
              <a:ext cx="1702371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84A873B-E7B5-6E3D-E76C-D75A54BE12FD}"/>
              </a:ext>
            </a:extLst>
          </p:cNvPr>
          <p:cNvGrpSpPr/>
          <p:nvPr/>
        </p:nvGrpSpPr>
        <p:grpSpPr>
          <a:xfrm>
            <a:off x="1805305" y="2295420"/>
            <a:ext cx="3031871" cy="3232088"/>
            <a:chOff x="725807" y="404990"/>
            <a:chExt cx="3031871" cy="3232088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498E6CA-88C9-D87D-5AE4-B0E6F3017DB2}"/>
                </a:ext>
              </a:extLst>
            </p:cNvPr>
            <p:cNvGrpSpPr/>
            <p:nvPr/>
          </p:nvGrpSpPr>
          <p:grpSpPr>
            <a:xfrm>
              <a:off x="2783622" y="688805"/>
              <a:ext cx="882174" cy="792658"/>
              <a:chOff x="1955260" y="735805"/>
              <a:chExt cx="882174" cy="79265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346235CA-3361-A081-EE7C-6A1DCE13C80C}"/>
                  </a:ext>
                </a:extLst>
              </p:cNvPr>
              <p:cNvGrpSpPr/>
              <p:nvPr/>
            </p:nvGrpSpPr>
            <p:grpSpPr>
              <a:xfrm>
                <a:off x="1955260" y="735805"/>
                <a:ext cx="559334" cy="792658"/>
                <a:chOff x="1955260" y="735805"/>
                <a:chExt cx="559334" cy="792658"/>
              </a:xfrm>
            </p:grpSpPr>
            <p:pic>
              <p:nvPicPr>
                <p:cNvPr id="33" name="图片 32">
                  <a:extLst>
                    <a:ext uri="{FF2B5EF4-FFF2-40B4-BE49-F238E27FC236}">
                      <a16:creationId xmlns:a16="http://schemas.microsoft.com/office/drawing/2014/main" id="{482CA19B-FB40-1019-2BC4-9CD4108C1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5260" y="977007"/>
                  <a:ext cx="559334" cy="551456"/>
                </a:xfrm>
                <a:prstGeom prst="rect">
                  <a:avLst/>
                </a:prstGeom>
              </p:spPr>
            </p:pic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C72C72B8-5FAE-A09C-EFC6-B9FD030BC54F}"/>
                    </a:ext>
                  </a:extLst>
                </p:cNvPr>
                <p:cNvSpPr/>
                <p:nvPr/>
              </p:nvSpPr>
              <p:spPr>
                <a:xfrm>
                  <a:off x="1955260" y="986534"/>
                  <a:ext cx="559334" cy="529229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C456A09-0E22-85B0-C1A5-88BC58A6867A}"/>
                    </a:ext>
                  </a:extLst>
                </p:cNvPr>
                <p:cNvSpPr txBox="1"/>
                <p:nvPr/>
              </p:nvSpPr>
              <p:spPr>
                <a:xfrm>
                  <a:off x="2070558" y="73580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32</a:t>
                  </a:r>
                  <a:endParaRPr lang="zh-CN" altLang="en-US" sz="1400" b="1" dirty="0"/>
                </a:p>
              </p:txBody>
            </p:sp>
          </p:grp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7A17C53-8F63-DAD6-DFC6-CBABCC56FAD4}"/>
                  </a:ext>
                </a:extLst>
              </p:cNvPr>
              <p:cNvSpPr txBox="1"/>
              <p:nvPr/>
            </p:nvSpPr>
            <p:spPr>
              <a:xfrm>
                <a:off x="2453996" y="1084606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/>
                  <a:t>32</a:t>
                </a:r>
                <a:endParaRPr lang="zh-CN" altLang="en-US" sz="1400" b="1" dirty="0"/>
              </a:p>
            </p:txBody>
          </p:sp>
        </p:grp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B16BAD96-040D-A7D1-01F2-F82D28A0DC00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2495018" y="1204149"/>
              <a:ext cx="288604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AE482D-DD84-0906-1EC5-2C72EEB7D254}"/>
                </a:ext>
              </a:extLst>
            </p:cNvPr>
            <p:cNvSpPr txBox="1"/>
            <p:nvPr/>
          </p:nvSpPr>
          <p:spPr>
            <a:xfrm>
              <a:off x="1887249" y="105184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/>
                <a:t>均值</a:t>
              </a:r>
              <a:endParaRPr lang="en-US" altLang="zh-CN" sz="1400" b="1" dirty="0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831649B1-9BA7-C0AD-F954-40A1FA1FFD7B}"/>
                </a:ext>
              </a:extLst>
            </p:cNvPr>
            <p:cNvCxnSpPr>
              <a:cxnSpLocks/>
              <a:stCxn id="34" idx="2"/>
            </p:cNvCxnSpPr>
            <p:nvPr/>
          </p:nvCxnSpPr>
          <p:spPr>
            <a:xfrm>
              <a:off x="3063289" y="1468763"/>
              <a:ext cx="0" cy="286842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E755010A-F8F2-7B1D-78BD-A9D888935E51}"/>
                </a:ext>
              </a:extLst>
            </p:cNvPr>
            <p:cNvGrpSpPr/>
            <p:nvPr/>
          </p:nvGrpSpPr>
          <p:grpSpPr>
            <a:xfrm>
              <a:off x="2906836" y="1695417"/>
              <a:ext cx="312906" cy="400110"/>
              <a:chOff x="1777636" y="2158935"/>
              <a:chExt cx="312906" cy="400110"/>
            </a:xfrm>
          </p:grpSpPr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2BD5A2A2-EA3C-845E-146B-69EC9779651C}"/>
                  </a:ext>
                </a:extLst>
              </p:cNvPr>
              <p:cNvSpPr/>
              <p:nvPr/>
            </p:nvSpPr>
            <p:spPr>
              <a:xfrm>
                <a:off x="1809376" y="2256364"/>
                <a:ext cx="238499" cy="248711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D888C8C-475E-55C7-3DAB-68902039E92B}"/>
                  </a:ext>
                </a:extLst>
              </p:cNvPr>
              <p:cNvSpPr txBox="1"/>
              <p:nvPr/>
            </p:nvSpPr>
            <p:spPr>
              <a:xfrm>
                <a:off x="1777636" y="2158935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/>
                  <a:t>-</a:t>
                </a:r>
                <a:endParaRPr lang="zh-CN" altLang="en-US" sz="2000" b="1" dirty="0"/>
              </a:p>
            </p:txBody>
          </p:sp>
        </p:grpSp>
        <p:cxnSp>
          <p:nvCxnSpPr>
            <p:cNvPr id="42" name="连接符: 肘形 41">
              <a:extLst>
                <a:ext uri="{FF2B5EF4-FFF2-40B4-BE49-F238E27FC236}">
                  <a16:creationId xmlns:a16="http://schemas.microsoft.com/office/drawing/2014/main" id="{C8C312EA-8309-6DF7-E65B-8A390AFFAFB6}"/>
                </a:ext>
              </a:extLst>
            </p:cNvPr>
            <p:cNvCxnSpPr>
              <a:cxnSpLocks/>
              <a:stCxn id="55" idx="2"/>
              <a:endCxn id="41" idx="1"/>
            </p:cNvCxnSpPr>
            <p:nvPr/>
          </p:nvCxnSpPr>
          <p:spPr>
            <a:xfrm rot="16200000" flipH="1">
              <a:off x="2271209" y="1259844"/>
              <a:ext cx="524735" cy="746520"/>
            </a:xfrm>
            <a:prstGeom prst="bent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3E53B1BC-0E73-D80E-B40A-7274FFF4ED76}"/>
                </a:ext>
              </a:extLst>
            </p:cNvPr>
            <p:cNvCxnSpPr>
              <a:cxnSpLocks/>
            </p:cNvCxnSpPr>
            <p:nvPr/>
          </p:nvCxnSpPr>
          <p:spPr>
            <a:xfrm>
              <a:off x="3067350" y="2076477"/>
              <a:ext cx="0" cy="286842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FF355E8-E34E-8C0E-768E-F381BAC6D0EF}"/>
                </a:ext>
              </a:extLst>
            </p:cNvPr>
            <p:cNvGrpSpPr/>
            <p:nvPr/>
          </p:nvGrpSpPr>
          <p:grpSpPr>
            <a:xfrm>
              <a:off x="2778655" y="2372533"/>
              <a:ext cx="559334" cy="551456"/>
              <a:chOff x="1955260" y="977007"/>
              <a:chExt cx="559334" cy="551456"/>
            </a:xfrm>
          </p:grpSpPr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C74FCA02-ED8D-1C8C-875E-616FD0D3A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encilGrayscale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955260" y="977007"/>
                <a:ext cx="559334" cy="551456"/>
              </a:xfrm>
              <a:prstGeom prst="rect">
                <a:avLst/>
              </a:prstGeom>
            </p:spPr>
          </p:pic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536B6060-95E9-0C84-4D87-FEB498F79773}"/>
                  </a:ext>
                </a:extLst>
              </p:cNvPr>
              <p:cNvSpPr/>
              <p:nvPr/>
            </p:nvSpPr>
            <p:spPr>
              <a:xfrm>
                <a:off x="1955260" y="999234"/>
                <a:ext cx="559334" cy="52922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7" name="立方体 46">
              <a:extLst>
                <a:ext uri="{FF2B5EF4-FFF2-40B4-BE49-F238E27FC236}">
                  <a16:creationId xmlns:a16="http://schemas.microsoft.com/office/drawing/2014/main" id="{BB9B9F10-8AF6-B8E6-3C14-8D9B7177134A}"/>
                </a:ext>
              </a:extLst>
            </p:cNvPr>
            <p:cNvSpPr/>
            <p:nvPr/>
          </p:nvSpPr>
          <p:spPr>
            <a:xfrm>
              <a:off x="880550" y="3321822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65FA740-5184-B133-02BD-601A7E852360}"/>
                </a:ext>
              </a:extLst>
            </p:cNvPr>
            <p:cNvSpPr txBox="1"/>
            <p:nvPr/>
          </p:nvSpPr>
          <p:spPr>
            <a:xfrm>
              <a:off x="1174731" y="3360079"/>
              <a:ext cx="716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3072×1</a:t>
              </a:r>
              <a:endParaRPr lang="zh-CN" altLang="en-US" sz="1200" b="1" dirty="0"/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BB11984-32F0-2D88-D44C-BE74A7038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2062" y="2923989"/>
              <a:ext cx="0" cy="286842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CC20D9E-93B5-6131-1CB1-881ED7EAFE91}"/>
                </a:ext>
              </a:extLst>
            </p:cNvPr>
            <p:cNvSpPr/>
            <p:nvPr/>
          </p:nvSpPr>
          <p:spPr>
            <a:xfrm>
              <a:off x="1007888" y="2618019"/>
              <a:ext cx="1088348" cy="286842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索引库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6A424DD-D109-C97D-643D-0E697B206AFA}"/>
                </a:ext>
              </a:extLst>
            </p:cNvPr>
            <p:cNvCxnSpPr>
              <a:cxnSpLocks/>
              <a:stCxn id="50" idx="0"/>
              <a:endCxn id="56" idx="2"/>
            </p:cNvCxnSpPr>
            <p:nvPr/>
          </p:nvCxnSpPr>
          <p:spPr>
            <a:xfrm flipH="1" flipV="1">
              <a:off x="1550947" y="2201059"/>
              <a:ext cx="1115" cy="41696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连接符: 肘形 51">
              <a:extLst>
                <a:ext uri="{FF2B5EF4-FFF2-40B4-BE49-F238E27FC236}">
                  <a16:creationId xmlns:a16="http://schemas.microsoft.com/office/drawing/2014/main" id="{035C9DE6-03BF-0719-FD00-26493364FDD1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 rot="5400000">
              <a:off x="2466066" y="2762901"/>
              <a:ext cx="431169" cy="753345"/>
            </a:xfrm>
            <a:prstGeom prst="bentConnector2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925F931-A2ED-2D9F-0EED-84CAA20654D7}"/>
                </a:ext>
              </a:extLst>
            </p:cNvPr>
            <p:cNvSpPr txBox="1"/>
            <p:nvPr/>
          </p:nvSpPr>
          <p:spPr>
            <a:xfrm>
              <a:off x="3015166" y="3056942"/>
              <a:ext cx="7425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/>
                <a:t>Flatten</a:t>
              </a:r>
              <a:endParaRPr lang="zh-CN" altLang="en-US" sz="1400" b="1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06542E0-B2C0-EA22-7586-A70BB4880BE6}"/>
                </a:ext>
              </a:extLst>
            </p:cNvPr>
            <p:cNvSpPr txBox="1"/>
            <p:nvPr/>
          </p:nvSpPr>
          <p:spPr>
            <a:xfrm>
              <a:off x="1281874" y="1891835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/>
                <a:t>索引</a:t>
              </a:r>
              <a:endParaRPr lang="en-US" altLang="zh-CN" sz="1400" b="1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0E14216-690A-B10F-2766-0E08FD4F2092}"/>
                </a:ext>
              </a:extLst>
            </p:cNvPr>
            <p:cNvSpPr/>
            <p:nvPr/>
          </p:nvSpPr>
          <p:spPr>
            <a:xfrm>
              <a:off x="1825613" y="1062959"/>
              <a:ext cx="669405" cy="3077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9A5687A-33DA-DDF0-93A3-CF056CDDE0A2}"/>
                </a:ext>
              </a:extLst>
            </p:cNvPr>
            <p:cNvSpPr/>
            <p:nvPr/>
          </p:nvSpPr>
          <p:spPr>
            <a:xfrm>
              <a:off x="1216244" y="1859561"/>
              <a:ext cx="669405" cy="34149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0FEFC88-74F6-68E6-FBF9-7B467E79FC3A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H="1" flipV="1">
              <a:off x="1545947" y="688805"/>
              <a:ext cx="5000" cy="1170756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F549D15A-A868-31A4-40DD-E701D5418D24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>
              <a:off x="1565008" y="1216848"/>
              <a:ext cx="260605" cy="0"/>
            </a:xfrm>
            <a:prstGeom prst="straightConnector1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B5E5E9B-4DF9-1135-8658-1F4F5DEF0BE5}"/>
                </a:ext>
              </a:extLst>
            </p:cNvPr>
            <p:cNvSpPr txBox="1"/>
            <p:nvPr/>
          </p:nvSpPr>
          <p:spPr>
            <a:xfrm>
              <a:off x="1020749" y="404990"/>
              <a:ext cx="16033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/>
                <a:t>备份信息（</a:t>
              </a:r>
              <a:r>
                <a:rPr lang="en-US" altLang="zh-CN" sz="1400" b="1" dirty="0"/>
                <a:t>16b</a:t>
              </a:r>
              <a:r>
                <a:rPr lang="zh-CN" altLang="en-US" sz="1400" b="1" dirty="0"/>
                <a:t>）</a:t>
              </a:r>
            </a:p>
          </p:txBody>
        </p:sp>
        <p:pic>
          <p:nvPicPr>
            <p:cNvPr id="60" name="图形 59" descr="钥匙">
              <a:extLst>
                <a:ext uri="{FF2B5EF4-FFF2-40B4-BE49-F238E27FC236}">
                  <a16:creationId xmlns:a16="http://schemas.microsoft.com/office/drawing/2014/main" id="{3613A577-980D-CFC6-0AB3-0A2D1CBA4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5807" y="427102"/>
              <a:ext cx="312592" cy="312592"/>
            </a:xfrm>
            <a:prstGeom prst="rect">
              <a:avLst/>
            </a:prstGeom>
          </p:spPr>
        </p:pic>
      </p:grpSp>
      <p:grpSp>
        <p:nvGrpSpPr>
          <p:cNvPr id="1027" name="组合 1026">
            <a:extLst>
              <a:ext uri="{FF2B5EF4-FFF2-40B4-BE49-F238E27FC236}">
                <a16:creationId xmlns:a16="http://schemas.microsoft.com/office/drawing/2014/main" id="{CD5D172D-20B7-BF73-748D-3BAC7358D952}"/>
              </a:ext>
            </a:extLst>
          </p:cNvPr>
          <p:cNvGrpSpPr/>
          <p:nvPr/>
        </p:nvGrpSpPr>
        <p:grpSpPr>
          <a:xfrm>
            <a:off x="5688361" y="2328907"/>
            <a:ext cx="5704347" cy="3079340"/>
            <a:chOff x="5688361" y="2328907"/>
            <a:chExt cx="5704347" cy="3079340"/>
          </a:xfrm>
        </p:grpSpPr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77760B93-CF63-5218-E2C5-C350E7B73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241" y="2714950"/>
              <a:ext cx="5618467" cy="2693297"/>
            </a:xfrm>
            <a:prstGeom prst="rect">
              <a:avLst/>
            </a:prstGeom>
          </p:spPr>
        </p:pic>
        <p:sp>
          <p:nvSpPr>
            <p:cNvPr id="1024" name="文本框 1023">
              <a:extLst>
                <a:ext uri="{FF2B5EF4-FFF2-40B4-BE49-F238E27FC236}">
                  <a16:creationId xmlns:a16="http://schemas.microsoft.com/office/drawing/2014/main" id="{7777D9C4-4174-6C51-FC29-EBD1EC3BE713}"/>
                </a:ext>
              </a:extLst>
            </p:cNvPr>
            <p:cNvSpPr txBox="1"/>
            <p:nvPr/>
          </p:nvSpPr>
          <p:spPr>
            <a:xfrm>
              <a:off x="5688361" y="2328907"/>
              <a:ext cx="34916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通过</a:t>
              </a:r>
              <a:r>
                <a:rPr lang="en-US" altLang="zh-CN" b="1" dirty="0"/>
                <a:t>K-Means</a:t>
              </a:r>
              <a:r>
                <a:rPr lang="zh-CN" altLang="en-US" b="1" dirty="0"/>
                <a:t>构造的索引库</a:t>
              </a:r>
            </a:p>
          </p:txBody>
        </p:sp>
      </p:grp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CB4D5C8B-4448-BD04-8713-7D0BEB87C43B}"/>
              </a:ext>
            </a:extLst>
          </p:cNvPr>
          <p:cNvSpPr txBox="1"/>
          <p:nvPr/>
        </p:nvSpPr>
        <p:spPr>
          <a:xfrm>
            <a:off x="1363620" y="6101852"/>
            <a:ext cx="10029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使用数据集：</a:t>
            </a:r>
            <a:r>
              <a:rPr lang="en-US" altLang="zh-CN" dirty="0"/>
              <a:t>STL10</a:t>
            </a:r>
            <a:r>
              <a:rPr lang="zh-CN" altLang="en-US" dirty="0"/>
              <a:t>（</a:t>
            </a:r>
            <a:r>
              <a:rPr lang="en-US" altLang="zh-CN" dirty="0"/>
              <a:t>100000</a:t>
            </a:r>
            <a:r>
              <a:rPr lang="zh-CN" altLang="en-US" dirty="0"/>
              <a:t>张</a:t>
            </a:r>
            <a:r>
              <a:rPr lang="en-US" altLang="zh-CN" dirty="0"/>
              <a:t>96×96</a:t>
            </a:r>
            <a:r>
              <a:rPr lang="zh-CN" altLang="en-US" dirty="0"/>
              <a:t>）、</a:t>
            </a:r>
            <a:r>
              <a:rPr lang="en-US" altLang="zh-CN" dirty="0"/>
              <a:t>Flicker1024</a:t>
            </a:r>
            <a:r>
              <a:rPr lang="zh-CN" altLang="en-US" dirty="0"/>
              <a:t>（</a:t>
            </a:r>
            <a:r>
              <a:rPr lang="en-US" altLang="zh-CN" dirty="0"/>
              <a:t>1600</a:t>
            </a:r>
            <a:r>
              <a:rPr lang="zh-CN" altLang="en-US" dirty="0"/>
              <a:t>张</a:t>
            </a:r>
            <a:r>
              <a:rPr lang="en-US" altLang="zh-CN" dirty="0"/>
              <a:t>800×1000</a:t>
            </a:r>
            <a:r>
              <a:rPr lang="zh-CN" altLang="en-US" dirty="0"/>
              <a:t>及以上图片）</a:t>
            </a:r>
          </a:p>
        </p:txBody>
      </p:sp>
      <p:pic>
        <p:nvPicPr>
          <p:cNvPr id="1031" name="图片 1030">
            <a:extLst>
              <a:ext uri="{FF2B5EF4-FFF2-40B4-BE49-F238E27FC236}">
                <a16:creationId xmlns:a16="http://schemas.microsoft.com/office/drawing/2014/main" id="{9037EEF8-D7E1-89DD-29FD-DF694340C9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335" y="970512"/>
            <a:ext cx="11431085" cy="5500672"/>
          </a:xfrm>
          <a:prstGeom prst="rect">
            <a:avLst/>
          </a:prstGeom>
        </p:spPr>
      </p:pic>
      <p:pic>
        <p:nvPicPr>
          <p:cNvPr id="1033" name="图片 1032">
            <a:extLst>
              <a:ext uri="{FF2B5EF4-FFF2-40B4-BE49-F238E27FC236}">
                <a16:creationId xmlns:a16="http://schemas.microsoft.com/office/drawing/2014/main" id="{553D6E43-D258-3A60-DB48-1464CB5B73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8218" y="650215"/>
            <a:ext cx="9858658" cy="617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4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25" grpId="0"/>
      <p:bldP spid="102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607740" y="966210"/>
            <a:ext cx="549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基础方案</a:t>
            </a:r>
            <a:r>
              <a:rPr lang="en-US" altLang="zh-CN" sz="2400" b="1" dirty="0"/>
              <a:t> – </a:t>
            </a:r>
            <a:r>
              <a:rPr lang="zh-CN" altLang="en-US" sz="2400" b="1" dirty="0"/>
              <a:t>聚类构造索引库</a:t>
            </a:r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CB4D5C8B-4448-BD04-8713-7D0BEB87C43B}"/>
              </a:ext>
            </a:extLst>
          </p:cNvPr>
          <p:cNvSpPr txBox="1"/>
          <p:nvPr/>
        </p:nvSpPr>
        <p:spPr>
          <a:xfrm>
            <a:off x="600070" y="1721876"/>
            <a:ext cx="96503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存在的问题：</a:t>
            </a:r>
            <a:endParaRPr lang="en-US" altLang="zh-CN" sz="2000" b="1" dirty="0"/>
          </a:p>
          <a:p>
            <a:pPr marL="342900" indent="-342900">
              <a:buAutoNum type="arabicPeriod"/>
            </a:pPr>
            <a:r>
              <a:rPr lang="zh-CN" altLang="en-US" sz="2000" dirty="0"/>
              <a:t>由于每个样本的特征维数为</a:t>
            </a:r>
            <a:r>
              <a:rPr lang="en-US" altLang="zh-CN" sz="2000" dirty="0"/>
              <a:t>3072</a:t>
            </a:r>
            <a:r>
              <a:rPr lang="zh-CN" altLang="en-US" sz="2000" dirty="0"/>
              <a:t>，本质上是将训练集分割为多个</a:t>
            </a:r>
            <a:r>
              <a:rPr lang="en-US" altLang="zh-CN" sz="2000" dirty="0"/>
              <a:t>32×32</a:t>
            </a:r>
            <a:r>
              <a:rPr lang="zh-CN" altLang="en-US" sz="2000" dirty="0"/>
              <a:t>进行训练，这个规模是极大的，普通</a:t>
            </a:r>
            <a:r>
              <a:rPr lang="en-US" altLang="zh-CN" sz="2000" dirty="0"/>
              <a:t>K-Means</a:t>
            </a:r>
            <a:r>
              <a:rPr lang="zh-CN" altLang="en-US" sz="2000" dirty="0"/>
              <a:t>的训练开销极大。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en-US" altLang="zh-CN" sz="2000" dirty="0"/>
              <a:t>K-Means</a:t>
            </a:r>
            <a:r>
              <a:rPr lang="zh-CN" altLang="en-US" sz="2000" dirty="0"/>
              <a:t>划分的类别有限，缺乏灵活性，类别数目越多则查索引库的开销越大，反之则概括质量较差。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训练集难以涵盖所有的情况，和多数</a:t>
            </a:r>
            <a:r>
              <a:rPr lang="en-US" altLang="zh-CN" sz="2000" dirty="0"/>
              <a:t>DL</a:t>
            </a:r>
            <a:r>
              <a:rPr lang="zh-CN" altLang="en-US" sz="2000" dirty="0"/>
              <a:t>模型训练一样，要想在某个类别的图片修复有好的效果，训练集可能要有针对性的选择。我们选用的数据集较为复杂，但也出现了类似“细节修复不到位、天空完美修复”的情况。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09129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607740" y="966210"/>
            <a:ext cx="549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尝试方案</a:t>
            </a:r>
            <a:r>
              <a:rPr lang="en-US" altLang="zh-CN" sz="2400" b="1" dirty="0"/>
              <a:t> – Auto Encoder</a:t>
            </a:r>
            <a:r>
              <a:rPr lang="zh-CN" altLang="en-US" sz="2400" b="1" dirty="0"/>
              <a:t>编码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172FBDB-9168-8E22-B342-23D1E6EC6167}"/>
              </a:ext>
            </a:extLst>
          </p:cNvPr>
          <p:cNvGrpSpPr/>
          <p:nvPr/>
        </p:nvGrpSpPr>
        <p:grpSpPr>
          <a:xfrm>
            <a:off x="2126686" y="1615093"/>
            <a:ext cx="8105154" cy="2746135"/>
            <a:chOff x="2126686" y="2145445"/>
            <a:chExt cx="8105154" cy="2746135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22BAD01-D9E6-E7D1-8D11-49DD0D200430}"/>
                </a:ext>
              </a:extLst>
            </p:cNvPr>
            <p:cNvGrpSpPr/>
            <p:nvPr/>
          </p:nvGrpSpPr>
          <p:grpSpPr>
            <a:xfrm>
              <a:off x="3937138" y="2145445"/>
              <a:ext cx="4317723" cy="2746135"/>
              <a:chOff x="2413872" y="2072293"/>
              <a:chExt cx="4317723" cy="2746135"/>
            </a:xfrm>
          </p:grpSpPr>
          <p:sp>
            <p:nvSpPr>
              <p:cNvPr id="10" name="立方体 9">
                <a:extLst>
                  <a:ext uri="{FF2B5EF4-FFF2-40B4-BE49-F238E27FC236}">
                    <a16:creationId xmlns:a16="http://schemas.microsoft.com/office/drawing/2014/main" id="{53198501-DB04-C885-B693-67DBE4C78210}"/>
                  </a:ext>
                </a:extLst>
              </p:cNvPr>
              <p:cNvSpPr/>
              <p:nvPr/>
            </p:nvSpPr>
            <p:spPr>
              <a:xfrm>
                <a:off x="3960018" y="3542257"/>
                <a:ext cx="1223964" cy="119688"/>
              </a:xfrm>
              <a:prstGeom prst="cube">
                <a:avLst>
                  <a:gd name="adj" fmla="val 36371"/>
                </a:avLst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2A7AAF41-8284-CD77-EA6B-D5B9884EF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3593" y="3620706"/>
                <a:ext cx="276425" cy="3161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68C071D1-FCC1-FB2F-BC55-238EB5383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2" y="3583957"/>
                <a:ext cx="276425" cy="3161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36C59ACD-E65D-EA56-C345-C6CE2E8CE829}"/>
                  </a:ext>
                </a:extLst>
              </p:cNvPr>
              <p:cNvGrpSpPr/>
              <p:nvPr/>
            </p:nvGrpSpPr>
            <p:grpSpPr>
              <a:xfrm>
                <a:off x="5297409" y="2388679"/>
                <a:ext cx="1434186" cy="2429749"/>
                <a:chOff x="5284179" y="2782331"/>
                <a:chExt cx="1434186" cy="2429749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2326E171-7EED-A865-641A-89F9B855A133}"/>
                    </a:ext>
                  </a:extLst>
                </p:cNvPr>
                <p:cNvGrpSpPr/>
                <p:nvPr/>
              </p:nvGrpSpPr>
              <p:grpSpPr>
                <a:xfrm rot="10800000">
                  <a:off x="5453263" y="2933700"/>
                  <a:ext cx="1082121" cy="2130806"/>
                  <a:chOff x="2594329" y="2176272"/>
                  <a:chExt cx="1082121" cy="2888234"/>
                </a:xfrm>
                <a:solidFill>
                  <a:schemeClr val="accent4">
                    <a:lumMod val="40000"/>
                    <a:lumOff val="60000"/>
                  </a:schemeClr>
                </a:solidFill>
              </p:grpSpPr>
              <p:sp>
                <p:nvSpPr>
                  <p:cNvPr id="17" name="矩形 16">
                    <a:extLst>
                      <a:ext uri="{FF2B5EF4-FFF2-40B4-BE49-F238E27FC236}">
                        <a16:creationId xmlns:a16="http://schemas.microsoft.com/office/drawing/2014/main" id="{B5BE1CB0-D28F-D1B3-EF5D-F947CEB9898F}"/>
                      </a:ext>
                    </a:extLst>
                  </p:cNvPr>
                  <p:cNvSpPr/>
                  <p:nvPr/>
                </p:nvSpPr>
                <p:spPr>
                  <a:xfrm>
                    <a:off x="2594329" y="2176272"/>
                    <a:ext cx="192024" cy="288823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矩形 17">
                    <a:extLst>
                      <a:ext uri="{FF2B5EF4-FFF2-40B4-BE49-F238E27FC236}">
                        <a16:creationId xmlns:a16="http://schemas.microsoft.com/office/drawing/2014/main" id="{DA64E1B5-D290-6B07-35AE-172FA501ED15}"/>
                      </a:ext>
                    </a:extLst>
                  </p:cNvPr>
                  <p:cNvSpPr/>
                  <p:nvPr/>
                </p:nvSpPr>
                <p:spPr>
                  <a:xfrm>
                    <a:off x="2891028" y="2487168"/>
                    <a:ext cx="192024" cy="229514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187486C5-5B14-F7BB-4341-C301D28FDEB4}"/>
                      </a:ext>
                    </a:extLst>
                  </p:cNvPr>
                  <p:cNvSpPr/>
                  <p:nvPr/>
                </p:nvSpPr>
                <p:spPr>
                  <a:xfrm>
                    <a:off x="3187727" y="2785237"/>
                    <a:ext cx="192024" cy="167030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CEBD86D0-1DC5-290C-213A-412478F14FF2}"/>
                      </a:ext>
                    </a:extLst>
                  </p:cNvPr>
                  <p:cNvSpPr/>
                  <p:nvPr/>
                </p:nvSpPr>
                <p:spPr>
                  <a:xfrm>
                    <a:off x="3484426" y="3200400"/>
                    <a:ext cx="192024" cy="84061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A6EB5D4-7E1A-9E44-87CA-074C08F56C94}"/>
                    </a:ext>
                  </a:extLst>
                </p:cNvPr>
                <p:cNvSpPr/>
                <p:nvPr/>
              </p:nvSpPr>
              <p:spPr>
                <a:xfrm>
                  <a:off x="5284179" y="2782331"/>
                  <a:ext cx="1434186" cy="2429749"/>
                </a:xfrm>
                <a:prstGeom prst="rect">
                  <a:avLst/>
                </a:prstGeom>
                <a:noFill/>
                <a:ln w="38100"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D5250438-647E-22A8-0329-A39BDB65C7A5}"/>
                  </a:ext>
                </a:extLst>
              </p:cNvPr>
              <p:cNvGrpSpPr/>
              <p:nvPr/>
            </p:nvGrpSpPr>
            <p:grpSpPr>
              <a:xfrm>
                <a:off x="2413872" y="2388679"/>
                <a:ext cx="1434186" cy="2426843"/>
                <a:chOff x="2414016" y="2785237"/>
                <a:chExt cx="1434186" cy="2426843"/>
              </a:xfrm>
            </p:grpSpPr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895098AC-F8E9-0317-B771-ED4682260FB3}"/>
                    </a:ext>
                  </a:extLst>
                </p:cNvPr>
                <p:cNvGrpSpPr/>
                <p:nvPr/>
              </p:nvGrpSpPr>
              <p:grpSpPr>
                <a:xfrm>
                  <a:off x="2594329" y="2933700"/>
                  <a:ext cx="1082121" cy="2130806"/>
                  <a:chOff x="2594329" y="2176272"/>
                  <a:chExt cx="1082121" cy="2888234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2" name="矩形 1">
                    <a:extLst>
                      <a:ext uri="{FF2B5EF4-FFF2-40B4-BE49-F238E27FC236}">
                        <a16:creationId xmlns:a16="http://schemas.microsoft.com/office/drawing/2014/main" id="{870CB61D-1986-1D7D-EA1E-229CA61FFB34}"/>
                      </a:ext>
                    </a:extLst>
                  </p:cNvPr>
                  <p:cNvSpPr/>
                  <p:nvPr/>
                </p:nvSpPr>
                <p:spPr>
                  <a:xfrm>
                    <a:off x="2594329" y="2176272"/>
                    <a:ext cx="192024" cy="288823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" name="矩形 3">
                    <a:extLst>
                      <a:ext uri="{FF2B5EF4-FFF2-40B4-BE49-F238E27FC236}">
                        <a16:creationId xmlns:a16="http://schemas.microsoft.com/office/drawing/2014/main" id="{8F42A428-C017-96FF-8CE9-7A1D0982F3E0}"/>
                      </a:ext>
                    </a:extLst>
                  </p:cNvPr>
                  <p:cNvSpPr/>
                  <p:nvPr/>
                </p:nvSpPr>
                <p:spPr>
                  <a:xfrm>
                    <a:off x="2891028" y="2487168"/>
                    <a:ext cx="192024" cy="229514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矩形 4">
                    <a:extLst>
                      <a:ext uri="{FF2B5EF4-FFF2-40B4-BE49-F238E27FC236}">
                        <a16:creationId xmlns:a16="http://schemas.microsoft.com/office/drawing/2014/main" id="{44815F9D-5BC7-87CE-FBF4-AB5C7A789AA9}"/>
                      </a:ext>
                    </a:extLst>
                  </p:cNvPr>
                  <p:cNvSpPr/>
                  <p:nvPr/>
                </p:nvSpPr>
                <p:spPr>
                  <a:xfrm>
                    <a:off x="3187727" y="2785237"/>
                    <a:ext cx="192024" cy="1670304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E1046C43-6F5C-42FC-888A-27A3FFE0B7DC}"/>
                      </a:ext>
                    </a:extLst>
                  </p:cNvPr>
                  <p:cNvSpPr/>
                  <p:nvPr/>
                </p:nvSpPr>
                <p:spPr>
                  <a:xfrm>
                    <a:off x="3484426" y="3200400"/>
                    <a:ext cx="192024" cy="84061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14BB7BF-FAD9-7C0D-1D54-2099C557ED0A}"/>
                    </a:ext>
                  </a:extLst>
                </p:cNvPr>
                <p:cNvSpPr/>
                <p:nvPr/>
              </p:nvSpPr>
              <p:spPr>
                <a:xfrm>
                  <a:off x="2414016" y="2785237"/>
                  <a:ext cx="1434186" cy="2426843"/>
                </a:xfrm>
                <a:prstGeom prst="rect">
                  <a:avLst/>
                </a:prstGeom>
                <a:noFill/>
                <a:ln w="3810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4029EEC-193E-7609-F1FE-C52430ED4497}"/>
                  </a:ext>
                </a:extLst>
              </p:cNvPr>
              <p:cNvSpPr txBox="1"/>
              <p:nvPr/>
            </p:nvSpPr>
            <p:spPr>
              <a:xfrm>
                <a:off x="4254574" y="3602101"/>
                <a:ext cx="817448" cy="402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191B1F"/>
                    </a:solidFill>
                    <a:latin typeface="-apple-system"/>
                  </a:rPr>
                  <a:t>Code</a:t>
                </a:r>
                <a:endParaRPr lang="zh-CN" altLang="en-US" b="1" dirty="0">
                  <a:solidFill>
                    <a:srgbClr val="191B1F"/>
                  </a:solidFill>
                  <a:latin typeface="-apple-system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C8B50E4-CE43-7309-8B9C-8E9754C34E2B}"/>
                  </a:ext>
                </a:extLst>
              </p:cNvPr>
              <p:cNvSpPr txBox="1"/>
              <p:nvPr/>
            </p:nvSpPr>
            <p:spPr>
              <a:xfrm>
                <a:off x="2625757" y="2072293"/>
                <a:ext cx="10216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191B1F"/>
                    </a:solidFill>
                    <a:latin typeface="-apple-system"/>
                  </a:rPr>
                  <a:t>Encoder</a:t>
                </a:r>
                <a:endParaRPr lang="zh-CN" altLang="en-US" b="1" dirty="0">
                  <a:solidFill>
                    <a:srgbClr val="191B1F"/>
                  </a:solidFill>
                  <a:latin typeface="-apple-system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A841DA5-C84F-E4B5-DD1F-BD0D6A7131EE}"/>
                  </a:ext>
                </a:extLst>
              </p:cNvPr>
              <p:cNvSpPr txBox="1"/>
              <p:nvPr/>
            </p:nvSpPr>
            <p:spPr>
              <a:xfrm>
                <a:off x="5492864" y="2073974"/>
                <a:ext cx="10432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191B1F"/>
                    </a:solidFill>
                    <a:latin typeface="-apple-system"/>
                  </a:rPr>
                  <a:t>Decoder</a:t>
                </a:r>
                <a:endParaRPr lang="zh-CN" altLang="en-US" b="1" dirty="0">
                  <a:solidFill>
                    <a:srgbClr val="191B1F"/>
                  </a:solidFill>
                  <a:latin typeface="-apple-system"/>
                </a:endParaRPr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0E8EC750-EA0A-90AD-BDCF-D59614B4ECA0}"/>
                </a:ext>
              </a:extLst>
            </p:cNvPr>
            <p:cNvCxnSpPr>
              <a:cxnSpLocks/>
            </p:cNvCxnSpPr>
            <p:nvPr/>
          </p:nvCxnSpPr>
          <p:spPr>
            <a:xfrm>
              <a:off x="3523830" y="3657109"/>
              <a:ext cx="566189" cy="0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6D9EBBD-F4D7-0B79-0188-23EE2451A633}"/>
                </a:ext>
              </a:extLst>
            </p:cNvPr>
            <p:cNvCxnSpPr>
              <a:cxnSpLocks/>
            </p:cNvCxnSpPr>
            <p:nvPr/>
          </p:nvCxnSpPr>
          <p:spPr>
            <a:xfrm>
              <a:off x="8165934" y="3664458"/>
              <a:ext cx="566189" cy="0"/>
            </a:xfrm>
            <a:prstGeom prst="straightConnector1">
              <a:avLst/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D8816B34-07BD-8F1C-279B-58420BD04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26686" y="2823144"/>
              <a:ext cx="1403936" cy="1483289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F81C684E-842D-B4FF-520F-E53B212AF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34361" y="2808544"/>
              <a:ext cx="1397479" cy="1483289"/>
            </a:xfrm>
            <a:prstGeom prst="rect">
              <a:avLst/>
            </a:prstGeom>
          </p:spPr>
        </p:pic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92D3AA75-DC13-C3BE-6087-E48061E27D5A}"/>
              </a:ext>
            </a:extLst>
          </p:cNvPr>
          <p:cNvSpPr txBox="1"/>
          <p:nvPr/>
        </p:nvSpPr>
        <p:spPr>
          <a:xfrm>
            <a:off x="351231" y="4766279"/>
            <a:ext cx="116706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经过自编码器编码后的</a:t>
            </a:r>
            <a:r>
              <a:rPr lang="en-US" altLang="zh-CN" dirty="0"/>
              <a:t>Code</a:t>
            </a:r>
            <a:r>
              <a:rPr lang="zh-CN" altLang="en-US" dirty="0"/>
              <a:t>比原来的要小，有助于后续的处理效率的提高。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经过训练，自编码器产出的编码能够在有限的空间表达尽可能多的原图信息。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解码后的图像可以视作粗粒度的原图概括，不会出现前一种方法中得到无关图像的结果。对视觉上的影响较小。</a:t>
            </a:r>
          </a:p>
        </p:txBody>
      </p:sp>
    </p:spTree>
    <p:extLst>
      <p:ext uri="{BB962C8B-B14F-4D97-AF65-F5344CB8AC3E}">
        <p14:creationId xmlns:p14="http://schemas.microsoft.com/office/powerpoint/2010/main" val="286724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607740" y="966210"/>
            <a:ext cx="549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尝试方案</a:t>
            </a:r>
            <a:r>
              <a:rPr lang="en-US" altLang="zh-CN" sz="2400" b="1" dirty="0"/>
              <a:t> – Auto Encoder</a:t>
            </a:r>
            <a:r>
              <a:rPr lang="zh-CN" altLang="en-US" sz="2400" b="1" dirty="0"/>
              <a:t>编码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2D3AA75-DC13-C3BE-6087-E48061E27D5A}"/>
              </a:ext>
            </a:extLst>
          </p:cNvPr>
          <p:cNvSpPr txBox="1"/>
          <p:nvPr/>
        </p:nvSpPr>
        <p:spPr>
          <a:xfrm>
            <a:off x="260667" y="1557865"/>
            <a:ext cx="116706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Flicker</a:t>
            </a:r>
            <a:r>
              <a:rPr lang="zh-CN" altLang="en-US" dirty="0"/>
              <a:t>数据集，分块处理后进行模型（隐藏层</a:t>
            </a:r>
            <a:r>
              <a:rPr lang="en-US" altLang="zh-CN" dirty="0"/>
              <a:t>[8,4,4]</a:t>
            </a:r>
            <a:r>
              <a:rPr lang="zh-CN" altLang="en-US" dirty="0"/>
              <a:t>）训练，约</a:t>
            </a:r>
            <a:r>
              <a:rPr lang="en-US" altLang="zh-CN" dirty="0"/>
              <a:t>200</a:t>
            </a:r>
            <a:r>
              <a:rPr lang="zh-CN" altLang="en-US" dirty="0"/>
              <a:t>个</a:t>
            </a:r>
            <a:r>
              <a:rPr lang="en-US" altLang="zh-CN" dirty="0"/>
              <a:t>epochs</a:t>
            </a:r>
            <a:r>
              <a:rPr lang="zh-CN" altLang="en-US" dirty="0"/>
              <a:t>后模型相对收敛。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采用</a:t>
            </a:r>
            <a:r>
              <a:rPr lang="en-US" altLang="zh-CN" dirty="0"/>
              <a:t>Loss</a:t>
            </a:r>
            <a:r>
              <a:rPr lang="zh-CN" altLang="en-US" dirty="0"/>
              <a:t>函数为</a:t>
            </a:r>
            <a:r>
              <a:rPr lang="en-US" altLang="zh-CN" dirty="0"/>
              <a:t>MSE</a:t>
            </a:r>
            <a:r>
              <a:rPr lang="zh-CN" altLang="en-US" dirty="0"/>
              <a:t>，最终</a:t>
            </a:r>
            <a:r>
              <a:rPr lang="en-US" altLang="zh-CN" dirty="0"/>
              <a:t>Loss</a:t>
            </a:r>
            <a:r>
              <a:rPr lang="zh-CN" altLang="en-US" dirty="0"/>
              <a:t>收敛在</a:t>
            </a:r>
            <a:r>
              <a:rPr lang="en-US" altLang="zh-CN" dirty="0"/>
              <a:t>0.002</a:t>
            </a:r>
            <a:r>
              <a:rPr lang="zh-CN" altLang="en-US" dirty="0"/>
              <a:t>附近。</a:t>
            </a:r>
            <a:endParaRPr lang="en-US" altLang="zh-CN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7FED598-473C-9E8C-2564-0F9C828DCF1F}"/>
              </a:ext>
            </a:extLst>
          </p:cNvPr>
          <p:cNvGrpSpPr/>
          <p:nvPr/>
        </p:nvGrpSpPr>
        <p:grpSpPr>
          <a:xfrm>
            <a:off x="490959" y="2611185"/>
            <a:ext cx="5605040" cy="3892225"/>
            <a:chOff x="656727" y="2481195"/>
            <a:chExt cx="5605040" cy="389222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A5E42EB6-4365-D0EF-455E-EC4B47F1E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8086" y="2481195"/>
              <a:ext cx="2644275" cy="1326574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9C1AF3F-B23B-71AA-0A30-7D577D3B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6727" y="5040092"/>
              <a:ext cx="2675634" cy="1333328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D4FA7D39-CDAE-CDCB-C797-5A5344AFF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6727" y="3713518"/>
              <a:ext cx="2675634" cy="1326575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1366D70D-311A-8FAE-7120-4A308710F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30937" y="3713518"/>
              <a:ext cx="2617386" cy="1295518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7F135CE8-D979-50B9-D0D4-CC5BF91B3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17492" y="5040092"/>
              <a:ext cx="2644275" cy="1295517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93937C8A-3659-C092-9F57-8F4072DF9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2688" y="2512251"/>
              <a:ext cx="2675635" cy="1331095"/>
            </a:xfrm>
            <a:prstGeom prst="rect">
              <a:avLst/>
            </a:prstGeom>
          </p:spPr>
        </p:pic>
      </p:grpSp>
      <p:pic>
        <p:nvPicPr>
          <p:cNvPr id="49" name="图片 48">
            <a:extLst>
              <a:ext uri="{FF2B5EF4-FFF2-40B4-BE49-F238E27FC236}">
                <a16:creationId xmlns:a16="http://schemas.microsoft.com/office/drawing/2014/main" id="{B57E56D5-9AE3-DA77-FDEB-EB237F50D6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905" y="2408174"/>
            <a:ext cx="5017008" cy="376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66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521335" y="1065156"/>
            <a:ext cx="1605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效果概览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721200-E2C0-6ECD-F73B-19F4C0095341}"/>
              </a:ext>
            </a:extLst>
          </p:cNvPr>
          <p:cNvGrpSpPr/>
          <p:nvPr/>
        </p:nvGrpSpPr>
        <p:grpSpPr>
          <a:xfrm>
            <a:off x="364363" y="1825742"/>
            <a:ext cx="11512408" cy="3668361"/>
            <a:chOff x="364363" y="1825742"/>
            <a:chExt cx="11512408" cy="366836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9CDF940-882E-B9FA-9CE1-A68CEE42B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363" y="1825743"/>
              <a:ext cx="2671552" cy="3633311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F6EB550-5671-69F4-E18D-CF5B1E931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3724" y="1825742"/>
              <a:ext cx="2671552" cy="363331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5A19A7A-AC25-F4E5-89EC-1C10E9E6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5219" y="1825742"/>
              <a:ext cx="2671552" cy="3633311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D2F1F0-9127-8784-69DC-531A9E585AB7}"/>
                </a:ext>
              </a:extLst>
            </p:cNvPr>
            <p:cNvGrpSpPr/>
            <p:nvPr/>
          </p:nvGrpSpPr>
          <p:grpSpPr>
            <a:xfrm>
              <a:off x="6243085" y="1825742"/>
              <a:ext cx="2694324" cy="3668361"/>
              <a:chOff x="6096001" y="488055"/>
              <a:chExt cx="2694324" cy="3668361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C8BF7895-2683-7085-A267-C36DD5DDC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0504" y="511861"/>
                <a:ext cx="2679820" cy="3644555"/>
              </a:xfrm>
              <a:prstGeom prst="rect">
                <a:avLst/>
              </a:prstGeom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70227C-7693-B924-5F9E-74D718A34939}"/>
                  </a:ext>
                </a:extLst>
              </p:cNvPr>
              <p:cNvSpPr/>
              <p:nvPr/>
            </p:nvSpPr>
            <p:spPr>
              <a:xfrm>
                <a:off x="6096001" y="488055"/>
                <a:ext cx="2694324" cy="366836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921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521335" y="1057288"/>
            <a:ext cx="1605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效果概览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721200-E2C0-6ECD-F73B-19F4C0095341}"/>
              </a:ext>
            </a:extLst>
          </p:cNvPr>
          <p:cNvGrpSpPr/>
          <p:nvPr/>
        </p:nvGrpSpPr>
        <p:grpSpPr>
          <a:xfrm>
            <a:off x="364363" y="1825742"/>
            <a:ext cx="11512408" cy="3668361"/>
            <a:chOff x="364363" y="1825742"/>
            <a:chExt cx="11512408" cy="366836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9CDF940-882E-B9FA-9CE1-A68CEE42B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4363" y="1825743"/>
              <a:ext cx="2671552" cy="363331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F6EB550-5671-69F4-E18D-CF5B1E931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03724" y="1825742"/>
              <a:ext cx="2671552" cy="363331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5A19A7A-AC25-F4E5-89EC-1C10E9E6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05219" y="1825742"/>
              <a:ext cx="2671552" cy="3633310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5D2F1F0-9127-8784-69DC-531A9E585AB7}"/>
                </a:ext>
              </a:extLst>
            </p:cNvPr>
            <p:cNvGrpSpPr/>
            <p:nvPr/>
          </p:nvGrpSpPr>
          <p:grpSpPr>
            <a:xfrm>
              <a:off x="6243085" y="1825742"/>
              <a:ext cx="2694324" cy="3668361"/>
              <a:chOff x="6096001" y="488055"/>
              <a:chExt cx="2694324" cy="3668361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C8BF7895-2683-7085-A267-C36DD5DDC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10504" y="511861"/>
                <a:ext cx="2679819" cy="3644555"/>
              </a:xfrm>
              <a:prstGeom prst="rect">
                <a:avLst/>
              </a:prstGeom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70227C-7693-B924-5F9E-74D718A34939}"/>
                  </a:ext>
                </a:extLst>
              </p:cNvPr>
              <p:cNvSpPr/>
              <p:nvPr/>
            </p:nvSpPr>
            <p:spPr>
              <a:xfrm>
                <a:off x="6096001" y="488055"/>
                <a:ext cx="2694324" cy="366836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9636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5554112" y="110819"/>
            <a:ext cx="4175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峰值信噪比（</a:t>
            </a:r>
            <a:r>
              <a:rPr lang="en-US" altLang="zh-CN" sz="2400" b="1" dirty="0"/>
              <a:t>PSNR</a:t>
            </a:r>
            <a:r>
              <a:rPr lang="zh-CN" altLang="en-US" sz="2400" b="1" dirty="0"/>
              <a:t>）评价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75F6C3-545F-7F68-2D78-D2D17D223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162" y="942975"/>
            <a:ext cx="8785533" cy="550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4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5554112" y="110819"/>
            <a:ext cx="4175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峰值信噪比（</a:t>
            </a:r>
            <a:r>
              <a:rPr lang="en-US" altLang="zh-CN" sz="2400" b="1" dirty="0"/>
              <a:t>PSNR</a:t>
            </a:r>
            <a:r>
              <a:rPr lang="zh-CN" altLang="en-US" sz="2400" b="1" dirty="0"/>
              <a:t>）评价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1BEE1B-FA37-7761-B348-5F9267871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5" y="1145086"/>
            <a:ext cx="1847850" cy="17335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532504-1B60-96AB-0F41-78996FBC7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33" y="793299"/>
            <a:ext cx="6515100" cy="18383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9C8B055-AECF-502A-8A73-8B0D01A2CF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572" y="2759748"/>
            <a:ext cx="6505575" cy="17049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412AD5E-A60A-EAB5-A680-F9877D7DD2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247" y="4627945"/>
            <a:ext cx="6438900" cy="176212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D0FA7A3-014C-63DC-F87D-70519E3763FA}"/>
              </a:ext>
            </a:extLst>
          </p:cNvPr>
          <p:cNvSpPr txBox="1"/>
          <p:nvPr/>
        </p:nvSpPr>
        <p:spPr>
          <a:xfrm>
            <a:off x="6911033" y="1527795"/>
            <a:ext cx="21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PSNR</a:t>
            </a:r>
            <a:r>
              <a:rPr lang="zh-CN" altLang="en-US" b="1" dirty="0"/>
              <a:t>：</a:t>
            </a:r>
            <a:r>
              <a:rPr lang="en-US" altLang="zh-CN" b="1" dirty="0"/>
              <a:t>47.31dB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9B4C88-83D9-CFD9-89F3-0167A1A86E3E}"/>
              </a:ext>
            </a:extLst>
          </p:cNvPr>
          <p:cNvSpPr txBox="1"/>
          <p:nvPr/>
        </p:nvSpPr>
        <p:spPr>
          <a:xfrm>
            <a:off x="6911032" y="3260452"/>
            <a:ext cx="21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PSNR</a:t>
            </a:r>
            <a:r>
              <a:rPr lang="zh-CN" altLang="en-US" b="1" dirty="0"/>
              <a:t>：</a:t>
            </a:r>
            <a:r>
              <a:rPr lang="en-US" altLang="zh-CN" b="1" dirty="0"/>
              <a:t>41.54dB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5263A6-0B82-CA36-E3E7-A9C28F35ACE9}"/>
              </a:ext>
            </a:extLst>
          </p:cNvPr>
          <p:cNvSpPr txBox="1"/>
          <p:nvPr/>
        </p:nvSpPr>
        <p:spPr>
          <a:xfrm>
            <a:off x="6911032" y="5073497"/>
            <a:ext cx="21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PSNR</a:t>
            </a:r>
            <a:r>
              <a:rPr lang="zh-CN" altLang="en-US" b="1" dirty="0"/>
              <a:t>：</a:t>
            </a:r>
            <a:r>
              <a:rPr lang="en-US" altLang="zh-CN" b="1" dirty="0"/>
              <a:t>37.31dB</a:t>
            </a:r>
          </a:p>
        </p:txBody>
      </p:sp>
    </p:spTree>
    <p:extLst>
      <p:ext uri="{BB962C8B-B14F-4D97-AF65-F5344CB8AC3E}">
        <p14:creationId xmlns:p14="http://schemas.microsoft.com/office/powerpoint/2010/main" val="2406896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恢复质量提升方案探究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5554112" y="110819"/>
            <a:ext cx="4175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峰值信噪比（</a:t>
            </a:r>
            <a:r>
              <a:rPr lang="en-US" altLang="zh-CN" sz="2400" b="1" dirty="0"/>
              <a:t>PSNR</a:t>
            </a:r>
            <a:r>
              <a:rPr lang="zh-CN" altLang="en-US" sz="2400" b="1" dirty="0"/>
              <a:t>）评价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1BEE1B-FA37-7761-B348-5F92678713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5" y="1145086"/>
            <a:ext cx="1847850" cy="17335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DFC1615-2EB2-9538-9F21-CC5F44EE7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0" y="1557865"/>
            <a:ext cx="6715125" cy="17716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BE4EFE4-BA72-DDF7-D3F8-A9ADA8884A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94" y="3574631"/>
            <a:ext cx="6467475" cy="17335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9683D2C-0640-B718-1111-302C97ADAAA5}"/>
              </a:ext>
            </a:extLst>
          </p:cNvPr>
          <p:cNvSpPr txBox="1"/>
          <p:nvPr/>
        </p:nvSpPr>
        <p:spPr>
          <a:xfrm>
            <a:off x="7039048" y="2172316"/>
            <a:ext cx="21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PSNR</a:t>
            </a:r>
            <a:r>
              <a:rPr lang="zh-CN" altLang="en-US" b="1" dirty="0"/>
              <a:t>：</a:t>
            </a:r>
            <a:r>
              <a:rPr lang="en-US" altLang="zh-CN" b="1" dirty="0"/>
              <a:t>37.33dB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1586A-1D06-486F-7882-8504B823EFCD}"/>
              </a:ext>
            </a:extLst>
          </p:cNvPr>
          <p:cNvSpPr txBox="1"/>
          <p:nvPr/>
        </p:nvSpPr>
        <p:spPr>
          <a:xfrm>
            <a:off x="7039048" y="4256740"/>
            <a:ext cx="2134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PSNR</a:t>
            </a:r>
            <a:r>
              <a:rPr lang="zh-CN" altLang="en-US" b="1" dirty="0"/>
              <a:t>：</a:t>
            </a:r>
            <a:r>
              <a:rPr lang="en-US" altLang="zh-CN" b="1" dirty="0"/>
              <a:t>35.96dB</a:t>
            </a:r>
          </a:p>
        </p:txBody>
      </p:sp>
    </p:spTree>
    <p:extLst>
      <p:ext uri="{BB962C8B-B14F-4D97-AF65-F5344CB8AC3E}">
        <p14:creationId xmlns:p14="http://schemas.microsoft.com/office/powerpoint/2010/main" val="1078659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总结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CD1B62-173F-FE75-7CE7-9B156EBA0E38}"/>
              </a:ext>
            </a:extLst>
          </p:cNvPr>
          <p:cNvSpPr txBox="1"/>
          <p:nvPr/>
        </p:nvSpPr>
        <p:spPr>
          <a:xfrm>
            <a:off x="607740" y="966210"/>
            <a:ext cx="62959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亡羊补牢，为时已晚 </a:t>
            </a:r>
            <a:r>
              <a:rPr lang="en-US" altLang="zh-CN" sz="2400" b="1" dirty="0"/>
              <a:t>—— </a:t>
            </a:r>
            <a:r>
              <a:rPr lang="zh-CN" altLang="en-US" sz="2400" b="1" dirty="0"/>
              <a:t>数据安全至关重要</a:t>
            </a:r>
            <a:endParaRPr lang="en-US" altLang="zh-CN" sz="2400" b="1" dirty="0"/>
          </a:p>
          <a:p>
            <a:r>
              <a:rPr lang="zh-CN" altLang="en-US" sz="2400" b="1" dirty="0"/>
              <a:t>纂改后的自恢复几乎难以达到原始状态。</a:t>
            </a:r>
            <a:endParaRPr lang="en-US" altLang="zh-CN" sz="2400" b="1" dirty="0"/>
          </a:p>
          <a:p>
            <a:r>
              <a:rPr lang="zh-CN" altLang="en-US" sz="2400" b="1" dirty="0"/>
              <a:t>使用生成模型可能能达到好的恢复效果。</a:t>
            </a:r>
            <a:endParaRPr lang="en-US" altLang="zh-CN" sz="2400" b="1" dirty="0"/>
          </a:p>
          <a:p>
            <a:r>
              <a:rPr lang="zh-CN" altLang="en-US" sz="2400" b="1" dirty="0"/>
              <a:t>但，那还是原来的图像吗？</a:t>
            </a:r>
          </a:p>
        </p:txBody>
      </p:sp>
    </p:spTree>
    <p:extLst>
      <p:ext uri="{BB962C8B-B14F-4D97-AF65-F5344CB8AC3E}">
        <p14:creationId xmlns:p14="http://schemas.microsoft.com/office/powerpoint/2010/main" val="2179569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_等腰三角形 11"/>
          <p:cNvSpPr/>
          <p:nvPr>
            <p:custDataLst>
              <p:tags r:id="rId1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67600" y="4704820"/>
            <a:ext cx="2809875" cy="1029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3E37B-C450-3C0E-660A-43293FCFCC6A}"/>
              </a:ext>
            </a:extLst>
          </p:cNvPr>
          <p:cNvSpPr txBox="1"/>
          <p:nvPr/>
        </p:nvSpPr>
        <p:spPr>
          <a:xfrm>
            <a:off x="3493459" y="2494197"/>
            <a:ext cx="520508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Times New Roman Regular" panose="02020503050405090304" charset="0"/>
                <a:ea typeface="Microsoft YaHei UI" panose="020B0503020204020204" pitchFamily="34" charset="-122"/>
                <a:cs typeface="Times New Roman Regular" panose="02020503050405090304" charset="0"/>
              </a:rPr>
              <a:t>THANK YOU</a:t>
            </a:r>
            <a:r>
              <a:rPr lang="en-US" altLang="zh-CN" sz="6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endParaRPr lang="zh-CN" altLang="en-US" sz="6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7BD6DE-B22E-D719-E635-4B6BF44859EB}"/>
              </a:ext>
            </a:extLst>
          </p:cNvPr>
          <p:cNvSpPr/>
          <p:nvPr/>
        </p:nvSpPr>
        <p:spPr>
          <a:xfrm>
            <a:off x="8977053" y="47371"/>
            <a:ext cx="1416424" cy="595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厦门大学论文答辩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qrpo5b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7385</TotalTime>
  <Words>1009</Words>
  <Application>Microsoft Office PowerPoint</Application>
  <PresentationFormat>宽屏</PresentationFormat>
  <Paragraphs>139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-apple-system</vt:lpstr>
      <vt:lpstr>Microsoft YaHei UI</vt:lpstr>
      <vt:lpstr>Times New Roman Regular</vt:lpstr>
      <vt:lpstr>Times-Roman</vt:lpstr>
      <vt:lpstr>等线</vt:lpstr>
      <vt:lpstr>微软雅黑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蓝色厦门大学论文答辩模板</dc:title>
  <dc:creator>第一PPT</dc:creator>
  <cp:keywords>www.1ppt.com</cp:keywords>
  <dc:description>www.1ppt.com</dc:description>
  <cp:lastModifiedBy>_Coinisi_ 坩埚花菜</cp:lastModifiedBy>
  <cp:revision>857</cp:revision>
  <dcterms:created xsi:type="dcterms:W3CDTF">2018-03-09T23:56:55Z</dcterms:created>
  <dcterms:modified xsi:type="dcterms:W3CDTF">2024-06-15T17:59:48Z</dcterms:modified>
</cp:coreProperties>
</file>