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65" r:id="rId3"/>
  </p:sldMasterIdLst>
  <p:handoutMasterIdLst>
    <p:handoutMasterId r:id="rId23"/>
  </p:handoutMasterIdLst>
  <p:sldIdLst>
    <p:sldId id="256" r:id="rId4"/>
    <p:sldId id="258" r:id="rId5"/>
    <p:sldId id="257" r:id="rId6"/>
    <p:sldId id="287" r:id="rId7"/>
    <p:sldId id="288" r:id="rId8"/>
    <p:sldId id="289" r:id="rId9"/>
    <p:sldId id="290" r:id="rId10"/>
    <p:sldId id="291" r:id="rId11"/>
    <p:sldId id="292" r:id="rId12"/>
    <p:sldId id="293" r:id="rId13"/>
    <p:sldId id="294" r:id="rId14"/>
    <p:sldId id="301" r:id="rId15"/>
    <p:sldId id="302" r:id="rId16"/>
    <p:sldId id="303" r:id="rId17"/>
    <p:sldId id="295" r:id="rId18"/>
    <p:sldId id="296" r:id="rId19"/>
    <p:sldId id="297" r:id="rId20"/>
    <p:sldId id="299" r:id="rId21"/>
    <p:sldId id="270"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5">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CBD7"/>
    <a:srgbClr val="4A5A69"/>
    <a:srgbClr val="92A3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547" y="48"/>
      </p:cViewPr>
      <p:guideLst>
        <p:guide orient="horz" pos="2175"/>
        <p:guide pos="3840"/>
      </p:guideLst>
    </p:cSldViewPr>
  </p:slideViewPr>
  <p:notesTextViewPr>
    <p:cViewPr>
      <p:scale>
        <a:sx n="1" d="1"/>
        <a:sy n="1" d="1"/>
      </p:scale>
      <p:origin x="0" y="0"/>
    </p:cViewPr>
  </p:notesTextViewPr>
  <p:notesViewPr>
    <p:cSldViewPr snapToGrid="0">
      <p:cViewPr varScale="1">
        <p:scale>
          <a:sx n="65" d="100"/>
          <a:sy n="65" d="100"/>
        </p:scale>
        <p:origin x="243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1"/>
          <c:h val="0.96483951277187296"/>
        </c:manualLayout>
      </c:layout>
      <c:doughnutChart>
        <c:varyColors val="1"/>
        <c:dLbls>
          <c:showLegendKey val="0"/>
          <c:showVal val="0"/>
          <c:showCatName val="0"/>
          <c:showSerName val="0"/>
          <c:showPercent val="0"/>
          <c:showBubbleSize val="0"/>
          <c:showLeaderLines val="0"/>
        </c:dLbls>
        <c:firstSliceAng val="0"/>
        <c:holeSize val="75"/>
      </c:doughnutChart>
    </c:plotArea>
    <c:plotVisOnly val="1"/>
    <c:dispBlanksAs val="gap"/>
    <c:showDLblsOverMax val="0"/>
  </c:chart>
  <c:txPr>
    <a:bodyPr/>
    <a:lstStyle/>
    <a:p>
      <a:pPr>
        <a:defRPr lang="zh-CN" sz="1800">
          <a:latin typeface="+mn-lt"/>
          <a:ea typeface="+mn-ea"/>
          <a:cs typeface="+mn-ea"/>
          <a:sym typeface="+mn-lt"/>
        </a:defRPr>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0.96483951277187296"/>
        </c:manualLayout>
      </c:layout>
      <c:doughnutChart>
        <c:varyColors val="1"/>
        <c:ser>
          <c:idx val="0"/>
          <c:order val="0"/>
          <c:tx>
            <c:strRef>
              <c:f>Sheet1!$B$1</c:f>
              <c:strCache>
                <c:ptCount val="1"/>
                <c:pt idx="0">
                  <c:v>%</c:v>
                </c:pt>
              </c:strCache>
            </c:strRef>
          </c:tx>
          <c:dPt>
            <c:idx val="0"/>
            <c:bubble3D val="0"/>
            <c:spPr>
              <a:solidFill>
                <a:srgbClr val="C1CBD7"/>
              </a:solidFill>
            </c:spPr>
            <c:extLst>
              <c:ext xmlns:c16="http://schemas.microsoft.com/office/drawing/2014/chart" uri="{C3380CC4-5D6E-409C-BE32-E72D297353CC}">
                <c16:uniqueId val="{00000001-6513-4BE3-87A5-7B2481A8339C}"/>
              </c:ext>
            </c:extLst>
          </c:dPt>
          <c:dPt>
            <c:idx val="1"/>
            <c:bubble3D val="0"/>
            <c:spPr>
              <a:solidFill>
                <a:schemeClr val="bg1">
                  <a:lumMod val="95000"/>
                </a:schemeClr>
              </a:solidFill>
            </c:spPr>
            <c:extLst>
              <c:ext xmlns:c16="http://schemas.microsoft.com/office/drawing/2014/chart" uri="{C3380CC4-5D6E-409C-BE32-E72D297353CC}">
                <c16:uniqueId val="{00000003-6513-4BE3-87A5-7B2481A8339C}"/>
              </c:ext>
            </c:extLst>
          </c:dPt>
          <c:cat>
            <c:strRef>
              <c:f>Sheet1!$A$2:$A$3</c:f>
              <c:strCache>
                <c:ptCount val="2"/>
                <c:pt idx="0">
                  <c:v>colored</c:v>
                </c:pt>
                <c:pt idx="1">
                  <c:v>blank</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6513-4BE3-87A5-7B2481A8339C}"/>
            </c:ext>
          </c:extLst>
        </c:ser>
        <c:dLbls>
          <c:showLegendKey val="0"/>
          <c:showVal val="0"/>
          <c:showCatName val="0"/>
          <c:showSerName val="0"/>
          <c:showPercent val="0"/>
          <c:showBubbleSize val="0"/>
          <c:showLeaderLines val="1"/>
        </c:dLbls>
        <c:firstSliceAng val="0"/>
        <c:holeSize val="75"/>
      </c:doughnutChart>
    </c:plotArea>
    <c:plotVisOnly val="1"/>
    <c:dispBlanksAs val="gap"/>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4A5A69"/>
              </a:solidFill>
            </c:spPr>
            <c:extLst>
              <c:ext xmlns:c16="http://schemas.microsoft.com/office/drawing/2014/chart" uri="{C3380CC4-5D6E-409C-BE32-E72D297353CC}">
                <c16:uniqueId val="{00000001-78F5-48B3-957F-93675274F4E6}"/>
              </c:ext>
            </c:extLst>
          </c:dPt>
          <c:dPt>
            <c:idx val="1"/>
            <c:bubble3D val="0"/>
            <c:spPr>
              <a:noFill/>
            </c:spPr>
            <c:extLst>
              <c:ext xmlns:c16="http://schemas.microsoft.com/office/drawing/2014/chart" uri="{C3380CC4-5D6E-409C-BE32-E72D297353CC}">
                <c16:uniqueId val="{00000003-78F5-48B3-957F-93675274F4E6}"/>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78F5-48B3-957F-93675274F4E6}"/>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包图简圆体" panose="02010601030101010101" pitchFamily="2" charset="-122"/>
              <a:ea typeface="包图简圆体" panose="02010601030101010101"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05014A-BDC5-4345-998B-2EDA94B21FF0}" type="datetimeFigureOut">
              <a:rPr lang="zh-CN" altLang="en-US" smtClean="0">
                <a:latin typeface="包图简圆体" panose="02010601030101010101" pitchFamily="2" charset="-122"/>
                <a:ea typeface="包图简圆体" panose="02010601030101010101" pitchFamily="2" charset="-122"/>
              </a:rPr>
              <a:t>2024/5/21</a:t>
            </a:fld>
            <a:endParaRPr lang="zh-CN" altLang="en-US" dirty="0">
              <a:latin typeface="包图简圆体" panose="02010601030101010101" pitchFamily="2" charset="-122"/>
              <a:ea typeface="包图简圆体" panose="02010601030101010101"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包图简圆体" panose="02010601030101010101" pitchFamily="2" charset="-122"/>
              <a:ea typeface="包图简圆体" panose="02010601030101010101"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5CA59D1-CE3A-45B4-B4E9-4C410C6D122D}" type="slidenum">
              <a:rPr lang="zh-CN" altLang="en-US" smtClean="0">
                <a:latin typeface="包图简圆体" panose="02010601030101010101" pitchFamily="2" charset="-122"/>
                <a:ea typeface="包图简圆体" panose="02010601030101010101" pitchFamily="2" charset="-122"/>
              </a:rPr>
              <a:t>‹#›</a:t>
            </a:fld>
            <a:endParaRPr lang="zh-CN" altLang="en-US" dirty="0">
              <a:latin typeface="包图简圆体" panose="02010601030101010101" pitchFamily="2" charset="-122"/>
              <a:ea typeface="包图简圆体" panose="02010601030101010101" pitchFamily="2" charset="-122"/>
            </a:endParaRP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svg"/><Relationship Id="rId7" Type="http://schemas.openxmlformats.org/officeDocument/2006/relationships/image" Target="../media/image18.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7.png"/><Relationship Id="rId11" Type="http://schemas.openxmlformats.org/officeDocument/2006/relationships/image" Target="../media/image20.svg"/><Relationship Id="rId5" Type="http://schemas.openxmlformats.org/officeDocument/2006/relationships/image" Target="../media/image16.sv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14.sv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svg"/><Relationship Id="rId7" Type="http://schemas.openxmlformats.org/officeDocument/2006/relationships/image" Target="../media/image18.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7.png"/><Relationship Id="rId11" Type="http://schemas.openxmlformats.org/officeDocument/2006/relationships/image" Target="../media/image20.svg"/><Relationship Id="rId5" Type="http://schemas.openxmlformats.org/officeDocument/2006/relationships/image" Target="../media/image16.sv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4.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14.svg"/><Relationship Id="rId2" Type="http://schemas.openxmlformats.org/officeDocument/2006/relationships/image" Target="../media/image19.png"/><Relationship Id="rId1" Type="http://schemas.openxmlformats.org/officeDocument/2006/relationships/slideMaster" Target="../slideMasters/slideMaster3.xml"/><Relationship Id="rId6" Type="http://schemas.openxmlformats.org/officeDocument/2006/relationships/image" Target="../media/image13.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形 6"/>
          <p:cNvPicPr>
            <a:picLocks noChangeAspect="1"/>
          </p:cNvPicPr>
          <p:nvPr userDrawn="1"/>
        </p:nvPicPr>
        <p:blipFill rotWithShape="1">
          <a:blip r:embed="rId2">
            <a:extLst>
              <a:ext uri="{96DAC541-7B7A-43D3-8B79-37D633B846F1}">
                <asvg:svgBlip xmlns:asvg="http://schemas.microsoft.com/office/drawing/2016/SVG/main" r:embed="rId3"/>
              </a:ext>
            </a:extLst>
          </a:blip>
          <a:srcRect l="18431" t="12611"/>
          <a:stretch>
            <a:fillRect/>
          </a:stretch>
        </p:blipFill>
        <p:spPr>
          <a:xfrm>
            <a:off x="0" y="-2"/>
            <a:ext cx="5281020" cy="3429001"/>
          </a:xfrm>
          <a:prstGeom prst="rect">
            <a:avLst/>
          </a:prstGeom>
        </p:spPr>
      </p:pic>
      <p:pic>
        <p:nvPicPr>
          <p:cNvPr id="9" name="图形 8"/>
          <p:cNvPicPr>
            <a:picLocks noChangeAspect="1"/>
          </p:cNvPicPr>
          <p:nvPr userDrawn="1"/>
        </p:nvPicPr>
        <p:blipFill rotWithShape="1">
          <a:blip r:embed="rId4">
            <a:extLst>
              <a:ext uri="{96DAC541-7B7A-43D3-8B79-37D633B846F1}">
                <asvg:svgBlip xmlns:asvg="http://schemas.microsoft.com/office/drawing/2016/SVG/main" r:embed="rId5"/>
              </a:ext>
            </a:extLst>
          </a:blip>
          <a:srcRect r="27701" b="23388"/>
          <a:stretch>
            <a:fillRect/>
          </a:stretch>
        </p:blipFill>
        <p:spPr>
          <a:xfrm>
            <a:off x="4542584" y="1540708"/>
            <a:ext cx="7649416" cy="5317292"/>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t="45385" r="50000"/>
          <a:stretch>
            <a:fillRect/>
          </a:stretch>
        </p:blipFill>
        <p:spPr>
          <a:xfrm>
            <a:off x="9012730" y="-1"/>
            <a:ext cx="3179270" cy="1540709"/>
          </a:xfrm>
          <a:prstGeom prst="rect">
            <a:avLst/>
          </a:prstGeom>
        </p:spPr>
      </p:pic>
      <p:pic>
        <p:nvPicPr>
          <p:cNvPr id="8" name="图形 7"/>
          <p:cNvPicPr>
            <a:picLocks noChangeAspect="1"/>
          </p:cNvPicPr>
          <p:nvPr userDrawn="1"/>
        </p:nvPicPr>
        <p:blipFill rotWithShape="1">
          <a:blip r:embed="rId2">
            <a:extLst>
              <a:ext uri="{96DAC541-7B7A-43D3-8B79-37D633B846F1}">
                <asvg:svgBlip xmlns:asvg="http://schemas.microsoft.com/office/drawing/2016/SVG/main" r:embed="rId3"/>
              </a:ext>
            </a:extLst>
          </a:blip>
          <a:srcRect l="70956"/>
          <a:stretch>
            <a:fillRect/>
          </a:stretch>
        </p:blipFill>
        <p:spPr>
          <a:xfrm>
            <a:off x="0" y="4889049"/>
            <a:ext cx="1252548" cy="2613719"/>
          </a:xfrm>
          <a:prstGeom prst="rect">
            <a:avLst/>
          </a:prstGeom>
        </p:spPr>
      </p:pic>
      <p:pic>
        <p:nvPicPr>
          <p:cNvPr id="11" name="图形 10"/>
          <p:cNvPicPr>
            <a:picLocks noChangeAspect="1"/>
          </p:cNvPicPr>
          <p:nvPr userDrawn="1"/>
        </p:nvPicPr>
        <p:blipFill rotWithShape="1">
          <a:blip r:embed="rId8">
            <a:extLst>
              <a:ext uri="{96DAC541-7B7A-43D3-8B79-37D633B846F1}">
                <asvg:svgBlip xmlns:asvg="http://schemas.microsoft.com/office/drawing/2016/SVG/main" r:embed="rId9"/>
              </a:ext>
            </a:extLst>
          </a:blip>
          <a:srcRect l="17782" t="1243" r="5319" b="26177"/>
          <a:stretch>
            <a:fillRect/>
          </a:stretch>
        </p:blipFill>
        <p:spPr>
          <a:xfrm>
            <a:off x="0" y="-1"/>
            <a:ext cx="12192000" cy="685800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220038">
            <a:off x="5085834" y="316902"/>
            <a:ext cx="2020333" cy="1095134"/>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220038">
            <a:off x="4897470" y="398001"/>
            <a:ext cx="2020333" cy="1095134"/>
          </a:xfrm>
          <a:prstGeom prst="rect">
            <a:avLst/>
          </a:prstGeom>
        </p:spPr>
      </p:pic>
      <p:pic>
        <p:nvPicPr>
          <p:cNvPr id="9" name="图形 8"/>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H="1" flipV="1">
            <a:off x="0" y="5597874"/>
            <a:ext cx="1981199" cy="1260126"/>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V="1">
            <a:off x="10210801" y="5597874"/>
            <a:ext cx="1981199" cy="1260126"/>
          </a:xfrm>
          <a:prstGeom prst="rect">
            <a:avLst/>
          </a:prstGeom>
        </p:spPr>
      </p:pic>
      <p:pic>
        <p:nvPicPr>
          <p:cNvPr id="11" name="图形 10"/>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H="1">
            <a:off x="0" y="1219"/>
            <a:ext cx="1981199" cy="1260126"/>
          </a:xfrm>
          <a:prstGeom prst="rect">
            <a:avLst/>
          </a:prstGeom>
        </p:spPr>
      </p:pic>
      <p:pic>
        <p:nvPicPr>
          <p:cNvPr id="12" name="图形 11"/>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a:off x="10210801" y="1219"/>
            <a:ext cx="1981199" cy="126012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8" name="图形 7"/>
          <p:cNvPicPr>
            <a:picLocks noChangeAspect="1"/>
          </p:cNvPicPr>
          <p:nvPr userDrawn="1"/>
        </p:nvPicPr>
        <p:blipFill rotWithShape="1">
          <a:blip r:embed="rId2">
            <a:extLst>
              <a:ext uri="{96DAC541-7B7A-43D3-8B79-37D633B846F1}">
                <asvg:svgBlip xmlns:asvg="http://schemas.microsoft.com/office/drawing/2016/SVG/main" r:embed="rId3"/>
              </a:ext>
            </a:extLst>
          </a:blip>
          <a:srcRect l="41714" t="46779"/>
          <a:stretch>
            <a:fillRect/>
          </a:stretch>
        </p:blipFill>
        <p:spPr>
          <a:xfrm>
            <a:off x="0" y="-1"/>
            <a:ext cx="3268584" cy="1617786"/>
          </a:xfrm>
          <a:prstGeom prst="rect">
            <a:avLst/>
          </a:prstGeom>
        </p:spPr>
      </p:pic>
      <p:pic>
        <p:nvPicPr>
          <p:cNvPr id="7" name="图形 6"/>
          <p:cNvPicPr>
            <a:picLocks noChangeAspect="1"/>
          </p:cNvPicPr>
          <p:nvPr userDrawn="1"/>
        </p:nvPicPr>
        <p:blipFill rotWithShape="1">
          <a:blip r:embed="rId4">
            <a:extLst>
              <a:ext uri="{96DAC541-7B7A-43D3-8B79-37D633B846F1}">
                <asvg:svgBlip xmlns:asvg="http://schemas.microsoft.com/office/drawing/2016/SVG/main" r:embed="rId5"/>
              </a:ext>
            </a:extLst>
          </a:blip>
          <a:srcRect t="14714" r="31351" b="14323"/>
          <a:stretch>
            <a:fillRect/>
          </a:stretch>
        </p:blipFill>
        <p:spPr>
          <a:xfrm>
            <a:off x="6565767" y="0"/>
            <a:ext cx="5626234" cy="6858000"/>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t="24772" r="23374"/>
          <a:stretch>
            <a:fillRect/>
          </a:stretch>
        </p:blipFill>
        <p:spPr>
          <a:xfrm>
            <a:off x="7793442" y="-1"/>
            <a:ext cx="4398558" cy="4318316"/>
          </a:xfrm>
          <a:prstGeom prst="rect">
            <a:avLst/>
          </a:prstGeom>
        </p:spPr>
      </p:pic>
      <p:pic>
        <p:nvPicPr>
          <p:cNvPr id="11" name="图形 10"/>
          <p:cNvPicPr>
            <a:picLocks noChangeAspect="1"/>
          </p:cNvPicPr>
          <p:nvPr userDrawn="1"/>
        </p:nvPicPr>
        <p:blipFill rotWithShape="1">
          <a:blip r:embed="rId8">
            <a:extLst>
              <a:ext uri="{96DAC541-7B7A-43D3-8B79-37D633B846F1}">
                <asvg:svgBlip xmlns:asvg="http://schemas.microsoft.com/office/drawing/2016/SVG/main" r:embed="rId9"/>
              </a:ext>
            </a:extLst>
          </a:blip>
          <a:srcRect l="19667" t="10322" r="14601" b="9883"/>
          <a:stretch>
            <a:fillRect/>
          </a:stretch>
        </p:blipFill>
        <p:spPr>
          <a:xfrm>
            <a:off x="-1" y="1"/>
            <a:ext cx="12192001" cy="6858000"/>
          </a:xfrm>
          <a:prstGeom prst="rect">
            <a:avLst/>
          </a:prstGeom>
        </p:spPr>
      </p:pic>
      <p:pic>
        <p:nvPicPr>
          <p:cNvPr id="9" name="图形 8"/>
          <p:cNvPicPr>
            <a:picLocks noChangeAspect="1"/>
          </p:cNvPicPr>
          <p:nvPr userDrawn="1"/>
        </p:nvPicPr>
        <p:blipFill rotWithShape="1">
          <a:blip r:embed="rId10">
            <a:extLst>
              <a:ext uri="{96DAC541-7B7A-43D3-8B79-37D633B846F1}">
                <asvg:svgBlip xmlns:asvg="http://schemas.microsoft.com/office/drawing/2016/SVG/main" r:embed="rId11"/>
              </a:ext>
            </a:extLst>
          </a:blip>
          <a:srcRect l="38116" t="1648" b="50000"/>
          <a:stretch>
            <a:fillRect/>
          </a:stretch>
        </p:blipFill>
        <p:spPr>
          <a:xfrm>
            <a:off x="0" y="6260123"/>
            <a:ext cx="2419684" cy="59787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13" name="图形 12"/>
          <p:cNvPicPr>
            <a:picLocks noChangeAspect="1"/>
          </p:cNvPicPr>
          <p:nvPr userDrawn="1"/>
        </p:nvPicPr>
        <p:blipFill rotWithShape="1">
          <a:blip r:embed="rId2">
            <a:extLst>
              <a:ext uri="{96DAC541-7B7A-43D3-8B79-37D633B846F1}">
                <asvg:svgBlip xmlns:asvg="http://schemas.microsoft.com/office/drawing/2016/SVG/main" r:embed="rId3"/>
              </a:ext>
            </a:extLst>
          </a:blip>
          <a:srcRect l="38116" t="1648" b="50000"/>
          <a:stretch>
            <a:fillRect/>
          </a:stretch>
        </p:blipFill>
        <p:spPr>
          <a:xfrm flipH="1">
            <a:off x="9772316" y="6260123"/>
            <a:ext cx="2419684" cy="597878"/>
          </a:xfrm>
          <a:prstGeom prst="rect">
            <a:avLst/>
          </a:prstGeom>
        </p:spPr>
      </p:pic>
      <p:pic>
        <p:nvPicPr>
          <p:cNvPr id="12" name="图形 11"/>
          <p:cNvPicPr>
            <a:picLocks noChangeAspect="1"/>
          </p:cNvPicPr>
          <p:nvPr userDrawn="1"/>
        </p:nvPicPr>
        <p:blipFill rotWithShape="1">
          <a:blip r:embed="rId4">
            <a:extLst>
              <a:ext uri="{96DAC541-7B7A-43D3-8B79-37D633B846F1}">
                <asvg:svgBlip xmlns:asvg="http://schemas.microsoft.com/office/drawing/2016/SVG/main" r:embed="rId5"/>
              </a:ext>
            </a:extLst>
          </a:blip>
          <a:srcRect t="45385" r="50000"/>
          <a:stretch>
            <a:fillRect/>
          </a:stretch>
        </p:blipFill>
        <p:spPr>
          <a:xfrm flipH="1">
            <a:off x="0" y="0"/>
            <a:ext cx="2264250" cy="1097280"/>
          </a:xfrm>
          <a:prstGeom prst="rect">
            <a:avLst/>
          </a:prstGeom>
        </p:spPr>
      </p:pic>
      <p:pic>
        <p:nvPicPr>
          <p:cNvPr id="8" name="图形 7"/>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V="1">
            <a:off x="10210801" y="5597874"/>
            <a:ext cx="1981199" cy="1260126"/>
          </a:xfrm>
          <a:prstGeom prst="rect">
            <a:avLst/>
          </a:prstGeom>
        </p:spPr>
      </p:pic>
      <p:pic>
        <p:nvPicPr>
          <p:cNvPr id="9" name="图形 8"/>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H="1">
            <a:off x="0" y="1219"/>
            <a:ext cx="1981199" cy="1260126"/>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l="19667" t="79832" r="58888" b="9883"/>
          <a:stretch>
            <a:fillRect/>
          </a:stretch>
        </p:blipFill>
        <p:spPr>
          <a:xfrm>
            <a:off x="-1" y="6211146"/>
            <a:ext cx="2910841" cy="646854"/>
          </a:xfrm>
          <a:prstGeom prst="rect">
            <a:avLst/>
          </a:prstGeom>
        </p:spPr>
      </p:pic>
      <p:pic>
        <p:nvPicPr>
          <p:cNvPr id="11" name="图形 10"/>
          <p:cNvPicPr>
            <a:picLocks noChangeAspect="1"/>
          </p:cNvPicPr>
          <p:nvPr userDrawn="1"/>
        </p:nvPicPr>
        <p:blipFill rotWithShape="1">
          <a:blip r:embed="rId6">
            <a:extLst>
              <a:ext uri="{96DAC541-7B7A-43D3-8B79-37D633B846F1}">
                <asvg:svgBlip xmlns:asvg="http://schemas.microsoft.com/office/drawing/2016/SVG/main" r:embed="rId7"/>
              </a:ext>
            </a:extLst>
          </a:blip>
          <a:srcRect l="19667" t="79832" r="58888" b="9883"/>
          <a:stretch>
            <a:fillRect/>
          </a:stretch>
        </p:blipFill>
        <p:spPr>
          <a:xfrm flipH="1" flipV="1">
            <a:off x="9281159" y="0"/>
            <a:ext cx="2910841" cy="64685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11" name="TextBox 10"/>
          <p:cNvSpPr txBox="1"/>
          <p:nvPr userDrawn="1"/>
        </p:nvSpPr>
        <p:spPr>
          <a:xfrm>
            <a:off x="1007605" y="6704469"/>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2024/5/21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2024/5/21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形 6"/>
          <p:cNvPicPr>
            <a:picLocks noChangeAspect="1"/>
          </p:cNvPicPr>
          <p:nvPr userDrawn="1"/>
        </p:nvPicPr>
        <p:blipFill rotWithShape="1">
          <a:blip r:embed="rId2">
            <a:extLst>
              <a:ext uri="{96DAC541-7B7A-43D3-8B79-37D633B846F1}">
                <asvg:svgBlip xmlns:asvg="http://schemas.microsoft.com/office/drawing/2016/SVG/main" r:embed="rId3"/>
              </a:ext>
            </a:extLst>
          </a:blip>
          <a:srcRect l="18431" t="12611"/>
          <a:stretch>
            <a:fillRect/>
          </a:stretch>
        </p:blipFill>
        <p:spPr>
          <a:xfrm>
            <a:off x="0" y="-2"/>
            <a:ext cx="5281020" cy="3429001"/>
          </a:xfrm>
          <a:prstGeom prst="rect">
            <a:avLst/>
          </a:prstGeom>
        </p:spPr>
      </p:pic>
      <p:pic>
        <p:nvPicPr>
          <p:cNvPr id="9" name="图形 8"/>
          <p:cNvPicPr>
            <a:picLocks noChangeAspect="1"/>
          </p:cNvPicPr>
          <p:nvPr userDrawn="1"/>
        </p:nvPicPr>
        <p:blipFill rotWithShape="1">
          <a:blip r:embed="rId4">
            <a:extLst>
              <a:ext uri="{96DAC541-7B7A-43D3-8B79-37D633B846F1}">
                <asvg:svgBlip xmlns:asvg="http://schemas.microsoft.com/office/drawing/2016/SVG/main" r:embed="rId5"/>
              </a:ext>
            </a:extLst>
          </a:blip>
          <a:srcRect r="27701" b="23388"/>
          <a:stretch>
            <a:fillRect/>
          </a:stretch>
        </p:blipFill>
        <p:spPr>
          <a:xfrm>
            <a:off x="4542584" y="1540708"/>
            <a:ext cx="7649416" cy="5317292"/>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t="45385" r="50000"/>
          <a:stretch>
            <a:fillRect/>
          </a:stretch>
        </p:blipFill>
        <p:spPr>
          <a:xfrm>
            <a:off x="9012730" y="-1"/>
            <a:ext cx="3179270" cy="1540709"/>
          </a:xfrm>
          <a:prstGeom prst="rect">
            <a:avLst/>
          </a:prstGeom>
        </p:spPr>
      </p:pic>
      <p:pic>
        <p:nvPicPr>
          <p:cNvPr id="8" name="图形 7"/>
          <p:cNvPicPr>
            <a:picLocks noChangeAspect="1"/>
          </p:cNvPicPr>
          <p:nvPr userDrawn="1"/>
        </p:nvPicPr>
        <p:blipFill rotWithShape="1">
          <a:blip r:embed="rId2">
            <a:extLst>
              <a:ext uri="{96DAC541-7B7A-43D3-8B79-37D633B846F1}">
                <asvg:svgBlip xmlns:asvg="http://schemas.microsoft.com/office/drawing/2016/SVG/main" r:embed="rId3"/>
              </a:ext>
            </a:extLst>
          </a:blip>
          <a:srcRect l="70956"/>
          <a:stretch>
            <a:fillRect/>
          </a:stretch>
        </p:blipFill>
        <p:spPr>
          <a:xfrm>
            <a:off x="0" y="4889049"/>
            <a:ext cx="1252548" cy="2613719"/>
          </a:xfrm>
          <a:prstGeom prst="rect">
            <a:avLst/>
          </a:prstGeom>
        </p:spPr>
      </p:pic>
      <p:pic>
        <p:nvPicPr>
          <p:cNvPr id="11" name="图形 10"/>
          <p:cNvPicPr>
            <a:picLocks noChangeAspect="1"/>
          </p:cNvPicPr>
          <p:nvPr userDrawn="1"/>
        </p:nvPicPr>
        <p:blipFill rotWithShape="1">
          <a:blip r:embed="rId8">
            <a:extLst>
              <a:ext uri="{96DAC541-7B7A-43D3-8B79-37D633B846F1}">
                <asvg:svgBlip xmlns:asvg="http://schemas.microsoft.com/office/drawing/2016/SVG/main" r:embed="rId9"/>
              </a:ext>
            </a:extLst>
          </a:blip>
          <a:srcRect l="17782" t="1243" r="5319" b="26177"/>
          <a:stretch>
            <a:fillRect/>
          </a:stretch>
        </p:blipFill>
        <p:spPr>
          <a:xfrm>
            <a:off x="0" y="-1"/>
            <a:ext cx="12192000" cy="6858001"/>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220038">
            <a:off x="5085834" y="316902"/>
            <a:ext cx="2020333" cy="1095134"/>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220038">
            <a:off x="4897470" y="398001"/>
            <a:ext cx="2020333" cy="1095134"/>
          </a:xfrm>
          <a:prstGeom prst="rect">
            <a:avLst/>
          </a:prstGeom>
        </p:spPr>
      </p:pic>
      <p:pic>
        <p:nvPicPr>
          <p:cNvPr id="9" name="图形 8"/>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H="1" flipV="1">
            <a:off x="0" y="5597874"/>
            <a:ext cx="1981199" cy="1260126"/>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V="1">
            <a:off x="10210801" y="5597874"/>
            <a:ext cx="1981199" cy="1260126"/>
          </a:xfrm>
          <a:prstGeom prst="rect">
            <a:avLst/>
          </a:prstGeom>
        </p:spPr>
      </p:pic>
      <p:pic>
        <p:nvPicPr>
          <p:cNvPr id="11" name="图形 10"/>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H="1">
            <a:off x="0" y="1219"/>
            <a:ext cx="1981199" cy="1260126"/>
          </a:xfrm>
          <a:prstGeom prst="rect">
            <a:avLst/>
          </a:prstGeom>
        </p:spPr>
      </p:pic>
      <p:pic>
        <p:nvPicPr>
          <p:cNvPr id="12" name="图形 11"/>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a:off x="10210801" y="1219"/>
            <a:ext cx="1981199" cy="1260126"/>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8" name="图形 7"/>
          <p:cNvPicPr>
            <a:picLocks noChangeAspect="1"/>
          </p:cNvPicPr>
          <p:nvPr userDrawn="1"/>
        </p:nvPicPr>
        <p:blipFill rotWithShape="1">
          <a:blip r:embed="rId2">
            <a:extLst>
              <a:ext uri="{96DAC541-7B7A-43D3-8B79-37D633B846F1}">
                <asvg:svgBlip xmlns:asvg="http://schemas.microsoft.com/office/drawing/2016/SVG/main" r:embed="rId3"/>
              </a:ext>
            </a:extLst>
          </a:blip>
          <a:srcRect l="41714" t="46779"/>
          <a:stretch>
            <a:fillRect/>
          </a:stretch>
        </p:blipFill>
        <p:spPr>
          <a:xfrm>
            <a:off x="0" y="-1"/>
            <a:ext cx="3268584" cy="1617786"/>
          </a:xfrm>
          <a:prstGeom prst="rect">
            <a:avLst/>
          </a:prstGeom>
        </p:spPr>
      </p:pic>
      <p:pic>
        <p:nvPicPr>
          <p:cNvPr id="7" name="图形 6"/>
          <p:cNvPicPr>
            <a:picLocks noChangeAspect="1"/>
          </p:cNvPicPr>
          <p:nvPr userDrawn="1"/>
        </p:nvPicPr>
        <p:blipFill rotWithShape="1">
          <a:blip r:embed="rId4">
            <a:extLst>
              <a:ext uri="{96DAC541-7B7A-43D3-8B79-37D633B846F1}">
                <asvg:svgBlip xmlns:asvg="http://schemas.microsoft.com/office/drawing/2016/SVG/main" r:embed="rId5"/>
              </a:ext>
            </a:extLst>
          </a:blip>
          <a:srcRect t="14714" r="31351" b="14323"/>
          <a:stretch>
            <a:fillRect/>
          </a:stretch>
        </p:blipFill>
        <p:spPr>
          <a:xfrm>
            <a:off x="6565767" y="0"/>
            <a:ext cx="5626234" cy="6858000"/>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t="24772" r="23374"/>
          <a:stretch>
            <a:fillRect/>
          </a:stretch>
        </p:blipFill>
        <p:spPr>
          <a:xfrm>
            <a:off x="7793442" y="-1"/>
            <a:ext cx="4398558" cy="4318316"/>
          </a:xfrm>
          <a:prstGeom prst="rect">
            <a:avLst/>
          </a:prstGeom>
        </p:spPr>
      </p:pic>
      <p:pic>
        <p:nvPicPr>
          <p:cNvPr id="11" name="图形 10"/>
          <p:cNvPicPr>
            <a:picLocks noChangeAspect="1"/>
          </p:cNvPicPr>
          <p:nvPr userDrawn="1"/>
        </p:nvPicPr>
        <p:blipFill rotWithShape="1">
          <a:blip r:embed="rId8">
            <a:extLst>
              <a:ext uri="{96DAC541-7B7A-43D3-8B79-37D633B846F1}">
                <asvg:svgBlip xmlns:asvg="http://schemas.microsoft.com/office/drawing/2016/SVG/main" r:embed="rId9"/>
              </a:ext>
            </a:extLst>
          </a:blip>
          <a:srcRect l="19667" t="10322" r="14601" b="9883"/>
          <a:stretch>
            <a:fillRect/>
          </a:stretch>
        </p:blipFill>
        <p:spPr>
          <a:xfrm>
            <a:off x="-1" y="1"/>
            <a:ext cx="12192001" cy="6858000"/>
          </a:xfrm>
          <a:prstGeom prst="rect">
            <a:avLst/>
          </a:prstGeom>
        </p:spPr>
      </p:pic>
      <p:pic>
        <p:nvPicPr>
          <p:cNvPr id="9" name="图形 8"/>
          <p:cNvPicPr>
            <a:picLocks noChangeAspect="1"/>
          </p:cNvPicPr>
          <p:nvPr userDrawn="1"/>
        </p:nvPicPr>
        <p:blipFill rotWithShape="1">
          <a:blip r:embed="rId10">
            <a:extLst>
              <a:ext uri="{96DAC541-7B7A-43D3-8B79-37D633B846F1}">
                <asvg:svgBlip xmlns:asvg="http://schemas.microsoft.com/office/drawing/2016/SVG/main" r:embed="rId11"/>
              </a:ext>
            </a:extLst>
          </a:blip>
          <a:srcRect l="38116" t="1648" b="50000"/>
          <a:stretch>
            <a:fillRect/>
          </a:stretch>
        </p:blipFill>
        <p:spPr>
          <a:xfrm>
            <a:off x="0" y="6260123"/>
            <a:ext cx="2419684" cy="59787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13" name="图形 12"/>
          <p:cNvPicPr>
            <a:picLocks noChangeAspect="1"/>
          </p:cNvPicPr>
          <p:nvPr userDrawn="1"/>
        </p:nvPicPr>
        <p:blipFill rotWithShape="1">
          <a:blip r:embed="rId2">
            <a:extLst>
              <a:ext uri="{96DAC541-7B7A-43D3-8B79-37D633B846F1}">
                <asvg:svgBlip xmlns:asvg="http://schemas.microsoft.com/office/drawing/2016/SVG/main" r:embed="rId3"/>
              </a:ext>
            </a:extLst>
          </a:blip>
          <a:srcRect l="38116" t="1648" b="50000"/>
          <a:stretch>
            <a:fillRect/>
          </a:stretch>
        </p:blipFill>
        <p:spPr>
          <a:xfrm flipH="1">
            <a:off x="9772316" y="6260123"/>
            <a:ext cx="2419684" cy="597878"/>
          </a:xfrm>
          <a:prstGeom prst="rect">
            <a:avLst/>
          </a:prstGeom>
        </p:spPr>
      </p:pic>
      <p:pic>
        <p:nvPicPr>
          <p:cNvPr id="12" name="图形 11"/>
          <p:cNvPicPr>
            <a:picLocks noChangeAspect="1"/>
          </p:cNvPicPr>
          <p:nvPr userDrawn="1"/>
        </p:nvPicPr>
        <p:blipFill rotWithShape="1">
          <a:blip r:embed="rId4">
            <a:extLst>
              <a:ext uri="{96DAC541-7B7A-43D3-8B79-37D633B846F1}">
                <asvg:svgBlip xmlns:asvg="http://schemas.microsoft.com/office/drawing/2016/SVG/main" r:embed="rId5"/>
              </a:ext>
            </a:extLst>
          </a:blip>
          <a:srcRect t="45385" r="50000"/>
          <a:stretch>
            <a:fillRect/>
          </a:stretch>
        </p:blipFill>
        <p:spPr>
          <a:xfrm flipH="1">
            <a:off x="0" y="0"/>
            <a:ext cx="2264250" cy="1097280"/>
          </a:xfrm>
          <a:prstGeom prst="rect">
            <a:avLst/>
          </a:prstGeom>
        </p:spPr>
      </p:pic>
      <p:pic>
        <p:nvPicPr>
          <p:cNvPr id="8" name="图形 7"/>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V="1">
            <a:off x="10210801" y="5597874"/>
            <a:ext cx="1981199" cy="1260126"/>
          </a:xfrm>
          <a:prstGeom prst="rect">
            <a:avLst/>
          </a:prstGeom>
        </p:spPr>
      </p:pic>
      <p:pic>
        <p:nvPicPr>
          <p:cNvPr id="9" name="图形 8"/>
          <p:cNvPicPr>
            <a:picLocks noChangeAspect="1"/>
          </p:cNvPicPr>
          <p:nvPr userDrawn="1"/>
        </p:nvPicPr>
        <p:blipFill rotWithShape="1">
          <a:blip r:embed="rId6">
            <a:extLst>
              <a:ext uri="{96DAC541-7B7A-43D3-8B79-37D633B846F1}">
                <asvg:svgBlip xmlns:asvg="http://schemas.microsoft.com/office/drawing/2016/SVG/main" r:embed="rId7"/>
              </a:ext>
            </a:extLst>
          </a:blip>
          <a:srcRect l="61852" t="10321" r="14601" b="57357"/>
          <a:stretch>
            <a:fillRect/>
          </a:stretch>
        </p:blipFill>
        <p:spPr>
          <a:xfrm flipH="1">
            <a:off x="0" y="1219"/>
            <a:ext cx="1981199" cy="1260126"/>
          </a:xfrm>
          <a:prstGeom prst="rect">
            <a:avLst/>
          </a:prstGeom>
        </p:spPr>
      </p:pic>
      <p:pic>
        <p:nvPicPr>
          <p:cNvPr id="10" name="图形 9"/>
          <p:cNvPicPr>
            <a:picLocks noChangeAspect="1"/>
          </p:cNvPicPr>
          <p:nvPr userDrawn="1"/>
        </p:nvPicPr>
        <p:blipFill rotWithShape="1">
          <a:blip r:embed="rId6">
            <a:extLst>
              <a:ext uri="{96DAC541-7B7A-43D3-8B79-37D633B846F1}">
                <asvg:svgBlip xmlns:asvg="http://schemas.microsoft.com/office/drawing/2016/SVG/main" r:embed="rId7"/>
              </a:ext>
            </a:extLst>
          </a:blip>
          <a:srcRect l="19667" t="79832" r="58888" b="9883"/>
          <a:stretch>
            <a:fillRect/>
          </a:stretch>
        </p:blipFill>
        <p:spPr>
          <a:xfrm>
            <a:off x="-1" y="6211146"/>
            <a:ext cx="2910841" cy="646854"/>
          </a:xfrm>
          <a:prstGeom prst="rect">
            <a:avLst/>
          </a:prstGeom>
        </p:spPr>
      </p:pic>
      <p:pic>
        <p:nvPicPr>
          <p:cNvPr id="11" name="图形 10"/>
          <p:cNvPicPr>
            <a:picLocks noChangeAspect="1"/>
          </p:cNvPicPr>
          <p:nvPr userDrawn="1"/>
        </p:nvPicPr>
        <p:blipFill rotWithShape="1">
          <a:blip r:embed="rId6">
            <a:extLst>
              <a:ext uri="{96DAC541-7B7A-43D3-8B79-37D633B846F1}">
                <asvg:svgBlip xmlns:asvg="http://schemas.microsoft.com/office/drawing/2016/SVG/main" r:embed="rId7"/>
              </a:ext>
            </a:extLst>
          </a:blip>
          <a:srcRect l="19667" t="79832" r="58888" b="9883"/>
          <a:stretch>
            <a:fillRect/>
          </a:stretch>
        </p:blipFill>
        <p:spPr>
          <a:xfrm flipH="1" flipV="1">
            <a:off x="9281159" y="0"/>
            <a:ext cx="2910841" cy="64685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11" name="TextBox 10"/>
          <p:cNvSpPr txBox="1"/>
          <p:nvPr userDrawn="1"/>
        </p:nvSpPr>
        <p:spPr>
          <a:xfrm>
            <a:off x="1007605" y="6704469"/>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包图简圆体" panose="02010601030101010101" pitchFamily="2" charset="-122"/>
              </a:defRPr>
            </a:lvl1pPr>
          </a:lstStyle>
          <a:p>
            <a:fld id="{D997B5FA-0921-464F-AAE1-844C04324D75}" type="datetimeFigureOut">
              <a:rPr lang="zh-CN" altLang="en-US" smtClean="0"/>
              <a:t>2024/5/21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包图简圆体" panose="02010601030101010101" pitchFamily="2"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包图简圆体" panose="02010601030101010101" pitchFamily="2" charset="-122"/>
              </a:defRPr>
            </a:lvl1pPr>
          </a:lstStyle>
          <a:p>
            <a:fld id="{565CE74E-AB26-4998-AD42-012C4C1AD076}"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包图简圆体" panose="02010601030101010101"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包图简圆体" panose="02010601030101010101"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包图简圆体" panose="02010601030101010101"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包图简圆体" panose="02010601030101010101"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包图简圆体" panose="02010601030101010101"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包图简圆体" panose="02010601030101010101"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包图简圆体" panose="02010601030101010101" pitchFamily="2" charset="-122"/>
              </a:defRPr>
            </a:lvl1pPr>
          </a:lstStyle>
          <a:p>
            <a:fld id="{D997B5FA-0921-464F-AAE1-844C04324D75}" type="datetimeFigureOut">
              <a:rPr lang="zh-CN" altLang="en-US" smtClean="0"/>
              <a:t>2024/5/21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包图简圆体" panose="02010601030101010101" pitchFamily="2"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包图简圆体" panose="02010601030101010101" pitchFamily="2" charset="-122"/>
              </a:defRPr>
            </a:lvl1pPr>
          </a:lstStyle>
          <a:p>
            <a:fld id="{565CE74E-AB26-4998-AD42-012C4C1AD076}"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txStyles>
    <p:titleStyle>
      <a:lvl1pPr algn="l" defTabSz="914400" rtl="0" eaLnBrk="1" latinLnBrk="0" hangingPunct="1">
        <a:lnSpc>
          <a:spcPct val="90000"/>
        </a:lnSpc>
        <a:spcBef>
          <a:spcPct val="0"/>
        </a:spcBef>
        <a:buNone/>
        <a:defRPr sz="4400" kern="1200">
          <a:solidFill>
            <a:schemeClr val="tx1"/>
          </a:solidFill>
          <a:latin typeface="包图简圆体" panose="02010601030101010101"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包图简圆体" panose="02010601030101010101"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包图简圆体" panose="02010601030101010101"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包图简圆体" panose="02010601030101010101"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包图简圆体" panose="02010601030101010101"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包图简圆体" panose="02010601030101010101"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9.xml"/><Relationship Id="rId1" Type="http://schemas.openxmlformats.org/officeDocument/2006/relationships/tags" Target="../tags/tag2.xml"/><Relationship Id="rId6" Type="http://schemas.openxmlformats.org/officeDocument/2006/relationships/image" Target="../media/image26.jpg"/><Relationship Id="rId5" Type="http://schemas.openxmlformats.org/officeDocument/2006/relationships/image" Target="../media/image25.png"/><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15393" y="3131137"/>
            <a:ext cx="9930925" cy="707886"/>
          </a:xfrm>
          <a:prstGeom prst="rect">
            <a:avLst/>
          </a:prstGeom>
          <a:noFill/>
        </p:spPr>
        <p:txBody>
          <a:bodyPr wrap="none" rtlCol="0">
            <a:spAutoFit/>
          </a:bodyPr>
          <a:lstStyle/>
          <a:p>
            <a:pPr algn="ctr"/>
            <a:r>
              <a:rPr lang="zh-CN" altLang="en-US" sz="4000" dirty="0">
                <a:solidFill>
                  <a:srgbClr val="4A5A69"/>
                </a:solidFill>
                <a:cs typeface="+mn-ea"/>
                <a:sym typeface="+mn-lt"/>
              </a:rPr>
              <a:t>基于信息可逆嵌入的图像完整性认证及修复</a:t>
            </a:r>
          </a:p>
        </p:txBody>
      </p:sp>
      <p:sp>
        <p:nvSpPr>
          <p:cNvPr id="3" name="文本框 2"/>
          <p:cNvSpPr txBox="1"/>
          <p:nvPr/>
        </p:nvSpPr>
        <p:spPr>
          <a:xfrm>
            <a:off x="3649812" y="3974746"/>
            <a:ext cx="5283052" cy="369332"/>
          </a:xfrm>
          <a:prstGeom prst="rect">
            <a:avLst/>
          </a:prstGeom>
          <a:noFill/>
        </p:spPr>
        <p:txBody>
          <a:bodyPr wrap="square" rtlCol="0">
            <a:spAutoFit/>
          </a:bodyPr>
          <a:lstStyle/>
          <a:p>
            <a:r>
              <a:rPr lang="en-US" altLang="zh-CN" dirty="0">
                <a:solidFill>
                  <a:srgbClr val="92A3B8"/>
                </a:solidFill>
                <a:cs typeface="+mn-ea"/>
                <a:sym typeface="+mn-lt"/>
              </a:rPr>
              <a:t>2023-2024</a:t>
            </a:r>
            <a:r>
              <a:rPr lang="zh-CN" altLang="en-US" dirty="0">
                <a:solidFill>
                  <a:srgbClr val="92A3B8"/>
                </a:solidFill>
                <a:cs typeface="+mn-ea"/>
                <a:sym typeface="+mn-lt"/>
              </a:rPr>
              <a:t>学年第一学期信息安全技术课程设计</a:t>
            </a:r>
          </a:p>
        </p:txBody>
      </p:sp>
      <p:sp>
        <p:nvSpPr>
          <p:cNvPr id="4" name="文本框 3"/>
          <p:cNvSpPr txBox="1"/>
          <p:nvPr/>
        </p:nvSpPr>
        <p:spPr>
          <a:xfrm>
            <a:off x="2417118" y="4497731"/>
            <a:ext cx="7109640" cy="523220"/>
          </a:xfrm>
          <a:prstGeom prst="rect">
            <a:avLst/>
          </a:prstGeom>
          <a:noFill/>
        </p:spPr>
        <p:txBody>
          <a:bodyPr wrap="square" rtlCol="0">
            <a:spAutoFit/>
          </a:bodyPr>
          <a:lstStyle/>
          <a:p>
            <a:pPr algn="ctr"/>
            <a:r>
              <a:rPr lang="zh-CN" altLang="en-US" sz="1400" dirty="0">
                <a:solidFill>
                  <a:schemeClr val="tx1">
                    <a:lumMod val="95000"/>
                    <a:lumOff val="5000"/>
                  </a:schemeClr>
                </a:solidFill>
                <a:cs typeface="+mn-ea"/>
                <a:sym typeface="+mn-lt"/>
              </a:rPr>
              <a:t>赵罗曼 </a:t>
            </a:r>
            <a:r>
              <a:rPr lang="en-US" altLang="zh-CN" sz="1400" dirty="0">
                <a:solidFill>
                  <a:schemeClr val="tx1">
                    <a:lumMod val="95000"/>
                    <a:lumOff val="5000"/>
                  </a:schemeClr>
                </a:solidFill>
                <a:cs typeface="+mn-ea"/>
                <a:sym typeface="+mn-lt"/>
              </a:rPr>
              <a:t>216001943</a:t>
            </a:r>
          </a:p>
          <a:p>
            <a:pPr algn="ctr"/>
            <a:r>
              <a:rPr lang="zh-CN" altLang="en-US" sz="1400" dirty="0">
                <a:solidFill>
                  <a:schemeClr val="tx1">
                    <a:lumMod val="95000"/>
                    <a:lumOff val="5000"/>
                  </a:schemeClr>
                </a:solidFill>
                <a:cs typeface="+mn-ea"/>
                <a:sym typeface="+mn-lt"/>
              </a:rPr>
              <a:t>信息科学与工程学院   </a:t>
            </a:r>
            <a:r>
              <a:rPr lang="en-US" altLang="zh-CN" sz="1400" dirty="0">
                <a:solidFill>
                  <a:schemeClr val="tx1">
                    <a:lumMod val="95000"/>
                    <a:lumOff val="5000"/>
                  </a:schemeClr>
                </a:solidFill>
                <a:cs typeface="+mn-ea"/>
                <a:sym typeface="+mn-lt"/>
              </a:rPr>
              <a:t>2021</a:t>
            </a:r>
            <a:r>
              <a:rPr lang="zh-CN" altLang="en-US" sz="1400" dirty="0">
                <a:solidFill>
                  <a:schemeClr val="tx1">
                    <a:lumMod val="95000"/>
                    <a:lumOff val="5000"/>
                  </a:schemeClr>
                </a:solidFill>
                <a:cs typeface="+mn-ea"/>
                <a:sym typeface="+mn-lt"/>
              </a:rPr>
              <a:t>级计算机科学与技术</a:t>
            </a:r>
            <a:r>
              <a:rPr lang="en-US" altLang="zh-CN" sz="1400" dirty="0">
                <a:solidFill>
                  <a:schemeClr val="tx1">
                    <a:lumMod val="95000"/>
                    <a:lumOff val="5000"/>
                  </a:schemeClr>
                </a:solidFill>
                <a:cs typeface="+mn-ea"/>
                <a:sym typeface="+mn-lt"/>
              </a:rPr>
              <a:t>2</a:t>
            </a:r>
            <a:r>
              <a:rPr lang="zh-CN" altLang="en-US" sz="1400" dirty="0">
                <a:solidFill>
                  <a:schemeClr val="tx1">
                    <a:lumMod val="95000"/>
                    <a:lumOff val="5000"/>
                  </a:schemeClr>
                </a:solidFill>
                <a:cs typeface="+mn-ea"/>
                <a:sym typeface="+mn-lt"/>
              </a:rPr>
              <a:t>班</a:t>
            </a:r>
            <a:endParaRPr lang="en-US" altLang="zh-CN" sz="1400" dirty="0">
              <a:solidFill>
                <a:schemeClr val="tx1">
                  <a:lumMod val="95000"/>
                  <a:lumOff val="5000"/>
                </a:schemeClr>
              </a:solidFill>
              <a:cs typeface="+mn-ea"/>
              <a:sym typeface="+mn-lt"/>
            </a:endParaRPr>
          </a:p>
        </p:txBody>
      </p:sp>
      <p:cxnSp>
        <p:nvCxnSpPr>
          <p:cNvPr id="6" name="直接连接符 5"/>
          <p:cNvCxnSpPr/>
          <p:nvPr/>
        </p:nvCxnSpPr>
        <p:spPr>
          <a:xfrm>
            <a:off x="2417118" y="4159412"/>
            <a:ext cx="1232694" cy="0"/>
          </a:xfrm>
          <a:prstGeom prst="line">
            <a:avLst/>
          </a:prstGeom>
          <a:ln>
            <a:solidFill>
              <a:srgbClr val="92A3B8"/>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8745591" y="4159412"/>
            <a:ext cx="1232694" cy="0"/>
          </a:xfrm>
          <a:prstGeom prst="line">
            <a:avLst/>
          </a:prstGeom>
          <a:ln>
            <a:solidFill>
              <a:srgbClr val="92A3B8"/>
            </a:solidFill>
          </a:ln>
        </p:spPr>
        <p:style>
          <a:lnRef idx="1">
            <a:schemeClr val="accent1"/>
          </a:lnRef>
          <a:fillRef idx="0">
            <a:schemeClr val="accent1"/>
          </a:fillRef>
          <a:effectRef idx="0">
            <a:schemeClr val="accent1"/>
          </a:effectRef>
          <a:fontRef idx="minor">
            <a:schemeClr val="tx1"/>
          </a:fontRef>
        </p:style>
      </p:cxnSp>
      <p:graphicFrame>
        <p:nvGraphicFramePr>
          <p:cNvPr id="5" name="Chart 7"/>
          <p:cNvGraphicFramePr/>
          <p:nvPr/>
        </p:nvGraphicFramePr>
        <p:xfrm>
          <a:off x="6480177" y="689673"/>
          <a:ext cx="1660648" cy="17211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5"/>
          <p:cNvGraphicFramePr/>
          <p:nvPr/>
        </p:nvGraphicFramePr>
        <p:xfrm>
          <a:off x="6480177" y="730323"/>
          <a:ext cx="1660648" cy="172116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0"/>
          <p:cNvGraphicFramePr/>
          <p:nvPr/>
        </p:nvGraphicFramePr>
        <p:xfrm>
          <a:off x="6696201" y="931885"/>
          <a:ext cx="1243450" cy="122413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00726" y="2238751"/>
            <a:ext cx="1569660" cy="461665"/>
          </a:xfrm>
          <a:prstGeom prst="rect">
            <a:avLst/>
          </a:prstGeom>
          <a:noFill/>
        </p:spPr>
        <p:txBody>
          <a:bodyPr wrap="none" rtlCol="0">
            <a:spAutoFit/>
          </a:bodyPr>
          <a:lstStyle/>
          <a:p>
            <a:r>
              <a:rPr lang="zh-CN" altLang="en-US" sz="2400" b="1" spc="300" dirty="0">
                <a:solidFill>
                  <a:srgbClr val="231E1F"/>
                </a:solidFill>
                <a:cs typeface="+mn-ea"/>
                <a:sym typeface="+mn-lt"/>
              </a:rPr>
              <a:t>项目背景</a:t>
            </a:r>
          </a:p>
        </p:txBody>
      </p:sp>
      <p:sp>
        <p:nvSpPr>
          <p:cNvPr id="3" name="矩形 2"/>
          <p:cNvSpPr/>
          <p:nvPr/>
        </p:nvSpPr>
        <p:spPr>
          <a:xfrm>
            <a:off x="2708267" y="2585998"/>
            <a:ext cx="2271776" cy="275588"/>
          </a:xfrm>
          <a:prstGeom prst="rect">
            <a:avLst/>
          </a:prstGeom>
        </p:spPr>
        <p:txBody>
          <a:bodyPr wrap="square">
            <a:spAutoFit/>
          </a:bodyPr>
          <a:lstStyle/>
          <a:p>
            <a:pPr algn="ctr">
              <a:lnSpc>
                <a:spcPct val="150000"/>
              </a:lnSpc>
            </a:pPr>
            <a:r>
              <a:rPr lang="en-US" altLang="ko-KR" sz="900" dirty="0">
                <a:solidFill>
                  <a:schemeClr val="tx1">
                    <a:lumMod val="50000"/>
                    <a:lumOff val="50000"/>
                  </a:schemeClr>
                </a:solidFill>
                <a:cs typeface="+mn-ea"/>
                <a:sym typeface="+mn-lt"/>
              </a:rPr>
              <a:t>Background of the Project</a:t>
            </a:r>
          </a:p>
        </p:txBody>
      </p:sp>
      <p:sp>
        <p:nvSpPr>
          <p:cNvPr id="4" name="文本框 3"/>
          <p:cNvSpPr txBox="1"/>
          <p:nvPr/>
        </p:nvSpPr>
        <p:spPr>
          <a:xfrm>
            <a:off x="1789104" y="2239231"/>
            <a:ext cx="768850" cy="584775"/>
          </a:xfrm>
          <a:prstGeom prst="rect">
            <a:avLst/>
          </a:prstGeom>
          <a:noFill/>
        </p:spPr>
        <p:txBody>
          <a:bodyPr wrap="square" rtlCol="0">
            <a:spAutoFit/>
          </a:bodyPr>
          <a:lstStyle>
            <a:defPPr>
              <a:defRPr lang="zh-CN"/>
            </a:defPPr>
            <a:lvl1pPr algn="r">
              <a:defRPr sz="4000"/>
            </a:lvl1pPr>
          </a:lstStyle>
          <a:p>
            <a:pPr algn="ctr"/>
            <a:r>
              <a:rPr lang="en-US" altLang="zh-CN" sz="3200" dirty="0">
                <a:solidFill>
                  <a:schemeClr val="tx1">
                    <a:lumMod val="95000"/>
                    <a:lumOff val="5000"/>
                  </a:schemeClr>
                </a:solidFill>
                <a:cs typeface="+mn-ea"/>
                <a:sym typeface="+mn-lt"/>
              </a:rPr>
              <a:t>01</a:t>
            </a:r>
            <a:endParaRPr lang="zh-CN" altLang="en-US" sz="3200" dirty="0">
              <a:solidFill>
                <a:schemeClr val="tx1">
                  <a:lumMod val="95000"/>
                  <a:lumOff val="5000"/>
                </a:schemeClr>
              </a:solidFill>
              <a:cs typeface="+mn-ea"/>
              <a:sym typeface="+mn-lt"/>
            </a:endParaRPr>
          </a:p>
        </p:txBody>
      </p:sp>
      <p:sp>
        <p:nvSpPr>
          <p:cNvPr id="5" name="椭圆 4"/>
          <p:cNvSpPr/>
          <p:nvPr/>
        </p:nvSpPr>
        <p:spPr>
          <a:xfrm>
            <a:off x="2514410" y="2469584"/>
            <a:ext cx="138186" cy="138186"/>
          </a:xfrm>
          <a:prstGeom prst="ellipse">
            <a:avLst/>
          </a:prstGeom>
          <a:solidFill>
            <a:srgbClr val="92A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文本框 5"/>
          <p:cNvSpPr txBox="1"/>
          <p:nvPr/>
        </p:nvSpPr>
        <p:spPr>
          <a:xfrm>
            <a:off x="8477369" y="2238751"/>
            <a:ext cx="3300904" cy="461665"/>
          </a:xfrm>
          <a:prstGeom prst="rect">
            <a:avLst/>
          </a:prstGeom>
          <a:noFill/>
        </p:spPr>
        <p:txBody>
          <a:bodyPr wrap="none" rtlCol="0">
            <a:spAutoFit/>
          </a:bodyPr>
          <a:lstStyle/>
          <a:p>
            <a:r>
              <a:rPr lang="zh-CN" altLang="en-US" sz="2400" b="1" spc="300" dirty="0">
                <a:solidFill>
                  <a:srgbClr val="231E1F"/>
                </a:solidFill>
                <a:cs typeface="+mn-ea"/>
                <a:sym typeface="+mn-lt"/>
              </a:rPr>
              <a:t>项目原理及模块分析</a:t>
            </a:r>
          </a:p>
        </p:txBody>
      </p:sp>
      <p:sp>
        <p:nvSpPr>
          <p:cNvPr id="7" name="矩形 6"/>
          <p:cNvSpPr/>
          <p:nvPr/>
        </p:nvSpPr>
        <p:spPr>
          <a:xfrm>
            <a:off x="8055386" y="2617031"/>
            <a:ext cx="2271776" cy="275588"/>
          </a:xfrm>
          <a:prstGeom prst="rect">
            <a:avLst/>
          </a:prstGeom>
        </p:spPr>
        <p:txBody>
          <a:bodyPr wrap="square">
            <a:spAutoFit/>
          </a:bodyPr>
          <a:lstStyle/>
          <a:p>
            <a:pPr algn="ctr">
              <a:lnSpc>
                <a:spcPct val="150000"/>
              </a:lnSpc>
            </a:pPr>
            <a:r>
              <a:rPr lang="en-US" altLang="ko-KR" sz="900" dirty="0">
                <a:solidFill>
                  <a:schemeClr val="tx1">
                    <a:lumMod val="50000"/>
                    <a:lumOff val="50000"/>
                  </a:schemeClr>
                </a:solidFill>
                <a:cs typeface="+mn-ea"/>
                <a:sym typeface="+mn-lt"/>
              </a:rPr>
              <a:t>Structure of program</a:t>
            </a:r>
          </a:p>
        </p:txBody>
      </p:sp>
      <p:sp>
        <p:nvSpPr>
          <p:cNvPr id="8" name="文本框 7"/>
          <p:cNvSpPr txBox="1"/>
          <p:nvPr/>
        </p:nvSpPr>
        <p:spPr>
          <a:xfrm>
            <a:off x="7211957" y="2239231"/>
            <a:ext cx="768850" cy="584775"/>
          </a:xfrm>
          <a:prstGeom prst="rect">
            <a:avLst/>
          </a:prstGeom>
          <a:noFill/>
        </p:spPr>
        <p:txBody>
          <a:bodyPr wrap="square" rtlCol="0">
            <a:spAutoFit/>
          </a:bodyPr>
          <a:lstStyle>
            <a:defPPr>
              <a:defRPr lang="zh-CN"/>
            </a:defPPr>
            <a:lvl1pPr algn="r">
              <a:defRPr sz="4000"/>
            </a:lvl1pPr>
          </a:lstStyle>
          <a:p>
            <a:pPr algn="ctr"/>
            <a:r>
              <a:rPr lang="en-US" altLang="zh-CN" sz="3200" dirty="0">
                <a:solidFill>
                  <a:schemeClr val="tx1">
                    <a:lumMod val="95000"/>
                    <a:lumOff val="5000"/>
                  </a:schemeClr>
                </a:solidFill>
                <a:cs typeface="+mn-ea"/>
                <a:sym typeface="+mn-lt"/>
              </a:rPr>
              <a:t>02</a:t>
            </a:r>
            <a:endParaRPr lang="zh-CN" altLang="en-US" sz="3200" dirty="0">
              <a:solidFill>
                <a:schemeClr val="tx1">
                  <a:lumMod val="95000"/>
                  <a:lumOff val="5000"/>
                </a:schemeClr>
              </a:solidFill>
              <a:cs typeface="+mn-ea"/>
              <a:sym typeface="+mn-lt"/>
            </a:endParaRPr>
          </a:p>
        </p:txBody>
      </p:sp>
      <p:sp>
        <p:nvSpPr>
          <p:cNvPr id="9" name="椭圆 8"/>
          <p:cNvSpPr/>
          <p:nvPr/>
        </p:nvSpPr>
        <p:spPr>
          <a:xfrm>
            <a:off x="7937263" y="2469584"/>
            <a:ext cx="138186" cy="138186"/>
          </a:xfrm>
          <a:prstGeom prst="ellipse">
            <a:avLst/>
          </a:prstGeom>
          <a:solidFill>
            <a:srgbClr val="92A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文本框 9"/>
          <p:cNvSpPr txBox="1"/>
          <p:nvPr/>
        </p:nvSpPr>
        <p:spPr>
          <a:xfrm>
            <a:off x="3000726" y="3720626"/>
            <a:ext cx="2262158" cy="461665"/>
          </a:xfrm>
          <a:prstGeom prst="rect">
            <a:avLst/>
          </a:prstGeom>
          <a:noFill/>
        </p:spPr>
        <p:txBody>
          <a:bodyPr wrap="none" rtlCol="0">
            <a:spAutoFit/>
          </a:bodyPr>
          <a:lstStyle/>
          <a:p>
            <a:r>
              <a:rPr lang="zh-CN" altLang="en-US" sz="2400" b="1" spc="300" dirty="0">
                <a:solidFill>
                  <a:srgbClr val="231E1F"/>
                </a:solidFill>
                <a:cs typeface="+mn-ea"/>
                <a:sym typeface="+mn-lt"/>
              </a:rPr>
              <a:t>程序流程分析</a:t>
            </a:r>
          </a:p>
        </p:txBody>
      </p:sp>
      <p:sp>
        <p:nvSpPr>
          <p:cNvPr id="11" name="矩形 10"/>
          <p:cNvSpPr/>
          <p:nvPr/>
        </p:nvSpPr>
        <p:spPr>
          <a:xfrm>
            <a:off x="2400087" y="4089644"/>
            <a:ext cx="2271776" cy="275588"/>
          </a:xfrm>
          <a:prstGeom prst="rect">
            <a:avLst/>
          </a:prstGeom>
        </p:spPr>
        <p:txBody>
          <a:bodyPr wrap="square">
            <a:spAutoFit/>
          </a:bodyPr>
          <a:lstStyle/>
          <a:p>
            <a:pPr algn="ctr">
              <a:lnSpc>
                <a:spcPct val="150000"/>
              </a:lnSpc>
            </a:pPr>
            <a:r>
              <a:rPr lang="en-US" altLang="ko-KR" sz="900" dirty="0">
                <a:solidFill>
                  <a:schemeClr val="tx1">
                    <a:lumMod val="50000"/>
                    <a:lumOff val="50000"/>
                  </a:schemeClr>
                </a:solidFill>
                <a:cs typeface="+mn-ea"/>
                <a:sym typeface="+mn-lt"/>
              </a:rPr>
              <a:t>Procedure flow</a:t>
            </a:r>
          </a:p>
        </p:txBody>
      </p:sp>
      <p:sp>
        <p:nvSpPr>
          <p:cNvPr id="12" name="文本框 11"/>
          <p:cNvSpPr txBox="1"/>
          <p:nvPr/>
        </p:nvSpPr>
        <p:spPr>
          <a:xfrm>
            <a:off x="1789104" y="3720626"/>
            <a:ext cx="768850" cy="584775"/>
          </a:xfrm>
          <a:prstGeom prst="rect">
            <a:avLst/>
          </a:prstGeom>
          <a:noFill/>
        </p:spPr>
        <p:txBody>
          <a:bodyPr wrap="square" rtlCol="0">
            <a:spAutoFit/>
          </a:bodyPr>
          <a:lstStyle>
            <a:defPPr>
              <a:defRPr lang="zh-CN"/>
            </a:defPPr>
            <a:lvl1pPr algn="r">
              <a:defRPr sz="4000"/>
            </a:lvl1pPr>
          </a:lstStyle>
          <a:p>
            <a:pPr algn="ctr"/>
            <a:r>
              <a:rPr lang="en-US" altLang="zh-CN" sz="3200" dirty="0">
                <a:solidFill>
                  <a:schemeClr val="tx1">
                    <a:lumMod val="95000"/>
                    <a:lumOff val="5000"/>
                  </a:schemeClr>
                </a:solidFill>
                <a:cs typeface="+mn-ea"/>
                <a:sym typeface="+mn-lt"/>
              </a:rPr>
              <a:t>03</a:t>
            </a:r>
            <a:endParaRPr lang="zh-CN" altLang="en-US" sz="3200" dirty="0">
              <a:solidFill>
                <a:schemeClr val="tx1">
                  <a:lumMod val="95000"/>
                  <a:lumOff val="5000"/>
                </a:schemeClr>
              </a:solidFill>
              <a:cs typeface="+mn-ea"/>
              <a:sym typeface="+mn-lt"/>
            </a:endParaRPr>
          </a:p>
        </p:txBody>
      </p:sp>
      <p:sp>
        <p:nvSpPr>
          <p:cNvPr id="13" name="椭圆 12"/>
          <p:cNvSpPr/>
          <p:nvPr/>
        </p:nvSpPr>
        <p:spPr>
          <a:xfrm>
            <a:off x="2514410" y="3950979"/>
            <a:ext cx="138186" cy="138186"/>
          </a:xfrm>
          <a:prstGeom prst="ellipse">
            <a:avLst/>
          </a:prstGeom>
          <a:solidFill>
            <a:srgbClr val="92A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4" name="文本框 13"/>
          <p:cNvSpPr txBox="1"/>
          <p:nvPr/>
        </p:nvSpPr>
        <p:spPr>
          <a:xfrm>
            <a:off x="8477369" y="3698375"/>
            <a:ext cx="1569660" cy="461665"/>
          </a:xfrm>
          <a:prstGeom prst="rect">
            <a:avLst/>
          </a:prstGeom>
          <a:noFill/>
        </p:spPr>
        <p:txBody>
          <a:bodyPr wrap="none" rtlCol="0">
            <a:spAutoFit/>
          </a:bodyPr>
          <a:lstStyle/>
          <a:p>
            <a:r>
              <a:rPr lang="zh-CN" altLang="en-US" sz="2400" b="1" spc="300" dirty="0">
                <a:solidFill>
                  <a:srgbClr val="231E1F"/>
                </a:solidFill>
                <a:cs typeface="+mn-ea"/>
                <a:sym typeface="+mn-lt"/>
              </a:rPr>
              <a:t>效果展示</a:t>
            </a:r>
          </a:p>
        </p:txBody>
      </p:sp>
      <p:sp>
        <p:nvSpPr>
          <p:cNvPr id="15" name="矩形 14"/>
          <p:cNvSpPr/>
          <p:nvPr/>
        </p:nvSpPr>
        <p:spPr>
          <a:xfrm>
            <a:off x="8088839" y="4085171"/>
            <a:ext cx="2271776" cy="275588"/>
          </a:xfrm>
          <a:prstGeom prst="rect">
            <a:avLst/>
          </a:prstGeom>
        </p:spPr>
        <p:txBody>
          <a:bodyPr wrap="square">
            <a:spAutoFit/>
          </a:bodyPr>
          <a:lstStyle/>
          <a:p>
            <a:pPr algn="ctr">
              <a:lnSpc>
                <a:spcPct val="150000"/>
              </a:lnSpc>
            </a:pPr>
            <a:r>
              <a:rPr lang="en-US" altLang="ko-KR" sz="900" dirty="0">
                <a:solidFill>
                  <a:schemeClr val="tx1">
                    <a:lumMod val="50000"/>
                    <a:lumOff val="50000"/>
                  </a:schemeClr>
                </a:solidFill>
                <a:cs typeface="+mn-ea"/>
                <a:sym typeface="+mn-lt"/>
              </a:rPr>
              <a:t>Program effect display</a:t>
            </a:r>
          </a:p>
        </p:txBody>
      </p:sp>
      <p:sp>
        <p:nvSpPr>
          <p:cNvPr id="16" name="文本框 15"/>
          <p:cNvSpPr txBox="1"/>
          <p:nvPr/>
        </p:nvSpPr>
        <p:spPr>
          <a:xfrm>
            <a:off x="7211957" y="3720626"/>
            <a:ext cx="768850" cy="584775"/>
          </a:xfrm>
          <a:prstGeom prst="rect">
            <a:avLst/>
          </a:prstGeom>
          <a:noFill/>
        </p:spPr>
        <p:txBody>
          <a:bodyPr wrap="square" rtlCol="0">
            <a:spAutoFit/>
          </a:bodyPr>
          <a:lstStyle>
            <a:defPPr>
              <a:defRPr lang="zh-CN"/>
            </a:defPPr>
            <a:lvl1pPr algn="r">
              <a:defRPr sz="4000"/>
            </a:lvl1pPr>
          </a:lstStyle>
          <a:p>
            <a:pPr algn="ctr"/>
            <a:r>
              <a:rPr lang="en-US" altLang="zh-CN" sz="3200" dirty="0">
                <a:solidFill>
                  <a:schemeClr val="tx1">
                    <a:lumMod val="95000"/>
                    <a:lumOff val="5000"/>
                  </a:schemeClr>
                </a:solidFill>
                <a:cs typeface="+mn-ea"/>
                <a:sym typeface="+mn-lt"/>
              </a:rPr>
              <a:t>04</a:t>
            </a:r>
            <a:endParaRPr lang="zh-CN" altLang="en-US" sz="3200" dirty="0">
              <a:solidFill>
                <a:schemeClr val="tx1">
                  <a:lumMod val="95000"/>
                  <a:lumOff val="5000"/>
                </a:schemeClr>
              </a:solidFill>
              <a:cs typeface="+mn-ea"/>
              <a:sym typeface="+mn-lt"/>
            </a:endParaRPr>
          </a:p>
        </p:txBody>
      </p:sp>
      <p:sp>
        <p:nvSpPr>
          <p:cNvPr id="17" name="椭圆 16"/>
          <p:cNvSpPr/>
          <p:nvPr/>
        </p:nvSpPr>
        <p:spPr>
          <a:xfrm>
            <a:off x="7937263" y="3950979"/>
            <a:ext cx="138186" cy="138186"/>
          </a:xfrm>
          <a:prstGeom prst="ellipse">
            <a:avLst/>
          </a:prstGeom>
          <a:solidFill>
            <a:srgbClr val="92A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文本框 17"/>
          <p:cNvSpPr txBox="1"/>
          <p:nvPr/>
        </p:nvSpPr>
        <p:spPr>
          <a:xfrm>
            <a:off x="5399335" y="791623"/>
            <a:ext cx="1393330" cy="769441"/>
          </a:xfrm>
          <a:prstGeom prst="rect">
            <a:avLst/>
          </a:prstGeom>
          <a:noFill/>
        </p:spPr>
        <p:txBody>
          <a:bodyPr wrap="none" rtlCol="0">
            <a:spAutoFit/>
          </a:bodyPr>
          <a:lstStyle/>
          <a:p>
            <a:pPr algn="ctr"/>
            <a:r>
              <a:rPr lang="zh-CN" altLang="en-US" sz="4400" b="1" spc="300" dirty="0">
                <a:solidFill>
                  <a:schemeClr val="bg1"/>
                </a:solidFill>
                <a:cs typeface="+mn-ea"/>
                <a:sym typeface="+mn-lt"/>
              </a:rPr>
              <a:t>目录</a:t>
            </a:r>
          </a:p>
        </p:txBody>
      </p:sp>
      <p:sp>
        <p:nvSpPr>
          <p:cNvPr id="19" name="文本框 18"/>
          <p:cNvSpPr txBox="1"/>
          <p:nvPr/>
        </p:nvSpPr>
        <p:spPr>
          <a:xfrm>
            <a:off x="4920343" y="1580892"/>
            <a:ext cx="2351314" cy="400110"/>
          </a:xfrm>
          <a:prstGeom prst="rect">
            <a:avLst/>
          </a:prstGeom>
          <a:noFill/>
        </p:spPr>
        <p:txBody>
          <a:bodyPr wrap="square" rtlCol="0">
            <a:spAutoFit/>
          </a:bodyPr>
          <a:lstStyle>
            <a:defPPr>
              <a:defRPr lang="zh-CN"/>
            </a:defPPr>
            <a:lvl1pPr algn="r">
              <a:defRPr sz="4000"/>
            </a:lvl1pPr>
          </a:lstStyle>
          <a:p>
            <a:pPr algn="ctr"/>
            <a:r>
              <a:rPr lang="en-US" altLang="zh-CN" sz="2000" dirty="0">
                <a:solidFill>
                  <a:schemeClr val="tx1">
                    <a:lumMod val="95000"/>
                    <a:lumOff val="5000"/>
                  </a:schemeClr>
                </a:solidFill>
                <a:cs typeface="+mn-ea"/>
                <a:sym typeface="+mn-lt"/>
              </a:rPr>
              <a:t>CONTENTS</a:t>
            </a:r>
            <a:endParaRPr lang="zh-CN" altLang="en-US" sz="2000" dirty="0">
              <a:solidFill>
                <a:schemeClr val="tx1">
                  <a:lumMod val="95000"/>
                  <a:lumOff val="5000"/>
                </a:schemeClr>
              </a:solidFill>
              <a:cs typeface="+mn-ea"/>
              <a:sym typeface="+mn-lt"/>
            </a:endParaRPr>
          </a:p>
        </p:txBody>
      </p:sp>
      <p:sp>
        <p:nvSpPr>
          <p:cNvPr id="20" name="文本框 19"/>
          <p:cNvSpPr txBox="1"/>
          <p:nvPr/>
        </p:nvSpPr>
        <p:spPr>
          <a:xfrm>
            <a:off x="3000726" y="5127502"/>
            <a:ext cx="1569660" cy="461665"/>
          </a:xfrm>
          <a:prstGeom prst="rect">
            <a:avLst/>
          </a:prstGeom>
          <a:noFill/>
        </p:spPr>
        <p:txBody>
          <a:bodyPr wrap="none" rtlCol="0">
            <a:spAutoFit/>
          </a:bodyPr>
          <a:lstStyle/>
          <a:p>
            <a:r>
              <a:rPr lang="zh-CN" altLang="en-US" sz="2400" b="1" spc="300" dirty="0">
                <a:solidFill>
                  <a:srgbClr val="231E1F"/>
                </a:solidFill>
                <a:cs typeface="+mn-ea"/>
                <a:sym typeface="+mn-lt"/>
              </a:rPr>
              <a:t>主要难点</a:t>
            </a:r>
          </a:p>
        </p:txBody>
      </p:sp>
      <p:sp>
        <p:nvSpPr>
          <p:cNvPr id="21" name="矩形 20"/>
          <p:cNvSpPr/>
          <p:nvPr/>
        </p:nvSpPr>
        <p:spPr>
          <a:xfrm>
            <a:off x="2421391" y="5473424"/>
            <a:ext cx="2271776" cy="275588"/>
          </a:xfrm>
          <a:prstGeom prst="rect">
            <a:avLst/>
          </a:prstGeom>
        </p:spPr>
        <p:txBody>
          <a:bodyPr wrap="square">
            <a:spAutoFit/>
          </a:bodyPr>
          <a:lstStyle/>
          <a:p>
            <a:pPr algn="ctr">
              <a:lnSpc>
                <a:spcPct val="150000"/>
              </a:lnSpc>
            </a:pPr>
            <a:r>
              <a:rPr lang="en-US" altLang="ko-KR" sz="900" dirty="0">
                <a:solidFill>
                  <a:schemeClr val="tx1">
                    <a:lumMod val="50000"/>
                    <a:lumOff val="50000"/>
                  </a:schemeClr>
                </a:solidFill>
                <a:cs typeface="+mn-ea"/>
                <a:sym typeface="+mn-lt"/>
              </a:rPr>
              <a:t>Major Difficulties</a:t>
            </a:r>
          </a:p>
        </p:txBody>
      </p:sp>
      <p:sp>
        <p:nvSpPr>
          <p:cNvPr id="22" name="文本框 21"/>
          <p:cNvSpPr txBox="1"/>
          <p:nvPr/>
        </p:nvSpPr>
        <p:spPr>
          <a:xfrm>
            <a:off x="1789104" y="5126657"/>
            <a:ext cx="768850" cy="584775"/>
          </a:xfrm>
          <a:prstGeom prst="rect">
            <a:avLst/>
          </a:prstGeom>
          <a:noFill/>
        </p:spPr>
        <p:txBody>
          <a:bodyPr wrap="square" rtlCol="0">
            <a:spAutoFit/>
          </a:bodyPr>
          <a:lstStyle>
            <a:defPPr>
              <a:defRPr lang="zh-CN"/>
            </a:defPPr>
            <a:lvl1pPr algn="r">
              <a:defRPr sz="4000"/>
            </a:lvl1pPr>
          </a:lstStyle>
          <a:p>
            <a:pPr algn="ctr"/>
            <a:r>
              <a:rPr lang="en-US" altLang="zh-CN" sz="3200" dirty="0">
                <a:solidFill>
                  <a:schemeClr val="tx1">
                    <a:lumMod val="95000"/>
                    <a:lumOff val="5000"/>
                  </a:schemeClr>
                </a:solidFill>
                <a:cs typeface="+mn-ea"/>
                <a:sym typeface="+mn-lt"/>
              </a:rPr>
              <a:t>05</a:t>
            </a:r>
            <a:endParaRPr lang="zh-CN" altLang="en-US" sz="3200" dirty="0">
              <a:solidFill>
                <a:schemeClr val="tx1">
                  <a:lumMod val="95000"/>
                  <a:lumOff val="5000"/>
                </a:schemeClr>
              </a:solidFill>
              <a:cs typeface="+mn-ea"/>
              <a:sym typeface="+mn-lt"/>
            </a:endParaRPr>
          </a:p>
        </p:txBody>
      </p:sp>
      <p:sp>
        <p:nvSpPr>
          <p:cNvPr id="23" name="椭圆 22"/>
          <p:cNvSpPr/>
          <p:nvPr/>
        </p:nvSpPr>
        <p:spPr>
          <a:xfrm>
            <a:off x="2514410" y="5357010"/>
            <a:ext cx="138186" cy="138186"/>
          </a:xfrm>
          <a:prstGeom prst="ellipse">
            <a:avLst/>
          </a:prstGeom>
          <a:solidFill>
            <a:srgbClr val="92A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504628" y="5055302"/>
            <a:ext cx="1007007" cy="461665"/>
          </a:xfrm>
          <a:prstGeom prst="rect">
            <a:avLst/>
          </a:prstGeom>
          <a:noFill/>
        </p:spPr>
        <p:txBody>
          <a:bodyPr wrap="none" rtlCol="0">
            <a:spAutoFit/>
          </a:bodyPr>
          <a:lstStyle/>
          <a:p>
            <a:r>
              <a:rPr lang="zh-CN" altLang="en-US" sz="2400" b="1" spc="300" dirty="0">
                <a:solidFill>
                  <a:srgbClr val="231E1F"/>
                </a:solidFill>
                <a:cs typeface="+mn-ea"/>
                <a:sym typeface="+mn-lt"/>
              </a:rPr>
              <a:t>总结 </a:t>
            </a:r>
          </a:p>
        </p:txBody>
      </p:sp>
      <p:sp>
        <p:nvSpPr>
          <p:cNvPr id="25" name="矩形 24"/>
          <p:cNvSpPr/>
          <p:nvPr/>
        </p:nvSpPr>
        <p:spPr>
          <a:xfrm>
            <a:off x="7775253" y="5412535"/>
            <a:ext cx="2271776" cy="275588"/>
          </a:xfrm>
          <a:prstGeom prst="rect">
            <a:avLst/>
          </a:prstGeom>
        </p:spPr>
        <p:txBody>
          <a:bodyPr wrap="square">
            <a:spAutoFit/>
          </a:bodyPr>
          <a:lstStyle/>
          <a:p>
            <a:pPr algn="ctr">
              <a:lnSpc>
                <a:spcPct val="150000"/>
              </a:lnSpc>
            </a:pPr>
            <a:r>
              <a:rPr lang="en-US" altLang="ko-KR" sz="900" dirty="0">
                <a:solidFill>
                  <a:schemeClr val="tx1">
                    <a:lumMod val="50000"/>
                    <a:lumOff val="50000"/>
                  </a:schemeClr>
                </a:solidFill>
                <a:cs typeface="+mn-ea"/>
                <a:sym typeface="+mn-lt"/>
              </a:rPr>
              <a:t>conclusion</a:t>
            </a:r>
          </a:p>
        </p:txBody>
      </p:sp>
      <p:sp>
        <p:nvSpPr>
          <p:cNvPr id="26" name="文本框 25"/>
          <p:cNvSpPr txBox="1"/>
          <p:nvPr/>
        </p:nvSpPr>
        <p:spPr>
          <a:xfrm>
            <a:off x="7211957" y="5055782"/>
            <a:ext cx="768850" cy="584775"/>
          </a:xfrm>
          <a:prstGeom prst="rect">
            <a:avLst/>
          </a:prstGeom>
          <a:noFill/>
        </p:spPr>
        <p:txBody>
          <a:bodyPr wrap="square" rtlCol="0">
            <a:spAutoFit/>
          </a:bodyPr>
          <a:lstStyle>
            <a:defPPr>
              <a:defRPr lang="zh-CN"/>
            </a:defPPr>
            <a:lvl1pPr algn="r">
              <a:defRPr sz="4000"/>
            </a:lvl1pPr>
          </a:lstStyle>
          <a:p>
            <a:pPr algn="ctr"/>
            <a:r>
              <a:rPr lang="en-US" altLang="zh-CN" sz="3200" dirty="0">
                <a:solidFill>
                  <a:schemeClr val="tx1">
                    <a:lumMod val="95000"/>
                    <a:lumOff val="5000"/>
                  </a:schemeClr>
                </a:solidFill>
                <a:cs typeface="+mn-ea"/>
                <a:sym typeface="+mn-lt"/>
              </a:rPr>
              <a:t>06</a:t>
            </a:r>
            <a:endParaRPr lang="zh-CN" altLang="en-US" sz="3200" dirty="0">
              <a:solidFill>
                <a:schemeClr val="tx1">
                  <a:lumMod val="95000"/>
                  <a:lumOff val="5000"/>
                </a:schemeClr>
              </a:solidFill>
              <a:cs typeface="+mn-ea"/>
              <a:sym typeface="+mn-lt"/>
            </a:endParaRPr>
          </a:p>
        </p:txBody>
      </p:sp>
      <p:sp>
        <p:nvSpPr>
          <p:cNvPr id="27" name="椭圆 26"/>
          <p:cNvSpPr/>
          <p:nvPr/>
        </p:nvSpPr>
        <p:spPr>
          <a:xfrm>
            <a:off x="7937263" y="5286135"/>
            <a:ext cx="138186" cy="138186"/>
          </a:xfrm>
          <a:prstGeom prst="ellipse">
            <a:avLst/>
          </a:prstGeom>
          <a:solidFill>
            <a:srgbClr val="92A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36157" y="4127316"/>
            <a:ext cx="3922353" cy="338554"/>
          </a:xfrm>
          <a:prstGeom prst="rect">
            <a:avLst/>
          </a:prstGeom>
        </p:spPr>
        <p:txBody>
          <a:bodyPr wrap="square">
            <a:spAutoFit/>
          </a:bodyPr>
          <a:lstStyle/>
          <a:p>
            <a:pPr algn="dist"/>
            <a:r>
              <a:rPr lang="en-US" altLang="zh-CN" sz="1600" dirty="0">
                <a:solidFill>
                  <a:srgbClr val="92A3B8"/>
                </a:solidFill>
                <a:cs typeface="+mn-ea"/>
                <a:sym typeface="+mn-lt"/>
              </a:rPr>
              <a:t>Background of the Project</a:t>
            </a:r>
          </a:p>
        </p:txBody>
      </p:sp>
      <p:sp>
        <p:nvSpPr>
          <p:cNvPr id="4" name="文本框 3"/>
          <p:cNvSpPr txBox="1"/>
          <p:nvPr/>
        </p:nvSpPr>
        <p:spPr>
          <a:xfrm>
            <a:off x="3464396" y="3296320"/>
            <a:ext cx="2595582" cy="769441"/>
          </a:xfrm>
          <a:prstGeom prst="rect">
            <a:avLst/>
          </a:prstGeom>
          <a:noFill/>
        </p:spPr>
        <p:txBody>
          <a:bodyPr wrap="none" rtlCol="0">
            <a:spAutoFit/>
          </a:bodyPr>
          <a:lstStyle/>
          <a:p>
            <a:pPr algn="ctr"/>
            <a:r>
              <a:rPr lang="zh-CN" altLang="en-US" sz="4400" spc="300" dirty="0">
                <a:solidFill>
                  <a:srgbClr val="4A5A69"/>
                </a:solidFill>
                <a:cs typeface="+mn-ea"/>
                <a:sym typeface="+mn-lt"/>
              </a:rPr>
              <a:t>项目背景</a:t>
            </a:r>
          </a:p>
        </p:txBody>
      </p:sp>
      <p:sp>
        <p:nvSpPr>
          <p:cNvPr id="8" name="文本框 7"/>
          <p:cNvSpPr txBox="1"/>
          <p:nvPr/>
        </p:nvSpPr>
        <p:spPr>
          <a:xfrm>
            <a:off x="2736157" y="2529773"/>
            <a:ext cx="2830181" cy="769441"/>
          </a:xfrm>
          <a:prstGeom prst="rect">
            <a:avLst/>
          </a:prstGeom>
          <a:noFill/>
        </p:spPr>
        <p:txBody>
          <a:bodyPr wrap="square" rtlCol="0">
            <a:spAutoFit/>
          </a:bodyPr>
          <a:lstStyle>
            <a:defPPr>
              <a:defRPr lang="zh-CN"/>
            </a:defPPr>
            <a:lvl1pPr algn="r">
              <a:defRPr sz="4000"/>
            </a:lvl1pPr>
          </a:lstStyle>
          <a:p>
            <a:pPr algn="l"/>
            <a:r>
              <a:rPr lang="en-US" altLang="zh-CN" sz="4400" dirty="0">
                <a:solidFill>
                  <a:srgbClr val="92A3B8"/>
                </a:solidFill>
                <a:cs typeface="+mn-ea"/>
                <a:sym typeface="+mn-lt"/>
              </a:rPr>
              <a:t>PART 01</a:t>
            </a:r>
            <a:endParaRPr lang="zh-CN" altLang="en-US" sz="4400" dirty="0">
              <a:solidFill>
                <a:srgbClr val="92A3B8"/>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61209" y="297880"/>
            <a:ext cx="2236510" cy="707886"/>
          </a:xfrm>
          <a:prstGeom prst="rect">
            <a:avLst/>
          </a:prstGeom>
          <a:noFill/>
        </p:spPr>
        <p:txBody>
          <a:bodyPr wrap="none" rtlCol="0">
            <a:spAutoFit/>
          </a:bodyPr>
          <a:lstStyle/>
          <a:p>
            <a:pPr algn="ctr"/>
            <a:r>
              <a:rPr lang="zh-CN" altLang="en-US" sz="4000" dirty="0">
                <a:solidFill>
                  <a:srgbClr val="4A5A69"/>
                </a:solidFill>
                <a:cs typeface="+mn-ea"/>
                <a:sym typeface="+mn-lt"/>
              </a:rPr>
              <a:t>项目背景</a:t>
            </a:r>
          </a:p>
        </p:txBody>
      </p:sp>
      <p:sp>
        <p:nvSpPr>
          <p:cNvPr id="6" name="矩形 5"/>
          <p:cNvSpPr/>
          <p:nvPr/>
        </p:nvSpPr>
        <p:spPr>
          <a:xfrm>
            <a:off x="4357337" y="855540"/>
            <a:ext cx="3244254" cy="338554"/>
          </a:xfrm>
          <a:prstGeom prst="rect">
            <a:avLst/>
          </a:prstGeom>
        </p:spPr>
        <p:txBody>
          <a:bodyPr wrap="square">
            <a:spAutoFit/>
          </a:bodyPr>
          <a:lstStyle/>
          <a:p>
            <a:pPr algn="ctr"/>
            <a:r>
              <a:rPr lang="en-US" altLang="zh-CN" sz="1600" dirty="0">
                <a:solidFill>
                  <a:srgbClr val="92A3B8"/>
                </a:solidFill>
                <a:cs typeface="+mn-ea"/>
                <a:sym typeface="+mn-lt"/>
              </a:rPr>
              <a:t>Project Background</a:t>
            </a:r>
            <a:endParaRPr lang="zh-CN" altLang="en-US" sz="1600" dirty="0">
              <a:solidFill>
                <a:srgbClr val="92A3B8"/>
              </a:solidFill>
              <a:cs typeface="+mn-ea"/>
              <a:sym typeface="+mn-lt"/>
            </a:endParaRPr>
          </a:p>
        </p:txBody>
      </p:sp>
      <p:sp>
        <p:nvSpPr>
          <p:cNvPr id="2" name="文本框 1"/>
          <p:cNvSpPr txBox="1"/>
          <p:nvPr/>
        </p:nvSpPr>
        <p:spPr>
          <a:xfrm>
            <a:off x="1416424" y="1299633"/>
            <a:ext cx="9493624" cy="4893647"/>
          </a:xfrm>
          <a:prstGeom prst="rect">
            <a:avLst/>
          </a:prstGeom>
          <a:noFill/>
        </p:spPr>
        <p:txBody>
          <a:bodyPr wrap="square" rtlCol="0">
            <a:spAutoFit/>
          </a:bodyPr>
          <a:lstStyle/>
          <a:p>
            <a:r>
              <a:rPr lang="zh-CN" altLang="en-US" sz="2400" dirty="0"/>
              <a:t>       对于数字图像，极易在传输过程中受到噪声干扰甚至恶意篡改，并且可能导致关键像素信息缺失，同时，在某些应用场合下，对于数字图像的完整性与真实性有较高要求，因此需要对于图像的完整性进行检验，同时进行一定程度的图像恢复。</a:t>
            </a:r>
            <a:endParaRPr lang="en-US" altLang="zh-CN" sz="2400" dirty="0"/>
          </a:p>
          <a:p>
            <a:r>
              <a:rPr lang="en-US" altLang="zh-CN" sz="2400" dirty="0"/>
              <a:t>       </a:t>
            </a:r>
            <a:r>
              <a:rPr lang="zh-CN" altLang="en-US" sz="2400" dirty="0"/>
              <a:t>本项目</a:t>
            </a:r>
            <a:r>
              <a:rPr lang="zh-CN" altLang="en-US" sz="2400" dirty="0">
                <a:solidFill>
                  <a:srgbClr val="FF0000"/>
                </a:solidFill>
              </a:rPr>
              <a:t>使用了一种具有自恢复能力与篡改定位能力的可逆信息嵌入方案</a:t>
            </a:r>
            <a:r>
              <a:rPr lang="zh-CN" altLang="en-US" sz="2400" dirty="0"/>
              <a:t>，通过该方案能够</a:t>
            </a:r>
            <a:r>
              <a:rPr lang="zh-CN" altLang="en-US" sz="2400" dirty="0">
                <a:solidFill>
                  <a:srgbClr val="FF0000"/>
                </a:solidFill>
              </a:rPr>
              <a:t>实现对图像完整性的认证，并且在图像受到篡改的情况下进行图像自修复</a:t>
            </a:r>
            <a:r>
              <a:rPr lang="zh-CN" altLang="en-US" sz="2400" dirty="0"/>
              <a:t>。</a:t>
            </a:r>
            <a:endParaRPr lang="en-US" altLang="zh-CN" sz="2400" dirty="0"/>
          </a:p>
          <a:p>
            <a:r>
              <a:rPr lang="en-US" altLang="zh-CN" sz="2400" dirty="0"/>
              <a:t>       </a:t>
            </a:r>
            <a:r>
              <a:rPr lang="zh-CN" altLang="en-US" sz="2400" dirty="0"/>
              <a:t>图像的信息可逆嵌入实际上属于可逆水印技术的范畴，在此基础上将图像原有信息进行一定的空间加密后通过可逆水印嵌入至原图像，便给后续的图像完整性验证与修复工作提供了理论上的可行性。</a:t>
            </a:r>
            <a:endParaRPr lang="en-US" altLang="zh-CN" sz="2400" dirty="0"/>
          </a:p>
          <a:p>
            <a:r>
              <a:rPr lang="en-US" altLang="zh-CN" sz="2400" dirty="0"/>
              <a:t>       </a:t>
            </a:r>
            <a:r>
              <a:rPr lang="zh-CN" altLang="en-US" sz="2400" dirty="0"/>
              <a:t>本次课程设计围绕上述技术展开，并进行了图形界面设计，将工作重心放在代码实现技巧上，因此，我们选用传统图像可逆信息嵌入技术作为图像修复的核心算法而非直接应用已有的深度学习模型。</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51352" y="1792737"/>
            <a:ext cx="5609228" cy="769441"/>
          </a:xfrm>
          <a:prstGeom prst="rect">
            <a:avLst/>
          </a:prstGeom>
          <a:noFill/>
        </p:spPr>
        <p:txBody>
          <a:bodyPr wrap="none" rtlCol="0">
            <a:spAutoFit/>
          </a:bodyPr>
          <a:lstStyle/>
          <a:p>
            <a:pPr algn="ctr"/>
            <a:r>
              <a:rPr lang="zh-CN" altLang="en-US" sz="4400" spc="300" dirty="0">
                <a:solidFill>
                  <a:srgbClr val="4A5A69"/>
                </a:solidFill>
                <a:cs typeface="+mn-ea"/>
                <a:sym typeface="+mn-lt"/>
              </a:rPr>
              <a:t>项目原理及模块分析</a:t>
            </a:r>
          </a:p>
        </p:txBody>
      </p:sp>
      <p:sp>
        <p:nvSpPr>
          <p:cNvPr id="8" name="文本框 7"/>
          <p:cNvSpPr txBox="1"/>
          <p:nvPr/>
        </p:nvSpPr>
        <p:spPr>
          <a:xfrm>
            <a:off x="1516954" y="763723"/>
            <a:ext cx="2830181" cy="769441"/>
          </a:xfrm>
          <a:prstGeom prst="rect">
            <a:avLst/>
          </a:prstGeom>
          <a:noFill/>
        </p:spPr>
        <p:txBody>
          <a:bodyPr wrap="square" rtlCol="0">
            <a:spAutoFit/>
          </a:bodyPr>
          <a:lstStyle>
            <a:defPPr>
              <a:defRPr lang="zh-CN"/>
            </a:defPPr>
            <a:lvl1pPr algn="r">
              <a:defRPr sz="4000"/>
            </a:lvl1pPr>
          </a:lstStyle>
          <a:p>
            <a:pPr algn="l"/>
            <a:r>
              <a:rPr lang="en-US" altLang="zh-CN" sz="4400" dirty="0">
                <a:solidFill>
                  <a:srgbClr val="92A3B8"/>
                </a:solidFill>
                <a:cs typeface="+mn-ea"/>
                <a:sym typeface="+mn-lt"/>
              </a:rPr>
              <a:t>PART 02</a:t>
            </a:r>
            <a:endParaRPr lang="zh-CN" altLang="en-US" sz="4400" dirty="0">
              <a:solidFill>
                <a:srgbClr val="92A3B8"/>
              </a:solidFill>
              <a:cs typeface="+mn-ea"/>
              <a:sym typeface="+mn-lt"/>
            </a:endParaRPr>
          </a:p>
        </p:txBody>
      </p:sp>
      <p:sp>
        <p:nvSpPr>
          <p:cNvPr id="2" name="文本框 1"/>
          <p:cNvSpPr txBox="1"/>
          <p:nvPr/>
        </p:nvSpPr>
        <p:spPr>
          <a:xfrm>
            <a:off x="1642464" y="3366245"/>
            <a:ext cx="1723549" cy="461665"/>
          </a:xfrm>
          <a:prstGeom prst="rect">
            <a:avLst/>
          </a:prstGeom>
          <a:noFill/>
        </p:spPr>
        <p:txBody>
          <a:bodyPr wrap="none" rtlCol="0">
            <a:spAutoFit/>
          </a:bodyPr>
          <a:lstStyle/>
          <a:p>
            <a:pPr algn="ctr"/>
            <a:r>
              <a:rPr lang="zh-CN" altLang="en-US" sz="2400" dirty="0">
                <a:solidFill>
                  <a:srgbClr val="4A5A69"/>
                </a:solidFill>
                <a:cs typeface="+mn-ea"/>
                <a:sym typeface="+mn-lt"/>
              </a:rPr>
              <a:t>预处理模块</a:t>
            </a:r>
          </a:p>
        </p:txBody>
      </p:sp>
      <p:sp>
        <p:nvSpPr>
          <p:cNvPr id="5" name="文本框 4"/>
          <p:cNvSpPr txBox="1"/>
          <p:nvPr/>
        </p:nvSpPr>
        <p:spPr>
          <a:xfrm>
            <a:off x="1642464" y="4082159"/>
            <a:ext cx="2031325" cy="461665"/>
          </a:xfrm>
          <a:prstGeom prst="rect">
            <a:avLst/>
          </a:prstGeom>
          <a:noFill/>
        </p:spPr>
        <p:txBody>
          <a:bodyPr wrap="none" rtlCol="0">
            <a:spAutoFit/>
          </a:bodyPr>
          <a:lstStyle/>
          <a:p>
            <a:pPr algn="ctr"/>
            <a:r>
              <a:rPr lang="zh-CN" altLang="en-US" sz="2400" dirty="0">
                <a:solidFill>
                  <a:srgbClr val="4A5A69"/>
                </a:solidFill>
                <a:cs typeface="+mn-ea"/>
                <a:sym typeface="+mn-lt"/>
              </a:rPr>
              <a:t>信息嵌入模块</a:t>
            </a:r>
          </a:p>
        </p:txBody>
      </p:sp>
      <p:sp>
        <p:nvSpPr>
          <p:cNvPr id="6" name="文本框 5"/>
          <p:cNvSpPr txBox="1"/>
          <p:nvPr/>
        </p:nvSpPr>
        <p:spPr>
          <a:xfrm>
            <a:off x="1642464" y="4733944"/>
            <a:ext cx="3262432" cy="461665"/>
          </a:xfrm>
          <a:prstGeom prst="rect">
            <a:avLst/>
          </a:prstGeom>
          <a:noFill/>
        </p:spPr>
        <p:txBody>
          <a:bodyPr wrap="none" rtlCol="0">
            <a:spAutoFit/>
          </a:bodyPr>
          <a:lstStyle/>
          <a:p>
            <a:pPr algn="ctr"/>
            <a:r>
              <a:rPr lang="zh-CN" altLang="en-US" sz="2400" dirty="0">
                <a:solidFill>
                  <a:srgbClr val="4A5A69"/>
                </a:solidFill>
                <a:cs typeface="+mn-ea"/>
                <a:sym typeface="+mn-lt"/>
              </a:rPr>
              <a:t>完整性认证及修复模块</a:t>
            </a:r>
          </a:p>
        </p:txBody>
      </p:sp>
      <p:sp>
        <p:nvSpPr>
          <p:cNvPr id="7" name="文本框 6"/>
          <p:cNvSpPr txBox="1"/>
          <p:nvPr/>
        </p:nvSpPr>
        <p:spPr>
          <a:xfrm>
            <a:off x="1642464" y="5385729"/>
            <a:ext cx="2646878" cy="461665"/>
          </a:xfrm>
          <a:prstGeom prst="rect">
            <a:avLst/>
          </a:prstGeom>
          <a:noFill/>
        </p:spPr>
        <p:txBody>
          <a:bodyPr wrap="none" rtlCol="0">
            <a:spAutoFit/>
          </a:bodyPr>
          <a:lstStyle/>
          <a:p>
            <a:pPr algn="ctr"/>
            <a:r>
              <a:rPr lang="zh-CN" altLang="en-US" sz="2400" dirty="0">
                <a:solidFill>
                  <a:srgbClr val="4A5A69"/>
                </a:solidFill>
                <a:cs typeface="+mn-ea"/>
                <a:sym typeface="+mn-lt"/>
              </a:rPr>
              <a:t>用户图形界面模块</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350674" y="3180240"/>
            <a:ext cx="1723549" cy="461665"/>
          </a:xfrm>
          <a:prstGeom prst="rect">
            <a:avLst/>
          </a:prstGeom>
          <a:noFill/>
        </p:spPr>
        <p:txBody>
          <a:bodyPr wrap="none" rtlCol="0">
            <a:spAutoFit/>
          </a:bodyPr>
          <a:lstStyle/>
          <a:p>
            <a:pPr algn="ctr"/>
            <a:r>
              <a:rPr lang="zh-CN" altLang="en-US" sz="2400" dirty="0">
                <a:solidFill>
                  <a:srgbClr val="FF0000"/>
                </a:solidFill>
                <a:cs typeface="+mn-ea"/>
                <a:sym typeface="+mn-lt"/>
              </a:rPr>
              <a:t>图像索引库</a:t>
            </a:r>
          </a:p>
        </p:txBody>
      </p:sp>
      <p:sp>
        <p:nvSpPr>
          <p:cNvPr id="13" name="文本框 12"/>
          <p:cNvSpPr txBox="1"/>
          <p:nvPr/>
        </p:nvSpPr>
        <p:spPr>
          <a:xfrm>
            <a:off x="4668214" y="379118"/>
            <a:ext cx="2685352" cy="646331"/>
          </a:xfrm>
          <a:prstGeom prst="rect">
            <a:avLst/>
          </a:prstGeom>
          <a:noFill/>
        </p:spPr>
        <p:txBody>
          <a:bodyPr wrap="none" rtlCol="0">
            <a:spAutoFit/>
          </a:bodyPr>
          <a:lstStyle/>
          <a:p>
            <a:pPr algn="ctr"/>
            <a:r>
              <a:rPr lang="zh-CN" altLang="en-US" sz="3600" spc="300" dirty="0">
                <a:solidFill>
                  <a:srgbClr val="4A5A69"/>
                </a:solidFill>
                <a:cs typeface="+mn-ea"/>
                <a:sym typeface="+mn-lt"/>
              </a:rPr>
              <a:t>预处理模块</a:t>
            </a:r>
          </a:p>
        </p:txBody>
      </p:sp>
      <p:sp>
        <p:nvSpPr>
          <p:cNvPr id="14" name="箭头: 右 13"/>
          <p:cNvSpPr/>
          <p:nvPr/>
        </p:nvSpPr>
        <p:spPr>
          <a:xfrm>
            <a:off x="4154903" y="3290048"/>
            <a:ext cx="1080481" cy="25101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5" name="文本框 14"/>
          <p:cNvSpPr txBox="1"/>
          <p:nvPr/>
        </p:nvSpPr>
        <p:spPr>
          <a:xfrm>
            <a:off x="5235384" y="3178007"/>
            <a:ext cx="2035109" cy="461665"/>
          </a:xfrm>
          <a:prstGeom prst="rect">
            <a:avLst/>
          </a:prstGeom>
          <a:noFill/>
        </p:spPr>
        <p:txBody>
          <a:bodyPr wrap="none" rtlCol="0">
            <a:spAutoFit/>
          </a:bodyPr>
          <a:lstStyle/>
          <a:p>
            <a:pPr algn="ctr"/>
            <a:r>
              <a:rPr lang="en-US" altLang="zh-CN" sz="2400" dirty="0" err="1">
                <a:solidFill>
                  <a:srgbClr val="4A5A69"/>
                </a:solidFill>
                <a:cs typeface="+mn-ea"/>
                <a:sym typeface="+mn-lt"/>
              </a:rPr>
              <a:t>Kmeans</a:t>
            </a:r>
            <a:r>
              <a:rPr lang="en-US" altLang="zh-CN" sz="2400" dirty="0">
                <a:solidFill>
                  <a:srgbClr val="4A5A69"/>
                </a:solidFill>
                <a:cs typeface="+mn-ea"/>
                <a:sym typeface="+mn-lt"/>
              </a:rPr>
              <a:t> </a:t>
            </a:r>
            <a:r>
              <a:rPr lang="zh-CN" altLang="en-US" sz="2400" dirty="0">
                <a:solidFill>
                  <a:srgbClr val="4A5A69"/>
                </a:solidFill>
                <a:cs typeface="+mn-ea"/>
                <a:sym typeface="+mn-lt"/>
              </a:rPr>
              <a:t>聚类</a:t>
            </a:r>
          </a:p>
        </p:txBody>
      </p:sp>
      <p:sp>
        <p:nvSpPr>
          <p:cNvPr id="16" name="文本框 15"/>
          <p:cNvSpPr txBox="1"/>
          <p:nvPr/>
        </p:nvSpPr>
        <p:spPr>
          <a:xfrm>
            <a:off x="4216161" y="4589931"/>
            <a:ext cx="4073552" cy="461665"/>
          </a:xfrm>
          <a:prstGeom prst="rect">
            <a:avLst/>
          </a:prstGeom>
          <a:noFill/>
        </p:spPr>
        <p:txBody>
          <a:bodyPr wrap="none" rtlCol="0">
            <a:spAutoFit/>
          </a:bodyPr>
          <a:lstStyle/>
          <a:p>
            <a:pPr algn="ctr"/>
            <a:r>
              <a:rPr lang="zh-CN" altLang="en-US" sz="2400" dirty="0">
                <a:solidFill>
                  <a:srgbClr val="4A5A69"/>
                </a:solidFill>
                <a:cs typeface="+mn-ea"/>
                <a:sym typeface="+mn-lt"/>
              </a:rPr>
              <a:t>（轮廓系数法定最优簇数</a:t>
            </a:r>
            <a:r>
              <a:rPr lang="en-US" altLang="zh-CN" sz="2400" dirty="0">
                <a:solidFill>
                  <a:srgbClr val="4A5A69"/>
                </a:solidFill>
                <a:cs typeface="+mn-ea"/>
                <a:sym typeface="+mn-lt"/>
              </a:rPr>
              <a:t>K</a:t>
            </a:r>
            <a:r>
              <a:rPr lang="zh-CN" altLang="en-US" sz="2400" dirty="0">
                <a:solidFill>
                  <a:srgbClr val="4A5A69"/>
                </a:solidFill>
                <a:cs typeface="+mn-ea"/>
                <a:sym typeface="+mn-lt"/>
              </a:rPr>
              <a:t>）</a:t>
            </a:r>
          </a:p>
        </p:txBody>
      </p:sp>
      <p:sp>
        <p:nvSpPr>
          <p:cNvPr id="17" name="箭头: 下 16"/>
          <p:cNvSpPr/>
          <p:nvPr/>
        </p:nvSpPr>
        <p:spPr>
          <a:xfrm flipV="1">
            <a:off x="6010890" y="3639672"/>
            <a:ext cx="242047" cy="950259"/>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8" name="箭头: 右 17"/>
          <p:cNvSpPr/>
          <p:nvPr/>
        </p:nvSpPr>
        <p:spPr>
          <a:xfrm>
            <a:off x="7366627" y="3283332"/>
            <a:ext cx="1080481" cy="25101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8587114" y="3178005"/>
            <a:ext cx="1415772" cy="461665"/>
          </a:xfrm>
          <a:prstGeom prst="rect">
            <a:avLst/>
          </a:prstGeom>
          <a:noFill/>
        </p:spPr>
        <p:txBody>
          <a:bodyPr wrap="none" rtlCol="0">
            <a:spAutoFit/>
          </a:bodyPr>
          <a:lstStyle/>
          <a:p>
            <a:pPr algn="ctr"/>
            <a:r>
              <a:rPr lang="zh-CN" altLang="en-US" sz="2400" dirty="0">
                <a:solidFill>
                  <a:srgbClr val="FF0000"/>
                </a:solidFill>
                <a:cs typeface="+mn-ea"/>
                <a:sym typeface="+mn-lt"/>
              </a:rPr>
              <a:t>簇心数据</a:t>
            </a:r>
          </a:p>
        </p:txBody>
      </p:sp>
      <p:sp>
        <p:nvSpPr>
          <p:cNvPr id="21" name="文本框 20"/>
          <p:cNvSpPr txBox="1"/>
          <p:nvPr/>
        </p:nvSpPr>
        <p:spPr>
          <a:xfrm>
            <a:off x="1289622" y="1487114"/>
            <a:ext cx="9460467" cy="646331"/>
          </a:xfrm>
          <a:prstGeom prst="rect">
            <a:avLst/>
          </a:prstGeom>
          <a:noFill/>
        </p:spPr>
        <p:txBody>
          <a:bodyPr wrap="square" rtlCol="0">
            <a:spAutoFit/>
          </a:bodyPr>
          <a:lstStyle/>
          <a:p>
            <a:r>
              <a:rPr lang="en-US" altLang="zh-CN" dirty="0"/>
              <a:t>       </a:t>
            </a:r>
            <a:r>
              <a:rPr lang="zh-CN" altLang="en-US" dirty="0"/>
              <a:t>该模块使用</a:t>
            </a:r>
            <a:r>
              <a:rPr lang="en-US" altLang="zh-CN" b="1" dirty="0" err="1"/>
              <a:t>sklearn</a:t>
            </a:r>
            <a:r>
              <a:rPr lang="zh-CN" altLang="en-US" dirty="0"/>
              <a:t>库中</a:t>
            </a:r>
            <a:r>
              <a:rPr lang="en-US" altLang="zh-CN" b="1" dirty="0"/>
              <a:t>cluster</a:t>
            </a:r>
            <a:r>
              <a:rPr lang="zh-CN" altLang="en-US" dirty="0"/>
              <a:t>包下的</a:t>
            </a:r>
            <a:r>
              <a:rPr lang="en-US" altLang="zh-CN" b="1" dirty="0" err="1"/>
              <a:t>Kmeans</a:t>
            </a:r>
            <a:r>
              <a:rPr lang="zh-CN" altLang="en-US" dirty="0"/>
              <a:t>类对差值图形索引库进行聚类，得到每一簇的簇心坐标，以此为依据确定后续分割图像块的索引值以及修复特征值。</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446729" y="2055560"/>
            <a:ext cx="1415772" cy="461665"/>
          </a:xfrm>
          <a:prstGeom prst="rect">
            <a:avLst/>
          </a:prstGeom>
          <a:noFill/>
        </p:spPr>
        <p:txBody>
          <a:bodyPr wrap="none" rtlCol="0">
            <a:spAutoFit/>
          </a:bodyPr>
          <a:lstStyle/>
          <a:p>
            <a:pPr algn="ctr"/>
            <a:r>
              <a:rPr lang="zh-CN" altLang="en-US" sz="2400" dirty="0">
                <a:solidFill>
                  <a:srgbClr val="FF0000"/>
                </a:solidFill>
                <a:cs typeface="+mn-ea"/>
                <a:sym typeface="+mn-lt"/>
              </a:rPr>
              <a:t>原始图像</a:t>
            </a:r>
          </a:p>
        </p:txBody>
      </p:sp>
      <p:sp>
        <p:nvSpPr>
          <p:cNvPr id="13" name="文本框 12"/>
          <p:cNvSpPr txBox="1"/>
          <p:nvPr/>
        </p:nvSpPr>
        <p:spPr>
          <a:xfrm>
            <a:off x="4418149" y="379118"/>
            <a:ext cx="3185487" cy="646331"/>
          </a:xfrm>
          <a:prstGeom prst="rect">
            <a:avLst/>
          </a:prstGeom>
          <a:noFill/>
        </p:spPr>
        <p:txBody>
          <a:bodyPr wrap="none" rtlCol="0">
            <a:spAutoFit/>
          </a:bodyPr>
          <a:lstStyle/>
          <a:p>
            <a:pPr algn="ctr"/>
            <a:r>
              <a:rPr lang="zh-CN" altLang="en-US" sz="3600" spc="300" dirty="0">
                <a:solidFill>
                  <a:srgbClr val="4A5A69"/>
                </a:solidFill>
                <a:cs typeface="+mn-ea"/>
                <a:sym typeface="+mn-lt"/>
              </a:rPr>
              <a:t>信息嵌入模块</a:t>
            </a:r>
          </a:p>
        </p:txBody>
      </p:sp>
      <p:sp>
        <p:nvSpPr>
          <p:cNvPr id="14" name="箭头: 右 13"/>
          <p:cNvSpPr/>
          <p:nvPr/>
        </p:nvSpPr>
        <p:spPr>
          <a:xfrm>
            <a:off x="2862501" y="2286392"/>
            <a:ext cx="1080481" cy="12550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5" name="文本框 14"/>
          <p:cNvSpPr txBox="1"/>
          <p:nvPr/>
        </p:nvSpPr>
        <p:spPr>
          <a:xfrm>
            <a:off x="3942982" y="2055559"/>
            <a:ext cx="1723549" cy="461665"/>
          </a:xfrm>
          <a:prstGeom prst="rect">
            <a:avLst/>
          </a:prstGeom>
          <a:noFill/>
        </p:spPr>
        <p:txBody>
          <a:bodyPr wrap="none" rtlCol="0">
            <a:spAutoFit/>
          </a:bodyPr>
          <a:lstStyle/>
          <a:p>
            <a:pPr algn="ctr"/>
            <a:r>
              <a:rPr lang="zh-CN" altLang="en-US" sz="2400" dirty="0">
                <a:solidFill>
                  <a:srgbClr val="4A5A69"/>
                </a:solidFill>
                <a:cs typeface="+mn-ea"/>
                <a:sym typeface="+mn-lt"/>
              </a:rPr>
              <a:t>若干图像块</a:t>
            </a:r>
          </a:p>
        </p:txBody>
      </p:sp>
      <p:sp>
        <p:nvSpPr>
          <p:cNvPr id="16" name="文本框 15"/>
          <p:cNvSpPr txBox="1"/>
          <p:nvPr/>
        </p:nvSpPr>
        <p:spPr>
          <a:xfrm>
            <a:off x="3655823" y="3596608"/>
            <a:ext cx="2339102" cy="461665"/>
          </a:xfrm>
          <a:prstGeom prst="rect">
            <a:avLst/>
          </a:prstGeom>
          <a:noFill/>
        </p:spPr>
        <p:txBody>
          <a:bodyPr wrap="none" rtlCol="0">
            <a:spAutoFit/>
          </a:bodyPr>
          <a:lstStyle/>
          <a:p>
            <a:pPr algn="ctr"/>
            <a:r>
              <a:rPr lang="zh-CN" altLang="en-US" sz="2400" dirty="0">
                <a:solidFill>
                  <a:srgbClr val="4A5A69"/>
                </a:solidFill>
                <a:cs typeface="+mn-ea"/>
                <a:sym typeface="+mn-lt"/>
              </a:rPr>
              <a:t>关联块备份信息</a:t>
            </a:r>
          </a:p>
        </p:txBody>
      </p:sp>
      <p:sp>
        <p:nvSpPr>
          <p:cNvPr id="17" name="箭头: 下 16"/>
          <p:cNvSpPr/>
          <p:nvPr/>
        </p:nvSpPr>
        <p:spPr>
          <a:xfrm>
            <a:off x="4733458" y="2538906"/>
            <a:ext cx="183831" cy="104212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8" name="箭头: 右 17"/>
          <p:cNvSpPr/>
          <p:nvPr/>
        </p:nvSpPr>
        <p:spPr>
          <a:xfrm>
            <a:off x="8003964" y="2286721"/>
            <a:ext cx="1080481" cy="133408"/>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839421" y="2055559"/>
            <a:ext cx="1107996" cy="461665"/>
          </a:xfrm>
          <a:prstGeom prst="rect">
            <a:avLst/>
          </a:prstGeom>
          <a:noFill/>
        </p:spPr>
        <p:txBody>
          <a:bodyPr wrap="none" rtlCol="0">
            <a:spAutoFit/>
          </a:bodyPr>
          <a:lstStyle/>
          <a:p>
            <a:pPr algn="ctr"/>
            <a:r>
              <a:rPr lang="zh-CN" altLang="en-US" sz="2400" dirty="0">
                <a:solidFill>
                  <a:srgbClr val="4A5A69"/>
                </a:solidFill>
                <a:cs typeface="+mn-ea"/>
                <a:sym typeface="+mn-lt"/>
              </a:rPr>
              <a:t>映射块</a:t>
            </a:r>
          </a:p>
        </p:txBody>
      </p:sp>
      <p:sp>
        <p:nvSpPr>
          <p:cNvPr id="21" name="文本框 20"/>
          <p:cNvSpPr txBox="1"/>
          <p:nvPr/>
        </p:nvSpPr>
        <p:spPr>
          <a:xfrm>
            <a:off x="1289622" y="1487114"/>
            <a:ext cx="9460467" cy="369332"/>
          </a:xfrm>
          <a:prstGeom prst="rect">
            <a:avLst/>
          </a:prstGeom>
          <a:noFill/>
        </p:spPr>
        <p:txBody>
          <a:bodyPr wrap="square" rtlCol="0">
            <a:spAutoFit/>
          </a:bodyPr>
          <a:lstStyle/>
          <a:p>
            <a:r>
              <a:rPr lang="en-US" altLang="zh-CN" dirty="0"/>
              <a:t>      </a:t>
            </a:r>
            <a:endParaRPr lang="zh-CN" altLang="en-US" dirty="0"/>
          </a:p>
        </p:txBody>
      </p:sp>
      <p:sp>
        <p:nvSpPr>
          <p:cNvPr id="2" name="文本框 1"/>
          <p:cNvSpPr txBox="1"/>
          <p:nvPr/>
        </p:nvSpPr>
        <p:spPr>
          <a:xfrm>
            <a:off x="3105224" y="1988520"/>
            <a:ext cx="595035" cy="338554"/>
          </a:xfrm>
          <a:prstGeom prst="rect">
            <a:avLst/>
          </a:prstGeom>
          <a:noFill/>
        </p:spPr>
        <p:txBody>
          <a:bodyPr wrap="none" rtlCol="0">
            <a:spAutoFit/>
          </a:bodyPr>
          <a:lstStyle/>
          <a:p>
            <a:pPr algn="ctr"/>
            <a:r>
              <a:rPr lang="zh-CN" altLang="en-US" sz="1600" dirty="0">
                <a:solidFill>
                  <a:srgbClr val="4A5A69"/>
                </a:solidFill>
                <a:cs typeface="+mn-ea"/>
                <a:sym typeface="+mn-lt"/>
              </a:rPr>
              <a:t>分块</a:t>
            </a:r>
          </a:p>
        </p:txBody>
      </p:sp>
      <p:sp>
        <p:nvSpPr>
          <p:cNvPr id="3" name="文本框 2"/>
          <p:cNvSpPr txBox="1"/>
          <p:nvPr/>
        </p:nvSpPr>
        <p:spPr>
          <a:xfrm>
            <a:off x="4864951" y="2855026"/>
            <a:ext cx="595035" cy="338554"/>
          </a:xfrm>
          <a:prstGeom prst="rect">
            <a:avLst/>
          </a:prstGeom>
          <a:noFill/>
        </p:spPr>
        <p:txBody>
          <a:bodyPr wrap="none" rtlCol="0">
            <a:spAutoFit/>
          </a:bodyPr>
          <a:lstStyle/>
          <a:p>
            <a:pPr algn="ctr"/>
            <a:r>
              <a:rPr lang="zh-CN" altLang="en-US" sz="1600" dirty="0">
                <a:solidFill>
                  <a:srgbClr val="4A5A69"/>
                </a:solidFill>
                <a:cs typeface="+mn-ea"/>
                <a:sym typeface="+mn-lt"/>
              </a:rPr>
              <a:t>均值</a:t>
            </a:r>
          </a:p>
        </p:txBody>
      </p:sp>
      <p:sp>
        <p:nvSpPr>
          <p:cNvPr id="4" name="文本框 3"/>
          <p:cNvSpPr txBox="1"/>
          <p:nvPr/>
        </p:nvSpPr>
        <p:spPr>
          <a:xfrm>
            <a:off x="4025154" y="2855026"/>
            <a:ext cx="800219" cy="338554"/>
          </a:xfrm>
          <a:prstGeom prst="rect">
            <a:avLst/>
          </a:prstGeom>
          <a:noFill/>
        </p:spPr>
        <p:txBody>
          <a:bodyPr wrap="none" rtlCol="0">
            <a:spAutoFit/>
          </a:bodyPr>
          <a:lstStyle/>
          <a:p>
            <a:pPr algn="ctr"/>
            <a:r>
              <a:rPr lang="zh-CN" altLang="en-US" sz="1600" dirty="0">
                <a:solidFill>
                  <a:srgbClr val="4A5A69"/>
                </a:solidFill>
                <a:cs typeface="+mn-ea"/>
                <a:sym typeface="+mn-lt"/>
              </a:rPr>
              <a:t>类索引</a:t>
            </a:r>
          </a:p>
        </p:txBody>
      </p:sp>
      <p:sp>
        <p:nvSpPr>
          <p:cNvPr id="5" name="箭头: 下 4"/>
          <p:cNvSpPr/>
          <p:nvPr/>
        </p:nvSpPr>
        <p:spPr>
          <a:xfrm>
            <a:off x="4733458" y="4139351"/>
            <a:ext cx="183831" cy="104212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6" name="文本框 5"/>
          <p:cNvSpPr txBox="1"/>
          <p:nvPr/>
        </p:nvSpPr>
        <p:spPr>
          <a:xfrm>
            <a:off x="4220079" y="4419991"/>
            <a:ext cx="1210588" cy="338554"/>
          </a:xfrm>
          <a:prstGeom prst="rect">
            <a:avLst/>
          </a:prstGeom>
          <a:noFill/>
        </p:spPr>
        <p:txBody>
          <a:bodyPr wrap="none" rtlCol="0">
            <a:spAutoFit/>
          </a:bodyPr>
          <a:lstStyle/>
          <a:p>
            <a:pPr algn="ctr"/>
            <a:r>
              <a:rPr lang="zh-CN" altLang="en-US" sz="1600" dirty="0">
                <a:solidFill>
                  <a:srgbClr val="4A5A69"/>
                </a:solidFill>
                <a:cs typeface="+mn-ea"/>
                <a:sym typeface="+mn-lt"/>
              </a:rPr>
              <a:t>海明码提取</a:t>
            </a:r>
          </a:p>
        </p:txBody>
      </p:sp>
      <p:sp>
        <p:nvSpPr>
          <p:cNvPr id="7" name="文本框 6"/>
          <p:cNvSpPr txBox="1"/>
          <p:nvPr/>
        </p:nvSpPr>
        <p:spPr>
          <a:xfrm>
            <a:off x="3789093" y="5262551"/>
            <a:ext cx="2031325" cy="461665"/>
          </a:xfrm>
          <a:prstGeom prst="rect">
            <a:avLst/>
          </a:prstGeom>
          <a:noFill/>
        </p:spPr>
        <p:txBody>
          <a:bodyPr wrap="none" rtlCol="0">
            <a:spAutoFit/>
          </a:bodyPr>
          <a:lstStyle/>
          <a:p>
            <a:pPr algn="ctr"/>
            <a:r>
              <a:rPr lang="zh-CN" altLang="en-US" sz="2400" dirty="0">
                <a:solidFill>
                  <a:srgbClr val="4A5A69"/>
                </a:solidFill>
                <a:cs typeface="+mn-ea"/>
                <a:sym typeface="+mn-lt"/>
              </a:rPr>
              <a:t>认证恢复信息</a:t>
            </a:r>
          </a:p>
        </p:txBody>
      </p:sp>
      <p:sp>
        <p:nvSpPr>
          <p:cNvPr id="8" name="箭头: 右 7"/>
          <p:cNvSpPr/>
          <p:nvPr/>
        </p:nvSpPr>
        <p:spPr>
          <a:xfrm>
            <a:off x="5671651" y="2284533"/>
            <a:ext cx="1080481" cy="12550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9" name="文本框 8"/>
          <p:cNvSpPr txBox="1"/>
          <p:nvPr/>
        </p:nvSpPr>
        <p:spPr>
          <a:xfrm>
            <a:off x="5898126" y="1975061"/>
            <a:ext cx="595035" cy="338554"/>
          </a:xfrm>
          <a:prstGeom prst="rect">
            <a:avLst/>
          </a:prstGeom>
          <a:noFill/>
        </p:spPr>
        <p:txBody>
          <a:bodyPr wrap="none" rtlCol="0">
            <a:spAutoFit/>
          </a:bodyPr>
          <a:lstStyle/>
          <a:p>
            <a:pPr algn="ctr"/>
            <a:r>
              <a:rPr lang="zh-CN" altLang="en-US" sz="1600" dirty="0">
                <a:solidFill>
                  <a:srgbClr val="4A5A69"/>
                </a:solidFill>
                <a:cs typeface="+mn-ea"/>
                <a:sym typeface="+mn-lt"/>
              </a:rPr>
              <a:t>密钥</a:t>
            </a:r>
          </a:p>
        </p:txBody>
      </p:sp>
      <p:sp>
        <p:nvSpPr>
          <p:cNvPr id="10" name="箭头: 直角上 9"/>
          <p:cNvSpPr/>
          <p:nvPr/>
        </p:nvSpPr>
        <p:spPr>
          <a:xfrm>
            <a:off x="5820418" y="2501024"/>
            <a:ext cx="2875348" cy="3068011"/>
          </a:xfrm>
          <a:custGeom>
            <a:avLst/>
            <a:gdLst>
              <a:gd name="connsiteX0" fmla="*/ 0 w 2848453"/>
              <a:gd name="connsiteY0" fmla="*/ 290673 h 387564"/>
              <a:gd name="connsiteX1" fmla="*/ 2678956 w 2848453"/>
              <a:gd name="connsiteY1" fmla="*/ 290673 h 387564"/>
              <a:gd name="connsiteX2" fmla="*/ 2678956 w 2848453"/>
              <a:gd name="connsiteY2" fmla="*/ 96891 h 387564"/>
              <a:gd name="connsiteX3" fmla="*/ 2606350 w 2848453"/>
              <a:gd name="connsiteY3" fmla="*/ 96891 h 387564"/>
              <a:gd name="connsiteX4" fmla="*/ 2727401 w 2848453"/>
              <a:gd name="connsiteY4" fmla="*/ 0 h 387564"/>
              <a:gd name="connsiteX5" fmla="*/ 2848453 w 2848453"/>
              <a:gd name="connsiteY5" fmla="*/ 96891 h 387564"/>
              <a:gd name="connsiteX6" fmla="*/ 2775847 w 2848453"/>
              <a:gd name="connsiteY6" fmla="*/ 96891 h 387564"/>
              <a:gd name="connsiteX7" fmla="*/ 2775847 w 2848453"/>
              <a:gd name="connsiteY7" fmla="*/ 387564 h 387564"/>
              <a:gd name="connsiteX8" fmla="*/ 0 w 2848453"/>
              <a:gd name="connsiteY8" fmla="*/ 387564 h 387564"/>
              <a:gd name="connsiteX9" fmla="*/ 0 w 2848453"/>
              <a:gd name="connsiteY9" fmla="*/ 290673 h 387564"/>
              <a:gd name="connsiteX0-1" fmla="*/ 0 w 2848453"/>
              <a:gd name="connsiteY0-2" fmla="*/ 2874229 h 2971120"/>
              <a:gd name="connsiteX1-3" fmla="*/ 2678956 w 2848453"/>
              <a:gd name="connsiteY1-4" fmla="*/ 2874229 h 2971120"/>
              <a:gd name="connsiteX2-5" fmla="*/ 2678956 w 2848453"/>
              <a:gd name="connsiteY2-6" fmla="*/ 2680447 h 2971120"/>
              <a:gd name="connsiteX3-7" fmla="*/ 2516702 w 2848453"/>
              <a:gd name="connsiteY3-8" fmla="*/ 0 h 2971120"/>
              <a:gd name="connsiteX4-9" fmla="*/ 2727401 w 2848453"/>
              <a:gd name="connsiteY4-10" fmla="*/ 2583556 h 2971120"/>
              <a:gd name="connsiteX5-11" fmla="*/ 2848453 w 2848453"/>
              <a:gd name="connsiteY5-12" fmla="*/ 2680447 h 2971120"/>
              <a:gd name="connsiteX6-13" fmla="*/ 2775847 w 2848453"/>
              <a:gd name="connsiteY6-14" fmla="*/ 2680447 h 2971120"/>
              <a:gd name="connsiteX7-15" fmla="*/ 2775847 w 2848453"/>
              <a:gd name="connsiteY7-16" fmla="*/ 2971120 h 2971120"/>
              <a:gd name="connsiteX8-17" fmla="*/ 0 w 2848453"/>
              <a:gd name="connsiteY8-18" fmla="*/ 2971120 h 2971120"/>
              <a:gd name="connsiteX9-19" fmla="*/ 0 w 2848453"/>
              <a:gd name="connsiteY9-20" fmla="*/ 2874229 h 2971120"/>
              <a:gd name="connsiteX0-21" fmla="*/ 0 w 3099465"/>
              <a:gd name="connsiteY0-22" fmla="*/ 2883194 h 2980085"/>
              <a:gd name="connsiteX1-23" fmla="*/ 2678956 w 3099465"/>
              <a:gd name="connsiteY1-24" fmla="*/ 2883194 h 2980085"/>
              <a:gd name="connsiteX2-25" fmla="*/ 2678956 w 3099465"/>
              <a:gd name="connsiteY2-26" fmla="*/ 2689412 h 2980085"/>
              <a:gd name="connsiteX3-27" fmla="*/ 2516702 w 3099465"/>
              <a:gd name="connsiteY3-28" fmla="*/ 8965 h 2980085"/>
              <a:gd name="connsiteX4-29" fmla="*/ 2727401 w 3099465"/>
              <a:gd name="connsiteY4-30" fmla="*/ 2592521 h 2980085"/>
              <a:gd name="connsiteX5-31" fmla="*/ 3099465 w 3099465"/>
              <a:gd name="connsiteY5-32" fmla="*/ 0 h 2980085"/>
              <a:gd name="connsiteX6-33" fmla="*/ 2775847 w 3099465"/>
              <a:gd name="connsiteY6-34" fmla="*/ 2689412 h 2980085"/>
              <a:gd name="connsiteX7-35" fmla="*/ 2775847 w 3099465"/>
              <a:gd name="connsiteY7-36" fmla="*/ 2980085 h 2980085"/>
              <a:gd name="connsiteX8-37" fmla="*/ 0 w 3099465"/>
              <a:gd name="connsiteY8-38" fmla="*/ 2980085 h 2980085"/>
              <a:gd name="connsiteX9-39" fmla="*/ 0 w 3099465"/>
              <a:gd name="connsiteY9-40" fmla="*/ 2883194 h 2980085"/>
              <a:gd name="connsiteX0-41" fmla="*/ 0 w 3099465"/>
              <a:gd name="connsiteY0-42" fmla="*/ 2962155 h 3059046"/>
              <a:gd name="connsiteX1-43" fmla="*/ 2678956 w 3099465"/>
              <a:gd name="connsiteY1-44" fmla="*/ 2962155 h 3059046"/>
              <a:gd name="connsiteX2-45" fmla="*/ 2678956 w 3099465"/>
              <a:gd name="connsiteY2-46" fmla="*/ 2768373 h 3059046"/>
              <a:gd name="connsiteX3-47" fmla="*/ 2516702 w 3099465"/>
              <a:gd name="connsiteY3-48" fmla="*/ 87926 h 3059046"/>
              <a:gd name="connsiteX4-49" fmla="*/ 2745331 w 3099465"/>
              <a:gd name="connsiteY4-50" fmla="*/ 0 h 3059046"/>
              <a:gd name="connsiteX5-51" fmla="*/ 3099465 w 3099465"/>
              <a:gd name="connsiteY5-52" fmla="*/ 78961 h 3059046"/>
              <a:gd name="connsiteX6-53" fmla="*/ 2775847 w 3099465"/>
              <a:gd name="connsiteY6-54" fmla="*/ 2768373 h 3059046"/>
              <a:gd name="connsiteX7-55" fmla="*/ 2775847 w 3099465"/>
              <a:gd name="connsiteY7-56" fmla="*/ 3059046 h 3059046"/>
              <a:gd name="connsiteX8-57" fmla="*/ 0 w 3099465"/>
              <a:gd name="connsiteY8-58" fmla="*/ 3059046 h 3059046"/>
              <a:gd name="connsiteX9-59" fmla="*/ 0 w 3099465"/>
              <a:gd name="connsiteY9-60" fmla="*/ 2962155 h 3059046"/>
              <a:gd name="connsiteX0-61" fmla="*/ 0 w 3099465"/>
              <a:gd name="connsiteY0-62" fmla="*/ 2962155 h 3059046"/>
              <a:gd name="connsiteX1-63" fmla="*/ 2678956 w 3099465"/>
              <a:gd name="connsiteY1-64" fmla="*/ 2962155 h 3059046"/>
              <a:gd name="connsiteX2-65" fmla="*/ 2741709 w 3099465"/>
              <a:gd name="connsiteY2-66" fmla="*/ 213432 h 3059046"/>
              <a:gd name="connsiteX3-67" fmla="*/ 2516702 w 3099465"/>
              <a:gd name="connsiteY3-68" fmla="*/ 87926 h 3059046"/>
              <a:gd name="connsiteX4-69" fmla="*/ 2745331 w 3099465"/>
              <a:gd name="connsiteY4-70" fmla="*/ 0 h 3059046"/>
              <a:gd name="connsiteX5-71" fmla="*/ 3099465 w 3099465"/>
              <a:gd name="connsiteY5-72" fmla="*/ 78961 h 3059046"/>
              <a:gd name="connsiteX6-73" fmla="*/ 2775847 w 3099465"/>
              <a:gd name="connsiteY6-74" fmla="*/ 2768373 h 3059046"/>
              <a:gd name="connsiteX7-75" fmla="*/ 2775847 w 3099465"/>
              <a:gd name="connsiteY7-76" fmla="*/ 3059046 h 3059046"/>
              <a:gd name="connsiteX8-77" fmla="*/ 0 w 3099465"/>
              <a:gd name="connsiteY8-78" fmla="*/ 3059046 h 3059046"/>
              <a:gd name="connsiteX9-79" fmla="*/ 0 w 3099465"/>
              <a:gd name="connsiteY9-80" fmla="*/ 2962155 h 3059046"/>
              <a:gd name="connsiteX0-81" fmla="*/ 0 w 3099465"/>
              <a:gd name="connsiteY0-82" fmla="*/ 2962155 h 3059046"/>
              <a:gd name="connsiteX1-83" fmla="*/ 2678956 w 3099465"/>
              <a:gd name="connsiteY1-84" fmla="*/ 2962155 h 3059046"/>
              <a:gd name="connsiteX2-85" fmla="*/ 2741709 w 3099465"/>
              <a:gd name="connsiteY2-86" fmla="*/ 213432 h 3059046"/>
              <a:gd name="connsiteX3-87" fmla="*/ 2516702 w 3099465"/>
              <a:gd name="connsiteY3-88" fmla="*/ 87926 h 3059046"/>
              <a:gd name="connsiteX4-89" fmla="*/ 2745331 w 3099465"/>
              <a:gd name="connsiteY4-90" fmla="*/ 0 h 3059046"/>
              <a:gd name="connsiteX5-91" fmla="*/ 3099465 w 3099465"/>
              <a:gd name="connsiteY5-92" fmla="*/ 78961 h 3059046"/>
              <a:gd name="connsiteX6-93" fmla="*/ 2874459 w 3099465"/>
              <a:gd name="connsiteY6-94" fmla="*/ 132749 h 3059046"/>
              <a:gd name="connsiteX7-95" fmla="*/ 2775847 w 3099465"/>
              <a:gd name="connsiteY7-96" fmla="*/ 3059046 h 3059046"/>
              <a:gd name="connsiteX8-97" fmla="*/ 0 w 3099465"/>
              <a:gd name="connsiteY8-98" fmla="*/ 3059046 h 3059046"/>
              <a:gd name="connsiteX9-99" fmla="*/ 0 w 3099465"/>
              <a:gd name="connsiteY9-100" fmla="*/ 2962155 h 3059046"/>
              <a:gd name="connsiteX0-101" fmla="*/ 0 w 3099465"/>
              <a:gd name="connsiteY0-102" fmla="*/ 2962155 h 3059046"/>
              <a:gd name="connsiteX1-103" fmla="*/ 2678956 w 3099465"/>
              <a:gd name="connsiteY1-104" fmla="*/ 2962155 h 3059046"/>
              <a:gd name="connsiteX2-105" fmla="*/ 2678956 w 3099465"/>
              <a:gd name="connsiteY2-106" fmla="*/ 61032 h 3059046"/>
              <a:gd name="connsiteX3-107" fmla="*/ 2516702 w 3099465"/>
              <a:gd name="connsiteY3-108" fmla="*/ 87926 h 3059046"/>
              <a:gd name="connsiteX4-109" fmla="*/ 2745331 w 3099465"/>
              <a:gd name="connsiteY4-110" fmla="*/ 0 h 3059046"/>
              <a:gd name="connsiteX5-111" fmla="*/ 3099465 w 3099465"/>
              <a:gd name="connsiteY5-112" fmla="*/ 78961 h 3059046"/>
              <a:gd name="connsiteX6-113" fmla="*/ 2874459 w 3099465"/>
              <a:gd name="connsiteY6-114" fmla="*/ 132749 h 3059046"/>
              <a:gd name="connsiteX7-115" fmla="*/ 2775847 w 3099465"/>
              <a:gd name="connsiteY7-116" fmla="*/ 3059046 h 3059046"/>
              <a:gd name="connsiteX8-117" fmla="*/ 0 w 3099465"/>
              <a:gd name="connsiteY8-118" fmla="*/ 3059046 h 3059046"/>
              <a:gd name="connsiteX9-119" fmla="*/ 0 w 3099465"/>
              <a:gd name="connsiteY9-120" fmla="*/ 2962155 h 3059046"/>
              <a:gd name="connsiteX0-121" fmla="*/ 0 w 3099465"/>
              <a:gd name="connsiteY0-122" fmla="*/ 2962155 h 3059046"/>
              <a:gd name="connsiteX1-123" fmla="*/ 2678956 w 3099465"/>
              <a:gd name="connsiteY1-124" fmla="*/ 2962155 h 3059046"/>
              <a:gd name="connsiteX2-125" fmla="*/ 2678956 w 3099465"/>
              <a:gd name="connsiteY2-126" fmla="*/ 61032 h 3059046"/>
              <a:gd name="connsiteX3-127" fmla="*/ 2516702 w 3099465"/>
              <a:gd name="connsiteY3-128" fmla="*/ 87926 h 3059046"/>
              <a:gd name="connsiteX4-129" fmla="*/ 2745331 w 3099465"/>
              <a:gd name="connsiteY4-130" fmla="*/ 0 h 3059046"/>
              <a:gd name="connsiteX5-131" fmla="*/ 3099465 w 3099465"/>
              <a:gd name="connsiteY5-132" fmla="*/ 78961 h 3059046"/>
              <a:gd name="connsiteX6-133" fmla="*/ 2766882 w 3099465"/>
              <a:gd name="connsiteY6-134" fmla="*/ 105855 h 3059046"/>
              <a:gd name="connsiteX7-135" fmla="*/ 2775847 w 3099465"/>
              <a:gd name="connsiteY7-136" fmla="*/ 3059046 h 3059046"/>
              <a:gd name="connsiteX8-137" fmla="*/ 0 w 3099465"/>
              <a:gd name="connsiteY8-138" fmla="*/ 3059046 h 3059046"/>
              <a:gd name="connsiteX9-139" fmla="*/ 0 w 3099465"/>
              <a:gd name="connsiteY9-140" fmla="*/ 2962155 h 3059046"/>
              <a:gd name="connsiteX0-141" fmla="*/ 0 w 3099465"/>
              <a:gd name="connsiteY0-142" fmla="*/ 2962155 h 3059046"/>
              <a:gd name="connsiteX1-143" fmla="*/ 2678956 w 3099465"/>
              <a:gd name="connsiteY1-144" fmla="*/ 2962155 h 3059046"/>
              <a:gd name="connsiteX2-145" fmla="*/ 2678956 w 3099465"/>
              <a:gd name="connsiteY2-146" fmla="*/ 61032 h 3059046"/>
              <a:gd name="connsiteX3-147" fmla="*/ 2516702 w 3099465"/>
              <a:gd name="connsiteY3-148" fmla="*/ 87926 h 3059046"/>
              <a:gd name="connsiteX4-149" fmla="*/ 2745331 w 3099465"/>
              <a:gd name="connsiteY4-150" fmla="*/ 0 h 3059046"/>
              <a:gd name="connsiteX5-151" fmla="*/ 3099465 w 3099465"/>
              <a:gd name="connsiteY5-152" fmla="*/ 78961 h 3059046"/>
              <a:gd name="connsiteX6-153" fmla="*/ 2766882 w 3099465"/>
              <a:gd name="connsiteY6-154" fmla="*/ 52066 h 3059046"/>
              <a:gd name="connsiteX7-155" fmla="*/ 2775847 w 3099465"/>
              <a:gd name="connsiteY7-156" fmla="*/ 3059046 h 3059046"/>
              <a:gd name="connsiteX8-157" fmla="*/ 0 w 3099465"/>
              <a:gd name="connsiteY8-158" fmla="*/ 3059046 h 3059046"/>
              <a:gd name="connsiteX9-159" fmla="*/ 0 w 3099465"/>
              <a:gd name="connsiteY9-160" fmla="*/ 2962155 h 3059046"/>
              <a:gd name="connsiteX0-161" fmla="*/ 0 w 2884312"/>
              <a:gd name="connsiteY0-162" fmla="*/ 2962155 h 3059046"/>
              <a:gd name="connsiteX1-163" fmla="*/ 2678956 w 2884312"/>
              <a:gd name="connsiteY1-164" fmla="*/ 2962155 h 3059046"/>
              <a:gd name="connsiteX2-165" fmla="*/ 2678956 w 2884312"/>
              <a:gd name="connsiteY2-166" fmla="*/ 61032 h 3059046"/>
              <a:gd name="connsiteX3-167" fmla="*/ 2516702 w 2884312"/>
              <a:gd name="connsiteY3-168" fmla="*/ 87926 h 3059046"/>
              <a:gd name="connsiteX4-169" fmla="*/ 2745331 w 2884312"/>
              <a:gd name="connsiteY4-170" fmla="*/ 0 h 3059046"/>
              <a:gd name="connsiteX5-171" fmla="*/ 2884312 w 2884312"/>
              <a:gd name="connsiteY5-172" fmla="*/ 87925 h 3059046"/>
              <a:gd name="connsiteX6-173" fmla="*/ 2766882 w 2884312"/>
              <a:gd name="connsiteY6-174" fmla="*/ 52066 h 3059046"/>
              <a:gd name="connsiteX7-175" fmla="*/ 2775847 w 2884312"/>
              <a:gd name="connsiteY7-176" fmla="*/ 3059046 h 3059046"/>
              <a:gd name="connsiteX8-177" fmla="*/ 0 w 2884312"/>
              <a:gd name="connsiteY8-178" fmla="*/ 3059046 h 3059046"/>
              <a:gd name="connsiteX9-179" fmla="*/ 0 w 2884312"/>
              <a:gd name="connsiteY9-180" fmla="*/ 2962155 h 3059046"/>
              <a:gd name="connsiteX0-181" fmla="*/ 0 w 2884312"/>
              <a:gd name="connsiteY0-182" fmla="*/ 2962155 h 3059046"/>
              <a:gd name="connsiteX1-183" fmla="*/ 2678956 w 2884312"/>
              <a:gd name="connsiteY1-184" fmla="*/ 2962155 h 3059046"/>
              <a:gd name="connsiteX2-185" fmla="*/ 2678956 w 2884312"/>
              <a:gd name="connsiteY2-186" fmla="*/ 61032 h 3059046"/>
              <a:gd name="connsiteX3-187" fmla="*/ 2516702 w 2884312"/>
              <a:gd name="connsiteY3-188" fmla="*/ 52067 h 3059046"/>
              <a:gd name="connsiteX4-189" fmla="*/ 2745331 w 2884312"/>
              <a:gd name="connsiteY4-190" fmla="*/ 0 h 3059046"/>
              <a:gd name="connsiteX5-191" fmla="*/ 2884312 w 2884312"/>
              <a:gd name="connsiteY5-192" fmla="*/ 87925 h 3059046"/>
              <a:gd name="connsiteX6-193" fmla="*/ 2766882 w 2884312"/>
              <a:gd name="connsiteY6-194" fmla="*/ 52066 h 3059046"/>
              <a:gd name="connsiteX7-195" fmla="*/ 2775847 w 2884312"/>
              <a:gd name="connsiteY7-196" fmla="*/ 3059046 h 3059046"/>
              <a:gd name="connsiteX8-197" fmla="*/ 0 w 2884312"/>
              <a:gd name="connsiteY8-198" fmla="*/ 3059046 h 3059046"/>
              <a:gd name="connsiteX9-199" fmla="*/ 0 w 2884312"/>
              <a:gd name="connsiteY9-200" fmla="*/ 2962155 h 3059046"/>
              <a:gd name="connsiteX0-201" fmla="*/ 0 w 2947065"/>
              <a:gd name="connsiteY0-202" fmla="*/ 2962155 h 3059046"/>
              <a:gd name="connsiteX1-203" fmla="*/ 2678956 w 2947065"/>
              <a:gd name="connsiteY1-204" fmla="*/ 2962155 h 3059046"/>
              <a:gd name="connsiteX2-205" fmla="*/ 2678956 w 2947065"/>
              <a:gd name="connsiteY2-206" fmla="*/ 61032 h 3059046"/>
              <a:gd name="connsiteX3-207" fmla="*/ 2516702 w 2947065"/>
              <a:gd name="connsiteY3-208" fmla="*/ 52067 h 3059046"/>
              <a:gd name="connsiteX4-209" fmla="*/ 2745331 w 2947065"/>
              <a:gd name="connsiteY4-210" fmla="*/ 0 h 3059046"/>
              <a:gd name="connsiteX5-211" fmla="*/ 2947065 w 2947065"/>
              <a:gd name="connsiteY5-212" fmla="*/ 16207 h 3059046"/>
              <a:gd name="connsiteX6-213" fmla="*/ 2766882 w 2947065"/>
              <a:gd name="connsiteY6-214" fmla="*/ 52066 h 3059046"/>
              <a:gd name="connsiteX7-215" fmla="*/ 2775847 w 2947065"/>
              <a:gd name="connsiteY7-216" fmla="*/ 3059046 h 3059046"/>
              <a:gd name="connsiteX8-217" fmla="*/ 0 w 2947065"/>
              <a:gd name="connsiteY8-218" fmla="*/ 3059046 h 3059046"/>
              <a:gd name="connsiteX9-219" fmla="*/ 0 w 2947065"/>
              <a:gd name="connsiteY9-220" fmla="*/ 2962155 h 3059046"/>
              <a:gd name="connsiteX0-221" fmla="*/ 0 w 2938101"/>
              <a:gd name="connsiteY0-222" fmla="*/ 2962155 h 3059046"/>
              <a:gd name="connsiteX1-223" fmla="*/ 2678956 w 2938101"/>
              <a:gd name="connsiteY1-224" fmla="*/ 2962155 h 3059046"/>
              <a:gd name="connsiteX2-225" fmla="*/ 2678956 w 2938101"/>
              <a:gd name="connsiteY2-226" fmla="*/ 61032 h 3059046"/>
              <a:gd name="connsiteX3-227" fmla="*/ 2516702 w 2938101"/>
              <a:gd name="connsiteY3-228" fmla="*/ 52067 h 3059046"/>
              <a:gd name="connsiteX4-229" fmla="*/ 2745331 w 2938101"/>
              <a:gd name="connsiteY4-230" fmla="*/ 0 h 3059046"/>
              <a:gd name="connsiteX5-231" fmla="*/ 2938101 w 2938101"/>
              <a:gd name="connsiteY5-232" fmla="*/ 52066 h 3059046"/>
              <a:gd name="connsiteX6-233" fmla="*/ 2766882 w 2938101"/>
              <a:gd name="connsiteY6-234" fmla="*/ 52066 h 3059046"/>
              <a:gd name="connsiteX7-235" fmla="*/ 2775847 w 2938101"/>
              <a:gd name="connsiteY7-236" fmla="*/ 3059046 h 3059046"/>
              <a:gd name="connsiteX8-237" fmla="*/ 0 w 2938101"/>
              <a:gd name="connsiteY8-238" fmla="*/ 3059046 h 3059046"/>
              <a:gd name="connsiteX9-239" fmla="*/ 0 w 2938101"/>
              <a:gd name="connsiteY9-240" fmla="*/ 2962155 h 3059046"/>
              <a:gd name="connsiteX0-241" fmla="*/ 0 w 2938101"/>
              <a:gd name="connsiteY0-242" fmla="*/ 2962155 h 3059046"/>
              <a:gd name="connsiteX1-243" fmla="*/ 2678956 w 2938101"/>
              <a:gd name="connsiteY1-244" fmla="*/ 2962155 h 3059046"/>
              <a:gd name="connsiteX2-245" fmla="*/ 2678956 w 2938101"/>
              <a:gd name="connsiteY2-246" fmla="*/ 61032 h 3059046"/>
              <a:gd name="connsiteX3-247" fmla="*/ 2579455 w 2938101"/>
              <a:gd name="connsiteY3-248" fmla="*/ 52067 h 3059046"/>
              <a:gd name="connsiteX4-249" fmla="*/ 2745331 w 2938101"/>
              <a:gd name="connsiteY4-250" fmla="*/ 0 h 3059046"/>
              <a:gd name="connsiteX5-251" fmla="*/ 2938101 w 2938101"/>
              <a:gd name="connsiteY5-252" fmla="*/ 52066 h 3059046"/>
              <a:gd name="connsiteX6-253" fmla="*/ 2766882 w 2938101"/>
              <a:gd name="connsiteY6-254" fmla="*/ 52066 h 3059046"/>
              <a:gd name="connsiteX7-255" fmla="*/ 2775847 w 2938101"/>
              <a:gd name="connsiteY7-256" fmla="*/ 3059046 h 3059046"/>
              <a:gd name="connsiteX8-257" fmla="*/ 0 w 2938101"/>
              <a:gd name="connsiteY8-258" fmla="*/ 3059046 h 3059046"/>
              <a:gd name="connsiteX9-259" fmla="*/ 0 w 2938101"/>
              <a:gd name="connsiteY9-260" fmla="*/ 2962155 h 3059046"/>
              <a:gd name="connsiteX0-261" fmla="*/ 0 w 2875348"/>
              <a:gd name="connsiteY0-262" fmla="*/ 2962155 h 3059046"/>
              <a:gd name="connsiteX1-263" fmla="*/ 2678956 w 2875348"/>
              <a:gd name="connsiteY1-264" fmla="*/ 2962155 h 3059046"/>
              <a:gd name="connsiteX2-265" fmla="*/ 2678956 w 2875348"/>
              <a:gd name="connsiteY2-266" fmla="*/ 61032 h 3059046"/>
              <a:gd name="connsiteX3-267" fmla="*/ 2579455 w 2875348"/>
              <a:gd name="connsiteY3-268" fmla="*/ 52067 h 3059046"/>
              <a:gd name="connsiteX4-269" fmla="*/ 2745331 w 2875348"/>
              <a:gd name="connsiteY4-270" fmla="*/ 0 h 3059046"/>
              <a:gd name="connsiteX5-271" fmla="*/ 2875348 w 2875348"/>
              <a:gd name="connsiteY5-272" fmla="*/ 52066 h 3059046"/>
              <a:gd name="connsiteX6-273" fmla="*/ 2766882 w 2875348"/>
              <a:gd name="connsiteY6-274" fmla="*/ 52066 h 3059046"/>
              <a:gd name="connsiteX7-275" fmla="*/ 2775847 w 2875348"/>
              <a:gd name="connsiteY7-276" fmla="*/ 3059046 h 3059046"/>
              <a:gd name="connsiteX8-277" fmla="*/ 0 w 2875348"/>
              <a:gd name="connsiteY8-278" fmla="*/ 3059046 h 3059046"/>
              <a:gd name="connsiteX9-279" fmla="*/ 0 w 2875348"/>
              <a:gd name="connsiteY9-280" fmla="*/ 2962155 h 3059046"/>
              <a:gd name="connsiteX0-281" fmla="*/ 0 w 2875348"/>
              <a:gd name="connsiteY0-282" fmla="*/ 2971120 h 3068011"/>
              <a:gd name="connsiteX1-283" fmla="*/ 2678956 w 2875348"/>
              <a:gd name="connsiteY1-284" fmla="*/ 2971120 h 3068011"/>
              <a:gd name="connsiteX2-285" fmla="*/ 2678956 w 2875348"/>
              <a:gd name="connsiteY2-286" fmla="*/ 69997 h 3068011"/>
              <a:gd name="connsiteX3-287" fmla="*/ 2579455 w 2875348"/>
              <a:gd name="connsiteY3-288" fmla="*/ 61032 h 3068011"/>
              <a:gd name="connsiteX4-289" fmla="*/ 2709472 w 2875348"/>
              <a:gd name="connsiteY4-290" fmla="*/ 0 h 3068011"/>
              <a:gd name="connsiteX5-291" fmla="*/ 2875348 w 2875348"/>
              <a:gd name="connsiteY5-292" fmla="*/ 61031 h 3068011"/>
              <a:gd name="connsiteX6-293" fmla="*/ 2766882 w 2875348"/>
              <a:gd name="connsiteY6-294" fmla="*/ 61031 h 3068011"/>
              <a:gd name="connsiteX7-295" fmla="*/ 2775847 w 2875348"/>
              <a:gd name="connsiteY7-296" fmla="*/ 3068011 h 3068011"/>
              <a:gd name="connsiteX8-297" fmla="*/ 0 w 2875348"/>
              <a:gd name="connsiteY8-298" fmla="*/ 3068011 h 3068011"/>
              <a:gd name="connsiteX9-299" fmla="*/ 0 w 2875348"/>
              <a:gd name="connsiteY9-300" fmla="*/ 2971120 h 30680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875348" h="3068011">
                <a:moveTo>
                  <a:pt x="0" y="2971120"/>
                </a:moveTo>
                <a:lnTo>
                  <a:pt x="2678956" y="2971120"/>
                </a:lnTo>
                <a:lnTo>
                  <a:pt x="2678956" y="69997"/>
                </a:lnTo>
                <a:lnTo>
                  <a:pt x="2579455" y="61032"/>
                </a:lnTo>
                <a:lnTo>
                  <a:pt x="2709472" y="0"/>
                </a:lnTo>
                <a:lnTo>
                  <a:pt x="2875348" y="61031"/>
                </a:lnTo>
                <a:lnTo>
                  <a:pt x="2766882" y="61031"/>
                </a:lnTo>
                <a:cubicBezTo>
                  <a:pt x="2769870" y="1045428"/>
                  <a:pt x="2772859" y="2083614"/>
                  <a:pt x="2775847" y="3068011"/>
                </a:cubicBezTo>
                <a:lnTo>
                  <a:pt x="0" y="3068011"/>
                </a:lnTo>
                <a:lnTo>
                  <a:pt x="0" y="2971120"/>
                </a:lnTo>
                <a:close/>
              </a:path>
            </a:pathLst>
          </a:cu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173012" y="2055559"/>
            <a:ext cx="1415773" cy="461665"/>
          </a:xfrm>
          <a:prstGeom prst="rect">
            <a:avLst/>
          </a:prstGeom>
          <a:noFill/>
        </p:spPr>
        <p:txBody>
          <a:bodyPr wrap="none" rtlCol="0">
            <a:spAutoFit/>
          </a:bodyPr>
          <a:lstStyle/>
          <a:p>
            <a:pPr algn="ctr"/>
            <a:r>
              <a:rPr lang="zh-CN" altLang="en-US" sz="2400" dirty="0">
                <a:solidFill>
                  <a:srgbClr val="FF0000"/>
                </a:solidFill>
                <a:cs typeface="+mn-ea"/>
                <a:sym typeface="+mn-lt"/>
              </a:rPr>
              <a:t>输出图像</a:t>
            </a:r>
          </a:p>
        </p:txBody>
      </p:sp>
      <p:sp>
        <p:nvSpPr>
          <p:cNvPr id="20" name="文本框 19"/>
          <p:cNvSpPr txBox="1"/>
          <p:nvPr/>
        </p:nvSpPr>
        <p:spPr>
          <a:xfrm>
            <a:off x="8526586" y="3719719"/>
            <a:ext cx="2852063" cy="338554"/>
          </a:xfrm>
          <a:prstGeom prst="rect">
            <a:avLst/>
          </a:prstGeom>
          <a:noFill/>
        </p:spPr>
        <p:txBody>
          <a:bodyPr wrap="none" rtlCol="0">
            <a:spAutoFit/>
          </a:bodyPr>
          <a:lstStyle/>
          <a:p>
            <a:pPr algn="ctr"/>
            <a:r>
              <a:rPr lang="zh-CN" altLang="en-US" sz="1600" dirty="0">
                <a:solidFill>
                  <a:srgbClr val="4A5A69"/>
                </a:solidFill>
                <a:cs typeface="+mn-ea"/>
                <a:sym typeface="+mn-lt"/>
              </a:rPr>
              <a:t>基于差值拓展的信息可逆嵌入</a:t>
            </a:r>
          </a:p>
        </p:txBody>
      </p:sp>
      <p:sp>
        <p:nvSpPr>
          <p:cNvPr id="22" name="箭头: 右 21"/>
          <p:cNvSpPr/>
          <p:nvPr/>
        </p:nvSpPr>
        <p:spPr>
          <a:xfrm>
            <a:off x="3476188" y="2983502"/>
            <a:ext cx="583346" cy="77222"/>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3" name="文本框 22"/>
          <p:cNvSpPr txBox="1"/>
          <p:nvPr/>
        </p:nvSpPr>
        <p:spPr>
          <a:xfrm>
            <a:off x="2488959" y="2852836"/>
            <a:ext cx="1005403" cy="338554"/>
          </a:xfrm>
          <a:prstGeom prst="rect">
            <a:avLst/>
          </a:prstGeom>
          <a:noFill/>
        </p:spPr>
        <p:txBody>
          <a:bodyPr wrap="none" rtlCol="0">
            <a:spAutoFit/>
          </a:bodyPr>
          <a:lstStyle/>
          <a:p>
            <a:pPr algn="ctr"/>
            <a:r>
              <a:rPr lang="zh-CN" altLang="en-US" sz="1600" dirty="0">
                <a:solidFill>
                  <a:srgbClr val="4A5A69"/>
                </a:solidFill>
                <a:cs typeface="+mn-ea"/>
                <a:sym typeface="+mn-lt"/>
              </a:rPr>
              <a:t>簇心数据</a:t>
            </a:r>
          </a:p>
        </p:txBody>
      </p:sp>
      <p:sp>
        <p:nvSpPr>
          <p:cNvPr id="24" name="文本框 23"/>
          <p:cNvSpPr txBox="1"/>
          <p:nvPr/>
        </p:nvSpPr>
        <p:spPr>
          <a:xfrm>
            <a:off x="1167892" y="1154892"/>
            <a:ext cx="9460467" cy="646331"/>
          </a:xfrm>
          <a:prstGeom prst="rect">
            <a:avLst/>
          </a:prstGeom>
          <a:noFill/>
        </p:spPr>
        <p:txBody>
          <a:bodyPr wrap="square" rtlCol="0">
            <a:spAutoFit/>
          </a:bodyPr>
          <a:lstStyle/>
          <a:p>
            <a:r>
              <a:rPr lang="en-US" altLang="zh-CN" dirty="0"/>
              <a:t>       </a:t>
            </a:r>
            <a:r>
              <a:rPr lang="zh-CN" altLang="en-US" dirty="0"/>
              <a:t>该模块将图像进行分块，提取关联块的图像备份信息，并进行海明码提取后组成认证恢复信息，根据密钥确定映射块后，利用信息可逆技术将备份信息嵌入到映射块。</a:t>
            </a:r>
          </a:p>
        </p:txBody>
      </p:sp>
      <p:sp>
        <p:nvSpPr>
          <p:cNvPr id="25" name="文本框 24">
            <a:extLst>
              <a:ext uri="{FF2B5EF4-FFF2-40B4-BE49-F238E27FC236}">
                <a16:creationId xmlns:a16="http://schemas.microsoft.com/office/drawing/2014/main" id="{F27441AB-9139-D1DE-1DA0-83B57513A5B2}"/>
              </a:ext>
            </a:extLst>
          </p:cNvPr>
          <p:cNvSpPr txBox="1"/>
          <p:nvPr/>
        </p:nvSpPr>
        <p:spPr>
          <a:xfrm>
            <a:off x="4850729" y="6104919"/>
            <a:ext cx="7117654" cy="338554"/>
          </a:xfrm>
          <a:prstGeom prst="rect">
            <a:avLst/>
          </a:prstGeom>
          <a:noFill/>
        </p:spPr>
        <p:txBody>
          <a:bodyPr wrap="none" rtlCol="0">
            <a:spAutoFit/>
          </a:bodyPr>
          <a:lstStyle/>
          <a:p>
            <a:pPr algn="ctr"/>
            <a:r>
              <a:rPr lang="en-US" altLang="zh-CN" sz="1600" dirty="0">
                <a:solidFill>
                  <a:srgbClr val="4A5A69"/>
                </a:solidFill>
                <a:cs typeface="+mn-ea"/>
                <a:sym typeface="+mn-lt"/>
              </a:rPr>
              <a:t>X</a:t>
            </a:r>
            <a:r>
              <a:rPr lang="zh-CN" altLang="en-US" sz="1600" dirty="0">
                <a:solidFill>
                  <a:srgbClr val="4A5A69"/>
                </a:solidFill>
                <a:cs typeface="+mn-ea"/>
                <a:sym typeface="+mn-lt"/>
              </a:rPr>
              <a:t>的映射块：</a:t>
            </a:r>
            <a:r>
              <a:rPr lang="en-US" altLang="zh-CN" sz="1600" dirty="0">
                <a:solidFill>
                  <a:srgbClr val="4A5A69"/>
                </a:solidFill>
                <a:cs typeface="+mn-ea"/>
                <a:sym typeface="+mn-lt"/>
              </a:rPr>
              <a:t>Y=((K1*X) mod N+k2) mod N </a:t>
            </a:r>
            <a:r>
              <a:rPr lang="zh-CN" altLang="en-US" sz="1600" dirty="0">
                <a:solidFill>
                  <a:srgbClr val="4A5A69"/>
                </a:solidFill>
                <a:cs typeface="+mn-ea"/>
                <a:sym typeface="+mn-lt"/>
              </a:rPr>
              <a:t>其中</a:t>
            </a:r>
            <a:r>
              <a:rPr lang="en-US" altLang="zh-CN" sz="1600" dirty="0">
                <a:solidFill>
                  <a:srgbClr val="4A5A69"/>
                </a:solidFill>
                <a:cs typeface="+mn-ea"/>
                <a:sym typeface="+mn-lt"/>
              </a:rPr>
              <a:t>N</a:t>
            </a:r>
            <a:r>
              <a:rPr lang="zh-CN" altLang="en-US" sz="1600" dirty="0">
                <a:solidFill>
                  <a:srgbClr val="4A5A69"/>
                </a:solidFill>
                <a:cs typeface="+mn-ea"/>
                <a:sym typeface="+mn-lt"/>
              </a:rPr>
              <a:t>为块总数 </a:t>
            </a:r>
            <a:r>
              <a:rPr lang="en-US" altLang="zh-CN" sz="1600" dirty="0">
                <a:solidFill>
                  <a:srgbClr val="4A5A69"/>
                </a:solidFill>
                <a:cs typeface="+mn-ea"/>
                <a:sym typeface="+mn-lt"/>
              </a:rPr>
              <a:t>K1K2</a:t>
            </a:r>
            <a:r>
              <a:rPr lang="zh-CN" altLang="en-US" sz="1600" dirty="0">
                <a:solidFill>
                  <a:srgbClr val="4A5A69"/>
                </a:solidFill>
                <a:cs typeface="+mn-ea"/>
                <a:sym typeface="+mn-lt"/>
              </a:rPr>
              <a:t>为密钥</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菱形 24"/>
          <p:cNvSpPr/>
          <p:nvPr/>
        </p:nvSpPr>
        <p:spPr>
          <a:xfrm>
            <a:off x="4179659" y="3590493"/>
            <a:ext cx="2602983" cy="674318"/>
          </a:xfrm>
          <a:prstGeom prst="diamon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200" dirty="0"/>
          </a:p>
        </p:txBody>
      </p:sp>
      <p:sp>
        <p:nvSpPr>
          <p:cNvPr id="12" name="文本框 11"/>
          <p:cNvSpPr txBox="1"/>
          <p:nvPr/>
        </p:nvSpPr>
        <p:spPr>
          <a:xfrm>
            <a:off x="1759914" y="2055559"/>
            <a:ext cx="1723549" cy="461665"/>
          </a:xfrm>
          <a:prstGeom prst="rect">
            <a:avLst/>
          </a:prstGeom>
          <a:noFill/>
        </p:spPr>
        <p:txBody>
          <a:bodyPr wrap="none" rtlCol="0">
            <a:spAutoFit/>
          </a:bodyPr>
          <a:lstStyle/>
          <a:p>
            <a:pPr algn="ctr"/>
            <a:r>
              <a:rPr lang="zh-CN" altLang="en-US" sz="2400" dirty="0">
                <a:solidFill>
                  <a:srgbClr val="FF0000"/>
                </a:solidFill>
                <a:cs typeface="+mn-ea"/>
                <a:sym typeface="+mn-lt"/>
              </a:rPr>
              <a:t>待认证图像</a:t>
            </a:r>
          </a:p>
        </p:txBody>
      </p:sp>
      <p:sp>
        <p:nvSpPr>
          <p:cNvPr id="13" name="文本框 12"/>
          <p:cNvSpPr txBox="1"/>
          <p:nvPr/>
        </p:nvSpPr>
        <p:spPr>
          <a:xfrm>
            <a:off x="3611705" y="279109"/>
            <a:ext cx="4801314" cy="646331"/>
          </a:xfrm>
          <a:prstGeom prst="rect">
            <a:avLst/>
          </a:prstGeom>
          <a:noFill/>
        </p:spPr>
        <p:txBody>
          <a:bodyPr wrap="none" rtlCol="0">
            <a:spAutoFit/>
          </a:bodyPr>
          <a:lstStyle/>
          <a:p>
            <a:pPr algn="ctr"/>
            <a:r>
              <a:rPr lang="zh-CN" altLang="en-US" sz="3600" dirty="0">
                <a:solidFill>
                  <a:srgbClr val="4A5A69"/>
                </a:solidFill>
                <a:cs typeface="+mn-ea"/>
                <a:sym typeface="+mn-lt"/>
              </a:rPr>
              <a:t>完整性认证及修复模块</a:t>
            </a:r>
          </a:p>
        </p:txBody>
      </p:sp>
      <p:sp>
        <p:nvSpPr>
          <p:cNvPr id="14" name="箭头: 右 13"/>
          <p:cNvSpPr/>
          <p:nvPr/>
        </p:nvSpPr>
        <p:spPr>
          <a:xfrm>
            <a:off x="3518280" y="2286392"/>
            <a:ext cx="1080481" cy="12550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5" name="文本框 14"/>
          <p:cNvSpPr txBox="1"/>
          <p:nvPr/>
        </p:nvSpPr>
        <p:spPr>
          <a:xfrm>
            <a:off x="4598761" y="2055559"/>
            <a:ext cx="1723549" cy="461665"/>
          </a:xfrm>
          <a:prstGeom prst="rect">
            <a:avLst/>
          </a:prstGeom>
          <a:noFill/>
        </p:spPr>
        <p:txBody>
          <a:bodyPr wrap="none" rtlCol="0">
            <a:spAutoFit/>
          </a:bodyPr>
          <a:lstStyle/>
          <a:p>
            <a:pPr algn="ctr"/>
            <a:r>
              <a:rPr lang="zh-CN" altLang="en-US" sz="2400" dirty="0">
                <a:solidFill>
                  <a:srgbClr val="4A5A69"/>
                </a:solidFill>
                <a:cs typeface="+mn-ea"/>
                <a:sym typeface="+mn-lt"/>
              </a:rPr>
              <a:t>若干图像块</a:t>
            </a:r>
          </a:p>
        </p:txBody>
      </p:sp>
      <p:sp>
        <p:nvSpPr>
          <p:cNvPr id="16" name="文本框 15"/>
          <p:cNvSpPr txBox="1"/>
          <p:nvPr/>
        </p:nvSpPr>
        <p:spPr>
          <a:xfrm>
            <a:off x="4416233" y="3806096"/>
            <a:ext cx="2258952" cy="276999"/>
          </a:xfrm>
          <a:prstGeom prst="rect">
            <a:avLst/>
          </a:prstGeom>
          <a:noFill/>
        </p:spPr>
        <p:txBody>
          <a:bodyPr wrap="none" rtlCol="0">
            <a:spAutoFit/>
          </a:bodyPr>
          <a:lstStyle/>
          <a:p>
            <a:pPr algn="ctr"/>
            <a:r>
              <a:rPr lang="zh-CN" altLang="en-US" sz="1200" dirty="0">
                <a:solidFill>
                  <a:srgbClr val="4A5A69"/>
                </a:solidFill>
                <a:cs typeface="+mn-ea"/>
                <a:sym typeface="+mn-lt"/>
              </a:rPr>
              <a:t>备份信息海明码</a:t>
            </a:r>
            <a:r>
              <a:rPr lang="en-US" altLang="zh-CN" sz="1200" dirty="0">
                <a:solidFill>
                  <a:srgbClr val="4A5A69"/>
                </a:solidFill>
                <a:cs typeface="+mn-ea"/>
                <a:sym typeface="+mn-lt"/>
              </a:rPr>
              <a:t>==</a:t>
            </a:r>
            <a:r>
              <a:rPr lang="zh-CN" altLang="en-US" sz="1200" dirty="0">
                <a:solidFill>
                  <a:srgbClr val="4A5A69"/>
                </a:solidFill>
                <a:cs typeface="+mn-ea"/>
                <a:sym typeface="+mn-lt"/>
              </a:rPr>
              <a:t>原海明码？</a:t>
            </a:r>
          </a:p>
        </p:txBody>
      </p:sp>
      <p:sp>
        <p:nvSpPr>
          <p:cNvPr id="17" name="箭头: 下 16"/>
          <p:cNvSpPr/>
          <p:nvPr/>
        </p:nvSpPr>
        <p:spPr>
          <a:xfrm>
            <a:off x="5389237" y="2538906"/>
            <a:ext cx="183831" cy="104212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1" name="文本框 20"/>
          <p:cNvSpPr txBox="1"/>
          <p:nvPr/>
        </p:nvSpPr>
        <p:spPr>
          <a:xfrm>
            <a:off x="1289622" y="1487114"/>
            <a:ext cx="9460467" cy="369332"/>
          </a:xfrm>
          <a:prstGeom prst="rect">
            <a:avLst/>
          </a:prstGeom>
          <a:noFill/>
        </p:spPr>
        <p:txBody>
          <a:bodyPr wrap="square" rtlCol="0">
            <a:spAutoFit/>
          </a:bodyPr>
          <a:lstStyle/>
          <a:p>
            <a:r>
              <a:rPr lang="en-US" altLang="zh-CN" dirty="0"/>
              <a:t>      </a:t>
            </a:r>
            <a:endParaRPr lang="zh-CN" altLang="en-US" dirty="0"/>
          </a:p>
        </p:txBody>
      </p:sp>
      <p:sp>
        <p:nvSpPr>
          <p:cNvPr id="2" name="文本框 1"/>
          <p:cNvSpPr txBox="1"/>
          <p:nvPr/>
        </p:nvSpPr>
        <p:spPr>
          <a:xfrm>
            <a:off x="3761003" y="1988520"/>
            <a:ext cx="595035" cy="338554"/>
          </a:xfrm>
          <a:prstGeom prst="rect">
            <a:avLst/>
          </a:prstGeom>
          <a:noFill/>
        </p:spPr>
        <p:txBody>
          <a:bodyPr wrap="none" rtlCol="0">
            <a:spAutoFit/>
          </a:bodyPr>
          <a:lstStyle/>
          <a:p>
            <a:pPr algn="ctr"/>
            <a:r>
              <a:rPr lang="zh-CN" altLang="en-US" sz="1600" dirty="0">
                <a:solidFill>
                  <a:srgbClr val="4A5A69"/>
                </a:solidFill>
                <a:cs typeface="+mn-ea"/>
                <a:sym typeface="+mn-lt"/>
              </a:rPr>
              <a:t>分块</a:t>
            </a:r>
          </a:p>
        </p:txBody>
      </p:sp>
      <p:sp>
        <p:nvSpPr>
          <p:cNvPr id="3" name="文本框 2"/>
          <p:cNvSpPr txBox="1"/>
          <p:nvPr/>
        </p:nvSpPr>
        <p:spPr>
          <a:xfrm>
            <a:off x="4757235" y="2845362"/>
            <a:ext cx="1447833" cy="338554"/>
          </a:xfrm>
          <a:prstGeom prst="rect">
            <a:avLst/>
          </a:prstGeom>
          <a:noFill/>
        </p:spPr>
        <p:txBody>
          <a:bodyPr wrap="none" rtlCol="0">
            <a:spAutoFit/>
          </a:bodyPr>
          <a:lstStyle/>
          <a:p>
            <a:pPr algn="ctr"/>
            <a:r>
              <a:rPr lang="zh-CN" altLang="en-US" sz="1600" dirty="0">
                <a:solidFill>
                  <a:srgbClr val="4A5A69"/>
                </a:solidFill>
                <a:cs typeface="+mn-ea"/>
                <a:sym typeface="+mn-lt"/>
              </a:rPr>
              <a:t>嵌入信息提取</a:t>
            </a:r>
          </a:p>
        </p:txBody>
      </p:sp>
      <p:sp>
        <p:nvSpPr>
          <p:cNvPr id="5" name="箭头: 下 4"/>
          <p:cNvSpPr/>
          <p:nvPr/>
        </p:nvSpPr>
        <p:spPr>
          <a:xfrm>
            <a:off x="5402485" y="4273385"/>
            <a:ext cx="183831" cy="104212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6" name="文本框 5"/>
          <p:cNvSpPr txBox="1"/>
          <p:nvPr/>
        </p:nvSpPr>
        <p:spPr>
          <a:xfrm>
            <a:off x="6711952" y="3542714"/>
            <a:ext cx="1526187" cy="338554"/>
          </a:xfrm>
          <a:prstGeom prst="rect">
            <a:avLst/>
          </a:prstGeom>
          <a:noFill/>
        </p:spPr>
        <p:txBody>
          <a:bodyPr wrap="none" rtlCol="0">
            <a:spAutoFit/>
          </a:bodyPr>
          <a:lstStyle/>
          <a:p>
            <a:pPr algn="ctr"/>
            <a:r>
              <a:rPr lang="en-US" altLang="zh-CN" sz="1600" dirty="0">
                <a:solidFill>
                  <a:srgbClr val="4A5A69"/>
                </a:solidFill>
                <a:cs typeface="+mn-ea"/>
                <a:sym typeface="+mn-lt"/>
              </a:rPr>
              <a:t>Yes</a:t>
            </a:r>
            <a:r>
              <a:rPr lang="zh-CN" altLang="en-US" sz="1600" dirty="0">
                <a:solidFill>
                  <a:srgbClr val="4A5A69"/>
                </a:solidFill>
                <a:cs typeface="+mn-ea"/>
                <a:sym typeface="+mn-lt"/>
              </a:rPr>
              <a:t>（未篡改）</a:t>
            </a:r>
          </a:p>
        </p:txBody>
      </p:sp>
      <p:sp>
        <p:nvSpPr>
          <p:cNvPr id="10" name="箭头: 直角上 9"/>
          <p:cNvSpPr/>
          <p:nvPr/>
        </p:nvSpPr>
        <p:spPr>
          <a:xfrm>
            <a:off x="6791607" y="2420950"/>
            <a:ext cx="2466584" cy="1537824"/>
          </a:xfrm>
          <a:custGeom>
            <a:avLst/>
            <a:gdLst>
              <a:gd name="connsiteX0" fmla="*/ 0 w 2848453"/>
              <a:gd name="connsiteY0" fmla="*/ 290673 h 387564"/>
              <a:gd name="connsiteX1" fmla="*/ 2678956 w 2848453"/>
              <a:gd name="connsiteY1" fmla="*/ 290673 h 387564"/>
              <a:gd name="connsiteX2" fmla="*/ 2678956 w 2848453"/>
              <a:gd name="connsiteY2" fmla="*/ 96891 h 387564"/>
              <a:gd name="connsiteX3" fmla="*/ 2606350 w 2848453"/>
              <a:gd name="connsiteY3" fmla="*/ 96891 h 387564"/>
              <a:gd name="connsiteX4" fmla="*/ 2727401 w 2848453"/>
              <a:gd name="connsiteY4" fmla="*/ 0 h 387564"/>
              <a:gd name="connsiteX5" fmla="*/ 2848453 w 2848453"/>
              <a:gd name="connsiteY5" fmla="*/ 96891 h 387564"/>
              <a:gd name="connsiteX6" fmla="*/ 2775847 w 2848453"/>
              <a:gd name="connsiteY6" fmla="*/ 96891 h 387564"/>
              <a:gd name="connsiteX7" fmla="*/ 2775847 w 2848453"/>
              <a:gd name="connsiteY7" fmla="*/ 387564 h 387564"/>
              <a:gd name="connsiteX8" fmla="*/ 0 w 2848453"/>
              <a:gd name="connsiteY8" fmla="*/ 387564 h 387564"/>
              <a:gd name="connsiteX9" fmla="*/ 0 w 2848453"/>
              <a:gd name="connsiteY9" fmla="*/ 290673 h 387564"/>
              <a:gd name="connsiteX0-1" fmla="*/ 0 w 2848453"/>
              <a:gd name="connsiteY0-2" fmla="*/ 2874229 h 2971120"/>
              <a:gd name="connsiteX1-3" fmla="*/ 2678956 w 2848453"/>
              <a:gd name="connsiteY1-4" fmla="*/ 2874229 h 2971120"/>
              <a:gd name="connsiteX2-5" fmla="*/ 2678956 w 2848453"/>
              <a:gd name="connsiteY2-6" fmla="*/ 2680447 h 2971120"/>
              <a:gd name="connsiteX3-7" fmla="*/ 2516702 w 2848453"/>
              <a:gd name="connsiteY3-8" fmla="*/ 0 h 2971120"/>
              <a:gd name="connsiteX4-9" fmla="*/ 2727401 w 2848453"/>
              <a:gd name="connsiteY4-10" fmla="*/ 2583556 h 2971120"/>
              <a:gd name="connsiteX5-11" fmla="*/ 2848453 w 2848453"/>
              <a:gd name="connsiteY5-12" fmla="*/ 2680447 h 2971120"/>
              <a:gd name="connsiteX6-13" fmla="*/ 2775847 w 2848453"/>
              <a:gd name="connsiteY6-14" fmla="*/ 2680447 h 2971120"/>
              <a:gd name="connsiteX7-15" fmla="*/ 2775847 w 2848453"/>
              <a:gd name="connsiteY7-16" fmla="*/ 2971120 h 2971120"/>
              <a:gd name="connsiteX8-17" fmla="*/ 0 w 2848453"/>
              <a:gd name="connsiteY8-18" fmla="*/ 2971120 h 2971120"/>
              <a:gd name="connsiteX9-19" fmla="*/ 0 w 2848453"/>
              <a:gd name="connsiteY9-20" fmla="*/ 2874229 h 2971120"/>
              <a:gd name="connsiteX0-21" fmla="*/ 0 w 3099465"/>
              <a:gd name="connsiteY0-22" fmla="*/ 2883194 h 2980085"/>
              <a:gd name="connsiteX1-23" fmla="*/ 2678956 w 3099465"/>
              <a:gd name="connsiteY1-24" fmla="*/ 2883194 h 2980085"/>
              <a:gd name="connsiteX2-25" fmla="*/ 2678956 w 3099465"/>
              <a:gd name="connsiteY2-26" fmla="*/ 2689412 h 2980085"/>
              <a:gd name="connsiteX3-27" fmla="*/ 2516702 w 3099465"/>
              <a:gd name="connsiteY3-28" fmla="*/ 8965 h 2980085"/>
              <a:gd name="connsiteX4-29" fmla="*/ 2727401 w 3099465"/>
              <a:gd name="connsiteY4-30" fmla="*/ 2592521 h 2980085"/>
              <a:gd name="connsiteX5-31" fmla="*/ 3099465 w 3099465"/>
              <a:gd name="connsiteY5-32" fmla="*/ 0 h 2980085"/>
              <a:gd name="connsiteX6-33" fmla="*/ 2775847 w 3099465"/>
              <a:gd name="connsiteY6-34" fmla="*/ 2689412 h 2980085"/>
              <a:gd name="connsiteX7-35" fmla="*/ 2775847 w 3099465"/>
              <a:gd name="connsiteY7-36" fmla="*/ 2980085 h 2980085"/>
              <a:gd name="connsiteX8-37" fmla="*/ 0 w 3099465"/>
              <a:gd name="connsiteY8-38" fmla="*/ 2980085 h 2980085"/>
              <a:gd name="connsiteX9-39" fmla="*/ 0 w 3099465"/>
              <a:gd name="connsiteY9-40" fmla="*/ 2883194 h 2980085"/>
              <a:gd name="connsiteX0-41" fmla="*/ 0 w 3099465"/>
              <a:gd name="connsiteY0-42" fmla="*/ 2962155 h 3059046"/>
              <a:gd name="connsiteX1-43" fmla="*/ 2678956 w 3099465"/>
              <a:gd name="connsiteY1-44" fmla="*/ 2962155 h 3059046"/>
              <a:gd name="connsiteX2-45" fmla="*/ 2678956 w 3099465"/>
              <a:gd name="connsiteY2-46" fmla="*/ 2768373 h 3059046"/>
              <a:gd name="connsiteX3-47" fmla="*/ 2516702 w 3099465"/>
              <a:gd name="connsiteY3-48" fmla="*/ 87926 h 3059046"/>
              <a:gd name="connsiteX4-49" fmla="*/ 2745331 w 3099465"/>
              <a:gd name="connsiteY4-50" fmla="*/ 0 h 3059046"/>
              <a:gd name="connsiteX5-51" fmla="*/ 3099465 w 3099465"/>
              <a:gd name="connsiteY5-52" fmla="*/ 78961 h 3059046"/>
              <a:gd name="connsiteX6-53" fmla="*/ 2775847 w 3099465"/>
              <a:gd name="connsiteY6-54" fmla="*/ 2768373 h 3059046"/>
              <a:gd name="connsiteX7-55" fmla="*/ 2775847 w 3099465"/>
              <a:gd name="connsiteY7-56" fmla="*/ 3059046 h 3059046"/>
              <a:gd name="connsiteX8-57" fmla="*/ 0 w 3099465"/>
              <a:gd name="connsiteY8-58" fmla="*/ 3059046 h 3059046"/>
              <a:gd name="connsiteX9-59" fmla="*/ 0 w 3099465"/>
              <a:gd name="connsiteY9-60" fmla="*/ 2962155 h 3059046"/>
              <a:gd name="connsiteX0-61" fmla="*/ 0 w 3099465"/>
              <a:gd name="connsiteY0-62" fmla="*/ 2962155 h 3059046"/>
              <a:gd name="connsiteX1-63" fmla="*/ 2678956 w 3099465"/>
              <a:gd name="connsiteY1-64" fmla="*/ 2962155 h 3059046"/>
              <a:gd name="connsiteX2-65" fmla="*/ 2741709 w 3099465"/>
              <a:gd name="connsiteY2-66" fmla="*/ 213432 h 3059046"/>
              <a:gd name="connsiteX3-67" fmla="*/ 2516702 w 3099465"/>
              <a:gd name="connsiteY3-68" fmla="*/ 87926 h 3059046"/>
              <a:gd name="connsiteX4-69" fmla="*/ 2745331 w 3099465"/>
              <a:gd name="connsiteY4-70" fmla="*/ 0 h 3059046"/>
              <a:gd name="connsiteX5-71" fmla="*/ 3099465 w 3099465"/>
              <a:gd name="connsiteY5-72" fmla="*/ 78961 h 3059046"/>
              <a:gd name="connsiteX6-73" fmla="*/ 2775847 w 3099465"/>
              <a:gd name="connsiteY6-74" fmla="*/ 2768373 h 3059046"/>
              <a:gd name="connsiteX7-75" fmla="*/ 2775847 w 3099465"/>
              <a:gd name="connsiteY7-76" fmla="*/ 3059046 h 3059046"/>
              <a:gd name="connsiteX8-77" fmla="*/ 0 w 3099465"/>
              <a:gd name="connsiteY8-78" fmla="*/ 3059046 h 3059046"/>
              <a:gd name="connsiteX9-79" fmla="*/ 0 w 3099465"/>
              <a:gd name="connsiteY9-80" fmla="*/ 2962155 h 3059046"/>
              <a:gd name="connsiteX0-81" fmla="*/ 0 w 3099465"/>
              <a:gd name="connsiteY0-82" fmla="*/ 2962155 h 3059046"/>
              <a:gd name="connsiteX1-83" fmla="*/ 2678956 w 3099465"/>
              <a:gd name="connsiteY1-84" fmla="*/ 2962155 h 3059046"/>
              <a:gd name="connsiteX2-85" fmla="*/ 2741709 w 3099465"/>
              <a:gd name="connsiteY2-86" fmla="*/ 213432 h 3059046"/>
              <a:gd name="connsiteX3-87" fmla="*/ 2516702 w 3099465"/>
              <a:gd name="connsiteY3-88" fmla="*/ 87926 h 3059046"/>
              <a:gd name="connsiteX4-89" fmla="*/ 2745331 w 3099465"/>
              <a:gd name="connsiteY4-90" fmla="*/ 0 h 3059046"/>
              <a:gd name="connsiteX5-91" fmla="*/ 3099465 w 3099465"/>
              <a:gd name="connsiteY5-92" fmla="*/ 78961 h 3059046"/>
              <a:gd name="connsiteX6-93" fmla="*/ 2874459 w 3099465"/>
              <a:gd name="connsiteY6-94" fmla="*/ 132749 h 3059046"/>
              <a:gd name="connsiteX7-95" fmla="*/ 2775847 w 3099465"/>
              <a:gd name="connsiteY7-96" fmla="*/ 3059046 h 3059046"/>
              <a:gd name="connsiteX8-97" fmla="*/ 0 w 3099465"/>
              <a:gd name="connsiteY8-98" fmla="*/ 3059046 h 3059046"/>
              <a:gd name="connsiteX9-99" fmla="*/ 0 w 3099465"/>
              <a:gd name="connsiteY9-100" fmla="*/ 2962155 h 3059046"/>
              <a:gd name="connsiteX0-101" fmla="*/ 0 w 3099465"/>
              <a:gd name="connsiteY0-102" fmla="*/ 2962155 h 3059046"/>
              <a:gd name="connsiteX1-103" fmla="*/ 2678956 w 3099465"/>
              <a:gd name="connsiteY1-104" fmla="*/ 2962155 h 3059046"/>
              <a:gd name="connsiteX2-105" fmla="*/ 2678956 w 3099465"/>
              <a:gd name="connsiteY2-106" fmla="*/ 61032 h 3059046"/>
              <a:gd name="connsiteX3-107" fmla="*/ 2516702 w 3099465"/>
              <a:gd name="connsiteY3-108" fmla="*/ 87926 h 3059046"/>
              <a:gd name="connsiteX4-109" fmla="*/ 2745331 w 3099465"/>
              <a:gd name="connsiteY4-110" fmla="*/ 0 h 3059046"/>
              <a:gd name="connsiteX5-111" fmla="*/ 3099465 w 3099465"/>
              <a:gd name="connsiteY5-112" fmla="*/ 78961 h 3059046"/>
              <a:gd name="connsiteX6-113" fmla="*/ 2874459 w 3099465"/>
              <a:gd name="connsiteY6-114" fmla="*/ 132749 h 3059046"/>
              <a:gd name="connsiteX7-115" fmla="*/ 2775847 w 3099465"/>
              <a:gd name="connsiteY7-116" fmla="*/ 3059046 h 3059046"/>
              <a:gd name="connsiteX8-117" fmla="*/ 0 w 3099465"/>
              <a:gd name="connsiteY8-118" fmla="*/ 3059046 h 3059046"/>
              <a:gd name="connsiteX9-119" fmla="*/ 0 w 3099465"/>
              <a:gd name="connsiteY9-120" fmla="*/ 2962155 h 3059046"/>
              <a:gd name="connsiteX0-121" fmla="*/ 0 w 3099465"/>
              <a:gd name="connsiteY0-122" fmla="*/ 2962155 h 3059046"/>
              <a:gd name="connsiteX1-123" fmla="*/ 2678956 w 3099465"/>
              <a:gd name="connsiteY1-124" fmla="*/ 2962155 h 3059046"/>
              <a:gd name="connsiteX2-125" fmla="*/ 2678956 w 3099465"/>
              <a:gd name="connsiteY2-126" fmla="*/ 61032 h 3059046"/>
              <a:gd name="connsiteX3-127" fmla="*/ 2516702 w 3099465"/>
              <a:gd name="connsiteY3-128" fmla="*/ 87926 h 3059046"/>
              <a:gd name="connsiteX4-129" fmla="*/ 2745331 w 3099465"/>
              <a:gd name="connsiteY4-130" fmla="*/ 0 h 3059046"/>
              <a:gd name="connsiteX5-131" fmla="*/ 3099465 w 3099465"/>
              <a:gd name="connsiteY5-132" fmla="*/ 78961 h 3059046"/>
              <a:gd name="connsiteX6-133" fmla="*/ 2766882 w 3099465"/>
              <a:gd name="connsiteY6-134" fmla="*/ 105855 h 3059046"/>
              <a:gd name="connsiteX7-135" fmla="*/ 2775847 w 3099465"/>
              <a:gd name="connsiteY7-136" fmla="*/ 3059046 h 3059046"/>
              <a:gd name="connsiteX8-137" fmla="*/ 0 w 3099465"/>
              <a:gd name="connsiteY8-138" fmla="*/ 3059046 h 3059046"/>
              <a:gd name="connsiteX9-139" fmla="*/ 0 w 3099465"/>
              <a:gd name="connsiteY9-140" fmla="*/ 2962155 h 3059046"/>
              <a:gd name="connsiteX0-141" fmla="*/ 0 w 3099465"/>
              <a:gd name="connsiteY0-142" fmla="*/ 2962155 h 3059046"/>
              <a:gd name="connsiteX1-143" fmla="*/ 2678956 w 3099465"/>
              <a:gd name="connsiteY1-144" fmla="*/ 2962155 h 3059046"/>
              <a:gd name="connsiteX2-145" fmla="*/ 2678956 w 3099465"/>
              <a:gd name="connsiteY2-146" fmla="*/ 61032 h 3059046"/>
              <a:gd name="connsiteX3-147" fmla="*/ 2516702 w 3099465"/>
              <a:gd name="connsiteY3-148" fmla="*/ 87926 h 3059046"/>
              <a:gd name="connsiteX4-149" fmla="*/ 2745331 w 3099465"/>
              <a:gd name="connsiteY4-150" fmla="*/ 0 h 3059046"/>
              <a:gd name="connsiteX5-151" fmla="*/ 3099465 w 3099465"/>
              <a:gd name="connsiteY5-152" fmla="*/ 78961 h 3059046"/>
              <a:gd name="connsiteX6-153" fmla="*/ 2766882 w 3099465"/>
              <a:gd name="connsiteY6-154" fmla="*/ 52066 h 3059046"/>
              <a:gd name="connsiteX7-155" fmla="*/ 2775847 w 3099465"/>
              <a:gd name="connsiteY7-156" fmla="*/ 3059046 h 3059046"/>
              <a:gd name="connsiteX8-157" fmla="*/ 0 w 3099465"/>
              <a:gd name="connsiteY8-158" fmla="*/ 3059046 h 3059046"/>
              <a:gd name="connsiteX9-159" fmla="*/ 0 w 3099465"/>
              <a:gd name="connsiteY9-160" fmla="*/ 2962155 h 3059046"/>
              <a:gd name="connsiteX0-161" fmla="*/ 0 w 2884312"/>
              <a:gd name="connsiteY0-162" fmla="*/ 2962155 h 3059046"/>
              <a:gd name="connsiteX1-163" fmla="*/ 2678956 w 2884312"/>
              <a:gd name="connsiteY1-164" fmla="*/ 2962155 h 3059046"/>
              <a:gd name="connsiteX2-165" fmla="*/ 2678956 w 2884312"/>
              <a:gd name="connsiteY2-166" fmla="*/ 61032 h 3059046"/>
              <a:gd name="connsiteX3-167" fmla="*/ 2516702 w 2884312"/>
              <a:gd name="connsiteY3-168" fmla="*/ 87926 h 3059046"/>
              <a:gd name="connsiteX4-169" fmla="*/ 2745331 w 2884312"/>
              <a:gd name="connsiteY4-170" fmla="*/ 0 h 3059046"/>
              <a:gd name="connsiteX5-171" fmla="*/ 2884312 w 2884312"/>
              <a:gd name="connsiteY5-172" fmla="*/ 87925 h 3059046"/>
              <a:gd name="connsiteX6-173" fmla="*/ 2766882 w 2884312"/>
              <a:gd name="connsiteY6-174" fmla="*/ 52066 h 3059046"/>
              <a:gd name="connsiteX7-175" fmla="*/ 2775847 w 2884312"/>
              <a:gd name="connsiteY7-176" fmla="*/ 3059046 h 3059046"/>
              <a:gd name="connsiteX8-177" fmla="*/ 0 w 2884312"/>
              <a:gd name="connsiteY8-178" fmla="*/ 3059046 h 3059046"/>
              <a:gd name="connsiteX9-179" fmla="*/ 0 w 2884312"/>
              <a:gd name="connsiteY9-180" fmla="*/ 2962155 h 3059046"/>
              <a:gd name="connsiteX0-181" fmla="*/ 0 w 2884312"/>
              <a:gd name="connsiteY0-182" fmla="*/ 2962155 h 3059046"/>
              <a:gd name="connsiteX1-183" fmla="*/ 2678956 w 2884312"/>
              <a:gd name="connsiteY1-184" fmla="*/ 2962155 h 3059046"/>
              <a:gd name="connsiteX2-185" fmla="*/ 2678956 w 2884312"/>
              <a:gd name="connsiteY2-186" fmla="*/ 61032 h 3059046"/>
              <a:gd name="connsiteX3-187" fmla="*/ 2516702 w 2884312"/>
              <a:gd name="connsiteY3-188" fmla="*/ 52067 h 3059046"/>
              <a:gd name="connsiteX4-189" fmla="*/ 2745331 w 2884312"/>
              <a:gd name="connsiteY4-190" fmla="*/ 0 h 3059046"/>
              <a:gd name="connsiteX5-191" fmla="*/ 2884312 w 2884312"/>
              <a:gd name="connsiteY5-192" fmla="*/ 87925 h 3059046"/>
              <a:gd name="connsiteX6-193" fmla="*/ 2766882 w 2884312"/>
              <a:gd name="connsiteY6-194" fmla="*/ 52066 h 3059046"/>
              <a:gd name="connsiteX7-195" fmla="*/ 2775847 w 2884312"/>
              <a:gd name="connsiteY7-196" fmla="*/ 3059046 h 3059046"/>
              <a:gd name="connsiteX8-197" fmla="*/ 0 w 2884312"/>
              <a:gd name="connsiteY8-198" fmla="*/ 3059046 h 3059046"/>
              <a:gd name="connsiteX9-199" fmla="*/ 0 w 2884312"/>
              <a:gd name="connsiteY9-200" fmla="*/ 2962155 h 3059046"/>
              <a:gd name="connsiteX0-201" fmla="*/ 0 w 2947065"/>
              <a:gd name="connsiteY0-202" fmla="*/ 2962155 h 3059046"/>
              <a:gd name="connsiteX1-203" fmla="*/ 2678956 w 2947065"/>
              <a:gd name="connsiteY1-204" fmla="*/ 2962155 h 3059046"/>
              <a:gd name="connsiteX2-205" fmla="*/ 2678956 w 2947065"/>
              <a:gd name="connsiteY2-206" fmla="*/ 61032 h 3059046"/>
              <a:gd name="connsiteX3-207" fmla="*/ 2516702 w 2947065"/>
              <a:gd name="connsiteY3-208" fmla="*/ 52067 h 3059046"/>
              <a:gd name="connsiteX4-209" fmla="*/ 2745331 w 2947065"/>
              <a:gd name="connsiteY4-210" fmla="*/ 0 h 3059046"/>
              <a:gd name="connsiteX5-211" fmla="*/ 2947065 w 2947065"/>
              <a:gd name="connsiteY5-212" fmla="*/ 16207 h 3059046"/>
              <a:gd name="connsiteX6-213" fmla="*/ 2766882 w 2947065"/>
              <a:gd name="connsiteY6-214" fmla="*/ 52066 h 3059046"/>
              <a:gd name="connsiteX7-215" fmla="*/ 2775847 w 2947065"/>
              <a:gd name="connsiteY7-216" fmla="*/ 3059046 h 3059046"/>
              <a:gd name="connsiteX8-217" fmla="*/ 0 w 2947065"/>
              <a:gd name="connsiteY8-218" fmla="*/ 3059046 h 3059046"/>
              <a:gd name="connsiteX9-219" fmla="*/ 0 w 2947065"/>
              <a:gd name="connsiteY9-220" fmla="*/ 2962155 h 3059046"/>
              <a:gd name="connsiteX0-221" fmla="*/ 0 w 2938101"/>
              <a:gd name="connsiteY0-222" fmla="*/ 2962155 h 3059046"/>
              <a:gd name="connsiteX1-223" fmla="*/ 2678956 w 2938101"/>
              <a:gd name="connsiteY1-224" fmla="*/ 2962155 h 3059046"/>
              <a:gd name="connsiteX2-225" fmla="*/ 2678956 w 2938101"/>
              <a:gd name="connsiteY2-226" fmla="*/ 61032 h 3059046"/>
              <a:gd name="connsiteX3-227" fmla="*/ 2516702 w 2938101"/>
              <a:gd name="connsiteY3-228" fmla="*/ 52067 h 3059046"/>
              <a:gd name="connsiteX4-229" fmla="*/ 2745331 w 2938101"/>
              <a:gd name="connsiteY4-230" fmla="*/ 0 h 3059046"/>
              <a:gd name="connsiteX5-231" fmla="*/ 2938101 w 2938101"/>
              <a:gd name="connsiteY5-232" fmla="*/ 52066 h 3059046"/>
              <a:gd name="connsiteX6-233" fmla="*/ 2766882 w 2938101"/>
              <a:gd name="connsiteY6-234" fmla="*/ 52066 h 3059046"/>
              <a:gd name="connsiteX7-235" fmla="*/ 2775847 w 2938101"/>
              <a:gd name="connsiteY7-236" fmla="*/ 3059046 h 3059046"/>
              <a:gd name="connsiteX8-237" fmla="*/ 0 w 2938101"/>
              <a:gd name="connsiteY8-238" fmla="*/ 3059046 h 3059046"/>
              <a:gd name="connsiteX9-239" fmla="*/ 0 w 2938101"/>
              <a:gd name="connsiteY9-240" fmla="*/ 2962155 h 3059046"/>
              <a:gd name="connsiteX0-241" fmla="*/ 0 w 2938101"/>
              <a:gd name="connsiteY0-242" fmla="*/ 2962155 h 3059046"/>
              <a:gd name="connsiteX1-243" fmla="*/ 2678956 w 2938101"/>
              <a:gd name="connsiteY1-244" fmla="*/ 2962155 h 3059046"/>
              <a:gd name="connsiteX2-245" fmla="*/ 2678956 w 2938101"/>
              <a:gd name="connsiteY2-246" fmla="*/ 61032 h 3059046"/>
              <a:gd name="connsiteX3-247" fmla="*/ 2579455 w 2938101"/>
              <a:gd name="connsiteY3-248" fmla="*/ 52067 h 3059046"/>
              <a:gd name="connsiteX4-249" fmla="*/ 2745331 w 2938101"/>
              <a:gd name="connsiteY4-250" fmla="*/ 0 h 3059046"/>
              <a:gd name="connsiteX5-251" fmla="*/ 2938101 w 2938101"/>
              <a:gd name="connsiteY5-252" fmla="*/ 52066 h 3059046"/>
              <a:gd name="connsiteX6-253" fmla="*/ 2766882 w 2938101"/>
              <a:gd name="connsiteY6-254" fmla="*/ 52066 h 3059046"/>
              <a:gd name="connsiteX7-255" fmla="*/ 2775847 w 2938101"/>
              <a:gd name="connsiteY7-256" fmla="*/ 3059046 h 3059046"/>
              <a:gd name="connsiteX8-257" fmla="*/ 0 w 2938101"/>
              <a:gd name="connsiteY8-258" fmla="*/ 3059046 h 3059046"/>
              <a:gd name="connsiteX9-259" fmla="*/ 0 w 2938101"/>
              <a:gd name="connsiteY9-260" fmla="*/ 2962155 h 3059046"/>
              <a:gd name="connsiteX0-261" fmla="*/ 0 w 2875348"/>
              <a:gd name="connsiteY0-262" fmla="*/ 2962155 h 3059046"/>
              <a:gd name="connsiteX1-263" fmla="*/ 2678956 w 2875348"/>
              <a:gd name="connsiteY1-264" fmla="*/ 2962155 h 3059046"/>
              <a:gd name="connsiteX2-265" fmla="*/ 2678956 w 2875348"/>
              <a:gd name="connsiteY2-266" fmla="*/ 61032 h 3059046"/>
              <a:gd name="connsiteX3-267" fmla="*/ 2579455 w 2875348"/>
              <a:gd name="connsiteY3-268" fmla="*/ 52067 h 3059046"/>
              <a:gd name="connsiteX4-269" fmla="*/ 2745331 w 2875348"/>
              <a:gd name="connsiteY4-270" fmla="*/ 0 h 3059046"/>
              <a:gd name="connsiteX5-271" fmla="*/ 2875348 w 2875348"/>
              <a:gd name="connsiteY5-272" fmla="*/ 52066 h 3059046"/>
              <a:gd name="connsiteX6-273" fmla="*/ 2766882 w 2875348"/>
              <a:gd name="connsiteY6-274" fmla="*/ 52066 h 3059046"/>
              <a:gd name="connsiteX7-275" fmla="*/ 2775847 w 2875348"/>
              <a:gd name="connsiteY7-276" fmla="*/ 3059046 h 3059046"/>
              <a:gd name="connsiteX8-277" fmla="*/ 0 w 2875348"/>
              <a:gd name="connsiteY8-278" fmla="*/ 3059046 h 3059046"/>
              <a:gd name="connsiteX9-279" fmla="*/ 0 w 2875348"/>
              <a:gd name="connsiteY9-280" fmla="*/ 2962155 h 3059046"/>
              <a:gd name="connsiteX0-281" fmla="*/ 0 w 2875348"/>
              <a:gd name="connsiteY0-282" fmla="*/ 2971120 h 3068011"/>
              <a:gd name="connsiteX1-283" fmla="*/ 2678956 w 2875348"/>
              <a:gd name="connsiteY1-284" fmla="*/ 2971120 h 3068011"/>
              <a:gd name="connsiteX2-285" fmla="*/ 2678956 w 2875348"/>
              <a:gd name="connsiteY2-286" fmla="*/ 69997 h 3068011"/>
              <a:gd name="connsiteX3-287" fmla="*/ 2579455 w 2875348"/>
              <a:gd name="connsiteY3-288" fmla="*/ 61032 h 3068011"/>
              <a:gd name="connsiteX4-289" fmla="*/ 2709472 w 2875348"/>
              <a:gd name="connsiteY4-290" fmla="*/ 0 h 3068011"/>
              <a:gd name="connsiteX5-291" fmla="*/ 2875348 w 2875348"/>
              <a:gd name="connsiteY5-292" fmla="*/ 61031 h 3068011"/>
              <a:gd name="connsiteX6-293" fmla="*/ 2766882 w 2875348"/>
              <a:gd name="connsiteY6-294" fmla="*/ 61031 h 3068011"/>
              <a:gd name="connsiteX7-295" fmla="*/ 2775847 w 2875348"/>
              <a:gd name="connsiteY7-296" fmla="*/ 3068011 h 3068011"/>
              <a:gd name="connsiteX8-297" fmla="*/ 0 w 2875348"/>
              <a:gd name="connsiteY8-298" fmla="*/ 3068011 h 3068011"/>
              <a:gd name="connsiteX9-299" fmla="*/ 0 w 2875348"/>
              <a:gd name="connsiteY9-300" fmla="*/ 2971120 h 3068011"/>
              <a:gd name="connsiteX0-301" fmla="*/ 0 w 2875348"/>
              <a:gd name="connsiteY0-302" fmla="*/ 2863809 h 3068011"/>
              <a:gd name="connsiteX1-303" fmla="*/ 2678956 w 2875348"/>
              <a:gd name="connsiteY1-304" fmla="*/ 2971120 h 3068011"/>
              <a:gd name="connsiteX2-305" fmla="*/ 2678956 w 2875348"/>
              <a:gd name="connsiteY2-306" fmla="*/ 69997 h 3068011"/>
              <a:gd name="connsiteX3-307" fmla="*/ 2579455 w 2875348"/>
              <a:gd name="connsiteY3-308" fmla="*/ 61032 h 3068011"/>
              <a:gd name="connsiteX4-309" fmla="*/ 2709472 w 2875348"/>
              <a:gd name="connsiteY4-310" fmla="*/ 0 h 3068011"/>
              <a:gd name="connsiteX5-311" fmla="*/ 2875348 w 2875348"/>
              <a:gd name="connsiteY5-312" fmla="*/ 61031 h 3068011"/>
              <a:gd name="connsiteX6-313" fmla="*/ 2766882 w 2875348"/>
              <a:gd name="connsiteY6-314" fmla="*/ 61031 h 3068011"/>
              <a:gd name="connsiteX7-315" fmla="*/ 2775847 w 2875348"/>
              <a:gd name="connsiteY7-316" fmla="*/ 3068011 h 3068011"/>
              <a:gd name="connsiteX8-317" fmla="*/ 0 w 2875348"/>
              <a:gd name="connsiteY8-318" fmla="*/ 3068011 h 3068011"/>
              <a:gd name="connsiteX9-319" fmla="*/ 0 w 2875348"/>
              <a:gd name="connsiteY9-320" fmla="*/ 2863809 h 3068011"/>
              <a:gd name="connsiteX0-321" fmla="*/ 0 w 2875348"/>
              <a:gd name="connsiteY0-322" fmla="*/ 2863809 h 3068011"/>
              <a:gd name="connsiteX1-323" fmla="*/ 2678957 w 2875348"/>
              <a:gd name="connsiteY1-324" fmla="*/ 2810157 h 3068011"/>
              <a:gd name="connsiteX2-325" fmla="*/ 2678956 w 2875348"/>
              <a:gd name="connsiteY2-326" fmla="*/ 69997 h 3068011"/>
              <a:gd name="connsiteX3-327" fmla="*/ 2579455 w 2875348"/>
              <a:gd name="connsiteY3-328" fmla="*/ 61032 h 3068011"/>
              <a:gd name="connsiteX4-329" fmla="*/ 2709472 w 2875348"/>
              <a:gd name="connsiteY4-330" fmla="*/ 0 h 3068011"/>
              <a:gd name="connsiteX5-331" fmla="*/ 2875348 w 2875348"/>
              <a:gd name="connsiteY5-332" fmla="*/ 61031 h 3068011"/>
              <a:gd name="connsiteX6-333" fmla="*/ 2766882 w 2875348"/>
              <a:gd name="connsiteY6-334" fmla="*/ 61031 h 3068011"/>
              <a:gd name="connsiteX7-335" fmla="*/ 2775847 w 2875348"/>
              <a:gd name="connsiteY7-336" fmla="*/ 3068011 h 3068011"/>
              <a:gd name="connsiteX8-337" fmla="*/ 0 w 2875348"/>
              <a:gd name="connsiteY8-338" fmla="*/ 3068011 h 3068011"/>
              <a:gd name="connsiteX9-339" fmla="*/ 0 w 2875348"/>
              <a:gd name="connsiteY9-340" fmla="*/ 2863809 h 3068011"/>
              <a:gd name="connsiteX0-341" fmla="*/ 0 w 2875348"/>
              <a:gd name="connsiteY0-342" fmla="*/ 2863809 h 3068011"/>
              <a:gd name="connsiteX1-343" fmla="*/ 2689407 w 2875348"/>
              <a:gd name="connsiteY1-344" fmla="*/ 2881697 h 3068011"/>
              <a:gd name="connsiteX2-345" fmla="*/ 2678956 w 2875348"/>
              <a:gd name="connsiteY2-346" fmla="*/ 69997 h 3068011"/>
              <a:gd name="connsiteX3-347" fmla="*/ 2579455 w 2875348"/>
              <a:gd name="connsiteY3-348" fmla="*/ 61032 h 3068011"/>
              <a:gd name="connsiteX4-349" fmla="*/ 2709472 w 2875348"/>
              <a:gd name="connsiteY4-350" fmla="*/ 0 h 3068011"/>
              <a:gd name="connsiteX5-351" fmla="*/ 2875348 w 2875348"/>
              <a:gd name="connsiteY5-352" fmla="*/ 61031 h 3068011"/>
              <a:gd name="connsiteX6-353" fmla="*/ 2766882 w 2875348"/>
              <a:gd name="connsiteY6-354" fmla="*/ 61031 h 3068011"/>
              <a:gd name="connsiteX7-355" fmla="*/ 2775847 w 2875348"/>
              <a:gd name="connsiteY7-356" fmla="*/ 3068011 h 3068011"/>
              <a:gd name="connsiteX8-357" fmla="*/ 0 w 2875348"/>
              <a:gd name="connsiteY8-358" fmla="*/ 3068011 h 3068011"/>
              <a:gd name="connsiteX9-359" fmla="*/ 0 w 2875348"/>
              <a:gd name="connsiteY9-360" fmla="*/ 2863809 h 30680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875348" h="3068011">
                <a:moveTo>
                  <a:pt x="0" y="2863809"/>
                </a:moveTo>
                <a:lnTo>
                  <a:pt x="2689407" y="2881697"/>
                </a:lnTo>
                <a:cubicBezTo>
                  <a:pt x="2689407" y="1968310"/>
                  <a:pt x="2678956" y="983384"/>
                  <a:pt x="2678956" y="69997"/>
                </a:cubicBezTo>
                <a:lnTo>
                  <a:pt x="2579455" y="61032"/>
                </a:lnTo>
                <a:lnTo>
                  <a:pt x="2709472" y="0"/>
                </a:lnTo>
                <a:lnTo>
                  <a:pt x="2875348" y="61031"/>
                </a:lnTo>
                <a:lnTo>
                  <a:pt x="2766882" y="61031"/>
                </a:lnTo>
                <a:cubicBezTo>
                  <a:pt x="2769870" y="1045428"/>
                  <a:pt x="2772859" y="2083614"/>
                  <a:pt x="2775847" y="3068011"/>
                </a:cubicBezTo>
                <a:lnTo>
                  <a:pt x="0" y="3068011"/>
                </a:lnTo>
                <a:lnTo>
                  <a:pt x="0" y="2863809"/>
                </a:lnTo>
                <a:close/>
              </a:path>
            </a:pathLst>
          </a:cu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439636" y="1990734"/>
            <a:ext cx="1415772" cy="461665"/>
          </a:xfrm>
          <a:prstGeom prst="rect">
            <a:avLst/>
          </a:prstGeom>
          <a:noFill/>
        </p:spPr>
        <p:txBody>
          <a:bodyPr wrap="none" rtlCol="0">
            <a:spAutoFit/>
          </a:bodyPr>
          <a:lstStyle/>
          <a:p>
            <a:pPr algn="ctr"/>
            <a:r>
              <a:rPr lang="zh-CN" altLang="en-US" sz="2400" dirty="0">
                <a:solidFill>
                  <a:srgbClr val="FF0000"/>
                </a:solidFill>
                <a:cs typeface="+mn-ea"/>
                <a:sym typeface="+mn-lt"/>
              </a:rPr>
              <a:t>修复图像</a:t>
            </a:r>
          </a:p>
        </p:txBody>
      </p:sp>
      <p:sp>
        <p:nvSpPr>
          <p:cNvPr id="22" name="箭头: 右 21"/>
          <p:cNvSpPr/>
          <p:nvPr/>
        </p:nvSpPr>
        <p:spPr>
          <a:xfrm flipH="1">
            <a:off x="9828791" y="4743567"/>
            <a:ext cx="571352" cy="7722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4" name="文本框 23"/>
          <p:cNvSpPr txBox="1"/>
          <p:nvPr/>
        </p:nvSpPr>
        <p:spPr>
          <a:xfrm>
            <a:off x="1149419" y="1042572"/>
            <a:ext cx="9460467" cy="923330"/>
          </a:xfrm>
          <a:prstGeom prst="rect">
            <a:avLst/>
          </a:prstGeom>
          <a:noFill/>
        </p:spPr>
        <p:txBody>
          <a:bodyPr wrap="square" rtlCol="0">
            <a:spAutoFit/>
          </a:bodyPr>
          <a:lstStyle/>
          <a:p>
            <a:r>
              <a:rPr lang="en-US" altLang="zh-CN" dirty="0"/>
              <a:t>       </a:t>
            </a:r>
            <a:r>
              <a:rPr lang="zh-CN" altLang="en-US" dirty="0"/>
              <a:t>该模块将待认证图像进行分块，提取其中嵌入的信息，根据海明码判定是否受损，若无受损则跳过，受损则进入修复流程。寻找该块与其关联块的映射块，提取备份信息，通过该备份信息进行图像生成，作为修复后的图像。此外根据是否受损可得到篡改定位图。</a:t>
            </a:r>
          </a:p>
        </p:txBody>
      </p:sp>
      <p:sp>
        <p:nvSpPr>
          <p:cNvPr id="26" name="文本框 25"/>
          <p:cNvSpPr txBox="1"/>
          <p:nvPr/>
        </p:nvSpPr>
        <p:spPr>
          <a:xfrm>
            <a:off x="5047381" y="4285573"/>
            <a:ext cx="1301959" cy="338554"/>
          </a:xfrm>
          <a:prstGeom prst="rect">
            <a:avLst/>
          </a:prstGeom>
          <a:noFill/>
        </p:spPr>
        <p:txBody>
          <a:bodyPr wrap="none" rtlCol="0">
            <a:spAutoFit/>
          </a:bodyPr>
          <a:lstStyle/>
          <a:p>
            <a:pPr algn="ctr"/>
            <a:r>
              <a:rPr lang="en-US" altLang="zh-CN" sz="1600" dirty="0">
                <a:solidFill>
                  <a:srgbClr val="4A5A69"/>
                </a:solidFill>
                <a:cs typeface="+mn-ea"/>
                <a:sym typeface="+mn-lt"/>
              </a:rPr>
              <a:t>No</a:t>
            </a:r>
            <a:r>
              <a:rPr lang="zh-CN" altLang="en-US" sz="1600" dirty="0">
                <a:solidFill>
                  <a:srgbClr val="4A5A69"/>
                </a:solidFill>
                <a:cs typeface="+mn-ea"/>
                <a:sym typeface="+mn-lt"/>
              </a:rPr>
              <a:t>（篡改）</a:t>
            </a:r>
          </a:p>
        </p:txBody>
      </p:sp>
      <p:sp>
        <p:nvSpPr>
          <p:cNvPr id="28" name="文本框 27"/>
          <p:cNvSpPr txBox="1"/>
          <p:nvPr/>
        </p:nvSpPr>
        <p:spPr>
          <a:xfrm>
            <a:off x="5494400" y="4775881"/>
            <a:ext cx="595035" cy="338554"/>
          </a:xfrm>
          <a:prstGeom prst="rect">
            <a:avLst/>
          </a:prstGeom>
          <a:noFill/>
        </p:spPr>
        <p:txBody>
          <a:bodyPr wrap="none" rtlCol="0">
            <a:spAutoFit/>
          </a:bodyPr>
          <a:lstStyle/>
          <a:p>
            <a:pPr algn="ctr"/>
            <a:r>
              <a:rPr lang="zh-CN" altLang="en-US" sz="1600" dirty="0">
                <a:solidFill>
                  <a:srgbClr val="4A5A69"/>
                </a:solidFill>
                <a:cs typeface="+mn-ea"/>
                <a:sym typeface="+mn-lt"/>
              </a:rPr>
              <a:t>密钥</a:t>
            </a:r>
          </a:p>
        </p:txBody>
      </p:sp>
      <p:sp>
        <p:nvSpPr>
          <p:cNvPr id="29" name="文本框 28"/>
          <p:cNvSpPr txBox="1"/>
          <p:nvPr/>
        </p:nvSpPr>
        <p:spPr>
          <a:xfrm>
            <a:off x="4311158" y="5336852"/>
            <a:ext cx="2339102" cy="830997"/>
          </a:xfrm>
          <a:prstGeom prst="rect">
            <a:avLst/>
          </a:prstGeom>
          <a:noFill/>
        </p:spPr>
        <p:txBody>
          <a:bodyPr wrap="none" rtlCol="0">
            <a:spAutoFit/>
          </a:bodyPr>
          <a:lstStyle/>
          <a:p>
            <a:pPr algn="ctr"/>
            <a:r>
              <a:rPr lang="zh-CN" altLang="en-US" sz="2400" dirty="0">
                <a:solidFill>
                  <a:srgbClr val="4A5A69"/>
                </a:solidFill>
                <a:cs typeface="+mn-ea"/>
                <a:sym typeface="+mn-lt"/>
              </a:rPr>
              <a:t>本身映射块</a:t>
            </a:r>
            <a:endParaRPr lang="en-US" altLang="zh-CN" sz="2400" dirty="0">
              <a:solidFill>
                <a:srgbClr val="4A5A69"/>
              </a:solidFill>
              <a:cs typeface="+mn-ea"/>
              <a:sym typeface="+mn-lt"/>
            </a:endParaRPr>
          </a:p>
          <a:p>
            <a:pPr algn="ctr"/>
            <a:r>
              <a:rPr lang="zh-CN" altLang="en-US" sz="2400" dirty="0">
                <a:solidFill>
                  <a:srgbClr val="4A5A69"/>
                </a:solidFill>
                <a:cs typeface="+mn-ea"/>
                <a:sym typeface="+mn-lt"/>
              </a:rPr>
              <a:t>关联块的映射块</a:t>
            </a:r>
          </a:p>
        </p:txBody>
      </p:sp>
      <p:sp>
        <p:nvSpPr>
          <p:cNvPr id="30" name="箭头: 右 29"/>
          <p:cNvSpPr/>
          <p:nvPr/>
        </p:nvSpPr>
        <p:spPr>
          <a:xfrm>
            <a:off x="6791607" y="5703108"/>
            <a:ext cx="1080481" cy="12550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31" name="文本框 30"/>
          <p:cNvSpPr txBox="1"/>
          <p:nvPr/>
        </p:nvSpPr>
        <p:spPr>
          <a:xfrm>
            <a:off x="6577066" y="5373384"/>
            <a:ext cx="1447833" cy="338554"/>
          </a:xfrm>
          <a:prstGeom prst="rect">
            <a:avLst/>
          </a:prstGeom>
          <a:noFill/>
        </p:spPr>
        <p:txBody>
          <a:bodyPr wrap="none" rtlCol="0">
            <a:spAutoFit/>
          </a:bodyPr>
          <a:lstStyle/>
          <a:p>
            <a:pPr algn="ctr"/>
            <a:r>
              <a:rPr lang="zh-CN" altLang="en-US" sz="1600" dirty="0">
                <a:solidFill>
                  <a:srgbClr val="4A5A69"/>
                </a:solidFill>
                <a:cs typeface="+mn-ea"/>
                <a:sym typeface="+mn-lt"/>
              </a:rPr>
              <a:t>嵌入信息提取</a:t>
            </a:r>
          </a:p>
        </p:txBody>
      </p:sp>
      <p:sp>
        <p:nvSpPr>
          <p:cNvPr id="32" name="文本框 31"/>
          <p:cNvSpPr txBox="1"/>
          <p:nvPr/>
        </p:nvSpPr>
        <p:spPr>
          <a:xfrm>
            <a:off x="7884393" y="5517637"/>
            <a:ext cx="4493538" cy="461665"/>
          </a:xfrm>
          <a:prstGeom prst="rect">
            <a:avLst/>
          </a:prstGeom>
          <a:noFill/>
        </p:spPr>
        <p:txBody>
          <a:bodyPr wrap="none" rtlCol="0">
            <a:spAutoFit/>
          </a:bodyPr>
          <a:lstStyle/>
          <a:p>
            <a:pPr algn="ctr"/>
            <a:r>
              <a:rPr lang="zh-CN" altLang="en-US" sz="2400" dirty="0">
                <a:solidFill>
                  <a:srgbClr val="4A5A69"/>
                </a:solidFill>
                <a:cs typeface="+mn-ea"/>
                <a:sym typeface="+mn-lt"/>
              </a:rPr>
              <a:t>原块的备份信息（均值，索引）</a:t>
            </a:r>
          </a:p>
        </p:txBody>
      </p:sp>
      <p:sp>
        <p:nvSpPr>
          <p:cNvPr id="33" name="文本框 32"/>
          <p:cNvSpPr txBox="1"/>
          <p:nvPr/>
        </p:nvSpPr>
        <p:spPr>
          <a:xfrm>
            <a:off x="775416" y="5295818"/>
            <a:ext cx="3044184" cy="1077218"/>
          </a:xfrm>
          <a:prstGeom prst="rect">
            <a:avLst/>
          </a:prstGeom>
          <a:noFill/>
        </p:spPr>
        <p:txBody>
          <a:bodyPr wrap="square" rtlCol="0">
            <a:spAutoFit/>
          </a:bodyPr>
          <a:lstStyle/>
          <a:p>
            <a:pPr algn="ctr"/>
            <a:r>
              <a:rPr lang="en-US" altLang="zh-CN" sz="1600" dirty="0">
                <a:solidFill>
                  <a:srgbClr val="4A5A69"/>
                </a:solidFill>
                <a:cs typeface="+mn-ea"/>
                <a:sym typeface="+mn-lt"/>
              </a:rPr>
              <a:t>Tips</a:t>
            </a:r>
            <a:r>
              <a:rPr lang="zh-CN" altLang="en-US" sz="1600" dirty="0">
                <a:solidFill>
                  <a:srgbClr val="4A5A69"/>
                </a:solidFill>
                <a:cs typeface="+mn-ea"/>
                <a:sym typeface="+mn-lt"/>
              </a:rPr>
              <a:t>：若本身与关联块的映射块皆被篡改则无法恢复，有其一未被篡改则能提取恢复信息。前者为极小概率事件。</a:t>
            </a:r>
          </a:p>
        </p:txBody>
      </p:sp>
      <p:sp>
        <p:nvSpPr>
          <p:cNvPr id="34" name="箭头: 下 33"/>
          <p:cNvSpPr/>
          <p:nvPr/>
        </p:nvSpPr>
        <p:spPr>
          <a:xfrm flipV="1">
            <a:off x="9023573" y="4987301"/>
            <a:ext cx="183831" cy="532941"/>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35" name="文本框 34"/>
          <p:cNvSpPr txBox="1"/>
          <p:nvPr/>
        </p:nvSpPr>
        <p:spPr>
          <a:xfrm>
            <a:off x="8413019" y="4541708"/>
            <a:ext cx="1415772" cy="461665"/>
          </a:xfrm>
          <a:prstGeom prst="rect">
            <a:avLst/>
          </a:prstGeom>
          <a:noFill/>
        </p:spPr>
        <p:txBody>
          <a:bodyPr wrap="none" rtlCol="0">
            <a:spAutoFit/>
          </a:bodyPr>
          <a:lstStyle/>
          <a:p>
            <a:pPr algn="ctr"/>
            <a:r>
              <a:rPr lang="zh-CN" altLang="en-US" sz="2400" dirty="0">
                <a:solidFill>
                  <a:srgbClr val="4A5A69"/>
                </a:solidFill>
                <a:cs typeface="+mn-ea"/>
                <a:sym typeface="+mn-lt"/>
              </a:rPr>
              <a:t>图像修复</a:t>
            </a:r>
          </a:p>
        </p:txBody>
      </p:sp>
      <p:sp>
        <p:nvSpPr>
          <p:cNvPr id="36" name="箭头: 下 35"/>
          <p:cNvSpPr/>
          <p:nvPr/>
        </p:nvSpPr>
        <p:spPr>
          <a:xfrm flipV="1">
            <a:off x="9023573" y="4025862"/>
            <a:ext cx="183831" cy="532941"/>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37" name="文本框 36"/>
          <p:cNvSpPr txBox="1"/>
          <p:nvPr/>
        </p:nvSpPr>
        <p:spPr>
          <a:xfrm>
            <a:off x="10378792" y="4611880"/>
            <a:ext cx="1568058" cy="338554"/>
          </a:xfrm>
          <a:prstGeom prst="rect">
            <a:avLst/>
          </a:prstGeom>
          <a:noFill/>
        </p:spPr>
        <p:txBody>
          <a:bodyPr wrap="none" rtlCol="0">
            <a:spAutoFit/>
          </a:bodyPr>
          <a:lstStyle/>
          <a:p>
            <a:pPr algn="ctr"/>
            <a:r>
              <a:rPr lang="zh-CN" altLang="en-US" sz="1600" dirty="0">
                <a:solidFill>
                  <a:srgbClr val="4A5A69"/>
                </a:solidFill>
                <a:cs typeface="+mn-ea"/>
                <a:sym typeface="+mn-lt"/>
              </a:rPr>
              <a:t>索引特征</a:t>
            </a:r>
            <a:r>
              <a:rPr lang="en-US" altLang="zh-CN" sz="1600" dirty="0">
                <a:solidFill>
                  <a:srgbClr val="4A5A69"/>
                </a:solidFill>
                <a:cs typeface="+mn-ea"/>
                <a:sym typeface="+mn-lt"/>
              </a:rPr>
              <a:t>+</a:t>
            </a:r>
            <a:r>
              <a:rPr lang="zh-CN" altLang="en-US" sz="1600" dirty="0">
                <a:solidFill>
                  <a:srgbClr val="4A5A69"/>
                </a:solidFill>
                <a:cs typeface="+mn-ea"/>
                <a:sym typeface="+mn-lt"/>
              </a:rPr>
              <a:t>均值</a:t>
            </a:r>
          </a:p>
        </p:txBody>
      </p:sp>
      <p:sp>
        <p:nvSpPr>
          <p:cNvPr id="38" name="箭头: 右 37"/>
          <p:cNvSpPr/>
          <p:nvPr/>
        </p:nvSpPr>
        <p:spPr>
          <a:xfrm flipH="1">
            <a:off x="1823671" y="3824757"/>
            <a:ext cx="2367030" cy="201105"/>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39" name="文本框 38"/>
          <p:cNvSpPr txBox="1"/>
          <p:nvPr/>
        </p:nvSpPr>
        <p:spPr>
          <a:xfrm>
            <a:off x="1991523" y="3542714"/>
            <a:ext cx="2031325" cy="338554"/>
          </a:xfrm>
          <a:prstGeom prst="rect">
            <a:avLst/>
          </a:prstGeom>
          <a:noFill/>
        </p:spPr>
        <p:txBody>
          <a:bodyPr wrap="none" rtlCol="0">
            <a:spAutoFit/>
          </a:bodyPr>
          <a:lstStyle/>
          <a:p>
            <a:pPr algn="ctr"/>
            <a:r>
              <a:rPr lang="zh-CN" altLang="en-US" sz="1600" dirty="0">
                <a:solidFill>
                  <a:srgbClr val="4A5A69"/>
                </a:solidFill>
                <a:cs typeface="+mn-ea"/>
                <a:sym typeface="+mn-lt"/>
              </a:rPr>
              <a:t>对每个块的篡改判断</a:t>
            </a:r>
          </a:p>
        </p:txBody>
      </p:sp>
      <p:sp>
        <p:nvSpPr>
          <p:cNvPr id="40" name="文本框 39"/>
          <p:cNvSpPr txBox="1"/>
          <p:nvPr/>
        </p:nvSpPr>
        <p:spPr>
          <a:xfrm>
            <a:off x="208941" y="3694476"/>
            <a:ext cx="1720343" cy="461665"/>
          </a:xfrm>
          <a:prstGeom prst="rect">
            <a:avLst/>
          </a:prstGeom>
          <a:noFill/>
        </p:spPr>
        <p:txBody>
          <a:bodyPr wrap="none" rtlCol="0">
            <a:spAutoFit/>
          </a:bodyPr>
          <a:lstStyle/>
          <a:p>
            <a:pPr algn="ctr"/>
            <a:r>
              <a:rPr lang="zh-CN" altLang="en-US" sz="2400" dirty="0">
                <a:solidFill>
                  <a:srgbClr val="FF0000"/>
                </a:solidFill>
                <a:cs typeface="+mn-ea"/>
                <a:sym typeface="+mn-lt"/>
              </a:rPr>
              <a:t>篡改定位图</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43027" y="3764881"/>
            <a:ext cx="2011680" cy="460375"/>
          </a:xfrm>
          <a:prstGeom prst="rect">
            <a:avLst/>
          </a:prstGeom>
          <a:noFill/>
        </p:spPr>
        <p:txBody>
          <a:bodyPr wrap="none" rtlCol="0">
            <a:spAutoFit/>
          </a:bodyPr>
          <a:lstStyle/>
          <a:p>
            <a:pPr algn="ctr"/>
            <a:r>
              <a:rPr lang="zh-CN" altLang="en-US" sz="2400" dirty="0">
                <a:solidFill>
                  <a:srgbClr val="FF0000"/>
                </a:solidFill>
                <a:cs typeface="+mn-ea"/>
                <a:sym typeface="+mn-lt"/>
              </a:rPr>
              <a:t>用户选择功能</a:t>
            </a:r>
          </a:p>
        </p:txBody>
      </p:sp>
      <p:sp>
        <p:nvSpPr>
          <p:cNvPr id="13" name="文本框 12"/>
          <p:cNvSpPr txBox="1"/>
          <p:nvPr/>
        </p:nvSpPr>
        <p:spPr>
          <a:xfrm>
            <a:off x="3918013" y="379118"/>
            <a:ext cx="4185761" cy="646331"/>
          </a:xfrm>
          <a:prstGeom prst="rect">
            <a:avLst/>
          </a:prstGeom>
          <a:noFill/>
        </p:spPr>
        <p:txBody>
          <a:bodyPr wrap="none" rtlCol="0">
            <a:spAutoFit/>
          </a:bodyPr>
          <a:lstStyle/>
          <a:p>
            <a:pPr algn="ctr"/>
            <a:r>
              <a:rPr lang="zh-CN" altLang="en-US" sz="3600" spc="300" dirty="0">
                <a:solidFill>
                  <a:srgbClr val="4A5A69"/>
                </a:solidFill>
                <a:cs typeface="+mn-ea"/>
                <a:sym typeface="+mn-lt"/>
              </a:rPr>
              <a:t>用户图形界面模块</a:t>
            </a:r>
          </a:p>
        </p:txBody>
      </p:sp>
      <p:sp>
        <p:nvSpPr>
          <p:cNvPr id="14" name="箭头: 右 13"/>
          <p:cNvSpPr/>
          <p:nvPr/>
        </p:nvSpPr>
        <p:spPr>
          <a:xfrm>
            <a:off x="2730500" y="3875405"/>
            <a:ext cx="868045" cy="27940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dirty="0"/>
          </a:p>
        </p:txBody>
      </p:sp>
      <p:sp>
        <p:nvSpPr>
          <p:cNvPr id="16" name="文本框 15"/>
          <p:cNvSpPr txBox="1"/>
          <p:nvPr/>
        </p:nvSpPr>
        <p:spPr>
          <a:xfrm>
            <a:off x="3983020" y="2999331"/>
            <a:ext cx="589280" cy="337185"/>
          </a:xfrm>
          <a:prstGeom prst="rect">
            <a:avLst/>
          </a:prstGeom>
          <a:noFill/>
        </p:spPr>
        <p:txBody>
          <a:bodyPr wrap="none" rtlCol="0">
            <a:spAutoFit/>
          </a:bodyPr>
          <a:lstStyle/>
          <a:p>
            <a:pPr algn="ctr"/>
            <a:r>
              <a:rPr lang="zh-CN" altLang="en-US" sz="1600" dirty="0">
                <a:solidFill>
                  <a:srgbClr val="4A5A69"/>
                </a:solidFill>
                <a:cs typeface="+mn-ea"/>
                <a:sym typeface="+mn-lt"/>
              </a:rPr>
              <a:t>显示</a:t>
            </a:r>
          </a:p>
        </p:txBody>
      </p:sp>
      <p:sp>
        <p:nvSpPr>
          <p:cNvPr id="18" name="箭头: 右 17"/>
          <p:cNvSpPr/>
          <p:nvPr/>
        </p:nvSpPr>
        <p:spPr>
          <a:xfrm>
            <a:off x="8744372" y="3867785"/>
            <a:ext cx="1080481" cy="25101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9747833" y="3747695"/>
            <a:ext cx="1723549" cy="461665"/>
          </a:xfrm>
          <a:prstGeom prst="rect">
            <a:avLst/>
          </a:prstGeom>
          <a:noFill/>
        </p:spPr>
        <p:txBody>
          <a:bodyPr wrap="none" rtlCol="0">
            <a:spAutoFit/>
          </a:bodyPr>
          <a:lstStyle/>
          <a:p>
            <a:pPr algn="ctr"/>
            <a:r>
              <a:rPr lang="zh-CN" altLang="en-US" sz="2400" dirty="0">
                <a:solidFill>
                  <a:srgbClr val="FF0000"/>
                </a:solidFill>
                <a:cs typeface="+mn-ea"/>
                <a:sym typeface="+mn-lt"/>
              </a:rPr>
              <a:t>处理后图片</a:t>
            </a:r>
          </a:p>
        </p:txBody>
      </p:sp>
      <p:sp>
        <p:nvSpPr>
          <p:cNvPr id="21" name="文本框 20"/>
          <p:cNvSpPr txBox="1"/>
          <p:nvPr/>
        </p:nvSpPr>
        <p:spPr>
          <a:xfrm>
            <a:off x="1280657" y="1372452"/>
            <a:ext cx="9460467" cy="646331"/>
          </a:xfrm>
          <a:prstGeom prst="rect">
            <a:avLst/>
          </a:prstGeom>
          <a:noFill/>
        </p:spPr>
        <p:txBody>
          <a:bodyPr wrap="square" rtlCol="0">
            <a:spAutoFit/>
          </a:bodyPr>
          <a:lstStyle/>
          <a:p>
            <a:r>
              <a:rPr lang="zh-CN" altLang="en-US" dirty="0"/>
              <a:t>       该模块将用户的选择响应到相应功能模块，用户选择图片并显示，调用对应函数实现图片处理后显示，可进行保存。</a:t>
            </a:r>
          </a:p>
        </p:txBody>
      </p:sp>
      <p:sp>
        <p:nvSpPr>
          <p:cNvPr id="4" name="文本框 3"/>
          <p:cNvSpPr txBox="1"/>
          <p:nvPr/>
        </p:nvSpPr>
        <p:spPr>
          <a:xfrm>
            <a:off x="5113835" y="4115259"/>
            <a:ext cx="2170033" cy="584775"/>
          </a:xfrm>
          <a:prstGeom prst="rect">
            <a:avLst/>
          </a:prstGeom>
          <a:noFill/>
        </p:spPr>
        <p:txBody>
          <a:bodyPr wrap="square" rtlCol="0">
            <a:spAutoFit/>
          </a:bodyPr>
          <a:lstStyle/>
          <a:p>
            <a:r>
              <a:rPr lang="zh-CN" altLang="en-US" sz="1600" spc="300" dirty="0">
                <a:solidFill>
                  <a:srgbClr val="4A5A69"/>
                </a:solidFill>
                <a:cs typeface="+mn-ea"/>
                <a:sym typeface="+mn-lt"/>
              </a:rPr>
              <a:t>调用对应模块返回处理后图片的函数</a:t>
            </a:r>
            <a:endParaRPr lang="zh-CN" altLang="en-US" sz="1600" dirty="0">
              <a:solidFill>
                <a:srgbClr val="4A5A69"/>
              </a:solidFill>
              <a:cs typeface="+mn-ea"/>
              <a:sym typeface="+mn-lt"/>
            </a:endParaRPr>
          </a:p>
        </p:txBody>
      </p:sp>
      <p:sp>
        <p:nvSpPr>
          <p:cNvPr id="6" name="文本框 5"/>
          <p:cNvSpPr txBox="1"/>
          <p:nvPr/>
        </p:nvSpPr>
        <p:spPr>
          <a:xfrm>
            <a:off x="3606412" y="3783363"/>
            <a:ext cx="1569811" cy="461665"/>
          </a:xfrm>
          <a:prstGeom prst="rect">
            <a:avLst/>
          </a:prstGeom>
          <a:noFill/>
        </p:spPr>
        <p:txBody>
          <a:bodyPr wrap="square" rtlCol="0">
            <a:spAutoFit/>
          </a:bodyPr>
          <a:lstStyle/>
          <a:p>
            <a:r>
              <a:rPr lang="zh-CN" altLang="en-US" sz="2400" spc="300" dirty="0">
                <a:solidFill>
                  <a:srgbClr val="4A5A69"/>
                </a:solidFill>
                <a:cs typeface="+mn-ea"/>
                <a:sym typeface="+mn-lt"/>
              </a:rPr>
              <a:t>选择图片</a:t>
            </a:r>
            <a:endParaRPr lang="zh-CN" altLang="en-US" sz="2400" dirty="0">
              <a:solidFill>
                <a:srgbClr val="4A5A69"/>
              </a:solidFill>
              <a:cs typeface="+mn-ea"/>
              <a:sym typeface="+mn-lt"/>
            </a:endParaRPr>
          </a:p>
        </p:txBody>
      </p:sp>
      <p:sp>
        <p:nvSpPr>
          <p:cNvPr id="7" name="文本框 6"/>
          <p:cNvSpPr txBox="1"/>
          <p:nvPr/>
        </p:nvSpPr>
        <p:spPr>
          <a:xfrm>
            <a:off x="5417178" y="3574966"/>
            <a:ext cx="1415772" cy="338554"/>
          </a:xfrm>
          <a:prstGeom prst="rect">
            <a:avLst/>
          </a:prstGeom>
          <a:noFill/>
        </p:spPr>
        <p:txBody>
          <a:bodyPr wrap="square" rtlCol="0">
            <a:spAutoFit/>
          </a:bodyPr>
          <a:lstStyle/>
          <a:p>
            <a:r>
              <a:rPr lang="zh-CN" altLang="en-US" sz="1600" spc="300" dirty="0">
                <a:solidFill>
                  <a:srgbClr val="4A5A69"/>
                </a:solidFill>
                <a:cs typeface="+mn-ea"/>
                <a:sym typeface="+mn-lt"/>
              </a:rPr>
              <a:t>信号槽函数</a:t>
            </a:r>
            <a:endParaRPr lang="zh-CN" altLang="en-US" sz="1600" dirty="0">
              <a:solidFill>
                <a:srgbClr val="4A5A69"/>
              </a:solidFill>
              <a:cs typeface="+mn-ea"/>
              <a:sym typeface="+mn-lt"/>
            </a:endParaRPr>
          </a:p>
        </p:txBody>
      </p:sp>
      <p:sp>
        <p:nvSpPr>
          <p:cNvPr id="8" name="箭头: 右 7"/>
          <p:cNvSpPr/>
          <p:nvPr/>
        </p:nvSpPr>
        <p:spPr>
          <a:xfrm>
            <a:off x="5121603" y="3867785"/>
            <a:ext cx="2107578" cy="292819"/>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dirty="0"/>
          </a:p>
        </p:txBody>
      </p:sp>
      <p:sp>
        <p:nvSpPr>
          <p:cNvPr id="9" name="箭头: 右 8"/>
          <p:cNvSpPr/>
          <p:nvPr/>
        </p:nvSpPr>
        <p:spPr>
          <a:xfrm rot="16200000">
            <a:off x="4047039" y="3474067"/>
            <a:ext cx="461665" cy="22689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 name="文本框 9"/>
          <p:cNvSpPr txBox="1"/>
          <p:nvPr/>
        </p:nvSpPr>
        <p:spPr>
          <a:xfrm>
            <a:off x="7229181" y="3747696"/>
            <a:ext cx="1569811" cy="461665"/>
          </a:xfrm>
          <a:prstGeom prst="rect">
            <a:avLst/>
          </a:prstGeom>
          <a:noFill/>
        </p:spPr>
        <p:txBody>
          <a:bodyPr wrap="square" rtlCol="0">
            <a:spAutoFit/>
          </a:bodyPr>
          <a:lstStyle/>
          <a:p>
            <a:r>
              <a:rPr lang="zh-CN" altLang="en-US" sz="2400" spc="300" dirty="0">
                <a:solidFill>
                  <a:srgbClr val="4A5A69"/>
                </a:solidFill>
                <a:cs typeface="+mn-ea"/>
                <a:sym typeface="+mn-lt"/>
              </a:rPr>
              <a:t>处理图片</a:t>
            </a:r>
            <a:endParaRPr lang="zh-CN" altLang="en-US" sz="2400" dirty="0">
              <a:solidFill>
                <a:srgbClr val="4A5A69"/>
              </a:solidFill>
              <a:cs typeface="+mn-ea"/>
              <a:sym typeface="+mn-lt"/>
            </a:endParaRPr>
          </a:p>
        </p:txBody>
      </p:sp>
      <p:sp>
        <p:nvSpPr>
          <p:cNvPr id="11" name="箭头: 右 10"/>
          <p:cNvSpPr/>
          <p:nvPr/>
        </p:nvSpPr>
        <p:spPr>
          <a:xfrm rot="16200000">
            <a:off x="7723092" y="3453566"/>
            <a:ext cx="461665" cy="22689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0" name="文本框 19"/>
          <p:cNvSpPr txBox="1"/>
          <p:nvPr/>
        </p:nvSpPr>
        <p:spPr>
          <a:xfrm>
            <a:off x="6986542" y="3017833"/>
            <a:ext cx="2161655" cy="338554"/>
          </a:xfrm>
          <a:prstGeom prst="rect">
            <a:avLst/>
          </a:prstGeom>
          <a:noFill/>
        </p:spPr>
        <p:txBody>
          <a:bodyPr wrap="square" rtlCol="0">
            <a:spAutoFit/>
          </a:bodyPr>
          <a:lstStyle/>
          <a:p>
            <a:r>
              <a:rPr lang="en-US" altLang="zh-CN" sz="1600" dirty="0">
                <a:solidFill>
                  <a:srgbClr val="4A5A69"/>
                </a:solidFill>
                <a:cs typeface="+mn-ea"/>
                <a:sym typeface="+mn-lt"/>
              </a:rPr>
              <a:t>Label</a:t>
            </a:r>
            <a:r>
              <a:rPr lang="zh-CN" altLang="en-US" sz="1600" dirty="0">
                <a:solidFill>
                  <a:srgbClr val="4A5A69"/>
                </a:solidFill>
                <a:cs typeface="+mn-ea"/>
                <a:sym typeface="+mn-lt"/>
              </a:rPr>
              <a:t>框显示处理进度</a:t>
            </a:r>
          </a:p>
        </p:txBody>
      </p:sp>
      <p:sp>
        <p:nvSpPr>
          <p:cNvPr id="22" name="箭头: 右 21"/>
          <p:cNvSpPr/>
          <p:nvPr/>
        </p:nvSpPr>
        <p:spPr>
          <a:xfrm rot="5400000">
            <a:off x="10228774" y="4477319"/>
            <a:ext cx="761665" cy="245307"/>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3" name="文本框 22"/>
          <p:cNvSpPr txBox="1"/>
          <p:nvPr/>
        </p:nvSpPr>
        <p:spPr>
          <a:xfrm>
            <a:off x="9901571" y="4990585"/>
            <a:ext cx="1569811" cy="461665"/>
          </a:xfrm>
          <a:prstGeom prst="rect">
            <a:avLst/>
          </a:prstGeom>
          <a:noFill/>
        </p:spPr>
        <p:txBody>
          <a:bodyPr wrap="square" rtlCol="0">
            <a:spAutoFit/>
          </a:bodyPr>
          <a:lstStyle/>
          <a:p>
            <a:r>
              <a:rPr lang="zh-CN" altLang="en-US" sz="2400" spc="300" dirty="0">
                <a:solidFill>
                  <a:srgbClr val="4A5A69"/>
                </a:solidFill>
                <a:cs typeface="+mn-ea"/>
                <a:sym typeface="+mn-lt"/>
              </a:rPr>
              <a:t>保存图片</a:t>
            </a:r>
            <a:endParaRPr lang="zh-CN" altLang="en-US" sz="2400" dirty="0">
              <a:solidFill>
                <a:srgbClr val="4A5A69"/>
              </a:solidFill>
              <a:cs typeface="+mn-ea"/>
              <a:sym typeface="+mn-lt"/>
            </a:endParaRPr>
          </a:p>
        </p:txBody>
      </p:sp>
      <p:sp>
        <p:nvSpPr>
          <p:cNvPr id="2" name="箭头: 右 8"/>
          <p:cNvSpPr/>
          <p:nvPr/>
        </p:nvSpPr>
        <p:spPr>
          <a:xfrm rot="16200000">
            <a:off x="1518469" y="3453747"/>
            <a:ext cx="461665" cy="22689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 name="文本框 4"/>
          <p:cNvSpPr txBox="1"/>
          <p:nvPr/>
        </p:nvSpPr>
        <p:spPr>
          <a:xfrm>
            <a:off x="751505" y="2999331"/>
            <a:ext cx="1996440" cy="337185"/>
          </a:xfrm>
          <a:prstGeom prst="rect">
            <a:avLst/>
          </a:prstGeom>
          <a:noFill/>
        </p:spPr>
        <p:txBody>
          <a:bodyPr wrap="none" rtlCol="0">
            <a:spAutoFit/>
          </a:bodyPr>
          <a:lstStyle/>
          <a:p>
            <a:pPr algn="ctr"/>
            <a:r>
              <a:rPr lang="en-US" altLang="zh-CN" sz="1600" dirty="0">
                <a:solidFill>
                  <a:srgbClr val="4A5A69"/>
                </a:solidFill>
                <a:cs typeface="+mn-ea"/>
                <a:sym typeface="+mn-lt"/>
              </a:rPr>
              <a:t>Tabwidget</a:t>
            </a:r>
            <a:r>
              <a:rPr lang="zh-CN" altLang="en-US" sz="1600" dirty="0">
                <a:solidFill>
                  <a:srgbClr val="4A5A69"/>
                </a:solidFill>
                <a:cs typeface="+mn-ea"/>
                <a:sym typeface="+mn-lt"/>
              </a:rPr>
              <a:t>跳转界面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51359" y="1792737"/>
            <a:ext cx="5609228" cy="769441"/>
          </a:xfrm>
          <a:prstGeom prst="rect">
            <a:avLst/>
          </a:prstGeom>
          <a:noFill/>
        </p:spPr>
        <p:txBody>
          <a:bodyPr wrap="none" rtlCol="0">
            <a:spAutoFit/>
          </a:bodyPr>
          <a:lstStyle/>
          <a:p>
            <a:pPr algn="ctr"/>
            <a:r>
              <a:rPr lang="zh-CN" altLang="en-US" sz="4400" spc="300" dirty="0">
                <a:solidFill>
                  <a:srgbClr val="4A5A69"/>
                </a:solidFill>
                <a:cs typeface="+mn-ea"/>
                <a:sym typeface="+mn-lt"/>
              </a:rPr>
              <a:t>程序流程与程序分析</a:t>
            </a:r>
          </a:p>
        </p:txBody>
      </p:sp>
      <p:sp>
        <p:nvSpPr>
          <p:cNvPr id="8" name="文本框 7"/>
          <p:cNvSpPr txBox="1"/>
          <p:nvPr/>
        </p:nvSpPr>
        <p:spPr>
          <a:xfrm>
            <a:off x="1516954" y="763723"/>
            <a:ext cx="2830181" cy="769441"/>
          </a:xfrm>
          <a:prstGeom prst="rect">
            <a:avLst/>
          </a:prstGeom>
          <a:noFill/>
        </p:spPr>
        <p:txBody>
          <a:bodyPr wrap="square" rtlCol="0">
            <a:spAutoFit/>
          </a:bodyPr>
          <a:lstStyle>
            <a:defPPr>
              <a:defRPr lang="zh-CN"/>
            </a:defPPr>
            <a:lvl1pPr algn="r">
              <a:defRPr sz="4000"/>
            </a:lvl1pPr>
          </a:lstStyle>
          <a:p>
            <a:pPr algn="l"/>
            <a:r>
              <a:rPr lang="en-US" altLang="zh-CN" sz="4400" dirty="0">
                <a:solidFill>
                  <a:srgbClr val="92A3B8"/>
                </a:solidFill>
                <a:cs typeface="+mn-ea"/>
                <a:sym typeface="+mn-lt"/>
              </a:rPr>
              <a:t>PART 03</a:t>
            </a:r>
            <a:endParaRPr lang="zh-CN" altLang="en-US" sz="4400" dirty="0">
              <a:solidFill>
                <a:srgbClr val="92A3B8"/>
              </a:solidFill>
              <a:cs typeface="+mn-ea"/>
              <a:sym typeface="+mn-lt"/>
            </a:endParaRPr>
          </a:p>
        </p:txBody>
      </p:sp>
      <p:sp>
        <p:nvSpPr>
          <p:cNvPr id="2" name="文本框 1"/>
          <p:cNvSpPr txBox="1"/>
          <p:nvPr/>
        </p:nvSpPr>
        <p:spPr>
          <a:xfrm>
            <a:off x="1543849" y="3376878"/>
            <a:ext cx="3496470" cy="461665"/>
          </a:xfrm>
          <a:prstGeom prst="rect">
            <a:avLst/>
          </a:prstGeom>
          <a:noFill/>
        </p:spPr>
        <p:txBody>
          <a:bodyPr wrap="none" rtlCol="0">
            <a:spAutoFit/>
          </a:bodyPr>
          <a:lstStyle/>
          <a:p>
            <a:pPr algn="ctr"/>
            <a:r>
              <a:rPr lang="en-US" altLang="zh-CN" sz="2400" dirty="0">
                <a:solidFill>
                  <a:srgbClr val="4A5A69"/>
                </a:solidFill>
                <a:cs typeface="+mn-ea"/>
                <a:sym typeface="+mn-lt"/>
              </a:rPr>
              <a:t>kmeans.py(</a:t>
            </a:r>
            <a:r>
              <a:rPr lang="zh-CN" altLang="en-US" sz="2400" dirty="0">
                <a:solidFill>
                  <a:srgbClr val="4A5A69"/>
                </a:solidFill>
                <a:cs typeface="+mn-ea"/>
                <a:sym typeface="+mn-lt"/>
              </a:rPr>
              <a:t>预处理模块</a:t>
            </a:r>
            <a:r>
              <a:rPr lang="en-US" altLang="zh-CN" sz="2400" dirty="0">
                <a:solidFill>
                  <a:srgbClr val="4A5A69"/>
                </a:solidFill>
                <a:cs typeface="+mn-ea"/>
                <a:sym typeface="+mn-lt"/>
              </a:rPr>
              <a:t>)</a:t>
            </a:r>
            <a:endParaRPr lang="zh-CN" altLang="en-US" sz="2400" dirty="0">
              <a:solidFill>
                <a:srgbClr val="4A5A69"/>
              </a:solidFill>
              <a:cs typeface="+mn-ea"/>
              <a:sym typeface="+mn-lt"/>
            </a:endParaRPr>
          </a:p>
        </p:txBody>
      </p:sp>
      <p:sp>
        <p:nvSpPr>
          <p:cNvPr id="5" name="文本框 4"/>
          <p:cNvSpPr txBox="1"/>
          <p:nvPr/>
        </p:nvSpPr>
        <p:spPr>
          <a:xfrm>
            <a:off x="1516954" y="4101363"/>
            <a:ext cx="3894464" cy="461665"/>
          </a:xfrm>
          <a:prstGeom prst="rect">
            <a:avLst/>
          </a:prstGeom>
          <a:noFill/>
        </p:spPr>
        <p:txBody>
          <a:bodyPr wrap="none" rtlCol="0">
            <a:spAutoFit/>
          </a:bodyPr>
          <a:lstStyle/>
          <a:p>
            <a:pPr algn="ctr"/>
            <a:r>
              <a:rPr lang="en-US" altLang="zh-CN" sz="2400" dirty="0">
                <a:solidFill>
                  <a:srgbClr val="4A5A69"/>
                </a:solidFill>
                <a:cs typeface="+mn-ea"/>
                <a:sym typeface="+mn-lt"/>
              </a:rPr>
              <a:t>Model1.py(</a:t>
            </a:r>
            <a:r>
              <a:rPr lang="zh-CN" altLang="en-US" sz="2400" dirty="0">
                <a:solidFill>
                  <a:srgbClr val="4A5A69"/>
                </a:solidFill>
                <a:cs typeface="+mn-ea"/>
                <a:sym typeface="+mn-lt"/>
              </a:rPr>
              <a:t>信息嵌入模块</a:t>
            </a:r>
            <a:r>
              <a:rPr lang="en-US" altLang="zh-CN" sz="2400" dirty="0">
                <a:solidFill>
                  <a:srgbClr val="4A5A69"/>
                </a:solidFill>
                <a:cs typeface="+mn-ea"/>
                <a:sym typeface="+mn-lt"/>
              </a:rPr>
              <a:t>)</a:t>
            </a:r>
            <a:endParaRPr lang="zh-CN" altLang="en-US" sz="2400" dirty="0">
              <a:solidFill>
                <a:srgbClr val="4A5A69"/>
              </a:solidFill>
              <a:cs typeface="+mn-ea"/>
              <a:sym typeface="+mn-lt"/>
            </a:endParaRPr>
          </a:p>
        </p:txBody>
      </p:sp>
      <p:sp>
        <p:nvSpPr>
          <p:cNvPr id="6" name="文本框 5"/>
          <p:cNvSpPr txBox="1"/>
          <p:nvPr/>
        </p:nvSpPr>
        <p:spPr>
          <a:xfrm>
            <a:off x="1543849" y="4743546"/>
            <a:ext cx="5033750" cy="461665"/>
          </a:xfrm>
          <a:prstGeom prst="rect">
            <a:avLst/>
          </a:prstGeom>
          <a:noFill/>
        </p:spPr>
        <p:txBody>
          <a:bodyPr wrap="none" rtlCol="0">
            <a:spAutoFit/>
          </a:bodyPr>
          <a:lstStyle/>
          <a:p>
            <a:pPr algn="ctr"/>
            <a:r>
              <a:rPr lang="en-US" altLang="zh-CN" sz="2400" dirty="0">
                <a:solidFill>
                  <a:srgbClr val="4A5A69"/>
                </a:solidFill>
                <a:cs typeface="+mn-ea"/>
                <a:sym typeface="+mn-lt"/>
              </a:rPr>
              <a:t>Model2.py(</a:t>
            </a:r>
            <a:r>
              <a:rPr lang="zh-CN" altLang="en-US" sz="2400" dirty="0">
                <a:solidFill>
                  <a:srgbClr val="4A5A69"/>
                </a:solidFill>
                <a:cs typeface="+mn-ea"/>
                <a:sym typeface="+mn-lt"/>
              </a:rPr>
              <a:t>完整性认证及修复模块</a:t>
            </a:r>
            <a:r>
              <a:rPr lang="en-US" altLang="zh-CN" sz="2400" dirty="0">
                <a:solidFill>
                  <a:srgbClr val="4A5A69"/>
                </a:solidFill>
                <a:cs typeface="+mn-ea"/>
                <a:sym typeface="+mn-lt"/>
              </a:rPr>
              <a:t>)</a:t>
            </a:r>
            <a:endParaRPr lang="zh-CN" altLang="en-US" sz="2400" dirty="0">
              <a:solidFill>
                <a:srgbClr val="4A5A69"/>
              </a:solidFill>
              <a:cs typeface="+mn-ea"/>
              <a:sym typeface="+mn-lt"/>
            </a:endParaRPr>
          </a:p>
        </p:txBody>
      </p:sp>
      <p:sp>
        <p:nvSpPr>
          <p:cNvPr id="7" name="文本框 6"/>
          <p:cNvSpPr txBox="1"/>
          <p:nvPr/>
        </p:nvSpPr>
        <p:spPr>
          <a:xfrm>
            <a:off x="1543849" y="5407660"/>
            <a:ext cx="7201535" cy="460375"/>
          </a:xfrm>
          <a:prstGeom prst="rect">
            <a:avLst/>
          </a:prstGeom>
          <a:noFill/>
        </p:spPr>
        <p:txBody>
          <a:bodyPr wrap="square" rtlCol="0">
            <a:spAutoFit/>
          </a:bodyPr>
          <a:lstStyle/>
          <a:p>
            <a:pPr algn="l"/>
            <a:r>
              <a:rPr lang="zh-CN" altLang="en-US" sz="2400" dirty="0">
                <a:solidFill>
                  <a:srgbClr val="4A5A69"/>
                </a:solidFill>
                <a:cs typeface="+mn-ea"/>
                <a:sym typeface="+mn-lt"/>
              </a:rPr>
              <a:t>single_picture_recover2_0</a:t>
            </a:r>
            <a:r>
              <a:rPr lang="en-US" altLang="zh-CN" sz="2400" dirty="0">
                <a:solidFill>
                  <a:srgbClr val="4A5A69"/>
                </a:solidFill>
                <a:cs typeface="+mn-ea"/>
                <a:sym typeface="+mn-lt"/>
              </a:rPr>
              <a:t>.py</a:t>
            </a:r>
            <a:r>
              <a:rPr lang="zh-CN" altLang="en-US" sz="2400" dirty="0">
                <a:solidFill>
                  <a:srgbClr val="4A5A69"/>
                </a:solidFill>
                <a:cs typeface="+mn-ea"/>
                <a:sym typeface="+mn-lt"/>
              </a:rPr>
              <a:t>（用户图形界面模块）</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12036" y="3298807"/>
            <a:ext cx="2595582" cy="769441"/>
          </a:xfrm>
          <a:prstGeom prst="rect">
            <a:avLst/>
          </a:prstGeom>
          <a:noFill/>
        </p:spPr>
        <p:txBody>
          <a:bodyPr wrap="none" rtlCol="0">
            <a:spAutoFit/>
          </a:bodyPr>
          <a:lstStyle/>
          <a:p>
            <a:pPr algn="ctr"/>
            <a:r>
              <a:rPr lang="zh-CN" altLang="en-US" sz="4400" spc="300" dirty="0">
                <a:solidFill>
                  <a:srgbClr val="4A5A69"/>
                </a:solidFill>
                <a:cs typeface="+mn-ea"/>
                <a:sym typeface="+mn-lt"/>
              </a:rPr>
              <a:t>效果展示</a:t>
            </a:r>
          </a:p>
        </p:txBody>
      </p:sp>
      <p:sp>
        <p:nvSpPr>
          <p:cNvPr id="8" name="文本框 7"/>
          <p:cNvSpPr txBox="1"/>
          <p:nvPr/>
        </p:nvSpPr>
        <p:spPr>
          <a:xfrm>
            <a:off x="2512036" y="2207040"/>
            <a:ext cx="2830181" cy="769441"/>
          </a:xfrm>
          <a:prstGeom prst="rect">
            <a:avLst/>
          </a:prstGeom>
          <a:noFill/>
        </p:spPr>
        <p:txBody>
          <a:bodyPr wrap="square" rtlCol="0">
            <a:spAutoFit/>
          </a:bodyPr>
          <a:lstStyle>
            <a:defPPr>
              <a:defRPr lang="zh-CN"/>
            </a:defPPr>
            <a:lvl1pPr algn="r">
              <a:defRPr sz="4000"/>
            </a:lvl1pPr>
          </a:lstStyle>
          <a:p>
            <a:pPr algn="l"/>
            <a:r>
              <a:rPr lang="en-US" altLang="zh-CN" sz="4400" dirty="0">
                <a:solidFill>
                  <a:srgbClr val="92A3B8"/>
                </a:solidFill>
                <a:cs typeface="+mn-ea"/>
                <a:sym typeface="+mn-lt"/>
              </a:rPr>
              <a:t>PART 04</a:t>
            </a:r>
            <a:endParaRPr lang="zh-CN" altLang="en-US" sz="4400" dirty="0">
              <a:solidFill>
                <a:srgbClr val="92A3B8"/>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1"/>
          <p:cNvPicPr>
            <a:picLocks noChangeAspect="1"/>
          </p:cNvPicPr>
          <p:nvPr>
            <p:custDataLst>
              <p:tags r:id="rId1"/>
            </p:custDataLst>
          </p:nvPr>
        </p:nvPicPr>
        <p:blipFill>
          <a:blip r:embed="rId3"/>
          <a:srcRect l="1051" t="1250"/>
          <a:stretch>
            <a:fillRect/>
          </a:stretch>
        </p:blipFill>
        <p:spPr>
          <a:xfrm>
            <a:off x="2501900" y="1727835"/>
            <a:ext cx="7188835" cy="4241165"/>
          </a:xfrm>
          <a:prstGeom prst="rect">
            <a:avLst/>
          </a:prstGeom>
        </p:spPr>
      </p:pic>
      <p:sp>
        <p:nvSpPr>
          <p:cNvPr id="9" name="文本框 8"/>
          <p:cNvSpPr txBox="1"/>
          <p:nvPr/>
        </p:nvSpPr>
        <p:spPr>
          <a:xfrm>
            <a:off x="3998595" y="354965"/>
            <a:ext cx="4250690" cy="645160"/>
          </a:xfrm>
          <a:prstGeom prst="rect">
            <a:avLst/>
          </a:prstGeom>
          <a:noFill/>
        </p:spPr>
        <p:txBody>
          <a:bodyPr wrap="square" rtlCol="0" anchor="t">
            <a:spAutoFit/>
          </a:bodyPr>
          <a:lstStyle/>
          <a:p>
            <a:r>
              <a:rPr lang="zh-CN" altLang="en-US" sz="3600" spc="300" dirty="0">
                <a:solidFill>
                  <a:srgbClr val="4A5A69"/>
                </a:solidFill>
                <a:cs typeface="+mn-ea"/>
                <a:sym typeface="+mn-lt"/>
              </a:rPr>
              <a:t>信息嵌入模块演示</a:t>
            </a:r>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rcRect l="362" r="362"/>
          <a:stretch/>
        </p:blipFill>
        <p:spPr>
          <a:xfrm>
            <a:off x="2501900" y="1727200"/>
            <a:ext cx="7188835" cy="4267200"/>
          </a:xfrm>
          <a:prstGeom prst="rect">
            <a:avLst/>
          </a:prstGeom>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rcRect t="238" b="238"/>
          <a:stretch/>
        </p:blipFill>
        <p:spPr>
          <a:xfrm>
            <a:off x="2478722" y="1740217"/>
            <a:ext cx="7234555" cy="4241165"/>
          </a:xfrm>
          <a:prstGeom prst="rect">
            <a:avLst/>
          </a:prstGeom>
        </p:spPr>
      </p:pic>
      <p:pic>
        <p:nvPicPr>
          <p:cNvPr id="12" name="图片 11"/>
          <p:cNvPicPr>
            <a:picLocks noChangeAspect="1"/>
          </p:cNvPicPr>
          <p:nvPr/>
        </p:nvPicPr>
        <p:blipFill>
          <a:blip r:embed="rId6">
            <a:extLst>
              <a:ext uri="{28A0092B-C50C-407E-A947-70E740481C1C}">
                <a14:useLocalDpi xmlns:a14="http://schemas.microsoft.com/office/drawing/2010/main" val="0"/>
              </a:ext>
            </a:extLst>
          </a:blip>
          <a:srcRect t="112" b="112"/>
          <a:stretch/>
        </p:blipFill>
        <p:spPr>
          <a:xfrm>
            <a:off x="2501265" y="1740217"/>
            <a:ext cx="7243445" cy="42678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down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down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extLst>
              <a:ext uri="{28A0092B-C50C-407E-A947-70E740481C1C}">
                <a14:useLocalDpi xmlns:a14="http://schemas.microsoft.com/office/drawing/2010/main" val="0"/>
              </a:ext>
            </a:extLst>
          </a:blip>
          <a:srcRect l="236" r="236"/>
          <a:stretch/>
        </p:blipFill>
        <p:spPr>
          <a:xfrm>
            <a:off x="2501900" y="1727835"/>
            <a:ext cx="7188835" cy="4241165"/>
          </a:xfrm>
          <a:prstGeom prst="rect">
            <a:avLst/>
          </a:prstGeom>
        </p:spPr>
      </p:pic>
      <p:sp>
        <p:nvSpPr>
          <p:cNvPr id="9" name="文本框 8"/>
          <p:cNvSpPr txBox="1"/>
          <p:nvPr/>
        </p:nvSpPr>
        <p:spPr>
          <a:xfrm>
            <a:off x="3998595" y="354965"/>
            <a:ext cx="4250690" cy="646331"/>
          </a:xfrm>
          <a:prstGeom prst="rect">
            <a:avLst/>
          </a:prstGeom>
          <a:noFill/>
        </p:spPr>
        <p:txBody>
          <a:bodyPr wrap="square" rtlCol="0" anchor="t">
            <a:spAutoFit/>
          </a:bodyPr>
          <a:lstStyle/>
          <a:p>
            <a:r>
              <a:rPr lang="zh-CN" altLang="en-US" sz="3600" spc="300" dirty="0">
                <a:solidFill>
                  <a:srgbClr val="4A5A69"/>
                </a:solidFill>
                <a:cs typeface="+mn-ea"/>
                <a:sym typeface="+mn-lt"/>
              </a:rPr>
              <a:t>篡改定位模块演示</a:t>
            </a:r>
          </a:p>
        </p:txBody>
      </p:sp>
      <p:sp>
        <p:nvSpPr>
          <p:cNvPr id="3" name="文本框 2">
            <a:extLst>
              <a:ext uri="{FF2B5EF4-FFF2-40B4-BE49-F238E27FC236}">
                <a16:creationId xmlns:a16="http://schemas.microsoft.com/office/drawing/2014/main" id="{90DDF0F0-EC5C-5118-2EDE-6B84B3BFF3A2}"/>
              </a:ext>
            </a:extLst>
          </p:cNvPr>
          <p:cNvSpPr txBox="1"/>
          <p:nvPr/>
        </p:nvSpPr>
        <p:spPr>
          <a:xfrm>
            <a:off x="662739" y="1150254"/>
            <a:ext cx="11054131" cy="369332"/>
          </a:xfrm>
          <a:prstGeom prst="rect">
            <a:avLst/>
          </a:prstGeom>
          <a:noFill/>
        </p:spPr>
        <p:txBody>
          <a:bodyPr wrap="square" rtlCol="0">
            <a:spAutoFit/>
          </a:bodyPr>
          <a:lstStyle/>
          <a:p>
            <a:r>
              <a:rPr lang="zh-CN" altLang="en-US" dirty="0"/>
              <a:t>       通过程序</a:t>
            </a:r>
            <a:r>
              <a:rPr lang="en-US" altLang="zh-CN" dirty="0"/>
              <a:t>damage_picture.py</a:t>
            </a:r>
            <a:r>
              <a:rPr lang="zh-CN" altLang="en-US" dirty="0"/>
              <a:t>进行在图像上随机生成噪声块，对篡改后的图形进行篡改定位测试。</a:t>
            </a:r>
          </a:p>
        </p:txBody>
      </p:sp>
    </p:spTree>
    <p:extLst>
      <p:ext uri="{BB962C8B-B14F-4D97-AF65-F5344CB8AC3E}">
        <p14:creationId xmlns:p14="http://schemas.microsoft.com/office/powerpoint/2010/main" val="28515853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extLst>
              <a:ext uri="{28A0092B-C50C-407E-A947-70E740481C1C}">
                <a14:useLocalDpi xmlns:a14="http://schemas.microsoft.com/office/drawing/2010/main" val="0"/>
              </a:ext>
            </a:extLst>
          </a:blip>
          <a:srcRect l="94" r="94"/>
          <a:stretch/>
        </p:blipFill>
        <p:spPr>
          <a:xfrm>
            <a:off x="2501900" y="1727835"/>
            <a:ext cx="7188835" cy="4241165"/>
          </a:xfrm>
          <a:prstGeom prst="rect">
            <a:avLst/>
          </a:prstGeom>
        </p:spPr>
      </p:pic>
      <p:sp>
        <p:nvSpPr>
          <p:cNvPr id="9" name="文本框 8"/>
          <p:cNvSpPr txBox="1"/>
          <p:nvPr/>
        </p:nvSpPr>
        <p:spPr>
          <a:xfrm>
            <a:off x="3998595" y="354965"/>
            <a:ext cx="4250690" cy="646331"/>
          </a:xfrm>
          <a:prstGeom prst="rect">
            <a:avLst/>
          </a:prstGeom>
          <a:noFill/>
        </p:spPr>
        <p:txBody>
          <a:bodyPr wrap="square" rtlCol="0" anchor="t">
            <a:spAutoFit/>
          </a:bodyPr>
          <a:lstStyle/>
          <a:p>
            <a:r>
              <a:rPr lang="zh-CN" altLang="en-US" sz="3600" spc="300" dirty="0">
                <a:solidFill>
                  <a:srgbClr val="4A5A69"/>
                </a:solidFill>
                <a:cs typeface="+mn-ea"/>
                <a:sym typeface="+mn-lt"/>
              </a:rPr>
              <a:t>损坏修复模块演示</a:t>
            </a:r>
          </a:p>
        </p:txBody>
      </p:sp>
    </p:spTree>
    <p:extLst>
      <p:ext uri="{BB962C8B-B14F-4D97-AF65-F5344CB8AC3E}">
        <p14:creationId xmlns:p14="http://schemas.microsoft.com/office/powerpoint/2010/main" val="402769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12038" y="3298807"/>
            <a:ext cx="2595582" cy="769441"/>
          </a:xfrm>
          <a:prstGeom prst="rect">
            <a:avLst/>
          </a:prstGeom>
          <a:noFill/>
        </p:spPr>
        <p:txBody>
          <a:bodyPr wrap="none" rtlCol="0">
            <a:spAutoFit/>
          </a:bodyPr>
          <a:lstStyle/>
          <a:p>
            <a:pPr algn="ctr"/>
            <a:r>
              <a:rPr lang="zh-CN" altLang="en-US" sz="4400" spc="300" dirty="0">
                <a:solidFill>
                  <a:srgbClr val="4A5A69"/>
                </a:solidFill>
                <a:cs typeface="+mn-ea"/>
                <a:sym typeface="+mn-lt"/>
              </a:rPr>
              <a:t>主要难点</a:t>
            </a:r>
          </a:p>
        </p:txBody>
      </p:sp>
      <p:sp>
        <p:nvSpPr>
          <p:cNvPr id="8" name="文本框 7"/>
          <p:cNvSpPr txBox="1"/>
          <p:nvPr/>
        </p:nvSpPr>
        <p:spPr>
          <a:xfrm>
            <a:off x="2512036" y="2207040"/>
            <a:ext cx="2830181" cy="769441"/>
          </a:xfrm>
          <a:prstGeom prst="rect">
            <a:avLst/>
          </a:prstGeom>
          <a:noFill/>
        </p:spPr>
        <p:txBody>
          <a:bodyPr wrap="square" rtlCol="0">
            <a:spAutoFit/>
          </a:bodyPr>
          <a:lstStyle>
            <a:defPPr>
              <a:defRPr lang="zh-CN"/>
            </a:defPPr>
            <a:lvl1pPr algn="r">
              <a:defRPr sz="4000"/>
            </a:lvl1pPr>
          </a:lstStyle>
          <a:p>
            <a:pPr algn="l"/>
            <a:r>
              <a:rPr lang="en-US" altLang="zh-CN" sz="4400" dirty="0">
                <a:solidFill>
                  <a:srgbClr val="92A3B8"/>
                </a:solidFill>
                <a:cs typeface="+mn-ea"/>
                <a:sym typeface="+mn-lt"/>
              </a:rPr>
              <a:t>PART 05</a:t>
            </a:r>
            <a:endParaRPr lang="zh-CN" altLang="en-US" sz="4400" dirty="0">
              <a:solidFill>
                <a:srgbClr val="92A3B8"/>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671060" y="537108"/>
            <a:ext cx="2849880" cy="583565"/>
          </a:xfrm>
          <a:prstGeom prst="rect">
            <a:avLst/>
          </a:prstGeom>
          <a:noFill/>
        </p:spPr>
        <p:txBody>
          <a:bodyPr wrap="none" rtlCol="0">
            <a:spAutoFit/>
          </a:bodyPr>
          <a:lstStyle/>
          <a:p>
            <a:pPr algn="ctr"/>
            <a:r>
              <a:rPr lang="zh-CN" altLang="en-US" sz="3200" spc="300" dirty="0">
                <a:solidFill>
                  <a:srgbClr val="4A5A69"/>
                </a:solidFill>
                <a:cs typeface="+mn-ea"/>
                <a:sym typeface="+mn-lt"/>
              </a:rPr>
              <a:t>算法原理方面</a:t>
            </a:r>
          </a:p>
        </p:txBody>
      </p:sp>
      <p:sp>
        <p:nvSpPr>
          <p:cNvPr id="15" name="文本框 14"/>
          <p:cNvSpPr txBox="1"/>
          <p:nvPr/>
        </p:nvSpPr>
        <p:spPr>
          <a:xfrm>
            <a:off x="545557" y="1186647"/>
            <a:ext cx="10811510" cy="429895"/>
          </a:xfrm>
          <a:prstGeom prst="rect">
            <a:avLst/>
          </a:prstGeom>
          <a:noFill/>
        </p:spPr>
        <p:txBody>
          <a:bodyPr wrap="none" rtlCol="0">
            <a:spAutoFit/>
          </a:bodyPr>
          <a:lstStyle/>
          <a:p>
            <a:pPr marL="457200" indent="-457200" algn="ctr">
              <a:buAutoNum type="arabicPeriod"/>
            </a:pPr>
            <a:r>
              <a:rPr lang="zh-CN" altLang="en-US" sz="2200" dirty="0">
                <a:solidFill>
                  <a:srgbClr val="4A5A69"/>
                </a:solidFill>
                <a:cs typeface="+mn-ea"/>
                <a:sym typeface="+mn-lt"/>
              </a:rPr>
              <a:t>索引库以及</a:t>
            </a:r>
            <a:r>
              <a:rPr lang="en-US" altLang="zh-CN" sz="2200" dirty="0" err="1">
                <a:solidFill>
                  <a:srgbClr val="4A5A69"/>
                </a:solidFill>
                <a:cs typeface="+mn-ea"/>
                <a:sym typeface="+mn-lt"/>
              </a:rPr>
              <a:t>Kmeans</a:t>
            </a:r>
            <a:r>
              <a:rPr lang="zh-CN" altLang="en-US" sz="2200" dirty="0">
                <a:solidFill>
                  <a:srgbClr val="4A5A69"/>
                </a:solidFill>
                <a:cs typeface="+mn-ea"/>
                <a:sym typeface="+mn-lt"/>
              </a:rPr>
              <a:t>簇数的不同将直接影响了图像恢复质量，合适的</a:t>
            </a:r>
            <a:r>
              <a:rPr lang="en-US" altLang="zh-CN" sz="2200" dirty="0">
                <a:solidFill>
                  <a:srgbClr val="4A5A69"/>
                </a:solidFill>
                <a:cs typeface="+mn-ea"/>
                <a:sym typeface="+mn-lt"/>
              </a:rPr>
              <a:t>K</a:t>
            </a:r>
            <a:r>
              <a:rPr lang="zh-CN" altLang="en-US" sz="2200" dirty="0">
                <a:solidFill>
                  <a:srgbClr val="4A5A69"/>
                </a:solidFill>
                <a:cs typeface="+mn-ea"/>
                <a:sym typeface="+mn-lt"/>
              </a:rPr>
              <a:t>值难以确定。</a:t>
            </a:r>
          </a:p>
        </p:txBody>
      </p:sp>
      <p:sp>
        <p:nvSpPr>
          <p:cNvPr id="3" name="文本框 2"/>
          <p:cNvSpPr txBox="1"/>
          <p:nvPr/>
        </p:nvSpPr>
        <p:spPr>
          <a:xfrm>
            <a:off x="535663" y="1742458"/>
            <a:ext cx="10078720" cy="429895"/>
          </a:xfrm>
          <a:prstGeom prst="rect">
            <a:avLst/>
          </a:prstGeom>
          <a:noFill/>
        </p:spPr>
        <p:txBody>
          <a:bodyPr wrap="none" rtlCol="0">
            <a:spAutoFit/>
          </a:bodyPr>
          <a:lstStyle/>
          <a:p>
            <a:pPr algn="ctr"/>
            <a:r>
              <a:rPr lang="en-US" altLang="zh-CN" sz="2200" dirty="0">
                <a:solidFill>
                  <a:srgbClr val="4A5A69"/>
                </a:solidFill>
                <a:cs typeface="+mn-ea"/>
                <a:sym typeface="+mn-lt"/>
              </a:rPr>
              <a:t>2.  </a:t>
            </a:r>
            <a:r>
              <a:rPr lang="zh-CN" altLang="en-US" sz="2200" dirty="0">
                <a:solidFill>
                  <a:srgbClr val="4A5A69"/>
                </a:solidFill>
                <a:cs typeface="+mn-ea"/>
                <a:sym typeface="+mn-lt"/>
              </a:rPr>
              <a:t>基于差值拓展的可逆信息嵌入技术对损毁的敏感性较差，可能出现误判状况。</a:t>
            </a:r>
          </a:p>
        </p:txBody>
      </p:sp>
      <p:sp>
        <p:nvSpPr>
          <p:cNvPr id="4" name="文本框 3"/>
          <p:cNvSpPr txBox="1"/>
          <p:nvPr/>
        </p:nvSpPr>
        <p:spPr>
          <a:xfrm>
            <a:off x="545438" y="2298269"/>
            <a:ext cx="5328920" cy="429895"/>
          </a:xfrm>
          <a:prstGeom prst="rect">
            <a:avLst/>
          </a:prstGeom>
          <a:noFill/>
        </p:spPr>
        <p:txBody>
          <a:bodyPr wrap="none" rtlCol="0">
            <a:spAutoFit/>
          </a:bodyPr>
          <a:lstStyle/>
          <a:p>
            <a:pPr algn="ctr"/>
            <a:r>
              <a:rPr lang="en-US" altLang="zh-CN" sz="2200" dirty="0">
                <a:solidFill>
                  <a:srgbClr val="4A5A69"/>
                </a:solidFill>
                <a:cs typeface="+mn-ea"/>
                <a:sym typeface="+mn-lt"/>
              </a:rPr>
              <a:t>3.  </a:t>
            </a:r>
            <a:r>
              <a:rPr lang="zh-CN" altLang="en-US" sz="2200" dirty="0">
                <a:solidFill>
                  <a:srgbClr val="4A5A69"/>
                </a:solidFill>
                <a:cs typeface="+mn-ea"/>
                <a:sym typeface="+mn-lt"/>
              </a:rPr>
              <a:t>存在一定的误差，即边缘信息易丢失。</a:t>
            </a:r>
          </a:p>
        </p:txBody>
      </p:sp>
      <p:sp>
        <p:nvSpPr>
          <p:cNvPr id="5" name="文本框 4"/>
          <p:cNvSpPr txBox="1"/>
          <p:nvPr/>
        </p:nvSpPr>
        <p:spPr>
          <a:xfrm>
            <a:off x="4518660" y="2924429"/>
            <a:ext cx="3154680" cy="645160"/>
          </a:xfrm>
          <a:prstGeom prst="rect">
            <a:avLst/>
          </a:prstGeom>
          <a:noFill/>
        </p:spPr>
        <p:txBody>
          <a:bodyPr wrap="none" rtlCol="0">
            <a:spAutoFit/>
          </a:bodyPr>
          <a:lstStyle/>
          <a:p>
            <a:pPr algn="ctr"/>
            <a:r>
              <a:rPr lang="zh-CN" altLang="en-US" sz="3600" spc="300" dirty="0">
                <a:solidFill>
                  <a:srgbClr val="4A5A69"/>
                </a:solidFill>
                <a:cs typeface="+mn-ea"/>
                <a:sym typeface="+mn-lt"/>
              </a:rPr>
              <a:t>程序编写方面</a:t>
            </a:r>
          </a:p>
        </p:txBody>
      </p:sp>
      <p:sp>
        <p:nvSpPr>
          <p:cNvPr id="6" name="文本框 5"/>
          <p:cNvSpPr txBox="1"/>
          <p:nvPr/>
        </p:nvSpPr>
        <p:spPr>
          <a:xfrm>
            <a:off x="535834" y="3569480"/>
            <a:ext cx="11651646" cy="768350"/>
          </a:xfrm>
          <a:prstGeom prst="rect">
            <a:avLst/>
          </a:prstGeom>
          <a:noFill/>
        </p:spPr>
        <p:txBody>
          <a:bodyPr wrap="square" rtlCol="0">
            <a:spAutoFit/>
          </a:bodyPr>
          <a:lstStyle/>
          <a:p>
            <a:pPr marL="457200" indent="-457200">
              <a:buAutoNum type="arabicPeriod"/>
            </a:pPr>
            <a:r>
              <a:rPr lang="en-US" altLang="zh-CN" sz="2200" dirty="0">
                <a:solidFill>
                  <a:srgbClr val="4A5A69"/>
                </a:solidFill>
                <a:cs typeface="+mn-ea"/>
                <a:sym typeface="+mn-lt"/>
              </a:rPr>
              <a:t>flatten</a:t>
            </a:r>
            <a:r>
              <a:rPr lang="zh-CN" altLang="en-US" sz="2200" dirty="0">
                <a:solidFill>
                  <a:srgbClr val="4A5A69"/>
                </a:solidFill>
                <a:cs typeface="+mn-ea"/>
                <a:sym typeface="+mn-lt"/>
              </a:rPr>
              <a:t>、</a:t>
            </a:r>
            <a:r>
              <a:rPr lang="en-US" altLang="zh-CN" sz="2200" dirty="0">
                <a:solidFill>
                  <a:srgbClr val="4A5A69"/>
                </a:solidFill>
                <a:cs typeface="+mn-ea"/>
                <a:sym typeface="+mn-lt"/>
              </a:rPr>
              <a:t>reshape</a:t>
            </a:r>
            <a:r>
              <a:rPr lang="zh-CN" altLang="en-US" sz="2200" dirty="0">
                <a:solidFill>
                  <a:srgbClr val="4A5A69"/>
                </a:solidFill>
                <a:cs typeface="+mn-ea"/>
                <a:sym typeface="+mn-lt"/>
              </a:rPr>
              <a:t>等函数时常使用，使得索引问题频出，即产生各种不经意的越界问题，需时常注意如</a:t>
            </a:r>
            <a:r>
              <a:rPr lang="en-US" altLang="zh-CN" sz="2200" dirty="0">
                <a:solidFill>
                  <a:srgbClr val="4A5A69"/>
                </a:solidFill>
                <a:cs typeface="+mn-ea"/>
                <a:sym typeface="+mn-lt"/>
              </a:rPr>
              <a:t>array</a:t>
            </a:r>
            <a:r>
              <a:rPr lang="zh-CN" altLang="en-US" sz="2200" dirty="0">
                <a:solidFill>
                  <a:srgbClr val="4A5A69"/>
                </a:solidFill>
                <a:cs typeface="+mn-ea"/>
                <a:sym typeface="+mn-lt"/>
              </a:rPr>
              <a:t>的规格（</a:t>
            </a:r>
            <a:r>
              <a:rPr lang="en-US" altLang="zh-CN" sz="2200" dirty="0">
                <a:solidFill>
                  <a:srgbClr val="4A5A69"/>
                </a:solidFill>
                <a:cs typeface="+mn-ea"/>
                <a:sym typeface="+mn-lt"/>
              </a:rPr>
              <a:t>shape</a:t>
            </a:r>
            <a:r>
              <a:rPr lang="zh-CN" altLang="en-US" sz="2200" dirty="0">
                <a:solidFill>
                  <a:srgbClr val="4A5A69"/>
                </a:solidFill>
                <a:cs typeface="+mn-ea"/>
                <a:sym typeface="+mn-lt"/>
              </a:rPr>
              <a:t>、</a:t>
            </a:r>
            <a:r>
              <a:rPr lang="en-US" altLang="zh-CN" sz="2200" dirty="0">
                <a:solidFill>
                  <a:srgbClr val="4A5A69"/>
                </a:solidFill>
                <a:cs typeface="+mn-ea"/>
                <a:sym typeface="+mn-lt"/>
              </a:rPr>
              <a:t>size</a:t>
            </a:r>
            <a:r>
              <a:rPr lang="zh-CN" altLang="en-US" sz="2200" dirty="0">
                <a:solidFill>
                  <a:srgbClr val="4A5A69"/>
                </a:solidFill>
                <a:cs typeface="+mn-ea"/>
                <a:sym typeface="+mn-lt"/>
              </a:rPr>
              <a:t>）。</a:t>
            </a:r>
          </a:p>
        </p:txBody>
      </p:sp>
      <p:sp>
        <p:nvSpPr>
          <p:cNvPr id="8" name="文本框 7"/>
          <p:cNvSpPr txBox="1"/>
          <p:nvPr/>
        </p:nvSpPr>
        <p:spPr>
          <a:xfrm>
            <a:off x="535834" y="4467105"/>
            <a:ext cx="3898037" cy="429895"/>
          </a:xfrm>
          <a:prstGeom prst="rect">
            <a:avLst/>
          </a:prstGeom>
          <a:noFill/>
        </p:spPr>
        <p:txBody>
          <a:bodyPr wrap="square" rtlCol="0">
            <a:spAutoFit/>
          </a:bodyPr>
          <a:lstStyle/>
          <a:p>
            <a:r>
              <a:rPr lang="en-US" altLang="zh-CN" sz="2200" dirty="0">
                <a:solidFill>
                  <a:srgbClr val="4A5A69"/>
                </a:solidFill>
                <a:cs typeface="+mn-ea"/>
                <a:sym typeface="+mn-lt"/>
              </a:rPr>
              <a:t>2.  </a:t>
            </a:r>
            <a:r>
              <a:rPr lang="zh-CN" altLang="en-US" sz="2200" dirty="0">
                <a:solidFill>
                  <a:srgbClr val="4A5A69"/>
                </a:solidFill>
                <a:cs typeface="+mn-ea"/>
                <a:sym typeface="+mn-lt"/>
              </a:rPr>
              <a:t>功能集成性有待提高。</a:t>
            </a:r>
          </a:p>
        </p:txBody>
      </p:sp>
      <p:sp>
        <p:nvSpPr>
          <p:cNvPr id="10" name="文本框 9"/>
          <p:cNvSpPr txBox="1"/>
          <p:nvPr/>
        </p:nvSpPr>
        <p:spPr>
          <a:xfrm>
            <a:off x="4503257" y="5064963"/>
            <a:ext cx="3185487" cy="646331"/>
          </a:xfrm>
          <a:prstGeom prst="rect">
            <a:avLst/>
          </a:prstGeom>
          <a:noFill/>
        </p:spPr>
        <p:txBody>
          <a:bodyPr wrap="none" rtlCol="0">
            <a:spAutoFit/>
          </a:bodyPr>
          <a:lstStyle/>
          <a:p>
            <a:pPr algn="ctr"/>
            <a:r>
              <a:rPr lang="zh-CN" altLang="en-US" sz="3600" spc="300" dirty="0">
                <a:solidFill>
                  <a:srgbClr val="4A5A69"/>
                </a:solidFill>
                <a:cs typeface="+mn-ea"/>
                <a:sym typeface="+mn-lt"/>
              </a:rPr>
              <a:t>用户界面方面</a:t>
            </a:r>
          </a:p>
        </p:txBody>
      </p:sp>
      <p:sp>
        <p:nvSpPr>
          <p:cNvPr id="11" name="文本框 10"/>
          <p:cNvSpPr txBox="1"/>
          <p:nvPr/>
        </p:nvSpPr>
        <p:spPr>
          <a:xfrm>
            <a:off x="545438" y="5648528"/>
            <a:ext cx="11195050" cy="530860"/>
          </a:xfrm>
          <a:prstGeom prst="rect">
            <a:avLst/>
          </a:prstGeom>
          <a:noFill/>
        </p:spPr>
        <p:txBody>
          <a:bodyPr wrap="square" rtlCol="0">
            <a:spAutoFit/>
          </a:bodyPr>
          <a:lstStyle/>
          <a:p>
            <a:pPr indent="0" algn="l">
              <a:lnSpc>
                <a:spcPct val="130000"/>
              </a:lnSpc>
              <a:buNone/>
            </a:pPr>
            <a:r>
              <a:rPr lang="en-US" altLang="zh-CN" sz="2200" dirty="0">
                <a:solidFill>
                  <a:srgbClr val="4A5A69"/>
                </a:solidFill>
                <a:cs typeface="+mn-ea"/>
                <a:sym typeface="+mn-lt"/>
              </a:rPr>
              <a:t>1. </a:t>
            </a:r>
            <a:r>
              <a:rPr lang="zh-CN" altLang="en-US" sz="2200" dirty="0">
                <a:solidFill>
                  <a:srgbClr val="4A5A69"/>
                </a:solidFill>
                <a:cs typeface="+mn-ea"/>
                <a:sym typeface="+mn-lt"/>
              </a:rPr>
              <a:t>用户界面美观性仍然还能够提升，考虑到可加入加载条来使用户直观感受到程序的运行。</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12036" y="3410866"/>
            <a:ext cx="1390124" cy="769441"/>
          </a:xfrm>
          <a:prstGeom prst="rect">
            <a:avLst/>
          </a:prstGeom>
          <a:noFill/>
        </p:spPr>
        <p:txBody>
          <a:bodyPr wrap="none" rtlCol="0">
            <a:spAutoFit/>
          </a:bodyPr>
          <a:lstStyle/>
          <a:p>
            <a:pPr algn="ctr"/>
            <a:r>
              <a:rPr lang="zh-CN" altLang="en-US" sz="4400" spc="300" dirty="0">
                <a:solidFill>
                  <a:srgbClr val="4A5A69"/>
                </a:solidFill>
                <a:cs typeface="+mn-ea"/>
                <a:sym typeface="+mn-lt"/>
              </a:rPr>
              <a:t>总结</a:t>
            </a:r>
          </a:p>
        </p:txBody>
      </p:sp>
      <p:sp>
        <p:nvSpPr>
          <p:cNvPr id="8" name="文本框 7"/>
          <p:cNvSpPr txBox="1"/>
          <p:nvPr/>
        </p:nvSpPr>
        <p:spPr>
          <a:xfrm>
            <a:off x="2512036" y="2207040"/>
            <a:ext cx="2400623" cy="769441"/>
          </a:xfrm>
          <a:prstGeom prst="rect">
            <a:avLst/>
          </a:prstGeom>
          <a:noFill/>
        </p:spPr>
        <p:txBody>
          <a:bodyPr wrap="square" rtlCol="0">
            <a:spAutoFit/>
          </a:bodyPr>
          <a:lstStyle>
            <a:defPPr>
              <a:defRPr lang="zh-CN"/>
            </a:defPPr>
            <a:lvl1pPr algn="r">
              <a:defRPr sz="4000"/>
            </a:lvl1pPr>
          </a:lstStyle>
          <a:p>
            <a:pPr algn="l"/>
            <a:r>
              <a:rPr lang="en-US" altLang="zh-CN" sz="4400" dirty="0">
                <a:solidFill>
                  <a:srgbClr val="92A3B8"/>
                </a:solidFill>
                <a:cs typeface="+mn-ea"/>
                <a:sym typeface="+mn-lt"/>
              </a:rPr>
              <a:t>PART 06</a:t>
            </a:r>
            <a:endParaRPr lang="zh-CN" altLang="en-US" sz="4400" dirty="0">
              <a:solidFill>
                <a:srgbClr val="92A3B8"/>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08050" y="772270"/>
            <a:ext cx="1184940" cy="646331"/>
          </a:xfrm>
          <a:prstGeom prst="rect">
            <a:avLst/>
          </a:prstGeom>
          <a:noFill/>
        </p:spPr>
        <p:txBody>
          <a:bodyPr wrap="none" rtlCol="0">
            <a:spAutoFit/>
          </a:bodyPr>
          <a:lstStyle/>
          <a:p>
            <a:pPr algn="ctr"/>
            <a:r>
              <a:rPr lang="zh-CN" altLang="en-US" sz="3600" spc="300" dirty="0">
                <a:solidFill>
                  <a:srgbClr val="4A5A69"/>
                </a:solidFill>
                <a:cs typeface="+mn-ea"/>
                <a:sym typeface="+mn-lt"/>
              </a:rPr>
              <a:t>优点</a:t>
            </a:r>
          </a:p>
        </p:txBody>
      </p:sp>
      <p:sp>
        <p:nvSpPr>
          <p:cNvPr id="15" name="文本框 14"/>
          <p:cNvSpPr txBox="1"/>
          <p:nvPr/>
        </p:nvSpPr>
        <p:spPr>
          <a:xfrm>
            <a:off x="243233" y="1479201"/>
            <a:ext cx="10172721" cy="461665"/>
          </a:xfrm>
          <a:prstGeom prst="rect">
            <a:avLst/>
          </a:prstGeom>
          <a:noFill/>
        </p:spPr>
        <p:txBody>
          <a:bodyPr wrap="none" rtlCol="0">
            <a:spAutoFit/>
          </a:bodyPr>
          <a:lstStyle/>
          <a:p>
            <a:pPr marL="457200" indent="-457200" algn="ctr">
              <a:buAutoNum type="arabicPeriod"/>
            </a:pPr>
            <a:r>
              <a:rPr lang="zh-CN" altLang="en-US" sz="2400" dirty="0">
                <a:solidFill>
                  <a:srgbClr val="4A5A69"/>
                </a:solidFill>
                <a:cs typeface="+mn-ea"/>
                <a:sym typeface="+mn-lt"/>
              </a:rPr>
              <a:t>代码实现过程中综合运用了</a:t>
            </a:r>
            <a:r>
              <a:rPr lang="en-US" altLang="zh-CN" sz="2400" dirty="0">
                <a:solidFill>
                  <a:srgbClr val="4A5A69"/>
                </a:solidFill>
                <a:cs typeface="+mn-ea"/>
                <a:sym typeface="+mn-lt"/>
              </a:rPr>
              <a:t>Python</a:t>
            </a:r>
            <a:r>
              <a:rPr lang="zh-CN" altLang="en-US" sz="2400" dirty="0">
                <a:solidFill>
                  <a:srgbClr val="4A5A69"/>
                </a:solidFill>
                <a:cs typeface="+mn-ea"/>
                <a:sym typeface="+mn-lt"/>
              </a:rPr>
              <a:t>的各方面知识，包括各第三方库。</a:t>
            </a:r>
          </a:p>
        </p:txBody>
      </p:sp>
      <p:sp>
        <p:nvSpPr>
          <p:cNvPr id="3" name="文本框 2"/>
          <p:cNvSpPr txBox="1"/>
          <p:nvPr/>
        </p:nvSpPr>
        <p:spPr>
          <a:xfrm>
            <a:off x="314953" y="2028361"/>
            <a:ext cx="8715848" cy="461665"/>
          </a:xfrm>
          <a:prstGeom prst="rect">
            <a:avLst/>
          </a:prstGeom>
          <a:noFill/>
        </p:spPr>
        <p:txBody>
          <a:bodyPr wrap="none" rtlCol="0">
            <a:spAutoFit/>
          </a:bodyPr>
          <a:lstStyle/>
          <a:p>
            <a:pPr algn="ctr"/>
            <a:r>
              <a:rPr lang="en-US" altLang="zh-CN" sz="2400" dirty="0">
                <a:solidFill>
                  <a:srgbClr val="4A5A69"/>
                </a:solidFill>
                <a:cs typeface="+mn-ea"/>
                <a:sym typeface="+mn-lt"/>
              </a:rPr>
              <a:t>2.  </a:t>
            </a:r>
            <a:r>
              <a:rPr lang="zh-CN" altLang="en-US" sz="2400" dirty="0">
                <a:solidFill>
                  <a:srgbClr val="4A5A69"/>
                </a:solidFill>
                <a:cs typeface="+mn-ea"/>
                <a:sym typeface="+mn-lt"/>
              </a:rPr>
              <a:t>实现了基本要求，包括基本功能实现与用户交互界面设计。</a:t>
            </a:r>
          </a:p>
        </p:txBody>
      </p:sp>
      <p:sp>
        <p:nvSpPr>
          <p:cNvPr id="4" name="文本框 3"/>
          <p:cNvSpPr txBox="1"/>
          <p:nvPr/>
        </p:nvSpPr>
        <p:spPr>
          <a:xfrm>
            <a:off x="239553" y="2571320"/>
            <a:ext cx="7018268" cy="461665"/>
          </a:xfrm>
          <a:prstGeom prst="rect">
            <a:avLst/>
          </a:prstGeom>
          <a:noFill/>
        </p:spPr>
        <p:txBody>
          <a:bodyPr wrap="none" rtlCol="0">
            <a:spAutoFit/>
          </a:bodyPr>
          <a:lstStyle/>
          <a:p>
            <a:pPr algn="ctr"/>
            <a:r>
              <a:rPr lang="en-US" altLang="zh-CN" sz="2400" dirty="0">
                <a:solidFill>
                  <a:srgbClr val="4A5A69"/>
                </a:solidFill>
                <a:cs typeface="+mn-ea"/>
                <a:sym typeface="+mn-lt"/>
              </a:rPr>
              <a:t>3.  </a:t>
            </a:r>
            <a:r>
              <a:rPr lang="zh-CN" altLang="en-US" sz="2400" dirty="0">
                <a:solidFill>
                  <a:srgbClr val="4A5A69"/>
                </a:solidFill>
                <a:cs typeface="+mn-ea"/>
                <a:sym typeface="+mn-lt"/>
              </a:rPr>
              <a:t>基于一定的模块化设计，程序的可拓展性较强</a:t>
            </a:r>
          </a:p>
        </p:txBody>
      </p:sp>
      <p:sp>
        <p:nvSpPr>
          <p:cNvPr id="5" name="文本框 4"/>
          <p:cNvSpPr txBox="1"/>
          <p:nvPr/>
        </p:nvSpPr>
        <p:spPr>
          <a:xfrm>
            <a:off x="1308050" y="3620601"/>
            <a:ext cx="1184940" cy="646331"/>
          </a:xfrm>
          <a:prstGeom prst="rect">
            <a:avLst/>
          </a:prstGeom>
          <a:noFill/>
        </p:spPr>
        <p:txBody>
          <a:bodyPr wrap="none" rtlCol="0">
            <a:spAutoFit/>
          </a:bodyPr>
          <a:lstStyle/>
          <a:p>
            <a:pPr algn="ctr"/>
            <a:r>
              <a:rPr lang="zh-CN" altLang="en-US" sz="3600" spc="300" dirty="0">
                <a:solidFill>
                  <a:srgbClr val="4A5A69"/>
                </a:solidFill>
                <a:cs typeface="+mn-ea"/>
                <a:sym typeface="+mn-lt"/>
              </a:rPr>
              <a:t>缺点</a:t>
            </a:r>
          </a:p>
        </p:txBody>
      </p:sp>
      <p:sp>
        <p:nvSpPr>
          <p:cNvPr id="6" name="文本框 5"/>
          <p:cNvSpPr txBox="1"/>
          <p:nvPr/>
        </p:nvSpPr>
        <p:spPr>
          <a:xfrm>
            <a:off x="378989" y="4408950"/>
            <a:ext cx="11651646" cy="461665"/>
          </a:xfrm>
          <a:prstGeom prst="rect">
            <a:avLst/>
          </a:prstGeom>
          <a:noFill/>
        </p:spPr>
        <p:txBody>
          <a:bodyPr wrap="square" rtlCol="0">
            <a:spAutoFit/>
          </a:bodyPr>
          <a:lstStyle/>
          <a:p>
            <a:pPr marL="457200" indent="-457200">
              <a:buAutoNum type="arabicPeriod"/>
            </a:pPr>
            <a:r>
              <a:rPr lang="zh-CN" altLang="en-US" sz="2400" dirty="0">
                <a:solidFill>
                  <a:srgbClr val="4A5A69"/>
                </a:solidFill>
                <a:cs typeface="+mn-ea"/>
                <a:sym typeface="+mn-lt"/>
              </a:rPr>
              <a:t>核心算法的原理与该项目的实现目标存在一定的不兼容性，使得存在一定的误差。</a:t>
            </a:r>
            <a:endParaRPr lang="en-US" altLang="zh-CN" sz="2400" dirty="0">
              <a:solidFill>
                <a:srgbClr val="4A5A69"/>
              </a:solidFill>
              <a:cs typeface="+mn-ea"/>
              <a:sym typeface="+mn-lt"/>
            </a:endParaRPr>
          </a:p>
        </p:txBody>
      </p:sp>
      <p:sp>
        <p:nvSpPr>
          <p:cNvPr id="8" name="文本框 7"/>
          <p:cNvSpPr txBox="1"/>
          <p:nvPr/>
        </p:nvSpPr>
        <p:spPr>
          <a:xfrm>
            <a:off x="378989" y="5498755"/>
            <a:ext cx="7303764" cy="461665"/>
          </a:xfrm>
          <a:prstGeom prst="rect">
            <a:avLst/>
          </a:prstGeom>
          <a:noFill/>
        </p:spPr>
        <p:txBody>
          <a:bodyPr wrap="square" rtlCol="0">
            <a:spAutoFit/>
          </a:bodyPr>
          <a:lstStyle/>
          <a:p>
            <a:r>
              <a:rPr lang="en-US" altLang="zh-CN" sz="2400" dirty="0">
                <a:solidFill>
                  <a:srgbClr val="4A5A69"/>
                </a:solidFill>
                <a:cs typeface="+mn-ea"/>
                <a:sym typeface="+mn-lt"/>
              </a:rPr>
              <a:t>3.  </a:t>
            </a:r>
            <a:r>
              <a:rPr lang="zh-CN" altLang="en-US" sz="2400" dirty="0">
                <a:solidFill>
                  <a:srgbClr val="4A5A69"/>
                </a:solidFill>
                <a:cs typeface="+mn-ea"/>
                <a:sym typeface="+mn-lt"/>
              </a:rPr>
              <a:t>代码编写过程中的功能封装程度有待提高。</a:t>
            </a:r>
            <a:endParaRPr lang="en-US" altLang="zh-CN" sz="2400" dirty="0">
              <a:solidFill>
                <a:srgbClr val="4A5A69"/>
              </a:solidFill>
              <a:cs typeface="+mn-ea"/>
              <a:sym typeface="+mn-lt"/>
            </a:endParaRPr>
          </a:p>
        </p:txBody>
      </p:sp>
      <p:sp>
        <p:nvSpPr>
          <p:cNvPr id="2" name="文本框 1"/>
          <p:cNvSpPr txBox="1"/>
          <p:nvPr/>
        </p:nvSpPr>
        <p:spPr>
          <a:xfrm>
            <a:off x="378989" y="4964761"/>
            <a:ext cx="10289011" cy="461665"/>
          </a:xfrm>
          <a:prstGeom prst="rect">
            <a:avLst/>
          </a:prstGeom>
          <a:noFill/>
        </p:spPr>
        <p:txBody>
          <a:bodyPr wrap="square" rtlCol="0">
            <a:spAutoFit/>
          </a:bodyPr>
          <a:lstStyle/>
          <a:p>
            <a:r>
              <a:rPr lang="en-US" altLang="zh-CN" sz="2400" dirty="0">
                <a:solidFill>
                  <a:srgbClr val="4A5A69"/>
                </a:solidFill>
                <a:cs typeface="+mn-ea"/>
                <a:sym typeface="+mn-lt"/>
              </a:rPr>
              <a:t>2.  </a:t>
            </a:r>
            <a:r>
              <a:rPr lang="zh-CN" altLang="en-US" sz="2400" dirty="0">
                <a:solidFill>
                  <a:srgbClr val="4A5A69"/>
                </a:solidFill>
                <a:cs typeface="+mn-ea"/>
                <a:sym typeface="+mn-lt"/>
              </a:rPr>
              <a:t>仅可运用于灰度图片，对于</a:t>
            </a:r>
            <a:r>
              <a:rPr lang="en-US" altLang="zh-CN" sz="2400" dirty="0">
                <a:solidFill>
                  <a:srgbClr val="4A5A69"/>
                </a:solidFill>
                <a:cs typeface="+mn-ea"/>
                <a:sym typeface="+mn-lt"/>
              </a:rPr>
              <a:t>RBG</a:t>
            </a:r>
            <a:r>
              <a:rPr lang="zh-CN" altLang="en-US" sz="2400" dirty="0">
                <a:solidFill>
                  <a:srgbClr val="4A5A69"/>
                </a:solidFill>
                <a:cs typeface="+mn-ea"/>
                <a:sym typeface="+mn-lt"/>
              </a:rPr>
              <a:t>图片的应用需要进行核心算法的更新。</a:t>
            </a:r>
            <a:endParaRPr lang="en-US" altLang="zh-CN" sz="2400" dirty="0">
              <a:solidFill>
                <a:srgbClr val="4A5A69"/>
              </a:solidFill>
              <a:cs typeface="+mn-ea"/>
              <a:sym typeface="+mn-lt"/>
            </a:endParaRPr>
          </a:p>
        </p:txBody>
      </p:sp>
      <p:sp>
        <p:nvSpPr>
          <p:cNvPr id="7" name="文本框 6">
            <a:extLst>
              <a:ext uri="{FF2B5EF4-FFF2-40B4-BE49-F238E27FC236}">
                <a16:creationId xmlns:a16="http://schemas.microsoft.com/office/drawing/2014/main" id="{075ECBBD-8B41-6000-B093-9FB881DBE36A}"/>
              </a:ext>
            </a:extLst>
          </p:cNvPr>
          <p:cNvSpPr txBox="1"/>
          <p:nvPr/>
        </p:nvSpPr>
        <p:spPr>
          <a:xfrm>
            <a:off x="378989" y="6015747"/>
            <a:ext cx="7303764" cy="461665"/>
          </a:xfrm>
          <a:prstGeom prst="rect">
            <a:avLst/>
          </a:prstGeom>
          <a:noFill/>
        </p:spPr>
        <p:txBody>
          <a:bodyPr wrap="square" rtlCol="0">
            <a:spAutoFit/>
          </a:bodyPr>
          <a:lstStyle/>
          <a:p>
            <a:r>
              <a:rPr lang="en-US" altLang="zh-CN" sz="2400" dirty="0">
                <a:solidFill>
                  <a:srgbClr val="4A5A69"/>
                </a:solidFill>
                <a:cs typeface="+mn-ea"/>
                <a:sym typeface="+mn-lt"/>
              </a:rPr>
              <a:t>4.  </a:t>
            </a:r>
            <a:r>
              <a:rPr lang="zh-CN" altLang="en-US" sz="2400" dirty="0">
                <a:solidFill>
                  <a:srgbClr val="4A5A69"/>
                </a:solidFill>
                <a:cs typeface="+mn-ea"/>
                <a:sym typeface="+mn-lt"/>
              </a:rPr>
              <a:t>边缘信息未得到较好的处理。</a:t>
            </a:r>
            <a:endParaRPr lang="en-US" altLang="zh-CN" sz="2400" dirty="0">
              <a:solidFill>
                <a:srgbClr val="4A5A69"/>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3679" y="2756776"/>
            <a:ext cx="5724645" cy="923330"/>
          </a:xfrm>
          <a:prstGeom prst="rect">
            <a:avLst/>
          </a:prstGeom>
          <a:noFill/>
        </p:spPr>
        <p:txBody>
          <a:bodyPr wrap="none" rtlCol="0">
            <a:spAutoFit/>
          </a:bodyPr>
          <a:lstStyle/>
          <a:p>
            <a:pPr algn="ctr"/>
            <a:r>
              <a:rPr lang="zh-CN" altLang="en-US" sz="5400" dirty="0">
                <a:solidFill>
                  <a:srgbClr val="4A5A69"/>
                </a:solidFill>
                <a:cs typeface="+mn-ea"/>
                <a:sym typeface="+mn-lt"/>
              </a:rPr>
              <a:t>感谢您的耐心观看</a:t>
            </a:r>
          </a:p>
        </p:txBody>
      </p:sp>
      <p:cxnSp>
        <p:nvCxnSpPr>
          <p:cNvPr id="6" name="直接连接符 5"/>
          <p:cNvCxnSpPr/>
          <p:nvPr/>
        </p:nvCxnSpPr>
        <p:spPr>
          <a:xfrm>
            <a:off x="2572303" y="3854616"/>
            <a:ext cx="1232694" cy="0"/>
          </a:xfrm>
          <a:prstGeom prst="line">
            <a:avLst/>
          </a:prstGeom>
          <a:ln>
            <a:solidFill>
              <a:srgbClr val="92A3B8"/>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8404932" y="3854616"/>
            <a:ext cx="1232694" cy="0"/>
          </a:xfrm>
          <a:prstGeom prst="line">
            <a:avLst/>
          </a:prstGeom>
          <a:ln>
            <a:solidFill>
              <a:srgbClr val="92A3B8"/>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550D2A6C-AEDC-0FA2-4472-8C030C6E23E1}"/>
              </a:ext>
            </a:extLst>
          </p:cNvPr>
          <p:cNvSpPr txBox="1"/>
          <p:nvPr/>
        </p:nvSpPr>
        <p:spPr>
          <a:xfrm>
            <a:off x="3675272" y="3669950"/>
            <a:ext cx="5283052" cy="369332"/>
          </a:xfrm>
          <a:prstGeom prst="rect">
            <a:avLst/>
          </a:prstGeom>
          <a:noFill/>
        </p:spPr>
        <p:txBody>
          <a:bodyPr wrap="square" rtlCol="0">
            <a:spAutoFit/>
          </a:bodyPr>
          <a:lstStyle/>
          <a:p>
            <a:r>
              <a:rPr lang="en-US" altLang="zh-CN" dirty="0">
                <a:solidFill>
                  <a:srgbClr val="92A3B8"/>
                </a:solidFill>
                <a:cs typeface="+mn-ea"/>
                <a:sym typeface="+mn-lt"/>
              </a:rPr>
              <a:t>2023-2024</a:t>
            </a:r>
            <a:r>
              <a:rPr lang="zh-CN" altLang="en-US" dirty="0">
                <a:solidFill>
                  <a:srgbClr val="92A3B8"/>
                </a:solidFill>
                <a:cs typeface="+mn-ea"/>
                <a:sym typeface="+mn-lt"/>
              </a:rPr>
              <a:t>学年第一学期信息安全技术课程设计</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6c55f888-4e3e-4be0-9267-a9c260b43c20"/>
  <p:tag name="COMMONDATA" val="eyJoZGlkIjoiMTI4OTIzYTM4MmFjNDAzZWZiNGEyM2QwNjc2NTFmNW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80,&quot;width&quot;:961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80,&quot;width&quot;:9610}"/>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80,&quot;width&quot;:9610}"/>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2vvqgvl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2vvqgvl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215</TotalTime>
  <Words>1095</Words>
  <Application>Microsoft Office PowerPoint</Application>
  <PresentationFormat>宽屏</PresentationFormat>
  <Paragraphs>131</Paragraphs>
  <Slides>19</Slides>
  <Notes>0</Notes>
  <HiddenSlides>0</HiddenSlides>
  <MMClips>0</MMClips>
  <ScaleCrop>false</ScaleCrop>
  <HeadingPairs>
    <vt:vector size="6" baseType="variant">
      <vt:variant>
        <vt:lpstr>已用的字体</vt:lpstr>
      </vt:variant>
      <vt:variant>
        <vt:i4>2</vt:i4>
      </vt:variant>
      <vt:variant>
        <vt:lpstr>主题</vt:lpstr>
      </vt:variant>
      <vt:variant>
        <vt:i4>3</vt:i4>
      </vt:variant>
      <vt:variant>
        <vt:lpstr>幻灯片标题</vt:lpstr>
      </vt:variant>
      <vt:variant>
        <vt:i4>19</vt:i4>
      </vt:variant>
    </vt:vector>
  </HeadingPairs>
  <TitlesOfParts>
    <vt:vector size="24" baseType="lpstr">
      <vt:lpstr>包图简圆体</vt:lpstr>
      <vt:lpstr>Arial</vt:lpstr>
      <vt:lpstr>第一PPT，www.1ppt.com</vt:lpstr>
      <vt:lpstr>自定义设计方案</vt:lpstr>
      <vt:lpstr>1_第一PPT，www.1ppt.com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莫兰迪</dc:title>
  <dc:creator>第一PPT</dc:creator>
  <cp:keywords>www.1ppt.com</cp:keywords>
  <dc:description>www.1ppt.com</dc:description>
  <cp:lastModifiedBy>_Coinisi_ 坩埚花菜</cp:lastModifiedBy>
  <cp:revision>46</cp:revision>
  <dcterms:created xsi:type="dcterms:W3CDTF">2020-01-03T06:53:00Z</dcterms:created>
  <dcterms:modified xsi:type="dcterms:W3CDTF">2024-05-21T07:29:01Z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2015C6D9E8DA4BB08B3CF38E955223A0</vt:lpwstr>
  </property>
  <property fmtid="{D5CDD505-2E9C-101B-9397-08002B2CF9AE}" pid="3" name="KSOProductBuildVer">
    <vt:lpwstr>2052-11.1.0.12763</vt:lpwstr>
  </property>
</Properties>
</file>