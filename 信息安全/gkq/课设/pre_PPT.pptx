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80" r:id="rId4"/>
    <p:sldId id="282" r:id="rId5"/>
    <p:sldId id="281" r:id="rId6"/>
    <p:sldId id="283" r:id="rId7"/>
    <p:sldId id="257" r:id="rId8"/>
    <p:sldId id="284" r:id="rId9"/>
    <p:sldId id="285" r:id="rId10"/>
    <p:sldId id="276" r:id="rId11"/>
    <p:sldId id="277" r:id="rId12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kq2414774255@163.com" initials="g" lastIdx="1" clrIdx="0">
    <p:extLst>
      <p:ext uri="{19B8F6BF-5375-455C-9EA6-DF929625EA0E}">
        <p15:presenceInfo xmlns:p15="http://schemas.microsoft.com/office/powerpoint/2012/main" userId="61d2b259bd0f37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91" autoAdjust="0"/>
  </p:normalViewPr>
  <p:slideViewPr>
    <p:cSldViewPr>
      <p:cViewPr varScale="1">
        <p:scale>
          <a:sx n="94" d="100"/>
          <a:sy n="94" d="100"/>
        </p:scale>
        <p:origin x="66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4C6CE-78F6-4B64-BB6B-599AD6AFABD9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9B138-A142-4EBE-801C-88E8015F9F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394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</a:t>
            </a:r>
            <a:r>
              <a:rPr lang="en-US" altLang="zh-CN" dirty="0"/>
              <a:t>Hash</a:t>
            </a:r>
            <a:r>
              <a:rPr lang="zh-CN" altLang="en-US" dirty="0"/>
              <a:t>值相当于一个中间状态，即</a:t>
            </a:r>
            <a:r>
              <a:rPr lang="en-US" altLang="zh-CN" dirty="0"/>
              <a:t>Sha256</a:t>
            </a:r>
            <a:r>
              <a:rPr lang="zh-CN" altLang="en-US" dirty="0"/>
              <a:t>（</a:t>
            </a:r>
            <a:r>
              <a:rPr lang="en-US" altLang="zh-CN" dirty="0"/>
              <a:t>key||message</a:t>
            </a:r>
            <a:r>
              <a:rPr lang="zh-CN" altLang="en-US" dirty="0"/>
              <a:t>）</a:t>
            </a:r>
            <a:r>
              <a:rPr lang="en-US" altLang="zh-CN" dirty="0"/>
              <a:t>,</a:t>
            </a:r>
            <a:r>
              <a:rPr lang="zh-CN" altLang="en-US" dirty="0"/>
              <a:t>而</a:t>
            </a:r>
            <a:r>
              <a:rPr lang="en-US" altLang="zh-CN" dirty="0"/>
              <a:t>Hash</a:t>
            </a:r>
            <a:r>
              <a:rPr lang="zh-CN" altLang="en-US" dirty="0"/>
              <a:t>的计算逻辑是一个块进行一个循环计算，因此我们猜测一下一个</a:t>
            </a:r>
            <a:r>
              <a:rPr lang="en-US" altLang="zh-CN" dirty="0"/>
              <a:t>key</a:t>
            </a:r>
            <a:r>
              <a:rPr lang="zh-CN" altLang="en-US" dirty="0"/>
              <a:t>的大小（明文大小为</a:t>
            </a:r>
            <a:r>
              <a:rPr lang="en-US" altLang="zh-CN" dirty="0"/>
              <a:t>28</a:t>
            </a:r>
            <a:r>
              <a:rPr lang="zh-CN" altLang="en-US" dirty="0"/>
              <a:t>，密钥大小猜测为</a:t>
            </a:r>
            <a:r>
              <a:rPr lang="en-US" altLang="zh-CN" dirty="0"/>
              <a:t>6</a:t>
            </a:r>
            <a:r>
              <a:rPr lang="zh-CN" altLang="en-US" dirty="0"/>
              <a:t>，带一个冒号，共</a:t>
            </a:r>
            <a:r>
              <a:rPr lang="en-US" altLang="zh-CN" dirty="0"/>
              <a:t>35</a:t>
            </a:r>
            <a:r>
              <a:rPr lang="zh-CN" altLang="en-US" dirty="0"/>
              <a:t>），填充</a:t>
            </a:r>
            <a:r>
              <a:rPr lang="en-US" altLang="zh-CN" dirty="0"/>
              <a:t>29</a:t>
            </a:r>
            <a:r>
              <a:rPr lang="zh-CN" altLang="en-US" dirty="0"/>
              <a:t>字符，共</a:t>
            </a:r>
            <a:r>
              <a:rPr lang="en-US" altLang="zh-CN" dirty="0"/>
              <a:t>64</a:t>
            </a:r>
            <a:r>
              <a:rPr lang="zh-CN" altLang="en-US" dirty="0"/>
              <a:t>字符，后直接用</a:t>
            </a:r>
            <a:r>
              <a:rPr lang="en-US" altLang="zh-CN" dirty="0"/>
              <a:t>*</a:t>
            </a:r>
            <a:r>
              <a:rPr lang="zh-CN" altLang="en-US" dirty="0"/>
              <a:t>对其进行填充，即可不管前面的消息</a:t>
            </a:r>
            <a:br>
              <a:rPr lang="en-US" altLang="zh-CN" dirty="0"/>
            </a:br>
            <a:r>
              <a:rPr lang="zh-CN" altLang="en-US" dirty="0"/>
              <a:t>当加上新的消息时，该消息独立成一块，因此直接基于原</a:t>
            </a:r>
            <a:r>
              <a:rPr lang="en-US" altLang="zh-CN" dirty="0"/>
              <a:t>Hash</a:t>
            </a:r>
            <a:r>
              <a:rPr lang="zh-CN" altLang="en-US" dirty="0"/>
              <a:t>进行计算得到正确的</a:t>
            </a:r>
            <a:r>
              <a:rPr lang="en-US" altLang="zh-CN" dirty="0"/>
              <a:t>Hash</a:t>
            </a:r>
            <a:r>
              <a:rPr lang="zh-CN" altLang="en-US" dirty="0"/>
              <a:t>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9B138-A142-4EBE-801C-88E8015F9F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1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34262" y="1301915"/>
            <a:ext cx="4130040" cy="4304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5875"/>
            <a:ext cx="10001250" cy="2540"/>
          </a:xfrm>
          <a:custGeom>
            <a:avLst/>
            <a:gdLst/>
            <a:ahLst/>
            <a:cxnLst/>
            <a:rect l="l" t="t" r="r" b="b"/>
            <a:pathLst>
              <a:path w="10001250" h="2540">
                <a:moveTo>
                  <a:pt x="0" y="0"/>
                </a:moveTo>
                <a:lnTo>
                  <a:pt x="10001250" y="203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143637"/>
            <a:ext cx="12192000" cy="1905"/>
          </a:xfrm>
          <a:custGeom>
            <a:avLst/>
            <a:gdLst/>
            <a:ahLst/>
            <a:cxnLst/>
            <a:rect l="l" t="t" r="r" b="b"/>
            <a:pathLst>
              <a:path w="12192000" h="1904">
                <a:moveTo>
                  <a:pt x="0" y="0"/>
                </a:moveTo>
                <a:lnTo>
                  <a:pt x="12192000" y="1587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88548" y="50673"/>
            <a:ext cx="1513077" cy="1500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43883" y="2622880"/>
            <a:ext cx="4904232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1154" y="2504008"/>
            <a:ext cx="10889691" cy="1754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Microsoft YaHei"/>
                <a:cs typeface="Microsoft Ya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5875"/>
            <a:ext cx="10001250" cy="2540"/>
          </a:xfrm>
          <a:custGeom>
            <a:avLst/>
            <a:gdLst/>
            <a:ahLst/>
            <a:cxnLst/>
            <a:rect l="l" t="t" r="r" b="b"/>
            <a:pathLst>
              <a:path w="10001250" h="2540">
                <a:moveTo>
                  <a:pt x="0" y="0"/>
                </a:moveTo>
                <a:lnTo>
                  <a:pt x="10001250" y="2032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143637"/>
            <a:ext cx="12192000" cy="1905"/>
          </a:xfrm>
          <a:custGeom>
            <a:avLst/>
            <a:gdLst/>
            <a:ahLst/>
            <a:cxnLst/>
            <a:rect l="l" t="t" r="r" b="b"/>
            <a:pathLst>
              <a:path w="12192000" h="1904">
                <a:moveTo>
                  <a:pt x="0" y="0"/>
                </a:moveTo>
                <a:lnTo>
                  <a:pt x="12192000" y="1587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2342" y="214236"/>
            <a:ext cx="3359657" cy="11430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62690" y="637529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78840" y="2470694"/>
            <a:ext cx="912241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zh-CN" altLang="en-US" sz="4000" spc="-30" dirty="0">
                <a:latin typeface="Calibri"/>
                <a:cs typeface="Calibri"/>
              </a:rPr>
              <a:t>哈希长度扩展攻击</a:t>
            </a:r>
            <a:endParaRPr lang="en-US" sz="4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8252" y="4790643"/>
            <a:ext cx="2159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 err="1">
                <a:latin typeface="SimSun"/>
                <a:cs typeface="SimSun"/>
              </a:rPr>
              <a:t>汇报人</a:t>
            </a:r>
            <a:r>
              <a:rPr sz="2400" spc="-5" dirty="0">
                <a:latin typeface="SimSun"/>
                <a:cs typeface="SimSun"/>
              </a:rPr>
              <a:t>：</a:t>
            </a:r>
            <a:r>
              <a:rPr lang="zh-CN" altLang="en-US" sz="2400" spc="-5" dirty="0">
                <a:latin typeface="SimSun"/>
                <a:cs typeface="SimSun"/>
              </a:rPr>
              <a:t>顾凯琪</a:t>
            </a:r>
            <a:endParaRPr sz="2400" dirty="0"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5410" y="2695732"/>
            <a:ext cx="53548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5" dirty="0">
                <a:latin typeface="Calibri"/>
                <a:cs typeface="Calibri"/>
              </a:rPr>
              <a:t>Hash Length Extension Attack – </a:t>
            </a:r>
            <a:r>
              <a:rPr lang="en-US" altLang="zh-CN" sz="1800" spc="-5" dirty="0">
                <a:latin typeface="Calibri"/>
                <a:cs typeface="Calibri"/>
              </a:rPr>
              <a:t>Seed Lab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7C726E7C-F46F-4A63-B245-39385B4B9280}"/>
              </a:ext>
            </a:extLst>
          </p:cNvPr>
          <p:cNvGrpSpPr/>
          <p:nvPr/>
        </p:nvGrpSpPr>
        <p:grpSpPr>
          <a:xfrm>
            <a:off x="653787" y="317017"/>
            <a:ext cx="2394213" cy="721360"/>
            <a:chOff x="653787" y="317017"/>
            <a:chExt cx="4897120" cy="72136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07843E27-41E7-46C5-B4AB-A3CB258AA8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787" y="388545"/>
              <a:ext cx="4896628" cy="535073"/>
            </a:xfrm>
            <a:prstGeom prst="rect">
              <a:avLst/>
            </a:prstGeom>
          </p:spPr>
        </p:pic>
        <p:pic>
          <p:nvPicPr>
            <p:cNvPr id="12" name="object 5">
              <a:extLst>
                <a:ext uri="{FF2B5EF4-FFF2-40B4-BE49-F238E27FC236}">
                  <a16:creationId xmlns:a16="http://schemas.microsoft.com/office/drawing/2014/main" id="{99A02C06-5CA6-4C7B-83DB-D1C54306A4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9236" y="317017"/>
              <a:ext cx="1665732" cy="720826"/>
            </a:xfrm>
            <a:prstGeom prst="rect">
              <a:avLst/>
            </a:prstGeom>
          </p:spPr>
        </p:pic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163B1CA1-08C1-4B19-83E4-F16385E9AD6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2429" y="404596"/>
              <a:ext cx="4824476" cy="461670"/>
            </a:xfrm>
            <a:prstGeom prst="rect">
              <a:avLst/>
            </a:prstGeom>
          </p:spPr>
        </p:pic>
      </p:grpSp>
      <p:sp>
        <p:nvSpPr>
          <p:cNvPr id="14" name="object 7">
            <a:extLst>
              <a:ext uri="{FF2B5EF4-FFF2-40B4-BE49-F238E27FC236}">
                <a16:creationId xmlns:a16="http://schemas.microsoft.com/office/drawing/2014/main" id="{3B012E8A-2FBB-4E07-A85E-B0EF7FB7E4CF}"/>
              </a:ext>
            </a:extLst>
          </p:cNvPr>
          <p:cNvSpPr txBox="1">
            <a:spLocks/>
          </p:cNvSpPr>
          <p:nvPr/>
        </p:nvSpPr>
        <p:spPr>
          <a:xfrm>
            <a:off x="812627" y="428701"/>
            <a:ext cx="2082973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>
            <a:lvl1pPr>
              <a:defRPr sz="9600" b="0" i="0">
                <a:solidFill>
                  <a:schemeClr val="tx1"/>
                </a:solidFill>
                <a:latin typeface="SimSun"/>
                <a:ea typeface="+mj-ea"/>
                <a:cs typeface="SimSun"/>
              </a:defRPr>
            </a:lvl1pPr>
          </a:lstStyle>
          <a:p>
            <a:pPr marL="346710">
              <a:spcBef>
                <a:spcPts val="250"/>
              </a:spcBef>
            </a:pPr>
            <a:r>
              <a:rPr lang="zh-CN" altLang="en-US" sz="2400" kern="0" dirty="0">
                <a:solidFill>
                  <a:srgbClr val="FFFFFF"/>
                </a:solidFill>
              </a:rPr>
              <a:t>课设汇报</a:t>
            </a:r>
            <a:endParaRPr lang="en-US" sz="2400" kern="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53787" y="317017"/>
            <a:ext cx="3003813" cy="721360"/>
            <a:chOff x="653787" y="317017"/>
            <a:chExt cx="4897120" cy="721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787" y="388545"/>
              <a:ext cx="4896628" cy="5350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236" y="317017"/>
              <a:ext cx="1665732" cy="7208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429" y="404596"/>
              <a:ext cx="4824476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2429" y="404596"/>
            <a:ext cx="2736571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lang="zh-CN" altLang="en-US" sz="2400" dirty="0">
                <a:solidFill>
                  <a:srgbClr val="FFFFFF"/>
                </a:solidFill>
              </a:rPr>
              <a:t>背景</a:t>
            </a:r>
            <a:endParaRPr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70036-4F1A-416A-9821-654301A27369}"/>
              </a:ext>
            </a:extLst>
          </p:cNvPr>
          <p:cNvSpPr txBox="1"/>
          <p:nvPr/>
        </p:nvSpPr>
        <p:spPr>
          <a:xfrm>
            <a:off x="762000" y="2828835"/>
            <a:ext cx="10395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当客户端和服务器通信时，它们可能会受到中间人（</a:t>
            </a:r>
            <a:r>
              <a:rPr lang="en-US" altLang="zh-CN" dirty="0"/>
              <a:t>MITM</a:t>
            </a:r>
            <a:r>
              <a:rPr lang="zh-CN" altLang="en-US" dirty="0"/>
              <a:t>）攻击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验证完整性的标准方法是在请求上附加一个称为消息认证码（</a:t>
            </a:r>
            <a:r>
              <a:rPr lang="en-US" altLang="zh-CN" dirty="0"/>
              <a:t>MAC</a:t>
            </a:r>
            <a:r>
              <a:rPr lang="zh-CN" altLang="en-US" dirty="0"/>
              <a:t>）的标签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53787" y="317017"/>
            <a:ext cx="3003813" cy="721360"/>
            <a:chOff x="653787" y="317017"/>
            <a:chExt cx="4897120" cy="721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787" y="388545"/>
              <a:ext cx="4896628" cy="5350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236" y="317017"/>
              <a:ext cx="1665732" cy="7208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429" y="404596"/>
              <a:ext cx="4824476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2429" y="404596"/>
            <a:ext cx="2736571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lang="en-US" altLang="zh-CN" sz="2400" dirty="0">
                <a:solidFill>
                  <a:srgbClr val="FFFFFF"/>
                </a:solidFill>
              </a:rPr>
              <a:t>Mac</a:t>
            </a:r>
            <a:r>
              <a:rPr lang="zh-CN" altLang="en-US" sz="2400" dirty="0">
                <a:solidFill>
                  <a:srgbClr val="FFFFFF"/>
                </a:solidFill>
              </a:rPr>
              <a:t>认证流程</a:t>
            </a:r>
            <a:endParaRPr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49DA83-B805-4612-B9E1-C0E29CDBE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1524000"/>
            <a:ext cx="7216037" cy="423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2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53787" y="317017"/>
            <a:ext cx="3003813" cy="721360"/>
            <a:chOff x="653787" y="317017"/>
            <a:chExt cx="4897120" cy="721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787" y="388545"/>
              <a:ext cx="4896628" cy="5350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236" y="317017"/>
              <a:ext cx="1665732" cy="7208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429" y="404596"/>
              <a:ext cx="4824476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2429" y="404596"/>
            <a:ext cx="2736571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lang="en-US" altLang="zh-CN" sz="2400" dirty="0">
                <a:solidFill>
                  <a:srgbClr val="FFFFFF"/>
                </a:solidFill>
              </a:rPr>
              <a:t>Mac</a:t>
            </a:r>
            <a:r>
              <a:rPr lang="zh-CN" altLang="en-US" sz="2400" dirty="0">
                <a:solidFill>
                  <a:srgbClr val="FFFFFF"/>
                </a:solidFill>
              </a:rPr>
              <a:t>认证流程</a:t>
            </a:r>
            <a:endParaRPr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25A334-C200-441F-95EA-184BC49BC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28" y="1619551"/>
            <a:ext cx="5648449" cy="3962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99A7BA-5395-451B-A456-FD6ADFB44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377" y="1918909"/>
            <a:ext cx="6095999" cy="30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99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53787" y="317017"/>
            <a:ext cx="3003813" cy="721360"/>
            <a:chOff x="653787" y="317017"/>
            <a:chExt cx="4897120" cy="721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787" y="388545"/>
              <a:ext cx="4896628" cy="53507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9236" y="317017"/>
              <a:ext cx="1665732" cy="7208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429" y="404596"/>
              <a:ext cx="4824476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2429" y="404596"/>
            <a:ext cx="2736571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lang="zh-CN" altLang="en-US" sz="2400" dirty="0">
                <a:solidFill>
                  <a:srgbClr val="FFFFFF"/>
                </a:solidFill>
              </a:rPr>
              <a:t>存在的问题</a:t>
            </a:r>
            <a:endParaRPr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70036-4F1A-416A-9821-654301A27369}"/>
              </a:ext>
            </a:extLst>
          </p:cNvPr>
          <p:cNvSpPr txBox="1"/>
          <p:nvPr/>
        </p:nvSpPr>
        <p:spPr>
          <a:xfrm>
            <a:off x="288157" y="1905000"/>
            <a:ext cx="57149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在服务端进行验证</a:t>
            </a:r>
            <a:r>
              <a:rPr lang="en-US" altLang="zh-CN" dirty="0"/>
              <a:t>Mac</a:t>
            </a:r>
            <a:r>
              <a:rPr lang="zh-CN" altLang="en-US" dirty="0"/>
              <a:t>，使用的其实是</a:t>
            </a:r>
            <a:r>
              <a:rPr lang="en-US" altLang="zh-CN" dirty="0"/>
              <a:t>Hash</a:t>
            </a:r>
            <a:r>
              <a:rPr lang="zh-CN" altLang="en-US" dirty="0"/>
              <a:t>（</a:t>
            </a:r>
            <a:r>
              <a:rPr lang="en-US" altLang="zh-CN" dirty="0" err="1"/>
              <a:t>key+message+padding</a:t>
            </a:r>
            <a:r>
              <a:rPr lang="zh-CN" altLang="en-US" dirty="0"/>
              <a:t>）</a:t>
            </a:r>
            <a:r>
              <a:rPr lang="en-US" altLang="zh-CN" dirty="0"/>
              <a:t>[512bits/</a:t>
            </a:r>
            <a:r>
              <a:rPr lang="zh-CN" altLang="en-US" dirty="0"/>
              <a:t>块</a:t>
            </a:r>
            <a:r>
              <a:rPr lang="en-US" altLang="zh-CN" dirty="0"/>
              <a:t>]</a:t>
            </a:r>
            <a:br>
              <a:rPr lang="en-US" altLang="zh-CN" dirty="0"/>
            </a:br>
            <a:endParaRPr lang="en-US" altLang="zh-CN" dirty="0"/>
          </a:p>
          <a:p>
            <a:r>
              <a:rPr lang="zh-CN" altLang="en-US" dirty="0"/>
              <a:t>而</a:t>
            </a:r>
            <a:r>
              <a:rPr lang="en-US" altLang="zh-CN" dirty="0"/>
              <a:t>SHA-256 </a:t>
            </a:r>
            <a:r>
              <a:rPr lang="zh-CN" altLang="en-US" dirty="0"/>
              <a:t>内部维护一个 </a:t>
            </a:r>
            <a:r>
              <a:rPr lang="en-US" altLang="zh-CN" dirty="0"/>
              <a:t>256-bit </a:t>
            </a:r>
            <a:r>
              <a:rPr lang="zh-CN" altLang="en-US" dirty="0"/>
              <a:t>（</a:t>
            </a:r>
            <a:r>
              <a:rPr lang="en-US" altLang="zh-CN" dirty="0"/>
              <a:t>8*Hi</a:t>
            </a:r>
            <a:r>
              <a:rPr lang="zh-CN" altLang="en-US" dirty="0"/>
              <a:t>）的中间状态，也就是</a:t>
            </a:r>
            <a:r>
              <a:rPr lang="en-US" altLang="zh-CN" dirty="0"/>
              <a:t>Hash</a:t>
            </a:r>
            <a:r>
              <a:rPr lang="zh-CN" altLang="en-US" dirty="0"/>
              <a:t>利用</a:t>
            </a:r>
            <a:r>
              <a:rPr lang="en-US" altLang="zh-CN" dirty="0"/>
              <a:t>key</a:t>
            </a:r>
            <a:r>
              <a:rPr lang="zh-CN" altLang="en-US" dirty="0"/>
              <a:t>和</a:t>
            </a:r>
            <a:r>
              <a:rPr lang="en-US" altLang="zh-CN" dirty="0"/>
              <a:t>message</a:t>
            </a:r>
            <a:r>
              <a:rPr lang="zh-CN" altLang="en-US" dirty="0"/>
              <a:t>进行多轮迭代计算的结果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因此，如果得到了该</a:t>
            </a:r>
            <a:r>
              <a:rPr lang="en-US" altLang="zh-CN" dirty="0"/>
              <a:t>Hash</a:t>
            </a:r>
            <a:r>
              <a:rPr lang="zh-CN" altLang="en-US" dirty="0"/>
              <a:t>值，也就得到了该中间状态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只需要接过接力棒，即扩充</a:t>
            </a:r>
            <a:r>
              <a:rPr lang="en-US" altLang="zh-CN" dirty="0"/>
              <a:t>m</a:t>
            </a:r>
            <a:r>
              <a:rPr lang="zh-CN" altLang="en-US" dirty="0"/>
              <a:t>为</a:t>
            </a:r>
            <a:r>
              <a:rPr lang="en-US" altLang="zh-CN" dirty="0"/>
              <a:t>m’</a:t>
            </a:r>
            <a:r>
              <a:rPr lang="zh-CN" altLang="en-US" dirty="0"/>
              <a:t>，即可在原始的状态下继续计算新的符合</a:t>
            </a:r>
            <a:r>
              <a:rPr lang="en-US" altLang="zh-CN" dirty="0"/>
              <a:t>key</a:t>
            </a:r>
            <a:r>
              <a:rPr lang="zh-CN" altLang="en-US" dirty="0"/>
              <a:t>认证的</a:t>
            </a:r>
            <a:r>
              <a:rPr lang="en-US" altLang="zh-CN" dirty="0"/>
              <a:t>Mac</a:t>
            </a:r>
            <a:r>
              <a:rPr lang="zh-CN" altLang="en-US" dirty="0"/>
              <a:t>值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5A3C2E7-E91A-4775-85F4-9291D5C40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072" y="1905000"/>
            <a:ext cx="600315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8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" y="1686649"/>
            <a:ext cx="12649200" cy="778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165">
              <a:lnSpc>
                <a:spcPct val="150000"/>
              </a:lnSpc>
              <a:spcBef>
                <a:spcPts val="100"/>
              </a:spcBef>
            </a:pPr>
            <a:r>
              <a:rPr lang="zh-CN" altLang="en-US" dirty="0">
                <a:latin typeface="SimSun"/>
                <a:cs typeface="SimSun"/>
              </a:rPr>
              <a:t>首先构建正常的请求，并利用</a:t>
            </a:r>
            <a:r>
              <a:rPr lang="en-US" altLang="zh-CN" dirty="0">
                <a:latin typeface="SimSun"/>
                <a:cs typeface="SimSun"/>
              </a:rPr>
              <a:t>sha256</a:t>
            </a:r>
            <a:r>
              <a:rPr lang="zh-CN" altLang="en-US" dirty="0">
                <a:latin typeface="SimSun"/>
                <a:cs typeface="SimSun"/>
              </a:rPr>
              <a:t>计算对应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值，将该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值作为</a:t>
            </a:r>
            <a:r>
              <a:rPr lang="en-US" altLang="zh-CN" dirty="0">
                <a:latin typeface="SimSun"/>
                <a:cs typeface="SimSun"/>
              </a:rPr>
              <a:t>Mac</a:t>
            </a:r>
            <a:r>
              <a:rPr lang="zh-CN" altLang="en-US" dirty="0">
                <a:latin typeface="SimSun"/>
                <a:cs typeface="SimSun"/>
              </a:rPr>
              <a:t>附加在</a:t>
            </a:r>
            <a:r>
              <a:rPr lang="en-US" altLang="zh-CN" dirty="0">
                <a:latin typeface="SimSun"/>
                <a:cs typeface="SimSun"/>
              </a:rPr>
              <a:t>URL</a:t>
            </a:r>
            <a:r>
              <a:rPr lang="zh-CN" altLang="en-US" dirty="0">
                <a:latin typeface="SimSun"/>
                <a:cs typeface="SimSun"/>
              </a:rPr>
              <a:t>请求后，成功访问对应内容</a:t>
            </a:r>
            <a:br>
              <a:rPr lang="en-US" altLang="zh-CN" dirty="0">
                <a:latin typeface="SimSun"/>
                <a:cs typeface="SimSun"/>
              </a:rPr>
            </a:br>
            <a:r>
              <a:rPr lang="zh-CN" altLang="en-US" dirty="0">
                <a:latin typeface="SimSun"/>
                <a:cs typeface="SimSun"/>
              </a:rPr>
              <a:t>但如果输入错误的</a:t>
            </a:r>
            <a:r>
              <a:rPr lang="en-US" altLang="zh-CN" dirty="0">
                <a:latin typeface="SimSun"/>
                <a:cs typeface="SimSun"/>
              </a:rPr>
              <a:t>Mac</a:t>
            </a:r>
            <a:r>
              <a:rPr lang="zh-CN" altLang="en-US" dirty="0">
                <a:latin typeface="SimSun"/>
                <a:cs typeface="SimSun"/>
              </a:rPr>
              <a:t>，浏览器将会拒绝对应的访问。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4316" y="467001"/>
            <a:ext cx="2551186" cy="821350"/>
            <a:chOff x="801615" y="245338"/>
            <a:chExt cx="4896628" cy="749833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15" y="318403"/>
              <a:ext cx="4896628" cy="5336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" y="245338"/>
              <a:ext cx="4578096" cy="7498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419" y="333857"/>
              <a:ext cx="4858824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3870" y="616118"/>
            <a:ext cx="2360982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25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Calibri"/>
                <a:cs typeface="Calibri"/>
              </a:rPr>
              <a:t>实验过程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B79AEC0A-486E-4F2E-9C2F-281F6CC45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67000"/>
            <a:ext cx="1112274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">
            <a:extLst>
              <a:ext uri="{FF2B5EF4-FFF2-40B4-BE49-F238E27FC236}">
                <a16:creationId xmlns:a16="http://schemas.microsoft.com/office/drawing/2014/main" id="{04C1C1F6-1CFF-40C9-AAD0-D657F164A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49483"/>
            <a:ext cx="3772625" cy="2463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图片 1">
            <a:extLst>
              <a:ext uri="{FF2B5EF4-FFF2-40B4-BE49-F238E27FC236}">
                <a16:creationId xmlns:a16="http://schemas.microsoft.com/office/drawing/2014/main" id="{1FAFA7A7-16B1-489F-B7DB-71AFA0857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246096"/>
            <a:ext cx="4410745" cy="2463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594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417935"/>
            <a:ext cx="5360374" cy="1194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165">
              <a:lnSpc>
                <a:spcPct val="150000"/>
              </a:lnSpc>
              <a:spcBef>
                <a:spcPts val="100"/>
              </a:spcBef>
            </a:pPr>
            <a:r>
              <a:rPr lang="zh-CN" altLang="en-US" dirty="0">
                <a:latin typeface="SimSun"/>
                <a:cs typeface="SimSun"/>
              </a:rPr>
              <a:t>假设我们已经知道了完整的明文（含</a:t>
            </a:r>
            <a:r>
              <a:rPr lang="en-US" altLang="zh-CN" dirty="0">
                <a:latin typeface="SimSun"/>
                <a:cs typeface="SimSun"/>
              </a:rPr>
              <a:t>key</a:t>
            </a:r>
            <a:r>
              <a:rPr lang="zh-CN" altLang="en-US" dirty="0">
                <a:latin typeface="SimSun"/>
                <a:cs typeface="SimSun"/>
              </a:rPr>
              <a:t>），而后可直接对原始消息进行填充，利用右图程序计算新的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值，从而构建新的</a:t>
            </a:r>
            <a:r>
              <a:rPr lang="en-US" altLang="zh-CN" dirty="0">
                <a:latin typeface="SimSun"/>
                <a:cs typeface="SimSun"/>
              </a:rPr>
              <a:t>URL</a:t>
            </a:r>
            <a:r>
              <a:rPr lang="zh-CN" altLang="en-US" dirty="0">
                <a:latin typeface="SimSun"/>
                <a:cs typeface="SimSun"/>
              </a:rPr>
              <a:t>请求，攻击成功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4316" y="467001"/>
            <a:ext cx="2551186" cy="821350"/>
            <a:chOff x="801615" y="245338"/>
            <a:chExt cx="4896628" cy="749833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15" y="318403"/>
              <a:ext cx="4896628" cy="5336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" y="245338"/>
              <a:ext cx="4578096" cy="7498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419" y="333857"/>
              <a:ext cx="4858824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3870" y="616118"/>
            <a:ext cx="2360982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25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Calibri"/>
                <a:cs typeface="Calibri"/>
              </a:rPr>
              <a:t>实验过程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F2D8A2-5D4D-4C17-AE5E-EFF938FD9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907" y="1389148"/>
            <a:ext cx="5097157" cy="45471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2A779EF-1A39-402D-B24B-A37B95B2E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48" y="2618651"/>
            <a:ext cx="5638800" cy="467414"/>
          </a:xfrm>
          <a:prstGeom prst="rect">
            <a:avLst/>
          </a:prstGeom>
        </p:spPr>
      </p:pic>
      <p:pic>
        <p:nvPicPr>
          <p:cNvPr id="1029" name="图片 1">
            <a:extLst>
              <a:ext uri="{FF2B5EF4-FFF2-40B4-BE49-F238E27FC236}">
                <a16:creationId xmlns:a16="http://schemas.microsoft.com/office/drawing/2014/main" id="{41F8ACBB-52F5-4F9D-AC8F-4A7597193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70" y="3200400"/>
            <a:ext cx="4258957" cy="282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417935"/>
            <a:ext cx="5360374" cy="1194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165">
              <a:lnSpc>
                <a:spcPct val="150000"/>
              </a:lnSpc>
              <a:spcBef>
                <a:spcPts val="100"/>
              </a:spcBef>
            </a:pPr>
            <a:r>
              <a:rPr lang="zh-CN" altLang="en-US" dirty="0">
                <a:latin typeface="SimSun"/>
                <a:cs typeface="SimSun"/>
              </a:rPr>
              <a:t>而当我们并不知道真正的</a:t>
            </a:r>
            <a:r>
              <a:rPr lang="en-US" altLang="zh-CN" dirty="0">
                <a:latin typeface="SimSun"/>
                <a:cs typeface="SimSun"/>
              </a:rPr>
              <a:t>key</a:t>
            </a:r>
            <a:r>
              <a:rPr lang="zh-CN" altLang="en-US" dirty="0">
                <a:latin typeface="SimSun"/>
                <a:cs typeface="SimSun"/>
              </a:rPr>
              <a:t>时，我们其实并不关心</a:t>
            </a:r>
            <a:r>
              <a:rPr lang="en-US" altLang="zh-CN" dirty="0">
                <a:latin typeface="SimSun"/>
                <a:cs typeface="SimSun"/>
              </a:rPr>
              <a:t>key</a:t>
            </a:r>
            <a:r>
              <a:rPr lang="zh-CN" altLang="en-US" dirty="0">
                <a:latin typeface="SimSun"/>
                <a:cs typeface="SimSun"/>
              </a:rPr>
              <a:t>的长度，因为他与原消息是共用一块或多块，只需要知道原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，即可获得新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，攻击成功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4316" y="467001"/>
            <a:ext cx="2551186" cy="821350"/>
            <a:chOff x="801615" y="245338"/>
            <a:chExt cx="4896628" cy="749833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15" y="318403"/>
              <a:ext cx="4896628" cy="5336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20" y="245338"/>
              <a:ext cx="4578096" cy="7498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419" y="333857"/>
              <a:ext cx="4858824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3870" y="616118"/>
            <a:ext cx="2360982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25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Calibri"/>
                <a:cs typeface="Calibri"/>
              </a:rPr>
              <a:t>实验过程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5EDCAC4-92CB-4929-9B8D-9C75A4854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1397733"/>
            <a:ext cx="4191000" cy="47313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FD44F7-086D-444A-9F6A-4CBB30ED03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" y="2725067"/>
            <a:ext cx="5454986" cy="629035"/>
          </a:xfrm>
          <a:prstGeom prst="rect">
            <a:avLst/>
          </a:prstGeom>
        </p:spPr>
      </p:pic>
      <p:pic>
        <p:nvPicPr>
          <p:cNvPr id="3074" name="图片 1">
            <a:extLst>
              <a:ext uri="{FF2B5EF4-FFF2-40B4-BE49-F238E27FC236}">
                <a16:creationId xmlns:a16="http://schemas.microsoft.com/office/drawing/2014/main" id="{F6B05B51-27B4-4858-B463-B5B009FDF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16" y="3354102"/>
            <a:ext cx="4038600" cy="2682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970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417935"/>
            <a:ext cx="8686800" cy="363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165">
              <a:lnSpc>
                <a:spcPct val="150000"/>
              </a:lnSpc>
              <a:spcBef>
                <a:spcPts val="100"/>
              </a:spcBef>
            </a:pPr>
            <a:r>
              <a:rPr lang="zh-CN" altLang="en-US" dirty="0">
                <a:latin typeface="SimSun"/>
                <a:cs typeface="SimSun"/>
              </a:rPr>
              <a:t>为了解决该攻击的隐患，我们可以使用</a:t>
            </a:r>
            <a:r>
              <a:rPr lang="en-US" altLang="zh-CN" dirty="0">
                <a:latin typeface="SimSun"/>
                <a:cs typeface="SimSun"/>
              </a:rPr>
              <a:t>HMAC</a:t>
            </a:r>
            <a:r>
              <a:rPr lang="zh-CN" altLang="en-US" dirty="0">
                <a:latin typeface="SimSun"/>
                <a:cs typeface="SimSun"/>
              </a:rPr>
              <a:t>方法。其原理如下：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4316" y="467001"/>
            <a:ext cx="2551186" cy="821350"/>
            <a:chOff x="801615" y="245338"/>
            <a:chExt cx="4896628" cy="749833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15" y="318403"/>
              <a:ext cx="4896628" cy="5336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" y="245338"/>
              <a:ext cx="4578096" cy="7498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419" y="333857"/>
              <a:ext cx="4858824" cy="46167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3870" y="616118"/>
            <a:ext cx="2360982" cy="401392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25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Calibri"/>
                <a:cs typeface="Calibri"/>
              </a:rPr>
              <a:t>实验过程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7A7E669-3959-4198-A5DA-C3263E5B2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027065"/>
            <a:ext cx="6429921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0E394E-D6C2-4E3D-B398-FA29C791F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406" y="1994313"/>
            <a:ext cx="5897987" cy="794342"/>
          </a:xfrm>
          <a:prstGeom prst="rect">
            <a:avLst/>
          </a:prstGeom>
        </p:spPr>
      </p:pic>
      <p:sp>
        <p:nvSpPr>
          <p:cNvPr id="14" name="object 2">
            <a:extLst>
              <a:ext uri="{FF2B5EF4-FFF2-40B4-BE49-F238E27FC236}">
                <a16:creationId xmlns:a16="http://schemas.microsoft.com/office/drawing/2014/main" id="{563D3A9F-25C0-4426-A497-9D0C75F1DBED}"/>
              </a:ext>
            </a:extLst>
          </p:cNvPr>
          <p:cNvSpPr txBox="1"/>
          <p:nvPr/>
        </p:nvSpPr>
        <p:spPr>
          <a:xfrm>
            <a:off x="327607" y="2263270"/>
            <a:ext cx="4930194" cy="2025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165">
              <a:lnSpc>
                <a:spcPct val="150000"/>
              </a:lnSpc>
              <a:spcBef>
                <a:spcPts val="100"/>
              </a:spcBef>
            </a:pPr>
            <a:r>
              <a:rPr lang="zh-CN" altLang="en-US" dirty="0">
                <a:latin typeface="SimSun"/>
                <a:cs typeface="SimSun"/>
              </a:rPr>
              <a:t>假设我们获得了中间的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值，但这是经过外层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的值，并非内部，而</a:t>
            </a:r>
            <a:r>
              <a:rPr lang="en-US" altLang="zh-CN" dirty="0">
                <a:latin typeface="SimSun"/>
                <a:cs typeface="SimSun"/>
              </a:rPr>
              <a:t>Sha256</a:t>
            </a:r>
            <a:r>
              <a:rPr lang="zh-CN" altLang="en-US" dirty="0">
                <a:latin typeface="SimSun"/>
                <a:cs typeface="SimSun"/>
              </a:rPr>
              <a:t>是不可逆计算，因此该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值不可作为中间状态，因为外层无法推出内层状态，因此即使添加额外的消息，他也只对内层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有意义，而无法得到外层</a:t>
            </a:r>
            <a:r>
              <a:rPr lang="en-US" altLang="zh-CN" dirty="0">
                <a:latin typeface="SimSun"/>
                <a:cs typeface="SimSun"/>
              </a:rPr>
              <a:t>Hash</a:t>
            </a:r>
            <a:r>
              <a:rPr lang="zh-CN" altLang="en-US" dirty="0">
                <a:latin typeface="SimSun"/>
                <a:cs typeface="SimSu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663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3787" y="317017"/>
            <a:ext cx="4897120" cy="721360"/>
            <a:chOff x="653787" y="317017"/>
            <a:chExt cx="4897120" cy="721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787" y="388545"/>
              <a:ext cx="4896628" cy="5350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4036" y="317017"/>
              <a:ext cx="1056132" cy="7208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2429" y="404596"/>
              <a:ext cx="4824476" cy="46167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92429" y="404596"/>
            <a:ext cx="4824730" cy="462280"/>
          </a:xfrm>
          <a:prstGeom prst="rect">
            <a:avLst/>
          </a:prstGeom>
          <a:ln w="9525">
            <a:solidFill>
              <a:srgbClr val="BD4A47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solidFill>
                  <a:srgbClr val="FFFFFF"/>
                </a:solidFill>
                <a:latin typeface="SimSun"/>
                <a:cs typeface="SimSun"/>
              </a:rPr>
              <a:t>感想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2057400"/>
            <a:ext cx="9740900" cy="2440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9895">
              <a:lnSpc>
                <a:spcPct val="150000"/>
              </a:lnSpc>
              <a:spcBef>
                <a:spcPts val="100"/>
              </a:spcBef>
            </a:pPr>
            <a:r>
              <a:rPr lang="zh-CN" altLang="en-US" sz="1800" spc="35" dirty="0">
                <a:latin typeface="+mj-ea"/>
                <a:ea typeface="+mj-ea"/>
                <a:cs typeface="SimSun"/>
              </a:rPr>
              <a:t>	尽管本实验成功演示了攻击过程，但仍存在一定局限性。例如，实验基于 </a:t>
            </a:r>
            <a:r>
              <a:rPr lang="en-US" altLang="zh-CN" sz="1800" spc="35" dirty="0">
                <a:latin typeface="+mj-ea"/>
                <a:ea typeface="+mj-ea"/>
                <a:cs typeface="SimSun"/>
              </a:rPr>
              <a:t>SEED Lab </a:t>
            </a:r>
            <a:r>
              <a:rPr lang="zh-CN" altLang="en-US" sz="1800" spc="35" dirty="0">
                <a:latin typeface="+mj-ea"/>
                <a:ea typeface="+mj-ea"/>
                <a:cs typeface="SimSun"/>
              </a:rPr>
              <a:t>提供的简化 </a:t>
            </a:r>
            <a:r>
              <a:rPr lang="en-US" altLang="zh-CN" sz="1800" spc="35" dirty="0">
                <a:latin typeface="+mj-ea"/>
                <a:ea typeface="+mj-ea"/>
                <a:cs typeface="SimSun"/>
              </a:rPr>
              <a:t>HTTP </a:t>
            </a:r>
            <a:r>
              <a:rPr lang="zh-CN" altLang="en-US" sz="1800" spc="35" dirty="0">
                <a:latin typeface="+mj-ea"/>
                <a:ea typeface="+mj-ea"/>
                <a:cs typeface="SimSun"/>
              </a:rPr>
              <a:t>服务器，在实际环境中，服务器通常采用 </a:t>
            </a:r>
            <a:r>
              <a:rPr lang="en-US" altLang="zh-CN" sz="1800" spc="35" dirty="0">
                <a:latin typeface="+mj-ea"/>
                <a:ea typeface="+mj-ea"/>
                <a:cs typeface="SimSun"/>
              </a:rPr>
              <a:t>HTTPS </a:t>
            </a:r>
            <a:r>
              <a:rPr lang="zh-CN" altLang="en-US" sz="1800" spc="35" dirty="0">
                <a:latin typeface="+mj-ea"/>
                <a:ea typeface="+mj-ea"/>
                <a:cs typeface="SimSun"/>
              </a:rPr>
              <a:t>加密传输，使得攻击者难以直接截获和修改请求。此外，实验假设攻击者能够获取原始请求的 </a:t>
            </a:r>
            <a:r>
              <a:rPr lang="en-US" altLang="zh-CN" sz="1800" spc="35" dirty="0">
                <a:latin typeface="+mj-ea"/>
                <a:ea typeface="+mj-ea"/>
                <a:cs typeface="SimSun"/>
              </a:rPr>
              <a:t>MAC </a:t>
            </a:r>
            <a:r>
              <a:rPr lang="zh-CN" altLang="en-US" sz="1800" spc="35" dirty="0">
                <a:latin typeface="+mj-ea"/>
                <a:ea typeface="+mj-ea"/>
                <a:cs typeface="SimSun"/>
              </a:rPr>
              <a:t>值，而在现实应用场景中，这可能需要结合中间人攻击（</a:t>
            </a:r>
            <a:r>
              <a:rPr lang="en-US" altLang="zh-CN" sz="1800" spc="35" dirty="0">
                <a:latin typeface="+mj-ea"/>
                <a:ea typeface="+mj-ea"/>
                <a:cs typeface="SimSun"/>
              </a:rPr>
              <a:t>MITM</a:t>
            </a:r>
            <a:r>
              <a:rPr lang="zh-CN" altLang="en-US" sz="1800" spc="35" dirty="0">
                <a:latin typeface="+mj-ea"/>
                <a:ea typeface="+mj-ea"/>
                <a:cs typeface="SimSun"/>
              </a:rPr>
              <a:t>）或服务器漏洞利用才能实现。因此，在未来的研究中，可以扩展实验内容，探讨在更复杂的网络环境下如何实施该攻击，并分析不同哈希函数（如 </a:t>
            </a:r>
            <a:r>
              <a:rPr lang="en-US" altLang="zh-CN" sz="1800" spc="35" dirty="0">
                <a:latin typeface="+mj-ea"/>
                <a:ea typeface="+mj-ea"/>
                <a:cs typeface="SimSun"/>
              </a:rPr>
              <a:t>SHA-3</a:t>
            </a:r>
            <a:r>
              <a:rPr lang="zh-CN" altLang="en-US" sz="1800" spc="35" dirty="0">
                <a:latin typeface="+mj-ea"/>
                <a:ea typeface="+mj-ea"/>
                <a:cs typeface="SimSun"/>
              </a:rPr>
              <a:t>）对该攻击的抗性。</a:t>
            </a:r>
            <a:endParaRPr lang="zh-CN" altLang="en-US" sz="1800" dirty="0">
              <a:latin typeface="+mj-ea"/>
              <a:ea typeface="+mj-ea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</TotalTime>
  <Words>630</Words>
  <Application>Microsoft Office PowerPoint</Application>
  <PresentationFormat>宽屏</PresentationFormat>
  <Paragraphs>28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SimSun</vt:lpstr>
      <vt:lpstr>SimSun</vt:lpstr>
      <vt:lpstr>Microsoft YaHei</vt:lpstr>
      <vt:lpstr>Calibri</vt:lpstr>
      <vt:lpstr>等线</vt:lpstr>
      <vt:lpstr>Office Theme</vt:lpstr>
      <vt:lpstr>哈希长度扩展攻击</vt:lpstr>
      <vt:lpstr>背景</vt:lpstr>
      <vt:lpstr>Mac认证流程</vt:lpstr>
      <vt:lpstr>Mac认证流程</vt:lpstr>
      <vt:lpstr>存在的问题</vt:lpstr>
      <vt:lpstr>实验过程</vt:lpstr>
      <vt:lpstr>实验过程</vt:lpstr>
      <vt:lpstr>实验过程</vt:lpstr>
      <vt:lpstr>实验过程</vt:lpstr>
      <vt:lpstr>PowerPoint 演示文稿</vt:lpstr>
      <vt:lpstr>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we doing?</dc:title>
  <dc:creator>CHM</dc:creator>
  <cp:lastModifiedBy>gkq2414774255@163.com</cp:lastModifiedBy>
  <cp:revision>124</cp:revision>
  <dcterms:created xsi:type="dcterms:W3CDTF">2024-11-21T11:03:23Z</dcterms:created>
  <dcterms:modified xsi:type="dcterms:W3CDTF">2025-06-02T14:54:25Z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2024-11-20T00:00:00Z</vt:filetime>
  </property>
  <property fmtid="{D5CDD505-2E9C-101B-9397-08002B2CF9AE}" pid="3" name="Creator">
    <vt:lpwstr>Microsoft® PowerPoint® 适用于 Microsoft 365</vt:lpwstr>
  </property>
  <property fmtid="{D5CDD505-2E9C-101B-9397-08002B2CF9AE}" pid="4" name="LastSaved">
    <vt:filetime>2024-11-21T00:00:00Z</vt:filetime>
  </property>
</Properties>
</file>