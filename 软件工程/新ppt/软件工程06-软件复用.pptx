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399" r:id="rId2"/>
    <p:sldId id="613" r:id="rId3"/>
    <p:sldId id="1053" r:id="rId4"/>
    <p:sldId id="1054" r:id="rId5"/>
    <p:sldId id="1047" r:id="rId6"/>
    <p:sldId id="1056" r:id="rId7"/>
    <p:sldId id="1057" r:id="rId8"/>
    <p:sldId id="565" r:id="rId9"/>
    <p:sldId id="543" r:id="rId10"/>
    <p:sldId id="1059" r:id="rId11"/>
    <p:sldId id="614" r:id="rId12"/>
    <p:sldId id="615" r:id="rId13"/>
    <p:sldId id="1058" r:id="rId14"/>
    <p:sldId id="1060" r:id="rId15"/>
    <p:sldId id="1061" r:id="rId16"/>
    <p:sldId id="1062" r:id="rId17"/>
    <p:sldId id="1055" r:id="rId18"/>
    <p:sldId id="1064" r:id="rId19"/>
    <p:sldId id="1063" r:id="rId20"/>
    <p:sldId id="1067" r:id="rId21"/>
    <p:sldId id="1065" r:id="rId22"/>
    <p:sldId id="1080" r:id="rId23"/>
    <p:sldId id="1068" r:id="rId24"/>
    <p:sldId id="1066" r:id="rId25"/>
    <p:sldId id="1069" r:id="rId26"/>
    <p:sldId id="1071" r:id="rId27"/>
    <p:sldId id="1070" r:id="rId28"/>
    <p:sldId id="1072" r:id="rId29"/>
    <p:sldId id="1073" r:id="rId30"/>
    <p:sldId id="1074" r:id="rId31"/>
    <p:sldId id="1075" r:id="rId32"/>
    <p:sldId id="1076" r:id="rId33"/>
    <p:sldId id="1077" r:id="rId34"/>
    <p:sldId id="1079" r:id="rId35"/>
    <p:sldId id="1078" r:id="rId36"/>
    <p:sldId id="410"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E86"/>
    <a:srgbClr val="0432FF"/>
    <a:srgbClr val="607991"/>
    <a:srgbClr val="11406C"/>
    <a:srgbClr val="032951"/>
    <a:srgbClr val="8AABCA"/>
    <a:srgbClr val="1654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014" autoAdjust="0"/>
  </p:normalViewPr>
  <p:slideViewPr>
    <p:cSldViewPr snapToGrid="0" showGuides="1">
      <p:cViewPr varScale="1">
        <p:scale>
          <a:sx n="120" d="100"/>
          <a:sy n="120" d="100"/>
        </p:scale>
        <p:origin x="936" y="184"/>
      </p:cViewPr>
      <p:guideLst>
        <p:guide orient="horz" pos="2183"/>
        <p:guide pos="288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D9EDA5-13FD-4413-863E-CD5AF6A8E5A8}" type="datetimeFigureOut">
              <a:rPr lang="zh-CN" altLang="en-US" smtClean="0"/>
              <a:t>2024/9/26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78D4B-36FA-429C-BB77-AD8698DBC411}" type="slidenum">
              <a:rPr lang="zh-CN" altLang="en-US" smtClean="0"/>
              <a:t>‹#›</a:t>
            </a:fld>
            <a:endParaRPr lang="zh-CN" altLang="en-US"/>
          </a:p>
        </p:txBody>
      </p:sp>
    </p:spTree>
    <p:extLst>
      <p:ext uri="{BB962C8B-B14F-4D97-AF65-F5344CB8AC3E}">
        <p14:creationId xmlns:p14="http://schemas.microsoft.com/office/powerpoint/2010/main" val="2599209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a:t>
            </a:fld>
            <a:endParaRPr lang="zh-CN" altLang="en-US"/>
          </a:p>
        </p:txBody>
      </p:sp>
    </p:spTree>
    <p:extLst>
      <p:ext uri="{BB962C8B-B14F-4D97-AF65-F5344CB8AC3E}">
        <p14:creationId xmlns:p14="http://schemas.microsoft.com/office/powerpoint/2010/main" val="4011990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a:t>
            </a:fld>
            <a:endParaRPr lang="zh-CN" altLang="en-US"/>
          </a:p>
        </p:txBody>
      </p:sp>
    </p:spTree>
    <p:extLst>
      <p:ext uri="{BB962C8B-B14F-4D97-AF65-F5344CB8AC3E}">
        <p14:creationId xmlns:p14="http://schemas.microsoft.com/office/powerpoint/2010/main" val="711091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a:t>
            </a:fld>
            <a:endParaRPr lang="zh-CN" altLang="en-US"/>
          </a:p>
        </p:txBody>
      </p:sp>
    </p:spTree>
    <p:extLst>
      <p:ext uri="{BB962C8B-B14F-4D97-AF65-F5344CB8AC3E}">
        <p14:creationId xmlns:p14="http://schemas.microsoft.com/office/powerpoint/2010/main" val="3019119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4</a:t>
            </a:fld>
            <a:endParaRPr lang="zh-CN" altLang="en-US"/>
          </a:p>
        </p:txBody>
      </p:sp>
    </p:spTree>
    <p:extLst>
      <p:ext uri="{BB962C8B-B14F-4D97-AF65-F5344CB8AC3E}">
        <p14:creationId xmlns:p14="http://schemas.microsoft.com/office/powerpoint/2010/main" val="614462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5</a:t>
            </a:fld>
            <a:endParaRPr lang="zh-CN" altLang="en-US"/>
          </a:p>
        </p:txBody>
      </p:sp>
    </p:spTree>
    <p:extLst>
      <p:ext uri="{BB962C8B-B14F-4D97-AF65-F5344CB8AC3E}">
        <p14:creationId xmlns:p14="http://schemas.microsoft.com/office/powerpoint/2010/main" val="4089283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6</a:t>
            </a:fld>
            <a:endParaRPr lang="zh-CN" altLang="en-US"/>
          </a:p>
        </p:txBody>
      </p:sp>
    </p:spTree>
    <p:extLst>
      <p:ext uri="{BB962C8B-B14F-4D97-AF65-F5344CB8AC3E}">
        <p14:creationId xmlns:p14="http://schemas.microsoft.com/office/powerpoint/2010/main" val="723646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7</a:t>
            </a:fld>
            <a:endParaRPr lang="zh-CN" altLang="en-US"/>
          </a:p>
        </p:txBody>
      </p:sp>
    </p:spTree>
    <p:extLst>
      <p:ext uri="{BB962C8B-B14F-4D97-AF65-F5344CB8AC3E}">
        <p14:creationId xmlns:p14="http://schemas.microsoft.com/office/powerpoint/2010/main" val="2208560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8</a:t>
            </a:fld>
            <a:endParaRPr lang="zh-CN" altLang="en-US"/>
          </a:p>
        </p:txBody>
      </p:sp>
    </p:spTree>
    <p:extLst>
      <p:ext uri="{BB962C8B-B14F-4D97-AF65-F5344CB8AC3E}">
        <p14:creationId xmlns:p14="http://schemas.microsoft.com/office/powerpoint/2010/main" val="1652471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9</a:t>
            </a:fld>
            <a:endParaRPr lang="zh-CN" altLang="en-US"/>
          </a:p>
        </p:txBody>
      </p:sp>
    </p:spTree>
    <p:extLst>
      <p:ext uri="{BB962C8B-B14F-4D97-AF65-F5344CB8AC3E}">
        <p14:creationId xmlns:p14="http://schemas.microsoft.com/office/powerpoint/2010/main" val="1719914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10</a:t>
            </a:fld>
            <a:endParaRPr lang="zh-CN" altLang="en-US"/>
          </a:p>
        </p:txBody>
      </p:sp>
    </p:spTree>
    <p:extLst>
      <p:ext uri="{BB962C8B-B14F-4D97-AF65-F5344CB8AC3E}">
        <p14:creationId xmlns:p14="http://schemas.microsoft.com/office/powerpoint/2010/main" val="759486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11</a:t>
            </a:fld>
            <a:endParaRPr lang="zh-CN" altLang="en-US"/>
          </a:p>
        </p:txBody>
      </p:sp>
    </p:spTree>
    <p:extLst>
      <p:ext uri="{BB962C8B-B14F-4D97-AF65-F5344CB8AC3E}">
        <p14:creationId xmlns:p14="http://schemas.microsoft.com/office/powerpoint/2010/main" val="62160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12</a:t>
            </a:fld>
            <a:endParaRPr lang="zh-CN" altLang="en-US"/>
          </a:p>
        </p:txBody>
      </p:sp>
    </p:spTree>
    <p:extLst>
      <p:ext uri="{BB962C8B-B14F-4D97-AF65-F5344CB8AC3E}">
        <p14:creationId xmlns:p14="http://schemas.microsoft.com/office/powerpoint/2010/main" val="1435765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13</a:t>
            </a:fld>
            <a:endParaRPr lang="zh-CN" altLang="en-US"/>
          </a:p>
        </p:txBody>
      </p:sp>
    </p:spTree>
    <p:extLst>
      <p:ext uri="{BB962C8B-B14F-4D97-AF65-F5344CB8AC3E}">
        <p14:creationId xmlns:p14="http://schemas.microsoft.com/office/powerpoint/2010/main" val="2697635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14</a:t>
            </a:fld>
            <a:endParaRPr lang="zh-CN" altLang="en-US"/>
          </a:p>
        </p:txBody>
      </p:sp>
    </p:spTree>
    <p:extLst>
      <p:ext uri="{BB962C8B-B14F-4D97-AF65-F5344CB8AC3E}">
        <p14:creationId xmlns:p14="http://schemas.microsoft.com/office/powerpoint/2010/main" val="1987458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15</a:t>
            </a:fld>
            <a:endParaRPr lang="zh-CN" altLang="en-US"/>
          </a:p>
        </p:txBody>
      </p:sp>
    </p:spTree>
    <p:extLst>
      <p:ext uri="{BB962C8B-B14F-4D97-AF65-F5344CB8AC3E}">
        <p14:creationId xmlns:p14="http://schemas.microsoft.com/office/powerpoint/2010/main" val="3070959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16</a:t>
            </a:fld>
            <a:endParaRPr lang="zh-CN" altLang="en-US"/>
          </a:p>
        </p:txBody>
      </p:sp>
    </p:spTree>
    <p:extLst>
      <p:ext uri="{BB962C8B-B14F-4D97-AF65-F5344CB8AC3E}">
        <p14:creationId xmlns:p14="http://schemas.microsoft.com/office/powerpoint/2010/main" val="764821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17</a:t>
            </a:fld>
            <a:endParaRPr lang="zh-CN" altLang="en-US"/>
          </a:p>
        </p:txBody>
      </p:sp>
    </p:spTree>
    <p:extLst>
      <p:ext uri="{BB962C8B-B14F-4D97-AF65-F5344CB8AC3E}">
        <p14:creationId xmlns:p14="http://schemas.microsoft.com/office/powerpoint/2010/main" val="673685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18</a:t>
            </a:fld>
            <a:endParaRPr lang="zh-CN" altLang="en-US"/>
          </a:p>
        </p:txBody>
      </p:sp>
    </p:spTree>
    <p:extLst>
      <p:ext uri="{BB962C8B-B14F-4D97-AF65-F5344CB8AC3E}">
        <p14:creationId xmlns:p14="http://schemas.microsoft.com/office/powerpoint/2010/main" val="959624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19</a:t>
            </a:fld>
            <a:endParaRPr lang="zh-CN" altLang="en-US"/>
          </a:p>
        </p:txBody>
      </p:sp>
    </p:spTree>
    <p:extLst>
      <p:ext uri="{BB962C8B-B14F-4D97-AF65-F5344CB8AC3E}">
        <p14:creationId xmlns:p14="http://schemas.microsoft.com/office/powerpoint/2010/main" val="3464922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20</a:t>
            </a:fld>
            <a:endParaRPr lang="zh-CN" altLang="en-US"/>
          </a:p>
        </p:txBody>
      </p:sp>
    </p:spTree>
    <p:extLst>
      <p:ext uri="{BB962C8B-B14F-4D97-AF65-F5344CB8AC3E}">
        <p14:creationId xmlns:p14="http://schemas.microsoft.com/office/powerpoint/2010/main" val="406064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21</a:t>
            </a:fld>
            <a:endParaRPr lang="zh-CN" altLang="en-US"/>
          </a:p>
        </p:txBody>
      </p:sp>
    </p:spTree>
    <p:extLst>
      <p:ext uri="{BB962C8B-B14F-4D97-AF65-F5344CB8AC3E}">
        <p14:creationId xmlns:p14="http://schemas.microsoft.com/office/powerpoint/2010/main" val="926783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22</a:t>
            </a:fld>
            <a:endParaRPr lang="zh-CN" altLang="en-US"/>
          </a:p>
        </p:txBody>
      </p:sp>
    </p:spTree>
    <p:extLst>
      <p:ext uri="{BB962C8B-B14F-4D97-AF65-F5344CB8AC3E}">
        <p14:creationId xmlns:p14="http://schemas.microsoft.com/office/powerpoint/2010/main" val="10853388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23</a:t>
            </a:fld>
            <a:endParaRPr lang="zh-CN" altLang="en-US"/>
          </a:p>
        </p:txBody>
      </p:sp>
    </p:spTree>
    <p:extLst>
      <p:ext uri="{BB962C8B-B14F-4D97-AF65-F5344CB8AC3E}">
        <p14:creationId xmlns:p14="http://schemas.microsoft.com/office/powerpoint/2010/main" val="3706123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24</a:t>
            </a:fld>
            <a:endParaRPr lang="zh-CN" altLang="en-US"/>
          </a:p>
        </p:txBody>
      </p:sp>
    </p:spTree>
    <p:extLst>
      <p:ext uri="{BB962C8B-B14F-4D97-AF65-F5344CB8AC3E}">
        <p14:creationId xmlns:p14="http://schemas.microsoft.com/office/powerpoint/2010/main" val="3307345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25</a:t>
            </a:fld>
            <a:endParaRPr lang="zh-CN" altLang="en-US"/>
          </a:p>
        </p:txBody>
      </p:sp>
    </p:spTree>
    <p:extLst>
      <p:ext uri="{BB962C8B-B14F-4D97-AF65-F5344CB8AC3E}">
        <p14:creationId xmlns:p14="http://schemas.microsoft.com/office/powerpoint/2010/main" val="11254342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26</a:t>
            </a:fld>
            <a:endParaRPr lang="zh-CN" altLang="en-US"/>
          </a:p>
        </p:txBody>
      </p:sp>
    </p:spTree>
    <p:extLst>
      <p:ext uri="{BB962C8B-B14F-4D97-AF65-F5344CB8AC3E}">
        <p14:creationId xmlns:p14="http://schemas.microsoft.com/office/powerpoint/2010/main" val="17581892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27</a:t>
            </a:fld>
            <a:endParaRPr lang="zh-CN" altLang="en-US"/>
          </a:p>
        </p:txBody>
      </p:sp>
    </p:spTree>
    <p:extLst>
      <p:ext uri="{BB962C8B-B14F-4D97-AF65-F5344CB8AC3E}">
        <p14:creationId xmlns:p14="http://schemas.microsoft.com/office/powerpoint/2010/main" val="35504154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28</a:t>
            </a:fld>
            <a:endParaRPr lang="zh-CN" altLang="en-US"/>
          </a:p>
        </p:txBody>
      </p:sp>
    </p:spTree>
    <p:extLst>
      <p:ext uri="{BB962C8B-B14F-4D97-AF65-F5344CB8AC3E}">
        <p14:creationId xmlns:p14="http://schemas.microsoft.com/office/powerpoint/2010/main" val="22818987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29</a:t>
            </a:fld>
            <a:endParaRPr lang="zh-CN" altLang="en-US"/>
          </a:p>
        </p:txBody>
      </p:sp>
    </p:spTree>
    <p:extLst>
      <p:ext uri="{BB962C8B-B14F-4D97-AF65-F5344CB8AC3E}">
        <p14:creationId xmlns:p14="http://schemas.microsoft.com/office/powerpoint/2010/main" val="1379002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30</a:t>
            </a:fld>
            <a:endParaRPr lang="zh-CN" altLang="en-US"/>
          </a:p>
        </p:txBody>
      </p:sp>
    </p:spTree>
    <p:extLst>
      <p:ext uri="{BB962C8B-B14F-4D97-AF65-F5344CB8AC3E}">
        <p14:creationId xmlns:p14="http://schemas.microsoft.com/office/powerpoint/2010/main" val="4287265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31</a:t>
            </a:fld>
            <a:endParaRPr lang="zh-CN" altLang="en-US"/>
          </a:p>
        </p:txBody>
      </p:sp>
    </p:spTree>
    <p:extLst>
      <p:ext uri="{BB962C8B-B14F-4D97-AF65-F5344CB8AC3E}">
        <p14:creationId xmlns:p14="http://schemas.microsoft.com/office/powerpoint/2010/main" val="5871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32</a:t>
            </a:fld>
            <a:endParaRPr lang="zh-CN" altLang="en-US"/>
          </a:p>
        </p:txBody>
      </p:sp>
    </p:spTree>
    <p:extLst>
      <p:ext uri="{BB962C8B-B14F-4D97-AF65-F5344CB8AC3E}">
        <p14:creationId xmlns:p14="http://schemas.microsoft.com/office/powerpoint/2010/main" val="37152542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33</a:t>
            </a:fld>
            <a:endParaRPr lang="zh-CN" altLang="en-US"/>
          </a:p>
        </p:txBody>
      </p:sp>
    </p:spTree>
    <p:extLst>
      <p:ext uri="{BB962C8B-B14F-4D97-AF65-F5344CB8AC3E}">
        <p14:creationId xmlns:p14="http://schemas.microsoft.com/office/powerpoint/2010/main" val="579252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34</a:t>
            </a:fld>
            <a:endParaRPr lang="zh-CN" altLang="en-US"/>
          </a:p>
        </p:txBody>
      </p:sp>
    </p:spTree>
    <p:extLst>
      <p:ext uri="{BB962C8B-B14F-4D97-AF65-F5344CB8AC3E}">
        <p14:creationId xmlns:p14="http://schemas.microsoft.com/office/powerpoint/2010/main" val="1020592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178D4B-36FA-429C-BB77-AD8698DBC411}" type="slidenum">
              <a:rPr lang="zh-CN" altLang="en-US" smtClean="0"/>
              <a:t>35</a:t>
            </a:fld>
            <a:endParaRPr lang="zh-CN" altLang="en-US"/>
          </a:p>
        </p:txBody>
      </p:sp>
    </p:spTree>
    <p:extLst>
      <p:ext uri="{BB962C8B-B14F-4D97-AF65-F5344CB8AC3E}">
        <p14:creationId xmlns:p14="http://schemas.microsoft.com/office/powerpoint/2010/main" val="37901039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324565905"/>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243997307"/>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1709893502"/>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1067581715"/>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61423449"/>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313393321"/>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2594058684"/>
      </p:ext>
    </p:extLst>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332915503"/>
      </p:ext>
    </p:extLst>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026635330"/>
      </p:ext>
    </p:extLst>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2824756755"/>
      </p:ext>
    </p:extLst>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194852190"/>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6D79DC-E8DB-4FCC-9CD8-FD893B527179}" type="datetimeFigureOut">
              <a:rPr lang="zh-CN" altLang="en-US" smtClean="0"/>
              <a:t>2024/9/26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10F3F2-2499-4B6B-A66A-78277AC8427A}" type="slidenum">
              <a:rPr lang="zh-CN" altLang="en-US" smtClean="0"/>
              <a:t>‹#›</a:t>
            </a:fld>
            <a:endParaRPr lang="zh-CN" altLang="en-US"/>
          </a:p>
        </p:txBody>
      </p:sp>
    </p:spTree>
    <p:extLst>
      <p:ext uri="{BB962C8B-B14F-4D97-AF65-F5344CB8AC3E}">
        <p14:creationId xmlns:p14="http://schemas.microsoft.com/office/powerpoint/2010/main" val="3383230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 y="3088258"/>
            <a:ext cx="9144000" cy="131121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a:spLocks/>
          </p:cNvSpPr>
          <p:nvPr/>
        </p:nvSpPr>
        <p:spPr>
          <a:xfrm>
            <a:off x="-153448" y="3240480"/>
            <a:ext cx="9440568" cy="96817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CN" sz="6600" b="1" dirty="0">
                <a:solidFill>
                  <a:schemeClr val="bg1"/>
                </a:solidFill>
                <a:latin typeface="Kaiti SC" panose="02010600040101010101" pitchFamily="2" charset="-122"/>
                <a:ea typeface="Kaiti SC" panose="02010600040101010101" pitchFamily="2" charset="-122"/>
              </a:rPr>
              <a:t>6. </a:t>
            </a:r>
            <a:r>
              <a:rPr kumimoji="1" lang="zh-CN" altLang="en-US" sz="6600" b="1" dirty="0">
                <a:solidFill>
                  <a:schemeClr val="bg1"/>
                </a:solidFill>
                <a:latin typeface="Kaiti SC" panose="02010600040101010101" pitchFamily="2" charset="-122"/>
                <a:ea typeface="Kaiti SC" panose="02010600040101010101" pitchFamily="2" charset="-122"/>
              </a:rPr>
              <a:t>软件复用</a:t>
            </a:r>
          </a:p>
        </p:txBody>
      </p:sp>
      <p:pic>
        <p:nvPicPr>
          <p:cNvPr id="14" name="图片 13">
            <a:extLst>
              <a:ext uri="{FF2B5EF4-FFF2-40B4-BE49-F238E27FC236}">
                <a16:creationId xmlns:a16="http://schemas.microsoft.com/office/drawing/2014/main" id="{BDE0581D-8225-424F-20FB-9D57676CF2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321" y="98773"/>
            <a:ext cx="2097741" cy="2902743"/>
          </a:xfrm>
          <a:prstGeom prst="rect">
            <a:avLst/>
          </a:prstGeom>
        </p:spPr>
      </p:pic>
      <p:sp>
        <p:nvSpPr>
          <p:cNvPr id="19" name="文本框 18">
            <a:extLst>
              <a:ext uri="{FF2B5EF4-FFF2-40B4-BE49-F238E27FC236}">
                <a16:creationId xmlns:a16="http://schemas.microsoft.com/office/drawing/2014/main" id="{54C4A266-906E-6595-EFB3-CBA22EE32A77}"/>
              </a:ext>
            </a:extLst>
          </p:cNvPr>
          <p:cNvSpPr txBox="1"/>
          <p:nvPr/>
        </p:nvSpPr>
        <p:spPr>
          <a:xfrm>
            <a:off x="1176886" y="2321128"/>
            <a:ext cx="6097973" cy="713850"/>
          </a:xfrm>
          <a:prstGeom prst="rect">
            <a:avLst/>
          </a:prstGeom>
          <a:noFill/>
        </p:spPr>
        <p:txBody>
          <a:bodyPr wrap="square">
            <a:spAutoFit/>
          </a:bodyPr>
          <a:lstStyle/>
          <a:p>
            <a:pPr algn="ctr">
              <a:lnSpc>
                <a:spcPct val="90000"/>
              </a:lnSpc>
              <a:spcBef>
                <a:spcPct val="0"/>
              </a:spcBef>
            </a:pPr>
            <a:r>
              <a:rPr kumimoji="1" lang="zh-CN" altLang="en-US" sz="4400" b="1" dirty="0">
                <a:solidFill>
                  <a:srgbClr val="0070C0"/>
                </a:solidFill>
                <a:latin typeface="Kaiti SC" panose="02010600040101010101" pitchFamily="2" charset="-122"/>
                <a:ea typeface="Kaiti SC" panose="02010600040101010101" pitchFamily="2" charset="-122"/>
                <a:cs typeface="+mj-cs"/>
              </a:rPr>
              <a:t>现代软件工程基础</a:t>
            </a:r>
          </a:p>
        </p:txBody>
      </p:sp>
    </p:spTree>
    <p:extLst>
      <p:ext uri="{BB962C8B-B14F-4D97-AF65-F5344CB8AC3E}">
        <p14:creationId xmlns:p14="http://schemas.microsoft.com/office/powerpoint/2010/main" val="2627573239"/>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4330224"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软件复用</a:t>
            </a:r>
            <a:r>
              <a:rPr lang="zh-CN" altLang="en" sz="3600" b="1" dirty="0">
                <a:solidFill>
                  <a:schemeClr val="bg1"/>
                </a:solidFill>
                <a:latin typeface="微软雅黑" panose="020B0503020204020204" pitchFamily="34" charset="-122"/>
                <a:ea typeface="微软雅黑" panose="020B0503020204020204" pitchFamily="34" charset="-122"/>
              </a:rPr>
              <a:t>（</a:t>
            </a:r>
            <a:r>
              <a:rPr lang="en" altLang="zh-CN" sz="3600" b="1" dirty="0">
                <a:solidFill>
                  <a:schemeClr val="bg1"/>
                </a:solidFill>
                <a:latin typeface="微软雅黑" panose="020B0503020204020204" pitchFamily="34" charset="-122"/>
                <a:ea typeface="微软雅黑" panose="020B0503020204020204" pitchFamily="34" charset="-122"/>
              </a:rPr>
              <a:t>Reuse</a:t>
            </a:r>
            <a:r>
              <a:rPr lang="zh-CN" altLang="en" sz="3600" b="1" dirty="0">
                <a:solidFill>
                  <a:schemeClr val="bg1"/>
                </a:solidFill>
                <a:latin typeface="微软雅黑" panose="020B0503020204020204" pitchFamily="34" charset="-122"/>
                <a:ea typeface="微软雅黑" panose="020B0503020204020204" pitchFamily="34" charset="-122"/>
              </a:rPr>
              <a:t>）</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509200"/>
          </a:xfrm>
          <a:prstGeom prst="rect">
            <a:avLst/>
          </a:prstGeom>
          <a:noFill/>
        </p:spPr>
        <p:txBody>
          <a:bodyPr wrap="square" rtlCol="0">
            <a:spAutoFit/>
          </a:bodyPr>
          <a:lstStyle/>
          <a:p>
            <a:pPr marL="285750" indent="-285750">
              <a:buFont typeface="Arial" panose="020B0604020202020204" pitchFamily="34" charset="0"/>
              <a:buChar char="•"/>
            </a:pPr>
            <a:r>
              <a:rPr lang="zh-CN" altLang="en-US" sz="3200" dirty="0">
                <a:latin typeface="Kaiti SC" charset="-122"/>
                <a:ea typeface="Kaiti SC" charset="-122"/>
              </a:rPr>
              <a:t>从零开始的开发方式（</a:t>
            </a:r>
            <a:r>
              <a:rPr lang="en-US" altLang="zh-CN" sz="3200" dirty="0">
                <a:latin typeface="Kaiti SC" charset="-122"/>
                <a:ea typeface="Kaiti SC" charset="-122"/>
              </a:rPr>
              <a:t>Develop from Scratch</a:t>
            </a:r>
            <a:r>
              <a:rPr lang="zh-CN" altLang="en-US" sz="3200" dirty="0">
                <a:latin typeface="Kaiti SC" charset="-122"/>
                <a:ea typeface="Kaiti SC" charset="-122"/>
              </a:rPr>
              <a:t>）已经无法满足软件开发在快速交付、成本控制、质量保障等方面的要求</a:t>
            </a:r>
            <a:endParaRPr lang="en-US" altLang="zh-CN" sz="3200" dirty="0">
              <a:latin typeface="Kaiti SC" charset="-122"/>
              <a:ea typeface="Kaiti SC" charset="-122"/>
            </a:endParaRPr>
          </a:p>
          <a:p>
            <a:pPr marL="285750" indent="-285750">
              <a:buFont typeface="Arial" panose="020B0604020202020204" pitchFamily="34" charset="0"/>
              <a:buChar char="•"/>
            </a:pPr>
            <a:r>
              <a:rPr lang="zh-CN" altLang="en-US" sz="3200" dirty="0">
                <a:latin typeface="Kaiti SC" charset="-122"/>
                <a:ea typeface="Kaiti SC" charset="-122"/>
              </a:rPr>
              <a:t>软件复用已经成为一种重要的软件开发手段</a:t>
            </a:r>
            <a:endParaRPr lang="en-US" altLang="zh-CN" sz="32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制造业、建筑业：建立在规范化、标准化设计之上的大规模零部件复用和组装式制造和建造</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软件业：通过源代码、模块、组件、框架和平台等各个层次上的复用实现提高软件开发质量和效率的目标</a:t>
            </a:r>
            <a:endParaRPr lang="en-US" altLang="zh-CN" sz="3200" dirty="0">
              <a:latin typeface="Kaiti SC" charset="-122"/>
              <a:ea typeface="Kaiti SC" charset="-122"/>
            </a:endParaRPr>
          </a:p>
          <a:p>
            <a:pPr marL="285750" indent="-285750">
              <a:buFont typeface="Arial" panose="020B0604020202020204" pitchFamily="34" charset="0"/>
              <a:buChar char="•"/>
            </a:pPr>
            <a:r>
              <a:rPr lang="zh-CN" altLang="en-US" sz="3200" dirty="0">
                <a:latin typeface="Kaiti SC" charset="-122"/>
                <a:ea typeface="Kaiti SC" charset="-122"/>
              </a:rPr>
              <a:t>重复利用已有的知识、经验或软件制品来开发新的软件产品</a:t>
            </a:r>
            <a:endParaRPr lang="en-US" altLang="zh-CN" sz="3200" dirty="0">
              <a:latin typeface="Kaiti SC" charset="-122"/>
              <a:ea typeface="Kaiti SC" charset="-122"/>
            </a:endParaRPr>
          </a:p>
          <a:p>
            <a:pPr marL="285750" indent="-285750">
              <a:buFont typeface="Arial" panose="020B0604020202020204" pitchFamily="34" charset="0"/>
              <a:buChar char="•"/>
            </a:pPr>
            <a:r>
              <a:rPr lang="zh-CN" altLang="en-US" sz="3200" dirty="0">
                <a:latin typeface="Kaiti SC" charset="-122"/>
                <a:ea typeface="Kaiti SC" charset="-122"/>
              </a:rPr>
              <a:t>能够有效提高开发效率、降低开发成本、提高软件质量，并且缩短产品发布周期</a:t>
            </a:r>
            <a:endParaRPr lang="en-US" altLang="zh-CN" sz="3200" dirty="0">
              <a:latin typeface="Kaiti SC" charset="-122"/>
              <a:ea typeface="Kaiti SC" charset="-122"/>
            </a:endParaRPr>
          </a:p>
        </p:txBody>
      </p:sp>
    </p:spTree>
    <p:extLst>
      <p:ext uri="{BB962C8B-B14F-4D97-AF65-F5344CB8AC3E}">
        <p14:creationId xmlns:p14="http://schemas.microsoft.com/office/powerpoint/2010/main" val="390608279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blinds(horizontal)">
                                      <p:cBhvr>
                                        <p:cTn id="16" dur="500"/>
                                        <p:tgtEl>
                                          <p:spTgt spid="11">
                                            <p:txEl>
                                              <p:pRg st="2" end="2"/>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blinds(horizontal)">
                                      <p:cBhvr>
                                        <p:cTn id="25" dur="500"/>
                                        <p:tgtEl>
                                          <p:spTgt spid="1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1">
                                            <p:txEl>
                                              <p:pRg st="5" end="5"/>
                                            </p:txEl>
                                          </p:spTgt>
                                        </p:tgtEl>
                                        <p:attrNameLst>
                                          <p:attrName>style.visibility</p:attrName>
                                        </p:attrNameLst>
                                      </p:cBhvr>
                                      <p:to>
                                        <p:strVal val="visible"/>
                                      </p:to>
                                    </p:set>
                                    <p:animEffect transition="in" filter="blinds(horizontal)">
                                      <p:cBhvr>
                                        <p:cTn id="30"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433965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软件复用带来的变化</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509200"/>
          </a:xfrm>
          <a:prstGeom prst="rect">
            <a:avLst/>
          </a:prstGeom>
          <a:noFill/>
        </p:spPr>
        <p:txBody>
          <a:bodyPr wrap="square" rtlCol="0">
            <a:spAutoFit/>
          </a:bodyPr>
          <a:lstStyle/>
          <a:p>
            <a:pPr marL="285750" indent="-285750">
              <a:buFont typeface="Arial" panose="020B0604020202020204" pitchFamily="34" charset="0"/>
              <a:buChar char="•"/>
            </a:pPr>
            <a:r>
              <a:rPr lang="zh-CN" altLang="en-US" sz="3200" dirty="0">
                <a:latin typeface="Kaiti SC" charset="-122"/>
                <a:ea typeface="Kaiti SC" charset="-122"/>
              </a:rPr>
              <a:t>有力推动了通用软件资产的沉淀</a:t>
            </a:r>
            <a:endParaRPr lang="en-US" altLang="zh-CN" sz="32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不同软件项目在需求、设计、代码等层面上都有可能存在一些共性和通用的部分</a:t>
            </a:r>
          </a:p>
          <a:p>
            <a:pPr marL="1028700" lvl="1" indent="-571500">
              <a:buFont typeface="Wingdings" charset="2"/>
              <a:buChar char="ü"/>
            </a:pPr>
            <a:r>
              <a:rPr lang="zh-CN" altLang="en-US" sz="2400" dirty="0">
                <a:latin typeface="Heiti SC Light" charset="-122"/>
                <a:ea typeface="Heiti SC Light" charset="-122"/>
              </a:rPr>
              <a:t>这些共性和通用的部分可以逐渐沉淀形成不同形式的通用软件资产，例如软件组件库、技术框架、开放平台等</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200" dirty="0">
                <a:latin typeface="Kaiti SC" charset="-122"/>
                <a:ea typeface="Kaiti SC" charset="-122"/>
              </a:rPr>
              <a:t>极大促进了软件行业的分工</a:t>
            </a:r>
            <a:endParaRPr lang="en-US" altLang="zh-CN" sz="32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软件开发围绕通用的软件平台、框架、组件库以及面向特定需求的软件应用形成了企业内以及社会化的分工合作</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例：开源社区可以共同开发并维护一个通用开发框架，一些企业开发并销售报表、数据分析等通用功能组件，而另一些企业则利用通用开发框架和通用组件开发应用软件</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例：基于一些互联网企业推出的开放开发平台，小型软件企业和个人开发者可以开发一些通用组件或应用，并依托平台获得使用流量和收益</a:t>
            </a:r>
            <a:endParaRPr lang="en-US" altLang="zh-CN" sz="2400" dirty="0">
              <a:latin typeface="Heiti SC Light" charset="-122"/>
              <a:ea typeface="Heiti SC Light" charset="-122"/>
            </a:endParaRPr>
          </a:p>
        </p:txBody>
      </p:sp>
    </p:spTree>
    <p:extLst>
      <p:ext uri="{BB962C8B-B14F-4D97-AF65-F5344CB8AC3E}">
        <p14:creationId xmlns:p14="http://schemas.microsoft.com/office/powerpoint/2010/main" val="229602106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linds(horizontal)">
                                      <p:cBhvr>
                                        <p:cTn id="32"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6186309"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软件复用在软件开发中的比重</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3170099"/>
          </a:xfrm>
          <a:prstGeom prst="rect">
            <a:avLst/>
          </a:prstGeom>
          <a:noFill/>
        </p:spPr>
        <p:txBody>
          <a:bodyPr wrap="square" rtlCol="0">
            <a:spAutoFit/>
          </a:bodyPr>
          <a:lstStyle/>
          <a:p>
            <a:pPr marL="285750" indent="-285750">
              <a:buFont typeface="Arial" panose="020B0604020202020204" pitchFamily="34" charset="0"/>
              <a:buChar char="•"/>
            </a:pPr>
            <a:r>
              <a:rPr lang="zh-CN" altLang="en-US" sz="3200" dirty="0">
                <a:latin typeface="Kaiti SC" charset="-122"/>
                <a:ea typeface="Kaiti SC" charset="-122"/>
              </a:rPr>
              <a:t>各种形式的软件复用已经成为软件开发的重要支撑手段</a:t>
            </a:r>
            <a:endParaRPr lang="en-US" altLang="zh-CN" sz="3200" dirty="0">
              <a:latin typeface="Kaiti SC" charset="-122"/>
              <a:ea typeface="Kaiti SC" charset="-122"/>
            </a:endParaRPr>
          </a:p>
          <a:p>
            <a:pPr marL="285750" indent="-285750">
              <a:buFont typeface="Arial" panose="020B0604020202020204" pitchFamily="34" charset="0"/>
              <a:buChar char="•"/>
            </a:pPr>
            <a:r>
              <a:rPr lang="zh-CN" altLang="en-US" sz="3200" dirty="0">
                <a:latin typeface="Kaiti SC" charset="-122"/>
                <a:ea typeface="Kaiti SC" charset="-122"/>
              </a:rPr>
              <a:t>通过复用方式获得的软件组件和其他软件制品在软件项目中已经占据了相当的比重，如下例</a:t>
            </a:r>
            <a:endParaRPr lang="en-US" altLang="zh-CN" sz="32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复用的对象大部分为第三方库，也包括对高层框架和平台的使用</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可见组件级的复用已经成为软件开发中的重要组成部分</a:t>
            </a:r>
            <a:endParaRPr lang="en-US" altLang="zh-CN" sz="2400" dirty="0">
              <a:latin typeface="Heiti SC Light" charset="-122"/>
              <a:ea typeface="Heiti SC Light" charset="-122"/>
            </a:endParaRPr>
          </a:p>
        </p:txBody>
      </p:sp>
      <p:graphicFrame>
        <p:nvGraphicFramePr>
          <p:cNvPr id="2" name="表格 1">
            <a:extLst>
              <a:ext uri="{FF2B5EF4-FFF2-40B4-BE49-F238E27FC236}">
                <a16:creationId xmlns:a16="http://schemas.microsoft.com/office/drawing/2014/main" id="{9312AF35-6AEE-272D-CDCB-0B0B2BA7C14E}"/>
              </a:ext>
            </a:extLst>
          </p:cNvPr>
          <p:cNvGraphicFramePr>
            <a:graphicFrameLocks noGrp="1"/>
          </p:cNvGraphicFramePr>
          <p:nvPr>
            <p:extLst>
              <p:ext uri="{D42A27DB-BD31-4B8C-83A1-F6EECF244321}">
                <p14:modId xmlns:p14="http://schemas.microsoft.com/office/powerpoint/2010/main" val="925467063"/>
              </p:ext>
            </p:extLst>
          </p:nvPr>
        </p:nvGraphicFramePr>
        <p:xfrm>
          <a:off x="1432215" y="4592506"/>
          <a:ext cx="6411189" cy="1569720"/>
        </p:xfrm>
        <a:graphic>
          <a:graphicData uri="http://schemas.openxmlformats.org/drawingml/2006/table">
            <a:tbl>
              <a:tblPr firstRow="1" firstCol="1" lastRow="1" lastCol="1" bandRow="1" bandCol="1"/>
              <a:tblGrid>
                <a:gridCol w="1959429">
                  <a:extLst>
                    <a:ext uri="{9D8B030D-6E8A-4147-A177-3AD203B41FA5}">
                      <a16:colId xmlns:a16="http://schemas.microsoft.com/office/drawing/2014/main" val="1233258798"/>
                    </a:ext>
                  </a:extLst>
                </a:gridCol>
                <a:gridCol w="2319062">
                  <a:extLst>
                    <a:ext uri="{9D8B030D-6E8A-4147-A177-3AD203B41FA5}">
                      <a16:colId xmlns:a16="http://schemas.microsoft.com/office/drawing/2014/main" val="1476950795"/>
                    </a:ext>
                  </a:extLst>
                </a:gridCol>
                <a:gridCol w="2132698">
                  <a:extLst>
                    <a:ext uri="{9D8B030D-6E8A-4147-A177-3AD203B41FA5}">
                      <a16:colId xmlns:a16="http://schemas.microsoft.com/office/drawing/2014/main" val="1656016339"/>
                    </a:ext>
                  </a:extLst>
                </a:gridCol>
              </a:tblGrid>
              <a:tr h="0">
                <a:tc>
                  <a:txBody>
                    <a:bodyPr/>
                    <a:lstStyle/>
                    <a:p>
                      <a:pPr algn="just"/>
                      <a:r>
                        <a:rPr lang="en-US" sz="3200" kern="100" dirty="0">
                          <a:solidFill>
                            <a:schemeClr val="bg1"/>
                          </a:solidFill>
                          <a:effectLst/>
                          <a:latin typeface="Kaiti SC" panose="02010600040101010101" pitchFamily="2" charset="-122"/>
                          <a:ea typeface="Kaiti SC" panose="02010600040101010101" pitchFamily="2" charset="-122"/>
                        </a:rPr>
                        <a:t> </a:t>
                      </a:r>
                      <a:endParaRPr lang="zh-CN" sz="4000" kern="100" dirty="0">
                        <a:solidFill>
                          <a:schemeClr val="bg1"/>
                        </a:solidFill>
                        <a:effectLst/>
                        <a:latin typeface="Kaiti SC" panose="02010600040101010101" pitchFamily="2" charset="-122"/>
                        <a:ea typeface="Kaiti SC" panose="02010600040101010101" pitchFamily="2" charset="-122"/>
                      </a:endParaRPr>
                    </a:p>
                  </a:txBody>
                  <a:tcPr marL="68580" marR="68580" marT="17780" marB="17780">
                    <a:solidFill>
                      <a:srgbClr val="0070C0"/>
                    </a:solidFill>
                  </a:tcPr>
                </a:tc>
                <a:tc>
                  <a:txBody>
                    <a:bodyPr/>
                    <a:lstStyle/>
                    <a:p>
                      <a:pPr algn="ctr"/>
                      <a:r>
                        <a:rPr lang="zh-CN" sz="3200" kern="100" dirty="0">
                          <a:solidFill>
                            <a:schemeClr val="bg1"/>
                          </a:solidFill>
                          <a:effectLst/>
                          <a:latin typeface="Kaiti SC" panose="02010600040101010101" pitchFamily="2" charset="-122"/>
                          <a:ea typeface="Kaiti SC" panose="02010600040101010101" pitchFamily="2" charset="-122"/>
                        </a:rPr>
                        <a:t>自研</a:t>
                      </a:r>
                      <a:endParaRPr lang="zh-CN" sz="4000" kern="100" dirty="0">
                        <a:solidFill>
                          <a:schemeClr val="bg1"/>
                        </a:solidFill>
                        <a:effectLst/>
                        <a:latin typeface="Kaiti SC" panose="02010600040101010101" pitchFamily="2" charset="-122"/>
                        <a:ea typeface="Kaiti SC" panose="02010600040101010101" pitchFamily="2" charset="-122"/>
                      </a:endParaRPr>
                    </a:p>
                  </a:txBody>
                  <a:tcPr marL="68580" marR="68580" marT="17780" marB="17780">
                    <a:solidFill>
                      <a:srgbClr val="0070C0"/>
                    </a:solidFill>
                  </a:tcPr>
                </a:tc>
                <a:tc>
                  <a:txBody>
                    <a:bodyPr/>
                    <a:lstStyle/>
                    <a:p>
                      <a:pPr algn="ctr"/>
                      <a:r>
                        <a:rPr lang="zh-CN" sz="3200" kern="100" dirty="0">
                          <a:solidFill>
                            <a:schemeClr val="bg1"/>
                          </a:solidFill>
                          <a:effectLst/>
                          <a:latin typeface="Kaiti SC" panose="02010600040101010101" pitchFamily="2" charset="-122"/>
                          <a:ea typeface="Kaiti SC" panose="02010600040101010101" pitchFamily="2" charset="-122"/>
                        </a:rPr>
                        <a:t>复用</a:t>
                      </a:r>
                      <a:endParaRPr lang="zh-CN" sz="4000" kern="100" dirty="0">
                        <a:solidFill>
                          <a:schemeClr val="bg1"/>
                        </a:solidFill>
                        <a:effectLst/>
                        <a:latin typeface="Kaiti SC" panose="02010600040101010101" pitchFamily="2" charset="-122"/>
                        <a:ea typeface="Kaiti SC" panose="02010600040101010101" pitchFamily="2" charset="-122"/>
                      </a:endParaRPr>
                    </a:p>
                  </a:txBody>
                  <a:tcPr marL="68580" marR="68580" marT="17780" marB="17780">
                    <a:solidFill>
                      <a:srgbClr val="0070C0"/>
                    </a:solidFill>
                  </a:tcPr>
                </a:tc>
                <a:extLst>
                  <a:ext uri="{0D108BD9-81ED-4DB2-BD59-A6C34878D82A}">
                    <a16:rowId xmlns:a16="http://schemas.microsoft.com/office/drawing/2014/main" val="2633757121"/>
                  </a:ext>
                </a:extLst>
              </a:tr>
              <a:tr h="0">
                <a:tc>
                  <a:txBody>
                    <a:bodyPr/>
                    <a:lstStyle/>
                    <a:p>
                      <a:pPr algn="ctr"/>
                      <a:r>
                        <a:rPr lang="zh-CN" sz="3200" kern="100" dirty="0">
                          <a:effectLst/>
                          <a:latin typeface="Kaiti SC" panose="02010600040101010101" pitchFamily="2" charset="-122"/>
                          <a:ea typeface="Kaiti SC" panose="02010600040101010101" pitchFamily="2" charset="-122"/>
                        </a:rPr>
                        <a:t>代码量</a:t>
                      </a:r>
                      <a:endParaRPr lang="zh-CN" sz="4000" kern="100" dirty="0">
                        <a:effectLst/>
                        <a:latin typeface="Kaiti SC" panose="02010600040101010101" pitchFamily="2" charset="-122"/>
                        <a:ea typeface="Kaiti SC" panose="02010600040101010101" pitchFamily="2" charset="-122"/>
                      </a:endParaRPr>
                    </a:p>
                  </a:txBody>
                  <a:tcPr marL="68580" marR="68580" marT="17780" marB="17780"/>
                </a:tc>
                <a:tc>
                  <a:txBody>
                    <a:bodyPr/>
                    <a:lstStyle/>
                    <a:p>
                      <a:pPr algn="ctr"/>
                      <a:r>
                        <a:rPr lang="en-US" sz="3200" kern="100" dirty="0">
                          <a:effectLst/>
                          <a:latin typeface="Kaiti SC" panose="02010600040101010101" pitchFamily="2" charset="-122"/>
                          <a:ea typeface="Kaiti SC" panose="02010600040101010101" pitchFamily="2" charset="-122"/>
                        </a:rPr>
                        <a:t>2.8</a:t>
                      </a:r>
                      <a:r>
                        <a:rPr lang="zh-CN" sz="3200" kern="100" dirty="0">
                          <a:effectLst/>
                          <a:latin typeface="Kaiti SC" panose="02010600040101010101" pitchFamily="2" charset="-122"/>
                          <a:ea typeface="Kaiti SC" panose="02010600040101010101" pitchFamily="2" charset="-122"/>
                        </a:rPr>
                        <a:t>亿行</a:t>
                      </a:r>
                      <a:endParaRPr lang="zh-CN" sz="4000" kern="100" dirty="0">
                        <a:effectLst/>
                        <a:latin typeface="Kaiti SC" panose="02010600040101010101" pitchFamily="2" charset="-122"/>
                        <a:ea typeface="Kaiti SC" panose="02010600040101010101" pitchFamily="2" charset="-122"/>
                      </a:endParaRPr>
                    </a:p>
                  </a:txBody>
                  <a:tcPr marL="68580" marR="68580" marT="17780" marB="17780"/>
                </a:tc>
                <a:tc>
                  <a:txBody>
                    <a:bodyPr/>
                    <a:lstStyle/>
                    <a:p>
                      <a:pPr algn="ctr"/>
                      <a:r>
                        <a:rPr lang="en-US" sz="3200" kern="100" dirty="0">
                          <a:effectLst/>
                          <a:latin typeface="Kaiti SC" panose="02010600040101010101" pitchFamily="2" charset="-122"/>
                          <a:ea typeface="Kaiti SC" panose="02010600040101010101" pitchFamily="2" charset="-122"/>
                        </a:rPr>
                        <a:t>1.2</a:t>
                      </a:r>
                      <a:r>
                        <a:rPr lang="zh-CN" sz="3200" kern="100" dirty="0">
                          <a:effectLst/>
                          <a:latin typeface="Kaiti SC" panose="02010600040101010101" pitchFamily="2" charset="-122"/>
                          <a:ea typeface="Kaiti SC" panose="02010600040101010101" pitchFamily="2" charset="-122"/>
                        </a:rPr>
                        <a:t>亿行</a:t>
                      </a:r>
                      <a:endParaRPr lang="zh-CN" sz="4000" kern="100" dirty="0">
                        <a:effectLst/>
                        <a:latin typeface="Kaiti SC" panose="02010600040101010101" pitchFamily="2" charset="-122"/>
                        <a:ea typeface="Kaiti SC" panose="02010600040101010101" pitchFamily="2" charset="-122"/>
                      </a:endParaRPr>
                    </a:p>
                  </a:txBody>
                  <a:tcPr marL="68580" marR="68580" marT="17780" marB="17780"/>
                </a:tc>
                <a:extLst>
                  <a:ext uri="{0D108BD9-81ED-4DB2-BD59-A6C34878D82A}">
                    <a16:rowId xmlns:a16="http://schemas.microsoft.com/office/drawing/2014/main" val="73500323"/>
                  </a:ext>
                </a:extLst>
              </a:tr>
              <a:tr h="0">
                <a:tc>
                  <a:txBody>
                    <a:bodyPr/>
                    <a:lstStyle/>
                    <a:p>
                      <a:pPr algn="ctr"/>
                      <a:r>
                        <a:rPr lang="zh-CN" sz="3200" kern="100" dirty="0">
                          <a:effectLst/>
                          <a:latin typeface="Kaiti SC" panose="02010600040101010101" pitchFamily="2" charset="-122"/>
                          <a:ea typeface="Kaiti SC" panose="02010600040101010101" pitchFamily="2" charset="-122"/>
                        </a:rPr>
                        <a:t>组件数量</a:t>
                      </a:r>
                      <a:endParaRPr lang="zh-CN" sz="4000" kern="100" dirty="0">
                        <a:effectLst/>
                        <a:latin typeface="Kaiti SC" panose="02010600040101010101" pitchFamily="2" charset="-122"/>
                        <a:ea typeface="Kaiti SC" panose="02010600040101010101" pitchFamily="2" charset="-122"/>
                      </a:endParaRPr>
                    </a:p>
                  </a:txBody>
                  <a:tcPr marL="68580" marR="68580" marT="17780" marB="17780"/>
                </a:tc>
                <a:tc>
                  <a:txBody>
                    <a:bodyPr/>
                    <a:lstStyle/>
                    <a:p>
                      <a:pPr algn="ctr"/>
                      <a:r>
                        <a:rPr lang="en-US" sz="3200" kern="100">
                          <a:effectLst/>
                          <a:latin typeface="Kaiti SC" panose="02010600040101010101" pitchFamily="2" charset="-122"/>
                          <a:ea typeface="Kaiti SC" panose="02010600040101010101" pitchFamily="2" charset="-122"/>
                        </a:rPr>
                        <a:t>600+</a:t>
                      </a:r>
                      <a:endParaRPr lang="zh-CN" sz="4000" kern="100">
                        <a:effectLst/>
                        <a:latin typeface="Kaiti SC" panose="02010600040101010101" pitchFamily="2" charset="-122"/>
                        <a:ea typeface="Kaiti SC" panose="02010600040101010101" pitchFamily="2" charset="-122"/>
                      </a:endParaRPr>
                    </a:p>
                  </a:txBody>
                  <a:tcPr marL="68580" marR="68580" marT="17780" marB="17780"/>
                </a:tc>
                <a:tc>
                  <a:txBody>
                    <a:bodyPr/>
                    <a:lstStyle/>
                    <a:p>
                      <a:pPr algn="ctr"/>
                      <a:r>
                        <a:rPr lang="en-US" sz="3200" kern="100" dirty="0">
                          <a:effectLst/>
                          <a:latin typeface="Kaiti SC" panose="02010600040101010101" pitchFamily="2" charset="-122"/>
                          <a:ea typeface="Kaiti SC" panose="02010600040101010101" pitchFamily="2" charset="-122"/>
                        </a:rPr>
                        <a:t>400+</a:t>
                      </a:r>
                      <a:endParaRPr lang="zh-CN" sz="4000" kern="100" dirty="0">
                        <a:effectLst/>
                        <a:latin typeface="Kaiti SC" panose="02010600040101010101" pitchFamily="2" charset="-122"/>
                        <a:ea typeface="Kaiti SC" panose="02010600040101010101" pitchFamily="2" charset="-122"/>
                      </a:endParaRPr>
                    </a:p>
                  </a:txBody>
                  <a:tcPr marL="68580" marR="68580" marT="17780" marB="17780"/>
                </a:tc>
                <a:extLst>
                  <a:ext uri="{0D108BD9-81ED-4DB2-BD59-A6C34878D82A}">
                    <a16:rowId xmlns:a16="http://schemas.microsoft.com/office/drawing/2014/main" val="55871829"/>
                  </a:ext>
                </a:extLst>
              </a:tr>
            </a:tbl>
          </a:graphicData>
        </a:graphic>
      </p:graphicFrame>
      <p:sp>
        <p:nvSpPr>
          <p:cNvPr id="10" name="文本框 9">
            <a:extLst>
              <a:ext uri="{FF2B5EF4-FFF2-40B4-BE49-F238E27FC236}">
                <a16:creationId xmlns:a16="http://schemas.microsoft.com/office/drawing/2014/main" id="{3FE18605-E0EF-A359-4C1D-9A9FF8AF1010}"/>
              </a:ext>
            </a:extLst>
          </p:cNvPr>
          <p:cNvSpPr txBox="1"/>
          <p:nvPr/>
        </p:nvSpPr>
        <p:spPr>
          <a:xfrm>
            <a:off x="0" y="6260199"/>
            <a:ext cx="9144000" cy="461665"/>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某国内大型</a:t>
            </a:r>
            <a:r>
              <a:rPr lang="en" altLang="zh-CN" sz="2400" dirty="0">
                <a:solidFill>
                  <a:srgbClr val="FF0000"/>
                </a:solidFill>
                <a:latin typeface="Heiti SC Medium" pitchFamily="2" charset="-128"/>
                <a:ea typeface="Heiti SC Medium" pitchFamily="2" charset="-128"/>
              </a:rPr>
              <a:t>IT</a:t>
            </a:r>
            <a:r>
              <a:rPr lang="zh-CN" altLang="en-US" sz="2400" dirty="0">
                <a:solidFill>
                  <a:srgbClr val="FF0000"/>
                </a:solidFill>
                <a:latin typeface="Heiti SC Medium" pitchFamily="2" charset="-128"/>
                <a:ea typeface="Heiti SC Medium" pitchFamily="2" charset="-128"/>
              </a:rPr>
              <a:t>企业一款产品中自研与复用的代码和组件数量对比</a:t>
            </a:r>
          </a:p>
        </p:txBody>
      </p:sp>
    </p:spTree>
    <p:extLst>
      <p:ext uri="{BB962C8B-B14F-4D97-AF65-F5344CB8AC3E}">
        <p14:creationId xmlns:p14="http://schemas.microsoft.com/office/powerpoint/2010/main" val="23833206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par>
                          <p:cTn id="21" fill="hold">
                            <p:stCondLst>
                              <p:cond delay="1500"/>
                            </p:stCondLst>
                            <p:childTnLst>
                              <p:par>
                                <p:cTn id="22" presetID="3" presetClass="entr" presetSubtype="10" fill="hold" nodeType="after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blinds(horizontal)">
                                      <p:cBhvr>
                                        <p:cTn id="24" dur="500"/>
                                        <p:tgtEl>
                                          <p:spTgt spid="11">
                                            <p:txEl>
                                              <p:pRg st="2" end="2"/>
                                            </p:txEl>
                                          </p:spTgt>
                                        </p:tgtEl>
                                      </p:cBhvr>
                                    </p:animEffect>
                                  </p:childTnLst>
                                </p:cTn>
                              </p:par>
                            </p:childTnLst>
                          </p:cTn>
                        </p:par>
                        <p:par>
                          <p:cTn id="25" fill="hold">
                            <p:stCondLst>
                              <p:cond delay="2000"/>
                            </p:stCondLst>
                            <p:childTnLst>
                              <p:par>
                                <p:cTn id="26" presetID="3" presetClass="entr" presetSubtype="10" fill="hold" nodeType="after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blinds(horizontal)">
                                      <p:cBhvr>
                                        <p:cTn id="28"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295465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软件复用层次</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12093DAE-6C6F-6C80-EF91-1F9E8D2B43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975" y="1765276"/>
            <a:ext cx="5479682" cy="3691398"/>
          </a:xfrm>
          <a:prstGeom prst="rect">
            <a:avLst/>
          </a:prstGeom>
          <a:noFill/>
          <a:ln>
            <a:noFill/>
          </a:ln>
        </p:spPr>
      </p:pic>
      <p:sp>
        <p:nvSpPr>
          <p:cNvPr id="9" name="文本框 8">
            <a:extLst>
              <a:ext uri="{FF2B5EF4-FFF2-40B4-BE49-F238E27FC236}">
                <a16:creationId xmlns:a16="http://schemas.microsoft.com/office/drawing/2014/main" id="{9A10812E-863E-8D25-9CCF-584B8476EE03}"/>
              </a:ext>
            </a:extLst>
          </p:cNvPr>
          <p:cNvSpPr txBox="1"/>
          <p:nvPr/>
        </p:nvSpPr>
        <p:spPr>
          <a:xfrm>
            <a:off x="-1" y="897147"/>
            <a:ext cx="9144000" cy="830997"/>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需求复用意味着与之对应的设计方案和实现代码都可能随之复用</a:t>
            </a:r>
          </a:p>
          <a:p>
            <a:pPr algn="ctr"/>
            <a:r>
              <a:rPr lang="zh-CN" altLang="en-US" sz="2400" dirty="0">
                <a:solidFill>
                  <a:srgbClr val="FF0000"/>
                </a:solidFill>
                <a:latin typeface="Heiti SC Medium" pitchFamily="2" charset="-128"/>
                <a:ea typeface="Heiti SC Medium" pitchFamily="2" charset="-128"/>
              </a:rPr>
              <a:t>软件设计产生的体系结构设计和组件级设计也可能具有可复用性</a:t>
            </a:r>
          </a:p>
        </p:txBody>
      </p:sp>
      <p:sp>
        <p:nvSpPr>
          <p:cNvPr id="12" name="文本框 11">
            <a:extLst>
              <a:ext uri="{FF2B5EF4-FFF2-40B4-BE49-F238E27FC236}">
                <a16:creationId xmlns:a16="http://schemas.microsoft.com/office/drawing/2014/main" id="{245CAA3A-5911-3C87-3223-F2FC4B215D44}"/>
              </a:ext>
            </a:extLst>
          </p:cNvPr>
          <p:cNvSpPr txBox="1"/>
          <p:nvPr/>
        </p:nvSpPr>
        <p:spPr>
          <a:xfrm>
            <a:off x="5661115" y="1751835"/>
            <a:ext cx="3535136" cy="3785652"/>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编码阶段所产生的源代码及其各种打包形式（例如Jar包）是更常见的复用形式</a:t>
            </a:r>
          </a:p>
          <a:p>
            <a:r>
              <a:rPr lang="zh-CN" altLang="en-US" sz="2400" dirty="0">
                <a:solidFill>
                  <a:srgbClr val="FF0000"/>
                </a:solidFill>
                <a:latin typeface="Heiti SC Medium" pitchFamily="2" charset="-128"/>
                <a:ea typeface="Heiti SC Medium" pitchFamily="2" charset="-128"/>
              </a:rPr>
              <a:t>但一般不推荐通过代码复制粘贴和修改实现软件复用，因为这将导致相似代码散布在很多地方，难以进行跟踪和统一维护</a:t>
            </a:r>
          </a:p>
        </p:txBody>
      </p:sp>
      <p:sp>
        <p:nvSpPr>
          <p:cNvPr id="13" name="文本框 12">
            <a:extLst>
              <a:ext uri="{FF2B5EF4-FFF2-40B4-BE49-F238E27FC236}">
                <a16:creationId xmlns:a16="http://schemas.microsoft.com/office/drawing/2014/main" id="{70ECA371-9F80-4BC8-5C28-CB59F145991F}"/>
              </a:ext>
            </a:extLst>
          </p:cNvPr>
          <p:cNvSpPr txBox="1"/>
          <p:nvPr/>
        </p:nvSpPr>
        <p:spPr>
          <a:xfrm>
            <a:off x="-1" y="5509304"/>
            <a:ext cx="9196252" cy="1200329"/>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推荐的代码复用形式是经过良好封装以及清晰的API（Application Programming Interface，即应用程序接口）定义的软件组件，例如以Jar包形式提供的Java组件</a:t>
            </a:r>
          </a:p>
        </p:txBody>
      </p:sp>
    </p:spTree>
    <p:extLst>
      <p:ext uri="{BB962C8B-B14F-4D97-AF65-F5344CB8AC3E}">
        <p14:creationId xmlns:p14="http://schemas.microsoft.com/office/powerpoint/2010/main" val="2504007111"/>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341632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组件级软件复用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632311"/>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600" dirty="0">
                <a:latin typeface="Kaiti SC" charset="-122"/>
                <a:ea typeface="Kaiti SC" charset="-122"/>
              </a:rPr>
              <a:t>主要目的是实现特定功能和特性，形式主要是软件组件（或称软件构件）</a:t>
            </a:r>
            <a:endParaRPr lang="en-US" altLang="zh-CN" sz="3600" dirty="0">
              <a:latin typeface="Kaiti SC" charset="-122"/>
              <a:ea typeface="Kaiti SC" charset="-122"/>
            </a:endParaRPr>
          </a:p>
          <a:p>
            <a:pPr marL="285750" lvl="1" indent="-285750">
              <a:buFont typeface="Arial" panose="020B0604020202020204" pitchFamily="34" charset="0"/>
              <a:buChar char="•"/>
            </a:pPr>
            <a:r>
              <a:rPr lang="zh-CN" altLang="en-US" sz="3600" dirty="0">
                <a:latin typeface="Kaiti SC" charset="-122"/>
                <a:ea typeface="Kaiti SC" charset="-122"/>
              </a:rPr>
              <a:t>这些软件组件实现特定的功能并明确定义了</a:t>
            </a:r>
            <a:r>
              <a:rPr lang="en-US" altLang="zh-CN" sz="3600" dirty="0">
                <a:latin typeface="Kaiti SC" charset="-122"/>
                <a:ea typeface="Kaiti SC" charset="-122"/>
              </a:rPr>
              <a:t>API</a:t>
            </a:r>
            <a:r>
              <a:rPr lang="zh-CN" altLang="en-US" sz="3600" dirty="0">
                <a:latin typeface="Kaiti SC" charset="-122"/>
                <a:ea typeface="Kaiti SC" charset="-122"/>
              </a:rPr>
              <a:t>，软件开发人员可以通过</a:t>
            </a:r>
            <a:r>
              <a:rPr lang="en-US" altLang="zh-CN" sz="3600" dirty="0">
                <a:latin typeface="Kaiti SC" charset="-122"/>
                <a:ea typeface="Kaiti SC" charset="-122"/>
              </a:rPr>
              <a:t>API</a:t>
            </a:r>
            <a:r>
              <a:rPr lang="zh-CN" altLang="en-US" sz="3600" dirty="0">
                <a:latin typeface="Kaiti SC" charset="-122"/>
                <a:ea typeface="Kaiti SC" charset="-122"/>
              </a:rPr>
              <a:t>调用的方式复用相关的功能实现</a:t>
            </a:r>
            <a:endParaRPr lang="en-US" altLang="zh-CN" sz="3600" dirty="0">
              <a:latin typeface="Kaiti SC" charset="-122"/>
              <a:ea typeface="Kaiti SC" charset="-122"/>
            </a:endParaRPr>
          </a:p>
          <a:p>
            <a:pPr marL="285750" lvl="1" indent="-285750">
              <a:buFont typeface="Arial" panose="020B0604020202020204" pitchFamily="34" charset="0"/>
              <a:buChar char="•"/>
            </a:pPr>
            <a:r>
              <a:rPr lang="zh-CN" altLang="en-US" sz="3600" dirty="0">
                <a:latin typeface="Kaiti SC" charset="-122"/>
                <a:ea typeface="Kaiti SC" charset="-122"/>
              </a:rPr>
              <a:t>按照可复用范围分为三类</a:t>
            </a:r>
            <a:endParaRPr lang="en-US" altLang="zh-CN" sz="36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一方库：当前项目内的通用功能模块，一般通过项目内的接口定义为项目中的多个模块提供共性的功能实现</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二方库：同一企业内所积累的通用功能模块，一般建议封装成软件组件并提供</a:t>
            </a:r>
            <a:r>
              <a:rPr lang="en-US" altLang="zh-CN" sz="2400" dirty="0">
                <a:latin typeface="Heiti SC Light" charset="-122"/>
                <a:ea typeface="Heiti SC Light" charset="-122"/>
              </a:rPr>
              <a:t>API</a:t>
            </a:r>
            <a:r>
              <a:rPr lang="zh-CN" altLang="en-US" sz="2400" dirty="0">
                <a:latin typeface="Heiti SC Light" charset="-122"/>
                <a:ea typeface="Heiti SC Light" charset="-122"/>
              </a:rPr>
              <a:t>描述同时由专人进行维护和升级，</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三方库：由开源社区或企业所提供的广泛授权使用的通用功能模块，一般都有规范的发布包和对应的</a:t>
            </a:r>
            <a:r>
              <a:rPr lang="en-US" altLang="zh-CN" sz="2400" dirty="0">
                <a:latin typeface="Heiti SC Light" charset="-122"/>
                <a:ea typeface="Heiti SC Light" charset="-122"/>
              </a:rPr>
              <a:t>API</a:t>
            </a:r>
            <a:r>
              <a:rPr lang="zh-CN" altLang="en-US" sz="2400" dirty="0">
                <a:latin typeface="Heiti SC Light" charset="-122"/>
                <a:ea typeface="Heiti SC Light" charset="-122"/>
              </a:rPr>
              <a:t>描述</a:t>
            </a:r>
            <a:endParaRPr lang="en-US" altLang="zh-CN" sz="2400" dirty="0">
              <a:latin typeface="Heiti SC Light" charset="-122"/>
              <a:ea typeface="Heiti SC Light" charset="-122"/>
            </a:endParaRPr>
          </a:p>
        </p:txBody>
      </p:sp>
    </p:spTree>
    <p:extLst>
      <p:ext uri="{BB962C8B-B14F-4D97-AF65-F5344CB8AC3E}">
        <p14:creationId xmlns:p14="http://schemas.microsoft.com/office/powerpoint/2010/main" val="261676956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blinds(horizontal)">
                                      <p:cBhvr>
                                        <p:cTn id="21" dur="500"/>
                                        <p:tgtEl>
                                          <p:spTgt spid="11">
                                            <p:txEl>
                                              <p:pRg st="3" end="3"/>
                                            </p:txEl>
                                          </p:spTgt>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blinds(horizontal)">
                                      <p:cBhvr>
                                        <p:cTn id="25" dur="500"/>
                                        <p:tgtEl>
                                          <p:spTgt spid="11">
                                            <p:txEl>
                                              <p:pRg st="4" end="4"/>
                                            </p:txEl>
                                          </p:spTgt>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blinds(horizontal)">
                                      <p:cBhvr>
                                        <p:cTn id="29"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341632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框架级软件复用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570756"/>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400" dirty="0">
                <a:latin typeface="Kaiti SC" charset="-122"/>
                <a:ea typeface="Kaiti SC" charset="-122"/>
              </a:rPr>
              <a:t>主要目的是获得支撑应用运行的整体性框架，形式主要是各种软件开发框架</a:t>
            </a:r>
            <a:endParaRPr lang="en-US" altLang="zh-CN" sz="3400" dirty="0">
              <a:latin typeface="Kaiti SC" charset="-122"/>
              <a:ea typeface="Kaiti SC" charset="-122"/>
            </a:endParaRPr>
          </a:p>
          <a:p>
            <a:pPr marL="285750" lvl="1" indent="-285750">
              <a:buFont typeface="Arial" panose="020B0604020202020204" pitchFamily="34" charset="0"/>
              <a:buChar char="•"/>
            </a:pPr>
            <a:r>
              <a:rPr lang="zh-CN" altLang="en-US" sz="3400" dirty="0">
                <a:latin typeface="Kaiti SC" charset="-122"/>
                <a:ea typeface="Kaiti SC" charset="-122"/>
              </a:rPr>
              <a:t>在共性实现的基础上支持定制和扩展</a:t>
            </a:r>
            <a:endParaRPr lang="en-US" altLang="zh-CN" sz="34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定义并实现了面向特定类型应用或其局部（例如</a:t>
            </a:r>
            <a:r>
              <a:rPr lang="en-US" altLang="zh-CN" sz="2400" dirty="0">
                <a:latin typeface="Heiti SC Light" charset="-122"/>
                <a:ea typeface="Heiti SC Light" charset="-122"/>
              </a:rPr>
              <a:t>Web</a:t>
            </a:r>
            <a:r>
              <a:rPr lang="zh-CN" altLang="en-US" sz="2400" dirty="0">
                <a:latin typeface="Heiti SC Light" charset="-122"/>
                <a:ea typeface="Heiti SC Light" charset="-122"/>
              </a:rPr>
              <a:t>应用的前端、后端和数据库访问）的整体设计及共性部分</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同时支持应用开发进行定制和扩展</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400" dirty="0">
                <a:latin typeface="Kaiti SC" charset="-122"/>
                <a:ea typeface="Kaiti SC" charset="-122"/>
              </a:rPr>
              <a:t>与组件级复用的区别</a:t>
            </a:r>
            <a:endParaRPr lang="en-US" altLang="zh-CN" sz="34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组件级复用：应用代码通过调用组件的</a:t>
            </a:r>
            <a:r>
              <a:rPr lang="en" altLang="zh-CN" sz="2400" dirty="0">
                <a:latin typeface="Heiti SC Light" charset="-122"/>
                <a:ea typeface="Heiti SC Light" charset="-122"/>
              </a:rPr>
              <a:t>API</a:t>
            </a:r>
            <a:r>
              <a:rPr lang="zh-CN" altLang="en-US" sz="2400" dirty="0">
                <a:latin typeface="Heiti SC Light" charset="-122"/>
                <a:ea typeface="Heiti SC Light" charset="-122"/>
              </a:rPr>
              <a:t>实现软件复用</a:t>
            </a:r>
          </a:p>
          <a:p>
            <a:pPr marL="1028700" lvl="1" indent="-571500">
              <a:buFont typeface="Wingdings" charset="2"/>
              <a:buChar char="ü"/>
            </a:pPr>
            <a:r>
              <a:rPr lang="zh-CN" altLang="en-US" sz="2400" dirty="0">
                <a:latin typeface="Heiti SC Light" charset="-122"/>
                <a:ea typeface="Heiti SC Light" charset="-122"/>
              </a:rPr>
              <a:t>框架级复用：按照框架规范实现的应用代码被框架调用，因此其中经常会用到类似于依赖注入这样的设计思想</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400" dirty="0">
                <a:latin typeface="Kaiti SC" charset="-122"/>
                <a:ea typeface="Kaiti SC" charset="-122"/>
              </a:rPr>
              <a:t>常用开发框架：</a:t>
            </a:r>
            <a:r>
              <a:rPr lang="en-US" altLang="zh-CN" sz="3400" dirty="0" err="1">
                <a:latin typeface="Kaiti SC" charset="-122"/>
                <a:ea typeface="Kaiti SC" charset="-122"/>
              </a:rPr>
              <a:t>Vue.js</a:t>
            </a:r>
            <a:r>
              <a:rPr lang="zh-CN" altLang="en-US" sz="3400" dirty="0">
                <a:latin typeface="Kaiti SC" charset="-122"/>
                <a:ea typeface="Kaiti SC" charset="-122"/>
              </a:rPr>
              <a:t>（</a:t>
            </a:r>
            <a:r>
              <a:rPr lang="en-US" altLang="zh-CN" sz="3400" dirty="0">
                <a:latin typeface="Kaiti SC" charset="-122"/>
                <a:ea typeface="Kaiti SC" charset="-122"/>
              </a:rPr>
              <a:t>Web</a:t>
            </a:r>
            <a:r>
              <a:rPr lang="zh-CN" altLang="en-US" sz="3400" dirty="0">
                <a:latin typeface="Kaiti SC" charset="-122"/>
                <a:ea typeface="Kaiti SC" charset="-122"/>
              </a:rPr>
              <a:t>前端）、</a:t>
            </a:r>
            <a:r>
              <a:rPr lang="en-US" altLang="zh-CN" sz="3400" dirty="0">
                <a:latin typeface="Kaiti SC" charset="-122"/>
                <a:ea typeface="Kaiti SC" charset="-122"/>
              </a:rPr>
              <a:t>Spring Boot</a:t>
            </a:r>
            <a:r>
              <a:rPr lang="zh-CN" altLang="en-US" sz="3400" dirty="0">
                <a:latin typeface="Kaiti SC" charset="-122"/>
                <a:ea typeface="Kaiti SC" charset="-122"/>
              </a:rPr>
              <a:t>（</a:t>
            </a:r>
            <a:r>
              <a:rPr lang="en-US" altLang="zh-CN" sz="3400" dirty="0">
                <a:latin typeface="Kaiti SC" charset="-122"/>
                <a:ea typeface="Kaiti SC" charset="-122"/>
              </a:rPr>
              <a:t>Web</a:t>
            </a:r>
            <a:r>
              <a:rPr lang="zh-CN" altLang="en-US" sz="3400" dirty="0">
                <a:latin typeface="Kaiti SC" charset="-122"/>
                <a:ea typeface="Kaiti SC" charset="-122"/>
              </a:rPr>
              <a:t>后端）、</a:t>
            </a:r>
            <a:r>
              <a:rPr lang="en-US" altLang="zh-CN" sz="3400" dirty="0" err="1">
                <a:latin typeface="Kaiti SC" charset="-122"/>
                <a:ea typeface="Kaiti SC" charset="-122"/>
              </a:rPr>
              <a:t>MyBatis</a:t>
            </a:r>
            <a:r>
              <a:rPr lang="zh-CN" altLang="en-US" sz="3400" dirty="0">
                <a:latin typeface="Kaiti SC" charset="-122"/>
                <a:ea typeface="Kaiti SC" charset="-122"/>
              </a:rPr>
              <a:t>（对象关系映射）</a:t>
            </a:r>
            <a:endParaRPr lang="en-US" altLang="zh-CN" sz="3400" dirty="0">
              <a:latin typeface="Kaiti SC" charset="-122"/>
              <a:ea typeface="Kaiti SC" charset="-122"/>
            </a:endParaRPr>
          </a:p>
        </p:txBody>
      </p:sp>
    </p:spTree>
    <p:extLst>
      <p:ext uri="{BB962C8B-B14F-4D97-AF65-F5344CB8AC3E}">
        <p14:creationId xmlns:p14="http://schemas.microsoft.com/office/powerpoint/2010/main" val="6557846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blinds(horizontal)">
                                      <p:cBhvr>
                                        <p:cTn id="16" dur="500"/>
                                        <p:tgtEl>
                                          <p:spTgt spid="11">
                                            <p:txEl>
                                              <p:pRg st="2" end="2"/>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blinds(horizontal)">
                                      <p:cBhvr>
                                        <p:cTn id="25" dur="500"/>
                                        <p:tgtEl>
                                          <p:spTgt spid="11">
                                            <p:txEl>
                                              <p:pRg st="4" end="4"/>
                                            </p:txEl>
                                          </p:spTgt>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blinds(horizontal)">
                                      <p:cBhvr>
                                        <p:cTn id="29" dur="500"/>
                                        <p:tgtEl>
                                          <p:spTgt spid="11">
                                            <p:txEl>
                                              <p:pRg st="5" end="5"/>
                                            </p:txEl>
                                          </p:spTgt>
                                        </p:tgtEl>
                                      </p:cBhvr>
                                    </p:animEffect>
                                  </p:childTnLst>
                                </p:cTn>
                              </p:par>
                            </p:childTnLst>
                          </p:cTn>
                        </p:par>
                        <p:par>
                          <p:cTn id="30" fill="hold">
                            <p:stCondLst>
                              <p:cond delay="1000"/>
                            </p:stCondLst>
                            <p:childTnLst>
                              <p:par>
                                <p:cTn id="31" presetID="3" presetClass="entr" presetSubtype="10" fill="hold" nodeType="after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blinds(horizontal)">
                                      <p:cBhvr>
                                        <p:cTn id="33" dur="500"/>
                                        <p:tgtEl>
                                          <p:spTgt spid="11">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blinds(horizontal)">
                                      <p:cBhvr>
                                        <p:cTn id="38"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06399" y="772742"/>
            <a:ext cx="3924780" cy="1526782"/>
          </a:xfrm>
          <a:prstGeom prst="rect">
            <a:avLst/>
          </a:prstGeom>
        </p:spPr>
      </p:pic>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3877985" cy="812530"/>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构件、模式、框架</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5" name="Picture 4" descr="C:\Struts-Framework-256x300.png"/>
          <p:cNvPicPr>
            <a:picLocks noChangeAspect="1" noChangeArrowheads="1"/>
          </p:cNvPicPr>
          <p:nvPr/>
        </p:nvPicPr>
        <p:blipFill>
          <a:blip r:embed="rId4" cstate="print"/>
          <a:srcRect/>
          <a:stretch>
            <a:fillRect/>
          </a:stretch>
        </p:blipFill>
        <p:spPr bwMode="auto">
          <a:xfrm>
            <a:off x="311219" y="3914068"/>
            <a:ext cx="2409931" cy="2824137"/>
          </a:xfrm>
          <a:prstGeom prst="rect">
            <a:avLst/>
          </a:prstGeom>
          <a:noFill/>
        </p:spPr>
      </p:pic>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178" y="1939154"/>
            <a:ext cx="4073983" cy="1884867"/>
          </a:xfrm>
          <a:prstGeom prst="rect">
            <a:avLst/>
          </a:prstGeom>
        </p:spPr>
      </p:pic>
      <p:sp>
        <p:nvSpPr>
          <p:cNvPr id="2" name="矩形 1"/>
          <p:cNvSpPr/>
          <p:nvPr/>
        </p:nvSpPr>
        <p:spPr>
          <a:xfrm>
            <a:off x="4292161" y="2283456"/>
            <a:ext cx="4185761" cy="1015663"/>
          </a:xfrm>
          <a:prstGeom prst="rect">
            <a:avLst/>
          </a:prstGeom>
        </p:spPr>
        <p:txBody>
          <a:bodyPr wrap="none">
            <a:spAutoFit/>
          </a:bodyPr>
          <a:lstStyle/>
          <a:p>
            <a:pPr algn="ctr"/>
            <a:r>
              <a:rPr lang="zh-CN" altLang="en-US" sz="3600" dirty="0">
                <a:solidFill>
                  <a:srgbClr val="FF0000"/>
                </a:solidFill>
                <a:latin typeface="Heiti SC Medium" pitchFamily="2" charset="-128"/>
                <a:ea typeface="Heiti SC Medium" pitchFamily="2" charset="-128"/>
              </a:rPr>
              <a:t>设计模式</a:t>
            </a:r>
          </a:p>
          <a:p>
            <a:pPr algn="ctr"/>
            <a:r>
              <a:rPr lang="zh-CN" altLang="en-US" sz="2400" dirty="0">
                <a:solidFill>
                  <a:srgbClr val="FF0000"/>
                </a:solidFill>
                <a:latin typeface="Heiti SC Medium" pitchFamily="2" charset="-128"/>
                <a:ea typeface="Heiti SC Medium" pitchFamily="2" charset="-128"/>
              </a:rPr>
              <a:t>（如组合模式、观察者模式）</a:t>
            </a:r>
          </a:p>
        </p:txBody>
      </p:sp>
      <p:sp>
        <p:nvSpPr>
          <p:cNvPr id="10" name="矩形 9"/>
          <p:cNvSpPr/>
          <p:nvPr/>
        </p:nvSpPr>
        <p:spPr>
          <a:xfrm>
            <a:off x="2482172" y="4835673"/>
            <a:ext cx="3610284" cy="1015663"/>
          </a:xfrm>
          <a:prstGeom prst="rect">
            <a:avLst/>
          </a:prstGeom>
        </p:spPr>
        <p:txBody>
          <a:bodyPr wrap="none">
            <a:spAutoFit/>
          </a:bodyPr>
          <a:lstStyle/>
          <a:p>
            <a:pPr algn="ctr"/>
            <a:r>
              <a:rPr lang="zh-CN" altLang="en-US" sz="3600" dirty="0">
                <a:solidFill>
                  <a:srgbClr val="FF0000"/>
                </a:solidFill>
                <a:latin typeface="Heiti SC Medium" pitchFamily="2" charset="-128"/>
                <a:ea typeface="Heiti SC Medium" pitchFamily="2" charset="-128"/>
              </a:rPr>
              <a:t>设计框架</a:t>
            </a:r>
          </a:p>
          <a:p>
            <a:pPr algn="ctr"/>
            <a:r>
              <a:rPr lang="zh-CN" altLang="en-US" sz="2400" dirty="0">
                <a:solidFill>
                  <a:srgbClr val="FF0000"/>
                </a:solidFill>
                <a:latin typeface="Heiti SC Medium" pitchFamily="2" charset="-128"/>
                <a:ea typeface="Heiti SC Medium" pitchFamily="2" charset="-128"/>
              </a:rPr>
              <a:t>（如</a:t>
            </a:r>
            <a:r>
              <a:rPr lang="en-US" altLang="zh-CN" sz="2400" dirty="0">
                <a:solidFill>
                  <a:srgbClr val="FF0000"/>
                </a:solidFill>
                <a:latin typeface="Heiti SC Medium" pitchFamily="2" charset="-128"/>
                <a:ea typeface="Heiti SC Medium" pitchFamily="2" charset="-128"/>
              </a:rPr>
              <a:t>Struts</a:t>
            </a:r>
            <a:r>
              <a:rPr lang="zh-CN" altLang="en-US" sz="2400" dirty="0">
                <a:solidFill>
                  <a:srgbClr val="FF0000"/>
                </a:solidFill>
                <a:latin typeface="Heiti SC Medium" pitchFamily="2" charset="-128"/>
                <a:ea typeface="Heiti SC Medium" pitchFamily="2" charset="-128"/>
              </a:rPr>
              <a:t>、</a:t>
            </a:r>
            <a:r>
              <a:rPr lang="en-US" altLang="zh-CN" sz="2400" dirty="0" err="1">
                <a:solidFill>
                  <a:srgbClr val="FF0000"/>
                </a:solidFill>
                <a:latin typeface="Heiti SC Medium" pitchFamily="2" charset="-128"/>
                <a:ea typeface="Heiti SC Medium" pitchFamily="2" charset="-128"/>
              </a:rPr>
              <a:t>JhotDraw</a:t>
            </a:r>
            <a:r>
              <a:rPr lang="zh-CN" altLang="en-US" sz="2400" dirty="0">
                <a:solidFill>
                  <a:srgbClr val="FF0000"/>
                </a:solidFill>
                <a:latin typeface="Heiti SC Medium" pitchFamily="2" charset="-128"/>
                <a:ea typeface="Heiti SC Medium" pitchFamily="2" charset="-128"/>
              </a:rPr>
              <a:t>）</a:t>
            </a:r>
          </a:p>
        </p:txBody>
      </p:sp>
      <p:sp>
        <p:nvSpPr>
          <p:cNvPr id="11" name="矩形 10"/>
          <p:cNvSpPr/>
          <p:nvPr/>
        </p:nvSpPr>
        <p:spPr>
          <a:xfrm>
            <a:off x="4232849" y="1006664"/>
            <a:ext cx="3996608" cy="1015663"/>
          </a:xfrm>
          <a:prstGeom prst="rect">
            <a:avLst/>
          </a:prstGeom>
        </p:spPr>
        <p:txBody>
          <a:bodyPr wrap="none">
            <a:spAutoFit/>
          </a:bodyPr>
          <a:lstStyle/>
          <a:p>
            <a:pPr algn="ctr"/>
            <a:r>
              <a:rPr lang="zh-CN" altLang="en-US" sz="3600" dirty="0">
                <a:solidFill>
                  <a:srgbClr val="FF0000"/>
                </a:solidFill>
                <a:latin typeface="Heiti SC Medium" pitchFamily="2" charset="-128"/>
                <a:ea typeface="Heiti SC Medium" pitchFamily="2" charset="-128"/>
              </a:rPr>
              <a:t>软件构件</a:t>
            </a:r>
          </a:p>
          <a:p>
            <a:pPr algn="ctr"/>
            <a:r>
              <a:rPr lang="zh-CN" altLang="en-US" sz="2400" dirty="0">
                <a:solidFill>
                  <a:srgbClr val="FF0000"/>
                </a:solidFill>
                <a:latin typeface="Heiti SC Medium" pitchFamily="2" charset="-128"/>
                <a:ea typeface="Heiti SC Medium" pitchFamily="2" charset="-128"/>
              </a:rPr>
              <a:t>（如图片处理、打印构件）</a:t>
            </a:r>
          </a:p>
        </p:txBody>
      </p:sp>
      <p:pic>
        <p:nvPicPr>
          <p:cNvPr id="12" name="Picture 2">
            <a:extLst>
              <a:ext uri="{FF2B5EF4-FFF2-40B4-BE49-F238E27FC236}">
                <a16:creationId xmlns:a16="http://schemas.microsoft.com/office/drawing/2014/main" id="{363053EA-015D-F20D-F294-B69B4A4952B6}"/>
              </a:ext>
            </a:extLst>
          </p:cNvPr>
          <p:cNvPicPr>
            <a:picLocks noChangeAspect="1" noChangeArrowheads="1"/>
          </p:cNvPicPr>
          <p:nvPr/>
        </p:nvPicPr>
        <p:blipFill>
          <a:blip r:embed="rId6" cstate="print"/>
          <a:srcRect/>
          <a:stretch>
            <a:fillRect/>
          </a:stretch>
        </p:blipFill>
        <p:spPr bwMode="auto">
          <a:xfrm>
            <a:off x="5880232" y="4252194"/>
            <a:ext cx="3169462" cy="2253110"/>
          </a:xfrm>
          <a:prstGeom prst="rect">
            <a:avLst/>
          </a:prstGeom>
          <a:noFill/>
          <a:ln w="9525">
            <a:noFill/>
            <a:miter lim="800000"/>
            <a:headEnd/>
            <a:tailEnd/>
          </a:ln>
        </p:spPr>
      </p:pic>
    </p:spTree>
    <p:extLst>
      <p:ext uri="{BB962C8B-B14F-4D97-AF65-F5344CB8AC3E}">
        <p14:creationId xmlns:p14="http://schemas.microsoft.com/office/powerpoint/2010/main" val="7115393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par>
                          <p:cTn id="28" fill="hold">
                            <p:stCondLst>
                              <p:cond delay="1000"/>
                            </p:stCondLst>
                            <p:childTnLst>
                              <p:par>
                                <p:cTn id="29" presetID="3" presetClass="entr" presetSubtype="1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88410" y="168330"/>
            <a:ext cx="6288901" cy="812530"/>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课堂讨论：构件、模式与框架</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18203"/>
            <a:ext cx="2974915" cy="2361765"/>
          </a:xfrm>
          <a:prstGeom prst="rect">
            <a:avLst/>
          </a:prstGeom>
        </p:spPr>
      </p:pic>
      <p:sp>
        <p:nvSpPr>
          <p:cNvPr id="6" name="矩形 5"/>
          <p:cNvSpPr/>
          <p:nvPr/>
        </p:nvSpPr>
        <p:spPr>
          <a:xfrm>
            <a:off x="2837793" y="1112800"/>
            <a:ext cx="6306207" cy="2554545"/>
          </a:xfrm>
          <a:prstGeom prst="rect">
            <a:avLst/>
          </a:prstGeom>
        </p:spPr>
        <p:txBody>
          <a:bodyPr wrap="square">
            <a:spAutoFit/>
          </a:bodyPr>
          <a:lstStyle/>
          <a:p>
            <a:r>
              <a:rPr lang="zh-CN" altLang="en-US" sz="4000" b="1" dirty="0">
                <a:latin typeface="Kaiti SC" panose="02010600040101010101" pitchFamily="2" charset="-122"/>
                <a:ea typeface="Kaiti SC" panose="02010600040101010101" pitchFamily="2" charset="-122"/>
                <a:cs typeface="Kaiti SC" charset="-122"/>
              </a:rPr>
              <a:t>课堂讨论：软件构件、模式与框架都可以被复用，但它们在复用的内容以及方式上有什么区别？</a:t>
            </a:r>
            <a:endParaRPr lang="en-US" altLang="zh-CN" sz="4000" b="1" dirty="0">
              <a:latin typeface="Kaiti SC" panose="02010600040101010101" pitchFamily="2" charset="-122"/>
              <a:ea typeface="Kaiti SC" panose="02010600040101010101" pitchFamily="2" charset="-122"/>
              <a:cs typeface="Kaiti SC" charset="-122"/>
            </a:endParaRPr>
          </a:p>
        </p:txBody>
      </p:sp>
      <p:sp>
        <p:nvSpPr>
          <p:cNvPr id="9" name="矩形 8"/>
          <p:cNvSpPr/>
          <p:nvPr/>
        </p:nvSpPr>
        <p:spPr>
          <a:xfrm>
            <a:off x="78825" y="3620049"/>
            <a:ext cx="9002111" cy="3046988"/>
          </a:xfrm>
          <a:prstGeom prst="rect">
            <a:avLst/>
          </a:prstGeom>
        </p:spPr>
        <p:txBody>
          <a:bodyPr wrap="square">
            <a:spAutoFit/>
          </a:bodyPr>
          <a:lstStyle/>
          <a:p>
            <a:r>
              <a:rPr lang="zh-CN" altLang="en-US" sz="2400" b="1" dirty="0">
                <a:solidFill>
                  <a:srgbClr val="00B050"/>
                </a:solidFill>
                <a:latin typeface="Heiti SC Light" charset="-122"/>
                <a:ea typeface="Heiti SC Light" charset="-122"/>
                <a:cs typeface="Heiti SC Light" charset="-122"/>
              </a:rPr>
              <a:t>软件构件：针对特定功能提供可复用的实现，开发人员在自身已有的实现方案基础上调用构件实现局部功能</a:t>
            </a:r>
            <a:endParaRPr lang="en-US" altLang="zh-CN" sz="2400" b="1" dirty="0">
              <a:solidFill>
                <a:srgbClr val="FF0000"/>
              </a:solidFill>
              <a:latin typeface="Heiti SC Light" charset="-122"/>
              <a:ea typeface="Heiti SC Light" charset="-122"/>
              <a:cs typeface="Heiti SC Light" charset="-122"/>
            </a:endParaRPr>
          </a:p>
          <a:p>
            <a:r>
              <a:rPr lang="zh-CN" altLang="en-US" sz="2400" b="1" dirty="0">
                <a:solidFill>
                  <a:srgbClr val="FF0000"/>
                </a:solidFill>
                <a:latin typeface="Heiti SC Light" charset="-122"/>
                <a:ea typeface="Heiti SC Light" charset="-122"/>
                <a:cs typeface="Heiti SC Light" charset="-122"/>
              </a:rPr>
              <a:t>设计模式：一种抽象的设计思想，往往体现为参考设计方案（如用</a:t>
            </a:r>
            <a:r>
              <a:rPr lang="en-US" altLang="zh-CN" sz="2400" b="1" dirty="0">
                <a:solidFill>
                  <a:srgbClr val="FF0000"/>
                </a:solidFill>
                <a:latin typeface="Heiti SC Light" charset="-122"/>
                <a:ea typeface="Heiti SC Light" charset="-122"/>
                <a:cs typeface="Heiti SC Light" charset="-122"/>
              </a:rPr>
              <a:t>UML</a:t>
            </a:r>
            <a:r>
              <a:rPr lang="zh-CN" altLang="en-US" sz="2400" b="1" dirty="0">
                <a:solidFill>
                  <a:srgbClr val="FF0000"/>
                </a:solidFill>
                <a:latin typeface="Heiti SC Light" charset="-122"/>
                <a:ea typeface="Heiti SC Light" charset="-122"/>
                <a:cs typeface="Heiti SC Light" charset="-122"/>
              </a:rPr>
              <a:t>图表示），本身并没有代码实现，需要针对具体问题、参考其设计思想进行实现</a:t>
            </a:r>
          </a:p>
          <a:p>
            <a:r>
              <a:rPr lang="zh-CN" altLang="en-US" sz="2400" b="1" dirty="0">
                <a:solidFill>
                  <a:schemeClr val="accent5"/>
                </a:solidFill>
                <a:latin typeface="Heiti SC Light" charset="-122"/>
                <a:ea typeface="Heiti SC Light" charset="-122"/>
                <a:cs typeface="Heiti SC Light" charset="-122"/>
              </a:rPr>
              <a:t>软件框架：本身包含相对完整的设计以及核心实现，提供扩展和定制能力，开发人员针对特定应用的实现通过扩展点插入框架中，一般由框架来调用形成完整的应用实现</a:t>
            </a:r>
          </a:p>
        </p:txBody>
      </p:sp>
    </p:spTree>
    <p:extLst>
      <p:ext uri="{BB962C8B-B14F-4D97-AF65-F5344CB8AC3E}">
        <p14:creationId xmlns:p14="http://schemas.microsoft.com/office/powerpoint/2010/main" val="19081390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95706" y="1149191"/>
            <a:ext cx="4704179" cy="4757788"/>
          </a:xfrm>
          <a:prstGeom prst="rect">
            <a:avLst/>
          </a:prstGeom>
        </p:spPr>
      </p:pic>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7571303"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软件构件复用示意（关键词：调用）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6136" y="2439548"/>
            <a:ext cx="3617741" cy="1625855"/>
          </a:xfrm>
          <a:prstGeom prst="rect">
            <a:avLst/>
          </a:prstGeom>
        </p:spPr>
      </p:pic>
      <p:sp>
        <p:nvSpPr>
          <p:cNvPr id="10" name="矩形 9"/>
          <p:cNvSpPr/>
          <p:nvPr/>
        </p:nvSpPr>
        <p:spPr>
          <a:xfrm>
            <a:off x="5178079" y="966160"/>
            <a:ext cx="1037104" cy="436873"/>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p:cNvSpPr/>
          <p:nvPr/>
        </p:nvSpPr>
        <p:spPr>
          <a:xfrm>
            <a:off x="5160403" y="1465574"/>
            <a:ext cx="1037104" cy="436874"/>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b="1" dirty="0">
              <a:solidFill>
                <a:schemeClr val="tx1"/>
              </a:solidFill>
            </a:endParaRPr>
          </a:p>
        </p:txBody>
      </p:sp>
      <p:sp>
        <p:nvSpPr>
          <p:cNvPr id="12" name="矩形 11"/>
          <p:cNvSpPr/>
          <p:nvPr/>
        </p:nvSpPr>
        <p:spPr>
          <a:xfrm>
            <a:off x="6189345" y="966159"/>
            <a:ext cx="2031325" cy="461665"/>
          </a:xfrm>
          <a:prstGeom prst="rect">
            <a:avLst/>
          </a:prstGeom>
        </p:spPr>
        <p:txBody>
          <a:bodyPr wrap="none">
            <a:spAutoFit/>
          </a:bodyPr>
          <a:lstStyle/>
          <a:p>
            <a:r>
              <a:rPr lang="zh-CN" altLang="en-US" sz="2400" dirty="0">
                <a:latin typeface="Heiti SC Medium" pitchFamily="2" charset="-128"/>
                <a:ea typeface="Heiti SC Medium" pitchFamily="2" charset="-128"/>
              </a:rPr>
              <a:t>被复用的部分</a:t>
            </a:r>
          </a:p>
        </p:txBody>
      </p:sp>
      <p:sp>
        <p:nvSpPr>
          <p:cNvPr id="13" name="矩形 12"/>
          <p:cNvSpPr/>
          <p:nvPr/>
        </p:nvSpPr>
        <p:spPr>
          <a:xfrm>
            <a:off x="6189345" y="1465573"/>
            <a:ext cx="2954655" cy="461665"/>
          </a:xfrm>
          <a:prstGeom prst="rect">
            <a:avLst/>
          </a:prstGeom>
        </p:spPr>
        <p:txBody>
          <a:bodyPr wrap="none">
            <a:spAutoFit/>
          </a:bodyPr>
          <a:lstStyle/>
          <a:p>
            <a:r>
              <a:rPr lang="zh-CN" altLang="en-US" sz="2400" dirty="0">
                <a:latin typeface="Heiti SC Medium" pitchFamily="2" charset="-128"/>
                <a:ea typeface="Heiti SC Medium" pitchFamily="2" charset="-128"/>
              </a:rPr>
              <a:t>特定应用实现的部分</a:t>
            </a:r>
          </a:p>
        </p:txBody>
      </p:sp>
      <p:sp>
        <p:nvSpPr>
          <p:cNvPr id="14" name="矩形 13"/>
          <p:cNvSpPr/>
          <p:nvPr/>
        </p:nvSpPr>
        <p:spPr>
          <a:xfrm>
            <a:off x="5266419" y="4008493"/>
            <a:ext cx="3877581" cy="1200329"/>
          </a:xfrm>
          <a:prstGeom prst="rect">
            <a:avLst/>
          </a:prstGeom>
        </p:spPr>
        <p:txBody>
          <a:bodyPr wrap="square">
            <a:spAutoFit/>
          </a:bodyPr>
          <a:lstStyle/>
          <a:p>
            <a:r>
              <a:rPr lang="zh-CN" altLang="en-US" sz="2400" dirty="0">
                <a:latin typeface="Heiti SC Medium" pitchFamily="2" charset="-128"/>
                <a:ea typeface="Heiti SC Medium" pitchFamily="2" charset="-128"/>
                <a:cs typeface="Times New Roman" charset="0"/>
              </a:rPr>
              <a:t>实现具体功能（如邮件发送），有自己的实现并通过接口提供访问</a:t>
            </a:r>
          </a:p>
        </p:txBody>
      </p:sp>
      <p:sp>
        <p:nvSpPr>
          <p:cNvPr id="15" name="矩形 14"/>
          <p:cNvSpPr/>
          <p:nvPr/>
        </p:nvSpPr>
        <p:spPr>
          <a:xfrm>
            <a:off x="4899885" y="5328796"/>
            <a:ext cx="4244115" cy="1384995"/>
          </a:xfrm>
          <a:prstGeom prst="rect">
            <a:avLst/>
          </a:prstGeom>
        </p:spPr>
        <p:txBody>
          <a:bodyPr wrap="square">
            <a:spAutoFit/>
          </a:bodyPr>
          <a:lstStyle/>
          <a:p>
            <a:r>
              <a:rPr lang="zh-CN" altLang="en-US" sz="2800" dirty="0">
                <a:solidFill>
                  <a:srgbClr val="FF0000"/>
                </a:solidFill>
                <a:latin typeface="Heiti SC Medium" pitchFamily="2" charset="-128"/>
                <a:ea typeface="Heiti SC Medium" pitchFamily="2" charset="-128"/>
              </a:rPr>
              <a:t>特定应用实现调用软件构件实现局部功能，构件对系统</a:t>
            </a:r>
            <a:r>
              <a:rPr lang="zh-CN" altLang="en-US" sz="2800">
                <a:solidFill>
                  <a:srgbClr val="FF0000"/>
                </a:solidFill>
                <a:latin typeface="Heiti SC Medium" pitchFamily="2" charset="-128"/>
                <a:ea typeface="Heiti SC Medium" pitchFamily="2" charset="-128"/>
              </a:rPr>
              <a:t>整体设计影响不大</a:t>
            </a:r>
            <a:endParaRPr lang="zh-CN" altLang="en-US" sz="2800" dirty="0">
              <a:solidFill>
                <a:srgbClr val="FF0000"/>
              </a:solidFill>
              <a:latin typeface="Heiti SC Medium" pitchFamily="2" charset="-128"/>
              <a:ea typeface="Heiti SC Medium" pitchFamily="2" charset="-128"/>
            </a:endParaRPr>
          </a:p>
        </p:txBody>
      </p:sp>
      <p:sp>
        <p:nvSpPr>
          <p:cNvPr id="16" name="矩形 15"/>
          <p:cNvSpPr/>
          <p:nvPr/>
        </p:nvSpPr>
        <p:spPr>
          <a:xfrm>
            <a:off x="0" y="6016654"/>
            <a:ext cx="5178079" cy="523220"/>
          </a:xfrm>
          <a:prstGeom prst="rect">
            <a:avLst/>
          </a:prstGeom>
        </p:spPr>
        <p:txBody>
          <a:bodyPr wrap="square">
            <a:spAutoFit/>
          </a:bodyPr>
          <a:lstStyle/>
          <a:p>
            <a:pPr algn="ctr"/>
            <a:r>
              <a:rPr lang="zh-CN" altLang="en-US" sz="2800" dirty="0">
                <a:solidFill>
                  <a:srgbClr val="FF0000"/>
                </a:solidFill>
                <a:latin typeface="Heiti SC Medium" pitchFamily="2" charset="-128"/>
                <a:ea typeface="Heiti SC Medium" pitchFamily="2" charset="-128"/>
                <a:cs typeface="Times New Roman" charset="0"/>
              </a:rPr>
              <a:t>特定应用实现</a:t>
            </a:r>
          </a:p>
        </p:txBody>
      </p:sp>
      <p:sp>
        <p:nvSpPr>
          <p:cNvPr id="17" name="矩形 16"/>
          <p:cNvSpPr/>
          <p:nvPr/>
        </p:nvSpPr>
        <p:spPr>
          <a:xfrm>
            <a:off x="5533617" y="1979392"/>
            <a:ext cx="3312469" cy="523220"/>
          </a:xfrm>
          <a:prstGeom prst="rect">
            <a:avLst/>
          </a:prstGeom>
        </p:spPr>
        <p:txBody>
          <a:bodyPr wrap="square">
            <a:spAutoFit/>
          </a:bodyPr>
          <a:lstStyle/>
          <a:p>
            <a:pPr algn="ctr"/>
            <a:r>
              <a:rPr lang="zh-CN" altLang="en-US" sz="2800" dirty="0">
                <a:solidFill>
                  <a:srgbClr val="FF0000"/>
                </a:solidFill>
                <a:latin typeface="Heiti SC Medium" pitchFamily="2" charset="-128"/>
                <a:ea typeface="Heiti SC Medium" pitchFamily="2" charset="-128"/>
                <a:cs typeface="Times New Roman" charset="0"/>
              </a:rPr>
              <a:t>可复用的软件构件</a:t>
            </a:r>
          </a:p>
        </p:txBody>
      </p:sp>
      <p:sp>
        <p:nvSpPr>
          <p:cNvPr id="18" name="矩形 17"/>
          <p:cNvSpPr/>
          <p:nvPr/>
        </p:nvSpPr>
        <p:spPr>
          <a:xfrm>
            <a:off x="5257034" y="2031390"/>
            <a:ext cx="3747458" cy="2047921"/>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 name="直线箭头连接符 6"/>
          <p:cNvCxnSpPr>
            <a:endCxn id="4" idx="1"/>
          </p:cNvCxnSpPr>
          <p:nvPr/>
        </p:nvCxnSpPr>
        <p:spPr>
          <a:xfrm>
            <a:off x="4460991" y="3247697"/>
            <a:ext cx="935145"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200423" y="1083004"/>
            <a:ext cx="4746760" cy="4933649"/>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b="1" dirty="0">
              <a:solidFill>
                <a:schemeClr val="tx1"/>
              </a:solidFill>
            </a:endParaRPr>
          </a:p>
        </p:txBody>
      </p:sp>
    </p:spTree>
    <p:extLst>
      <p:ext uri="{BB962C8B-B14F-4D97-AF65-F5344CB8AC3E}">
        <p14:creationId xmlns:p14="http://schemas.microsoft.com/office/powerpoint/2010/main" val="6840383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linds(horizontal)">
                                      <p:cBhvr>
                                        <p:cTn id="20" dur="500"/>
                                        <p:tgtEl>
                                          <p:spTgt spid="18"/>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blinds(horizontal)">
                                      <p:cBhvr>
                                        <p:cTn id="24" dur="500"/>
                                        <p:tgtEl>
                                          <p:spTgt spid="27"/>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500"/>
                                        <p:tgtEl>
                                          <p:spTgt spid="7"/>
                                        </p:tgtEl>
                                      </p:cBhvr>
                                    </p:animEffect>
                                  </p:childTnLst>
                                </p:cTn>
                              </p:par>
                            </p:childTnLst>
                          </p:cTn>
                        </p:par>
                        <p:par>
                          <p:cTn id="29" fill="hold">
                            <p:stCondLst>
                              <p:cond delay="1500"/>
                            </p:stCondLst>
                            <p:childTnLst>
                              <p:par>
                                <p:cTn id="30" presetID="3" presetClass="entr" presetSubtype="10"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8" grpId="0" animBg="1"/>
      <p:bldP spid="2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EF562B2A-BF7B-73F0-B455-CEF53ADC58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882" y="1180076"/>
            <a:ext cx="4451675" cy="2572079"/>
          </a:xfrm>
          <a:prstGeom prst="rect">
            <a:avLst/>
          </a:prstGeom>
          <a:noFill/>
          <a:ln>
            <a:noFill/>
          </a:ln>
        </p:spPr>
      </p:pic>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8032968" cy="1532727"/>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设计模式复用示意（关键词：实例化）</a:t>
            </a:r>
            <a:endParaRPr lang="en-US" altLang="zh-CN" sz="3600" b="1" dirty="0">
              <a:solidFill>
                <a:schemeClr val="bg1"/>
              </a:solidFill>
              <a:latin typeface="微软雅黑" panose="020B0503020204020204" pitchFamily="34" charset="-122"/>
              <a:ea typeface="微软雅黑" panose="020B0503020204020204" pitchFamily="34" charset="-122"/>
            </a:endParaRPr>
          </a:p>
          <a:p>
            <a:pPr>
              <a:lnSpc>
                <a:spcPct val="130000"/>
              </a:lnSpc>
            </a:pP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23731"/>
            <a:ext cx="5785945" cy="2508591"/>
          </a:xfrm>
          <a:prstGeom prst="rect">
            <a:avLst/>
          </a:prstGeom>
        </p:spPr>
      </p:pic>
      <p:sp>
        <p:nvSpPr>
          <p:cNvPr id="7" name="矩形 6"/>
          <p:cNvSpPr/>
          <p:nvPr/>
        </p:nvSpPr>
        <p:spPr>
          <a:xfrm>
            <a:off x="92655" y="3196330"/>
            <a:ext cx="1620957" cy="523220"/>
          </a:xfrm>
          <a:prstGeom prst="rect">
            <a:avLst/>
          </a:prstGeom>
        </p:spPr>
        <p:txBody>
          <a:bodyPr wrap="none">
            <a:spAutoFit/>
          </a:bodyPr>
          <a:lstStyle/>
          <a:p>
            <a:pPr algn="ctr"/>
            <a:r>
              <a:rPr lang="zh-CN" altLang="en-US" sz="2800" b="1" dirty="0">
                <a:solidFill>
                  <a:srgbClr val="FF0000"/>
                </a:solidFill>
                <a:latin typeface="HEITI SC MEDIUM" pitchFamily="2" charset="-128"/>
                <a:ea typeface="HEITI SC MEDIUM" pitchFamily="2" charset="-128"/>
                <a:cs typeface="Times New Roman" charset="0"/>
              </a:rPr>
              <a:t>组合模式</a:t>
            </a:r>
          </a:p>
        </p:txBody>
      </p:sp>
      <p:sp>
        <p:nvSpPr>
          <p:cNvPr id="10" name="矩形 9"/>
          <p:cNvSpPr/>
          <p:nvPr/>
        </p:nvSpPr>
        <p:spPr>
          <a:xfrm>
            <a:off x="4555747" y="1912614"/>
            <a:ext cx="4588253" cy="1569660"/>
          </a:xfrm>
          <a:prstGeom prst="rect">
            <a:avLst/>
          </a:prstGeom>
        </p:spPr>
        <p:txBody>
          <a:bodyPr wrap="square">
            <a:spAutoFit/>
          </a:bodyPr>
          <a:lstStyle/>
          <a:p>
            <a:r>
              <a:rPr lang="zh-CN" altLang="en-US" sz="2400" dirty="0">
                <a:latin typeface="Heiti SC Medium" pitchFamily="2" charset="-128"/>
                <a:ea typeface="Heiti SC Medium" pitchFamily="2" charset="-128"/>
                <a:cs typeface="Times New Roman" charset="0"/>
              </a:rPr>
              <a:t>反映的是抽象的设计思想，且只关注于某个局部设计问题，其中的类都是与特定应用无关的抽象角色，没有实现代码</a:t>
            </a:r>
          </a:p>
        </p:txBody>
      </p:sp>
      <p:sp>
        <p:nvSpPr>
          <p:cNvPr id="11" name="矩形 10"/>
          <p:cNvSpPr/>
          <p:nvPr/>
        </p:nvSpPr>
        <p:spPr>
          <a:xfrm>
            <a:off x="23398" y="6334780"/>
            <a:ext cx="6112810" cy="523220"/>
          </a:xfrm>
          <a:prstGeom prst="rect">
            <a:avLst/>
          </a:prstGeom>
        </p:spPr>
        <p:txBody>
          <a:bodyPr wrap="square">
            <a:spAutoFit/>
          </a:bodyPr>
          <a:lstStyle/>
          <a:p>
            <a:pPr algn="ctr"/>
            <a:r>
              <a:rPr lang="zh-CN" altLang="en-US" sz="2800" dirty="0">
                <a:solidFill>
                  <a:srgbClr val="FF0000"/>
                </a:solidFill>
                <a:latin typeface="Heiti SC Medium" pitchFamily="2" charset="-128"/>
                <a:ea typeface="Heiti SC Medium" pitchFamily="2" charset="-128"/>
                <a:cs typeface="Times New Roman" charset="0"/>
              </a:rPr>
              <a:t>应用了组合模式的一个设计实例</a:t>
            </a:r>
          </a:p>
        </p:txBody>
      </p:sp>
      <p:sp>
        <p:nvSpPr>
          <p:cNvPr id="12" name="矩形 11"/>
          <p:cNvSpPr/>
          <p:nvPr/>
        </p:nvSpPr>
        <p:spPr>
          <a:xfrm>
            <a:off x="5813367" y="5178026"/>
            <a:ext cx="3488293" cy="1569660"/>
          </a:xfrm>
          <a:prstGeom prst="rect">
            <a:avLst/>
          </a:prstGeom>
        </p:spPr>
        <p:txBody>
          <a:bodyPr wrap="square">
            <a:spAutoFit/>
          </a:bodyPr>
          <a:lstStyle/>
          <a:p>
            <a:r>
              <a:rPr lang="zh-CN" altLang="en-US" sz="2400" dirty="0">
                <a:latin typeface="Heiti SC Medium" pitchFamily="2" charset="-128"/>
                <a:ea typeface="Heiti SC Medium" pitchFamily="2" charset="-128"/>
                <a:cs typeface="Times New Roman" charset="0"/>
              </a:rPr>
              <a:t>基于设计模式的实例化实现，其中的类都是针对特定应用的设计类，存在对应的实现代码</a:t>
            </a:r>
          </a:p>
        </p:txBody>
      </p:sp>
      <p:sp>
        <p:nvSpPr>
          <p:cNvPr id="13" name="矩形 12"/>
          <p:cNvSpPr/>
          <p:nvPr/>
        </p:nvSpPr>
        <p:spPr>
          <a:xfrm>
            <a:off x="4828413" y="968821"/>
            <a:ext cx="1037104" cy="436873"/>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4810737" y="1468235"/>
            <a:ext cx="1037104" cy="436874"/>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b="1" dirty="0">
              <a:solidFill>
                <a:schemeClr val="tx1"/>
              </a:solidFill>
            </a:endParaRPr>
          </a:p>
        </p:txBody>
      </p:sp>
      <p:sp>
        <p:nvSpPr>
          <p:cNvPr id="15" name="矩形 14"/>
          <p:cNvSpPr/>
          <p:nvPr/>
        </p:nvSpPr>
        <p:spPr>
          <a:xfrm>
            <a:off x="5839679" y="968820"/>
            <a:ext cx="2031325" cy="461665"/>
          </a:xfrm>
          <a:prstGeom prst="rect">
            <a:avLst/>
          </a:prstGeom>
        </p:spPr>
        <p:txBody>
          <a:bodyPr wrap="none">
            <a:spAutoFit/>
          </a:bodyPr>
          <a:lstStyle/>
          <a:p>
            <a:r>
              <a:rPr lang="zh-CN" altLang="en-US" sz="2400" dirty="0">
                <a:latin typeface="Heiti SC Medium" pitchFamily="2" charset="-128"/>
                <a:ea typeface="Heiti SC Medium" pitchFamily="2" charset="-128"/>
              </a:rPr>
              <a:t>被复用的部分</a:t>
            </a:r>
          </a:p>
        </p:txBody>
      </p:sp>
      <p:sp>
        <p:nvSpPr>
          <p:cNvPr id="16" name="矩形 15"/>
          <p:cNvSpPr/>
          <p:nvPr/>
        </p:nvSpPr>
        <p:spPr>
          <a:xfrm>
            <a:off x="5839679" y="1468234"/>
            <a:ext cx="2954655" cy="461665"/>
          </a:xfrm>
          <a:prstGeom prst="rect">
            <a:avLst/>
          </a:prstGeom>
        </p:spPr>
        <p:txBody>
          <a:bodyPr wrap="none">
            <a:spAutoFit/>
          </a:bodyPr>
          <a:lstStyle/>
          <a:p>
            <a:r>
              <a:rPr lang="zh-CN" altLang="en-US" sz="2400" dirty="0">
                <a:latin typeface="Heiti SC Medium" pitchFamily="2" charset="-128"/>
                <a:ea typeface="Heiti SC Medium" pitchFamily="2" charset="-128"/>
              </a:rPr>
              <a:t>特定应用实现的部分</a:t>
            </a:r>
          </a:p>
        </p:txBody>
      </p:sp>
      <p:sp>
        <p:nvSpPr>
          <p:cNvPr id="17" name="矩形 16"/>
          <p:cNvSpPr/>
          <p:nvPr/>
        </p:nvSpPr>
        <p:spPr>
          <a:xfrm>
            <a:off x="8974" y="1093379"/>
            <a:ext cx="4582613" cy="2745472"/>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p:cNvSpPr/>
          <p:nvPr/>
        </p:nvSpPr>
        <p:spPr>
          <a:xfrm>
            <a:off x="11698" y="3902968"/>
            <a:ext cx="5762548" cy="2494915"/>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b="1" dirty="0">
              <a:solidFill>
                <a:schemeClr val="tx1"/>
              </a:solidFill>
            </a:endParaRPr>
          </a:p>
        </p:txBody>
      </p:sp>
      <p:sp>
        <p:nvSpPr>
          <p:cNvPr id="19" name="矩形 18"/>
          <p:cNvSpPr/>
          <p:nvPr/>
        </p:nvSpPr>
        <p:spPr>
          <a:xfrm>
            <a:off x="5874857" y="3446740"/>
            <a:ext cx="3488293" cy="1569660"/>
          </a:xfrm>
          <a:prstGeom prst="rect">
            <a:avLst/>
          </a:prstGeom>
        </p:spPr>
        <p:txBody>
          <a:bodyPr wrap="square">
            <a:spAutoFit/>
          </a:bodyPr>
          <a:lstStyle/>
          <a:p>
            <a:r>
              <a:rPr lang="zh-CN" altLang="en-US" sz="2400" dirty="0">
                <a:solidFill>
                  <a:srgbClr val="FF0000"/>
                </a:solidFill>
                <a:latin typeface="Heiti SC Medium" pitchFamily="2" charset="-128"/>
                <a:ea typeface="Heiti SC Medium" pitchFamily="2" charset="-128"/>
              </a:rPr>
              <a:t>特定应用实现对设计模式中的角色及其关系进行实例化，得到特定</a:t>
            </a:r>
            <a:r>
              <a:rPr lang="zh-CN" altLang="en-US" sz="2400">
                <a:solidFill>
                  <a:srgbClr val="FF0000"/>
                </a:solidFill>
                <a:latin typeface="Heiti SC Medium" pitchFamily="2" charset="-128"/>
                <a:ea typeface="Heiti SC Medium" pitchFamily="2" charset="-128"/>
              </a:rPr>
              <a:t>用的设计和实现</a:t>
            </a:r>
            <a:endParaRPr lang="zh-CN" altLang="en-US" sz="2400" dirty="0">
              <a:solidFill>
                <a:srgbClr val="FF0000"/>
              </a:solidFill>
              <a:latin typeface="Heiti SC Medium" pitchFamily="2" charset="-128"/>
              <a:ea typeface="Heiti SC Medium" pitchFamily="2" charset="-128"/>
            </a:endParaRPr>
          </a:p>
        </p:txBody>
      </p:sp>
    </p:spTree>
    <p:extLst>
      <p:ext uri="{BB962C8B-B14F-4D97-AF65-F5344CB8AC3E}">
        <p14:creationId xmlns:p14="http://schemas.microsoft.com/office/powerpoint/2010/main" val="5341288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linds(horizontal)">
                                      <p:cBhvr>
                                        <p:cTn id="25" dur="500"/>
                                        <p:tgtEl>
                                          <p:spTgt spid="17"/>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linds(horizontal)">
                                      <p:cBhvr>
                                        <p:cTn id="29" dur="500"/>
                                        <p:tgtEl>
                                          <p:spTgt spid="18"/>
                                        </p:tgtEl>
                                      </p:cBhvr>
                                    </p:animEffect>
                                  </p:childTnLst>
                                </p:cTn>
                              </p:par>
                            </p:childTnLst>
                          </p:cTn>
                        </p:par>
                        <p:par>
                          <p:cTn id="30" fill="hold">
                            <p:stCondLst>
                              <p:cond delay="1000"/>
                            </p:stCondLst>
                            <p:childTnLst>
                              <p:par>
                                <p:cTn id="31" presetID="3" presetClass="entr" presetSubtype="1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7" grpId="0" animBg="1"/>
      <p:bldP spid="18"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7571303" cy="1532727"/>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软件框架复用示意（关键词：扩展）</a:t>
            </a:r>
            <a:endParaRPr lang="en-US" altLang="zh-CN" sz="3600" b="1" dirty="0">
              <a:solidFill>
                <a:schemeClr val="bg1"/>
              </a:solidFill>
              <a:latin typeface="微软雅黑" panose="020B0503020204020204" pitchFamily="34" charset="-122"/>
              <a:ea typeface="微软雅黑" panose="020B0503020204020204" pitchFamily="34" charset="-122"/>
            </a:endParaRPr>
          </a:p>
          <a:p>
            <a:pPr>
              <a:lnSpc>
                <a:spcPct val="130000"/>
              </a:lnSpc>
            </a:pP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410" y="910044"/>
            <a:ext cx="8222292" cy="3838028"/>
          </a:xfrm>
          <a:prstGeom prst="rect">
            <a:avLst/>
          </a:prstGeom>
        </p:spPr>
      </p:pic>
      <p:sp>
        <p:nvSpPr>
          <p:cNvPr id="10" name="矩形 9"/>
          <p:cNvSpPr/>
          <p:nvPr/>
        </p:nvSpPr>
        <p:spPr>
          <a:xfrm>
            <a:off x="1311455" y="910044"/>
            <a:ext cx="1880643" cy="523220"/>
          </a:xfrm>
          <a:prstGeom prst="rect">
            <a:avLst/>
          </a:prstGeom>
        </p:spPr>
        <p:txBody>
          <a:bodyPr wrap="none">
            <a:spAutoFit/>
          </a:bodyPr>
          <a:lstStyle/>
          <a:p>
            <a:pPr algn="ctr"/>
            <a:r>
              <a:rPr lang="en-US" altLang="zh-CN" sz="2800" dirty="0" err="1">
                <a:solidFill>
                  <a:srgbClr val="FF0000"/>
                </a:solidFill>
                <a:latin typeface="Heiti SC Medium" pitchFamily="2" charset="-128"/>
                <a:ea typeface="Heiti SC Medium" pitchFamily="2" charset="-128"/>
                <a:cs typeface="Times New Roman" charset="0"/>
              </a:rPr>
              <a:t>JHotDraw</a:t>
            </a:r>
            <a:endParaRPr lang="zh-CN" altLang="en-US" sz="2800" dirty="0">
              <a:solidFill>
                <a:srgbClr val="FF0000"/>
              </a:solidFill>
              <a:latin typeface="Heiti SC Medium" pitchFamily="2" charset="-128"/>
              <a:ea typeface="Heiti SC Medium" pitchFamily="2" charset="-128"/>
              <a:cs typeface="Times New Roman" charset="0"/>
            </a:endParaRPr>
          </a:p>
        </p:txBody>
      </p:sp>
      <p:sp>
        <p:nvSpPr>
          <p:cNvPr id="11" name="矩形 10"/>
          <p:cNvSpPr/>
          <p:nvPr/>
        </p:nvSpPr>
        <p:spPr>
          <a:xfrm>
            <a:off x="448966" y="947020"/>
            <a:ext cx="8379952" cy="3744000"/>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488410" y="1433264"/>
            <a:ext cx="3057247" cy="954107"/>
          </a:xfrm>
          <a:prstGeom prst="rect">
            <a:avLst/>
          </a:prstGeom>
        </p:spPr>
        <p:txBody>
          <a:bodyPr wrap="none">
            <a:spAutoFit/>
          </a:bodyPr>
          <a:lstStyle/>
          <a:p>
            <a:pPr algn="ctr"/>
            <a:r>
              <a:rPr lang="zh-CN" altLang="en-US" sz="2800" dirty="0">
                <a:latin typeface="Heiti SC Medium" pitchFamily="2" charset="-128"/>
                <a:ea typeface="Heiti SC Medium" pitchFamily="2" charset="-128"/>
                <a:cs typeface="Times New Roman" charset="0"/>
              </a:rPr>
              <a:t>相对完整的设计，</a:t>
            </a:r>
          </a:p>
          <a:p>
            <a:pPr algn="ctr"/>
            <a:r>
              <a:rPr lang="zh-CN" altLang="en-US" sz="2800" dirty="0">
                <a:latin typeface="Heiti SC Medium" pitchFamily="2" charset="-128"/>
                <a:ea typeface="Heiti SC Medium" pitchFamily="2" charset="-128"/>
                <a:cs typeface="Times New Roman" charset="0"/>
              </a:rPr>
              <a:t>有自己的实现代码</a:t>
            </a:r>
          </a:p>
        </p:txBody>
      </p:sp>
      <p:sp>
        <p:nvSpPr>
          <p:cNvPr id="2" name="矩形 1"/>
          <p:cNvSpPr/>
          <p:nvPr/>
        </p:nvSpPr>
        <p:spPr>
          <a:xfrm>
            <a:off x="314984" y="5028987"/>
            <a:ext cx="2538569" cy="562558"/>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dirty="0" err="1">
                <a:solidFill>
                  <a:schemeClr val="tx1"/>
                </a:solidFill>
              </a:rPr>
              <a:t>MyApplicationModel</a:t>
            </a:r>
            <a:endParaRPr kumimoji="1" lang="zh-CN" altLang="en-US" sz="2000" b="1" dirty="0">
              <a:solidFill>
                <a:schemeClr val="tx1"/>
              </a:solidFill>
            </a:endParaRPr>
          </a:p>
        </p:txBody>
      </p:sp>
      <p:sp>
        <p:nvSpPr>
          <p:cNvPr id="13" name="矩形 12"/>
          <p:cNvSpPr/>
          <p:nvPr/>
        </p:nvSpPr>
        <p:spPr>
          <a:xfrm>
            <a:off x="7392419" y="4997455"/>
            <a:ext cx="1057900" cy="562558"/>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dirty="0" err="1">
                <a:solidFill>
                  <a:schemeClr val="tx1"/>
                </a:solidFill>
              </a:rPr>
              <a:t>MyView</a:t>
            </a:r>
            <a:endParaRPr kumimoji="1" lang="zh-CN" altLang="en-US" sz="2000" b="1" dirty="0">
              <a:solidFill>
                <a:schemeClr val="tx1"/>
              </a:solidFill>
            </a:endParaRPr>
          </a:p>
        </p:txBody>
      </p:sp>
      <p:cxnSp>
        <p:nvCxnSpPr>
          <p:cNvPr id="5" name="直线箭头连接符 4"/>
          <p:cNvCxnSpPr/>
          <p:nvPr/>
        </p:nvCxnSpPr>
        <p:spPr>
          <a:xfrm flipH="1">
            <a:off x="1584269" y="3670891"/>
            <a:ext cx="0" cy="136800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22" name="组 21"/>
          <p:cNvGrpSpPr/>
          <p:nvPr/>
        </p:nvGrpSpPr>
        <p:grpSpPr>
          <a:xfrm>
            <a:off x="1458147" y="3446870"/>
            <a:ext cx="268014" cy="210170"/>
            <a:chOff x="5439103" y="5323527"/>
            <a:chExt cx="1715251" cy="914400"/>
          </a:xfrm>
        </p:grpSpPr>
        <p:cxnSp>
          <p:nvCxnSpPr>
            <p:cNvPr id="14" name="直线箭头连接符 13"/>
            <p:cNvCxnSpPr/>
            <p:nvPr/>
          </p:nvCxnSpPr>
          <p:spPr>
            <a:xfrm>
              <a:off x="6239954" y="5323527"/>
              <a:ext cx="914400" cy="91440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直线箭头连接符 14"/>
            <p:cNvCxnSpPr/>
            <p:nvPr/>
          </p:nvCxnSpPr>
          <p:spPr>
            <a:xfrm flipV="1">
              <a:off x="5439103" y="6229614"/>
              <a:ext cx="1715251" cy="831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p:nvPr/>
          </p:nvCxnSpPr>
          <p:spPr>
            <a:xfrm flipV="1">
              <a:off x="5447416" y="5323528"/>
              <a:ext cx="809164" cy="914399"/>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a:xfrm rot="-5400000">
            <a:off x="7969470" y="2432059"/>
            <a:ext cx="268014" cy="210170"/>
            <a:chOff x="5439103" y="5323527"/>
            <a:chExt cx="1715251" cy="914400"/>
          </a:xfrm>
        </p:grpSpPr>
        <p:cxnSp>
          <p:nvCxnSpPr>
            <p:cNvPr id="27" name="直线箭头连接符 26"/>
            <p:cNvCxnSpPr/>
            <p:nvPr/>
          </p:nvCxnSpPr>
          <p:spPr>
            <a:xfrm>
              <a:off x="6239954" y="5323527"/>
              <a:ext cx="914400" cy="91440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直线箭头连接符 27"/>
            <p:cNvCxnSpPr/>
            <p:nvPr/>
          </p:nvCxnSpPr>
          <p:spPr>
            <a:xfrm flipV="1">
              <a:off x="5439103" y="6229614"/>
              <a:ext cx="1715251" cy="831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直线箭头连接符 28"/>
            <p:cNvCxnSpPr/>
            <p:nvPr/>
          </p:nvCxnSpPr>
          <p:spPr>
            <a:xfrm flipV="1">
              <a:off x="5447416" y="5323528"/>
              <a:ext cx="809164" cy="914399"/>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30" name="直线箭头连接符 29"/>
          <p:cNvCxnSpPr/>
          <p:nvPr/>
        </p:nvCxnSpPr>
        <p:spPr>
          <a:xfrm flipH="1">
            <a:off x="8206652" y="2530250"/>
            <a:ext cx="756248" cy="1"/>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直线箭头连接符 35"/>
          <p:cNvCxnSpPr/>
          <p:nvPr/>
        </p:nvCxnSpPr>
        <p:spPr>
          <a:xfrm flipH="1" flipV="1">
            <a:off x="8458900" y="5268200"/>
            <a:ext cx="50400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线箭头连接符 36"/>
          <p:cNvCxnSpPr/>
          <p:nvPr/>
        </p:nvCxnSpPr>
        <p:spPr>
          <a:xfrm>
            <a:off x="8947134" y="2530250"/>
            <a:ext cx="0" cy="273600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975171" y="6235950"/>
            <a:ext cx="1037104" cy="436873"/>
          </a:xfrm>
          <a:prstGeom prst="rect">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p:cNvSpPr/>
          <p:nvPr/>
        </p:nvSpPr>
        <p:spPr>
          <a:xfrm>
            <a:off x="4333238" y="6235949"/>
            <a:ext cx="1037104" cy="436874"/>
          </a:xfrm>
          <a:prstGeom prst="rect">
            <a:avLst/>
          </a:prstGeom>
          <a:solidFill>
            <a:srgbClr val="FF000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b="1" dirty="0">
              <a:solidFill>
                <a:schemeClr val="tx1"/>
              </a:solidFill>
            </a:endParaRPr>
          </a:p>
        </p:txBody>
      </p:sp>
      <p:sp>
        <p:nvSpPr>
          <p:cNvPr id="46" name="矩形 45"/>
          <p:cNvSpPr/>
          <p:nvPr/>
        </p:nvSpPr>
        <p:spPr>
          <a:xfrm>
            <a:off x="1986437" y="6235949"/>
            <a:ext cx="2031325" cy="461665"/>
          </a:xfrm>
          <a:prstGeom prst="rect">
            <a:avLst/>
          </a:prstGeom>
        </p:spPr>
        <p:txBody>
          <a:bodyPr wrap="none">
            <a:spAutoFit/>
          </a:bodyPr>
          <a:lstStyle/>
          <a:p>
            <a:r>
              <a:rPr lang="zh-CN" altLang="en-US" sz="2400" dirty="0">
                <a:latin typeface="Heiti SC Medium" pitchFamily="2" charset="-128"/>
                <a:ea typeface="Heiti SC Medium" pitchFamily="2" charset="-128"/>
              </a:rPr>
              <a:t>被复用的部分</a:t>
            </a:r>
          </a:p>
        </p:txBody>
      </p:sp>
      <p:sp>
        <p:nvSpPr>
          <p:cNvPr id="47" name="矩形 46"/>
          <p:cNvSpPr/>
          <p:nvPr/>
        </p:nvSpPr>
        <p:spPr>
          <a:xfrm>
            <a:off x="5362180" y="6235948"/>
            <a:ext cx="2954655" cy="461665"/>
          </a:xfrm>
          <a:prstGeom prst="rect">
            <a:avLst/>
          </a:prstGeom>
        </p:spPr>
        <p:txBody>
          <a:bodyPr wrap="none">
            <a:spAutoFit/>
          </a:bodyPr>
          <a:lstStyle/>
          <a:p>
            <a:r>
              <a:rPr lang="zh-CN" altLang="en-US" sz="2400" dirty="0">
                <a:latin typeface="Heiti SC Medium" pitchFamily="2" charset="-128"/>
                <a:ea typeface="Heiti SC Medium" pitchFamily="2" charset="-128"/>
              </a:rPr>
              <a:t>特定应用实现的部分</a:t>
            </a:r>
          </a:p>
        </p:txBody>
      </p:sp>
      <p:sp>
        <p:nvSpPr>
          <p:cNvPr id="48" name="矩形 47"/>
          <p:cNvSpPr/>
          <p:nvPr/>
        </p:nvSpPr>
        <p:spPr>
          <a:xfrm>
            <a:off x="2838496" y="4742115"/>
            <a:ext cx="4569689" cy="1200329"/>
          </a:xfrm>
          <a:prstGeom prst="rect">
            <a:avLst/>
          </a:prstGeom>
        </p:spPr>
        <p:txBody>
          <a:bodyPr wrap="square">
            <a:spAutoFit/>
          </a:bodyPr>
          <a:lstStyle/>
          <a:p>
            <a:r>
              <a:rPr lang="zh-CN" altLang="en-US" sz="2400" dirty="0">
                <a:solidFill>
                  <a:srgbClr val="FF0000"/>
                </a:solidFill>
                <a:latin typeface="Heiti SC Medium" pitchFamily="2" charset="-128"/>
                <a:ea typeface="Heiti SC Medium" pitchFamily="2" charset="-128"/>
              </a:rPr>
              <a:t>特定应用通过框架的扩展点（如抽象、接口）扩展特定应用的实现，最终于框架实现融为一体</a:t>
            </a:r>
          </a:p>
        </p:txBody>
      </p:sp>
    </p:spTree>
    <p:extLst>
      <p:ext uri="{BB962C8B-B14F-4D97-AF65-F5344CB8AC3E}">
        <p14:creationId xmlns:p14="http://schemas.microsoft.com/office/powerpoint/2010/main" val="10483365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blinds(horizontal)">
                                      <p:cBhvr>
                                        <p:cTn id="13" dur="500"/>
                                        <p:tgtEl>
                                          <p:spTgt spid="37"/>
                                        </p:tgtEl>
                                      </p:cBhvr>
                                    </p:animEffect>
                                  </p:childTnLst>
                                </p:cTn>
                              </p:par>
                              <p:par>
                                <p:cTn id="14" presetID="3" presetClass="entr" presetSubtype="1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linds(horizontal)">
                                      <p:cBhvr>
                                        <p:cTn id="16" dur="500"/>
                                        <p:tgtEl>
                                          <p:spTgt spid="30"/>
                                        </p:tgtEl>
                                      </p:cBhvr>
                                    </p:animEffect>
                                  </p:childTnLst>
                                </p:cTn>
                              </p:par>
                              <p:par>
                                <p:cTn id="17" presetID="3" presetClass="entr" presetSubtype="1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blinds(horizontal)">
                                      <p:cBhvr>
                                        <p:cTn id="19" dur="500"/>
                                        <p:tgtEl>
                                          <p:spTgt spid="36"/>
                                        </p:tgtEl>
                                      </p:cBhvr>
                                    </p:animEffect>
                                  </p:childTnLst>
                                </p:cTn>
                              </p:par>
                              <p:par>
                                <p:cTn id="20" presetID="3" presetClass="entr" presetSubtype="1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linds(horizontal)">
                                      <p:cBhvr>
                                        <p:cTn id="22" dur="500"/>
                                        <p:tgtEl>
                                          <p:spTgt spid="26"/>
                                        </p:tgtEl>
                                      </p:cBhvr>
                                    </p:animEffect>
                                  </p:childTnLst>
                                </p:cTn>
                              </p:par>
                              <p:par>
                                <p:cTn id="23" presetID="3" presetClass="entr" presetSubtype="1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linds(horizontal)">
                                      <p:cBhvr>
                                        <p:cTn id="25" dur="500"/>
                                        <p:tgtEl>
                                          <p:spTgt spid="22"/>
                                        </p:tgtEl>
                                      </p:cBhvr>
                                    </p:animEffect>
                                  </p:childTnLst>
                                </p:cTn>
                              </p:par>
                              <p:par>
                                <p:cTn id="26" presetID="3" presetClass="entr" presetSubtype="1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linds(horizontal)">
                                      <p:cBhvr>
                                        <p:cTn id="33" dur="500"/>
                                        <p:tgtEl>
                                          <p:spTgt spid="11"/>
                                        </p:tgtEl>
                                      </p:cBhvr>
                                    </p:animEffect>
                                  </p:childTnLst>
                                </p:cTn>
                              </p:par>
                            </p:childTnLst>
                          </p:cTn>
                        </p:par>
                        <p:par>
                          <p:cTn id="34" fill="hold">
                            <p:stCondLst>
                              <p:cond delay="500"/>
                            </p:stCondLst>
                            <p:childTnLst>
                              <p:par>
                                <p:cTn id="35" presetID="3" presetClass="entr" presetSubtype="10" fill="hold" grpId="0" nodeType="after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blinds(horizontal)">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13" grpId="0" animBg="1"/>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341632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平台级软件复用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816977"/>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400" dirty="0">
                <a:latin typeface="Kaiti SC" charset="-122"/>
                <a:ea typeface="Kaiti SC" charset="-122"/>
              </a:rPr>
              <a:t>主要目的不仅包括获得特定功能和特性的实现以及整体框架支持，还包括获得软件应用的部署和运行支撑</a:t>
            </a:r>
            <a:endParaRPr lang="en-US" altLang="zh-CN" sz="3400" dirty="0">
              <a:latin typeface="Kaiti SC" charset="-122"/>
              <a:ea typeface="Kaiti SC" charset="-122"/>
            </a:endParaRPr>
          </a:p>
          <a:p>
            <a:pPr marL="285750" lvl="1" indent="-285750">
              <a:buFont typeface="Arial" panose="020B0604020202020204" pitchFamily="34" charset="0"/>
              <a:buChar char="•"/>
            </a:pPr>
            <a:r>
              <a:rPr lang="zh-CN" altLang="en-US" sz="3400" dirty="0">
                <a:latin typeface="Kaiti SC" charset="-122"/>
                <a:ea typeface="Kaiti SC" charset="-122"/>
              </a:rPr>
              <a:t>以小程序等形式支持应用开发、部署和运行</a:t>
            </a:r>
            <a:endParaRPr lang="en-US" altLang="zh-CN" sz="34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平台为应用开发提供了整体开发框架以及相应的开发规范</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以服务的形式提供了身份认证、二维码扫描、用户管理、支付、消息发送等通用功能</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为应用提供基于云的计算、存储和网络资源支持</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应用可以以一种透明的方式实现云化部署和运维支撑，甚至平台还可以提供应用推广、收益分成等运营支持</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400" dirty="0">
                <a:latin typeface="Kaiti SC" charset="-122"/>
                <a:ea typeface="Kaiti SC" charset="-122"/>
              </a:rPr>
              <a:t>典型代表是各种互联网应用开放平台，例如：微信 、支付宝 、</a:t>
            </a:r>
            <a:r>
              <a:rPr lang="en-US" altLang="zh-CN" sz="3400" dirty="0" err="1">
                <a:latin typeface="Kaiti SC" charset="-122"/>
                <a:ea typeface="Kaiti SC" charset="-122"/>
              </a:rPr>
              <a:t>WeLink</a:t>
            </a:r>
            <a:r>
              <a:rPr lang="en-US" altLang="zh-CN" sz="3400" dirty="0">
                <a:latin typeface="Kaiti SC" charset="-122"/>
                <a:ea typeface="Kaiti SC" charset="-122"/>
              </a:rPr>
              <a:t> </a:t>
            </a:r>
            <a:r>
              <a:rPr lang="zh-CN" altLang="en-US" sz="3400" dirty="0">
                <a:latin typeface="Kaiti SC" charset="-122"/>
                <a:ea typeface="Kaiti SC" charset="-122"/>
              </a:rPr>
              <a:t>平台</a:t>
            </a:r>
            <a:endParaRPr lang="en-US" altLang="zh-CN" sz="3400" dirty="0">
              <a:latin typeface="Kaiti SC" charset="-122"/>
              <a:ea typeface="Kaiti SC" charset="-122"/>
            </a:endParaRPr>
          </a:p>
          <a:p>
            <a:pPr marL="1028700" lvl="1" indent="-571500">
              <a:buFont typeface="Wingdings" charset="2"/>
              <a:buChar char="ü"/>
            </a:pPr>
            <a:endParaRPr lang="en-US" altLang="zh-CN" sz="2400" dirty="0">
              <a:latin typeface="Heiti SC Light" charset="-122"/>
              <a:ea typeface="Heiti SC Light" charset="-122"/>
            </a:endParaRPr>
          </a:p>
        </p:txBody>
      </p:sp>
    </p:spTree>
    <p:extLst>
      <p:ext uri="{BB962C8B-B14F-4D97-AF65-F5344CB8AC3E}">
        <p14:creationId xmlns:p14="http://schemas.microsoft.com/office/powerpoint/2010/main" val="4136492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blinds(horizontal)">
                                      <p:cBhvr>
                                        <p:cTn id="16" dur="500"/>
                                        <p:tgtEl>
                                          <p:spTgt spid="11">
                                            <p:txEl>
                                              <p:pRg st="2" end="2"/>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1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2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blinds(horizontal)">
                                      <p:cBhvr>
                                        <p:cTn id="33"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4801314"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课堂讨论：平台级复用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50BFE86D-2FFC-3343-9385-30BA55661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095" y="966159"/>
            <a:ext cx="2339861" cy="1857600"/>
          </a:xfrm>
          <a:prstGeom prst="rect">
            <a:avLst/>
          </a:prstGeom>
        </p:spPr>
      </p:pic>
      <p:sp>
        <p:nvSpPr>
          <p:cNvPr id="11" name="矩形 10">
            <a:extLst>
              <a:ext uri="{FF2B5EF4-FFF2-40B4-BE49-F238E27FC236}">
                <a16:creationId xmlns:a16="http://schemas.microsoft.com/office/drawing/2014/main" id="{F25F1890-10C8-4244-BACA-372E1D0B177F}"/>
              </a:ext>
            </a:extLst>
          </p:cNvPr>
          <p:cNvSpPr/>
          <p:nvPr/>
        </p:nvSpPr>
        <p:spPr>
          <a:xfrm>
            <a:off x="363071" y="2920410"/>
            <a:ext cx="8598049" cy="3046988"/>
          </a:xfrm>
          <a:prstGeom prst="rect">
            <a:avLst/>
          </a:prstGeom>
        </p:spPr>
        <p:txBody>
          <a:bodyPr wrap="square">
            <a:spAutoFit/>
          </a:bodyPr>
          <a:lstStyle/>
          <a:p>
            <a:r>
              <a:rPr lang="zh-CN" altLang="en-US" sz="4800" b="1" dirty="0">
                <a:latin typeface="Kaiti SC" charset="-122"/>
                <a:ea typeface="Kaiti SC" charset="-122"/>
                <a:cs typeface="Kaiti SC" charset="-122"/>
              </a:rPr>
              <a:t>课堂讨论：你是否在互联网开放平台上开发过小应用？如何理解平台在开发、测试、部署、运行等方面提供的支持？</a:t>
            </a:r>
            <a:endParaRPr lang="en-US" altLang="zh-CN" sz="4800" b="1" dirty="0">
              <a:latin typeface="Kaiti SC" charset="-122"/>
              <a:ea typeface="Kaiti SC" charset="-122"/>
              <a:cs typeface="Kaiti SC" charset="-122"/>
            </a:endParaRPr>
          </a:p>
        </p:txBody>
      </p:sp>
    </p:spTree>
    <p:extLst>
      <p:ext uri="{BB962C8B-B14F-4D97-AF65-F5344CB8AC3E}">
        <p14:creationId xmlns:p14="http://schemas.microsoft.com/office/powerpoint/2010/main" val="3176748494"/>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295465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软件复用过程</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EB183C86-3602-C523-0B58-13E29D2696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099" y="1202123"/>
            <a:ext cx="8599141" cy="5129960"/>
          </a:xfrm>
          <a:prstGeom prst="rect">
            <a:avLst/>
          </a:prstGeom>
          <a:noFill/>
          <a:ln>
            <a:noFill/>
          </a:ln>
        </p:spPr>
      </p:pic>
    </p:spTree>
    <p:extLst>
      <p:ext uri="{BB962C8B-B14F-4D97-AF65-F5344CB8AC3E}">
        <p14:creationId xmlns:p14="http://schemas.microsoft.com/office/powerpoint/2010/main" val="1383879689"/>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249299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软件产品线</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447645"/>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300" dirty="0">
                <a:latin typeface="Kaiti SC" charset="-122"/>
                <a:ea typeface="Kaiti SC" charset="-122"/>
              </a:rPr>
              <a:t>汽车等制造业中已经广泛实现了大规模定制化生产，即在标准化产品设计的基础上兼顾大规模生产和个性化定制</a:t>
            </a:r>
            <a:endParaRPr lang="en-US" altLang="zh-CN" sz="33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针对特定车型的生产线可以实现大规模汽车组装生产</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同时为客户提供了一系列定制选项（例如追求舒适还是运动性能、是否加装导航仪等）</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300" dirty="0">
                <a:latin typeface="Kaiti SC" charset="-122"/>
                <a:ea typeface="Kaiti SC" charset="-122"/>
              </a:rPr>
              <a:t>软件工程领域逐渐也形成了软件产品线的思想</a:t>
            </a:r>
            <a:endParaRPr lang="en-US" altLang="zh-CN" sz="33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针对特定领域中一系列具有共性特征的软件应用，通过对领域共性和可变性的把握构造一系列领域核心资产</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面向应用需求的软件应用可以在这些核心资产基础上通过定制和扩展快速、高效地构造出来</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例如：支持面向不同客户进行定制的财务管理系统产品线、支持面向不同型号硬件进行定制的通信系统产品线</a:t>
            </a:r>
          </a:p>
        </p:txBody>
      </p:sp>
    </p:spTree>
    <p:extLst>
      <p:ext uri="{BB962C8B-B14F-4D97-AF65-F5344CB8AC3E}">
        <p14:creationId xmlns:p14="http://schemas.microsoft.com/office/powerpoint/2010/main" val="24960341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linds(horizontal)">
                                      <p:cBhvr>
                                        <p:cTn id="32"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433965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软件产品线工程框架</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2" name="Rectangle 2">
            <a:extLst>
              <a:ext uri="{FF2B5EF4-FFF2-40B4-BE49-F238E27FC236}">
                <a16:creationId xmlns:a16="http://schemas.microsoft.com/office/drawing/2014/main" id="{56933F29-1EF6-E53C-A57C-78E797ED53BE}"/>
              </a:ext>
            </a:extLst>
          </p:cNvPr>
          <p:cNvSpPr>
            <a:spLocks noChangeArrowheads="1"/>
          </p:cNvSpPr>
          <p:nvPr/>
        </p:nvSpPr>
        <p:spPr bwMode="auto">
          <a:xfrm>
            <a:off x="636814" y="282484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A20D6AB3-27BD-B1C2-3DED-9281F1FDEFB4}"/>
              </a:ext>
            </a:extLst>
          </p:cNvPr>
          <p:cNvGraphicFramePr>
            <a:graphicFrameLocks noChangeAspect="1"/>
          </p:cNvGraphicFramePr>
          <p:nvPr>
            <p:extLst>
              <p:ext uri="{D42A27DB-BD31-4B8C-83A1-F6EECF244321}">
                <p14:modId xmlns:p14="http://schemas.microsoft.com/office/powerpoint/2010/main" val="459953388"/>
              </p:ext>
            </p:extLst>
          </p:nvPr>
        </p:nvGraphicFramePr>
        <p:xfrm>
          <a:off x="104505" y="1848393"/>
          <a:ext cx="8884254" cy="3804551"/>
        </p:xfrm>
        <a:graphic>
          <a:graphicData uri="http://schemas.openxmlformats.org/presentationml/2006/ole">
            <mc:AlternateContent xmlns:mc="http://schemas.openxmlformats.org/markup-compatibility/2006">
              <mc:Choice xmlns:v="urn:schemas-microsoft-com:vml" Requires="v">
                <p:oleObj r:id="rId3" imgW="7112000" imgH="3060700" progId="Visio.Drawing.11">
                  <p:embed/>
                </p:oleObj>
              </mc:Choice>
              <mc:Fallback>
                <p:oleObj r:id="rId3" imgW="7112000" imgH="306070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05" y="1848393"/>
                        <a:ext cx="8884254" cy="3804551"/>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663F92F3-B63A-CEB4-AF99-BE6487DAC5F8}"/>
              </a:ext>
            </a:extLst>
          </p:cNvPr>
          <p:cNvSpPr txBox="1"/>
          <p:nvPr/>
        </p:nvSpPr>
        <p:spPr>
          <a:xfrm>
            <a:off x="13063" y="920987"/>
            <a:ext cx="9117873" cy="830997"/>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领域工程是其中的核心部分，是领域核心资产（领域需求模型、产品线体系结构、领域构件等）的生产阶段，体现生产者复用的</a:t>
            </a:r>
          </a:p>
        </p:txBody>
      </p:sp>
      <p:sp>
        <p:nvSpPr>
          <p:cNvPr id="12" name="文本框 11">
            <a:extLst>
              <a:ext uri="{FF2B5EF4-FFF2-40B4-BE49-F238E27FC236}">
                <a16:creationId xmlns:a16="http://schemas.microsoft.com/office/drawing/2014/main" id="{8879F0B8-BD2F-C3C7-5955-DE157B1A6670}"/>
              </a:ext>
            </a:extLst>
          </p:cNvPr>
          <p:cNvSpPr txBox="1"/>
          <p:nvPr/>
        </p:nvSpPr>
        <p:spPr>
          <a:xfrm>
            <a:off x="13062" y="5558711"/>
            <a:ext cx="9117873" cy="1200329"/>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应用系统工程在领域核心资产基础上通过定制化实现特定应用开发</a:t>
            </a:r>
            <a:endParaRPr lang="en-US" altLang="zh-CN" sz="2400" dirty="0">
              <a:solidFill>
                <a:srgbClr val="FF0000"/>
              </a:solidFill>
              <a:latin typeface="Heiti SC Medium" pitchFamily="2" charset="-128"/>
              <a:ea typeface="Heiti SC Medium" pitchFamily="2" charset="-128"/>
            </a:endParaRPr>
          </a:p>
          <a:p>
            <a:r>
              <a:rPr lang="zh-CN" altLang="en-US" sz="2400" dirty="0">
                <a:solidFill>
                  <a:srgbClr val="FF0000"/>
                </a:solidFill>
                <a:latin typeface="Heiti SC Medium" pitchFamily="2" charset="-128"/>
                <a:ea typeface="Heiti SC Medium" pitchFamily="2" charset="-128"/>
              </a:rPr>
              <a:t>产品线管理从技术和组织两个方面为软件产品线的构建和长期发展提供管理支持</a:t>
            </a:r>
          </a:p>
        </p:txBody>
      </p:sp>
    </p:spTree>
    <p:extLst>
      <p:ext uri="{BB962C8B-B14F-4D97-AF65-F5344CB8AC3E}">
        <p14:creationId xmlns:p14="http://schemas.microsoft.com/office/powerpoint/2010/main" val="793248894"/>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295465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开源软件复用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descr="68203a4399e15342dc20e7490d53852">
            <a:extLst>
              <a:ext uri="{FF2B5EF4-FFF2-40B4-BE49-F238E27FC236}">
                <a16:creationId xmlns:a16="http://schemas.microsoft.com/office/drawing/2014/main" id="{E9FD9D02-4F18-4893-4382-D2A8E5198E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1864" y="2923719"/>
            <a:ext cx="7080272" cy="2614930"/>
          </a:xfrm>
          <a:prstGeom prst="rect">
            <a:avLst/>
          </a:prstGeom>
          <a:noFill/>
          <a:ln>
            <a:noFill/>
          </a:ln>
        </p:spPr>
      </p:pic>
      <p:sp>
        <p:nvSpPr>
          <p:cNvPr id="10" name="文本框 9">
            <a:extLst>
              <a:ext uri="{FF2B5EF4-FFF2-40B4-BE49-F238E27FC236}">
                <a16:creationId xmlns:a16="http://schemas.microsoft.com/office/drawing/2014/main" id="{0E594D5B-B0A7-98BA-E021-C0C841921C1B}"/>
              </a:ext>
            </a:extLst>
          </p:cNvPr>
          <p:cNvSpPr txBox="1"/>
          <p:nvPr/>
        </p:nvSpPr>
        <p:spPr>
          <a:xfrm>
            <a:off x="0" y="960922"/>
            <a:ext cx="4219303" cy="1938992"/>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代码托管平台支持对源代码、文档和其他软件制品进行存档和版本管理，开发者依赖成熟的代码托管平台对自己的项目进行开发、维护和版本控制</a:t>
            </a:r>
          </a:p>
        </p:txBody>
      </p:sp>
      <p:sp>
        <p:nvSpPr>
          <p:cNvPr id="12" name="文本框 11">
            <a:extLst>
              <a:ext uri="{FF2B5EF4-FFF2-40B4-BE49-F238E27FC236}">
                <a16:creationId xmlns:a16="http://schemas.microsoft.com/office/drawing/2014/main" id="{1616C665-95C3-27C6-6707-2F98587C6E92}"/>
              </a:ext>
            </a:extLst>
          </p:cNvPr>
          <p:cNvSpPr txBox="1"/>
          <p:nvPr/>
        </p:nvSpPr>
        <p:spPr>
          <a:xfrm>
            <a:off x="4924697" y="960922"/>
            <a:ext cx="4219303" cy="1938992"/>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开源社区根据相应的许可证协议公布软件源代码，由拥有共同兴趣爱好的人所组成，同时也为网络成员提供一个自由学习和交流的空间</a:t>
            </a:r>
          </a:p>
        </p:txBody>
      </p:sp>
      <p:sp>
        <p:nvSpPr>
          <p:cNvPr id="13" name="文本框 12">
            <a:extLst>
              <a:ext uri="{FF2B5EF4-FFF2-40B4-BE49-F238E27FC236}">
                <a16:creationId xmlns:a16="http://schemas.microsoft.com/office/drawing/2014/main" id="{7A303C66-8A84-A2C4-661E-90E6EF72E4B7}"/>
              </a:ext>
            </a:extLst>
          </p:cNvPr>
          <p:cNvSpPr txBox="1"/>
          <p:nvPr/>
        </p:nvSpPr>
        <p:spPr>
          <a:xfrm>
            <a:off x="1" y="5528568"/>
            <a:ext cx="9144000" cy="1200329"/>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如果开源软件属于通用第三方库，开发人员可以将其成熟版本发布到三方库管理平台，平台保存编译和打包后的库文件同时提供三方库在代码托管平台中的地址，从而方便开发者获取源代码</a:t>
            </a:r>
          </a:p>
        </p:txBody>
      </p:sp>
    </p:spTree>
    <p:extLst>
      <p:ext uri="{BB962C8B-B14F-4D97-AF65-F5344CB8AC3E}">
        <p14:creationId xmlns:p14="http://schemas.microsoft.com/office/powerpoint/2010/main" val="6995307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387798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主流代码托管平台</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042863EE-7057-F097-DB0A-404ADCEDB62D}"/>
              </a:ext>
            </a:extLst>
          </p:cNvPr>
          <p:cNvGraphicFramePr>
            <a:graphicFrameLocks noGrp="1"/>
          </p:cNvGraphicFramePr>
          <p:nvPr>
            <p:extLst>
              <p:ext uri="{D42A27DB-BD31-4B8C-83A1-F6EECF244321}">
                <p14:modId xmlns:p14="http://schemas.microsoft.com/office/powerpoint/2010/main" val="3288618372"/>
              </p:ext>
            </p:extLst>
          </p:nvPr>
        </p:nvGraphicFramePr>
        <p:xfrm>
          <a:off x="361770" y="1031913"/>
          <a:ext cx="8560161" cy="5547360"/>
        </p:xfrm>
        <a:graphic>
          <a:graphicData uri="http://schemas.openxmlformats.org/drawingml/2006/table">
            <a:tbl>
              <a:tblPr firstRow="1" firstCol="1" bandRow="1"/>
              <a:tblGrid>
                <a:gridCol w="1414779">
                  <a:extLst>
                    <a:ext uri="{9D8B030D-6E8A-4147-A177-3AD203B41FA5}">
                      <a16:colId xmlns:a16="http://schemas.microsoft.com/office/drawing/2014/main" val="35220031"/>
                    </a:ext>
                  </a:extLst>
                </a:gridCol>
                <a:gridCol w="7145382">
                  <a:extLst>
                    <a:ext uri="{9D8B030D-6E8A-4147-A177-3AD203B41FA5}">
                      <a16:colId xmlns:a16="http://schemas.microsoft.com/office/drawing/2014/main" val="2841828521"/>
                    </a:ext>
                  </a:extLst>
                </a:gridCol>
              </a:tblGrid>
              <a:tr h="235925">
                <a:tc>
                  <a:txBody>
                    <a:bodyPr/>
                    <a:lstStyle/>
                    <a:p>
                      <a:pPr marL="0" indent="12700" algn="ctr">
                        <a:tabLst/>
                      </a:pPr>
                      <a:r>
                        <a:rPr lang="zh-CN" sz="2400" b="1" kern="100" dirty="0">
                          <a:solidFill>
                            <a:schemeClr val="bg1"/>
                          </a:solidFill>
                          <a:effectLst/>
                          <a:latin typeface="Kaiti SC" panose="02010600040101010101" pitchFamily="2" charset="-122"/>
                          <a:ea typeface="Kaiti SC" panose="02010600040101010101" pitchFamily="2" charset="-122"/>
                        </a:rPr>
                        <a:t>托管平台</a:t>
                      </a:r>
                      <a:endParaRPr lang="zh-CN" sz="3200" b="1" kern="100" dirty="0">
                        <a:solidFill>
                          <a:schemeClr val="bg1"/>
                        </a:solidFill>
                        <a:effectLst/>
                        <a:latin typeface="Kaiti SC" panose="02010600040101010101" pitchFamily="2" charset="-122"/>
                        <a:ea typeface="Kaiti SC" panose="02010600040101010101" pitchFamily="2" charset="-122"/>
                        <a:cs typeface="宋体" panose="02010600030101010101" pitchFamily="2" charset="-122"/>
                      </a:endParaRPr>
                    </a:p>
                  </a:txBody>
                  <a:tcPr marL="68580" marR="68580" marT="0" marB="0">
                    <a:solidFill>
                      <a:srgbClr val="0070C0"/>
                    </a:solidFill>
                  </a:tcPr>
                </a:tc>
                <a:tc>
                  <a:txBody>
                    <a:bodyPr/>
                    <a:lstStyle/>
                    <a:p>
                      <a:pPr indent="266700" algn="ctr"/>
                      <a:r>
                        <a:rPr lang="zh-CN" sz="2400" b="1" kern="100" dirty="0">
                          <a:solidFill>
                            <a:schemeClr val="bg1"/>
                          </a:solidFill>
                          <a:effectLst/>
                          <a:latin typeface="Kaiti SC" panose="02010600040101010101" pitchFamily="2" charset="-122"/>
                          <a:ea typeface="Kaiti SC" panose="02010600040101010101" pitchFamily="2" charset="-122"/>
                        </a:rPr>
                        <a:t>概述</a:t>
                      </a:r>
                      <a:endParaRPr lang="zh-CN" sz="3200" b="1" kern="100" dirty="0">
                        <a:solidFill>
                          <a:schemeClr val="bg1"/>
                        </a:solidFill>
                        <a:effectLst/>
                        <a:latin typeface="Kaiti SC" panose="02010600040101010101" pitchFamily="2" charset="-122"/>
                        <a:ea typeface="Kaiti SC" panose="02010600040101010101" pitchFamily="2" charset="-122"/>
                        <a:cs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735059584"/>
                  </a:ext>
                </a:extLst>
              </a:tr>
              <a:tr h="0">
                <a:tc>
                  <a:txBody>
                    <a:bodyPr/>
                    <a:lstStyle/>
                    <a:p>
                      <a:pPr marL="0" indent="-1270" algn="ctr" defTabSz="914400" rtl="0" eaLnBrk="1" latinLnBrk="0" hangingPunct="1"/>
                      <a:r>
                        <a:rPr lang="en-US" sz="2000" kern="100" dirty="0">
                          <a:solidFill>
                            <a:schemeClr val="tx1"/>
                          </a:solidFill>
                          <a:effectLst/>
                          <a:latin typeface="Kaiti SC" panose="02010600040101010101" pitchFamily="2" charset="-122"/>
                          <a:ea typeface="Kaiti SC" panose="02010600040101010101" pitchFamily="2" charset="-122"/>
                          <a:cs typeface="+mn-cs"/>
                        </a:rPr>
                        <a:t>GitHub</a:t>
                      </a:r>
                      <a:endParaRPr lang="zh-CN" altLang="en-US" sz="20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just">
                        <a:tabLst/>
                      </a:pPr>
                      <a:r>
                        <a:rPr lang="en-US" sz="2000" kern="100" dirty="0">
                          <a:effectLst/>
                          <a:latin typeface="Kaiti SC" panose="02010600040101010101" pitchFamily="2" charset="-122"/>
                          <a:ea typeface="Kaiti SC" panose="02010600040101010101" pitchFamily="2" charset="-122"/>
                        </a:rPr>
                        <a:t>2008</a:t>
                      </a:r>
                      <a:r>
                        <a:rPr lang="zh-CN" sz="2000" kern="100" dirty="0">
                          <a:effectLst/>
                          <a:latin typeface="Kaiti SC" panose="02010600040101010101" pitchFamily="2" charset="-122"/>
                          <a:ea typeface="Kaiti SC" panose="02010600040101010101" pitchFamily="2" charset="-122"/>
                        </a:rPr>
                        <a:t>年正式上线，已成为全球最流行的代码托管平台，目前属于微软旗下产品。</a:t>
                      </a:r>
                      <a:r>
                        <a:rPr lang="en-US" sz="2000" kern="100" dirty="0">
                          <a:effectLst/>
                          <a:latin typeface="Kaiti SC" panose="02010600040101010101" pitchFamily="2" charset="-122"/>
                          <a:ea typeface="Kaiti SC" panose="02010600040101010101" pitchFamily="2" charset="-122"/>
                        </a:rPr>
                        <a:t>GitHub</a:t>
                      </a:r>
                      <a:r>
                        <a:rPr lang="zh-CN" sz="2000" kern="100" dirty="0">
                          <a:effectLst/>
                          <a:latin typeface="Kaiti SC" panose="02010600040101010101" pitchFamily="2" charset="-122"/>
                          <a:ea typeface="Kaiti SC" panose="02010600040101010101" pitchFamily="2" charset="-122"/>
                        </a:rPr>
                        <a:t>中个人用户居多。根据</a:t>
                      </a:r>
                      <a:r>
                        <a:rPr lang="en-US" sz="2000" kern="100" dirty="0">
                          <a:effectLst/>
                          <a:latin typeface="Kaiti SC" panose="02010600040101010101" pitchFamily="2" charset="-122"/>
                          <a:ea typeface="Kaiti SC" panose="02010600040101010101" pitchFamily="2" charset="-122"/>
                        </a:rPr>
                        <a:t>2020</a:t>
                      </a:r>
                      <a:r>
                        <a:rPr lang="zh-CN" sz="2000" kern="100" dirty="0">
                          <a:effectLst/>
                          <a:latin typeface="Kaiti SC" panose="02010600040101010101" pitchFamily="2" charset="-122"/>
                          <a:ea typeface="Kaiti SC" panose="02010600040101010101" pitchFamily="2" charset="-122"/>
                        </a:rPr>
                        <a:t>年度</a:t>
                      </a:r>
                      <a:r>
                        <a:rPr lang="en-US" sz="2000" kern="100" dirty="0" err="1">
                          <a:effectLst/>
                          <a:latin typeface="Kaiti SC" panose="02010600040101010101" pitchFamily="2" charset="-122"/>
                          <a:ea typeface="Kaiti SC" panose="02010600040101010101" pitchFamily="2" charset="-122"/>
                        </a:rPr>
                        <a:t>Octoverse</a:t>
                      </a:r>
                      <a:r>
                        <a:rPr lang="zh-CN" sz="2000" kern="100" dirty="0">
                          <a:effectLst/>
                          <a:latin typeface="Kaiti SC" panose="02010600040101010101" pitchFamily="2" charset="-122"/>
                          <a:ea typeface="Kaiti SC" panose="02010600040101010101" pitchFamily="2" charset="-122"/>
                        </a:rPr>
                        <a:t>报告，</a:t>
                      </a:r>
                      <a:r>
                        <a:rPr lang="en-US" sz="2000" kern="100" dirty="0">
                          <a:effectLst/>
                          <a:latin typeface="Kaiti SC" panose="02010600040101010101" pitchFamily="2" charset="-122"/>
                          <a:ea typeface="Kaiti SC" panose="02010600040101010101" pitchFamily="2" charset="-122"/>
                        </a:rPr>
                        <a:t>GitHub</a:t>
                      </a:r>
                      <a:r>
                        <a:rPr lang="zh-CN" sz="2000" kern="100" dirty="0">
                          <a:effectLst/>
                          <a:latin typeface="Kaiti SC" panose="02010600040101010101" pitchFamily="2" charset="-122"/>
                          <a:ea typeface="Kaiti SC" panose="02010600040101010101" pitchFamily="2" charset="-122"/>
                        </a:rPr>
                        <a:t>已经拥有超过</a:t>
                      </a:r>
                      <a:r>
                        <a:rPr lang="en-US" sz="2000" kern="100" dirty="0">
                          <a:effectLst/>
                          <a:latin typeface="Kaiti SC" panose="02010600040101010101" pitchFamily="2" charset="-122"/>
                          <a:ea typeface="Kaiti SC" panose="02010600040101010101" pitchFamily="2" charset="-122"/>
                        </a:rPr>
                        <a:t>2</a:t>
                      </a:r>
                      <a:r>
                        <a:rPr lang="zh-CN" sz="2000" kern="100" dirty="0">
                          <a:effectLst/>
                          <a:latin typeface="Kaiti SC" panose="02010600040101010101" pitchFamily="2" charset="-122"/>
                          <a:ea typeface="Kaiti SC" panose="02010600040101010101" pitchFamily="2" charset="-122"/>
                        </a:rPr>
                        <a:t>亿个仓库，并吸引全球超过</a:t>
                      </a:r>
                      <a:r>
                        <a:rPr lang="en-US" sz="2000" kern="100" dirty="0">
                          <a:effectLst/>
                          <a:latin typeface="Kaiti SC" panose="02010600040101010101" pitchFamily="2" charset="-122"/>
                          <a:ea typeface="Kaiti SC" panose="02010600040101010101" pitchFamily="2" charset="-122"/>
                        </a:rPr>
                        <a:t>5600</a:t>
                      </a:r>
                      <a:r>
                        <a:rPr lang="zh-CN" sz="2000" kern="100" dirty="0">
                          <a:effectLst/>
                          <a:latin typeface="Kaiti SC" panose="02010600040101010101" pitchFamily="2" charset="-122"/>
                          <a:ea typeface="Kaiti SC" panose="02010600040101010101" pitchFamily="2" charset="-122"/>
                        </a:rPr>
                        <a:t>万的开发者。</a:t>
                      </a:r>
                      <a:endParaRPr lang="zh-CN" sz="2800" kern="100" dirty="0">
                        <a:effectLst/>
                        <a:latin typeface="Kaiti SC" panose="02010600040101010101" pitchFamily="2" charset="-122"/>
                        <a:ea typeface="Kaiti SC" panose="0201060004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888382278"/>
                  </a:ext>
                </a:extLst>
              </a:tr>
              <a:tr h="0">
                <a:tc>
                  <a:txBody>
                    <a:bodyPr/>
                    <a:lstStyle/>
                    <a:p>
                      <a:pPr marL="0" indent="-1270" algn="ctr" defTabSz="914400" rtl="0" eaLnBrk="1" latinLnBrk="0" hangingPunct="1"/>
                      <a:r>
                        <a:rPr lang="en-US" sz="2000" kern="100" dirty="0">
                          <a:solidFill>
                            <a:schemeClr val="tx1"/>
                          </a:solidFill>
                          <a:effectLst/>
                          <a:latin typeface="Kaiti SC" panose="02010600040101010101" pitchFamily="2" charset="-122"/>
                          <a:ea typeface="Kaiti SC" panose="02010600040101010101" pitchFamily="2" charset="-122"/>
                          <a:cs typeface="+mn-cs"/>
                        </a:rPr>
                        <a:t>GitLab</a:t>
                      </a:r>
                      <a:endParaRPr lang="zh-CN" altLang="en-US" sz="20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just" defTabSz="914400" rtl="0" eaLnBrk="1" latinLnBrk="0" hangingPunct="1">
                        <a:tabLst/>
                      </a:pPr>
                      <a:r>
                        <a:rPr lang="en-US" sz="2000" kern="100" dirty="0">
                          <a:solidFill>
                            <a:schemeClr val="tx1"/>
                          </a:solidFill>
                          <a:effectLst/>
                          <a:latin typeface="Kaiti SC" panose="02010600040101010101" pitchFamily="2" charset="-122"/>
                          <a:ea typeface="Kaiti SC" panose="02010600040101010101" pitchFamily="2" charset="-122"/>
                          <a:cs typeface="+mn-cs"/>
                        </a:rPr>
                        <a:t>GitLab</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支持无限的开源和私有项目，因此在企业开发中应用广泛。相比</a:t>
                      </a:r>
                      <a:r>
                        <a:rPr lang="en-US" sz="2000" kern="100" dirty="0" err="1">
                          <a:solidFill>
                            <a:schemeClr val="tx1"/>
                          </a:solidFill>
                          <a:effectLst/>
                          <a:latin typeface="Kaiti SC" panose="02010600040101010101" pitchFamily="2" charset="-122"/>
                          <a:ea typeface="Kaiti SC" panose="02010600040101010101" pitchFamily="2" charset="-122"/>
                          <a:cs typeface="+mn-cs"/>
                        </a:rPr>
                        <a:t>Github</a:t>
                      </a:r>
                      <a:r>
                        <a:rPr lang="zh-CN" altLang="en-US" sz="2000" kern="100" dirty="0">
                          <a:solidFill>
                            <a:schemeClr val="tx1"/>
                          </a:solidFill>
                          <a:effectLst/>
                          <a:latin typeface="Kaiti SC" panose="02010600040101010101" pitchFamily="2" charset="-122"/>
                          <a:ea typeface="Kaiti SC" panose="02010600040101010101" pitchFamily="2" charset="-122"/>
                          <a:cs typeface="+mn-cs"/>
                        </a:rPr>
                        <a:t>，团队对仓库拥有更多权限控制，并可部署自己的服务器。</a:t>
                      </a:r>
                    </a:p>
                  </a:txBody>
                  <a:tcPr marL="68580" marR="68580" marT="0" marB="0"/>
                </a:tc>
                <a:extLst>
                  <a:ext uri="{0D108BD9-81ED-4DB2-BD59-A6C34878D82A}">
                    <a16:rowId xmlns:a16="http://schemas.microsoft.com/office/drawing/2014/main" val="3849687416"/>
                  </a:ext>
                </a:extLst>
              </a:tr>
              <a:tr h="0">
                <a:tc>
                  <a:txBody>
                    <a:bodyPr/>
                    <a:lstStyle/>
                    <a:p>
                      <a:pPr marL="0" indent="-1270" algn="ctr" defTabSz="914400" rtl="0" eaLnBrk="1" latinLnBrk="0" hangingPunct="1"/>
                      <a:r>
                        <a:rPr lang="en-US" sz="2000" kern="100" dirty="0">
                          <a:solidFill>
                            <a:schemeClr val="tx1"/>
                          </a:solidFill>
                          <a:effectLst/>
                          <a:latin typeface="Kaiti SC" panose="02010600040101010101" pitchFamily="2" charset="-122"/>
                          <a:ea typeface="Kaiti SC" panose="02010600040101010101" pitchFamily="2" charset="-122"/>
                          <a:cs typeface="+mn-cs"/>
                        </a:rPr>
                        <a:t>Bitbucket</a:t>
                      </a:r>
                      <a:endParaRPr lang="zh-CN" altLang="en-US" sz="20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just" defTabSz="914400" rtl="0" eaLnBrk="1" latinLnBrk="0" hangingPunct="1">
                        <a:tabLst/>
                      </a:pPr>
                      <a:r>
                        <a:rPr lang="en-US" sz="2000" kern="100" dirty="0">
                          <a:solidFill>
                            <a:schemeClr val="tx1"/>
                          </a:solidFill>
                          <a:effectLst/>
                          <a:latin typeface="Kaiti SC" panose="02010600040101010101" pitchFamily="2" charset="-122"/>
                          <a:ea typeface="Kaiti SC" panose="02010600040101010101" pitchFamily="2" charset="-122"/>
                          <a:cs typeface="+mn-cs"/>
                        </a:rPr>
                        <a:t>Atlassian</a:t>
                      </a:r>
                      <a:r>
                        <a:rPr lang="zh-CN" altLang="en-US" sz="2000" kern="100" dirty="0">
                          <a:solidFill>
                            <a:schemeClr val="tx1"/>
                          </a:solidFill>
                          <a:effectLst/>
                          <a:latin typeface="Kaiti SC" panose="02010600040101010101" pitchFamily="2" charset="-122"/>
                          <a:ea typeface="Kaiti SC" panose="02010600040101010101" pitchFamily="2" charset="-122"/>
                          <a:cs typeface="+mn-cs"/>
                        </a:rPr>
                        <a:t>公司提供的基于</a:t>
                      </a:r>
                      <a:r>
                        <a:rPr lang="en-US" sz="2000" kern="100" dirty="0">
                          <a:solidFill>
                            <a:schemeClr val="tx1"/>
                          </a:solidFill>
                          <a:effectLst/>
                          <a:latin typeface="Kaiti SC" panose="02010600040101010101" pitchFamily="2" charset="-122"/>
                          <a:ea typeface="Kaiti SC" panose="02010600040101010101" pitchFamily="2" charset="-122"/>
                          <a:cs typeface="+mn-cs"/>
                        </a:rPr>
                        <a:t>web</a:t>
                      </a:r>
                      <a:r>
                        <a:rPr lang="zh-CN" altLang="en-US" sz="2000" kern="100" dirty="0">
                          <a:solidFill>
                            <a:schemeClr val="tx1"/>
                          </a:solidFill>
                          <a:effectLst/>
                          <a:latin typeface="Kaiti SC" panose="02010600040101010101" pitchFamily="2" charset="-122"/>
                          <a:ea typeface="Kaiti SC" panose="02010600040101010101" pitchFamily="2" charset="-122"/>
                          <a:cs typeface="+mn-cs"/>
                        </a:rPr>
                        <a:t>的版本库托管服务。</a:t>
                      </a:r>
                      <a:r>
                        <a:rPr lang="en-US" sz="2000" kern="100" dirty="0">
                          <a:solidFill>
                            <a:schemeClr val="tx1"/>
                          </a:solidFill>
                          <a:effectLst/>
                          <a:latin typeface="Kaiti SC" panose="02010600040101010101" pitchFamily="2" charset="-122"/>
                          <a:ea typeface="Kaiti SC" panose="02010600040101010101" pitchFamily="2" charset="-122"/>
                          <a:cs typeface="+mn-cs"/>
                        </a:rPr>
                        <a:t>Bitbucket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既提供免费帐号，也提供商业付费方案。一般面向专业开发者，能够与</a:t>
                      </a:r>
                      <a:r>
                        <a:rPr lang="en-US" sz="2000" kern="100" dirty="0">
                          <a:solidFill>
                            <a:schemeClr val="tx1"/>
                          </a:solidFill>
                          <a:effectLst/>
                          <a:latin typeface="Kaiti SC" panose="02010600040101010101" pitchFamily="2" charset="-122"/>
                          <a:ea typeface="Kaiti SC" panose="02010600040101010101" pitchFamily="2" charset="-122"/>
                          <a:cs typeface="+mn-cs"/>
                        </a:rPr>
                        <a:t>Atlassian</a:t>
                      </a:r>
                      <a:r>
                        <a:rPr lang="zh-CN" altLang="en-US" sz="2000" kern="100" dirty="0">
                          <a:solidFill>
                            <a:schemeClr val="tx1"/>
                          </a:solidFill>
                          <a:effectLst/>
                          <a:latin typeface="Kaiti SC" panose="02010600040101010101" pitchFamily="2" charset="-122"/>
                          <a:ea typeface="Kaiti SC" panose="02010600040101010101" pitchFamily="2" charset="-122"/>
                          <a:cs typeface="+mn-cs"/>
                        </a:rPr>
                        <a:t>的其他产品（例如</a:t>
                      </a:r>
                      <a:r>
                        <a:rPr lang="en-US" sz="2000" kern="100" dirty="0">
                          <a:solidFill>
                            <a:schemeClr val="tx1"/>
                          </a:solidFill>
                          <a:effectLst/>
                          <a:latin typeface="Kaiti SC" panose="02010600040101010101" pitchFamily="2" charset="-122"/>
                          <a:ea typeface="Kaiti SC" panose="02010600040101010101" pitchFamily="2" charset="-122"/>
                          <a:cs typeface="+mn-cs"/>
                        </a:rPr>
                        <a:t>Jira</a:t>
                      </a:r>
                      <a:r>
                        <a:rPr lang="zh-CN" altLang="en-US" sz="2000" kern="100" dirty="0">
                          <a:solidFill>
                            <a:schemeClr val="tx1"/>
                          </a:solidFill>
                          <a:effectLst/>
                          <a:latin typeface="Kaiti SC" panose="02010600040101010101" pitchFamily="2" charset="-122"/>
                          <a:ea typeface="Kaiti SC" panose="02010600040101010101" pitchFamily="2" charset="-122"/>
                          <a:cs typeface="+mn-cs"/>
                        </a:rPr>
                        <a:t>，</a:t>
                      </a:r>
                      <a:r>
                        <a:rPr lang="en-US" sz="2000" kern="100" dirty="0">
                          <a:solidFill>
                            <a:schemeClr val="tx1"/>
                          </a:solidFill>
                          <a:effectLst/>
                          <a:latin typeface="Kaiti SC" panose="02010600040101010101" pitchFamily="2" charset="-122"/>
                          <a:ea typeface="Kaiti SC" panose="02010600040101010101" pitchFamily="2" charset="-122"/>
                          <a:cs typeface="+mn-cs"/>
                        </a:rPr>
                        <a:t>HipChat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等）集成。</a:t>
                      </a:r>
                    </a:p>
                  </a:txBody>
                  <a:tcPr marL="68580" marR="68580" marT="0" marB="0"/>
                </a:tc>
                <a:extLst>
                  <a:ext uri="{0D108BD9-81ED-4DB2-BD59-A6C34878D82A}">
                    <a16:rowId xmlns:a16="http://schemas.microsoft.com/office/drawing/2014/main" val="1385909318"/>
                  </a:ext>
                </a:extLst>
              </a:tr>
              <a:tr h="0">
                <a:tc>
                  <a:txBody>
                    <a:bodyPr/>
                    <a:lstStyle/>
                    <a:p>
                      <a:pPr marL="0" indent="-1270" algn="ctr" defTabSz="914400" rtl="0" eaLnBrk="1" latinLnBrk="0" hangingPunct="1"/>
                      <a:r>
                        <a:rPr lang="en-US" sz="2000" kern="100" dirty="0" err="1">
                          <a:solidFill>
                            <a:schemeClr val="tx1"/>
                          </a:solidFill>
                          <a:effectLst/>
                          <a:latin typeface="Kaiti SC" panose="02010600040101010101" pitchFamily="2" charset="-122"/>
                          <a:ea typeface="Kaiti SC" panose="02010600040101010101" pitchFamily="2" charset="-122"/>
                          <a:cs typeface="+mn-cs"/>
                        </a:rPr>
                        <a:t>CodeHub</a:t>
                      </a:r>
                      <a:endParaRPr lang="zh-CN" altLang="en-US" sz="20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just" defTabSz="914400" rtl="0" eaLnBrk="1" latinLnBrk="0" hangingPunct="1">
                        <a:tabLst/>
                      </a:pPr>
                      <a:r>
                        <a:rPr lang="zh-CN" altLang="en-US" sz="2000" kern="100" dirty="0">
                          <a:solidFill>
                            <a:schemeClr val="tx1"/>
                          </a:solidFill>
                          <a:effectLst/>
                          <a:latin typeface="Kaiti SC" panose="02010600040101010101" pitchFamily="2" charset="-122"/>
                          <a:ea typeface="Kaiti SC" panose="02010600040101010101" pitchFamily="2" charset="-122"/>
                          <a:cs typeface="+mn-cs"/>
                        </a:rPr>
                        <a:t>代码托管（</a:t>
                      </a:r>
                      <a:r>
                        <a:rPr lang="en-US" sz="2000" kern="100" dirty="0" err="1">
                          <a:solidFill>
                            <a:schemeClr val="tx1"/>
                          </a:solidFill>
                          <a:effectLst/>
                          <a:latin typeface="Kaiti SC" panose="02010600040101010101" pitchFamily="2" charset="-122"/>
                          <a:ea typeface="Kaiti SC" panose="02010600040101010101" pitchFamily="2" charset="-122"/>
                          <a:cs typeface="+mn-cs"/>
                        </a:rPr>
                        <a:t>CodeHub</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）源自华为千亿级代码管理经验，基于</a:t>
                      </a:r>
                      <a:r>
                        <a:rPr lang="en-US" sz="2000" kern="100" dirty="0">
                          <a:solidFill>
                            <a:schemeClr val="tx1"/>
                          </a:solidFill>
                          <a:effectLst/>
                          <a:latin typeface="Kaiti SC" panose="02010600040101010101" pitchFamily="2" charset="-122"/>
                          <a:ea typeface="Kaiti SC" panose="02010600040101010101" pitchFamily="2" charset="-122"/>
                          <a:cs typeface="+mn-cs"/>
                        </a:rPr>
                        <a:t>Git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，提供企业代码托管的全方位服务</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为软件开发者提供基于</a:t>
                      </a:r>
                      <a:r>
                        <a:rPr lang="en-US" sz="2000" kern="100" dirty="0">
                          <a:solidFill>
                            <a:schemeClr val="tx1"/>
                          </a:solidFill>
                          <a:effectLst/>
                          <a:latin typeface="Kaiti SC" panose="02010600040101010101" pitchFamily="2" charset="-122"/>
                          <a:ea typeface="Kaiti SC" panose="02010600040101010101" pitchFamily="2" charset="-122"/>
                          <a:cs typeface="+mn-cs"/>
                        </a:rPr>
                        <a:t>Git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的在线代码托管服务，包括代码克隆</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下载</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提交</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推送</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比较</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合并</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分支</a:t>
                      </a:r>
                      <a:r>
                        <a:rPr lang="en-US" sz="2000" kern="100" dirty="0">
                          <a:solidFill>
                            <a:schemeClr val="tx1"/>
                          </a:solidFill>
                          <a:effectLst/>
                          <a:latin typeface="Kaiti SC" panose="02010600040101010101" pitchFamily="2" charset="-122"/>
                          <a:ea typeface="Kaiti SC" panose="02010600040101010101" pitchFamily="2" charset="-122"/>
                          <a:cs typeface="+mn-cs"/>
                        </a:rPr>
                        <a:t>/</a:t>
                      </a:r>
                      <a:r>
                        <a:rPr lang="zh-CN" altLang="en-US" sz="2000" kern="100" dirty="0">
                          <a:solidFill>
                            <a:schemeClr val="tx1"/>
                          </a:solidFill>
                          <a:effectLst/>
                          <a:latin typeface="Kaiti SC" panose="02010600040101010101" pitchFamily="2" charset="-122"/>
                          <a:ea typeface="Kaiti SC" panose="02010600040101010101" pitchFamily="2" charset="-122"/>
                          <a:cs typeface="+mn-cs"/>
                        </a:rPr>
                        <a:t>代码评审等功能。</a:t>
                      </a:r>
                    </a:p>
                  </a:txBody>
                  <a:tcPr marL="68580" marR="68580" marT="0" marB="0"/>
                </a:tc>
                <a:extLst>
                  <a:ext uri="{0D108BD9-81ED-4DB2-BD59-A6C34878D82A}">
                    <a16:rowId xmlns:a16="http://schemas.microsoft.com/office/drawing/2014/main" val="2359830983"/>
                  </a:ext>
                </a:extLst>
              </a:tr>
              <a:tr h="0">
                <a:tc>
                  <a:txBody>
                    <a:bodyPr/>
                    <a:lstStyle/>
                    <a:p>
                      <a:pPr marL="0" indent="-1270" algn="ctr" defTabSz="914400" rtl="0" eaLnBrk="1" latinLnBrk="0" hangingPunct="1"/>
                      <a:r>
                        <a:rPr lang="en-US" sz="2000" kern="100" dirty="0" err="1">
                          <a:solidFill>
                            <a:schemeClr val="tx1"/>
                          </a:solidFill>
                          <a:effectLst/>
                          <a:latin typeface="Kaiti SC" panose="02010600040101010101" pitchFamily="2" charset="-122"/>
                          <a:ea typeface="Kaiti SC" panose="02010600040101010101" pitchFamily="2" charset="-122"/>
                          <a:cs typeface="+mn-cs"/>
                        </a:rPr>
                        <a:t>Gitee</a:t>
                      </a:r>
                      <a:endParaRPr lang="zh-CN" altLang="en-US" sz="20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just" defTabSz="914400" rtl="0" eaLnBrk="1" latinLnBrk="0" hangingPunct="1">
                        <a:tabLst/>
                      </a:pPr>
                      <a:r>
                        <a:rPr lang="zh-CN" altLang="en-US" sz="2000" kern="100" dirty="0">
                          <a:solidFill>
                            <a:schemeClr val="tx1"/>
                          </a:solidFill>
                          <a:effectLst/>
                          <a:latin typeface="Kaiti SC" panose="02010600040101010101" pitchFamily="2" charset="-122"/>
                          <a:ea typeface="Kaiti SC" panose="02010600040101010101" pitchFamily="2" charset="-122"/>
                          <a:cs typeface="+mn-cs"/>
                        </a:rPr>
                        <a:t>又称为“码云”，是开源中国社区团队推出的在线代码托管平台，为开发者提供云端软件开发协作能力。码云支持个人、团队、企业实现代码托管、项目管理和协作开发。</a:t>
                      </a:r>
                    </a:p>
                  </a:txBody>
                  <a:tcPr marL="68580" marR="68580" marT="0" marB="0"/>
                </a:tc>
                <a:extLst>
                  <a:ext uri="{0D108BD9-81ED-4DB2-BD59-A6C34878D82A}">
                    <a16:rowId xmlns:a16="http://schemas.microsoft.com/office/drawing/2014/main" val="822561081"/>
                  </a:ext>
                </a:extLst>
              </a:tr>
            </a:tbl>
          </a:graphicData>
        </a:graphic>
      </p:graphicFrame>
    </p:spTree>
    <p:extLst>
      <p:ext uri="{BB962C8B-B14F-4D97-AF65-F5344CB8AC3E}">
        <p14:creationId xmlns:p14="http://schemas.microsoft.com/office/powerpoint/2010/main" val="251972850"/>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203132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开源社区</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586145"/>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300" dirty="0">
                <a:latin typeface="Kaiti SC" charset="-122"/>
                <a:ea typeface="Kaiti SC" charset="-122"/>
              </a:rPr>
              <a:t>开源社区对于推动开源软件发展起着重要作用</a:t>
            </a:r>
            <a:endParaRPr lang="en-US" altLang="zh-CN" sz="33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汇聚志同道合的开发者并进行交流和沟通的重要途径</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通过</a:t>
            </a:r>
            <a:r>
              <a:rPr lang="en-US" altLang="zh-CN" sz="2400" dirty="0">
                <a:latin typeface="Heiti SC Light" charset="-122"/>
                <a:ea typeface="Heiti SC Light" charset="-122"/>
              </a:rPr>
              <a:t>pull-request</a:t>
            </a:r>
            <a:r>
              <a:rPr lang="zh-CN" altLang="en-US" sz="2400" dirty="0">
                <a:latin typeface="Heiti SC Light" charset="-122"/>
                <a:ea typeface="Heiti SC Light" charset="-122"/>
              </a:rPr>
              <a:t>机制允许对项目感兴趣的开发者提出其发现的</a:t>
            </a:r>
            <a:r>
              <a:rPr lang="en-US" altLang="zh-CN" sz="2400" dirty="0">
                <a:latin typeface="Heiti SC Light" charset="-122"/>
                <a:ea typeface="Heiti SC Light" charset="-122"/>
              </a:rPr>
              <a:t>bug</a:t>
            </a:r>
            <a:r>
              <a:rPr lang="zh-CN" altLang="en-US" sz="2400" dirty="0">
                <a:latin typeface="Heiti SC Light" charset="-122"/>
                <a:ea typeface="Heiti SC Light" charset="-122"/>
              </a:rPr>
              <a:t>或者新增需求，实现开放和社会化开发</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汇聚大量开源项目并支持开源项目的检索、使用和推广</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300" dirty="0">
                <a:latin typeface="Kaiti SC" charset="-122"/>
                <a:ea typeface="Kaiti SC" charset="-122"/>
              </a:rPr>
              <a:t>知名开源社区</a:t>
            </a:r>
            <a:endParaRPr lang="en-US" altLang="zh-CN" sz="33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国际：</a:t>
            </a:r>
            <a:r>
              <a:rPr lang="en" altLang="zh-CN" sz="2400" dirty="0">
                <a:latin typeface="Heiti SC Light" charset="-122"/>
                <a:ea typeface="Heiti SC Light" charset="-122"/>
              </a:rPr>
              <a:t>Apache</a:t>
            </a:r>
            <a:r>
              <a:rPr lang="zh-CN" altLang="en" sz="2400" dirty="0">
                <a:latin typeface="Heiti SC Light" charset="-122"/>
                <a:ea typeface="Heiti SC Light" charset="-122"/>
              </a:rPr>
              <a:t>、</a:t>
            </a:r>
            <a:r>
              <a:rPr lang="en" altLang="zh-CN" sz="2400" dirty="0">
                <a:latin typeface="Heiti SC Light" charset="-122"/>
                <a:ea typeface="Heiti SC Light" charset="-122"/>
              </a:rPr>
              <a:t>GitHub</a:t>
            </a:r>
            <a:r>
              <a:rPr lang="zh-CN" altLang="en" sz="2400" dirty="0">
                <a:latin typeface="Heiti SC Light" charset="-122"/>
                <a:ea typeface="Heiti SC Light" charset="-122"/>
              </a:rPr>
              <a:t>、</a:t>
            </a:r>
            <a:r>
              <a:rPr lang="en" altLang="zh-CN" sz="2400" dirty="0">
                <a:latin typeface="Heiti SC Light" charset="-122"/>
                <a:ea typeface="Heiti SC Light" charset="-122"/>
              </a:rPr>
              <a:t>GitLab</a:t>
            </a:r>
            <a:r>
              <a:rPr lang="zh-CN" altLang="en" sz="2400" dirty="0">
                <a:latin typeface="Heiti SC Light" charset="-122"/>
                <a:ea typeface="Heiti SC Light" charset="-122"/>
              </a:rPr>
              <a:t>、</a:t>
            </a:r>
            <a:r>
              <a:rPr lang="en" altLang="zh-CN" sz="2400" dirty="0">
                <a:latin typeface="Heiti SC Light" charset="-122"/>
                <a:ea typeface="Heiti SC Light" charset="-122"/>
              </a:rPr>
              <a:t> </a:t>
            </a:r>
            <a:r>
              <a:rPr lang="en" altLang="zh-CN" sz="2400" dirty="0" err="1">
                <a:latin typeface="Heiti SC Light" charset="-122"/>
                <a:ea typeface="Heiti SC Light" charset="-122"/>
              </a:rPr>
              <a:t>Sourceforge</a:t>
            </a:r>
            <a:r>
              <a:rPr lang="zh-CN" altLang="en" sz="2400" dirty="0">
                <a:latin typeface="Heiti SC Light" charset="-122"/>
                <a:ea typeface="Heiti SC Light" charset="-122"/>
              </a:rPr>
              <a:t>、 </a:t>
            </a:r>
            <a:r>
              <a:rPr lang="en" altLang="zh-CN" sz="2400" dirty="0" err="1">
                <a:latin typeface="Heiti SC Light" charset="-122"/>
                <a:ea typeface="Heiti SC Light" charset="-122"/>
              </a:rPr>
              <a:t>kernel.org</a:t>
            </a:r>
            <a:r>
              <a:rPr lang="zh-CN" altLang="en" sz="2400" dirty="0">
                <a:latin typeface="Heiti SC Light" charset="-122"/>
                <a:ea typeface="Heiti SC Light" charset="-122"/>
              </a:rPr>
              <a:t>、</a:t>
            </a:r>
            <a:r>
              <a:rPr lang="en" altLang="zh-CN" sz="2400" dirty="0" err="1">
                <a:latin typeface="Heiti SC Light" charset="-122"/>
                <a:ea typeface="Heiti SC Light" charset="-122"/>
              </a:rPr>
              <a:t>OpenSource</a:t>
            </a:r>
            <a:r>
              <a:rPr lang="zh-CN" altLang="en" sz="2400" dirty="0">
                <a:latin typeface="Heiti SC Light" charset="-122"/>
                <a:ea typeface="Heiti SC Light" charset="-122"/>
              </a:rPr>
              <a:t>、</a:t>
            </a:r>
            <a:r>
              <a:rPr lang="en" altLang="zh-CN" sz="2400" dirty="0">
                <a:latin typeface="Heiti SC Light" charset="-122"/>
                <a:ea typeface="Heiti SC Light" charset="-122"/>
              </a:rPr>
              <a:t>OpenOffice</a:t>
            </a:r>
            <a:r>
              <a:rPr lang="zh-CN" altLang="en" sz="2400" dirty="0">
                <a:latin typeface="Heiti SC Light" charset="-122"/>
                <a:ea typeface="Heiti SC Light" charset="-122"/>
              </a:rPr>
              <a:t>、</a:t>
            </a:r>
            <a:r>
              <a:rPr lang="en" altLang="zh-CN" sz="2400" dirty="0">
                <a:latin typeface="Heiti SC Light" charset="-122"/>
                <a:ea typeface="Heiti SC Light" charset="-122"/>
              </a:rPr>
              <a:t>Mozilla</a:t>
            </a:r>
            <a:r>
              <a:rPr lang="zh-CN" altLang="en" sz="2400" dirty="0">
                <a:latin typeface="Heiti SC Light" charset="-122"/>
                <a:ea typeface="Heiti SC Light" charset="-122"/>
              </a:rPr>
              <a:t>等</a:t>
            </a:r>
            <a:endParaRPr lang="en" altLang="zh-CN" sz="2400" dirty="0">
              <a:latin typeface="Heiti SC Light" charset="-122"/>
              <a:ea typeface="Heiti SC Light" charset="-122"/>
            </a:endParaRPr>
          </a:p>
          <a:p>
            <a:pPr marL="1028700" lvl="1" indent="-571500">
              <a:buFont typeface="Wingdings" charset="2"/>
              <a:buChar char="ü"/>
            </a:pPr>
            <a:r>
              <a:rPr lang="zh-CN" altLang="en" sz="2400" dirty="0">
                <a:latin typeface="Heiti SC Light" charset="-122"/>
                <a:ea typeface="Heiti SC Light" charset="-122"/>
              </a:rPr>
              <a:t>国内</a:t>
            </a:r>
            <a:r>
              <a:rPr lang="zh-CN" altLang="en-US" sz="2400" dirty="0">
                <a:latin typeface="Heiti SC Light" charset="-122"/>
                <a:ea typeface="Heiti SC Light" charset="-122"/>
              </a:rPr>
              <a:t>：木兰社区、开源中国、</a:t>
            </a:r>
            <a:r>
              <a:rPr lang="en" altLang="zh-CN" sz="2400" dirty="0">
                <a:latin typeface="Heiti SC Light" charset="-122"/>
                <a:ea typeface="Heiti SC Light" charset="-122"/>
              </a:rPr>
              <a:t>Linux</a:t>
            </a:r>
            <a:r>
              <a:rPr lang="zh-CN" altLang="en-US" sz="2400" dirty="0">
                <a:latin typeface="Heiti SC Light" charset="-122"/>
                <a:ea typeface="Heiti SC Light" charset="-122"/>
              </a:rPr>
              <a:t>中国、</a:t>
            </a:r>
            <a:r>
              <a:rPr lang="en" altLang="zh-CN" sz="2400" dirty="0">
                <a:latin typeface="Heiti SC Light" charset="-122"/>
                <a:ea typeface="Heiti SC Light" charset="-122"/>
              </a:rPr>
              <a:t>LUPA</a:t>
            </a:r>
            <a:r>
              <a:rPr lang="zh-CN" altLang="en" sz="2400" dirty="0">
                <a:latin typeface="Heiti SC Light" charset="-122"/>
                <a:ea typeface="Heiti SC Light" charset="-122"/>
              </a:rPr>
              <a:t>、</a:t>
            </a:r>
            <a:r>
              <a:rPr lang="zh-CN" altLang="en-US" sz="2400" dirty="0">
                <a:latin typeface="Heiti SC Light" charset="-122"/>
                <a:ea typeface="Heiti SC Light" charset="-122"/>
              </a:rPr>
              <a:t>共创软件联盟、</a:t>
            </a:r>
            <a:r>
              <a:rPr lang="en" altLang="zh-CN" sz="2400" dirty="0" err="1">
                <a:latin typeface="Heiti SC Light" charset="-122"/>
                <a:ea typeface="Heiti SC Light" charset="-122"/>
              </a:rPr>
              <a:t>Openharmony</a:t>
            </a:r>
            <a:r>
              <a:rPr lang="zh-CN" altLang="en" sz="2400" dirty="0">
                <a:latin typeface="Heiti SC Light" charset="-122"/>
                <a:ea typeface="Heiti SC Light" charset="-122"/>
              </a:rPr>
              <a:t>、</a:t>
            </a:r>
            <a:r>
              <a:rPr lang="en" altLang="zh-CN" sz="2400" dirty="0" err="1">
                <a:latin typeface="Heiti SC Light" charset="-122"/>
                <a:ea typeface="Heiti SC Light" charset="-122"/>
              </a:rPr>
              <a:t>OpenEuler</a:t>
            </a:r>
            <a:r>
              <a:rPr lang="zh-CN" altLang="en" sz="2400" dirty="0">
                <a:latin typeface="Heiti SC Light" charset="-122"/>
                <a:ea typeface="Heiti SC Light" charset="-122"/>
              </a:rPr>
              <a:t>、</a:t>
            </a:r>
            <a:r>
              <a:rPr lang="en" altLang="zh-CN" sz="2400" dirty="0" err="1">
                <a:latin typeface="Heiti SC Light" charset="-122"/>
                <a:ea typeface="Heiti SC Light" charset="-122"/>
              </a:rPr>
              <a:t>OpenGauss</a:t>
            </a:r>
            <a:r>
              <a:rPr lang="zh-CN" altLang="en-US" sz="2400" dirty="0">
                <a:latin typeface="Heiti SC Light" charset="-122"/>
                <a:ea typeface="Heiti SC Light" charset="-122"/>
              </a:rPr>
              <a:t>等</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300" dirty="0">
                <a:latin typeface="Kaiti SC" charset="-122"/>
                <a:ea typeface="Kaiti SC" charset="-122"/>
              </a:rPr>
              <a:t>开源软件并不意味着可以完全自由地使用其源代码，开源项目一般都有对应的许可证协议，其中对开发者使用开源软件的行为进行了约束</a:t>
            </a:r>
          </a:p>
        </p:txBody>
      </p:sp>
    </p:spTree>
    <p:extLst>
      <p:ext uri="{BB962C8B-B14F-4D97-AF65-F5344CB8AC3E}">
        <p14:creationId xmlns:p14="http://schemas.microsoft.com/office/powerpoint/2010/main" val="34819727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blinds(horizontal)">
                                      <p:cBhvr>
                                        <p:cTn id="19" dur="500"/>
                                        <p:tgtEl>
                                          <p:spTgt spid="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par>
                          <p:cTn id="29" fill="hold">
                            <p:stCondLst>
                              <p:cond delay="1000"/>
                            </p:stCondLst>
                            <p:childTnLst>
                              <p:par>
                                <p:cTn id="30" presetID="3" presetClass="entr" presetSubtype="10" fill="hold" nodeType="after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linds(horizontal)">
                                      <p:cBhvr>
                                        <p:cTn id="32" dur="500"/>
                                        <p:tgtEl>
                                          <p:spTgt spid="1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Effect transition="in" filter="blinds(horizontal)">
                                      <p:cBhvr>
                                        <p:cTn id="37"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5724644"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常用的开源软件许可证协议</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40452473-ED80-7274-04BD-C4D3E693B6B8}"/>
              </a:ext>
            </a:extLst>
          </p:cNvPr>
          <p:cNvGraphicFramePr>
            <a:graphicFrameLocks noGrp="1"/>
          </p:cNvGraphicFramePr>
          <p:nvPr>
            <p:extLst>
              <p:ext uri="{D42A27DB-BD31-4B8C-83A1-F6EECF244321}">
                <p14:modId xmlns:p14="http://schemas.microsoft.com/office/powerpoint/2010/main" val="1447208966"/>
              </p:ext>
            </p:extLst>
          </p:nvPr>
        </p:nvGraphicFramePr>
        <p:xfrm>
          <a:off x="148773" y="1117906"/>
          <a:ext cx="8890723" cy="5425440"/>
        </p:xfrm>
        <a:graphic>
          <a:graphicData uri="http://schemas.openxmlformats.org/drawingml/2006/table">
            <a:tbl>
              <a:tblPr firstRow="1" firstCol="1" bandRow="1"/>
              <a:tblGrid>
                <a:gridCol w="1736911">
                  <a:extLst>
                    <a:ext uri="{9D8B030D-6E8A-4147-A177-3AD203B41FA5}">
                      <a16:colId xmlns:a16="http://schemas.microsoft.com/office/drawing/2014/main" val="415173228"/>
                    </a:ext>
                  </a:extLst>
                </a:gridCol>
                <a:gridCol w="2438122">
                  <a:extLst>
                    <a:ext uri="{9D8B030D-6E8A-4147-A177-3AD203B41FA5}">
                      <a16:colId xmlns:a16="http://schemas.microsoft.com/office/drawing/2014/main" val="1839766208"/>
                    </a:ext>
                  </a:extLst>
                </a:gridCol>
                <a:gridCol w="3461657">
                  <a:extLst>
                    <a:ext uri="{9D8B030D-6E8A-4147-A177-3AD203B41FA5}">
                      <a16:colId xmlns:a16="http://schemas.microsoft.com/office/drawing/2014/main" val="1076996503"/>
                    </a:ext>
                  </a:extLst>
                </a:gridCol>
                <a:gridCol w="1254033">
                  <a:extLst>
                    <a:ext uri="{9D8B030D-6E8A-4147-A177-3AD203B41FA5}">
                      <a16:colId xmlns:a16="http://schemas.microsoft.com/office/drawing/2014/main" val="4039591404"/>
                    </a:ext>
                  </a:extLst>
                </a:gridCol>
              </a:tblGrid>
              <a:tr h="0">
                <a:tc>
                  <a:txBody>
                    <a:bodyPr/>
                    <a:lstStyle/>
                    <a:p>
                      <a:pPr marL="0" indent="12700" algn="ctr" defTabSz="914400" rtl="0" eaLnBrk="1" latinLnBrk="0" hangingPunct="1">
                        <a:tabLst/>
                      </a:pPr>
                      <a:r>
                        <a:rPr lang="zh-CN" altLang="en-US" sz="2000" b="1" kern="100" dirty="0">
                          <a:solidFill>
                            <a:schemeClr val="bg1"/>
                          </a:solidFill>
                          <a:effectLst/>
                          <a:latin typeface="Kaiti SC" panose="02010600040101010101" pitchFamily="2" charset="-122"/>
                          <a:ea typeface="Kaiti SC" panose="02010600040101010101" pitchFamily="2" charset="-122"/>
                          <a:cs typeface="+mn-cs"/>
                        </a:rPr>
                        <a:t>许可证类型</a:t>
                      </a:r>
                    </a:p>
                  </a:txBody>
                  <a:tcPr marL="68580" marR="68580" marT="0" marB="0">
                    <a:solidFill>
                      <a:srgbClr val="0070C0"/>
                    </a:solidFill>
                  </a:tcPr>
                </a:tc>
                <a:tc>
                  <a:txBody>
                    <a:bodyPr/>
                    <a:lstStyle/>
                    <a:p>
                      <a:pPr marL="0" indent="12700" algn="ctr" defTabSz="914400" rtl="0" eaLnBrk="1" latinLnBrk="0" hangingPunct="1">
                        <a:tabLst/>
                      </a:pPr>
                      <a:r>
                        <a:rPr lang="zh-CN" altLang="en-US" sz="2000" b="1" kern="100" dirty="0">
                          <a:solidFill>
                            <a:schemeClr val="bg1"/>
                          </a:solidFill>
                          <a:effectLst/>
                          <a:latin typeface="Kaiti SC" panose="02010600040101010101" pitchFamily="2" charset="-122"/>
                          <a:ea typeface="Kaiti SC" panose="02010600040101010101" pitchFamily="2" charset="-122"/>
                          <a:cs typeface="+mn-cs"/>
                        </a:rPr>
                        <a:t>触发开源义务的条件</a:t>
                      </a:r>
                    </a:p>
                  </a:txBody>
                  <a:tcPr marL="68580" marR="68580" marT="0" marB="0">
                    <a:solidFill>
                      <a:srgbClr val="0070C0"/>
                    </a:solidFill>
                  </a:tcPr>
                </a:tc>
                <a:tc>
                  <a:txBody>
                    <a:bodyPr/>
                    <a:lstStyle/>
                    <a:p>
                      <a:pPr marL="0" indent="12700" algn="ctr" defTabSz="914400" rtl="0" eaLnBrk="1" latinLnBrk="0" hangingPunct="1">
                        <a:tabLst/>
                      </a:pPr>
                      <a:r>
                        <a:rPr lang="zh-CN" altLang="en-US" sz="2000" b="1" kern="100" dirty="0">
                          <a:solidFill>
                            <a:schemeClr val="bg1"/>
                          </a:solidFill>
                          <a:effectLst/>
                          <a:latin typeface="Kaiti SC" panose="02010600040101010101" pitchFamily="2" charset="-122"/>
                          <a:ea typeface="Kaiti SC" panose="02010600040101010101" pitchFamily="2" charset="-122"/>
                          <a:cs typeface="+mn-cs"/>
                        </a:rPr>
                        <a:t>开源要求和范围</a:t>
                      </a:r>
                    </a:p>
                  </a:txBody>
                  <a:tcPr marL="68580" marR="68580" marT="0" marB="0">
                    <a:solidFill>
                      <a:srgbClr val="0070C0"/>
                    </a:solidFill>
                  </a:tcPr>
                </a:tc>
                <a:tc>
                  <a:txBody>
                    <a:bodyPr/>
                    <a:lstStyle/>
                    <a:p>
                      <a:pPr marL="0" indent="12700" algn="ctr" defTabSz="914400" rtl="0" eaLnBrk="1" latinLnBrk="0" hangingPunct="1">
                        <a:tabLst/>
                      </a:pPr>
                      <a:r>
                        <a:rPr lang="zh-CN" altLang="en-US" sz="2000" b="1" kern="100" dirty="0">
                          <a:solidFill>
                            <a:schemeClr val="bg1"/>
                          </a:solidFill>
                          <a:effectLst/>
                          <a:latin typeface="Kaiti SC" panose="02010600040101010101" pitchFamily="2" charset="-122"/>
                          <a:ea typeface="Kaiti SC" panose="02010600040101010101" pitchFamily="2" charset="-122"/>
                          <a:cs typeface="+mn-cs"/>
                        </a:rPr>
                        <a:t>典型软件</a:t>
                      </a:r>
                    </a:p>
                  </a:txBody>
                  <a:tcPr marL="68580" marR="68580" marT="0" marB="0">
                    <a:solidFill>
                      <a:srgbClr val="0070C0"/>
                    </a:solidFill>
                  </a:tcPr>
                </a:tc>
                <a:extLst>
                  <a:ext uri="{0D108BD9-81ED-4DB2-BD59-A6C34878D82A}">
                    <a16:rowId xmlns:a16="http://schemas.microsoft.com/office/drawing/2014/main" val="2102878776"/>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BSD</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(Apache/</a:t>
                      </a:r>
                      <a:br>
                        <a:rPr lang="en-US" sz="1600" kern="100" dirty="0">
                          <a:solidFill>
                            <a:schemeClr val="tx1"/>
                          </a:solidFill>
                          <a:effectLst/>
                          <a:latin typeface="Kaiti SC" panose="02010600040101010101" pitchFamily="2" charset="-122"/>
                          <a:ea typeface="Kaiti SC" panose="02010600040101010101" pitchFamily="2" charset="-122"/>
                          <a:cs typeface="+mn-cs"/>
                        </a:rPr>
                      </a:br>
                      <a:r>
                        <a:rPr lang="en-US" sz="1600" kern="100" dirty="0">
                          <a:solidFill>
                            <a:schemeClr val="tx1"/>
                          </a:solidFill>
                          <a:effectLst/>
                          <a:latin typeface="Kaiti SC" panose="02010600040101010101" pitchFamily="2" charset="-122"/>
                          <a:ea typeface="Kaiti SC" panose="02010600040101010101" pitchFamily="2" charset="-122"/>
                          <a:cs typeface="+mn-cs"/>
                        </a:rPr>
                        <a:t>BSD/MIT</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等）</a:t>
                      </a:r>
                    </a:p>
                  </a:txBody>
                  <a:tcPr marL="68400" marR="68580" marT="0" marB="0" anchor="ctr"/>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无</a:t>
                      </a:r>
                    </a:p>
                  </a:txBody>
                  <a:tcPr marL="68580" marR="68580" marT="0" marB="0"/>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无</a:t>
                      </a:r>
                    </a:p>
                  </a:txBody>
                  <a:tcPr marL="68580" marR="68580" marT="0" marB="0"/>
                </a:tc>
                <a:tc>
                  <a:txBody>
                    <a:bodyPr/>
                    <a:lstStyle/>
                    <a:p>
                      <a:pPr marL="0" indent="12700" algn="l"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Tomcat</a:t>
                      </a:r>
                      <a:r>
                        <a:rPr lang="zh-CN" altLang="en-US" sz="1600" kern="100" dirty="0">
                          <a:solidFill>
                            <a:schemeClr val="tx1"/>
                          </a:solidFill>
                          <a:effectLst/>
                          <a:latin typeface="Kaiti SC" panose="02010600040101010101" pitchFamily="2" charset="-122"/>
                          <a:ea typeface="Kaiti SC" panose="02010600040101010101" pitchFamily="2" charset="-122"/>
                          <a:cs typeface="+mn-cs"/>
                        </a:rPr>
                        <a:t>，</a:t>
                      </a:r>
                      <a:br>
                        <a:rPr lang="en-US" sz="1600" kern="100" dirty="0">
                          <a:solidFill>
                            <a:schemeClr val="tx1"/>
                          </a:solidFill>
                          <a:effectLst/>
                          <a:latin typeface="Kaiti SC" panose="02010600040101010101" pitchFamily="2" charset="-122"/>
                          <a:ea typeface="Kaiti SC" panose="02010600040101010101" pitchFamily="2" charset="-122"/>
                          <a:cs typeface="+mn-cs"/>
                        </a:rPr>
                      </a:br>
                      <a:r>
                        <a:rPr lang="en-US" sz="1600" kern="100" dirty="0">
                          <a:solidFill>
                            <a:schemeClr val="tx1"/>
                          </a:solidFill>
                          <a:effectLst/>
                          <a:latin typeface="Kaiti SC" panose="02010600040101010101" pitchFamily="2" charset="-122"/>
                          <a:ea typeface="Kaiti SC" panose="02010600040101010101" pitchFamily="2" charset="-122"/>
                          <a:cs typeface="+mn-cs"/>
                        </a:rPr>
                        <a:t>OpenSSL</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524439982"/>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MPL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MPL/EPL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等）</a:t>
                      </a:r>
                    </a:p>
                  </a:txBody>
                  <a:tcPr marL="68400" marR="68580" marT="0" marB="0" anchor="ctr"/>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产品集成使用该软件，并对外分发或销售；产品对该软件进行了修改。</a:t>
                      </a:r>
                    </a:p>
                  </a:txBody>
                  <a:tcPr marL="68580" marR="68580" marT="0" marB="0"/>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若无修改，则无需开源；若对其进行了修改，需将修改的部分开源。</a:t>
                      </a:r>
                    </a:p>
                  </a:txBody>
                  <a:tcPr marL="68580" marR="68580" marT="0" marB="0"/>
                </a:tc>
                <a:tc>
                  <a:txBody>
                    <a:bodyPr/>
                    <a:lstStyle/>
                    <a:p>
                      <a:pPr marL="0" indent="12700" algn="l" defTabSz="914400" rtl="0" eaLnBrk="1" latinLnBrk="0" hangingPunct="1">
                        <a:tabLst/>
                      </a:pPr>
                      <a:r>
                        <a:rPr lang="en-US" sz="1600" kern="100" dirty="0" err="1">
                          <a:solidFill>
                            <a:schemeClr val="tx1"/>
                          </a:solidFill>
                          <a:effectLst/>
                          <a:latin typeface="Kaiti SC" panose="02010600040101010101" pitchFamily="2" charset="-122"/>
                          <a:ea typeface="Kaiti SC" panose="02010600040101010101" pitchFamily="2" charset="-122"/>
                          <a:cs typeface="+mn-cs"/>
                        </a:rPr>
                        <a:t>FireFox</a:t>
                      </a:r>
                      <a:r>
                        <a:rPr lang="zh-CN" altLang="en-US" sz="1600" kern="100" dirty="0">
                          <a:solidFill>
                            <a:schemeClr val="tx1"/>
                          </a:solidFill>
                          <a:effectLst/>
                          <a:latin typeface="Kaiti SC" panose="02010600040101010101" pitchFamily="2" charset="-122"/>
                          <a:ea typeface="Kaiti SC" panose="02010600040101010101" pitchFamily="2" charset="-122"/>
                          <a:cs typeface="+mn-cs"/>
                        </a:rPr>
                        <a:t>，</a:t>
                      </a:r>
                      <a:br>
                        <a:rPr lang="en-US" sz="1600" kern="100" dirty="0">
                          <a:solidFill>
                            <a:schemeClr val="tx1"/>
                          </a:solidFill>
                          <a:effectLst/>
                          <a:latin typeface="Kaiti SC" panose="02010600040101010101" pitchFamily="2" charset="-122"/>
                          <a:ea typeface="Kaiti SC" panose="02010600040101010101" pitchFamily="2" charset="-122"/>
                          <a:cs typeface="+mn-cs"/>
                        </a:rPr>
                      </a:br>
                      <a:r>
                        <a:rPr lang="en-US" sz="1600" kern="100" dirty="0">
                          <a:solidFill>
                            <a:schemeClr val="tx1"/>
                          </a:solidFill>
                          <a:effectLst/>
                          <a:latin typeface="Kaiti SC" panose="02010600040101010101" pitchFamily="2" charset="-122"/>
                          <a:ea typeface="Kaiti SC" panose="02010600040101010101" pitchFamily="2" charset="-122"/>
                          <a:cs typeface="+mn-cs"/>
                        </a:rPr>
                        <a:t>Eclipse</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4230528316"/>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GPL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GPL</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产品集成使用该软件，并对外分发或销售。</a:t>
                      </a:r>
                    </a:p>
                  </a:txBody>
                  <a:tcPr marL="68580" marR="68580" marT="0" marB="0"/>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软件本身须开源。具有传染性，与其有链接关系的代码都必须以</a:t>
                      </a:r>
                      <a:r>
                        <a:rPr lang="en-US" sz="1600" kern="100">
                          <a:solidFill>
                            <a:schemeClr val="tx1"/>
                          </a:solidFill>
                          <a:effectLst/>
                          <a:latin typeface="Kaiti SC" panose="02010600040101010101" pitchFamily="2" charset="-122"/>
                          <a:ea typeface="Kaiti SC" panose="02010600040101010101" pitchFamily="2" charset="-122"/>
                          <a:cs typeface="+mn-cs"/>
                        </a:rPr>
                        <a:t>GPL</a:t>
                      </a:r>
                      <a:r>
                        <a:rPr lang="zh-CN" altLang="en-US" sz="1600" kern="100">
                          <a:solidFill>
                            <a:schemeClr val="tx1"/>
                          </a:solidFill>
                          <a:effectLst/>
                          <a:latin typeface="Kaiti SC" panose="02010600040101010101" pitchFamily="2" charset="-122"/>
                          <a:ea typeface="Kaiti SC" panose="02010600040101010101" pitchFamily="2" charset="-122"/>
                          <a:cs typeface="+mn-cs"/>
                        </a:rPr>
                        <a:t>许可对外开源，即与该软件在同一进程中运行的代码都必须开源。</a:t>
                      </a:r>
                    </a:p>
                  </a:txBody>
                  <a:tcPr marL="68580" marR="68580" marT="0" marB="0"/>
                </a:tc>
                <a:tc>
                  <a:txBody>
                    <a:bodyPr/>
                    <a:lstStyle/>
                    <a:p>
                      <a:pPr marL="0" indent="12700" algn="l" defTabSz="914400" rtl="0" eaLnBrk="1" latinLnBrk="0" hangingPunct="1">
                        <a:tabLst/>
                      </a:pPr>
                      <a:r>
                        <a:rPr lang="en-US" sz="1600" kern="100" dirty="0" err="1">
                          <a:solidFill>
                            <a:schemeClr val="tx1"/>
                          </a:solidFill>
                          <a:effectLst/>
                          <a:latin typeface="Kaiti SC" panose="02010600040101010101" pitchFamily="2" charset="-122"/>
                          <a:ea typeface="Kaiti SC" panose="02010600040101010101" pitchFamily="2" charset="-122"/>
                          <a:cs typeface="+mn-cs"/>
                        </a:rPr>
                        <a:t>linux</a:t>
                      </a:r>
                      <a:r>
                        <a:rPr lang="en-US" sz="1600" kern="100" dirty="0">
                          <a:solidFill>
                            <a:schemeClr val="tx1"/>
                          </a:solidFill>
                          <a:effectLst/>
                          <a:latin typeface="Kaiti SC" panose="02010600040101010101" pitchFamily="2" charset="-122"/>
                          <a:ea typeface="Kaiti SC" panose="02010600040101010101" pitchFamily="2" charset="-122"/>
                          <a:cs typeface="+mn-cs"/>
                        </a:rPr>
                        <a:t> kernel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a:t>
                      </a:r>
                      <a:br>
                        <a:rPr lang="en-US" sz="1600" kern="100" dirty="0">
                          <a:solidFill>
                            <a:schemeClr val="tx1"/>
                          </a:solidFill>
                          <a:effectLst/>
                          <a:latin typeface="Kaiti SC" panose="02010600040101010101" pitchFamily="2" charset="-122"/>
                          <a:ea typeface="Kaiti SC" panose="02010600040101010101" pitchFamily="2" charset="-122"/>
                          <a:cs typeface="+mn-cs"/>
                        </a:rPr>
                      </a:br>
                      <a:r>
                        <a:rPr lang="en-US" sz="1600" kern="100" dirty="0" err="1">
                          <a:solidFill>
                            <a:schemeClr val="tx1"/>
                          </a:solidFill>
                          <a:effectLst/>
                          <a:latin typeface="Kaiti SC" panose="02010600040101010101" pitchFamily="2" charset="-122"/>
                          <a:ea typeface="Kaiti SC" panose="02010600040101010101" pitchFamily="2" charset="-122"/>
                          <a:cs typeface="+mn-cs"/>
                        </a:rPr>
                        <a:t>Busybox</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920929114"/>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GPL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LGPL</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产品集成使用该软件，并对外分发或销售。</a:t>
                      </a:r>
                    </a:p>
                  </a:txBody>
                  <a:tcPr marL="68580" marR="68580" marT="0" marB="0"/>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软件本身须开源。具有传染性，与其静态链接部分的代码也必须以</a:t>
                      </a:r>
                      <a:r>
                        <a:rPr lang="en-US" sz="1600" kern="100">
                          <a:solidFill>
                            <a:schemeClr val="tx1"/>
                          </a:solidFill>
                          <a:effectLst/>
                          <a:latin typeface="Kaiti SC" panose="02010600040101010101" pitchFamily="2" charset="-122"/>
                          <a:ea typeface="Kaiti SC" panose="02010600040101010101" pitchFamily="2" charset="-122"/>
                          <a:cs typeface="+mn-cs"/>
                        </a:rPr>
                        <a:t>LGPL</a:t>
                      </a:r>
                      <a:r>
                        <a:rPr lang="zh-CN" altLang="en-US" sz="1600" kern="100">
                          <a:solidFill>
                            <a:schemeClr val="tx1"/>
                          </a:solidFill>
                          <a:effectLst/>
                          <a:latin typeface="Kaiti SC" panose="02010600040101010101" pitchFamily="2" charset="-122"/>
                          <a:ea typeface="Kaiti SC" panose="02010600040101010101" pitchFamily="2" charset="-122"/>
                          <a:cs typeface="+mn-cs"/>
                        </a:rPr>
                        <a:t>许可开源；动态链接则不被传染。</a:t>
                      </a:r>
                    </a:p>
                  </a:txBody>
                  <a:tcPr marL="68580" marR="68580" marT="0" marB="0"/>
                </a:tc>
                <a:tc>
                  <a:txBody>
                    <a:bodyPr/>
                    <a:lstStyle/>
                    <a:p>
                      <a:pPr marL="0" indent="12700" algn="l"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Hibernate</a:t>
                      </a:r>
                      <a:r>
                        <a:rPr lang="zh-CN" altLang="en-US" sz="1600" kern="100" dirty="0">
                          <a:solidFill>
                            <a:schemeClr val="tx1"/>
                          </a:solidFill>
                          <a:effectLst/>
                          <a:latin typeface="Kaiti SC" panose="02010600040101010101" pitchFamily="2" charset="-122"/>
                          <a:ea typeface="Kaiti SC" panose="02010600040101010101" pitchFamily="2" charset="-122"/>
                          <a:cs typeface="+mn-cs"/>
                        </a:rPr>
                        <a:t>，</a:t>
                      </a:r>
                      <a:r>
                        <a:rPr lang="en-US" sz="1600" kern="100" dirty="0" err="1">
                          <a:solidFill>
                            <a:schemeClr val="tx1"/>
                          </a:solidFill>
                          <a:effectLst/>
                          <a:latin typeface="Kaiti SC" panose="02010600040101010101" pitchFamily="2" charset="-122"/>
                          <a:ea typeface="Kaiti SC" panose="02010600040101010101" pitchFamily="2" charset="-122"/>
                          <a:cs typeface="+mn-cs"/>
                        </a:rPr>
                        <a:t>glibc</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2337743671"/>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GPL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AGPL</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产品集成使用该软件。</a:t>
                      </a:r>
                    </a:p>
                  </a:txBody>
                  <a:tcPr marL="68580" marR="68580" marT="0" marB="0"/>
                </a:tc>
                <a:tc>
                  <a:txBody>
                    <a:bodyPr/>
                    <a:lstStyle/>
                    <a:p>
                      <a:pPr marL="0" indent="12700" algn="l" defTabSz="914400" rtl="0" eaLnBrk="1" latinLnBrk="0" hangingPunct="1">
                        <a:tabLst/>
                      </a:pPr>
                      <a:r>
                        <a:rPr lang="zh-CN" altLang="en-US" sz="1600" kern="100">
                          <a:solidFill>
                            <a:schemeClr val="tx1"/>
                          </a:solidFill>
                          <a:effectLst/>
                          <a:latin typeface="Kaiti SC" panose="02010600040101010101" pitchFamily="2" charset="-122"/>
                          <a:ea typeface="Kaiti SC" panose="02010600040101010101" pitchFamily="2" charset="-122"/>
                          <a:cs typeface="+mn-cs"/>
                        </a:rPr>
                        <a:t>在</a:t>
                      </a:r>
                      <a:r>
                        <a:rPr lang="en-US" sz="1600" kern="100">
                          <a:solidFill>
                            <a:schemeClr val="tx1"/>
                          </a:solidFill>
                          <a:effectLst/>
                          <a:latin typeface="Kaiti SC" panose="02010600040101010101" pitchFamily="2" charset="-122"/>
                          <a:ea typeface="Kaiti SC" panose="02010600040101010101" pitchFamily="2" charset="-122"/>
                          <a:cs typeface="+mn-cs"/>
                        </a:rPr>
                        <a:t>GPL</a:t>
                      </a:r>
                      <a:r>
                        <a:rPr lang="zh-CN" altLang="en-US" sz="1600" kern="100">
                          <a:solidFill>
                            <a:schemeClr val="tx1"/>
                          </a:solidFill>
                          <a:effectLst/>
                          <a:latin typeface="Kaiti SC" panose="02010600040101010101" pitchFamily="2" charset="-122"/>
                          <a:ea typeface="Kaiti SC" panose="02010600040101010101" pitchFamily="2" charset="-122"/>
                          <a:cs typeface="+mn-cs"/>
                        </a:rPr>
                        <a:t>上增加了一条限制：即便不对外分发，只要在网络服务器上使用</a:t>
                      </a:r>
                      <a:r>
                        <a:rPr lang="en-US" sz="1600" kern="100">
                          <a:solidFill>
                            <a:schemeClr val="tx1"/>
                          </a:solidFill>
                          <a:effectLst/>
                          <a:latin typeface="Kaiti SC" panose="02010600040101010101" pitchFamily="2" charset="-122"/>
                          <a:ea typeface="Kaiti SC" panose="02010600040101010101" pitchFamily="2" charset="-122"/>
                          <a:cs typeface="+mn-cs"/>
                        </a:rPr>
                        <a:t>AGPL</a:t>
                      </a:r>
                      <a:r>
                        <a:rPr lang="zh-CN" altLang="en-US" sz="1600" kern="100">
                          <a:solidFill>
                            <a:schemeClr val="tx1"/>
                          </a:solidFill>
                          <a:effectLst/>
                          <a:latin typeface="Kaiti SC" panose="02010600040101010101" pitchFamily="2" charset="-122"/>
                          <a:ea typeface="Kaiti SC" panose="02010600040101010101" pitchFamily="2" charset="-122"/>
                          <a:cs typeface="+mn-cs"/>
                        </a:rPr>
                        <a:t>软件提供网络服务，就需要履行相关开源义务。</a:t>
                      </a:r>
                    </a:p>
                  </a:txBody>
                  <a:tcPr marL="68580" marR="68580" marT="0" marB="0"/>
                </a:tc>
                <a:tc>
                  <a:txBody>
                    <a:bodyPr/>
                    <a:lstStyle/>
                    <a:p>
                      <a:pPr marL="0" indent="12700" algn="l" defTabSz="914400" rtl="0" eaLnBrk="1" latinLnBrk="0" hangingPunct="1">
                        <a:tabLst/>
                      </a:pPr>
                      <a:r>
                        <a:rPr lang="en-US" sz="1600" kern="100" dirty="0" err="1">
                          <a:solidFill>
                            <a:schemeClr val="tx1"/>
                          </a:solidFill>
                          <a:effectLst/>
                          <a:latin typeface="Kaiti SC" panose="02010600040101010101" pitchFamily="2" charset="-122"/>
                          <a:ea typeface="Kaiti SC" panose="02010600040101010101" pitchFamily="2" charset="-122"/>
                          <a:cs typeface="+mn-cs"/>
                        </a:rPr>
                        <a:t>Berkeley_DB</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956094650"/>
                  </a:ext>
                </a:extLst>
              </a:tr>
              <a:tr h="0">
                <a:tc>
                  <a:txBody>
                    <a:bodyPr/>
                    <a:lstStyle/>
                    <a:p>
                      <a:pPr marL="0" indent="12700" algn="ctr"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GPL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类：</a:t>
                      </a:r>
                      <a:r>
                        <a:rPr lang="en-US" sz="1600" kern="100" dirty="0">
                          <a:solidFill>
                            <a:schemeClr val="tx1"/>
                          </a:solidFill>
                          <a:effectLst/>
                          <a:latin typeface="Kaiti SC" panose="02010600040101010101" pitchFamily="2" charset="-122"/>
                          <a:ea typeface="Kaiti SC" panose="02010600040101010101" pitchFamily="2" charset="-122"/>
                          <a:cs typeface="+mn-cs"/>
                        </a:rPr>
                        <a:t>SSPL</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产品将该软件做为服务或利用该软件的能力向公司外的第三方提供服务。</a:t>
                      </a:r>
                    </a:p>
                  </a:txBody>
                  <a:tcPr marL="68580" marR="68580" marT="0" marB="0"/>
                </a:tc>
                <a:tc>
                  <a:txBody>
                    <a:bodyPr/>
                    <a:lstStyle/>
                    <a:p>
                      <a:pPr marL="0" indent="12700" algn="l" defTabSz="914400" rtl="0" eaLnBrk="1" latinLnBrk="0" hangingPunct="1">
                        <a:tabLst/>
                      </a:pPr>
                      <a:r>
                        <a:rPr lang="zh-CN" altLang="en-US" sz="1600" kern="100" dirty="0">
                          <a:solidFill>
                            <a:schemeClr val="tx1"/>
                          </a:solidFill>
                          <a:effectLst/>
                          <a:latin typeface="Kaiti SC" panose="02010600040101010101" pitchFamily="2" charset="-122"/>
                          <a:ea typeface="Kaiti SC" panose="02010600040101010101" pitchFamily="2" charset="-122"/>
                          <a:cs typeface="+mn-cs"/>
                        </a:rPr>
                        <a:t>软件本身须开源。具有传染性，使用开源软件相关的服务组件也要开源。相对</a:t>
                      </a:r>
                      <a:r>
                        <a:rPr lang="en-US" sz="1600" kern="100" dirty="0">
                          <a:solidFill>
                            <a:schemeClr val="tx1"/>
                          </a:solidFill>
                          <a:effectLst/>
                          <a:latin typeface="Kaiti SC" panose="02010600040101010101" pitchFamily="2" charset="-122"/>
                          <a:ea typeface="Kaiti SC" panose="02010600040101010101" pitchFamily="2" charset="-122"/>
                          <a:cs typeface="+mn-cs"/>
                        </a:rPr>
                        <a:t>AGPL</a:t>
                      </a:r>
                      <a:r>
                        <a:rPr lang="zh-CN" altLang="en-US" sz="1600" kern="100" dirty="0">
                          <a:solidFill>
                            <a:schemeClr val="tx1"/>
                          </a:solidFill>
                          <a:effectLst/>
                          <a:latin typeface="Kaiti SC" panose="02010600040101010101" pitchFamily="2" charset="-122"/>
                          <a:ea typeface="Kaiti SC" panose="02010600040101010101" pitchFamily="2" charset="-122"/>
                          <a:cs typeface="+mn-cs"/>
                        </a:rPr>
                        <a:t>，任何试图将开源软件作为服务加以利用的组件，都必须开放用于提供此类服务的软件的源代码。</a:t>
                      </a:r>
                    </a:p>
                  </a:txBody>
                  <a:tcPr marL="68580" marR="68580" marT="0" marB="0"/>
                </a:tc>
                <a:tc>
                  <a:txBody>
                    <a:bodyPr/>
                    <a:lstStyle/>
                    <a:p>
                      <a:pPr marL="0" indent="12700" algn="l" defTabSz="914400" rtl="0" eaLnBrk="1" latinLnBrk="0" hangingPunct="1">
                        <a:tabLst/>
                      </a:pPr>
                      <a:r>
                        <a:rPr lang="en-US" sz="1600" kern="100" dirty="0">
                          <a:solidFill>
                            <a:schemeClr val="tx1"/>
                          </a:solidFill>
                          <a:effectLst/>
                          <a:latin typeface="Kaiti SC" panose="02010600040101010101" pitchFamily="2" charset="-122"/>
                          <a:ea typeface="Kaiti SC" panose="02010600040101010101" pitchFamily="2" charset="-122"/>
                          <a:cs typeface="+mn-cs"/>
                        </a:rPr>
                        <a:t>MongoDB</a:t>
                      </a:r>
                      <a:endParaRPr lang="zh-CN" altLang="en-US" sz="1600" kern="100" dirty="0">
                        <a:solidFill>
                          <a:schemeClr val="tx1"/>
                        </a:solidFill>
                        <a:effectLst/>
                        <a:latin typeface="Kaiti SC" panose="02010600040101010101" pitchFamily="2" charset="-122"/>
                        <a:ea typeface="Kaiti SC" panose="02010600040101010101" pitchFamily="2" charset="-122"/>
                        <a:cs typeface="+mn-cs"/>
                      </a:endParaRPr>
                    </a:p>
                  </a:txBody>
                  <a:tcPr marL="68400" marR="68580" marT="0" marB="0" anchor="ctr"/>
                </a:tc>
                <a:extLst>
                  <a:ext uri="{0D108BD9-81ED-4DB2-BD59-A6C34878D82A}">
                    <a16:rowId xmlns:a16="http://schemas.microsoft.com/office/drawing/2014/main" val="3186716197"/>
                  </a:ext>
                </a:extLst>
              </a:tr>
            </a:tbl>
          </a:graphicData>
        </a:graphic>
      </p:graphicFrame>
    </p:spTree>
    <p:extLst>
      <p:ext uri="{BB962C8B-B14F-4D97-AF65-F5344CB8AC3E}">
        <p14:creationId xmlns:p14="http://schemas.microsoft.com/office/powerpoint/2010/main" val="2694247763"/>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6647974"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课堂讨论：开源社区及开源项目</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50BFE86D-2FFC-3343-9385-30BA55661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095" y="966159"/>
            <a:ext cx="2339861" cy="1857600"/>
          </a:xfrm>
          <a:prstGeom prst="rect">
            <a:avLst/>
          </a:prstGeom>
        </p:spPr>
      </p:pic>
      <p:sp>
        <p:nvSpPr>
          <p:cNvPr id="11" name="矩形 10">
            <a:extLst>
              <a:ext uri="{FF2B5EF4-FFF2-40B4-BE49-F238E27FC236}">
                <a16:creationId xmlns:a16="http://schemas.microsoft.com/office/drawing/2014/main" id="{F25F1890-10C8-4244-BACA-372E1D0B177F}"/>
              </a:ext>
            </a:extLst>
          </p:cNvPr>
          <p:cNvSpPr/>
          <p:nvPr/>
        </p:nvSpPr>
        <p:spPr>
          <a:xfrm>
            <a:off x="363071" y="2920410"/>
            <a:ext cx="8598049" cy="2308324"/>
          </a:xfrm>
          <a:prstGeom prst="rect">
            <a:avLst/>
          </a:prstGeom>
        </p:spPr>
        <p:txBody>
          <a:bodyPr wrap="square">
            <a:spAutoFit/>
          </a:bodyPr>
          <a:lstStyle/>
          <a:p>
            <a:r>
              <a:rPr lang="zh-CN" altLang="en-US" sz="4800" b="1" dirty="0">
                <a:latin typeface="Kaiti SC" charset="-122"/>
                <a:ea typeface="Kaiti SC" charset="-122"/>
                <a:cs typeface="Kaiti SC" charset="-122"/>
              </a:rPr>
              <a:t>课堂讨论：你是否了解、使用或参加过开源项目？如何理解开源项目的运作机制及其价值？</a:t>
            </a:r>
            <a:endParaRPr lang="en-US" altLang="zh-CN" sz="4800" b="1" dirty="0">
              <a:latin typeface="Kaiti SC" charset="-122"/>
              <a:ea typeface="Kaiti SC" charset="-122"/>
              <a:cs typeface="Kaiti SC" charset="-122"/>
            </a:endParaRPr>
          </a:p>
        </p:txBody>
      </p:sp>
    </p:spTree>
    <p:extLst>
      <p:ext uri="{BB962C8B-B14F-4D97-AF65-F5344CB8AC3E}">
        <p14:creationId xmlns:p14="http://schemas.microsoft.com/office/powerpoint/2010/main" val="3230243581"/>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88410" y="168330"/>
            <a:ext cx="341632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三方库管理平台</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07034" y="1062926"/>
            <a:ext cx="8861552" cy="5632311"/>
          </a:xfrm>
          <a:prstGeom prst="rect">
            <a:avLst/>
          </a:prstGeom>
          <a:noFill/>
        </p:spPr>
        <p:txBody>
          <a:bodyPr wrap="square" rtlCol="0">
            <a:spAutoFit/>
          </a:bodyPr>
          <a:lstStyle/>
          <a:p>
            <a:pPr marL="285750" lvl="1" indent="-285750">
              <a:buFont typeface="Arial" panose="020B0604020202020204" pitchFamily="34" charset="0"/>
              <a:buChar char="•"/>
            </a:pPr>
            <a:r>
              <a:rPr lang="zh-CN" altLang="en-US" sz="3300" dirty="0">
                <a:latin typeface="Kaiti SC" charset="-122"/>
                <a:ea typeface="Kaiti SC" charset="-122"/>
              </a:rPr>
              <a:t>如果一个开源软件属于三方库时，开发人员一般会选择将其成熟版本发布到三方库管理平台</a:t>
            </a:r>
            <a:endParaRPr lang="en-US" altLang="zh-CN" sz="3300" dirty="0">
              <a:latin typeface="Kaiti SC" charset="-122"/>
              <a:ea typeface="Kaiti SC" charset="-122"/>
            </a:endParaRPr>
          </a:p>
          <a:p>
            <a:pPr marL="285750" lvl="1" indent="-285750">
              <a:buFont typeface="Arial" panose="020B0604020202020204" pitchFamily="34" charset="0"/>
              <a:buChar char="•"/>
            </a:pPr>
            <a:r>
              <a:rPr lang="zh-CN" altLang="en-US" sz="3300" dirty="0">
                <a:latin typeface="Kaiti SC" charset="-122"/>
                <a:ea typeface="Kaiti SC" charset="-122"/>
              </a:rPr>
              <a:t>其他软件开发者可以在项目配置文件中引入该三方库的特定版本并使用所引入三方库的</a:t>
            </a:r>
            <a:r>
              <a:rPr lang="en-US" altLang="zh-CN" sz="3300" dirty="0">
                <a:latin typeface="Kaiti SC" charset="-122"/>
                <a:ea typeface="Kaiti SC" charset="-122"/>
              </a:rPr>
              <a:t>API</a:t>
            </a:r>
          </a:p>
          <a:p>
            <a:pPr marL="285750" lvl="1" indent="-285750">
              <a:buFont typeface="Arial" panose="020B0604020202020204" pitchFamily="34" charset="0"/>
              <a:buChar char="•"/>
            </a:pPr>
            <a:r>
              <a:rPr lang="zh-CN" altLang="en-US" sz="3300" dirty="0">
                <a:latin typeface="Kaiti SC" charset="-122"/>
                <a:ea typeface="Kaiti SC" charset="-122"/>
              </a:rPr>
              <a:t>面向</a:t>
            </a:r>
            <a:r>
              <a:rPr lang="en-US" altLang="zh-CN" sz="3300" dirty="0">
                <a:latin typeface="Kaiti SC" charset="-122"/>
                <a:ea typeface="Kaiti SC" charset="-122"/>
              </a:rPr>
              <a:t>Java</a:t>
            </a:r>
            <a:r>
              <a:rPr lang="zh-CN" altLang="en-US" sz="3300" dirty="0">
                <a:latin typeface="Kaiti SC" charset="-122"/>
                <a:ea typeface="Kaiti SC" charset="-122"/>
              </a:rPr>
              <a:t>语言三方库的</a:t>
            </a:r>
            <a:r>
              <a:rPr lang="en-US" altLang="zh-CN" sz="3300" dirty="0">
                <a:latin typeface="Kaiti SC" charset="-122"/>
                <a:ea typeface="Kaiti SC" charset="-122"/>
              </a:rPr>
              <a:t>Maven</a:t>
            </a:r>
            <a:r>
              <a:rPr lang="zh-CN" altLang="en-US" sz="3300" dirty="0">
                <a:latin typeface="Kaiti SC" charset="-122"/>
                <a:ea typeface="Kaiti SC" charset="-122"/>
              </a:rPr>
              <a:t>仓库</a:t>
            </a:r>
            <a:endParaRPr lang="en-US" altLang="zh-CN" sz="3300" dirty="0">
              <a:latin typeface="Kaiti SC" charset="-122"/>
              <a:ea typeface="Kaiti SC" charset="-122"/>
            </a:endParaRPr>
          </a:p>
          <a:p>
            <a:pPr marL="1028700" lvl="1" indent="-571500">
              <a:buFont typeface="Wingdings" charset="2"/>
              <a:buChar char="ü"/>
            </a:pPr>
            <a:r>
              <a:rPr lang="zh-CN" altLang="en-US" sz="2400" dirty="0">
                <a:latin typeface="Heiti SC Light" charset="-122"/>
                <a:ea typeface="Heiti SC Light" charset="-122"/>
              </a:rPr>
              <a:t>当前使用最广泛的三方库管理平台之一，基于简单文件系统存储集中化管理</a:t>
            </a:r>
            <a:r>
              <a:rPr lang="en" altLang="zh-CN" sz="2400" dirty="0">
                <a:latin typeface="Heiti SC Light" charset="-122"/>
                <a:ea typeface="Heiti SC Light" charset="-122"/>
              </a:rPr>
              <a:t>Java API</a:t>
            </a:r>
            <a:r>
              <a:rPr lang="zh-CN" altLang="en-US" sz="2400" dirty="0">
                <a:latin typeface="Heiti SC Light" charset="-122"/>
                <a:ea typeface="Heiti SC Light" charset="-122"/>
              </a:rPr>
              <a:t>资源（</a:t>
            </a:r>
            <a:r>
              <a:rPr lang="en" altLang="zh-CN" sz="2400" dirty="0">
                <a:latin typeface="Heiti SC Light" charset="-122"/>
                <a:ea typeface="Heiti SC Light" charset="-122"/>
              </a:rPr>
              <a:t>Jar</a:t>
            </a:r>
            <a:r>
              <a:rPr lang="zh-CN" altLang="en-US" sz="2400" dirty="0">
                <a:latin typeface="Heiti SC Light" charset="-122"/>
                <a:ea typeface="Heiti SC Light" charset="-122"/>
              </a:rPr>
              <a:t>包）</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提供客户端为开发者提供资源检索与构建服务</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软件项目可以通过包管理器引用资源并加入项目进行构建</a:t>
            </a:r>
          </a:p>
          <a:p>
            <a:pPr marL="285750" lvl="1" indent="-285750">
              <a:buFont typeface="Arial" panose="020B0604020202020204" pitchFamily="34" charset="0"/>
              <a:buChar char="•"/>
            </a:pPr>
            <a:r>
              <a:rPr lang="zh-CN" altLang="en-US" sz="3300" dirty="0">
                <a:latin typeface="Kaiti SC" charset="-122"/>
                <a:ea typeface="Kaiti SC" charset="-122"/>
              </a:rPr>
              <a:t>其他主流三方库管理平台还包括面向</a:t>
            </a:r>
            <a:r>
              <a:rPr lang="en" altLang="zh-CN" sz="3300" dirty="0">
                <a:latin typeface="Kaiti SC" charset="-122"/>
                <a:ea typeface="Kaiti SC" charset="-122"/>
              </a:rPr>
              <a:t>C/C++</a:t>
            </a:r>
            <a:r>
              <a:rPr lang="zh-CN" altLang="en-US" sz="3300" dirty="0">
                <a:latin typeface="Kaiti SC" charset="-122"/>
                <a:ea typeface="Kaiti SC" charset="-122"/>
              </a:rPr>
              <a:t>语言三方库的</a:t>
            </a:r>
            <a:r>
              <a:rPr lang="en" altLang="zh-CN" sz="3300" dirty="0" err="1">
                <a:latin typeface="Kaiti SC" charset="-122"/>
                <a:ea typeface="Kaiti SC" charset="-122"/>
              </a:rPr>
              <a:t>JFrog</a:t>
            </a:r>
            <a:r>
              <a:rPr lang="en" altLang="zh-CN" sz="3300" dirty="0">
                <a:latin typeface="Kaiti SC" charset="-122"/>
                <a:ea typeface="Kaiti SC" charset="-122"/>
              </a:rPr>
              <a:t> </a:t>
            </a:r>
            <a:r>
              <a:rPr lang="en" altLang="zh-CN" sz="3300" dirty="0" err="1">
                <a:latin typeface="Kaiti SC" charset="-122"/>
                <a:ea typeface="Kaiti SC" charset="-122"/>
              </a:rPr>
              <a:t>ConanCenter</a:t>
            </a:r>
            <a:r>
              <a:rPr lang="zh-CN" altLang="en" sz="3300" dirty="0">
                <a:latin typeface="Kaiti SC" charset="-122"/>
                <a:ea typeface="Kaiti SC" charset="-122"/>
              </a:rPr>
              <a:t>（</a:t>
            </a:r>
            <a:r>
              <a:rPr lang="zh-CN" altLang="en-US" sz="3300" dirty="0">
                <a:latin typeface="Kaiti SC" charset="-122"/>
                <a:ea typeface="Kaiti SC" charset="-122"/>
              </a:rPr>
              <a:t>与该平台相对应的包管理器是</a:t>
            </a:r>
            <a:r>
              <a:rPr lang="en" altLang="zh-CN" sz="3300" dirty="0">
                <a:latin typeface="Kaiti SC" charset="-122"/>
                <a:ea typeface="Kaiti SC" charset="-122"/>
              </a:rPr>
              <a:t>Conan</a:t>
            </a:r>
            <a:r>
              <a:rPr lang="zh-CN" altLang="en" sz="3300" dirty="0">
                <a:latin typeface="Kaiti SC" charset="-122"/>
                <a:ea typeface="Kaiti SC" charset="-122"/>
              </a:rPr>
              <a:t>）</a:t>
            </a:r>
            <a:endParaRPr lang="zh-CN" altLang="en-US" sz="3300" dirty="0">
              <a:latin typeface="Kaiti SC" charset="-122"/>
              <a:ea typeface="Kaiti SC" charset="-122"/>
            </a:endParaRPr>
          </a:p>
        </p:txBody>
      </p:sp>
    </p:spTree>
    <p:extLst>
      <p:ext uri="{BB962C8B-B14F-4D97-AF65-F5344CB8AC3E}">
        <p14:creationId xmlns:p14="http://schemas.microsoft.com/office/powerpoint/2010/main" val="14268109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blinds(horizontal)">
                                      <p:cBhvr>
                                        <p:cTn id="21" dur="500"/>
                                        <p:tgtEl>
                                          <p:spTgt spid="11">
                                            <p:txEl>
                                              <p:pRg st="3" end="3"/>
                                            </p:txEl>
                                          </p:spTgt>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blinds(horizontal)">
                                      <p:cBhvr>
                                        <p:cTn id="25" dur="500"/>
                                        <p:tgtEl>
                                          <p:spTgt spid="11">
                                            <p:txEl>
                                              <p:pRg st="4" end="4"/>
                                            </p:txEl>
                                          </p:spTgt>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blinds(horizontal)">
                                      <p:cBhvr>
                                        <p:cTn id="29" dur="500"/>
                                        <p:tgtEl>
                                          <p:spTgt spid="1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1">
                                            <p:txEl>
                                              <p:pRg st="6" end="6"/>
                                            </p:txEl>
                                          </p:spTgt>
                                        </p:tgtEl>
                                        <p:attrNameLst>
                                          <p:attrName>style.visibility</p:attrName>
                                        </p:attrNameLst>
                                      </p:cBhvr>
                                      <p:to>
                                        <p:strVal val="visible"/>
                                      </p:to>
                                    </p:set>
                                    <p:animEffect transition="in" filter="blinds(horizontal)">
                                      <p:cBhvr>
                                        <p:cTn id="34"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724644"/>
          </a:xfrm>
          <a:prstGeom prst="rect">
            <a:avLst/>
          </a:prstGeom>
          <a:noFill/>
        </p:spPr>
        <p:txBody>
          <a:bodyPr wrap="square" rtlCol="0">
            <a:spAutoFit/>
          </a:bodyPr>
          <a:lstStyle/>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软件开发库复用</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实现通用功能且经过良好封装的软件组件经过大量复用后，不仅可以提高开发效率、节约开发成本，而且其质量较高</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一般以开发库的形式提供，有着明确定义的</a:t>
            </a:r>
            <a:r>
              <a:rPr lang="en-US" altLang="zh-CN" sz="2400" dirty="0">
                <a:latin typeface="Heiti SC Light" charset="-122"/>
                <a:ea typeface="Heiti SC Light" charset="-122"/>
              </a:rPr>
              <a:t>API</a:t>
            </a:r>
            <a:r>
              <a:rPr lang="zh-CN" altLang="en-US" sz="2400" dirty="0">
                <a:latin typeface="Heiti SC Light" charset="-122"/>
                <a:ea typeface="Heiti SC Light" charset="-122"/>
              </a:rPr>
              <a:t>及相关的文档描述，应用开发者可以方便地进行复用和集成</a:t>
            </a:r>
            <a:endParaRPr lang="en-US" altLang="zh-CN" sz="3400" dirty="0">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在线服务复用</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有些通用功能与提供方的内部数据和业务密切相关，只能以在线服务的方式提供</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应用开发人员通过远程服务调用的方式进行使用</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接口描述规范</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围绕各种类型的软件组件形成的接口描述规范使得组件接口可以被规范化描述</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进一步还可以基于接口描述实现客户端桩（</a:t>
            </a:r>
            <a:r>
              <a:rPr lang="en" altLang="zh-CN" sz="2400" dirty="0">
                <a:latin typeface="Heiti SC Light" charset="-122"/>
                <a:ea typeface="Heiti SC Light" charset="-122"/>
              </a:rPr>
              <a:t>stub</a:t>
            </a:r>
            <a:r>
              <a:rPr lang="zh-CN" altLang="en" sz="2400" dirty="0">
                <a:latin typeface="Heiti SC Light" charset="-122"/>
                <a:ea typeface="Heiti SC Light" charset="-122"/>
              </a:rPr>
              <a:t>）</a:t>
            </a:r>
            <a:r>
              <a:rPr lang="zh-CN" altLang="en-US" sz="2400" dirty="0">
                <a:latin typeface="Heiti SC Light" charset="-122"/>
                <a:ea typeface="Heiti SC Light" charset="-122"/>
              </a:rPr>
              <a:t>和服务端骨架（</a:t>
            </a:r>
            <a:r>
              <a:rPr lang="en" altLang="zh-CN" sz="2400" dirty="0">
                <a:latin typeface="Heiti SC Light" charset="-122"/>
                <a:ea typeface="Heiti SC Light" charset="-122"/>
              </a:rPr>
              <a:t>skeleton</a:t>
            </a:r>
            <a:r>
              <a:rPr lang="zh-CN" altLang="en" sz="2400" dirty="0">
                <a:latin typeface="Heiti SC Light" charset="-122"/>
                <a:ea typeface="Heiti SC Light" charset="-122"/>
              </a:rPr>
              <a:t>）</a:t>
            </a:r>
            <a:r>
              <a:rPr lang="zh-CN" altLang="en-US" sz="2400" dirty="0">
                <a:latin typeface="Heiti SC Light" charset="-122"/>
                <a:ea typeface="Heiti SC Light" charset="-122"/>
              </a:rPr>
              <a:t>代码的自动生成</a:t>
            </a:r>
            <a:endParaRPr lang="en-US" altLang="zh-CN" sz="2400" dirty="0">
              <a:latin typeface="Heiti SC Light" charset="-122"/>
              <a:ea typeface="Heiti SC Light" charset="-122"/>
            </a:endParaRPr>
          </a:p>
        </p:txBody>
      </p:sp>
      <p:sp>
        <p:nvSpPr>
          <p:cNvPr id="10" name="矩形 9"/>
          <p:cNvSpPr/>
          <p:nvPr/>
        </p:nvSpPr>
        <p:spPr>
          <a:xfrm>
            <a:off x="488410" y="168330"/>
            <a:ext cx="2518638"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组件级复用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55512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blinds(horizontal)">
                                      <p:cBhvr>
                                        <p:cTn id="33" dur="500"/>
                                        <p:tgtEl>
                                          <p:spTgt spid="11">
                                            <p:txEl>
                                              <p:pRg st="6" end="6"/>
                                            </p:txEl>
                                          </p:spTgt>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Effect transition="in" filter="blinds(horizontal)">
                                      <p:cBhvr>
                                        <p:cTn id="37" dur="500"/>
                                        <p:tgtEl>
                                          <p:spTgt spid="11">
                                            <p:txEl>
                                              <p:pRg st="7" end="7"/>
                                            </p:txEl>
                                          </p:spTgt>
                                        </p:tgtEl>
                                      </p:cBhvr>
                                    </p:animEffect>
                                  </p:child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11">
                                            <p:txEl>
                                              <p:pRg st="8" end="8"/>
                                            </p:txEl>
                                          </p:spTgt>
                                        </p:tgtEl>
                                        <p:attrNameLst>
                                          <p:attrName>style.visibility</p:attrName>
                                        </p:attrNameLst>
                                      </p:cBhvr>
                                      <p:to>
                                        <p:strVal val="visible"/>
                                      </p:to>
                                    </p:set>
                                    <p:animEffect transition="in" filter="blinds(horizontal)">
                                      <p:cBhvr>
                                        <p:cTn id="41"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3416320"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软件开发库复用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descr="api-math-addExact">
            <a:extLst>
              <a:ext uri="{FF2B5EF4-FFF2-40B4-BE49-F238E27FC236}">
                <a16:creationId xmlns:a16="http://schemas.microsoft.com/office/drawing/2014/main" id="{F6DF11E5-CD4C-4D60-1FAF-C41AB844B0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207" y="1626089"/>
            <a:ext cx="7878936" cy="3247688"/>
          </a:xfrm>
          <a:prstGeom prst="rect">
            <a:avLst/>
          </a:prstGeom>
          <a:noFill/>
          <a:ln>
            <a:noFill/>
          </a:ln>
        </p:spPr>
      </p:pic>
      <p:pic>
        <p:nvPicPr>
          <p:cNvPr id="5" name="图片 4">
            <a:extLst>
              <a:ext uri="{FF2B5EF4-FFF2-40B4-BE49-F238E27FC236}">
                <a16:creationId xmlns:a16="http://schemas.microsoft.com/office/drawing/2014/main" id="{C6A098A3-E67A-AE6B-559F-A1D41CEFE4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207" y="4875796"/>
            <a:ext cx="3482027" cy="1856412"/>
          </a:xfrm>
          <a:prstGeom prst="rect">
            <a:avLst/>
          </a:prstGeom>
        </p:spPr>
      </p:pic>
      <p:sp>
        <p:nvSpPr>
          <p:cNvPr id="12" name="文本框 11">
            <a:extLst>
              <a:ext uri="{FF2B5EF4-FFF2-40B4-BE49-F238E27FC236}">
                <a16:creationId xmlns:a16="http://schemas.microsoft.com/office/drawing/2014/main" id="{89C8048C-49E5-2800-2454-0CA9A0AC7627}"/>
              </a:ext>
            </a:extLst>
          </p:cNvPr>
          <p:cNvSpPr txBox="1"/>
          <p:nvPr/>
        </p:nvSpPr>
        <p:spPr>
          <a:xfrm>
            <a:off x="404507" y="835611"/>
            <a:ext cx="8739493" cy="830997"/>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一般都是围绕API进行复用，要求开发人员将特定版本的开发库下载到本地参与项目的构建并将其作为依赖库进行管理</a:t>
            </a:r>
          </a:p>
        </p:txBody>
      </p:sp>
      <p:sp>
        <p:nvSpPr>
          <p:cNvPr id="15" name="文本框 14">
            <a:extLst>
              <a:ext uri="{FF2B5EF4-FFF2-40B4-BE49-F238E27FC236}">
                <a16:creationId xmlns:a16="http://schemas.microsoft.com/office/drawing/2014/main" id="{FE272FCC-F198-4071-53EE-92D596ED8FEB}"/>
              </a:ext>
            </a:extLst>
          </p:cNvPr>
          <p:cNvSpPr txBox="1"/>
          <p:nvPr/>
        </p:nvSpPr>
        <p:spPr>
          <a:xfrm>
            <a:off x="5204732" y="3013501"/>
            <a:ext cx="3939268" cy="830997"/>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Java SE 1.8中Math类下的addExact方法的描述文档</a:t>
            </a:r>
          </a:p>
        </p:txBody>
      </p:sp>
      <p:sp>
        <p:nvSpPr>
          <p:cNvPr id="16" name="文本框 15">
            <a:extLst>
              <a:ext uri="{FF2B5EF4-FFF2-40B4-BE49-F238E27FC236}">
                <a16:creationId xmlns:a16="http://schemas.microsoft.com/office/drawing/2014/main" id="{BD8C09AE-BEF8-ECB3-ED1D-72064ECC353D}"/>
              </a:ext>
            </a:extLst>
          </p:cNvPr>
          <p:cNvSpPr txBox="1"/>
          <p:nvPr/>
        </p:nvSpPr>
        <p:spPr>
          <a:xfrm>
            <a:off x="2464762" y="2577696"/>
            <a:ext cx="2055320"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功能描述</a:t>
            </a:r>
          </a:p>
        </p:txBody>
      </p:sp>
      <p:sp>
        <p:nvSpPr>
          <p:cNvPr id="17" name="文本框 16">
            <a:extLst>
              <a:ext uri="{FF2B5EF4-FFF2-40B4-BE49-F238E27FC236}">
                <a16:creationId xmlns:a16="http://schemas.microsoft.com/office/drawing/2014/main" id="{FFAC6082-6748-6595-0EE2-61F2F2379038}"/>
              </a:ext>
            </a:extLst>
          </p:cNvPr>
          <p:cNvSpPr txBox="1"/>
          <p:nvPr/>
        </p:nvSpPr>
        <p:spPr>
          <a:xfrm>
            <a:off x="2779068" y="1900054"/>
            <a:ext cx="3482027"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访问方式：静态方法</a:t>
            </a:r>
          </a:p>
        </p:txBody>
      </p:sp>
      <p:sp>
        <p:nvSpPr>
          <p:cNvPr id="18" name="文本框 17">
            <a:extLst>
              <a:ext uri="{FF2B5EF4-FFF2-40B4-BE49-F238E27FC236}">
                <a16:creationId xmlns:a16="http://schemas.microsoft.com/office/drawing/2014/main" id="{13500D10-C9F1-51A6-BAF3-0088667F002A}"/>
              </a:ext>
            </a:extLst>
          </p:cNvPr>
          <p:cNvSpPr txBox="1"/>
          <p:nvPr/>
        </p:nvSpPr>
        <p:spPr>
          <a:xfrm>
            <a:off x="2464762" y="3048094"/>
            <a:ext cx="2055320"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参数列表</a:t>
            </a:r>
          </a:p>
        </p:txBody>
      </p:sp>
      <p:sp>
        <p:nvSpPr>
          <p:cNvPr id="19" name="文本框 18">
            <a:extLst>
              <a:ext uri="{FF2B5EF4-FFF2-40B4-BE49-F238E27FC236}">
                <a16:creationId xmlns:a16="http://schemas.microsoft.com/office/drawing/2014/main" id="{8E6A134F-FF81-9AC2-C6BF-4EBAB0F00802}"/>
              </a:ext>
            </a:extLst>
          </p:cNvPr>
          <p:cNvSpPr txBox="1"/>
          <p:nvPr/>
        </p:nvSpPr>
        <p:spPr>
          <a:xfrm>
            <a:off x="2464761" y="3428999"/>
            <a:ext cx="2055320"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返回值</a:t>
            </a:r>
          </a:p>
        </p:txBody>
      </p:sp>
      <p:sp>
        <p:nvSpPr>
          <p:cNvPr id="20" name="文本框 19">
            <a:extLst>
              <a:ext uri="{FF2B5EF4-FFF2-40B4-BE49-F238E27FC236}">
                <a16:creationId xmlns:a16="http://schemas.microsoft.com/office/drawing/2014/main" id="{F4C7D1AB-DF3A-6DA7-A731-EB3DAEB6B099}"/>
              </a:ext>
            </a:extLst>
          </p:cNvPr>
          <p:cNvSpPr txBox="1"/>
          <p:nvPr/>
        </p:nvSpPr>
        <p:spPr>
          <a:xfrm>
            <a:off x="2464761" y="4182289"/>
            <a:ext cx="2055320"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抛出异常</a:t>
            </a:r>
          </a:p>
        </p:txBody>
      </p:sp>
      <p:sp>
        <p:nvSpPr>
          <p:cNvPr id="21" name="文本框 20">
            <a:extLst>
              <a:ext uri="{FF2B5EF4-FFF2-40B4-BE49-F238E27FC236}">
                <a16:creationId xmlns:a16="http://schemas.microsoft.com/office/drawing/2014/main" id="{53FD0C15-DB2C-D149-7214-C7E872C29430}"/>
              </a:ext>
            </a:extLst>
          </p:cNvPr>
          <p:cNvSpPr txBox="1"/>
          <p:nvPr/>
        </p:nvSpPr>
        <p:spPr>
          <a:xfrm>
            <a:off x="537971" y="4412112"/>
            <a:ext cx="2055320" cy="461665"/>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使用范围</a:t>
            </a:r>
          </a:p>
        </p:txBody>
      </p:sp>
      <p:sp>
        <p:nvSpPr>
          <p:cNvPr id="23" name="文本框 22">
            <a:extLst>
              <a:ext uri="{FF2B5EF4-FFF2-40B4-BE49-F238E27FC236}">
                <a16:creationId xmlns:a16="http://schemas.microsoft.com/office/drawing/2014/main" id="{79083235-6EFD-E836-5BB6-0DC3D3FAEF55}"/>
              </a:ext>
            </a:extLst>
          </p:cNvPr>
          <p:cNvSpPr txBox="1"/>
          <p:nvPr/>
        </p:nvSpPr>
        <p:spPr>
          <a:xfrm>
            <a:off x="3558143" y="5107223"/>
            <a:ext cx="5585857" cy="1200329"/>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在客户端程序中，按照API使用规范正确调用方法，正确传入实参，并使用适合的处理机制来处理所抛出的溢出异常</a:t>
            </a:r>
          </a:p>
        </p:txBody>
      </p:sp>
    </p:spTree>
    <p:extLst>
      <p:ext uri="{BB962C8B-B14F-4D97-AF65-F5344CB8AC3E}">
        <p14:creationId xmlns:p14="http://schemas.microsoft.com/office/powerpoint/2010/main" val="147172752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linds(horizont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linds(horizontal)">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linds(horizont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linds(horizontal)">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blinds(horizontal)">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blinds(horizontal)">
                                      <p:cBhvr>
                                        <p:cTn id="51" dur="500"/>
                                        <p:tgtEl>
                                          <p:spTgt spid="5"/>
                                        </p:tgtEl>
                                      </p:cBhvr>
                                    </p:animEffect>
                                  </p:childTnLst>
                                </p:cTn>
                              </p:par>
                            </p:childTnLst>
                          </p:cTn>
                        </p:par>
                        <p:par>
                          <p:cTn id="52" fill="hold">
                            <p:stCondLst>
                              <p:cond delay="500"/>
                            </p:stCondLst>
                            <p:childTnLst>
                              <p:par>
                                <p:cTn id="53" presetID="3" presetClass="entr" presetSubtype="1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linds(horizontal)">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p:bldP spid="18" grpId="0"/>
      <p:bldP spid="19" grpId="0"/>
      <p:bldP spid="20" grpId="0"/>
      <p:bldP spid="21" grpId="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447645"/>
          </a:xfrm>
          <a:prstGeom prst="rect">
            <a:avLst/>
          </a:prstGeom>
          <a:noFill/>
        </p:spPr>
        <p:txBody>
          <a:bodyPr wrap="square" rtlCol="0">
            <a:spAutoFit/>
          </a:bodyPr>
          <a:lstStyle/>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通过互联网提供的在线服务也是复用对象</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这些服务往往与服务提供者自身的业务属性密切相关</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例如，天气预报查询、航班信息查询、在线支付服务等</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企业内部以在线服务的方式沉淀和积累通用业务或技术服务</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“中台”的概念就在很大程度上与这种通用业务或技术服务的积累和复用密切有关</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例如，电商企业的中台服务可以包括优惠券管理、配送服务等业务服务以及内容存储、短信和邮件发送等技术服务</a:t>
            </a:r>
            <a:endParaRPr lang="en-US" altLang="zh-CN" sz="2400" dirty="0">
              <a:latin typeface="Heiti SC Light" charset="-122"/>
              <a:ea typeface="Heiti SC Light" charset="-122"/>
            </a:endParaRPr>
          </a:p>
          <a:p>
            <a:pPr marL="285750" lvl="1"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复用在线服务时无需下载到本地参与项目构建，可以直接进行在线服务的调用</a:t>
            </a:r>
            <a:endParaRPr lang="en-US" altLang="zh-CN" sz="3400" dirty="0">
              <a:latin typeface="Kaiti SC" panose="02010600040101010101" pitchFamily="2" charset="-122"/>
              <a:ea typeface="Kaiti SC" panose="02010600040101010101" pitchFamily="2" charset="-122"/>
            </a:endParaRPr>
          </a:p>
          <a:p>
            <a:pPr marL="285750" lvl="1"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广泛使用的接口风格是</a:t>
            </a:r>
            <a:r>
              <a:rPr lang="en-US" altLang="zh-CN" sz="3400" dirty="0">
                <a:latin typeface="Kaiti SC" panose="02010600040101010101" pitchFamily="2" charset="-122"/>
                <a:ea typeface="Kaiti SC" panose="02010600040101010101" pitchFamily="2" charset="-122"/>
              </a:rPr>
              <a:t>RESTful API</a:t>
            </a:r>
          </a:p>
        </p:txBody>
      </p:sp>
      <p:sp>
        <p:nvSpPr>
          <p:cNvPr id="10" name="矩形 9"/>
          <p:cNvSpPr/>
          <p:nvPr/>
        </p:nvSpPr>
        <p:spPr>
          <a:xfrm>
            <a:off x="488410" y="168330"/>
            <a:ext cx="295465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在线服务复用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915971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blinds(horizontal)">
                                      <p:cBhvr>
                                        <p:cTn id="33" dur="500"/>
                                        <p:tgtEl>
                                          <p:spTgt spid="11">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blinds(horizontal)">
                                      <p:cBhvr>
                                        <p:cTn id="38"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816977"/>
          </a:xfrm>
          <a:prstGeom prst="rect">
            <a:avLst/>
          </a:prstGeom>
          <a:noFill/>
        </p:spPr>
        <p:txBody>
          <a:bodyPr wrap="square" rtlCol="0">
            <a:spAutoFit/>
          </a:bodyPr>
          <a:lstStyle/>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以资源为核心</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一般是一个业务对象（例如图书、图书副本、读者）或者业务对象的集合（例如所有新到图书）</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可以使用</a:t>
            </a:r>
            <a:r>
              <a:rPr lang="en-US" altLang="zh-CN" sz="2400" dirty="0">
                <a:latin typeface="Heiti SC Light" charset="-122"/>
                <a:ea typeface="Heiti SC Light" charset="-122"/>
              </a:rPr>
              <a:t>URL</a:t>
            </a:r>
            <a:r>
              <a:rPr lang="zh-CN" altLang="en-US" sz="2400" dirty="0">
                <a:latin typeface="Heiti SC Light" charset="-122"/>
                <a:ea typeface="Heiti SC Light" charset="-122"/>
              </a:rPr>
              <a:t>来作为唯一标识符并进行引用</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通过</a:t>
            </a:r>
            <a:r>
              <a:rPr lang="en-US" altLang="zh-CN" sz="3400" dirty="0">
                <a:latin typeface="Kaiti SC" panose="02010600040101010101" pitchFamily="2" charset="-122"/>
                <a:ea typeface="Kaiti SC" panose="02010600040101010101" pitchFamily="2" charset="-122"/>
              </a:rPr>
              <a:t>HTTP</a:t>
            </a:r>
            <a:r>
              <a:rPr lang="zh-CN" altLang="en-US" sz="3400" dirty="0">
                <a:latin typeface="Kaiti SC" panose="02010600040101010101" pitchFamily="2" charset="-122"/>
                <a:ea typeface="Kaiti SC" panose="02010600040101010101" pitchFamily="2" charset="-122"/>
              </a:rPr>
              <a:t>动词来操作资源</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en-US" altLang="zh-CN" sz="2400" dirty="0">
                <a:latin typeface="Heiti SC Light" charset="-122"/>
                <a:ea typeface="Heiti SC Light" charset="-122"/>
              </a:rPr>
              <a:t>GET</a:t>
            </a:r>
            <a:r>
              <a:rPr lang="zh-CN" altLang="en-US" sz="2400" dirty="0">
                <a:latin typeface="Heiti SC Light" charset="-122"/>
                <a:ea typeface="Heiti SC Light" charset="-122"/>
              </a:rPr>
              <a:t>（请求读取资源内容）、</a:t>
            </a:r>
            <a:r>
              <a:rPr lang="en-US" altLang="zh-CN" sz="2400" dirty="0">
                <a:latin typeface="Heiti SC Light" charset="-122"/>
                <a:ea typeface="Heiti SC Light" charset="-122"/>
              </a:rPr>
              <a:t>POST</a:t>
            </a:r>
            <a:r>
              <a:rPr lang="zh-CN" altLang="en-US" sz="2400" dirty="0">
                <a:latin typeface="Heiti SC Light" charset="-122"/>
                <a:ea typeface="Heiti SC Light" charset="-122"/>
              </a:rPr>
              <a:t>（请求创建新资源）、</a:t>
            </a:r>
            <a:r>
              <a:rPr lang="en-US" altLang="zh-CN" sz="2400" dirty="0">
                <a:latin typeface="Heiti SC Light" charset="-122"/>
                <a:ea typeface="Heiti SC Light" charset="-122"/>
              </a:rPr>
              <a:t>PUT</a:t>
            </a:r>
            <a:r>
              <a:rPr lang="zh-CN" altLang="en-US" sz="2400" dirty="0">
                <a:latin typeface="Heiti SC Light" charset="-122"/>
                <a:ea typeface="Heiti SC Light" charset="-122"/>
              </a:rPr>
              <a:t>（请求更新资源）、</a:t>
            </a:r>
            <a:r>
              <a:rPr lang="en-US" altLang="zh-CN" sz="2400" dirty="0">
                <a:latin typeface="Heiti SC Light" charset="-122"/>
                <a:ea typeface="Heiti SC Light" charset="-122"/>
              </a:rPr>
              <a:t>DELETE</a:t>
            </a:r>
            <a:r>
              <a:rPr lang="zh-CN" altLang="en-US" sz="2400" dirty="0">
                <a:latin typeface="Heiti SC Light" charset="-122"/>
                <a:ea typeface="Heiti SC Light" charset="-122"/>
              </a:rPr>
              <a:t>（请求删除资源）</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通过资源</a:t>
            </a:r>
            <a:r>
              <a:rPr lang="en-US" altLang="zh-CN" sz="2400" dirty="0">
                <a:latin typeface="Heiti SC Light" charset="-122"/>
                <a:ea typeface="Heiti SC Light" charset="-122"/>
              </a:rPr>
              <a:t>URL</a:t>
            </a:r>
            <a:r>
              <a:rPr lang="zh-CN" altLang="en-US" sz="2400" dirty="0">
                <a:latin typeface="Heiti SC Light" charset="-122"/>
                <a:ea typeface="Heiti SC Light" charset="-122"/>
              </a:rPr>
              <a:t>与</a:t>
            </a:r>
            <a:r>
              <a:rPr lang="en-US" altLang="zh-CN" sz="2400" dirty="0">
                <a:latin typeface="Heiti SC Light" charset="-122"/>
                <a:ea typeface="Heiti SC Light" charset="-122"/>
              </a:rPr>
              <a:t>HTTP</a:t>
            </a:r>
            <a:r>
              <a:rPr lang="zh-CN" altLang="en-US" sz="2400" dirty="0">
                <a:latin typeface="Heiti SC Light" charset="-122"/>
                <a:ea typeface="Heiti SC Light" charset="-122"/>
              </a:rPr>
              <a:t>动词的组合来定义</a:t>
            </a:r>
            <a:r>
              <a:rPr lang="en-US" altLang="zh-CN" sz="2400" dirty="0">
                <a:latin typeface="Heiti SC Light" charset="-122"/>
                <a:ea typeface="Heiti SC Light" charset="-122"/>
              </a:rPr>
              <a:t>RESTful</a:t>
            </a:r>
            <a:r>
              <a:rPr lang="zh-CN" altLang="en-US" sz="2400" dirty="0">
                <a:latin typeface="Heiti SC Light" charset="-122"/>
                <a:ea typeface="Heiti SC Light" charset="-122"/>
              </a:rPr>
              <a:t> </a:t>
            </a:r>
            <a:r>
              <a:rPr lang="en-US" altLang="zh-CN" sz="2400" dirty="0">
                <a:latin typeface="Heiti SC Light" charset="-122"/>
                <a:ea typeface="Heiti SC Light" charset="-122"/>
              </a:rPr>
              <a:t>API</a:t>
            </a:r>
          </a:p>
          <a:p>
            <a:pPr marL="285750" lvl="1"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一般使用</a:t>
            </a:r>
            <a:r>
              <a:rPr lang="en-US" altLang="zh-CN" sz="3400" dirty="0">
                <a:latin typeface="Kaiti SC" panose="02010600040101010101" pitchFamily="2" charset="-122"/>
                <a:ea typeface="Kaiti SC" panose="02010600040101010101" pitchFamily="2" charset="-122"/>
              </a:rPr>
              <a:t>HTTP</a:t>
            </a:r>
            <a:r>
              <a:rPr lang="zh-CN" altLang="en-US" sz="3400" dirty="0">
                <a:latin typeface="Kaiti SC" panose="02010600040101010101" pitchFamily="2" charset="-122"/>
                <a:ea typeface="Kaiti SC" panose="02010600040101010101" pitchFamily="2" charset="-122"/>
              </a:rPr>
              <a:t>协议作为进程间通信机制，并使用</a:t>
            </a:r>
            <a:r>
              <a:rPr lang="en-US" altLang="zh-CN" sz="3400" dirty="0">
                <a:latin typeface="Kaiti SC" panose="02010600040101010101" pitchFamily="2" charset="-122"/>
                <a:ea typeface="Kaiti SC" panose="02010600040101010101" pitchFamily="2" charset="-122"/>
              </a:rPr>
              <a:t>XML</a:t>
            </a:r>
            <a:r>
              <a:rPr lang="zh-CN" altLang="en-US" sz="3400" dirty="0">
                <a:latin typeface="Kaiti SC" panose="02010600040101010101" pitchFamily="2" charset="-122"/>
                <a:ea typeface="Kaiti SC" panose="02010600040101010101" pitchFamily="2" charset="-122"/>
              </a:rPr>
              <a:t>或</a:t>
            </a:r>
            <a:r>
              <a:rPr lang="en-US" altLang="zh-CN" sz="3400" dirty="0">
                <a:latin typeface="Kaiti SC" panose="02010600040101010101" pitchFamily="2" charset="-122"/>
                <a:ea typeface="Kaiti SC" panose="02010600040101010101" pitchFamily="2" charset="-122"/>
              </a:rPr>
              <a:t>JSON</a:t>
            </a:r>
            <a:r>
              <a:rPr lang="zh-CN" altLang="en-US" sz="3400" dirty="0">
                <a:latin typeface="Kaiti SC" panose="02010600040101010101" pitchFamily="2" charset="-122"/>
                <a:ea typeface="Kaiti SC" panose="02010600040101010101" pitchFamily="2" charset="-122"/>
              </a:rPr>
              <a:t>格式来表示资源信息</a:t>
            </a:r>
            <a:endParaRPr lang="en-US" altLang="zh-CN" sz="3400" dirty="0">
              <a:latin typeface="Kaiti SC" panose="02010600040101010101" pitchFamily="2" charset="-122"/>
              <a:ea typeface="Kaiti SC" panose="02010600040101010101" pitchFamily="2" charset="-122"/>
            </a:endParaRPr>
          </a:p>
          <a:p>
            <a:pPr marL="285750" lvl="1"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应用开发者需要编写客户端代码实现远程调用，例如使用</a:t>
            </a:r>
            <a:r>
              <a:rPr lang="en-US" altLang="zh-CN" sz="3400" dirty="0">
                <a:latin typeface="Kaiti SC" panose="02010600040101010101" pitchFamily="2" charset="-122"/>
                <a:ea typeface="Kaiti SC" panose="02010600040101010101" pitchFamily="2" charset="-122"/>
              </a:rPr>
              <a:t>Apache</a:t>
            </a:r>
            <a:r>
              <a:rPr lang="zh-CN" altLang="en-US" sz="3400" dirty="0">
                <a:latin typeface="Kaiti SC" panose="02010600040101010101" pitchFamily="2" charset="-122"/>
                <a:ea typeface="Kaiti SC" panose="02010600040101010101" pitchFamily="2" charset="-122"/>
              </a:rPr>
              <a:t>提供的</a:t>
            </a:r>
            <a:r>
              <a:rPr lang="en-US" altLang="zh-CN" sz="3400" dirty="0" err="1">
                <a:latin typeface="Kaiti SC" panose="02010600040101010101" pitchFamily="2" charset="-122"/>
                <a:ea typeface="Kaiti SC" panose="02010600040101010101" pitchFamily="2" charset="-122"/>
              </a:rPr>
              <a:t>HttpClient</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endParaRPr lang="en-US" altLang="zh-CN" sz="2400" dirty="0">
              <a:latin typeface="Heiti SC Light" charset="-122"/>
              <a:ea typeface="Heiti SC Light" charset="-122"/>
            </a:endParaRPr>
          </a:p>
        </p:txBody>
      </p:sp>
      <p:sp>
        <p:nvSpPr>
          <p:cNvPr id="10" name="矩形 9"/>
          <p:cNvSpPr/>
          <p:nvPr/>
        </p:nvSpPr>
        <p:spPr>
          <a:xfrm>
            <a:off x="488410" y="168330"/>
            <a:ext cx="2884700" cy="742319"/>
          </a:xfrm>
          <a:prstGeom prst="rect">
            <a:avLst/>
          </a:prstGeom>
        </p:spPr>
        <p:txBody>
          <a:bodyPr wrap="none">
            <a:spAutoFit/>
          </a:bodyPr>
          <a:lstStyle/>
          <a:p>
            <a:pPr>
              <a:lnSpc>
                <a:spcPct val="130000"/>
              </a:lnSpc>
            </a:pPr>
            <a:r>
              <a:rPr lang="en" altLang="zh-CN" sz="3600" b="1" dirty="0">
                <a:solidFill>
                  <a:schemeClr val="bg1"/>
                </a:solidFill>
                <a:latin typeface="微软雅黑" panose="020B0503020204020204" pitchFamily="34" charset="-122"/>
                <a:ea typeface="微软雅黑" panose="020B0503020204020204" pitchFamily="34" charset="-122"/>
              </a:rPr>
              <a:t>RESTful API</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326200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Effect transition="in" filter="blinds(horizontal)">
                                      <p:cBhvr>
                                        <p:cTn id="33" dur="500"/>
                                        <p:tgtEl>
                                          <p:spTgt spid="11">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blinds(horizontal)">
                                      <p:cBhvr>
                                        <p:cTn id="38"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4731360" cy="742319"/>
          </a:xfrm>
          <a:prstGeom prst="rect">
            <a:avLst/>
          </a:prstGeom>
        </p:spPr>
        <p:txBody>
          <a:bodyPr wrap="none">
            <a:spAutoFit/>
          </a:bodyPr>
          <a:lstStyle/>
          <a:p>
            <a:pPr>
              <a:lnSpc>
                <a:spcPct val="130000"/>
              </a:lnSpc>
            </a:pPr>
            <a:r>
              <a:rPr lang="en" altLang="zh-CN" sz="3600" b="1" dirty="0">
                <a:solidFill>
                  <a:schemeClr val="bg1"/>
                </a:solidFill>
                <a:latin typeface="微软雅黑" panose="020B0503020204020204" pitchFamily="34" charset="-122"/>
                <a:ea typeface="微软雅黑" panose="020B0503020204020204" pitchFamily="34" charset="-122"/>
              </a:rPr>
              <a:t>RESTful API</a:t>
            </a:r>
            <a:r>
              <a:rPr lang="zh-CN" altLang="en-US" sz="3600" b="1" dirty="0">
                <a:solidFill>
                  <a:schemeClr val="bg1"/>
                </a:solidFill>
                <a:latin typeface="微软雅黑" panose="020B0503020204020204" pitchFamily="34" charset="-122"/>
                <a:ea typeface="微软雅黑" panose="020B0503020204020204" pitchFamily="34" charset="-122"/>
              </a:rPr>
              <a:t>接口说明</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334E98AB-4E2E-F70D-CF5C-5D24AB590A6C}"/>
              </a:ext>
            </a:extLst>
          </p:cNvPr>
          <p:cNvGraphicFramePr>
            <a:graphicFrameLocks noGrp="1"/>
          </p:cNvGraphicFramePr>
          <p:nvPr>
            <p:extLst>
              <p:ext uri="{D42A27DB-BD31-4B8C-83A1-F6EECF244321}">
                <p14:modId xmlns:p14="http://schemas.microsoft.com/office/powerpoint/2010/main" val="1333243044"/>
              </p:ext>
            </p:extLst>
          </p:nvPr>
        </p:nvGraphicFramePr>
        <p:xfrm>
          <a:off x="146956" y="1960228"/>
          <a:ext cx="8833757" cy="3352800"/>
        </p:xfrm>
        <a:graphic>
          <a:graphicData uri="http://schemas.openxmlformats.org/drawingml/2006/table">
            <a:tbl>
              <a:tblPr firstRow="1" firstCol="1" bandRow="1"/>
              <a:tblGrid>
                <a:gridCol w="3226328">
                  <a:extLst>
                    <a:ext uri="{9D8B030D-6E8A-4147-A177-3AD203B41FA5}">
                      <a16:colId xmlns:a16="http://schemas.microsoft.com/office/drawing/2014/main" val="701000433"/>
                    </a:ext>
                  </a:extLst>
                </a:gridCol>
                <a:gridCol w="2847902">
                  <a:extLst>
                    <a:ext uri="{9D8B030D-6E8A-4147-A177-3AD203B41FA5}">
                      <a16:colId xmlns:a16="http://schemas.microsoft.com/office/drawing/2014/main" val="482415701"/>
                    </a:ext>
                  </a:extLst>
                </a:gridCol>
                <a:gridCol w="1436914">
                  <a:extLst>
                    <a:ext uri="{9D8B030D-6E8A-4147-A177-3AD203B41FA5}">
                      <a16:colId xmlns:a16="http://schemas.microsoft.com/office/drawing/2014/main" val="334114142"/>
                    </a:ext>
                  </a:extLst>
                </a:gridCol>
                <a:gridCol w="1322613">
                  <a:extLst>
                    <a:ext uri="{9D8B030D-6E8A-4147-A177-3AD203B41FA5}">
                      <a16:colId xmlns:a16="http://schemas.microsoft.com/office/drawing/2014/main" val="2931093369"/>
                    </a:ext>
                  </a:extLst>
                </a:gridCol>
              </a:tblGrid>
              <a:tr h="0">
                <a:tc>
                  <a:txBody>
                    <a:bodyPr/>
                    <a:lstStyle/>
                    <a:p>
                      <a:pPr marL="0" indent="15875" algn="ctr" defTabSz="914400" rtl="0" eaLnBrk="1" latinLnBrk="0" hangingPunct="1">
                        <a:tabLst/>
                      </a:pPr>
                      <a:r>
                        <a:rPr lang="en-US" sz="2800" b="1" kern="100" dirty="0">
                          <a:solidFill>
                            <a:schemeClr val="bg1"/>
                          </a:solidFill>
                          <a:effectLst/>
                          <a:latin typeface="Kaiti SC" panose="02010600040101010101" pitchFamily="2" charset="-122"/>
                          <a:ea typeface="Kaiti SC" panose="02010600040101010101" pitchFamily="2" charset="-122"/>
                          <a:cs typeface="+mn-cs"/>
                        </a:rPr>
                        <a:t>URI</a:t>
                      </a:r>
                      <a:endParaRPr lang="zh-CN" altLang="en-US" sz="2800" b="1" kern="100" dirty="0">
                        <a:solidFill>
                          <a:schemeClr val="bg1"/>
                        </a:solidFill>
                        <a:effectLst/>
                        <a:latin typeface="Kaiti SC" panose="02010600040101010101" pitchFamily="2" charset="-122"/>
                        <a:ea typeface="Kaiti SC" panose="02010600040101010101" pitchFamily="2" charset="-122"/>
                        <a:cs typeface="+mn-cs"/>
                      </a:endParaRPr>
                    </a:p>
                  </a:txBody>
                  <a:tcPr marL="68580" marR="68580" marT="0" marB="0">
                    <a:solidFill>
                      <a:srgbClr val="0070C0"/>
                    </a:solidFill>
                  </a:tcPr>
                </a:tc>
                <a:tc>
                  <a:txBody>
                    <a:bodyPr/>
                    <a:lstStyle/>
                    <a:p>
                      <a:pPr marL="0" indent="15875" algn="ctr" defTabSz="914400" rtl="0" eaLnBrk="1" latinLnBrk="0" hangingPunct="1">
                        <a:tabLst/>
                      </a:pPr>
                      <a:r>
                        <a:rPr lang="zh-CN" altLang="en-US" sz="2800" b="1" kern="100" dirty="0">
                          <a:solidFill>
                            <a:schemeClr val="bg1"/>
                          </a:solidFill>
                          <a:effectLst/>
                          <a:latin typeface="Kaiti SC" panose="02010600040101010101" pitchFamily="2" charset="-122"/>
                          <a:ea typeface="Kaiti SC" panose="02010600040101010101" pitchFamily="2" charset="-122"/>
                          <a:cs typeface="+mn-cs"/>
                        </a:rPr>
                        <a:t>接口说明</a:t>
                      </a:r>
                    </a:p>
                  </a:txBody>
                  <a:tcPr marL="68580" marR="68580" marT="0" marB="0">
                    <a:solidFill>
                      <a:srgbClr val="0070C0"/>
                    </a:solidFill>
                  </a:tcPr>
                </a:tc>
                <a:tc>
                  <a:txBody>
                    <a:bodyPr/>
                    <a:lstStyle/>
                    <a:p>
                      <a:pPr marL="0" indent="15875" algn="ctr" defTabSz="914400" rtl="0" eaLnBrk="1" latinLnBrk="0" hangingPunct="1">
                        <a:tabLst/>
                      </a:pPr>
                      <a:r>
                        <a:rPr lang="zh-CN" altLang="en-US" sz="2800" b="1" kern="100" dirty="0">
                          <a:solidFill>
                            <a:schemeClr val="bg1"/>
                          </a:solidFill>
                          <a:effectLst/>
                          <a:latin typeface="Kaiti SC" panose="02010600040101010101" pitchFamily="2" charset="-122"/>
                          <a:ea typeface="Kaiti SC" panose="02010600040101010101" pitchFamily="2" charset="-122"/>
                          <a:cs typeface="+mn-cs"/>
                        </a:rPr>
                        <a:t>安全性</a:t>
                      </a:r>
                    </a:p>
                  </a:txBody>
                  <a:tcPr marL="68580" marR="68580" marT="0" marB="0">
                    <a:solidFill>
                      <a:srgbClr val="0070C0"/>
                    </a:solidFill>
                  </a:tcPr>
                </a:tc>
                <a:tc>
                  <a:txBody>
                    <a:bodyPr/>
                    <a:lstStyle/>
                    <a:p>
                      <a:pPr marL="0" indent="15875" algn="ctr" defTabSz="914400" rtl="0" eaLnBrk="1" latinLnBrk="0" hangingPunct="1">
                        <a:tabLst/>
                      </a:pPr>
                      <a:r>
                        <a:rPr lang="zh-CN" altLang="en-US" sz="2800" b="1" kern="100" dirty="0">
                          <a:solidFill>
                            <a:schemeClr val="bg1"/>
                          </a:solidFill>
                          <a:effectLst/>
                          <a:latin typeface="Kaiti SC" panose="02010600040101010101" pitchFamily="2" charset="-122"/>
                          <a:ea typeface="Kaiti SC" panose="02010600040101010101" pitchFamily="2" charset="-122"/>
                          <a:cs typeface="+mn-cs"/>
                        </a:rPr>
                        <a:t>幂等性</a:t>
                      </a:r>
                    </a:p>
                  </a:txBody>
                  <a:tcPr marL="68580" marR="68580" marT="0" marB="0">
                    <a:solidFill>
                      <a:srgbClr val="0070C0"/>
                    </a:solidFill>
                  </a:tcPr>
                </a:tc>
                <a:extLst>
                  <a:ext uri="{0D108BD9-81ED-4DB2-BD59-A6C34878D82A}">
                    <a16:rowId xmlns:a16="http://schemas.microsoft.com/office/drawing/2014/main" val="2491511307"/>
                  </a:ext>
                </a:extLst>
              </a:tr>
              <a:tr h="0">
                <a:tc>
                  <a:txBody>
                    <a:bodyPr/>
                    <a:lstStyle/>
                    <a:p>
                      <a:pPr marL="0" indent="15875" algn="l" defTabSz="914400" rtl="0" eaLnBrk="1" latinLnBrk="0" hangingPunct="1">
                        <a:tabLst/>
                      </a:pPr>
                      <a:r>
                        <a:rPr lang="en-US" sz="2400" kern="100" dirty="0">
                          <a:solidFill>
                            <a:schemeClr val="tx1"/>
                          </a:solidFill>
                          <a:effectLst/>
                          <a:latin typeface="Kaiti SC" panose="02010600040101010101" pitchFamily="2" charset="-122"/>
                          <a:ea typeface="Kaiti SC" panose="02010600040101010101" pitchFamily="2" charset="-122"/>
                          <a:cs typeface="+mn-cs"/>
                        </a:rPr>
                        <a:t>GET http://</a:t>
                      </a:r>
                      <a:r>
                        <a:rPr lang="en-US" sz="2400" kern="100" dirty="0" err="1">
                          <a:solidFill>
                            <a:schemeClr val="tx1"/>
                          </a:solidFill>
                          <a:effectLst/>
                          <a:latin typeface="Kaiti SC" panose="02010600040101010101" pitchFamily="2" charset="-122"/>
                          <a:ea typeface="Kaiti SC" panose="02010600040101010101" pitchFamily="2" charset="-122"/>
                          <a:cs typeface="+mn-cs"/>
                        </a:rPr>
                        <a:t>url</a:t>
                      </a:r>
                      <a:r>
                        <a:rPr lang="en-US" sz="2400" kern="100" dirty="0">
                          <a:solidFill>
                            <a:schemeClr val="tx1"/>
                          </a:solidFill>
                          <a:effectLst/>
                          <a:latin typeface="Kaiti SC" panose="02010600040101010101" pitchFamily="2" charset="-122"/>
                          <a:ea typeface="Kaiti SC" panose="02010600040101010101" pitchFamily="2" charset="-122"/>
                          <a:cs typeface="+mn-cs"/>
                        </a:rPr>
                        <a:t>/orders/{id}</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返回订单编号为</a:t>
                      </a:r>
                      <a:r>
                        <a:rPr lang="en-US" sz="2400" kern="100" dirty="0">
                          <a:solidFill>
                            <a:schemeClr val="tx1"/>
                          </a:solidFill>
                          <a:effectLst/>
                          <a:latin typeface="Kaiti SC" panose="02010600040101010101" pitchFamily="2" charset="-122"/>
                          <a:ea typeface="Kaiti SC" panose="02010600040101010101" pitchFamily="2" charset="-122"/>
                          <a:cs typeface="+mn-cs"/>
                        </a:rPr>
                        <a:t>id</a:t>
                      </a:r>
                      <a:r>
                        <a:rPr lang="zh-CN" altLang="en-US" sz="2400" kern="100" dirty="0">
                          <a:solidFill>
                            <a:schemeClr val="tx1"/>
                          </a:solidFill>
                          <a:effectLst/>
                          <a:latin typeface="Kaiti SC" panose="02010600040101010101" pitchFamily="2" charset="-122"/>
                          <a:ea typeface="Kaiti SC" panose="02010600040101010101" pitchFamily="2" charset="-122"/>
                          <a:cs typeface="+mn-cs"/>
                        </a:rPr>
                        <a:t>的订单内容</a:t>
                      </a:r>
                    </a:p>
                  </a:txBody>
                  <a:tcPr marL="68580" marR="68580" marT="0" marB="0"/>
                </a:tc>
                <a:tc>
                  <a:txBody>
                    <a:bodyPr/>
                    <a:lstStyle/>
                    <a:p>
                      <a:pPr marL="0" indent="15875" algn="l" defTabSz="914400" rtl="0" eaLnBrk="1" latinLnBrk="0" hangingPunct="1">
                        <a:tabLst/>
                      </a:pPr>
                      <a:r>
                        <a:rPr lang="zh-CN" altLang="en-US" sz="2400" kern="100">
                          <a:solidFill>
                            <a:schemeClr val="tx1"/>
                          </a:solidFill>
                          <a:effectLst/>
                          <a:latin typeface="Kaiti SC" panose="02010600040101010101" pitchFamily="2" charset="-122"/>
                          <a:ea typeface="Kaiti SC" panose="02010600040101010101" pitchFamily="2" charset="-122"/>
                          <a:cs typeface="+mn-cs"/>
                        </a:rPr>
                        <a:t>安全</a:t>
                      </a:r>
                    </a:p>
                  </a:txBody>
                  <a:tcPr marL="68580" marR="68580" marT="0" marB="0"/>
                </a:tc>
                <a:tc>
                  <a:txBody>
                    <a:bodyPr/>
                    <a:lstStyle/>
                    <a:p>
                      <a:pPr marL="0" indent="15875" algn="l" defTabSz="914400" rtl="0" eaLnBrk="1" latinLnBrk="0" hangingPunct="1">
                        <a:tabLst/>
                      </a:pPr>
                      <a:r>
                        <a:rPr lang="zh-CN" altLang="en-US" sz="2400" kern="100">
                          <a:solidFill>
                            <a:schemeClr val="tx1"/>
                          </a:solidFill>
                          <a:effectLst/>
                          <a:latin typeface="Kaiti SC" panose="02010600040101010101" pitchFamily="2" charset="-122"/>
                          <a:ea typeface="Kaiti SC" panose="02010600040101010101" pitchFamily="2" charset="-122"/>
                          <a:cs typeface="+mn-cs"/>
                        </a:rPr>
                        <a:t>幂等</a:t>
                      </a:r>
                    </a:p>
                  </a:txBody>
                  <a:tcPr marL="68580" marR="68580" marT="0" marB="0"/>
                </a:tc>
                <a:extLst>
                  <a:ext uri="{0D108BD9-81ED-4DB2-BD59-A6C34878D82A}">
                    <a16:rowId xmlns:a16="http://schemas.microsoft.com/office/drawing/2014/main" val="2092426691"/>
                  </a:ext>
                </a:extLst>
              </a:tr>
              <a:tr h="0">
                <a:tc>
                  <a:txBody>
                    <a:bodyPr/>
                    <a:lstStyle/>
                    <a:p>
                      <a:pPr marL="0" indent="15875"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DELETE http://url/orders/{id}</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删除订单编号为</a:t>
                      </a:r>
                      <a:r>
                        <a:rPr lang="en-US" sz="2400" kern="100" dirty="0">
                          <a:solidFill>
                            <a:schemeClr val="tx1"/>
                          </a:solidFill>
                          <a:effectLst/>
                          <a:latin typeface="Kaiti SC" panose="02010600040101010101" pitchFamily="2" charset="-122"/>
                          <a:ea typeface="Kaiti SC" panose="02010600040101010101" pitchFamily="2" charset="-122"/>
                          <a:cs typeface="+mn-cs"/>
                        </a:rPr>
                        <a:t>id</a:t>
                      </a:r>
                      <a:r>
                        <a:rPr lang="zh-CN" altLang="en-US" sz="2400" kern="100" dirty="0">
                          <a:solidFill>
                            <a:schemeClr val="tx1"/>
                          </a:solidFill>
                          <a:effectLst/>
                          <a:latin typeface="Kaiti SC" panose="02010600040101010101" pitchFamily="2" charset="-122"/>
                          <a:ea typeface="Kaiti SC" panose="02010600040101010101" pitchFamily="2" charset="-122"/>
                          <a:cs typeface="+mn-cs"/>
                        </a:rPr>
                        <a:t>的订单</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非安全</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幂等</a:t>
                      </a:r>
                    </a:p>
                  </a:txBody>
                  <a:tcPr marL="68580" marR="68580" marT="0" marB="0"/>
                </a:tc>
                <a:extLst>
                  <a:ext uri="{0D108BD9-81ED-4DB2-BD59-A6C34878D82A}">
                    <a16:rowId xmlns:a16="http://schemas.microsoft.com/office/drawing/2014/main" val="1500087446"/>
                  </a:ext>
                </a:extLst>
              </a:tr>
              <a:tr h="38100">
                <a:tc>
                  <a:txBody>
                    <a:bodyPr/>
                    <a:lstStyle/>
                    <a:p>
                      <a:pPr marL="0" indent="15875"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PUT http://url/orders/{id}</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5875" algn="l" defTabSz="914400" rtl="0" eaLnBrk="1" latinLnBrk="0" hangingPunct="1">
                        <a:tabLst/>
                      </a:pPr>
                      <a:r>
                        <a:rPr lang="zh-CN" altLang="en-US" sz="2400" kern="100">
                          <a:solidFill>
                            <a:schemeClr val="tx1"/>
                          </a:solidFill>
                          <a:effectLst/>
                          <a:latin typeface="Kaiti SC" panose="02010600040101010101" pitchFamily="2" charset="-122"/>
                          <a:ea typeface="Kaiti SC" panose="02010600040101010101" pitchFamily="2" charset="-122"/>
                          <a:cs typeface="+mn-cs"/>
                        </a:rPr>
                        <a:t>更新订单编号为</a:t>
                      </a:r>
                      <a:r>
                        <a:rPr lang="en-US" sz="2400" kern="100">
                          <a:solidFill>
                            <a:schemeClr val="tx1"/>
                          </a:solidFill>
                          <a:effectLst/>
                          <a:latin typeface="Kaiti SC" panose="02010600040101010101" pitchFamily="2" charset="-122"/>
                          <a:ea typeface="Kaiti SC" panose="02010600040101010101" pitchFamily="2" charset="-122"/>
                          <a:cs typeface="+mn-cs"/>
                        </a:rPr>
                        <a:t>id</a:t>
                      </a:r>
                      <a:r>
                        <a:rPr lang="zh-CN" altLang="en-US" sz="2400" kern="100">
                          <a:solidFill>
                            <a:schemeClr val="tx1"/>
                          </a:solidFill>
                          <a:effectLst/>
                          <a:latin typeface="Kaiti SC" panose="02010600040101010101" pitchFamily="2" charset="-122"/>
                          <a:ea typeface="Kaiti SC" panose="02010600040101010101" pitchFamily="2" charset="-122"/>
                          <a:cs typeface="+mn-cs"/>
                        </a:rPr>
                        <a:t>的订单</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非安全</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幂等</a:t>
                      </a:r>
                    </a:p>
                  </a:txBody>
                  <a:tcPr marL="68580" marR="68580" marT="0" marB="0"/>
                </a:tc>
                <a:extLst>
                  <a:ext uri="{0D108BD9-81ED-4DB2-BD59-A6C34878D82A}">
                    <a16:rowId xmlns:a16="http://schemas.microsoft.com/office/drawing/2014/main" val="3609393965"/>
                  </a:ext>
                </a:extLst>
              </a:tr>
              <a:tr h="0">
                <a:tc>
                  <a:txBody>
                    <a:bodyPr/>
                    <a:lstStyle/>
                    <a:p>
                      <a:pPr marL="0" indent="15875" algn="l" defTabSz="914400" rtl="0" eaLnBrk="1" latinLnBrk="0" hangingPunct="1">
                        <a:tabLst/>
                      </a:pPr>
                      <a:r>
                        <a:rPr lang="en-US" sz="2400" kern="100" dirty="0">
                          <a:solidFill>
                            <a:schemeClr val="tx1"/>
                          </a:solidFill>
                          <a:effectLst/>
                          <a:latin typeface="Kaiti SC" panose="02010600040101010101" pitchFamily="2" charset="-122"/>
                          <a:ea typeface="Kaiti SC" panose="02010600040101010101" pitchFamily="2" charset="-122"/>
                          <a:cs typeface="+mn-cs"/>
                        </a:rPr>
                        <a:t>POST http://</a:t>
                      </a:r>
                      <a:r>
                        <a:rPr lang="en-US" sz="2400" kern="100" dirty="0" err="1">
                          <a:solidFill>
                            <a:schemeClr val="tx1"/>
                          </a:solidFill>
                          <a:effectLst/>
                          <a:latin typeface="Kaiti SC" panose="02010600040101010101" pitchFamily="2" charset="-122"/>
                          <a:ea typeface="Kaiti SC" panose="02010600040101010101" pitchFamily="2" charset="-122"/>
                          <a:cs typeface="+mn-cs"/>
                        </a:rPr>
                        <a:t>url</a:t>
                      </a:r>
                      <a:r>
                        <a:rPr lang="en-US" sz="2400" kern="100" dirty="0">
                          <a:solidFill>
                            <a:schemeClr val="tx1"/>
                          </a:solidFill>
                          <a:effectLst/>
                          <a:latin typeface="Kaiti SC" panose="02010600040101010101" pitchFamily="2" charset="-122"/>
                          <a:ea typeface="Kaiti SC" panose="02010600040101010101" pitchFamily="2" charset="-122"/>
                          <a:cs typeface="+mn-cs"/>
                        </a:rPr>
                        <a:t>/orders/</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增加一个订单</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非安全</a:t>
                      </a:r>
                    </a:p>
                  </a:txBody>
                  <a:tcPr marL="68580" marR="68580" marT="0" marB="0"/>
                </a:tc>
                <a:tc>
                  <a:txBody>
                    <a:bodyPr/>
                    <a:lstStyle/>
                    <a:p>
                      <a:pPr marL="0" indent="15875"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非幂等</a:t>
                      </a:r>
                    </a:p>
                  </a:txBody>
                  <a:tcPr marL="68580" marR="68580" marT="0" marB="0"/>
                </a:tc>
                <a:extLst>
                  <a:ext uri="{0D108BD9-81ED-4DB2-BD59-A6C34878D82A}">
                    <a16:rowId xmlns:a16="http://schemas.microsoft.com/office/drawing/2014/main" val="3009942997"/>
                  </a:ext>
                </a:extLst>
              </a:tr>
            </a:tbl>
          </a:graphicData>
        </a:graphic>
      </p:graphicFrame>
      <p:sp>
        <p:nvSpPr>
          <p:cNvPr id="7" name="文本框 6">
            <a:extLst>
              <a:ext uri="{FF2B5EF4-FFF2-40B4-BE49-F238E27FC236}">
                <a16:creationId xmlns:a16="http://schemas.microsoft.com/office/drawing/2014/main" id="{E327CB2C-8886-D601-941C-0B21F8DBEA35}"/>
              </a:ext>
            </a:extLst>
          </p:cNvPr>
          <p:cNvSpPr txBox="1"/>
          <p:nvPr/>
        </p:nvSpPr>
        <p:spPr>
          <a:xfrm>
            <a:off x="97974" y="5362011"/>
            <a:ext cx="8980714" cy="1200329"/>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如果一个</a:t>
            </a:r>
            <a:r>
              <a:rPr lang="en" altLang="zh-CN" sz="2400" dirty="0">
                <a:solidFill>
                  <a:srgbClr val="FF0000"/>
                </a:solidFill>
                <a:latin typeface="Heiti SC Medium" pitchFamily="2" charset="-128"/>
                <a:ea typeface="Heiti SC Medium" pitchFamily="2" charset="-128"/>
              </a:rPr>
              <a:t>API</a:t>
            </a:r>
            <a:r>
              <a:rPr lang="zh-CN" altLang="en-US" sz="2400" dirty="0">
                <a:solidFill>
                  <a:srgbClr val="FF0000"/>
                </a:solidFill>
                <a:latin typeface="Heiti SC Medium" pitchFamily="2" charset="-128"/>
                <a:ea typeface="Heiti SC Medium" pitchFamily="2" charset="-128"/>
              </a:rPr>
              <a:t>的执行对资源不进行修改则该</a:t>
            </a:r>
            <a:r>
              <a:rPr lang="en" altLang="zh-CN" sz="2400" dirty="0">
                <a:solidFill>
                  <a:srgbClr val="FF0000"/>
                </a:solidFill>
                <a:latin typeface="Heiti SC Medium" pitchFamily="2" charset="-128"/>
                <a:ea typeface="Heiti SC Medium" pitchFamily="2" charset="-128"/>
              </a:rPr>
              <a:t>API</a:t>
            </a:r>
            <a:r>
              <a:rPr lang="zh-CN" altLang="en-US" sz="2400" dirty="0">
                <a:solidFill>
                  <a:srgbClr val="FF0000"/>
                </a:solidFill>
                <a:latin typeface="Heiti SC Medium" pitchFamily="2" charset="-128"/>
                <a:ea typeface="Heiti SC Medium" pitchFamily="2" charset="-128"/>
              </a:rPr>
              <a:t>是安全的</a:t>
            </a:r>
          </a:p>
          <a:p>
            <a:r>
              <a:rPr lang="zh-CN" altLang="en-US" sz="2400" dirty="0">
                <a:solidFill>
                  <a:srgbClr val="FF0000"/>
                </a:solidFill>
                <a:latin typeface="Heiti SC Medium" pitchFamily="2" charset="-128"/>
                <a:ea typeface="Heiti SC Medium" pitchFamily="2" charset="-128"/>
              </a:rPr>
              <a:t>如果一个</a:t>
            </a:r>
            <a:r>
              <a:rPr lang="en" altLang="zh-CN" sz="2400" dirty="0">
                <a:solidFill>
                  <a:srgbClr val="FF0000"/>
                </a:solidFill>
                <a:latin typeface="Heiti SC Medium" pitchFamily="2" charset="-128"/>
                <a:ea typeface="Heiti SC Medium" pitchFamily="2" charset="-128"/>
              </a:rPr>
              <a:t>API</a:t>
            </a:r>
            <a:r>
              <a:rPr lang="zh-CN" altLang="en-US" sz="2400" dirty="0">
                <a:solidFill>
                  <a:srgbClr val="FF0000"/>
                </a:solidFill>
                <a:latin typeface="Heiti SC Medium" pitchFamily="2" charset="-128"/>
                <a:ea typeface="Heiti SC Medium" pitchFamily="2" charset="-128"/>
              </a:rPr>
              <a:t>执行一次和多次所产生的结果是一样的，则该</a:t>
            </a:r>
            <a:r>
              <a:rPr lang="en" altLang="zh-CN" sz="2400" dirty="0">
                <a:solidFill>
                  <a:srgbClr val="FF0000"/>
                </a:solidFill>
                <a:latin typeface="Heiti SC Medium" pitchFamily="2" charset="-128"/>
                <a:ea typeface="Heiti SC Medium" pitchFamily="2" charset="-128"/>
              </a:rPr>
              <a:t>API</a:t>
            </a:r>
            <a:r>
              <a:rPr lang="zh-CN" altLang="en-US" sz="2400" dirty="0">
                <a:solidFill>
                  <a:srgbClr val="FF0000"/>
                </a:solidFill>
                <a:latin typeface="Heiti SC Medium" pitchFamily="2" charset="-128"/>
                <a:ea typeface="Heiti SC Medium" pitchFamily="2" charset="-128"/>
              </a:rPr>
              <a:t>是幂等的</a:t>
            </a:r>
          </a:p>
        </p:txBody>
      </p:sp>
      <p:sp>
        <p:nvSpPr>
          <p:cNvPr id="9" name="文本框 8">
            <a:extLst>
              <a:ext uri="{FF2B5EF4-FFF2-40B4-BE49-F238E27FC236}">
                <a16:creationId xmlns:a16="http://schemas.microsoft.com/office/drawing/2014/main" id="{054C3938-7864-ED6E-B7F9-7DBC603275A2}"/>
              </a:ext>
            </a:extLst>
          </p:cNvPr>
          <p:cNvSpPr txBox="1"/>
          <p:nvPr/>
        </p:nvSpPr>
        <p:spPr>
          <a:xfrm>
            <a:off x="97974" y="1030628"/>
            <a:ext cx="8980714" cy="830997"/>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URI表示RESTful API的调用入口，其中url表示服务地址</a:t>
            </a:r>
            <a:endParaRPr lang="en-US" altLang="zh-CN" sz="2400" dirty="0">
              <a:solidFill>
                <a:srgbClr val="FF0000"/>
              </a:solidFill>
              <a:latin typeface="Heiti SC Medium" pitchFamily="2" charset="-128"/>
              <a:ea typeface="Heiti SC Medium" pitchFamily="2" charset="-128"/>
            </a:endParaRPr>
          </a:p>
          <a:p>
            <a:r>
              <a:rPr lang="zh-CN" altLang="en-US" sz="2400" dirty="0">
                <a:solidFill>
                  <a:srgbClr val="FF0000"/>
                </a:solidFill>
                <a:latin typeface="Heiti SC Medium" pitchFamily="2" charset="-128"/>
                <a:ea typeface="Heiti SC Medium" pitchFamily="2" charset="-128"/>
              </a:rPr>
              <a:t>“orders”表示资源（即订单）</a:t>
            </a:r>
          </a:p>
        </p:txBody>
      </p:sp>
    </p:spTree>
    <p:extLst>
      <p:ext uri="{BB962C8B-B14F-4D97-AF65-F5344CB8AC3E}">
        <p14:creationId xmlns:p14="http://schemas.microsoft.com/office/powerpoint/2010/main" val="640715518"/>
      </p:ext>
    </p:extLst>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878532"/>
          </a:xfrm>
          <a:prstGeom prst="rect">
            <a:avLst/>
          </a:prstGeom>
          <a:noFill/>
        </p:spPr>
        <p:txBody>
          <a:bodyPr wrap="square" rtlCol="0">
            <a:spAutoFit/>
          </a:bodyPr>
          <a:lstStyle/>
          <a:p>
            <a:pPr marL="285750" indent="-285750">
              <a:buFont typeface="Arial" panose="020B0604020202020204" pitchFamily="34" charset="0"/>
              <a:buChar char="•"/>
            </a:pPr>
            <a:r>
              <a:rPr lang="en-US" altLang="zh-CN" sz="3200" dirty="0">
                <a:latin typeface="Kaiti SC" panose="02010600040101010101" pitchFamily="2" charset="-122"/>
                <a:ea typeface="Kaiti SC" panose="02010600040101010101" pitchFamily="2" charset="-122"/>
              </a:rPr>
              <a:t>RESTful API</a:t>
            </a:r>
            <a:r>
              <a:rPr lang="zh-CN" altLang="en-US" sz="3200" dirty="0">
                <a:latin typeface="Kaiti SC" panose="02010600040101010101" pitchFamily="2" charset="-122"/>
                <a:ea typeface="Kaiti SC" panose="02010600040101010101" pitchFamily="2" charset="-122"/>
              </a:rPr>
              <a:t>在网络化软件以及以微服务架构为特征的云原生软件中有着大量应用，因此接口规范化描述也成为一个重要的问题</a:t>
            </a:r>
            <a:endParaRPr lang="en-US" altLang="zh-CN" sz="32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开发人员不仅可以了解</a:t>
            </a:r>
            <a:r>
              <a:rPr lang="en-US" altLang="zh-CN" sz="2400" dirty="0">
                <a:latin typeface="Heiti SC Light" charset="-122"/>
                <a:ea typeface="Heiti SC Light" charset="-122"/>
              </a:rPr>
              <a:t>API</a:t>
            </a:r>
            <a:r>
              <a:rPr lang="zh-CN" altLang="en-US" sz="2400" dirty="0">
                <a:latin typeface="Heiti SC Light" charset="-122"/>
                <a:ea typeface="Heiti SC Light" charset="-122"/>
              </a:rPr>
              <a:t>定义从而确保正确调用，而且可以利用相关工具自动生成客户端桩（</a:t>
            </a:r>
            <a:r>
              <a:rPr lang="en-US" altLang="zh-CN" sz="2400" dirty="0">
                <a:latin typeface="Heiti SC Light" charset="-122"/>
                <a:ea typeface="Heiti SC Light" charset="-122"/>
              </a:rPr>
              <a:t>stub</a:t>
            </a:r>
            <a:r>
              <a:rPr lang="zh-CN" altLang="en-US" sz="2400" dirty="0">
                <a:latin typeface="Heiti SC Light" charset="-122"/>
                <a:ea typeface="Heiti SC Light" charset="-122"/>
              </a:rPr>
              <a:t>）和服务端骨架（</a:t>
            </a:r>
            <a:r>
              <a:rPr lang="en-US" altLang="zh-CN" sz="2400" dirty="0">
                <a:latin typeface="Heiti SC Light" charset="-122"/>
                <a:ea typeface="Heiti SC Light" charset="-122"/>
              </a:rPr>
              <a:t>skeleton</a:t>
            </a:r>
            <a:r>
              <a:rPr lang="zh-CN" altLang="en-US" sz="2400" dirty="0">
                <a:latin typeface="Heiti SC Light" charset="-122"/>
                <a:ea typeface="Heiti SC Light" charset="-122"/>
              </a:rPr>
              <a:t>）代码</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测试人员可以基于</a:t>
            </a:r>
            <a:r>
              <a:rPr lang="en-US" altLang="zh-CN" sz="2400" dirty="0">
                <a:latin typeface="Heiti SC Light" charset="-122"/>
                <a:ea typeface="Heiti SC Light" charset="-122"/>
              </a:rPr>
              <a:t>API</a:t>
            </a:r>
            <a:r>
              <a:rPr lang="zh-CN" altLang="en-US" sz="2400" dirty="0">
                <a:latin typeface="Heiti SC Light" charset="-122"/>
                <a:ea typeface="Heiti SC Light" charset="-122"/>
              </a:rPr>
              <a:t>定义进行相应的测试</a:t>
            </a:r>
            <a:endParaRPr lang="en-US" altLang="zh-CN" sz="3400" dirty="0">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3200" dirty="0">
                <a:latin typeface="Kaiti SC" panose="02010600040101010101" pitchFamily="2" charset="-122"/>
                <a:ea typeface="Kaiti SC" panose="02010600040101010101" pitchFamily="2" charset="-122"/>
              </a:rPr>
              <a:t>目前使用最广泛的描述规范和框架是</a:t>
            </a:r>
            <a:r>
              <a:rPr lang="en-US" altLang="zh-CN" sz="3200" dirty="0">
                <a:latin typeface="Kaiti SC" panose="02010600040101010101" pitchFamily="2" charset="-122"/>
                <a:ea typeface="Kaiti SC" panose="02010600040101010101" pitchFamily="2" charset="-122"/>
              </a:rPr>
              <a:t>Swagger </a:t>
            </a:r>
          </a:p>
          <a:p>
            <a:pPr marL="1028700" lvl="1" indent="-571500">
              <a:buFont typeface="Wingdings" charset="2"/>
              <a:buChar char="ü"/>
            </a:pPr>
            <a:r>
              <a:rPr lang="zh-CN" altLang="en-US" sz="2400" dirty="0">
                <a:latin typeface="Heiti SC Light" charset="-122"/>
                <a:ea typeface="Heiti SC Light" charset="-122"/>
              </a:rPr>
              <a:t>目前世界上最大的面向</a:t>
            </a:r>
            <a:r>
              <a:rPr lang="en" altLang="zh-CN" sz="2400" dirty="0" err="1">
                <a:latin typeface="Heiti SC Light" charset="-122"/>
                <a:ea typeface="Heiti SC Light" charset="-122"/>
              </a:rPr>
              <a:t>OpenAPI</a:t>
            </a:r>
            <a:r>
              <a:rPr lang="zh-CN" altLang="en-US" sz="2400" dirty="0">
                <a:latin typeface="Heiti SC Light" charset="-122"/>
                <a:ea typeface="Heiti SC Light" charset="-122"/>
              </a:rPr>
              <a:t>规范的</a:t>
            </a:r>
            <a:r>
              <a:rPr lang="en" altLang="zh-CN" sz="2400" dirty="0">
                <a:latin typeface="Heiti SC Light" charset="-122"/>
                <a:ea typeface="Heiti SC Light" charset="-122"/>
              </a:rPr>
              <a:t>API</a:t>
            </a:r>
            <a:r>
              <a:rPr lang="zh-CN" altLang="en-US" sz="2400" dirty="0">
                <a:latin typeface="Heiti SC Light" charset="-122"/>
                <a:ea typeface="Heiti SC Light" charset="-122"/>
              </a:rPr>
              <a:t>开发者框架</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支持从</a:t>
            </a:r>
            <a:r>
              <a:rPr lang="en" altLang="zh-CN" sz="2400" dirty="0">
                <a:latin typeface="Heiti SC Light" charset="-122"/>
                <a:ea typeface="Heiti SC Light" charset="-122"/>
              </a:rPr>
              <a:t>API</a:t>
            </a:r>
            <a:r>
              <a:rPr lang="zh-CN" altLang="en-US" sz="2400" dirty="0">
                <a:latin typeface="Heiti SC Light" charset="-122"/>
                <a:ea typeface="Heiti SC Light" charset="-122"/>
              </a:rPr>
              <a:t>设计、描述、测试和部署的整个生存周期过程</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也是一套接口描述规范，只要按照规范定义</a:t>
            </a:r>
            <a:r>
              <a:rPr lang="en-US" altLang="zh-CN" sz="2400" dirty="0">
                <a:latin typeface="Heiti SC Light" charset="-122"/>
                <a:ea typeface="Heiti SC Light" charset="-122"/>
              </a:rPr>
              <a:t>API</a:t>
            </a:r>
            <a:r>
              <a:rPr lang="zh-CN" altLang="en-US" sz="2400" dirty="0">
                <a:latin typeface="Heiti SC Light" charset="-122"/>
                <a:ea typeface="Heiti SC Light" charset="-122"/>
              </a:rPr>
              <a:t>及相关的信息就可以通过工具生成接口文档、客户端和服务端代码、在线接口调试页面等</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基于</a:t>
            </a:r>
            <a:r>
              <a:rPr lang="en-US" altLang="zh-CN" sz="2400" dirty="0">
                <a:latin typeface="Heiti SC Light" charset="-122"/>
                <a:ea typeface="Heiti SC Light" charset="-122"/>
              </a:rPr>
              <a:t>YAML</a:t>
            </a:r>
            <a:r>
              <a:rPr lang="zh-CN" altLang="en-US" sz="2400" dirty="0">
                <a:latin typeface="Heiti SC Light" charset="-122"/>
                <a:ea typeface="Heiti SC Light" charset="-122"/>
              </a:rPr>
              <a:t>格式的接口描述指定了与接口相关的关键属性</a:t>
            </a:r>
            <a:endParaRPr lang="en-US" altLang="zh-CN" sz="2400" dirty="0">
              <a:latin typeface="Heiti SC Light" charset="-122"/>
              <a:ea typeface="Heiti SC Light" charset="-122"/>
            </a:endParaRPr>
          </a:p>
        </p:txBody>
      </p:sp>
      <p:sp>
        <p:nvSpPr>
          <p:cNvPr id="10" name="矩形 9"/>
          <p:cNvSpPr/>
          <p:nvPr/>
        </p:nvSpPr>
        <p:spPr>
          <a:xfrm>
            <a:off x="488410" y="168330"/>
            <a:ext cx="295465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接口描述规范</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42747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xEl>
                                              <p:pRg st="3" end="3"/>
                                            </p:txEl>
                                          </p:spTgt>
                                        </p:tgtEl>
                                        <p:attrNameLst>
                                          <p:attrName>style.visibility</p:attrName>
                                        </p:attrNameLst>
                                      </p:cBhvr>
                                      <p:to>
                                        <p:strVal val="visible"/>
                                      </p:to>
                                    </p:set>
                                    <p:animEffect transition="in" filter="blinds(horizontal)">
                                      <p:cBhvr>
                                        <p:cTn id="20" dur="500"/>
                                        <p:tgtEl>
                                          <p:spTgt spid="11">
                                            <p:txEl>
                                              <p:pRg st="3" end="3"/>
                                            </p:txEl>
                                          </p:spTgt>
                                        </p:tgtEl>
                                      </p:cBhvr>
                                    </p:animEffec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11">
                                            <p:txEl>
                                              <p:pRg st="5" end="5"/>
                                            </p:txEl>
                                          </p:spTgt>
                                        </p:tgtEl>
                                        <p:attrNameLst>
                                          <p:attrName>style.visibility</p:attrName>
                                        </p:attrNameLst>
                                      </p:cBhvr>
                                      <p:to>
                                        <p:strVal val="visible"/>
                                      </p:to>
                                    </p:set>
                                    <p:animEffect transition="in" filter="blinds(horizontal)">
                                      <p:cBhvr>
                                        <p:cTn id="28" dur="500"/>
                                        <p:tgtEl>
                                          <p:spTgt spid="11">
                                            <p:txEl>
                                              <p:pRg st="5" end="5"/>
                                            </p:txEl>
                                          </p:spTgt>
                                        </p:tgtEl>
                                      </p:cBhvr>
                                    </p:animEffect>
                                  </p:childTnLst>
                                </p:cTn>
                              </p:par>
                            </p:childTnLst>
                          </p:cTn>
                        </p:par>
                        <p:par>
                          <p:cTn id="29" fill="hold">
                            <p:stCondLst>
                              <p:cond delay="1500"/>
                            </p:stCondLst>
                            <p:childTnLst>
                              <p:par>
                                <p:cTn id="30" presetID="3" presetClass="entr" presetSubtype="10" fill="hold" nodeType="afterEffect">
                                  <p:stCondLst>
                                    <p:cond delay="0"/>
                                  </p:stCondLst>
                                  <p:childTnLst>
                                    <p:set>
                                      <p:cBhvr>
                                        <p:cTn id="31" dur="1" fill="hold">
                                          <p:stCondLst>
                                            <p:cond delay="0"/>
                                          </p:stCondLst>
                                        </p:cTn>
                                        <p:tgtEl>
                                          <p:spTgt spid="11">
                                            <p:txEl>
                                              <p:pRg st="6" end="6"/>
                                            </p:txEl>
                                          </p:spTgt>
                                        </p:tgtEl>
                                        <p:attrNameLst>
                                          <p:attrName>style.visibility</p:attrName>
                                        </p:attrNameLst>
                                      </p:cBhvr>
                                      <p:to>
                                        <p:strVal val="visible"/>
                                      </p:to>
                                    </p:set>
                                    <p:animEffect transition="in" filter="blinds(horizontal)">
                                      <p:cBhvr>
                                        <p:cTn id="32" dur="500"/>
                                        <p:tgtEl>
                                          <p:spTgt spid="11">
                                            <p:txEl>
                                              <p:pRg st="6" end="6"/>
                                            </p:txEl>
                                          </p:spTgt>
                                        </p:tgtEl>
                                      </p:cBhvr>
                                    </p:animEffect>
                                  </p:childTnLst>
                                </p:cTn>
                              </p:par>
                            </p:childTnLst>
                          </p:cTn>
                        </p:par>
                        <p:par>
                          <p:cTn id="33" fill="hold">
                            <p:stCondLst>
                              <p:cond delay="2000"/>
                            </p:stCondLst>
                            <p:childTnLst>
                              <p:par>
                                <p:cTn id="34" presetID="3" presetClass="entr" presetSubtype="10" fill="hold" nodeType="afterEffect">
                                  <p:stCondLst>
                                    <p:cond delay="0"/>
                                  </p:stCondLst>
                                  <p:childTnLst>
                                    <p:set>
                                      <p:cBhvr>
                                        <p:cTn id="35" dur="1" fill="hold">
                                          <p:stCondLst>
                                            <p:cond delay="0"/>
                                          </p:stCondLst>
                                        </p:cTn>
                                        <p:tgtEl>
                                          <p:spTgt spid="11">
                                            <p:txEl>
                                              <p:pRg st="7" end="7"/>
                                            </p:txEl>
                                          </p:spTgt>
                                        </p:tgtEl>
                                        <p:attrNameLst>
                                          <p:attrName>style.visibility</p:attrName>
                                        </p:attrNameLst>
                                      </p:cBhvr>
                                      <p:to>
                                        <p:strVal val="visible"/>
                                      </p:to>
                                    </p:set>
                                    <p:animEffect transition="in" filter="blinds(horizontal)">
                                      <p:cBhvr>
                                        <p:cTn id="36"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7732630" cy="742319"/>
          </a:xfrm>
          <a:prstGeom prst="rect">
            <a:avLst/>
          </a:prstGeom>
        </p:spPr>
        <p:txBody>
          <a:bodyPr wrap="none">
            <a:spAutoFit/>
          </a:bodyPr>
          <a:lstStyle/>
          <a:p>
            <a:pPr>
              <a:lnSpc>
                <a:spcPct val="130000"/>
              </a:lnSpc>
            </a:pPr>
            <a:r>
              <a:rPr lang="en" altLang="zh-CN" sz="3600" b="1" dirty="0">
                <a:solidFill>
                  <a:schemeClr val="bg1"/>
                </a:solidFill>
                <a:latin typeface="微软雅黑" panose="020B0503020204020204" pitchFamily="34" charset="-122"/>
                <a:ea typeface="微软雅黑" panose="020B0503020204020204" pitchFamily="34" charset="-122"/>
              </a:rPr>
              <a:t>Swagger</a:t>
            </a:r>
            <a:r>
              <a:rPr lang="zh-CN" altLang="en-US" sz="3600" b="1" dirty="0">
                <a:solidFill>
                  <a:schemeClr val="bg1"/>
                </a:solidFill>
                <a:latin typeface="微软雅黑" panose="020B0503020204020204" pitchFamily="34" charset="-122"/>
                <a:ea typeface="微软雅黑" panose="020B0503020204020204" pitchFamily="34" charset="-122"/>
              </a:rPr>
              <a:t>接口描述规范中的关键属性</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AA1B279E-FC45-0A9A-3F33-0228C182ACF2}"/>
              </a:ext>
            </a:extLst>
          </p:cNvPr>
          <p:cNvGraphicFramePr>
            <a:graphicFrameLocks noGrp="1"/>
          </p:cNvGraphicFramePr>
          <p:nvPr>
            <p:extLst>
              <p:ext uri="{D42A27DB-BD31-4B8C-83A1-F6EECF244321}">
                <p14:modId xmlns:p14="http://schemas.microsoft.com/office/powerpoint/2010/main" val="2605566928"/>
              </p:ext>
            </p:extLst>
          </p:nvPr>
        </p:nvGraphicFramePr>
        <p:xfrm>
          <a:off x="396969" y="1228249"/>
          <a:ext cx="8475976" cy="4876800"/>
        </p:xfrm>
        <a:graphic>
          <a:graphicData uri="http://schemas.openxmlformats.org/drawingml/2006/table">
            <a:tbl>
              <a:tblPr firstRow="1" firstCol="1" bandRow="1"/>
              <a:tblGrid>
                <a:gridCol w="2268579">
                  <a:extLst>
                    <a:ext uri="{9D8B030D-6E8A-4147-A177-3AD203B41FA5}">
                      <a16:colId xmlns:a16="http://schemas.microsoft.com/office/drawing/2014/main" val="3325452271"/>
                    </a:ext>
                  </a:extLst>
                </a:gridCol>
                <a:gridCol w="6207397">
                  <a:extLst>
                    <a:ext uri="{9D8B030D-6E8A-4147-A177-3AD203B41FA5}">
                      <a16:colId xmlns:a16="http://schemas.microsoft.com/office/drawing/2014/main" val="3145594954"/>
                    </a:ext>
                  </a:extLst>
                </a:gridCol>
              </a:tblGrid>
              <a:tr h="0">
                <a:tc>
                  <a:txBody>
                    <a:bodyPr/>
                    <a:lstStyle/>
                    <a:p>
                      <a:pPr marL="0" indent="15875" algn="ctr">
                        <a:tabLst/>
                      </a:pPr>
                      <a:r>
                        <a:rPr lang="zh-CN" sz="3200" kern="100" dirty="0">
                          <a:solidFill>
                            <a:schemeClr val="bg1"/>
                          </a:solidFill>
                          <a:effectLst/>
                          <a:latin typeface="Kaiti SC" panose="02010600040101010101" pitchFamily="2" charset="-122"/>
                          <a:ea typeface="Kaiti SC" panose="02010600040101010101" pitchFamily="2" charset="-122"/>
                        </a:rPr>
                        <a:t>属性名</a:t>
                      </a:r>
                      <a:endParaRPr lang="zh-CN" sz="4000" kern="100" dirty="0">
                        <a:solidFill>
                          <a:schemeClr val="bg1"/>
                        </a:solidFill>
                        <a:effectLst/>
                        <a:latin typeface="Kaiti SC" panose="02010600040101010101" pitchFamily="2" charset="-122"/>
                        <a:ea typeface="Kaiti SC" panose="02010600040101010101" pitchFamily="2" charset="-122"/>
                        <a:cs typeface="+mn-cs"/>
                      </a:endParaRPr>
                    </a:p>
                  </a:txBody>
                  <a:tcPr marL="68580" marR="68580" marT="0" marB="0">
                    <a:solidFill>
                      <a:srgbClr val="0070C0"/>
                    </a:solidFill>
                  </a:tcPr>
                </a:tc>
                <a:tc>
                  <a:txBody>
                    <a:bodyPr/>
                    <a:lstStyle/>
                    <a:p>
                      <a:pPr marL="0" indent="15875" algn="ctr" defTabSz="914400" rtl="0" eaLnBrk="1" latinLnBrk="0" hangingPunct="1">
                        <a:tabLst/>
                      </a:pPr>
                      <a:r>
                        <a:rPr lang="zh-CN" altLang="en-US" sz="3200" kern="100" dirty="0">
                          <a:solidFill>
                            <a:schemeClr val="bg1"/>
                          </a:solidFill>
                          <a:effectLst/>
                          <a:latin typeface="Kaiti SC" panose="02010600040101010101" pitchFamily="2" charset="-122"/>
                          <a:ea typeface="Kaiti SC" panose="02010600040101010101" pitchFamily="2" charset="-122"/>
                          <a:cs typeface="+mn-cs"/>
                        </a:rPr>
                        <a:t>描述</a:t>
                      </a:r>
                    </a:p>
                  </a:txBody>
                  <a:tcPr marL="68580" marR="68580" marT="0" marB="0">
                    <a:solidFill>
                      <a:srgbClr val="0070C0"/>
                    </a:solidFill>
                  </a:tcPr>
                </a:tc>
                <a:extLst>
                  <a:ext uri="{0D108BD9-81ED-4DB2-BD59-A6C34878D82A}">
                    <a16:rowId xmlns:a16="http://schemas.microsoft.com/office/drawing/2014/main" val="3889810553"/>
                  </a:ext>
                </a:extLst>
              </a:tr>
              <a:tr h="0">
                <a:tc>
                  <a:txBody>
                    <a:bodyPr/>
                    <a:lstStyle/>
                    <a:p>
                      <a:pPr marL="0" indent="12700" algn="l" defTabSz="914400" rtl="0" eaLnBrk="1" latinLnBrk="0" hangingPunct="1">
                        <a:tabLst/>
                      </a:pPr>
                      <a:r>
                        <a:rPr lang="en-US" sz="2400" kern="100" dirty="0" err="1">
                          <a:solidFill>
                            <a:schemeClr val="tx1"/>
                          </a:solidFill>
                          <a:effectLst/>
                          <a:latin typeface="Kaiti SC" panose="02010600040101010101" pitchFamily="2" charset="-122"/>
                          <a:ea typeface="Kaiti SC" panose="02010600040101010101" pitchFamily="2" charset="-122"/>
                          <a:cs typeface="+mn-cs"/>
                        </a:rPr>
                        <a:t>basePath</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资源的基础路径</a:t>
                      </a:r>
                    </a:p>
                  </a:txBody>
                  <a:tcPr marL="68580" marR="68580" marT="0" marB="0"/>
                </a:tc>
                <a:extLst>
                  <a:ext uri="{0D108BD9-81ED-4DB2-BD59-A6C34878D82A}">
                    <a16:rowId xmlns:a16="http://schemas.microsoft.com/office/drawing/2014/main" val="1467562831"/>
                  </a:ext>
                </a:extLst>
              </a:tr>
              <a:tr h="0">
                <a:tc>
                  <a:txBody>
                    <a:bodyPr/>
                    <a:lstStyle/>
                    <a:p>
                      <a:pPr marL="0" indent="12700"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path</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资源标识，对资源的完整的访问路径为</a:t>
                      </a:r>
                      <a:r>
                        <a:rPr lang="en-US" sz="2400" kern="100" dirty="0">
                          <a:solidFill>
                            <a:schemeClr val="tx1"/>
                          </a:solidFill>
                          <a:effectLst/>
                          <a:latin typeface="Kaiti SC" panose="02010600040101010101" pitchFamily="2" charset="-122"/>
                          <a:ea typeface="Kaiti SC" panose="02010600040101010101" pitchFamily="2" charset="-122"/>
                          <a:cs typeface="+mn-cs"/>
                        </a:rPr>
                        <a:t> </a:t>
                      </a:r>
                      <a:r>
                        <a:rPr lang="en-US" sz="2400" kern="100" dirty="0" err="1">
                          <a:solidFill>
                            <a:schemeClr val="tx1"/>
                          </a:solidFill>
                          <a:effectLst/>
                          <a:latin typeface="Kaiti SC" panose="02010600040101010101" pitchFamily="2" charset="-122"/>
                          <a:ea typeface="Kaiti SC" panose="02010600040101010101" pitchFamily="2" charset="-122"/>
                          <a:cs typeface="+mn-cs"/>
                        </a:rPr>
                        <a:t>basePath</a:t>
                      </a:r>
                      <a:r>
                        <a:rPr lang="en-US" sz="2400" kern="100" dirty="0">
                          <a:solidFill>
                            <a:schemeClr val="tx1"/>
                          </a:solidFill>
                          <a:effectLst/>
                          <a:latin typeface="Kaiti SC" panose="02010600040101010101" pitchFamily="2" charset="-122"/>
                          <a:ea typeface="Kaiti SC" panose="02010600040101010101" pitchFamily="2" charset="-122"/>
                          <a:cs typeface="+mn-cs"/>
                        </a:rPr>
                        <a:t> + path</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extLst>
                  <a:ext uri="{0D108BD9-81ED-4DB2-BD59-A6C34878D82A}">
                    <a16:rowId xmlns:a16="http://schemas.microsoft.com/office/drawing/2014/main" val="425958094"/>
                  </a:ext>
                </a:extLst>
              </a:tr>
              <a:tr h="0">
                <a:tc>
                  <a:txBody>
                    <a:bodyPr/>
                    <a:lstStyle/>
                    <a:p>
                      <a:pPr marL="0" indent="12700" algn="l" defTabSz="914400" rtl="0" eaLnBrk="1" latinLnBrk="0" hangingPunct="1">
                        <a:tabLst/>
                      </a:pPr>
                      <a:r>
                        <a:rPr lang="en-US" sz="2400" kern="100" dirty="0">
                          <a:solidFill>
                            <a:schemeClr val="tx1"/>
                          </a:solidFill>
                          <a:effectLst/>
                          <a:latin typeface="Kaiti SC" panose="02010600040101010101" pitchFamily="2" charset="-122"/>
                          <a:ea typeface="Kaiti SC" panose="02010600040101010101" pitchFamily="2" charset="-122"/>
                          <a:cs typeface="+mn-cs"/>
                        </a:rPr>
                        <a:t>GET/DELETE/PUT/POST</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对资源的操作类型</a:t>
                      </a:r>
                    </a:p>
                  </a:txBody>
                  <a:tcPr marL="68580" marR="68580" marT="0" marB="0"/>
                </a:tc>
                <a:extLst>
                  <a:ext uri="{0D108BD9-81ED-4DB2-BD59-A6C34878D82A}">
                    <a16:rowId xmlns:a16="http://schemas.microsoft.com/office/drawing/2014/main" val="103107692"/>
                  </a:ext>
                </a:extLst>
              </a:tr>
              <a:tr h="0">
                <a:tc>
                  <a:txBody>
                    <a:bodyPr/>
                    <a:lstStyle/>
                    <a:p>
                      <a:pPr marL="0" indent="12700"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produces/consumes</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资源产出和消费的制品的表达方式，例如</a:t>
                      </a:r>
                      <a:r>
                        <a:rPr lang="en-US" sz="2400" kern="100" dirty="0">
                          <a:solidFill>
                            <a:schemeClr val="tx1"/>
                          </a:solidFill>
                          <a:effectLst/>
                          <a:latin typeface="Kaiti SC" panose="02010600040101010101" pitchFamily="2" charset="-122"/>
                          <a:ea typeface="Kaiti SC" panose="02010600040101010101" pitchFamily="2" charset="-122"/>
                          <a:cs typeface="+mn-cs"/>
                        </a:rPr>
                        <a:t>XML</a:t>
                      </a:r>
                      <a:r>
                        <a:rPr lang="zh-CN" altLang="en-US" sz="2400" kern="100" dirty="0">
                          <a:solidFill>
                            <a:schemeClr val="tx1"/>
                          </a:solidFill>
                          <a:effectLst/>
                          <a:latin typeface="Kaiti SC" panose="02010600040101010101" pitchFamily="2" charset="-122"/>
                          <a:ea typeface="Kaiti SC" panose="02010600040101010101" pitchFamily="2" charset="-122"/>
                          <a:cs typeface="+mn-cs"/>
                        </a:rPr>
                        <a:t>或</a:t>
                      </a:r>
                      <a:r>
                        <a:rPr lang="en-US" sz="2400" kern="100" dirty="0">
                          <a:solidFill>
                            <a:schemeClr val="tx1"/>
                          </a:solidFill>
                          <a:effectLst/>
                          <a:latin typeface="Kaiti SC" panose="02010600040101010101" pitchFamily="2" charset="-122"/>
                          <a:ea typeface="Kaiti SC" panose="02010600040101010101" pitchFamily="2" charset="-122"/>
                          <a:cs typeface="+mn-cs"/>
                        </a:rPr>
                        <a:t>JSON</a:t>
                      </a:r>
                      <a:endParaRPr lang="zh-CN" altLang="en-US" sz="2400" kern="100" dirty="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extLst>
                  <a:ext uri="{0D108BD9-81ED-4DB2-BD59-A6C34878D82A}">
                    <a16:rowId xmlns:a16="http://schemas.microsoft.com/office/drawing/2014/main" val="1226878501"/>
                  </a:ext>
                </a:extLst>
              </a:tr>
              <a:tr h="0">
                <a:tc>
                  <a:txBody>
                    <a:bodyPr/>
                    <a:lstStyle/>
                    <a:p>
                      <a:pPr marL="0" indent="12700"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parameters</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参数定义，包括参数名称、描述、模式</a:t>
                      </a:r>
                    </a:p>
                  </a:txBody>
                  <a:tcPr marL="68580" marR="68580" marT="0" marB="0"/>
                </a:tc>
                <a:extLst>
                  <a:ext uri="{0D108BD9-81ED-4DB2-BD59-A6C34878D82A}">
                    <a16:rowId xmlns:a16="http://schemas.microsoft.com/office/drawing/2014/main" val="2182106244"/>
                  </a:ext>
                </a:extLst>
              </a:tr>
              <a:tr h="0">
                <a:tc>
                  <a:txBody>
                    <a:bodyPr/>
                    <a:lstStyle/>
                    <a:p>
                      <a:pPr marL="0" indent="12700" algn="l" defTabSz="914400" rtl="0" eaLnBrk="1" latinLnBrk="0" hangingPunct="1">
                        <a:tabLst/>
                      </a:pPr>
                      <a:r>
                        <a:rPr lang="en-US" sz="2400" kern="100">
                          <a:solidFill>
                            <a:schemeClr val="tx1"/>
                          </a:solidFill>
                          <a:effectLst/>
                          <a:latin typeface="Kaiti SC" panose="02010600040101010101" pitchFamily="2" charset="-122"/>
                          <a:ea typeface="Kaiti SC" panose="02010600040101010101" pitchFamily="2" charset="-122"/>
                          <a:cs typeface="+mn-cs"/>
                        </a:rPr>
                        <a:t>responses</a:t>
                      </a:r>
                      <a:endParaRPr lang="zh-CN" altLang="en-US" sz="2400" kern="100">
                        <a:solidFill>
                          <a:schemeClr val="tx1"/>
                        </a:solidFill>
                        <a:effectLst/>
                        <a:latin typeface="Kaiti SC" panose="02010600040101010101" pitchFamily="2" charset="-122"/>
                        <a:ea typeface="Kaiti SC" panose="02010600040101010101" pitchFamily="2" charset="-122"/>
                        <a:cs typeface="+mn-cs"/>
                      </a:endParaRPr>
                    </a:p>
                  </a:txBody>
                  <a:tcPr marL="68580" marR="68580" marT="0" marB="0"/>
                </a:tc>
                <a:tc>
                  <a:txBody>
                    <a:bodyPr/>
                    <a:lstStyle/>
                    <a:p>
                      <a:pPr marL="0" indent="12700" algn="l" defTabSz="914400" rtl="0" eaLnBrk="1" latinLnBrk="0" hangingPunct="1">
                        <a:tabLst/>
                      </a:pPr>
                      <a:r>
                        <a:rPr lang="zh-CN" altLang="en-US" sz="2400" kern="100" dirty="0">
                          <a:solidFill>
                            <a:schemeClr val="tx1"/>
                          </a:solidFill>
                          <a:effectLst/>
                          <a:latin typeface="Kaiti SC" panose="02010600040101010101" pitchFamily="2" charset="-122"/>
                          <a:ea typeface="Kaiti SC" panose="02010600040101010101" pitchFamily="2" charset="-122"/>
                          <a:cs typeface="+mn-cs"/>
                        </a:rPr>
                        <a:t>响应结果定义，一般为</a:t>
                      </a:r>
                      <a:r>
                        <a:rPr lang="en-US" sz="2400" kern="100" dirty="0">
                          <a:solidFill>
                            <a:schemeClr val="tx1"/>
                          </a:solidFill>
                          <a:effectLst/>
                          <a:latin typeface="Kaiti SC" panose="02010600040101010101" pitchFamily="2" charset="-122"/>
                          <a:ea typeface="Kaiti SC" panose="02010600040101010101" pitchFamily="2" charset="-122"/>
                          <a:cs typeface="+mn-cs"/>
                        </a:rPr>
                        <a:t>HTTP</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规范中的响应返回码，例如</a:t>
                      </a:r>
                      <a:r>
                        <a:rPr lang="en-US" sz="2400" kern="100" dirty="0">
                          <a:solidFill>
                            <a:schemeClr val="tx1"/>
                          </a:solidFill>
                          <a:effectLst/>
                          <a:latin typeface="Kaiti SC" panose="02010600040101010101" pitchFamily="2" charset="-122"/>
                          <a:ea typeface="Kaiti SC" panose="02010600040101010101" pitchFamily="2" charset="-122"/>
                          <a:cs typeface="+mn-cs"/>
                        </a:rPr>
                        <a:t>1xx</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表示临时响应，</a:t>
                      </a:r>
                      <a:r>
                        <a:rPr lang="en-US" sz="2400" kern="100" dirty="0">
                          <a:solidFill>
                            <a:schemeClr val="tx1"/>
                          </a:solidFill>
                          <a:effectLst/>
                          <a:latin typeface="Kaiti SC" panose="02010600040101010101" pitchFamily="2" charset="-122"/>
                          <a:ea typeface="Kaiti SC" panose="02010600040101010101" pitchFamily="2" charset="-122"/>
                          <a:cs typeface="+mn-cs"/>
                        </a:rPr>
                        <a:t>2xx</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表示成功响应，</a:t>
                      </a:r>
                      <a:r>
                        <a:rPr lang="en-US" sz="2400" kern="100" dirty="0">
                          <a:solidFill>
                            <a:schemeClr val="tx1"/>
                          </a:solidFill>
                          <a:effectLst/>
                          <a:latin typeface="Kaiti SC" panose="02010600040101010101" pitchFamily="2" charset="-122"/>
                          <a:ea typeface="Kaiti SC" panose="02010600040101010101" pitchFamily="2" charset="-122"/>
                          <a:cs typeface="+mn-cs"/>
                        </a:rPr>
                        <a:t>3xx</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表示转发，</a:t>
                      </a:r>
                      <a:r>
                        <a:rPr lang="en-US" sz="2400" kern="100" dirty="0">
                          <a:solidFill>
                            <a:schemeClr val="tx1"/>
                          </a:solidFill>
                          <a:effectLst/>
                          <a:latin typeface="Kaiti SC" panose="02010600040101010101" pitchFamily="2" charset="-122"/>
                          <a:ea typeface="Kaiti SC" panose="02010600040101010101" pitchFamily="2" charset="-122"/>
                          <a:cs typeface="+mn-cs"/>
                        </a:rPr>
                        <a:t>4xx</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表示客户端错误，</a:t>
                      </a:r>
                      <a:r>
                        <a:rPr lang="en-US" sz="2400" kern="100" dirty="0">
                          <a:solidFill>
                            <a:schemeClr val="tx1"/>
                          </a:solidFill>
                          <a:effectLst/>
                          <a:latin typeface="Kaiti SC" panose="02010600040101010101" pitchFamily="2" charset="-122"/>
                          <a:ea typeface="Kaiti SC" panose="02010600040101010101" pitchFamily="2" charset="-122"/>
                          <a:cs typeface="+mn-cs"/>
                        </a:rPr>
                        <a:t>5xx</a:t>
                      </a:r>
                      <a:r>
                        <a:rPr lang="zh-CN" altLang="en-US" sz="2400" kern="100" dirty="0">
                          <a:solidFill>
                            <a:schemeClr val="tx1"/>
                          </a:solidFill>
                          <a:effectLst/>
                          <a:latin typeface="Kaiti SC" panose="02010600040101010101" pitchFamily="2" charset="-122"/>
                          <a:ea typeface="Kaiti SC" panose="02010600040101010101" pitchFamily="2" charset="-122"/>
                          <a:cs typeface="+mn-cs"/>
                        </a:rPr>
                        <a:t>表示服务端错误</a:t>
                      </a:r>
                    </a:p>
                  </a:txBody>
                  <a:tcPr marL="68580" marR="68580" marT="0" marB="0"/>
                </a:tc>
                <a:extLst>
                  <a:ext uri="{0D108BD9-81ED-4DB2-BD59-A6C34878D82A}">
                    <a16:rowId xmlns:a16="http://schemas.microsoft.com/office/drawing/2014/main" val="3748281981"/>
                  </a:ext>
                </a:extLst>
              </a:tr>
            </a:tbl>
          </a:graphicData>
        </a:graphic>
      </p:graphicFrame>
    </p:spTree>
    <p:extLst>
      <p:ext uri="{BB962C8B-B14F-4D97-AF65-F5344CB8AC3E}">
        <p14:creationId xmlns:p14="http://schemas.microsoft.com/office/powerpoint/2010/main" val="4225363925"/>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447645"/>
          </a:xfrm>
          <a:prstGeom prst="rect">
            <a:avLst/>
          </a:prstGeom>
          <a:noFill/>
        </p:spPr>
        <p:txBody>
          <a:bodyPr wrap="square" rtlCol="0">
            <a:spAutoFit/>
          </a:bodyPr>
          <a:lstStyle/>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框架级复用</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可以让开发人员获得软件应用或其一部分的整体基础框架</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按照框架规范进行定制和扩展后获得的软件应用可以在很大程度上获得框架所带来的设计灵活、关注点分离、易于维护和扩展等方面的优势</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开发框架一般还内置了一些通用的基础功能实现，避免在软件应用开发时重复地实现</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应用开发可以关注于特定应用的业务实现</a:t>
            </a:r>
            <a:endParaRPr lang="en-US" altLang="zh-CN" sz="3400" dirty="0">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当前主流的软件应用（</a:t>
            </a:r>
            <a:r>
              <a:rPr lang="en-US" altLang="zh-CN" sz="3400" dirty="0">
                <a:latin typeface="Kaiti SC" panose="02010600040101010101" pitchFamily="2" charset="-122"/>
                <a:ea typeface="Kaiti SC" panose="02010600040101010101" pitchFamily="2" charset="-122"/>
              </a:rPr>
              <a:t>Web</a:t>
            </a:r>
            <a:r>
              <a:rPr lang="zh-CN" altLang="en-US" sz="3400" dirty="0">
                <a:latin typeface="Kaiti SC" panose="02010600040101010101" pitchFamily="2" charset="-122"/>
                <a:ea typeface="Kaiti SC" panose="02010600040101010101" pitchFamily="2" charset="-122"/>
              </a:rPr>
              <a:t>应用、移动应用等）一般都由前端界面和后端服务构成</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广泛采用</a:t>
            </a:r>
            <a:r>
              <a:rPr lang="en-US" altLang="zh-CN" sz="3400" dirty="0">
                <a:latin typeface="Kaiti SC" panose="02010600040101010101" pitchFamily="2" charset="-122"/>
                <a:ea typeface="Kaiti SC" panose="02010600040101010101" pitchFamily="2" charset="-122"/>
              </a:rPr>
              <a:t>MVC</a:t>
            </a:r>
            <a:r>
              <a:rPr lang="zh-CN" altLang="en-US" sz="3400" dirty="0">
                <a:latin typeface="Kaiti SC" panose="02010600040101010101" pitchFamily="2" charset="-122"/>
                <a:ea typeface="Kaiti SC" panose="02010600040101010101" pitchFamily="2" charset="-122"/>
              </a:rPr>
              <a:t>模式来设计应用结构，将界面与业务逻辑分离，提高可扩展性和可维护性</a:t>
            </a:r>
          </a:p>
        </p:txBody>
      </p:sp>
      <p:sp>
        <p:nvSpPr>
          <p:cNvPr id="10" name="矩形 9"/>
          <p:cNvSpPr/>
          <p:nvPr/>
        </p:nvSpPr>
        <p:spPr>
          <a:xfrm>
            <a:off x="488410" y="168330"/>
            <a:ext cx="2518638"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框架级复用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26376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blinds(horizontal)">
                                      <p:cBhvr>
                                        <p:cTn id="19" dur="500"/>
                                        <p:tgtEl>
                                          <p:spTgt spid="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blinds(horizontal)">
                                      <p:cBhvr>
                                        <p:cTn id="24" dur="500"/>
                                        <p:tgtEl>
                                          <p:spTgt spid="11">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blinds(horizontal)">
                                      <p:cBhvr>
                                        <p:cTn id="29" dur="500"/>
                                        <p:tgtEl>
                                          <p:spTgt spid="1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1">
                                            <p:txEl>
                                              <p:pRg st="6" end="6"/>
                                            </p:txEl>
                                          </p:spTgt>
                                        </p:tgtEl>
                                        <p:attrNameLst>
                                          <p:attrName>style.visibility</p:attrName>
                                        </p:attrNameLst>
                                      </p:cBhvr>
                                      <p:to>
                                        <p:strVal val="visible"/>
                                      </p:to>
                                    </p:set>
                                    <p:animEffect transition="in" filter="blinds(horizontal)">
                                      <p:cBhvr>
                                        <p:cTn id="34"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2214004" cy="742319"/>
          </a:xfrm>
          <a:prstGeom prst="rect">
            <a:avLst/>
          </a:prstGeom>
        </p:spPr>
        <p:txBody>
          <a:bodyPr wrap="none">
            <a:spAutoFit/>
          </a:bodyPr>
          <a:lstStyle/>
          <a:p>
            <a:pPr>
              <a:lnSpc>
                <a:spcPct val="130000"/>
              </a:lnSpc>
            </a:pPr>
            <a:r>
              <a:rPr lang="en-US" altLang="zh-CN" sz="3600" b="1" dirty="0">
                <a:solidFill>
                  <a:schemeClr val="bg1"/>
                </a:solidFill>
                <a:latin typeface="微软雅黑" panose="020B0503020204020204" pitchFamily="34" charset="-122"/>
                <a:ea typeface="微软雅黑" panose="020B0503020204020204" pitchFamily="34" charset="-122"/>
              </a:rPr>
              <a:t>MVC</a:t>
            </a:r>
            <a:r>
              <a:rPr lang="zh-CN" altLang="en-US" sz="3600" b="1" dirty="0">
                <a:solidFill>
                  <a:schemeClr val="bg1"/>
                </a:solidFill>
                <a:latin typeface="微软雅黑" panose="020B0503020204020204" pitchFamily="34" charset="-122"/>
                <a:ea typeface="微软雅黑" panose="020B0503020204020204" pitchFamily="34" charset="-122"/>
              </a:rPr>
              <a:t>模式</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8C826B55-99E4-039D-5328-E2BE7F1810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1690509"/>
            <a:ext cx="9071075" cy="2110786"/>
          </a:xfrm>
          <a:prstGeom prst="rect">
            <a:avLst/>
          </a:prstGeom>
          <a:noFill/>
          <a:ln>
            <a:noFill/>
          </a:ln>
        </p:spPr>
      </p:pic>
      <p:sp>
        <p:nvSpPr>
          <p:cNvPr id="9" name="文本框 8">
            <a:extLst>
              <a:ext uri="{FF2B5EF4-FFF2-40B4-BE49-F238E27FC236}">
                <a16:creationId xmlns:a16="http://schemas.microsoft.com/office/drawing/2014/main" id="{2EA98199-137C-CB00-DFAC-8AFF162D16A8}"/>
              </a:ext>
            </a:extLst>
          </p:cNvPr>
          <p:cNvSpPr txBox="1"/>
          <p:nvPr/>
        </p:nvSpPr>
        <p:spPr>
          <a:xfrm>
            <a:off x="7314119" y="959150"/>
            <a:ext cx="1960509" cy="830997"/>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封装数据及业务逻辑</a:t>
            </a:r>
          </a:p>
        </p:txBody>
      </p:sp>
      <p:sp>
        <p:nvSpPr>
          <p:cNvPr id="12" name="文本框 11">
            <a:extLst>
              <a:ext uri="{FF2B5EF4-FFF2-40B4-BE49-F238E27FC236}">
                <a16:creationId xmlns:a16="http://schemas.microsoft.com/office/drawing/2014/main" id="{E63B63F0-17B7-8F4A-7E79-46BF8EDA5853}"/>
              </a:ext>
            </a:extLst>
          </p:cNvPr>
          <p:cNvSpPr txBox="1"/>
          <p:nvPr/>
        </p:nvSpPr>
        <p:spPr>
          <a:xfrm>
            <a:off x="57842" y="957070"/>
            <a:ext cx="2214004" cy="830997"/>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查询数据并将数据进行展现</a:t>
            </a:r>
          </a:p>
        </p:txBody>
      </p:sp>
      <p:sp>
        <p:nvSpPr>
          <p:cNvPr id="13" name="文本框 12">
            <a:extLst>
              <a:ext uri="{FF2B5EF4-FFF2-40B4-BE49-F238E27FC236}">
                <a16:creationId xmlns:a16="http://schemas.microsoft.com/office/drawing/2014/main" id="{6B97D6C3-88FF-7922-1E59-E916D841F2EF}"/>
              </a:ext>
            </a:extLst>
          </p:cNvPr>
          <p:cNvSpPr txBox="1"/>
          <p:nvPr/>
        </p:nvSpPr>
        <p:spPr>
          <a:xfrm>
            <a:off x="3382477" y="957070"/>
            <a:ext cx="2357847" cy="830997"/>
          </a:xfrm>
          <a:prstGeom prst="rect">
            <a:avLst/>
          </a:prstGeom>
          <a:noFill/>
        </p:spPr>
        <p:txBody>
          <a:bodyPr wrap="square">
            <a:spAutoFit/>
          </a:bodyPr>
          <a:lstStyle/>
          <a:p>
            <a:pPr algn="ctr"/>
            <a:r>
              <a:rPr lang="zh-CN" altLang="en-US" sz="2400" dirty="0">
                <a:solidFill>
                  <a:srgbClr val="FF0000"/>
                </a:solidFill>
                <a:latin typeface="Heiti SC Medium" pitchFamily="2" charset="-128"/>
                <a:ea typeface="Heiti SC Medium" pitchFamily="2" charset="-128"/>
              </a:rPr>
              <a:t>截获用户请求并操纵数据处理</a:t>
            </a:r>
          </a:p>
        </p:txBody>
      </p:sp>
      <p:sp>
        <p:nvSpPr>
          <p:cNvPr id="14" name="文本框 13">
            <a:extLst>
              <a:ext uri="{FF2B5EF4-FFF2-40B4-BE49-F238E27FC236}">
                <a16:creationId xmlns:a16="http://schemas.microsoft.com/office/drawing/2014/main" id="{B1CBDABA-D138-298B-A827-569620141E04}"/>
              </a:ext>
            </a:extLst>
          </p:cNvPr>
          <p:cNvSpPr txBox="1"/>
          <p:nvPr/>
        </p:nvSpPr>
        <p:spPr>
          <a:xfrm>
            <a:off x="129829" y="3853547"/>
            <a:ext cx="8811414" cy="2677656"/>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用户首先通过视图向控制器发送请求</a:t>
            </a:r>
            <a:endParaRPr lang="en-US" altLang="zh-CN" sz="2400" dirty="0">
              <a:solidFill>
                <a:srgbClr val="FF0000"/>
              </a:solidFill>
              <a:latin typeface="Heiti SC Medium" pitchFamily="2" charset="-128"/>
              <a:ea typeface="Heiti SC Medium" pitchFamily="2" charset="-128"/>
            </a:endParaRPr>
          </a:p>
          <a:p>
            <a:r>
              <a:rPr lang="zh-CN" altLang="en-US" sz="2400" dirty="0">
                <a:solidFill>
                  <a:srgbClr val="FF0000"/>
                </a:solidFill>
                <a:latin typeface="Heiti SC Medium" pitchFamily="2" charset="-128"/>
                <a:ea typeface="Heiti SC Medium" pitchFamily="2" charset="-128"/>
              </a:rPr>
              <a:t>该请求被控制器识别后根据预定义规则交由相应的模型业务逻辑进行处理</a:t>
            </a:r>
            <a:endParaRPr lang="en-US" altLang="zh-CN" sz="2400" dirty="0">
              <a:solidFill>
                <a:srgbClr val="FF0000"/>
              </a:solidFill>
              <a:latin typeface="Heiti SC Medium" pitchFamily="2" charset="-128"/>
              <a:ea typeface="Heiti SC Medium" pitchFamily="2" charset="-128"/>
            </a:endParaRPr>
          </a:p>
          <a:p>
            <a:r>
              <a:rPr lang="zh-CN" altLang="en-US" sz="2400" dirty="0">
                <a:solidFill>
                  <a:srgbClr val="FF0000"/>
                </a:solidFill>
                <a:latin typeface="Heiti SC Medium" pitchFamily="2" charset="-128"/>
                <a:ea typeface="Heiti SC Medium" pitchFamily="2" charset="-128"/>
              </a:rPr>
              <a:t>业务逻辑的处理结果体现为对模型内数据的更新，并将更新结果返回给控制器</a:t>
            </a:r>
            <a:endParaRPr lang="en-US" altLang="zh-CN" sz="2400" dirty="0">
              <a:solidFill>
                <a:srgbClr val="FF0000"/>
              </a:solidFill>
              <a:latin typeface="Heiti SC Medium" pitchFamily="2" charset="-128"/>
              <a:ea typeface="Heiti SC Medium" pitchFamily="2" charset="-128"/>
            </a:endParaRPr>
          </a:p>
          <a:p>
            <a:r>
              <a:rPr lang="zh-CN" altLang="en-US" sz="2400" dirty="0">
                <a:solidFill>
                  <a:srgbClr val="FF0000"/>
                </a:solidFill>
                <a:latin typeface="Heiti SC Medium" pitchFamily="2" charset="-128"/>
                <a:ea typeface="Heiti SC Medium" pitchFamily="2" charset="-128"/>
              </a:rPr>
              <a:t>控制器随后选择需要展示的视图并将模型数据在视图中进行渲染展示</a:t>
            </a:r>
          </a:p>
        </p:txBody>
      </p:sp>
    </p:spTree>
    <p:extLst>
      <p:ext uri="{BB962C8B-B14F-4D97-AF65-F5344CB8AC3E}">
        <p14:creationId xmlns:p14="http://schemas.microsoft.com/office/powerpoint/2010/main" val="2540147193"/>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88410" y="168330"/>
            <a:ext cx="5722977" cy="742319"/>
          </a:xfrm>
          <a:prstGeom prst="rect">
            <a:avLst/>
          </a:prstGeom>
        </p:spPr>
        <p:txBody>
          <a:bodyPr wrap="none">
            <a:spAutoFit/>
          </a:bodyPr>
          <a:lstStyle/>
          <a:p>
            <a:pPr>
              <a:lnSpc>
                <a:spcPct val="130000"/>
              </a:lnSpc>
            </a:pPr>
            <a:r>
              <a:rPr lang="en" altLang="zh-CN" sz="3600" b="1" dirty="0">
                <a:solidFill>
                  <a:schemeClr val="bg1"/>
                </a:solidFill>
                <a:latin typeface="微软雅黑" panose="020B0503020204020204" pitchFamily="34" charset="-122"/>
                <a:ea typeface="微软雅黑" panose="020B0503020204020204" pitchFamily="34" charset="-122"/>
              </a:rPr>
              <a:t>Spring MVC</a:t>
            </a:r>
            <a:r>
              <a:rPr lang="zh-CN" altLang="en-US" sz="3600" b="1" dirty="0">
                <a:solidFill>
                  <a:schemeClr val="bg1"/>
                </a:solidFill>
                <a:latin typeface="微软雅黑" panose="020B0503020204020204" pitchFamily="34" charset="-122"/>
                <a:ea typeface="微软雅黑" panose="020B0503020204020204" pitchFamily="34" charset="-122"/>
              </a:rPr>
              <a:t>请求处理流程</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11C2E8AA-3F00-31BB-8783-BC12E331A0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6999" y="2048591"/>
            <a:ext cx="6029956" cy="3437810"/>
          </a:xfrm>
          <a:prstGeom prst="rect">
            <a:avLst/>
          </a:prstGeom>
          <a:noFill/>
          <a:ln>
            <a:noFill/>
          </a:ln>
        </p:spPr>
      </p:pic>
      <p:sp>
        <p:nvSpPr>
          <p:cNvPr id="9" name="文本框 8">
            <a:extLst>
              <a:ext uri="{FF2B5EF4-FFF2-40B4-BE49-F238E27FC236}">
                <a16:creationId xmlns:a16="http://schemas.microsoft.com/office/drawing/2014/main" id="{62506E7F-9A7B-B73A-EC78-0201CA197BB2}"/>
              </a:ext>
            </a:extLst>
          </p:cNvPr>
          <p:cNvSpPr txBox="1"/>
          <p:nvPr/>
        </p:nvSpPr>
        <p:spPr>
          <a:xfrm>
            <a:off x="-1" y="2323348"/>
            <a:ext cx="3540035" cy="1569660"/>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1. </a:t>
            </a:r>
            <a:r>
              <a:rPr lang="zh-CN" altLang="en-US" sz="2400" dirty="0">
                <a:solidFill>
                  <a:srgbClr val="FF0000"/>
                </a:solidFill>
                <a:latin typeface="Heiti SC Medium" pitchFamily="2" charset="-128"/>
                <a:ea typeface="Heiti SC Medium" pitchFamily="2" charset="-128"/>
              </a:rPr>
              <a:t>用户通过浏览器向服务器发送请求，被Spring MVC的前端控制器DispatcherServlet捕获</a:t>
            </a:r>
          </a:p>
        </p:txBody>
      </p:sp>
      <p:sp>
        <p:nvSpPr>
          <p:cNvPr id="12" name="文本框 11">
            <a:extLst>
              <a:ext uri="{FF2B5EF4-FFF2-40B4-BE49-F238E27FC236}">
                <a16:creationId xmlns:a16="http://schemas.microsoft.com/office/drawing/2014/main" id="{4F9A00B4-A81C-25CE-BA8A-B7CEA9EDA03C}"/>
              </a:ext>
            </a:extLst>
          </p:cNvPr>
          <p:cNvSpPr txBox="1"/>
          <p:nvPr/>
        </p:nvSpPr>
        <p:spPr>
          <a:xfrm>
            <a:off x="-1" y="940262"/>
            <a:ext cx="6211387" cy="1200329"/>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2. </a:t>
            </a:r>
            <a:r>
              <a:rPr lang="zh-CN" altLang="en-US" sz="2400" dirty="0">
                <a:solidFill>
                  <a:srgbClr val="FF0000"/>
                </a:solidFill>
                <a:latin typeface="Heiti SC Medium" pitchFamily="2" charset="-128"/>
                <a:ea typeface="Heiti SC Medium" pitchFamily="2" charset="-128"/>
              </a:rPr>
              <a:t>DispatcherServlet对请求URL进行解析，基于所配置的HandlerMapping映射规则找到对应Controller并返回DispatcherServlet</a:t>
            </a:r>
          </a:p>
        </p:txBody>
      </p:sp>
      <p:sp>
        <p:nvSpPr>
          <p:cNvPr id="13" name="文本框 12">
            <a:extLst>
              <a:ext uri="{FF2B5EF4-FFF2-40B4-BE49-F238E27FC236}">
                <a16:creationId xmlns:a16="http://schemas.microsoft.com/office/drawing/2014/main" id="{54063DD4-63F1-6C98-D37F-6DA6F516C02A}"/>
              </a:ext>
            </a:extLst>
          </p:cNvPr>
          <p:cNvSpPr txBox="1"/>
          <p:nvPr/>
        </p:nvSpPr>
        <p:spPr>
          <a:xfrm>
            <a:off x="6054635" y="892519"/>
            <a:ext cx="3246121" cy="1200329"/>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3. </a:t>
            </a:r>
            <a:r>
              <a:rPr lang="zh-CN" altLang="en-US" sz="2400" dirty="0">
                <a:solidFill>
                  <a:srgbClr val="FF0000"/>
                </a:solidFill>
                <a:latin typeface="Heiti SC Medium" pitchFamily="2" charset="-128"/>
                <a:ea typeface="Heiti SC Medium" pitchFamily="2" charset="-128"/>
              </a:rPr>
              <a:t>DispatcherServlet调用请求所映射的Controller</a:t>
            </a:r>
          </a:p>
        </p:txBody>
      </p:sp>
      <p:sp>
        <p:nvSpPr>
          <p:cNvPr id="14" name="文本框 13">
            <a:extLst>
              <a:ext uri="{FF2B5EF4-FFF2-40B4-BE49-F238E27FC236}">
                <a16:creationId xmlns:a16="http://schemas.microsoft.com/office/drawing/2014/main" id="{80F61D1E-58CF-5657-6026-ADB2E01693DF}"/>
              </a:ext>
            </a:extLst>
          </p:cNvPr>
          <p:cNvSpPr txBox="1"/>
          <p:nvPr/>
        </p:nvSpPr>
        <p:spPr>
          <a:xfrm>
            <a:off x="6211386" y="4562739"/>
            <a:ext cx="2932614" cy="1938992"/>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4. </a:t>
            </a:r>
            <a:r>
              <a:rPr lang="zh-CN" altLang="en-US" sz="2400" dirty="0">
                <a:solidFill>
                  <a:srgbClr val="FF0000"/>
                </a:solidFill>
                <a:latin typeface="Heiti SC Medium" pitchFamily="2" charset="-128"/>
                <a:ea typeface="Heiti SC Medium" pitchFamily="2" charset="-128"/>
              </a:rPr>
              <a:t>在Controller执行过程中，Controller方法可能会调用后端复杂的业务逻辑以刷新模型</a:t>
            </a:r>
          </a:p>
        </p:txBody>
      </p:sp>
      <p:sp>
        <p:nvSpPr>
          <p:cNvPr id="16" name="文本框 15">
            <a:extLst>
              <a:ext uri="{FF2B5EF4-FFF2-40B4-BE49-F238E27FC236}">
                <a16:creationId xmlns:a16="http://schemas.microsoft.com/office/drawing/2014/main" id="{78484837-FCCB-F73A-1DF4-13AE91B79269}"/>
              </a:ext>
            </a:extLst>
          </p:cNvPr>
          <p:cNvSpPr txBox="1"/>
          <p:nvPr/>
        </p:nvSpPr>
        <p:spPr>
          <a:xfrm>
            <a:off x="47351" y="4075771"/>
            <a:ext cx="3445330" cy="1569660"/>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5. </a:t>
            </a:r>
            <a:r>
              <a:rPr lang="zh-CN" altLang="en-US" sz="2400" dirty="0">
                <a:solidFill>
                  <a:srgbClr val="FF0000"/>
                </a:solidFill>
                <a:latin typeface="Heiti SC Medium" pitchFamily="2" charset="-128"/>
                <a:ea typeface="Heiti SC Medium" pitchFamily="2" charset="-128"/>
              </a:rPr>
              <a:t>DispatcherServlet调用ViewResolver对视图名称进行解析，得到要被渲染展示的具体视图</a:t>
            </a:r>
          </a:p>
        </p:txBody>
      </p:sp>
      <p:sp>
        <p:nvSpPr>
          <p:cNvPr id="18" name="文本框 17">
            <a:extLst>
              <a:ext uri="{FF2B5EF4-FFF2-40B4-BE49-F238E27FC236}">
                <a16:creationId xmlns:a16="http://schemas.microsoft.com/office/drawing/2014/main" id="{524A319E-00B3-540F-506F-9E88FA4321BE}"/>
              </a:ext>
            </a:extLst>
          </p:cNvPr>
          <p:cNvSpPr txBox="1"/>
          <p:nvPr/>
        </p:nvSpPr>
        <p:spPr>
          <a:xfrm>
            <a:off x="124190" y="5806848"/>
            <a:ext cx="5765618" cy="830997"/>
          </a:xfrm>
          <a:prstGeom prst="rect">
            <a:avLst/>
          </a:prstGeom>
          <a:noFill/>
        </p:spPr>
        <p:txBody>
          <a:bodyPr wrap="square">
            <a:spAutoFit/>
          </a:bodyPr>
          <a:lstStyle/>
          <a:p>
            <a:r>
              <a:rPr lang="en-US" altLang="zh-CN" sz="2400" dirty="0">
                <a:solidFill>
                  <a:srgbClr val="FF0000"/>
                </a:solidFill>
                <a:latin typeface="Heiti SC Medium" pitchFamily="2" charset="-128"/>
                <a:ea typeface="Heiti SC Medium" pitchFamily="2" charset="-128"/>
              </a:rPr>
              <a:t>6. </a:t>
            </a:r>
            <a:r>
              <a:rPr lang="zh-CN" altLang="en-US" sz="2400" dirty="0">
                <a:solidFill>
                  <a:srgbClr val="FF0000"/>
                </a:solidFill>
                <a:latin typeface="Heiti SC Medium" pitchFamily="2" charset="-128"/>
                <a:ea typeface="Heiti SC Medium" pitchFamily="2" charset="-128"/>
              </a:rPr>
              <a:t>DispatcherServlet将模型中的数据填充至视图中的相应元素，从而渲染视图</a:t>
            </a:r>
          </a:p>
        </p:txBody>
      </p:sp>
    </p:spTree>
    <p:extLst>
      <p:ext uri="{BB962C8B-B14F-4D97-AF65-F5344CB8AC3E}">
        <p14:creationId xmlns:p14="http://schemas.microsoft.com/office/powerpoint/2010/main" val="7871242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6"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2985433"/>
          </a:xfrm>
          <a:prstGeom prst="rect">
            <a:avLst/>
          </a:prstGeom>
          <a:noFill/>
        </p:spPr>
        <p:txBody>
          <a:bodyPr wrap="square" rtlCol="0">
            <a:spAutoFit/>
          </a:bodyPr>
          <a:lstStyle/>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基于平台的小程序应用开发是一种高度基于复用的软件开发形式，提供了一系列支持</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开发和部署环境，包括应用框架、平台服务、一站式的开发工具服务，帮助开发者实现敏捷开发及持续集成等能力</a:t>
            </a:r>
          </a:p>
          <a:p>
            <a:pPr marL="1028700" lvl="1" indent="-571500">
              <a:buFont typeface="Wingdings" charset="2"/>
              <a:buChar char="ü"/>
            </a:pPr>
            <a:r>
              <a:rPr lang="zh-CN" altLang="en-US" sz="2400" dirty="0">
                <a:latin typeface="Heiti SC Light" charset="-122"/>
                <a:ea typeface="Heiti SC Light" charset="-122"/>
              </a:rPr>
              <a:t>计算、存储、网络等资源以及相关的技术服务（借助于所依托的云计算系统）</a:t>
            </a:r>
          </a:p>
          <a:p>
            <a:pPr marL="1028700" lvl="1" indent="-571500">
              <a:buFont typeface="Wingdings" charset="2"/>
              <a:buChar char="ü"/>
            </a:pPr>
            <a:r>
              <a:rPr lang="zh-CN" altLang="en-US" sz="2400" dirty="0">
                <a:latin typeface="Heiti SC Light" charset="-122"/>
                <a:ea typeface="Heiti SC Light" charset="-122"/>
              </a:rPr>
              <a:t>用户资源和访问流量</a:t>
            </a:r>
          </a:p>
        </p:txBody>
      </p:sp>
      <p:sp>
        <p:nvSpPr>
          <p:cNvPr id="10" name="矩形 9"/>
          <p:cNvSpPr/>
          <p:nvPr/>
        </p:nvSpPr>
        <p:spPr>
          <a:xfrm>
            <a:off x="488410" y="168330"/>
            <a:ext cx="2518638"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平台级复用</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6" name="图片 5" descr="1e371b2e07fdc65afa3662cd11b0961">
            <a:extLst>
              <a:ext uri="{FF2B5EF4-FFF2-40B4-BE49-F238E27FC236}">
                <a16:creationId xmlns:a16="http://schemas.microsoft.com/office/drawing/2014/main" id="{7570DCD5-8F14-F113-8895-A5D8FFCB88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7961" y="4048359"/>
            <a:ext cx="4148905" cy="2726655"/>
          </a:xfrm>
          <a:prstGeom prst="rect">
            <a:avLst/>
          </a:prstGeom>
          <a:noFill/>
          <a:ln>
            <a:noFill/>
          </a:ln>
        </p:spPr>
      </p:pic>
      <p:sp>
        <p:nvSpPr>
          <p:cNvPr id="9" name="文本框 8">
            <a:extLst>
              <a:ext uri="{FF2B5EF4-FFF2-40B4-BE49-F238E27FC236}">
                <a16:creationId xmlns:a16="http://schemas.microsoft.com/office/drawing/2014/main" id="{12FA9655-7401-09C5-CAA2-9C81D9336359}"/>
              </a:ext>
            </a:extLst>
          </p:cNvPr>
          <p:cNvSpPr txBox="1"/>
          <p:nvPr/>
        </p:nvSpPr>
        <p:spPr>
          <a:xfrm>
            <a:off x="4323805" y="3822948"/>
            <a:ext cx="4801121" cy="3046988"/>
          </a:xfrm>
          <a:prstGeom prst="rect">
            <a:avLst/>
          </a:prstGeom>
          <a:noFill/>
        </p:spPr>
        <p:txBody>
          <a:bodyPr wrap="square">
            <a:spAutoFit/>
          </a:bodyPr>
          <a:lstStyle/>
          <a:p>
            <a:r>
              <a:rPr lang="zh-CN" altLang="en-US" sz="2400" dirty="0">
                <a:solidFill>
                  <a:srgbClr val="FF0000"/>
                </a:solidFill>
                <a:latin typeface="Heiti SC Medium" pitchFamily="2" charset="-128"/>
                <a:ea typeface="Heiti SC Medium" pitchFamily="2" charset="-128"/>
              </a:rPr>
              <a:t>开发类服务主要面向开发者，为其提供统一的平台级基础支撑能力以搭建各具特色的小程序应用</a:t>
            </a:r>
          </a:p>
          <a:p>
            <a:r>
              <a:rPr lang="zh-CN" altLang="en-US" sz="2400" dirty="0">
                <a:solidFill>
                  <a:srgbClr val="FF0000"/>
                </a:solidFill>
                <a:latin typeface="Heiti SC Medium" pitchFamily="2" charset="-128"/>
                <a:ea typeface="Heiti SC Medium" pitchFamily="2" charset="-128"/>
              </a:rPr>
              <a:t>增长类服务旨在为应用开发者提供面向应用维护、运营和优化的高级别服务能力</a:t>
            </a:r>
          </a:p>
          <a:p>
            <a:r>
              <a:rPr lang="zh-CN" altLang="en-US" sz="2400" dirty="0">
                <a:solidFill>
                  <a:srgbClr val="FF0000"/>
                </a:solidFill>
                <a:latin typeface="Heiti SC Medium" pitchFamily="2" charset="-128"/>
                <a:ea typeface="Heiti SC Medium" pitchFamily="2" charset="-128"/>
              </a:rPr>
              <a:t>变现类服务为应用开发者提供基于平台的收入渠道</a:t>
            </a:r>
          </a:p>
        </p:txBody>
      </p:sp>
    </p:spTree>
    <p:extLst>
      <p:ext uri="{BB962C8B-B14F-4D97-AF65-F5344CB8AC3E}">
        <p14:creationId xmlns:p14="http://schemas.microsoft.com/office/powerpoint/2010/main" val="7278347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Effect transition="in" filter="blinds(horizontal)">
                                      <p:cBhvr>
                                        <p:cTn id="11" dur="500"/>
                                        <p:tgtEl>
                                          <p:spTgt spid="11">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blinds(horizontal)">
                                      <p:cBhvr>
                                        <p:cTn id="15" dur="500"/>
                                        <p:tgtEl>
                                          <p:spTgt spid="11">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blinds(horizontal)">
                                      <p:cBhvr>
                                        <p:cTn id="19" dur="500"/>
                                        <p:tgtEl>
                                          <p:spTgt spid="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linds(horizontal)">
                                      <p:cBhvr>
                                        <p:cTn id="24" dur="500"/>
                                        <p:tgtEl>
                                          <p:spTgt spid="6"/>
                                        </p:tgtEl>
                                      </p:cBhvr>
                                    </p:animEffect>
                                  </p:childTnLst>
                                </p:cTn>
                              </p:par>
                            </p:childTnLst>
                          </p:cTn>
                        </p:par>
                        <p:par>
                          <p:cTn id="25" fill="hold">
                            <p:stCondLst>
                              <p:cond delay="500"/>
                            </p:stCondLst>
                            <p:childTnLst>
                              <p:par>
                                <p:cTn id="26" presetID="3"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37342"/>
            <a:ext cx="9144000" cy="65980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六边形 2"/>
          <p:cNvSpPr/>
          <p:nvPr/>
        </p:nvSpPr>
        <p:spPr>
          <a:xfrm rot="5400000">
            <a:off x="-566556" y="78145"/>
            <a:ext cx="1133111" cy="976820"/>
          </a:xfrm>
          <a:prstGeom prst="hexagon">
            <a:avLst/>
          </a:prstGeom>
          <a:solidFill>
            <a:srgbClr val="1140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07034" y="1062926"/>
            <a:ext cx="8936966" cy="5601533"/>
          </a:xfrm>
          <a:prstGeom prst="rect">
            <a:avLst/>
          </a:prstGeom>
          <a:noFill/>
        </p:spPr>
        <p:txBody>
          <a:bodyPr wrap="square" rtlCol="0">
            <a:spAutoFit/>
          </a:bodyPr>
          <a:lstStyle/>
          <a:p>
            <a:pPr marL="285750" indent="-285750">
              <a:buFont typeface="Arial" panose="020B0604020202020204" pitchFamily="34" charset="0"/>
              <a:buChar char="•"/>
            </a:pPr>
            <a:r>
              <a:rPr lang="zh-CN" altLang="en-US" sz="3300" dirty="0">
                <a:latin typeface="Kaiti SC" panose="02010600040101010101" pitchFamily="2" charset="-122"/>
                <a:ea typeface="Kaiti SC" panose="02010600040101010101" pitchFamily="2" charset="-122"/>
              </a:rPr>
              <a:t>各种层次、各种形态的软件复用已经成为一种必不可少的软件开发手段</a:t>
            </a:r>
            <a:endParaRPr lang="en-US" altLang="zh-CN" sz="3300" dirty="0">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3300" dirty="0">
                <a:latin typeface="Kaiti SC" panose="02010600040101010101" pitchFamily="2" charset="-122"/>
                <a:ea typeface="Kaiti SC" panose="02010600040101010101" pitchFamily="2" charset="-122"/>
              </a:rPr>
              <a:t>组件级复用：获得应用中的一些局部功能实现</a:t>
            </a:r>
            <a:endParaRPr lang="en-US" altLang="zh-CN" sz="3300" dirty="0">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3300" dirty="0">
                <a:latin typeface="Kaiti SC" panose="02010600040101010101" pitchFamily="2" charset="-122"/>
                <a:ea typeface="Kaiti SC" panose="02010600040101010101" pitchFamily="2" charset="-122"/>
              </a:rPr>
              <a:t>框架级复用</a:t>
            </a:r>
            <a:endParaRPr lang="en-US" altLang="zh-CN" sz="33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可以让开发人员获得软件应用或其一部分的整体基础框架</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在此基础上按照框架规范进行定制和扩展</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基于框架开发的应用可以在很大程度上获得框架所带来的设计灵活、关注点分离、易于维护和扩展等方面的优势</a:t>
            </a:r>
            <a:endParaRPr lang="en-US" altLang="zh-CN" sz="2400" dirty="0">
              <a:latin typeface="Heiti SC Light" charset="-122"/>
              <a:ea typeface="Heiti SC Light" charset="-122"/>
            </a:endParaRPr>
          </a:p>
          <a:p>
            <a:pPr marL="285750" indent="-285750">
              <a:buFont typeface="Arial" panose="020B0604020202020204" pitchFamily="34" charset="0"/>
              <a:buChar char="•"/>
            </a:pPr>
            <a:r>
              <a:rPr lang="zh-CN" altLang="en-US" sz="3400" dirty="0">
                <a:latin typeface="Kaiti SC" panose="02010600040101010101" pitchFamily="2" charset="-122"/>
                <a:ea typeface="Kaiti SC" panose="02010600040101010101" pitchFamily="2" charset="-122"/>
              </a:rPr>
              <a:t>平台级复用</a:t>
            </a:r>
            <a:endParaRPr lang="en-US" altLang="zh-CN" sz="3400" dirty="0">
              <a:latin typeface="Kaiti SC" panose="02010600040101010101" pitchFamily="2" charset="-122"/>
              <a:ea typeface="Kaiti SC" panose="02010600040101010101" pitchFamily="2" charset="-122"/>
            </a:endParaRPr>
          </a:p>
          <a:p>
            <a:pPr marL="1028700" lvl="1" indent="-571500">
              <a:buFont typeface="Wingdings" charset="2"/>
              <a:buChar char="ü"/>
            </a:pPr>
            <a:r>
              <a:rPr lang="zh-CN" altLang="en-US" sz="2400" dirty="0">
                <a:latin typeface="Heiti SC Light" charset="-122"/>
                <a:ea typeface="Heiti SC Light" charset="-122"/>
              </a:rPr>
              <a:t>微信、支付宝、</a:t>
            </a:r>
            <a:r>
              <a:rPr lang="en-US" altLang="zh-CN" sz="2400" dirty="0" err="1">
                <a:latin typeface="Heiti SC Light" charset="-122"/>
                <a:ea typeface="Heiti SC Light" charset="-122"/>
              </a:rPr>
              <a:t>WeLink</a:t>
            </a:r>
            <a:r>
              <a:rPr lang="zh-CN" altLang="en-US" sz="2400" dirty="0">
                <a:latin typeface="Heiti SC Light" charset="-122"/>
                <a:ea typeface="Heiti SC Light" charset="-122"/>
              </a:rPr>
              <a:t>等流行的互联网开放平台</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基于平台的应用开发是一种高度基于复用的软件开发形式</a:t>
            </a:r>
            <a:endParaRPr lang="en-US" altLang="zh-CN" sz="2400" dirty="0">
              <a:latin typeface="Heiti SC Light" charset="-122"/>
              <a:ea typeface="Heiti SC Light" charset="-122"/>
            </a:endParaRPr>
          </a:p>
          <a:p>
            <a:pPr marL="1028700" lvl="1" indent="-571500">
              <a:buFont typeface="Wingdings" charset="2"/>
              <a:buChar char="ü"/>
            </a:pPr>
            <a:r>
              <a:rPr lang="zh-CN" altLang="en-US" sz="2400" dirty="0">
                <a:latin typeface="Heiti SC Light" charset="-122"/>
                <a:ea typeface="Heiti SC Light" charset="-122"/>
              </a:rPr>
              <a:t>平台提供了应用开发和部署环境、计算和网络等资源，以及用户资源和访问流量</a:t>
            </a:r>
            <a:endParaRPr lang="en-US" altLang="zh-CN" sz="2400" dirty="0">
              <a:latin typeface="Heiti SC Light" charset="-122"/>
              <a:ea typeface="Heiti SC Light" charset="-122"/>
            </a:endParaRPr>
          </a:p>
        </p:txBody>
      </p:sp>
      <p:sp>
        <p:nvSpPr>
          <p:cNvPr id="10" name="矩形 9"/>
          <p:cNvSpPr/>
          <p:nvPr/>
        </p:nvSpPr>
        <p:spPr>
          <a:xfrm>
            <a:off x="488410" y="168330"/>
            <a:ext cx="2031325" cy="742319"/>
          </a:xfrm>
          <a:prstGeom prst="rect">
            <a:avLst/>
          </a:prstGeom>
        </p:spPr>
        <p:txBody>
          <a:bodyPr wrap="none">
            <a:spAutoFit/>
          </a:bodyPr>
          <a:lstStyle/>
          <a:p>
            <a:pP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本章小结</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215936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blinds(horizontal)">
                                      <p:cBhvr>
                                        <p:cTn id="21" dur="500"/>
                                        <p:tgtEl>
                                          <p:spTgt spid="11">
                                            <p:txEl>
                                              <p:pRg st="3" end="3"/>
                                            </p:txEl>
                                          </p:spTgt>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blinds(horizontal)">
                                      <p:cBhvr>
                                        <p:cTn id="25" dur="500"/>
                                        <p:tgtEl>
                                          <p:spTgt spid="11">
                                            <p:txEl>
                                              <p:pRg st="4" end="4"/>
                                            </p:txEl>
                                          </p:spTgt>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Effect transition="in" filter="blinds(horizontal)">
                                      <p:cBhvr>
                                        <p:cTn id="29" dur="500"/>
                                        <p:tgtEl>
                                          <p:spTgt spid="11">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1">
                                            <p:txEl>
                                              <p:pRg st="6" end="6"/>
                                            </p:txEl>
                                          </p:spTgt>
                                        </p:tgtEl>
                                        <p:attrNameLst>
                                          <p:attrName>style.visibility</p:attrName>
                                        </p:attrNameLst>
                                      </p:cBhvr>
                                      <p:to>
                                        <p:strVal val="visible"/>
                                      </p:to>
                                    </p:set>
                                    <p:animEffect transition="in" filter="blinds(horizontal)">
                                      <p:cBhvr>
                                        <p:cTn id="34" dur="500"/>
                                        <p:tgtEl>
                                          <p:spTgt spid="11">
                                            <p:txEl>
                                              <p:pRg st="6" end="6"/>
                                            </p:txEl>
                                          </p:spTgt>
                                        </p:tgtEl>
                                      </p:cBhvr>
                                    </p:animEffect>
                                  </p:childTnLst>
                                </p:cTn>
                              </p:par>
                            </p:childTnLst>
                          </p:cTn>
                        </p:par>
                        <p:par>
                          <p:cTn id="35" fill="hold">
                            <p:stCondLst>
                              <p:cond delay="500"/>
                            </p:stCondLst>
                            <p:childTnLst>
                              <p:par>
                                <p:cTn id="36" presetID="3" presetClass="entr" presetSubtype="10" fill="hold" nodeType="afterEffect">
                                  <p:stCondLst>
                                    <p:cond delay="0"/>
                                  </p:stCondLst>
                                  <p:childTnLst>
                                    <p:set>
                                      <p:cBhvr>
                                        <p:cTn id="37" dur="1" fill="hold">
                                          <p:stCondLst>
                                            <p:cond delay="0"/>
                                          </p:stCondLst>
                                        </p:cTn>
                                        <p:tgtEl>
                                          <p:spTgt spid="11">
                                            <p:txEl>
                                              <p:pRg st="7" end="7"/>
                                            </p:txEl>
                                          </p:spTgt>
                                        </p:tgtEl>
                                        <p:attrNameLst>
                                          <p:attrName>style.visibility</p:attrName>
                                        </p:attrNameLst>
                                      </p:cBhvr>
                                      <p:to>
                                        <p:strVal val="visible"/>
                                      </p:to>
                                    </p:set>
                                    <p:animEffect transition="in" filter="blinds(horizontal)">
                                      <p:cBhvr>
                                        <p:cTn id="38" dur="500"/>
                                        <p:tgtEl>
                                          <p:spTgt spid="11">
                                            <p:txEl>
                                              <p:pRg st="7" end="7"/>
                                            </p:txEl>
                                          </p:spTgt>
                                        </p:tgtEl>
                                      </p:cBhvr>
                                    </p:animEffect>
                                  </p:childTnLst>
                                </p:cTn>
                              </p:par>
                            </p:childTnLst>
                          </p:cTn>
                        </p:par>
                        <p:par>
                          <p:cTn id="39" fill="hold">
                            <p:stCondLst>
                              <p:cond delay="1000"/>
                            </p:stCondLst>
                            <p:childTnLst>
                              <p:par>
                                <p:cTn id="40" presetID="3" presetClass="entr" presetSubtype="10" fill="hold" nodeType="afterEffect">
                                  <p:stCondLst>
                                    <p:cond delay="0"/>
                                  </p:stCondLst>
                                  <p:childTnLst>
                                    <p:set>
                                      <p:cBhvr>
                                        <p:cTn id="41" dur="1" fill="hold">
                                          <p:stCondLst>
                                            <p:cond delay="0"/>
                                          </p:stCondLst>
                                        </p:cTn>
                                        <p:tgtEl>
                                          <p:spTgt spid="11">
                                            <p:txEl>
                                              <p:pRg st="8" end="8"/>
                                            </p:txEl>
                                          </p:spTgt>
                                        </p:tgtEl>
                                        <p:attrNameLst>
                                          <p:attrName>style.visibility</p:attrName>
                                        </p:attrNameLst>
                                      </p:cBhvr>
                                      <p:to>
                                        <p:strVal val="visible"/>
                                      </p:to>
                                    </p:set>
                                    <p:animEffect transition="in" filter="blinds(horizontal)">
                                      <p:cBhvr>
                                        <p:cTn id="42" dur="500"/>
                                        <p:tgtEl>
                                          <p:spTgt spid="11">
                                            <p:txEl>
                                              <p:pRg st="8" end="8"/>
                                            </p:txEl>
                                          </p:spTgt>
                                        </p:tgtEl>
                                      </p:cBhvr>
                                    </p:animEffect>
                                  </p:childTnLst>
                                </p:cTn>
                              </p:par>
                            </p:childTnLst>
                          </p:cTn>
                        </p:par>
                        <p:par>
                          <p:cTn id="43" fill="hold">
                            <p:stCondLst>
                              <p:cond delay="1500"/>
                            </p:stCondLst>
                            <p:childTnLst>
                              <p:par>
                                <p:cTn id="44" presetID="3" presetClass="entr" presetSubtype="10" fill="hold" nodeType="afterEffect">
                                  <p:stCondLst>
                                    <p:cond delay="0"/>
                                  </p:stCondLst>
                                  <p:childTnLst>
                                    <p:set>
                                      <p:cBhvr>
                                        <p:cTn id="45" dur="1" fill="hold">
                                          <p:stCondLst>
                                            <p:cond delay="0"/>
                                          </p:stCondLst>
                                        </p:cTn>
                                        <p:tgtEl>
                                          <p:spTgt spid="11">
                                            <p:txEl>
                                              <p:pRg st="9" end="9"/>
                                            </p:txEl>
                                          </p:spTgt>
                                        </p:tgtEl>
                                        <p:attrNameLst>
                                          <p:attrName>style.visibility</p:attrName>
                                        </p:attrNameLst>
                                      </p:cBhvr>
                                      <p:to>
                                        <p:strVal val="visible"/>
                                      </p:to>
                                    </p:set>
                                    <p:animEffect transition="in" filter="blinds(horizontal)">
                                      <p:cBhvr>
                                        <p:cTn id="46" dur="5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416724"/>
            <a:ext cx="9144000" cy="1311215"/>
          </a:xfrm>
          <a:prstGeom prst="rect">
            <a:avLst/>
          </a:prstGeom>
          <a:solidFill>
            <a:srgbClr val="165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p:cNvSpPr txBox="1">
            <a:spLocks/>
          </p:cNvSpPr>
          <p:nvPr/>
        </p:nvSpPr>
        <p:spPr>
          <a:xfrm>
            <a:off x="-78267" y="4588243"/>
            <a:ext cx="9300525" cy="96817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CN" sz="6600" b="1" dirty="0">
                <a:solidFill>
                  <a:schemeClr val="bg1"/>
                </a:solidFill>
                <a:latin typeface="Kaiti SC" panose="02010600040101010101" pitchFamily="2" charset="-122"/>
                <a:ea typeface="Kaiti SC" panose="02010600040101010101" pitchFamily="2" charset="-122"/>
              </a:rPr>
              <a:t>6. </a:t>
            </a:r>
            <a:r>
              <a:rPr kumimoji="1" lang="zh-CN" altLang="en-US" sz="6600" b="1" dirty="0">
                <a:solidFill>
                  <a:schemeClr val="bg1"/>
                </a:solidFill>
                <a:latin typeface="Kaiti SC" panose="02010600040101010101" pitchFamily="2" charset="-122"/>
                <a:ea typeface="Kaiti SC" panose="02010600040101010101" pitchFamily="2" charset="-122"/>
              </a:rPr>
              <a:t>软件复用</a:t>
            </a:r>
          </a:p>
        </p:txBody>
      </p:sp>
      <p:sp>
        <p:nvSpPr>
          <p:cNvPr id="5" name="矩形 4"/>
          <p:cNvSpPr/>
          <p:nvPr/>
        </p:nvSpPr>
        <p:spPr>
          <a:xfrm>
            <a:off x="0" y="2372319"/>
            <a:ext cx="9144000" cy="1446550"/>
          </a:xfrm>
          <a:prstGeom prst="rect">
            <a:avLst/>
          </a:prstGeom>
        </p:spPr>
        <p:txBody>
          <a:bodyPr wrap="square">
            <a:spAutoFit/>
          </a:bodyPr>
          <a:lstStyle/>
          <a:p>
            <a:pPr algn="ctr"/>
            <a:r>
              <a:rPr lang="zh-CN" altLang="en-US" sz="8800" b="1" dirty="0">
                <a:solidFill>
                  <a:srgbClr val="FF0000"/>
                </a:solidFill>
              </a:rPr>
              <a:t>End</a:t>
            </a:r>
          </a:p>
        </p:txBody>
      </p:sp>
      <p:pic>
        <p:nvPicPr>
          <p:cNvPr id="7" name="图片 6">
            <a:extLst>
              <a:ext uri="{FF2B5EF4-FFF2-40B4-BE49-F238E27FC236}">
                <a16:creationId xmlns:a16="http://schemas.microsoft.com/office/drawing/2014/main" id="{1003753A-43D2-B122-DA59-0A83B84342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3321" y="98773"/>
            <a:ext cx="2097741" cy="2902743"/>
          </a:xfrm>
          <a:prstGeom prst="rect">
            <a:avLst/>
          </a:prstGeom>
        </p:spPr>
      </p:pic>
      <p:sp>
        <p:nvSpPr>
          <p:cNvPr id="8" name="文本框 7">
            <a:extLst>
              <a:ext uri="{FF2B5EF4-FFF2-40B4-BE49-F238E27FC236}">
                <a16:creationId xmlns:a16="http://schemas.microsoft.com/office/drawing/2014/main" id="{B9ACB414-D0C5-D6E3-0A57-43260D8DAD4B}"/>
              </a:ext>
            </a:extLst>
          </p:cNvPr>
          <p:cNvSpPr txBox="1"/>
          <p:nvPr/>
        </p:nvSpPr>
        <p:spPr>
          <a:xfrm>
            <a:off x="622410" y="1189486"/>
            <a:ext cx="6097973" cy="713850"/>
          </a:xfrm>
          <a:prstGeom prst="rect">
            <a:avLst/>
          </a:prstGeom>
          <a:noFill/>
        </p:spPr>
        <p:txBody>
          <a:bodyPr wrap="square">
            <a:spAutoFit/>
          </a:bodyPr>
          <a:lstStyle/>
          <a:p>
            <a:pPr algn="ctr">
              <a:lnSpc>
                <a:spcPct val="90000"/>
              </a:lnSpc>
              <a:spcBef>
                <a:spcPct val="0"/>
              </a:spcBef>
            </a:pPr>
            <a:r>
              <a:rPr kumimoji="1" lang="zh-CN" altLang="en-US" sz="4400" b="1" dirty="0">
                <a:solidFill>
                  <a:srgbClr val="0070C0"/>
                </a:solidFill>
                <a:latin typeface="Kaiti SC" panose="02010600040101010101" pitchFamily="2" charset="-122"/>
                <a:ea typeface="Kaiti SC" panose="02010600040101010101" pitchFamily="2" charset="-122"/>
                <a:cs typeface="+mj-cs"/>
              </a:rPr>
              <a:t>现代软件工程基础</a:t>
            </a:r>
          </a:p>
        </p:txBody>
      </p:sp>
    </p:spTree>
    <p:extLst>
      <p:ext uri="{BB962C8B-B14F-4D97-AF65-F5344CB8AC3E}">
        <p14:creationId xmlns:p14="http://schemas.microsoft.com/office/powerpoint/2010/main" val="911393688"/>
      </p:ext>
    </p:extLst>
  </p:cSld>
  <p:clrMapOvr>
    <a:masterClrMapping/>
  </p:clrMapOvr>
  <p:transition spd="med">
    <p:pull/>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22602</TotalTime>
  <Words>4245</Words>
  <Application>Microsoft Macintosh PowerPoint</Application>
  <PresentationFormat>全屏显示(4:3)</PresentationFormat>
  <Paragraphs>345</Paragraphs>
  <Slides>36</Slides>
  <Notes>35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48" baseType="lpstr">
      <vt:lpstr>等线</vt:lpstr>
      <vt:lpstr>微软雅黑</vt:lpstr>
      <vt:lpstr>Heiti SC Light</vt:lpstr>
      <vt:lpstr>HEITI SC MEDIUM</vt:lpstr>
      <vt:lpstr>HEITI SC MEDIUM</vt:lpstr>
      <vt:lpstr>Kaiti SC</vt:lpstr>
      <vt:lpstr>Arial</vt:lpstr>
      <vt:lpstr>Calibri</vt:lpstr>
      <vt:lpstr>Calibri Light</vt:lpstr>
      <vt:lpstr>Wingdings</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dd dd</cp:lastModifiedBy>
  <cp:revision>1040</cp:revision>
  <dcterms:created xsi:type="dcterms:W3CDTF">2015-11-19T13:13:39Z</dcterms:created>
  <dcterms:modified xsi:type="dcterms:W3CDTF">2024-09-26T09:59:32Z</dcterms:modified>
  <cp:contentStatus/>
</cp:coreProperties>
</file>