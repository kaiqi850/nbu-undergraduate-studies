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2.xml" ContentType="application/vnd.openxmlformats-officedocument.presentationml.notesSlide+xml"/>
  <Override PartName="/ppt/theme/themeOverride2.xml" ContentType="application/vnd.openxmlformats-officedocument.themeOverride+xml"/>
  <Override PartName="/ppt/notesSlides/notesSlide3.xml" ContentType="application/vnd.openxmlformats-officedocument.presentationml.notesSlide+xml"/>
  <Override PartName="/ppt/theme/themeOverride3.xml" ContentType="application/vnd.openxmlformats-officedocument.themeOverride+xml"/>
  <Override PartName="/ppt/notesSlides/notesSlide4.xml" ContentType="application/vnd.openxmlformats-officedocument.presentationml.notesSlide+xml"/>
  <Override PartName="/ppt/theme/themeOverride4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75" r:id="rId1"/>
    <p:sldMasterId id="2147484011" r:id="rId2"/>
  </p:sldMasterIdLst>
  <p:notesMasterIdLst>
    <p:notesMasterId r:id="rId21"/>
  </p:notesMasterIdLst>
  <p:sldIdLst>
    <p:sldId id="277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1" r:id="rId14"/>
    <p:sldId id="272" r:id="rId15"/>
    <p:sldId id="273" r:id="rId16"/>
    <p:sldId id="274" r:id="rId17"/>
    <p:sldId id="276" r:id="rId18"/>
    <p:sldId id="278" r:id="rId19"/>
    <p:sldId id="279" r:id="rId20"/>
  </p:sldIdLst>
  <p:sldSz cx="9144000" cy="5143500" type="screen16x9"/>
  <p:notesSz cx="7099300" cy="10234613"/>
  <p:defaultTextStyle>
    <a:defPPr>
      <a:defRPr lang="en-GB"/>
    </a:defPPr>
    <a:lvl1pPr algn="l" defTabSz="449263" rtl="0" fontAlgn="base">
      <a:spcBef>
        <a:spcPct val="0"/>
      </a:spcBef>
      <a:spcAft>
        <a:spcPct val="0"/>
      </a:spcAft>
      <a:defRPr kern="1200">
        <a:solidFill>
          <a:schemeClr val="bg1"/>
        </a:solidFill>
        <a:latin typeface="Arial" pitchFamily="34" charset="0"/>
        <a:ea typeface="宋体" pitchFamily="2" charset="-122"/>
        <a:cs typeface="+mn-cs"/>
      </a:defRPr>
    </a:lvl1pPr>
    <a:lvl2pPr marL="457200" algn="l" defTabSz="449263" rtl="0" fontAlgn="base">
      <a:spcBef>
        <a:spcPct val="0"/>
      </a:spcBef>
      <a:spcAft>
        <a:spcPct val="0"/>
      </a:spcAft>
      <a:defRPr kern="1200">
        <a:solidFill>
          <a:schemeClr val="bg1"/>
        </a:solidFill>
        <a:latin typeface="Arial" pitchFamily="34" charset="0"/>
        <a:ea typeface="宋体" pitchFamily="2" charset="-122"/>
        <a:cs typeface="+mn-cs"/>
      </a:defRPr>
    </a:lvl2pPr>
    <a:lvl3pPr marL="914400" algn="l" defTabSz="449263" rtl="0" fontAlgn="base">
      <a:spcBef>
        <a:spcPct val="0"/>
      </a:spcBef>
      <a:spcAft>
        <a:spcPct val="0"/>
      </a:spcAft>
      <a:defRPr kern="1200">
        <a:solidFill>
          <a:schemeClr val="bg1"/>
        </a:solidFill>
        <a:latin typeface="Arial" pitchFamily="34" charset="0"/>
        <a:ea typeface="宋体" pitchFamily="2" charset="-122"/>
        <a:cs typeface="+mn-cs"/>
      </a:defRPr>
    </a:lvl3pPr>
    <a:lvl4pPr marL="1371600" algn="l" defTabSz="449263" rtl="0" fontAlgn="base">
      <a:spcBef>
        <a:spcPct val="0"/>
      </a:spcBef>
      <a:spcAft>
        <a:spcPct val="0"/>
      </a:spcAft>
      <a:defRPr kern="1200">
        <a:solidFill>
          <a:schemeClr val="bg1"/>
        </a:solidFill>
        <a:latin typeface="Arial" pitchFamily="34" charset="0"/>
        <a:ea typeface="宋体" pitchFamily="2" charset="-122"/>
        <a:cs typeface="+mn-cs"/>
      </a:defRPr>
    </a:lvl4pPr>
    <a:lvl5pPr marL="1828800" algn="l" defTabSz="449263" rtl="0" fontAlgn="base">
      <a:spcBef>
        <a:spcPct val="0"/>
      </a:spcBef>
      <a:spcAft>
        <a:spcPct val="0"/>
      </a:spcAft>
      <a:defRPr kern="1200">
        <a:solidFill>
          <a:schemeClr val="bg1"/>
        </a:solidFill>
        <a:latin typeface="Arial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bg1"/>
        </a:solidFill>
        <a:latin typeface="Arial" pitchFamily="34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bg1"/>
        </a:solidFill>
        <a:latin typeface="Arial" pitchFamily="34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bg1"/>
        </a:solidFill>
        <a:latin typeface="Arial" pitchFamily="34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bg1"/>
        </a:solidFill>
        <a:latin typeface="Arial" pitchFamily="34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>
          <p15:clr>
            <a:srgbClr val="A4A3A4"/>
          </p15:clr>
        </p15:guide>
        <p15:guide id="2" pos="223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50021"/>
    <a:srgbClr val="CC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111" autoAdjust="0"/>
    <p:restoredTop sz="95402" autoAdjust="0"/>
  </p:normalViewPr>
  <p:slideViewPr>
    <p:cSldViewPr>
      <p:cViewPr varScale="1">
        <p:scale>
          <a:sx n="127" d="100"/>
          <a:sy n="127" d="100"/>
        </p:scale>
        <p:origin x="110" y="130"/>
      </p:cViewPr>
      <p:guideLst>
        <p:guide orient="horz" pos="1620"/>
        <p:guide pos="2880"/>
      </p:guideLst>
    </p:cSldViewPr>
  </p:slideViewPr>
  <p:outlineViewPr>
    <p:cViewPr varScale="1">
      <p:scale>
        <a:sx n="170" d="200"/>
        <a:sy n="170" d="200"/>
      </p:scale>
      <p:origin x="-780" y="-8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57" d="100"/>
          <a:sy n="57" d="100"/>
        </p:scale>
        <p:origin x="-2910" y="-102"/>
      </p:cViewPr>
      <p:guideLst>
        <p:guide orient="horz" pos="3224"/>
        <p:guide pos="223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AutoShape 1"/>
          <p:cNvSpPr>
            <a:spLocks noChangeArrowheads="1"/>
          </p:cNvSpPr>
          <p:nvPr/>
        </p:nvSpPr>
        <p:spPr bwMode="auto">
          <a:xfrm>
            <a:off x="0" y="0"/>
            <a:ext cx="7099300" cy="10234613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360">
            <a:noFill/>
            <a:miter lim="800000"/>
            <a:headEnd/>
            <a:tailEnd/>
          </a:ln>
          <a:effectLst/>
        </p:spPr>
        <p:txBody>
          <a:bodyPr wrap="none" lIns="99048" tIns="49524" rIns="99048" bIns="49524" anchor="ctr"/>
          <a:lstStyle/>
          <a:p>
            <a:pPr algn="r">
              <a:buClr>
                <a:srgbClr val="000000"/>
              </a:buClr>
              <a:buSzPct val="100000"/>
              <a:buFont typeface="Arial" pitchFamily="34" charset="0"/>
              <a:buNone/>
              <a:defRPr/>
            </a:pPr>
            <a:endParaRPr lang="zh-CN" altLang="en-US"/>
          </a:p>
        </p:txBody>
      </p:sp>
      <p:sp>
        <p:nvSpPr>
          <p:cNvPr id="5122" name="AutoShape 2"/>
          <p:cNvSpPr>
            <a:spLocks noChangeArrowheads="1"/>
          </p:cNvSpPr>
          <p:nvPr/>
        </p:nvSpPr>
        <p:spPr bwMode="auto">
          <a:xfrm>
            <a:off x="0" y="0"/>
            <a:ext cx="7099300" cy="10234613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  <a:effectLst/>
        </p:spPr>
        <p:txBody>
          <a:bodyPr wrap="none" lIns="99048" tIns="49524" rIns="99048" bIns="49524" anchor="ctr"/>
          <a:lstStyle/>
          <a:p>
            <a:pPr algn="r">
              <a:buClr>
                <a:srgbClr val="000000"/>
              </a:buClr>
              <a:buSzPct val="100000"/>
              <a:buFont typeface="Arial" pitchFamily="34" charset="0"/>
              <a:buNone/>
              <a:defRPr/>
            </a:pPr>
            <a:endParaRPr lang="zh-CN" altLang="en-US"/>
          </a:p>
        </p:txBody>
      </p:sp>
      <p:sp>
        <p:nvSpPr>
          <p:cNvPr id="5123" name="AutoShape 3"/>
          <p:cNvSpPr>
            <a:spLocks noChangeArrowheads="1"/>
          </p:cNvSpPr>
          <p:nvPr/>
        </p:nvSpPr>
        <p:spPr bwMode="auto">
          <a:xfrm>
            <a:off x="0" y="0"/>
            <a:ext cx="7099300" cy="10234613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  <a:effectLst/>
        </p:spPr>
        <p:txBody>
          <a:bodyPr wrap="none" lIns="99048" tIns="49524" rIns="99048" bIns="49524" anchor="ctr"/>
          <a:lstStyle/>
          <a:p>
            <a:pPr algn="r">
              <a:buClr>
                <a:srgbClr val="000000"/>
              </a:buClr>
              <a:buSzPct val="100000"/>
              <a:buFont typeface="Arial" pitchFamily="34" charset="0"/>
              <a:buNone/>
              <a:defRPr/>
            </a:pPr>
            <a:endParaRPr lang="zh-CN" altLang="en-US"/>
          </a:p>
        </p:txBody>
      </p:sp>
      <p:sp>
        <p:nvSpPr>
          <p:cNvPr id="5124" name="AutoShape 4"/>
          <p:cNvSpPr>
            <a:spLocks noChangeArrowheads="1"/>
          </p:cNvSpPr>
          <p:nvPr/>
        </p:nvSpPr>
        <p:spPr bwMode="auto">
          <a:xfrm>
            <a:off x="0" y="0"/>
            <a:ext cx="7099300" cy="10234613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  <a:effectLst/>
        </p:spPr>
        <p:txBody>
          <a:bodyPr wrap="none" lIns="99048" tIns="49524" rIns="99048" bIns="49524" anchor="ctr"/>
          <a:lstStyle/>
          <a:p>
            <a:pPr algn="r">
              <a:buClr>
                <a:srgbClr val="000000"/>
              </a:buClr>
              <a:buSzPct val="100000"/>
              <a:buFont typeface="Arial" pitchFamily="34" charset="0"/>
              <a:buNone/>
              <a:defRPr/>
            </a:pPr>
            <a:endParaRPr lang="zh-CN" altLang="en-US"/>
          </a:p>
        </p:txBody>
      </p:sp>
      <p:sp>
        <p:nvSpPr>
          <p:cNvPr id="5125" name="AutoShape 5"/>
          <p:cNvSpPr>
            <a:spLocks noChangeArrowheads="1"/>
          </p:cNvSpPr>
          <p:nvPr/>
        </p:nvSpPr>
        <p:spPr bwMode="auto">
          <a:xfrm>
            <a:off x="0" y="0"/>
            <a:ext cx="7099300" cy="10234613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  <a:effectLst/>
        </p:spPr>
        <p:txBody>
          <a:bodyPr wrap="none" lIns="99048" tIns="49524" rIns="99048" bIns="49524" anchor="ctr"/>
          <a:lstStyle/>
          <a:p>
            <a:pPr algn="r">
              <a:buClr>
                <a:srgbClr val="000000"/>
              </a:buClr>
              <a:buSzPct val="100000"/>
              <a:buFont typeface="Arial" pitchFamily="34" charset="0"/>
              <a:buNone/>
              <a:defRPr/>
            </a:pPr>
            <a:endParaRPr lang="zh-CN" altLang="en-US"/>
          </a:p>
        </p:txBody>
      </p:sp>
      <p:sp>
        <p:nvSpPr>
          <p:cNvPr id="5126" name="Text Box 6"/>
          <p:cNvSpPr txBox="1">
            <a:spLocks noChangeArrowheads="1"/>
          </p:cNvSpPr>
          <p:nvPr/>
        </p:nvSpPr>
        <p:spPr bwMode="auto">
          <a:xfrm>
            <a:off x="0" y="1"/>
            <a:ext cx="3076363" cy="515284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9048" tIns="49524" rIns="99048" bIns="49524" anchor="ctr"/>
          <a:lstStyle/>
          <a:p>
            <a:pPr algn="r">
              <a:buClr>
                <a:srgbClr val="000000"/>
              </a:buClr>
              <a:buSzPct val="100000"/>
              <a:buFont typeface="Arial" pitchFamily="34" charset="0"/>
              <a:buNone/>
              <a:defRPr/>
            </a:pPr>
            <a:endParaRPr lang="zh-CN" altLang="en-US"/>
          </a:p>
        </p:txBody>
      </p:sp>
      <p:sp>
        <p:nvSpPr>
          <p:cNvPr id="5127" name="Text Box 7"/>
          <p:cNvSpPr txBox="1">
            <a:spLocks noChangeArrowheads="1"/>
          </p:cNvSpPr>
          <p:nvPr/>
        </p:nvSpPr>
        <p:spPr bwMode="auto">
          <a:xfrm>
            <a:off x="4021294" y="1"/>
            <a:ext cx="3076363" cy="515284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9048" tIns="49524" rIns="99048" bIns="49524" anchor="ctr"/>
          <a:lstStyle/>
          <a:p>
            <a:pPr algn="r">
              <a:buClr>
                <a:srgbClr val="000000"/>
              </a:buClr>
              <a:buSzPct val="100000"/>
              <a:buFont typeface="Arial" pitchFamily="34" charset="0"/>
              <a:buNone/>
              <a:defRPr/>
            </a:pPr>
            <a:endParaRPr lang="zh-CN" altLang="en-US"/>
          </a:p>
        </p:txBody>
      </p:sp>
      <p:sp>
        <p:nvSpPr>
          <p:cNvPr id="185353" name="Rectangle 8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41288" y="768350"/>
            <a:ext cx="6807200" cy="3829050"/>
          </a:xfrm>
          <a:prstGeom prst="rect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129" name="Rectangle 9"/>
          <p:cNvSpPr>
            <a:spLocks noGrp="1" noChangeArrowheads="1"/>
          </p:cNvSpPr>
          <p:nvPr>
            <p:ph type="body"/>
          </p:nvPr>
        </p:nvSpPr>
        <p:spPr bwMode="auto">
          <a:xfrm>
            <a:off x="709930" y="4861442"/>
            <a:ext cx="5671224" cy="459669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7488" tIns="50694" rIns="97488" bIns="50694" numCol="1" anchor="t" anchorCtr="0" compatLnSpc="1">
            <a:prstTxWarp prst="textNoShape">
              <a:avLst/>
            </a:prstTxWarp>
          </a:bodyPr>
          <a:lstStyle/>
          <a:p>
            <a:pPr lvl="0"/>
            <a:endParaRPr lang="zh-CN" altLang="en-US" noProof="0"/>
          </a:p>
        </p:txBody>
      </p:sp>
      <p:sp>
        <p:nvSpPr>
          <p:cNvPr id="5130" name="Text Box 10"/>
          <p:cNvSpPr txBox="1">
            <a:spLocks noChangeArrowheads="1"/>
          </p:cNvSpPr>
          <p:nvPr/>
        </p:nvSpPr>
        <p:spPr bwMode="auto">
          <a:xfrm>
            <a:off x="0" y="9719329"/>
            <a:ext cx="3076363" cy="515284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9048" tIns="49524" rIns="99048" bIns="49524" anchor="ctr"/>
          <a:lstStyle/>
          <a:p>
            <a:pPr algn="r">
              <a:buClr>
                <a:srgbClr val="000000"/>
              </a:buClr>
              <a:buSzPct val="100000"/>
              <a:buFont typeface="Arial" pitchFamily="34" charset="0"/>
              <a:buNone/>
              <a:defRPr/>
            </a:pPr>
            <a:endParaRPr lang="zh-CN" altLang="en-US"/>
          </a:p>
        </p:txBody>
      </p:sp>
      <p:sp>
        <p:nvSpPr>
          <p:cNvPr id="5131" name="Rectangle 11"/>
          <p:cNvSpPr>
            <a:spLocks noGrp="1" noChangeArrowheads="1"/>
          </p:cNvSpPr>
          <p:nvPr>
            <p:ph type="sldNum"/>
          </p:nvPr>
        </p:nvSpPr>
        <p:spPr bwMode="auto">
          <a:xfrm>
            <a:off x="4021294" y="9721106"/>
            <a:ext cx="3068146" cy="502846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7488" tIns="50694" rIns="97488" bIns="50694" numCol="1" anchor="b" anchorCtr="0" compatLnSpc="1">
            <a:prstTxWarp prst="textNoShape">
              <a:avLst/>
            </a:prstTxWarp>
          </a:bodyPr>
          <a:lstStyle>
            <a:lvl1pPr algn="r">
              <a:buClr>
                <a:srgbClr val="000000"/>
              </a:buClr>
              <a:buSzPct val="45000"/>
              <a:buFont typeface="Wingdings" pitchFamily="2" charset="2"/>
              <a:buNone/>
              <a:tabLst>
                <a:tab pos="784128" algn="l"/>
                <a:tab pos="1568257" algn="l"/>
                <a:tab pos="2352385" algn="l"/>
                <a:tab pos="3136514" algn="l"/>
              </a:tabLst>
              <a:defRPr sz="1300">
                <a:solidFill>
                  <a:srgbClr val="000000"/>
                </a:solidFill>
                <a:latin typeface="AR PL UMing CN" pitchFamily="16" charset="0"/>
              </a:defRPr>
            </a:lvl1pPr>
          </a:lstStyle>
          <a:p>
            <a:pPr>
              <a:defRPr/>
            </a:pPr>
            <a:fld id="{D48F374F-3BCE-4877-8598-0831DF0B92D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085510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8" charset="0"/>
      <a:defRPr sz="1200" kern="1200">
        <a:solidFill>
          <a:srgbClr val="000000"/>
        </a:solidFill>
        <a:latin typeface="Times New Roman" pitchFamily="18" charset="0"/>
        <a:ea typeface="+mn-ea"/>
        <a:cs typeface="+mn-cs"/>
      </a:defRPr>
    </a:lvl1pPr>
    <a:lvl2pPr marL="742950" indent="-28575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8" charset="0"/>
      <a:defRPr sz="1200" kern="1200">
        <a:solidFill>
          <a:srgbClr val="000000"/>
        </a:solidFill>
        <a:latin typeface="Times New Roman" pitchFamily="18" charset="0"/>
        <a:ea typeface="+mn-ea"/>
        <a:cs typeface="+mn-cs"/>
      </a:defRPr>
    </a:lvl2pPr>
    <a:lvl3pPr marL="11430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8" charset="0"/>
      <a:defRPr sz="1200" kern="1200">
        <a:solidFill>
          <a:srgbClr val="000000"/>
        </a:solidFill>
        <a:latin typeface="Times New Roman" pitchFamily="18" charset="0"/>
        <a:ea typeface="+mn-ea"/>
        <a:cs typeface="+mn-cs"/>
      </a:defRPr>
    </a:lvl3pPr>
    <a:lvl4pPr marL="16002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8" charset="0"/>
      <a:defRPr sz="1200" kern="1200">
        <a:solidFill>
          <a:srgbClr val="000000"/>
        </a:solidFill>
        <a:latin typeface="Times New Roman" pitchFamily="18" charset="0"/>
        <a:ea typeface="+mn-ea"/>
        <a:cs typeface="+mn-cs"/>
      </a:defRPr>
    </a:lvl4pPr>
    <a:lvl5pPr marL="20574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8" charset="0"/>
      <a:defRPr sz="1200" kern="1200">
        <a:solidFill>
          <a:srgbClr val="000000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.xml"/><Relationship Id="rId2" Type="http://schemas.openxmlformats.org/officeDocument/2006/relationships/notesMaster" Target="../notesMasters/notesMaster1.xml"/><Relationship Id="rId1" Type="http://schemas.openxmlformats.org/officeDocument/2006/relationships/themeOverride" Target="../theme/themeOverride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0.xml"/><Relationship Id="rId2" Type="http://schemas.openxmlformats.org/officeDocument/2006/relationships/notesMaster" Target="../notesMasters/notesMaster1.xml"/><Relationship Id="rId1" Type="http://schemas.openxmlformats.org/officeDocument/2006/relationships/themeOverride" Target="../theme/themeOverride2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2.xml"/><Relationship Id="rId2" Type="http://schemas.openxmlformats.org/officeDocument/2006/relationships/notesMaster" Target="../notesMasters/notesMaster1.xml"/><Relationship Id="rId1" Type="http://schemas.openxmlformats.org/officeDocument/2006/relationships/themeOverride" Target="../theme/themeOverride3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3.xml"/><Relationship Id="rId2" Type="http://schemas.openxmlformats.org/officeDocument/2006/relationships/notesMaster" Target="../notesMasters/notesMaster1.xml"/><Relationship Id="rId1" Type="http://schemas.openxmlformats.org/officeDocument/2006/relationships/themeOverride" Target="../theme/themeOverr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378" name="Rectangle 2"/>
          <p:cNvSpPr>
            <a:spLocks noGrp="1" noRot="1" noChangeAspect="1" noChangeArrowheads="1" noTextEdit="1"/>
          </p:cNvSpPr>
          <p:nvPr>
            <p:ph type="body" idx="1"/>
          </p:nvPr>
        </p:nvSpPr>
        <p:spPr bwMode="auto">
          <a:xfrm>
            <a:off x="911225" y="4360863"/>
            <a:ext cx="5035550" cy="41275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en-US"/>
              <a:t>ARM</a:t>
            </a:r>
            <a:r>
              <a:rPr lang="zh-CN" altLang="en-US"/>
              <a:t>指令集：针对</a:t>
            </a:r>
            <a:r>
              <a:rPr lang="en-US"/>
              <a:t>v4</a:t>
            </a:r>
            <a:r>
              <a:rPr lang="zh-CN" altLang="en-US"/>
              <a:t>体系</a:t>
            </a:r>
          </a:p>
          <a:p>
            <a:pPr eaLnBrk="1" hangingPunct="1"/>
            <a:r>
              <a:rPr lang="en-US"/>
              <a:t>Thumb</a:t>
            </a:r>
            <a:r>
              <a:rPr lang="zh-CN" altLang="en-US"/>
              <a:t>指令集：主要解释</a:t>
            </a:r>
            <a:r>
              <a:rPr lang="en-US"/>
              <a:t>v4T</a:t>
            </a:r>
            <a:r>
              <a:rPr lang="zh-CN" altLang="en-US"/>
              <a:t>体系增加的部分</a:t>
            </a:r>
          </a:p>
          <a:p>
            <a:pPr eaLnBrk="1" hangingPunct="1"/>
            <a:r>
              <a:rPr lang="en-US"/>
              <a:t>v5TE</a:t>
            </a:r>
            <a:r>
              <a:rPr lang="zh-CN" altLang="en-US"/>
              <a:t>体系结构： </a:t>
            </a:r>
            <a:r>
              <a:rPr lang="en-US"/>
              <a:t>v4T</a:t>
            </a:r>
            <a:r>
              <a:rPr lang="zh-CN" altLang="en-US"/>
              <a:t>到</a:t>
            </a:r>
            <a:r>
              <a:rPr lang="en-US"/>
              <a:t>v5TE</a:t>
            </a:r>
            <a:r>
              <a:rPr lang="zh-CN" altLang="en-US"/>
              <a:t>体系增加的部分</a:t>
            </a:r>
          </a:p>
          <a:p>
            <a:pPr eaLnBrk="1" hangingPunct="1"/>
            <a:r>
              <a:rPr lang="zh-CN" altLang="en-US"/>
              <a:t>各种版本的体系总是向后兼容的！</a:t>
            </a:r>
            <a:r>
              <a:rPr lang="en-US"/>
              <a:t>v4T</a:t>
            </a:r>
            <a:r>
              <a:rPr lang="zh-CN" altLang="en-US"/>
              <a:t>体系的代码可以运行在</a:t>
            </a:r>
            <a:r>
              <a:rPr lang="en-US"/>
              <a:t>v5TE</a:t>
            </a:r>
            <a:r>
              <a:rPr lang="zh-CN" altLang="en-US"/>
              <a:t>体系的芯片上。</a:t>
            </a:r>
          </a:p>
          <a:p>
            <a:pPr eaLnBrk="1" hangingPunct="1"/>
            <a:endParaRPr lang="zh-CN" altLang="en-US"/>
          </a:p>
        </p:txBody>
      </p:sp>
      <p:sp>
        <p:nvSpPr>
          <p:cNvPr id="229379" name="Rectangle 3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xfrm>
            <a:off x="574675" y="795338"/>
            <a:ext cx="5710238" cy="3213100"/>
          </a:xfrm>
          <a:ln/>
        </p:spPr>
      </p:sp>
    </p:spTree>
    <p:extLst>
      <p:ext uri="{BB962C8B-B14F-4D97-AF65-F5344CB8AC3E}">
        <p14:creationId xmlns:p14="http://schemas.microsoft.com/office/powerpoint/2010/main" val="18192740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698" name="Rectangle 2"/>
          <p:cNvSpPr>
            <a:spLocks noGrp="1" noRot="1" noChangeAspect="1" noChangeArrowheads="1" noTextEdit="1"/>
          </p:cNvSpPr>
          <p:nvPr>
            <p:ph type="body" idx="1"/>
          </p:nvPr>
        </p:nvSpPr>
        <p:spPr bwMode="auto">
          <a:xfrm>
            <a:off x="911225" y="4357688"/>
            <a:ext cx="5021263" cy="4125912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lIns="87547" tIns="43773" rIns="87547" bIns="43773"/>
          <a:lstStyle/>
          <a:p>
            <a:pPr eaLnBrk="1" hangingPunct="1"/>
            <a:r>
              <a:rPr lang="en-US"/>
              <a:t>Compilers use set of rules to determine usage of registers</a:t>
            </a:r>
            <a:endParaRPr lang="zh-CN" altLang="en-US"/>
          </a:p>
          <a:p>
            <a:pPr lvl="1" eaLnBrk="1" hangingPunct="1"/>
            <a:r>
              <a:rPr lang="en-US"/>
              <a:t>ARM-Thumb Procedure Call Standard or ATPCS</a:t>
            </a:r>
            <a:endParaRPr lang="zh-CN" altLang="en-US"/>
          </a:p>
          <a:p>
            <a:pPr lvl="1" eaLnBrk="1" hangingPunct="1"/>
            <a:r>
              <a:rPr lang="en-US"/>
              <a:t>Specification available in &lt;ADS_install&gt;\PDF\specs and from www.arm.com/arm/Tech_Specs</a:t>
            </a:r>
            <a:endParaRPr lang="zh-CN" altLang="en-US"/>
          </a:p>
          <a:p>
            <a:pPr eaLnBrk="1" hangingPunct="1"/>
            <a:r>
              <a:rPr lang="zh-CN" altLang="en-US"/>
              <a:t>默认使用规则： （注意寄存器的别名）</a:t>
            </a:r>
          </a:p>
          <a:p>
            <a:pPr lvl="1" eaLnBrk="1" hangingPunct="1"/>
            <a:r>
              <a:rPr lang="en-US"/>
              <a:t>r0 to r3 (a1 to a4) : argument/scratch registers, corruptible by a function call</a:t>
            </a:r>
            <a:endParaRPr lang="zh-CN" altLang="en-US"/>
          </a:p>
          <a:p>
            <a:pPr lvl="1" eaLnBrk="1" hangingPunct="1"/>
            <a:r>
              <a:rPr lang="en-US"/>
              <a:t>r4 to r11 (v1 to v8): register variables, non-corruptible by a function call. Some ATPCS variants make use of:</a:t>
            </a:r>
            <a:endParaRPr lang="zh-CN" altLang="en-US"/>
          </a:p>
          <a:p>
            <a:pPr lvl="2" eaLnBrk="1" hangingPunct="1"/>
            <a:r>
              <a:rPr lang="en-US"/>
              <a:t>r9  (sb) : static base if RWPI option selected.</a:t>
            </a:r>
            <a:endParaRPr lang="zh-CN" altLang="en-US"/>
          </a:p>
          <a:p>
            <a:pPr lvl="2" eaLnBrk="1" hangingPunct="1"/>
            <a:r>
              <a:rPr lang="en-US"/>
              <a:t>r10  (sl) : stack limit if software stack checking option selected.</a:t>
            </a:r>
            <a:endParaRPr lang="zh-CN" altLang="en-US"/>
          </a:p>
          <a:p>
            <a:pPr lvl="2" eaLnBrk="1" hangingPunct="1"/>
            <a:r>
              <a:rPr lang="en-US"/>
              <a:t>r11 (fp) : frame pointer - not currently used by ARM’s compilers. </a:t>
            </a:r>
            <a:endParaRPr lang="zh-CN" altLang="en-US"/>
          </a:p>
          <a:p>
            <a:pPr lvl="1" eaLnBrk="1" hangingPunct="1"/>
            <a:r>
              <a:rPr lang="en-US"/>
              <a:t>r12 (ip) : scratch register, corruptible by a function call</a:t>
            </a:r>
            <a:endParaRPr lang="zh-CN" altLang="en-US"/>
          </a:p>
          <a:p>
            <a:pPr lvl="1" eaLnBrk="1" hangingPunct="1"/>
            <a:r>
              <a:rPr lang="en-US"/>
              <a:t>r13 (sp) : stack pointer</a:t>
            </a:r>
            <a:endParaRPr lang="zh-CN" altLang="en-US"/>
          </a:p>
          <a:p>
            <a:pPr lvl="1" eaLnBrk="1" hangingPunct="1"/>
            <a:r>
              <a:rPr lang="en-US"/>
              <a:t>r14 (lr) : link register (can be used as a scratch register once stacked)</a:t>
            </a:r>
            <a:endParaRPr lang="zh-CN" altLang="en-US"/>
          </a:p>
          <a:p>
            <a:pPr lvl="1" eaLnBrk="1" hangingPunct="1"/>
            <a:r>
              <a:rPr lang="en-US"/>
              <a:t>r15 (pc) : program counter</a:t>
            </a:r>
            <a:endParaRPr lang="zh-CN" altLang="en-US"/>
          </a:p>
          <a:p>
            <a:pPr eaLnBrk="1" hangingPunct="1"/>
            <a:r>
              <a:rPr lang="en-US"/>
              <a:t>Any assembler code which interworks with compiled code must be ATPCS conformant at the interface level </a:t>
            </a:r>
            <a:endParaRPr lang="zh-CN" altLang="en-US"/>
          </a:p>
          <a:p>
            <a:pPr eaLnBrk="1" hangingPunct="1"/>
            <a:endParaRPr lang="zh-CN" altLang="en-US"/>
          </a:p>
        </p:txBody>
      </p:sp>
      <p:sp>
        <p:nvSpPr>
          <p:cNvPr id="285699" name="Rectangle 3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xfrm>
            <a:off x="571500" y="793750"/>
            <a:ext cx="5715000" cy="3214688"/>
          </a:xfrm>
          <a:ln/>
        </p:spPr>
      </p:sp>
    </p:spTree>
    <p:extLst>
      <p:ext uri="{BB962C8B-B14F-4D97-AF65-F5344CB8AC3E}">
        <p14:creationId xmlns:p14="http://schemas.microsoft.com/office/powerpoint/2010/main" val="19062483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602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xfrm>
            <a:off x="560388" y="844550"/>
            <a:ext cx="5710237" cy="3213100"/>
          </a:xfrm>
          <a:ln/>
        </p:spPr>
      </p:sp>
      <p:sp>
        <p:nvSpPr>
          <p:cNvPr id="281603" name="Rectangle 3"/>
          <p:cNvSpPr>
            <a:spLocks noGrp="1" noRot="1" noChangeAspect="1" noChangeArrowheads="1" noTextEdit="1"/>
          </p:cNvSpPr>
          <p:nvPr>
            <p:ph type="body" idx="1"/>
          </p:nvPr>
        </p:nvSpPr>
        <p:spPr bwMode="auto">
          <a:xfrm>
            <a:off x="912813" y="4360863"/>
            <a:ext cx="5030787" cy="4129087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zh-CN" altLang="en-US"/>
              <a:t>需要用到 </a:t>
            </a:r>
            <a:r>
              <a:rPr lang="en-US"/>
              <a:t>C/ASM</a:t>
            </a:r>
            <a:r>
              <a:rPr lang="zh-CN" altLang="en-US"/>
              <a:t>混合编程的情况</a:t>
            </a:r>
            <a:r>
              <a:rPr lang="en-US"/>
              <a:t>:</a:t>
            </a:r>
            <a:br>
              <a:rPr lang="zh-CN" altLang="en-US"/>
            </a:br>
            <a:r>
              <a:rPr lang="en-US"/>
              <a:t> - access to PSR e.g. to enable/disable interrupts</a:t>
            </a:r>
            <a:br>
              <a:rPr lang="zh-CN" altLang="en-US"/>
            </a:br>
            <a:r>
              <a:rPr lang="en-US"/>
              <a:t> - use saturated maths instructions (can’t do this from C/C++)</a:t>
            </a:r>
            <a:br>
              <a:rPr lang="zh-CN" altLang="en-US"/>
            </a:br>
            <a:r>
              <a:rPr lang="en-US"/>
              <a:t> - hand-optimize critical code sections</a:t>
            </a:r>
            <a:endParaRPr lang="zh-CN" altLang="en-US"/>
          </a:p>
          <a:p>
            <a:pPr eaLnBrk="1" hangingPunct="1"/>
            <a:endParaRPr lang="zh-CN" altLang="en-US"/>
          </a:p>
          <a:p>
            <a:pPr eaLnBrk="1" hangingPunct="1"/>
            <a:r>
              <a:rPr lang="en-US"/>
              <a:t>Inline assembler - Thumb support will be removed in future releases.  Primarily used to add NOPs to insert delays - __NOP intrinsic will replace this.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30908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650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xfrm>
            <a:off x="560388" y="844550"/>
            <a:ext cx="5710237" cy="3213100"/>
          </a:xfrm>
          <a:ln/>
        </p:spPr>
      </p:sp>
      <p:sp>
        <p:nvSpPr>
          <p:cNvPr id="283651" name="Rectangle 3"/>
          <p:cNvSpPr>
            <a:spLocks noGrp="1" noRot="1" noChangeAspect="1" noChangeArrowheads="1" noTextEdit="1"/>
          </p:cNvSpPr>
          <p:nvPr>
            <p:ph type="body" idx="1"/>
          </p:nvPr>
        </p:nvSpPr>
        <p:spPr bwMode="auto">
          <a:xfrm>
            <a:off x="912813" y="4360863"/>
            <a:ext cx="5030787" cy="4129087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zh-CN" altLang="en-US"/>
              <a:t>需要用到 </a:t>
            </a:r>
            <a:r>
              <a:rPr lang="en-US"/>
              <a:t>C/ASM</a:t>
            </a:r>
            <a:r>
              <a:rPr lang="zh-CN" altLang="en-US"/>
              <a:t>混合编程的情况</a:t>
            </a:r>
            <a:r>
              <a:rPr lang="en-US"/>
              <a:t>:</a:t>
            </a:r>
            <a:br>
              <a:rPr lang="zh-CN" altLang="en-US"/>
            </a:br>
            <a:r>
              <a:rPr lang="en-US"/>
              <a:t> - access to PSR e.g. to enable/disable interrupts</a:t>
            </a:r>
            <a:br>
              <a:rPr lang="zh-CN" altLang="en-US"/>
            </a:br>
            <a:r>
              <a:rPr lang="en-US"/>
              <a:t> - use saturated maths instructions (can’t do this from C/C++)</a:t>
            </a:r>
            <a:br>
              <a:rPr lang="zh-CN" altLang="en-US"/>
            </a:br>
            <a:r>
              <a:rPr lang="en-US"/>
              <a:t> - hand-optimize critical code sections</a:t>
            </a:r>
            <a:endParaRPr lang="zh-CN" altLang="en-US"/>
          </a:p>
          <a:p>
            <a:pPr eaLnBrk="1" hangingPunct="1"/>
            <a:endParaRPr lang="zh-CN" altLang="en-US"/>
          </a:p>
          <a:p>
            <a:pPr eaLnBrk="1" hangingPunct="1"/>
            <a:r>
              <a:rPr lang="en-US"/>
              <a:t>Inline assembler - Thumb support will be removed in future releases.  Primarily used to add NOPs to insert delays - __NOP intrinsic will replace this.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452336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jpeg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jpeg"/><Relationship Id="rId4" Type="http://schemas.openxmlformats.org/officeDocument/2006/relationships/image" Target="../media/image3.png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首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11"/>
          <p:cNvSpPr>
            <a:spLocks noChangeArrowheads="1"/>
          </p:cNvSpPr>
          <p:nvPr userDrawn="1"/>
        </p:nvSpPr>
        <p:spPr bwMode="auto">
          <a:xfrm>
            <a:off x="1371600" y="3829050"/>
            <a:ext cx="6400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ts val="600"/>
              </a:spcBef>
              <a:buClr>
                <a:schemeClr val="accent1"/>
              </a:buClr>
              <a:buSzPct val="76000"/>
              <a:buFont typeface="Wingdings 3" pitchFamily="18" charset="2"/>
              <a:buNone/>
              <a:defRPr/>
            </a:pPr>
            <a:endParaRPr lang="zh-CN" altLang="zh-CN" sz="2800"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6154" name="标题占位符 21"/>
          <p:cNvSpPr>
            <a:spLocks noGrp="1"/>
          </p:cNvSpPr>
          <p:nvPr>
            <p:ph type="ctrTitle" hasCustomPrompt="1"/>
          </p:nvPr>
        </p:nvSpPr>
        <p:spPr>
          <a:xfrm>
            <a:off x="1043608" y="1851670"/>
            <a:ext cx="6264696" cy="800100"/>
          </a:xfrm>
        </p:spPr>
        <p:txBody>
          <a:bodyPr anchor="t"/>
          <a:lstStyle>
            <a:lvl1pPr algn="ctr">
              <a:defRPr kumimoji="0" lang="zh-CN" altLang="en-US" sz="4400" b="0">
                <a:latin typeface="微软雅黑" pitchFamily="34" charset="-122"/>
                <a:ea typeface="微软雅黑" pitchFamily="34" charset="-122"/>
              </a:defRPr>
            </a:lvl1pPr>
          </a:lstStyle>
          <a:p>
            <a:pPr lvl="0" algn="ctr" defTabSz="514350" eaLnBrk="1" latinLnBrk="0" hangingPunct="1">
              <a:lnSpc>
                <a:spcPct val="90000"/>
              </a:lnSpc>
              <a:buFont typeface="Arial" charset="0"/>
              <a:buNone/>
            </a:pPr>
            <a:r>
              <a:rPr lang="zh-CN" altLang="en-US" dirty="0"/>
              <a:t>编辑母版标题样式</a:t>
            </a:r>
          </a:p>
        </p:txBody>
      </p:sp>
      <p:sp>
        <p:nvSpPr>
          <p:cNvPr id="22" name="文本占位符 28"/>
          <p:cNvSpPr>
            <a:spLocks noGrp="1"/>
          </p:cNvSpPr>
          <p:nvPr>
            <p:ph type="body" sz="quarter" idx="10" hasCustomPrompt="1"/>
          </p:nvPr>
        </p:nvSpPr>
        <p:spPr>
          <a:xfrm>
            <a:off x="3707904" y="3003798"/>
            <a:ext cx="2880200" cy="1008112"/>
          </a:xfrm>
          <a:prstGeom prst="rect">
            <a:avLst/>
          </a:prstGeom>
        </p:spPr>
        <p:txBody>
          <a:bodyPr/>
          <a:lstStyle>
            <a:lvl1pPr algn="ctr">
              <a:lnSpc>
                <a:spcPct val="150000"/>
              </a:lnSpc>
              <a:spcBef>
                <a:spcPts val="0"/>
              </a:spcBef>
              <a:buNone/>
              <a:defRPr lang="zh-CN" altLang="en-US" sz="2000" kern="1200" dirty="0" smtClean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1pPr>
          </a:lstStyle>
          <a:p>
            <a:pPr lvl="0"/>
            <a:r>
              <a:rPr lang="zh-CN" altLang="en-US" dirty="0"/>
              <a:t>编辑母版主讲人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pic>
        <p:nvPicPr>
          <p:cNvPr id="18" name="Picture 2" descr="C:\Users\Administrator\Desktop\华清远见logo 副本副本.pn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3568" y="483518"/>
            <a:ext cx="2160240" cy="576064"/>
          </a:xfrm>
          <a:prstGeom prst="rect">
            <a:avLst/>
          </a:prstGeom>
          <a:noFill/>
        </p:spPr>
      </p:pic>
      <p:sp>
        <p:nvSpPr>
          <p:cNvPr id="19" name="TextBox 18"/>
          <p:cNvSpPr txBox="1"/>
          <p:nvPr userDrawn="1"/>
        </p:nvSpPr>
        <p:spPr>
          <a:xfrm>
            <a:off x="2714612" y="576426"/>
            <a:ext cx="25054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高端</a:t>
            </a:r>
            <a:r>
              <a:rPr lang="en-US" altLang="zh-CN" b="1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IT</a:t>
            </a:r>
            <a:r>
              <a:rPr lang="zh-CN" altLang="en-US" b="1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就业培训专家</a:t>
            </a:r>
          </a:p>
        </p:txBody>
      </p:sp>
    </p:spTree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90872" y="411510"/>
            <a:ext cx="5997352" cy="432048"/>
          </a:xfrm>
        </p:spPr>
        <p:txBody>
          <a:bodyPr/>
          <a:lstStyle>
            <a:lvl1pPr>
              <a:defRPr lang="zh-CN" altLang="en-US" dirty="0"/>
            </a:lvl1pPr>
          </a:lstStyle>
          <a:p>
            <a:pPr lvl="0"/>
            <a:r>
              <a:rPr lang="zh-CN" altLang="en-US" dirty="0"/>
              <a:t>目录</a:t>
            </a:r>
            <a:br>
              <a:rPr lang="en-US" altLang="zh-CN" dirty="0"/>
            </a:br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0"/>
          </p:nvPr>
        </p:nvSpPr>
        <p:spPr>
          <a:xfrm>
            <a:off x="590400" y="915566"/>
            <a:ext cx="8014048" cy="3672408"/>
          </a:xfrm>
        </p:spPr>
        <p:txBody>
          <a:bodyPr/>
          <a:lstStyle>
            <a:lvl1pPr marL="720000" indent="-285750">
              <a:buFont typeface="Wingdings" charset="2"/>
              <a:buChar char="l"/>
              <a:defRPr b="1" baseline="0">
                <a:solidFill>
                  <a:srgbClr val="C00000"/>
                </a:solidFill>
                <a:ea typeface="微软雅黑" charset="-122"/>
              </a:defRPr>
            </a:lvl1pPr>
            <a:lvl5pPr marL="1371600" indent="-228600">
              <a:buFont typeface="Wingdings" charset="2"/>
              <a:buChar char="l"/>
              <a:defRPr/>
            </a:lvl5pPr>
          </a:lstStyle>
          <a:p>
            <a:pPr lvl="0"/>
            <a:endParaRPr lang="en-US" altLang="zh-CN" dirty="0"/>
          </a:p>
          <a:p>
            <a:pPr lvl="0"/>
            <a:r>
              <a:rPr lang="zh-CN" altLang="en-US" dirty="0"/>
              <a:t>单击此处编辑母版文本样式</a:t>
            </a:r>
          </a:p>
          <a:p>
            <a:pPr lvl="0"/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90872" y="411510"/>
            <a:ext cx="5997352" cy="432048"/>
          </a:xfrm>
        </p:spPr>
        <p:txBody>
          <a:bodyPr/>
          <a:lstStyle>
            <a:lvl1pPr>
              <a:defRPr lang="zh-CN" altLang="en-US" dirty="0"/>
            </a:lvl1pPr>
          </a:lstStyle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0"/>
          </p:nvPr>
        </p:nvSpPr>
        <p:spPr>
          <a:xfrm>
            <a:off x="590400" y="915566"/>
            <a:ext cx="8014048" cy="3672408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5664594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尾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组合 22"/>
          <p:cNvGrpSpPr/>
          <p:nvPr userDrawn="1"/>
        </p:nvGrpSpPr>
        <p:grpSpPr>
          <a:xfrm>
            <a:off x="0" y="2510"/>
            <a:ext cx="9144000" cy="5140990"/>
            <a:chOff x="0" y="2510"/>
            <a:chExt cx="9144000" cy="5140990"/>
          </a:xfrm>
        </p:grpSpPr>
        <p:pic>
          <p:nvPicPr>
            <p:cNvPr id="8" name="图片 7" descr="pp内容页.jpg"/>
            <p:cNvPicPr>
              <a:picLocks noChangeAspect="1"/>
            </p:cNvPicPr>
            <p:nvPr userDrawn="1"/>
          </p:nvPicPr>
          <p:blipFill>
            <a:blip r:embed="rId2" cstate="print"/>
            <a:stretch>
              <a:fillRect/>
            </a:stretch>
          </p:blipFill>
          <p:spPr>
            <a:xfrm>
              <a:off x="0" y="2510"/>
              <a:ext cx="9144000" cy="5140990"/>
            </a:xfrm>
            <a:prstGeom prst="rect">
              <a:avLst/>
            </a:prstGeom>
          </p:spPr>
        </p:pic>
        <p:pic>
          <p:nvPicPr>
            <p:cNvPr id="3" name="图片 2"/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47637" y="267494"/>
              <a:ext cx="4988859" cy="4437413"/>
            </a:xfrm>
            <a:prstGeom prst="rect">
              <a:avLst/>
            </a:prstGeom>
          </p:spPr>
        </p:pic>
        <p:sp>
          <p:nvSpPr>
            <p:cNvPr id="4" name="文本框 9"/>
            <p:cNvSpPr txBox="1"/>
            <p:nvPr userDrawn="1"/>
          </p:nvSpPr>
          <p:spPr>
            <a:xfrm>
              <a:off x="3275856" y="4111434"/>
              <a:ext cx="3771900" cy="548548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lnSpc>
                  <a:spcPct val="150000"/>
                </a:lnSpc>
                <a:buFont typeface="Arial" charset="0"/>
                <a:buNone/>
                <a:defRPr/>
              </a:pPr>
              <a:r>
                <a:rPr lang="zh-CN" altLang="en-US" sz="105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扫描大树或关注（微信号：</a:t>
              </a:r>
              <a:r>
                <a:rPr lang="en-US" altLang="zh-CN" sz="105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farsight2013</a:t>
              </a:r>
              <a:r>
                <a:rPr lang="zh-CN" altLang="en-US" sz="105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）</a:t>
              </a:r>
              <a:endParaRPr lang="en-US" altLang="zh-CN" sz="105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50000"/>
                </a:lnSpc>
                <a:buFont typeface="Arial" charset="0"/>
                <a:buNone/>
                <a:defRPr/>
              </a:pPr>
              <a:r>
                <a:rPr lang="zh-CN" altLang="en-US" sz="105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第一时间获取更多华清远见课程信息。</a:t>
              </a:r>
            </a:p>
          </p:txBody>
        </p:sp>
        <p:sp>
          <p:nvSpPr>
            <p:cNvPr id="5" name="文本框 2"/>
            <p:cNvSpPr txBox="1"/>
            <p:nvPr userDrawn="1"/>
          </p:nvSpPr>
          <p:spPr>
            <a:xfrm>
              <a:off x="755576" y="2211710"/>
              <a:ext cx="5553075" cy="400110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buFont typeface="Arial" charset="0"/>
                <a:buNone/>
                <a:defRPr/>
              </a:pPr>
              <a:endPara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TextBox 8"/>
            <p:cNvSpPr txBox="1"/>
            <p:nvPr userDrawn="1"/>
          </p:nvSpPr>
          <p:spPr>
            <a:xfrm>
              <a:off x="1043608" y="1923678"/>
              <a:ext cx="2000264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6000" b="1" dirty="0">
                  <a:solidFill>
                    <a:srgbClr val="C00000"/>
                  </a:solidFill>
                  <a:latin typeface="微软雅黑" pitchFamily="34" charset="-122"/>
                  <a:ea typeface="微软雅黑" pitchFamily="34" charset="-122"/>
                </a:rPr>
                <a:t>谢 谢！</a:t>
              </a:r>
            </a:p>
          </p:txBody>
        </p:sp>
        <p:pic>
          <p:nvPicPr>
            <p:cNvPr id="11" name="Picture 2" descr="C:\Users\Administrator\Desktop\华清远见logo 副本副本.png"/>
            <p:cNvPicPr>
              <a:picLocks noChangeAspect="1" noChangeArrowheads="1"/>
            </p:cNvPicPr>
            <p:nvPr userDrawn="1"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683568" y="483518"/>
              <a:ext cx="2160240" cy="576064"/>
            </a:xfrm>
            <a:prstGeom prst="rect">
              <a:avLst/>
            </a:prstGeom>
            <a:noFill/>
          </p:spPr>
        </p:pic>
        <p:pic>
          <p:nvPicPr>
            <p:cNvPr id="17" name="图片 10" descr="ppt内页模板图.jpg"/>
            <p:cNvPicPr>
              <a:picLocks noChangeAspect="1" noChangeArrowheads="1"/>
            </p:cNvPicPr>
            <p:nvPr userDrawn="1"/>
          </p:nvPicPr>
          <p:blipFill>
            <a:blip r:embed="rId5" cstate="print"/>
            <a:srcRect l="6525" t="91431" r="76123"/>
            <a:stretch>
              <a:fillRect/>
            </a:stretch>
          </p:blipFill>
          <p:spPr bwMode="auto">
            <a:xfrm>
              <a:off x="4211961" y="4702175"/>
              <a:ext cx="1872484" cy="4413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22" name="图片 10" descr="ppt内页模板图.jpg"/>
            <p:cNvPicPr>
              <a:picLocks noChangeAspect="1" noChangeArrowheads="1"/>
            </p:cNvPicPr>
            <p:nvPr userDrawn="1"/>
          </p:nvPicPr>
          <p:blipFill>
            <a:blip r:embed="rId5" cstate="print"/>
            <a:srcRect l="6525" t="91431" r="76123"/>
            <a:stretch>
              <a:fillRect/>
            </a:stretch>
          </p:blipFill>
          <p:spPr bwMode="auto">
            <a:xfrm>
              <a:off x="4932040" y="4731990"/>
              <a:ext cx="1799781" cy="36931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20" name="图片 10" descr="ppt内页模板图.jpg"/>
            <p:cNvPicPr>
              <a:picLocks noChangeAspect="1" noChangeArrowheads="1"/>
            </p:cNvPicPr>
            <p:nvPr userDrawn="1"/>
          </p:nvPicPr>
          <p:blipFill>
            <a:blip r:embed="rId5" cstate="print"/>
            <a:srcRect l="6525" t="91431" r="76123"/>
            <a:stretch>
              <a:fillRect/>
            </a:stretch>
          </p:blipFill>
          <p:spPr bwMode="auto">
            <a:xfrm>
              <a:off x="2123728" y="4731990"/>
              <a:ext cx="1799781" cy="36931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21" name="图片 10" descr="ppt内页模板图.jpg"/>
            <p:cNvPicPr>
              <a:picLocks noChangeAspect="1" noChangeArrowheads="1"/>
            </p:cNvPicPr>
            <p:nvPr userDrawn="1"/>
          </p:nvPicPr>
          <p:blipFill>
            <a:blip r:embed="rId5" cstate="print"/>
            <a:srcRect l="6525" t="91431" r="76123"/>
            <a:stretch>
              <a:fillRect/>
            </a:stretch>
          </p:blipFill>
          <p:spPr bwMode="auto">
            <a:xfrm>
              <a:off x="2484187" y="4731990"/>
              <a:ext cx="1799781" cy="36931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9" name="TextBox 18"/>
            <p:cNvSpPr txBox="1"/>
            <p:nvPr userDrawn="1"/>
          </p:nvSpPr>
          <p:spPr bwMode="auto">
            <a:xfrm>
              <a:off x="2195736" y="4752305"/>
              <a:ext cx="2663825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buFont typeface="Arial" pitchFamily="34" charset="0"/>
                <a:buNone/>
                <a:defRPr/>
              </a:pPr>
              <a:r>
                <a:rPr lang="zh-CN" altLang="en-US" sz="1400" b="1" kern="1200" spc="200" baseline="0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华清远见教育集团</a:t>
              </a:r>
            </a:p>
          </p:txBody>
        </p:sp>
        <p:sp>
          <p:nvSpPr>
            <p:cNvPr id="18" name="TextBox 17"/>
            <p:cNvSpPr txBox="1"/>
            <p:nvPr userDrawn="1"/>
          </p:nvSpPr>
          <p:spPr bwMode="auto">
            <a:xfrm>
              <a:off x="4572695" y="4752305"/>
              <a:ext cx="2663825" cy="323165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buFont typeface="Arial" pitchFamily="34" charset="0"/>
                <a:buNone/>
                <a:defRPr/>
              </a:pPr>
              <a:r>
                <a:rPr lang="en-US" altLang="zh-CN" sz="1500" b="1" kern="1500" spc="100" dirty="0">
                  <a:solidFill>
                    <a:schemeClr val="bg1"/>
                  </a:solidFill>
                  <a:latin typeface="Arial" pitchFamily="34" charset="0"/>
                </a:rPr>
                <a:t>www.embedu.org</a:t>
              </a:r>
              <a:endParaRPr lang="zh-CN" altLang="en-US" sz="1500" b="1" kern="1500" spc="100" dirty="0">
                <a:solidFill>
                  <a:schemeClr val="bg1"/>
                </a:solidFill>
                <a:latin typeface="Arial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22328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21"/>
            <a:ext cx="7772400" cy="110251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257175" indent="0" algn="ctr">
              <a:buNone/>
              <a:defRPr/>
            </a:lvl2pPr>
            <a:lvl3pPr marL="514350" indent="0" algn="ctr">
              <a:buNone/>
              <a:defRPr/>
            </a:lvl3pPr>
            <a:lvl4pPr marL="771525" indent="0" algn="ctr">
              <a:buNone/>
              <a:defRPr/>
            </a:lvl4pPr>
            <a:lvl5pPr marL="1028700" indent="0" algn="ctr">
              <a:buNone/>
              <a:defRPr/>
            </a:lvl5pPr>
            <a:lvl6pPr marL="1285875" indent="0" algn="ctr">
              <a:buNone/>
              <a:defRPr/>
            </a:lvl6pPr>
            <a:lvl7pPr marL="1543050" indent="0" algn="ctr">
              <a:buNone/>
              <a:defRPr/>
            </a:lvl7pPr>
            <a:lvl8pPr marL="1800225" indent="0" algn="ctr">
              <a:buNone/>
              <a:defRPr/>
            </a:lvl8pPr>
            <a:lvl9pPr marL="20574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>
          <a:xfrm>
            <a:off x="3124200" y="4786312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1"/>
          </p:nvPr>
        </p:nvSpPr>
        <p:spPr>
          <a:xfrm>
            <a:off x="7467600" y="4786312"/>
            <a:ext cx="1219200" cy="357188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A4D141A5-8890-45B3-A24F-8B61CCEF2D34}" type="datetimeFigureOut">
              <a:rPr lang="zh-CN" altLang="en-US" smtClean="0"/>
              <a:pPr/>
              <a:t>2024/4/9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084820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首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11"/>
          <p:cNvSpPr>
            <a:spLocks noChangeArrowheads="1"/>
          </p:cNvSpPr>
          <p:nvPr userDrawn="1"/>
        </p:nvSpPr>
        <p:spPr bwMode="auto">
          <a:xfrm>
            <a:off x="1371600" y="3829050"/>
            <a:ext cx="6400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ts val="600"/>
              </a:spcBef>
              <a:buClr>
                <a:schemeClr val="accent1"/>
              </a:buClr>
              <a:buSzPct val="76000"/>
              <a:buFont typeface="Wingdings 3" pitchFamily="18" charset="2"/>
              <a:buNone/>
              <a:defRPr/>
            </a:pPr>
            <a:endParaRPr lang="zh-CN" altLang="zh-CN" sz="2800"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6154" name="标题占位符 21"/>
          <p:cNvSpPr>
            <a:spLocks noGrp="1"/>
          </p:cNvSpPr>
          <p:nvPr>
            <p:ph type="ctrTitle" hasCustomPrompt="1"/>
          </p:nvPr>
        </p:nvSpPr>
        <p:spPr>
          <a:xfrm>
            <a:off x="1043608" y="1851670"/>
            <a:ext cx="6264696" cy="800100"/>
          </a:xfrm>
        </p:spPr>
        <p:txBody>
          <a:bodyPr anchor="t"/>
          <a:lstStyle>
            <a:lvl1pPr algn="ctr">
              <a:defRPr kumimoji="0" lang="zh-CN" altLang="en-US" sz="4400" b="0">
                <a:latin typeface="微软雅黑" pitchFamily="34" charset="-122"/>
                <a:ea typeface="微软雅黑" pitchFamily="34" charset="-122"/>
              </a:defRPr>
            </a:lvl1pPr>
          </a:lstStyle>
          <a:p>
            <a:pPr lvl="0" algn="ctr" defTabSz="514350" eaLnBrk="1" latinLnBrk="0" hangingPunct="1">
              <a:lnSpc>
                <a:spcPct val="90000"/>
              </a:lnSpc>
              <a:buFont typeface="Arial" charset="0"/>
              <a:buNone/>
            </a:pPr>
            <a:r>
              <a:rPr lang="zh-CN" altLang="en-US" dirty="0"/>
              <a:t>编辑母版标题样式</a:t>
            </a:r>
          </a:p>
        </p:txBody>
      </p:sp>
      <p:sp>
        <p:nvSpPr>
          <p:cNvPr id="22" name="文本占位符 28"/>
          <p:cNvSpPr>
            <a:spLocks noGrp="1"/>
          </p:cNvSpPr>
          <p:nvPr>
            <p:ph type="body" sz="quarter" idx="10" hasCustomPrompt="1"/>
          </p:nvPr>
        </p:nvSpPr>
        <p:spPr>
          <a:xfrm>
            <a:off x="3707904" y="3003798"/>
            <a:ext cx="2880200" cy="1008112"/>
          </a:xfrm>
          <a:prstGeom prst="rect">
            <a:avLst/>
          </a:prstGeom>
        </p:spPr>
        <p:txBody>
          <a:bodyPr/>
          <a:lstStyle>
            <a:lvl1pPr algn="ctr">
              <a:lnSpc>
                <a:spcPct val="150000"/>
              </a:lnSpc>
              <a:spcBef>
                <a:spcPts val="0"/>
              </a:spcBef>
              <a:buNone/>
              <a:defRPr lang="zh-CN" altLang="en-US" sz="2000" kern="1200" dirty="0" smtClean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1pPr>
          </a:lstStyle>
          <a:p>
            <a:pPr lvl="0"/>
            <a:r>
              <a:rPr lang="zh-CN" altLang="en-US" dirty="0"/>
              <a:t>编辑母版主讲人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pic>
        <p:nvPicPr>
          <p:cNvPr id="18" name="Picture 2" descr="C:\Users\Administrator\Desktop\华清远见logo 副本副本.pn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3568" y="483518"/>
            <a:ext cx="2160240" cy="576064"/>
          </a:xfrm>
          <a:prstGeom prst="rect">
            <a:avLst/>
          </a:prstGeom>
          <a:noFill/>
        </p:spPr>
      </p:pic>
      <p:sp>
        <p:nvSpPr>
          <p:cNvPr id="19" name="TextBox 18"/>
          <p:cNvSpPr txBox="1"/>
          <p:nvPr userDrawn="1"/>
        </p:nvSpPr>
        <p:spPr>
          <a:xfrm>
            <a:off x="2714612" y="576426"/>
            <a:ext cx="25054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高端</a:t>
            </a:r>
            <a:r>
              <a:rPr lang="en-US" altLang="zh-CN" b="1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IT</a:t>
            </a:r>
            <a:r>
              <a:rPr lang="zh-CN" altLang="en-US" b="1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就业培训专家</a:t>
            </a:r>
          </a:p>
        </p:txBody>
      </p:sp>
    </p:spTree>
    <p:extLst>
      <p:ext uri="{BB962C8B-B14F-4D97-AF65-F5344CB8AC3E}">
        <p14:creationId xmlns:p14="http://schemas.microsoft.com/office/powerpoint/2010/main" val="1837808874"/>
      </p:ext>
    </p:extLst>
  </p:cSld>
  <p:clrMapOvr>
    <a:masterClrMapping/>
  </p:clrMapOvr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90872" y="411510"/>
            <a:ext cx="5997352" cy="432048"/>
          </a:xfrm>
        </p:spPr>
        <p:txBody>
          <a:bodyPr/>
          <a:lstStyle>
            <a:lvl1pPr>
              <a:defRPr lang="zh-CN" altLang="en-US" dirty="0"/>
            </a:lvl1pPr>
          </a:lstStyle>
          <a:p>
            <a:pPr lvl="0"/>
            <a:r>
              <a:rPr lang="zh-CN" altLang="en-US" dirty="0"/>
              <a:t>目录</a:t>
            </a:r>
            <a:br>
              <a:rPr lang="en-US" altLang="zh-CN" dirty="0"/>
            </a:br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0"/>
          </p:nvPr>
        </p:nvSpPr>
        <p:spPr>
          <a:xfrm>
            <a:off x="590400" y="915566"/>
            <a:ext cx="8014048" cy="3672408"/>
          </a:xfrm>
        </p:spPr>
        <p:txBody>
          <a:bodyPr/>
          <a:lstStyle>
            <a:lvl1pPr marL="720000" indent="-285750">
              <a:buFont typeface="Wingdings" charset="2"/>
              <a:buChar char="l"/>
              <a:defRPr b="1" baseline="0">
                <a:solidFill>
                  <a:srgbClr val="C00000"/>
                </a:solidFill>
                <a:ea typeface="微软雅黑" charset="-122"/>
              </a:defRPr>
            </a:lvl1pPr>
            <a:lvl5pPr marL="1371600" indent="-228600">
              <a:buFont typeface="Wingdings" charset="2"/>
              <a:buChar char="l"/>
              <a:defRPr/>
            </a:lvl5pPr>
          </a:lstStyle>
          <a:p>
            <a:pPr lvl="0"/>
            <a:endParaRPr lang="en-US" altLang="zh-CN" dirty="0"/>
          </a:p>
          <a:p>
            <a:pPr lvl="0"/>
            <a:r>
              <a:rPr lang="zh-CN" altLang="en-US" dirty="0"/>
              <a:t>单击此处编辑母版文本样式</a:t>
            </a:r>
          </a:p>
          <a:p>
            <a:pPr lvl="0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968427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90872" y="411510"/>
            <a:ext cx="5997352" cy="432048"/>
          </a:xfrm>
        </p:spPr>
        <p:txBody>
          <a:bodyPr/>
          <a:lstStyle>
            <a:lvl1pPr>
              <a:defRPr lang="zh-CN" altLang="en-US" dirty="0"/>
            </a:lvl1pPr>
          </a:lstStyle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0"/>
          </p:nvPr>
        </p:nvSpPr>
        <p:spPr>
          <a:xfrm>
            <a:off x="590400" y="915566"/>
            <a:ext cx="8014048" cy="3672408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9950423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尾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组合 22"/>
          <p:cNvGrpSpPr/>
          <p:nvPr userDrawn="1"/>
        </p:nvGrpSpPr>
        <p:grpSpPr>
          <a:xfrm>
            <a:off x="0" y="2510"/>
            <a:ext cx="9144000" cy="5140990"/>
            <a:chOff x="0" y="2510"/>
            <a:chExt cx="9144000" cy="5140990"/>
          </a:xfrm>
        </p:grpSpPr>
        <p:pic>
          <p:nvPicPr>
            <p:cNvPr id="8" name="图片 7" descr="pp内容页.jpg"/>
            <p:cNvPicPr>
              <a:picLocks noChangeAspect="1"/>
            </p:cNvPicPr>
            <p:nvPr userDrawn="1"/>
          </p:nvPicPr>
          <p:blipFill>
            <a:blip r:embed="rId2" cstate="print"/>
            <a:stretch>
              <a:fillRect/>
            </a:stretch>
          </p:blipFill>
          <p:spPr>
            <a:xfrm>
              <a:off x="0" y="2510"/>
              <a:ext cx="9144000" cy="5140990"/>
            </a:xfrm>
            <a:prstGeom prst="rect">
              <a:avLst/>
            </a:prstGeom>
          </p:spPr>
        </p:pic>
        <p:pic>
          <p:nvPicPr>
            <p:cNvPr id="3" name="图片 2"/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47637" y="267494"/>
              <a:ext cx="4988859" cy="4437413"/>
            </a:xfrm>
            <a:prstGeom prst="rect">
              <a:avLst/>
            </a:prstGeom>
          </p:spPr>
        </p:pic>
        <p:sp>
          <p:nvSpPr>
            <p:cNvPr id="4" name="文本框 9"/>
            <p:cNvSpPr txBox="1"/>
            <p:nvPr userDrawn="1"/>
          </p:nvSpPr>
          <p:spPr>
            <a:xfrm>
              <a:off x="3275856" y="4111434"/>
              <a:ext cx="3771900" cy="548548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lnSpc>
                  <a:spcPct val="150000"/>
                </a:lnSpc>
                <a:buFont typeface="Arial" charset="0"/>
                <a:buNone/>
                <a:defRPr/>
              </a:pPr>
              <a:r>
                <a:rPr lang="zh-CN" altLang="en-US" sz="105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扫描大树或关注（微信号：</a:t>
              </a:r>
              <a:r>
                <a:rPr lang="en-US" altLang="zh-CN" sz="105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farsight2013</a:t>
              </a:r>
              <a:r>
                <a:rPr lang="zh-CN" altLang="en-US" sz="105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）</a:t>
              </a:r>
              <a:endParaRPr lang="en-US" altLang="zh-CN" sz="105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50000"/>
                </a:lnSpc>
                <a:buFont typeface="Arial" charset="0"/>
                <a:buNone/>
                <a:defRPr/>
              </a:pPr>
              <a:r>
                <a:rPr lang="zh-CN" altLang="en-US" sz="105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第一时间获取更多华清远见课程信息。</a:t>
              </a:r>
            </a:p>
          </p:txBody>
        </p:sp>
        <p:sp>
          <p:nvSpPr>
            <p:cNvPr id="5" name="文本框 2"/>
            <p:cNvSpPr txBox="1"/>
            <p:nvPr userDrawn="1"/>
          </p:nvSpPr>
          <p:spPr>
            <a:xfrm>
              <a:off x="755576" y="2211710"/>
              <a:ext cx="5553075" cy="400110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buFont typeface="Arial" charset="0"/>
                <a:buNone/>
                <a:defRPr/>
              </a:pPr>
              <a:endPara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TextBox 8"/>
            <p:cNvSpPr txBox="1"/>
            <p:nvPr userDrawn="1"/>
          </p:nvSpPr>
          <p:spPr>
            <a:xfrm>
              <a:off x="1043608" y="1923678"/>
              <a:ext cx="2000264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6000" b="1" dirty="0">
                  <a:solidFill>
                    <a:srgbClr val="C00000"/>
                  </a:solidFill>
                  <a:latin typeface="微软雅黑" pitchFamily="34" charset="-122"/>
                  <a:ea typeface="微软雅黑" pitchFamily="34" charset="-122"/>
                </a:rPr>
                <a:t>谢 谢！</a:t>
              </a:r>
            </a:p>
          </p:txBody>
        </p:sp>
        <p:pic>
          <p:nvPicPr>
            <p:cNvPr id="11" name="Picture 2" descr="C:\Users\Administrator\Desktop\华清远见logo 副本副本.png"/>
            <p:cNvPicPr>
              <a:picLocks noChangeAspect="1" noChangeArrowheads="1"/>
            </p:cNvPicPr>
            <p:nvPr userDrawn="1"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683568" y="483518"/>
              <a:ext cx="2160240" cy="576064"/>
            </a:xfrm>
            <a:prstGeom prst="rect">
              <a:avLst/>
            </a:prstGeom>
            <a:noFill/>
          </p:spPr>
        </p:pic>
        <p:pic>
          <p:nvPicPr>
            <p:cNvPr id="17" name="图片 10" descr="ppt内页模板图.jpg"/>
            <p:cNvPicPr>
              <a:picLocks noChangeAspect="1" noChangeArrowheads="1"/>
            </p:cNvPicPr>
            <p:nvPr userDrawn="1"/>
          </p:nvPicPr>
          <p:blipFill>
            <a:blip r:embed="rId5" cstate="print"/>
            <a:srcRect l="6525" t="91431" r="76123"/>
            <a:stretch>
              <a:fillRect/>
            </a:stretch>
          </p:blipFill>
          <p:spPr bwMode="auto">
            <a:xfrm>
              <a:off x="4211961" y="4702175"/>
              <a:ext cx="1872484" cy="4413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22" name="图片 10" descr="ppt内页模板图.jpg"/>
            <p:cNvPicPr>
              <a:picLocks noChangeAspect="1" noChangeArrowheads="1"/>
            </p:cNvPicPr>
            <p:nvPr userDrawn="1"/>
          </p:nvPicPr>
          <p:blipFill>
            <a:blip r:embed="rId5" cstate="print"/>
            <a:srcRect l="6525" t="91431" r="76123"/>
            <a:stretch>
              <a:fillRect/>
            </a:stretch>
          </p:blipFill>
          <p:spPr bwMode="auto">
            <a:xfrm>
              <a:off x="4932040" y="4731990"/>
              <a:ext cx="1799781" cy="36931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20" name="图片 10" descr="ppt内页模板图.jpg"/>
            <p:cNvPicPr>
              <a:picLocks noChangeAspect="1" noChangeArrowheads="1"/>
            </p:cNvPicPr>
            <p:nvPr userDrawn="1"/>
          </p:nvPicPr>
          <p:blipFill>
            <a:blip r:embed="rId5" cstate="print"/>
            <a:srcRect l="6525" t="91431" r="76123"/>
            <a:stretch>
              <a:fillRect/>
            </a:stretch>
          </p:blipFill>
          <p:spPr bwMode="auto">
            <a:xfrm>
              <a:off x="2123728" y="4731990"/>
              <a:ext cx="1799781" cy="36931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21" name="图片 10" descr="ppt内页模板图.jpg"/>
            <p:cNvPicPr>
              <a:picLocks noChangeAspect="1" noChangeArrowheads="1"/>
            </p:cNvPicPr>
            <p:nvPr userDrawn="1"/>
          </p:nvPicPr>
          <p:blipFill>
            <a:blip r:embed="rId5" cstate="print"/>
            <a:srcRect l="6525" t="91431" r="76123"/>
            <a:stretch>
              <a:fillRect/>
            </a:stretch>
          </p:blipFill>
          <p:spPr bwMode="auto">
            <a:xfrm>
              <a:off x="2484187" y="4731990"/>
              <a:ext cx="1799781" cy="36931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9" name="TextBox 18"/>
            <p:cNvSpPr txBox="1"/>
            <p:nvPr userDrawn="1"/>
          </p:nvSpPr>
          <p:spPr bwMode="auto">
            <a:xfrm>
              <a:off x="2195736" y="4752305"/>
              <a:ext cx="2663825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buFont typeface="Arial" pitchFamily="34" charset="0"/>
                <a:buNone/>
                <a:defRPr/>
              </a:pPr>
              <a:r>
                <a:rPr lang="zh-CN" altLang="en-US" sz="1400" b="1" kern="1200" spc="200" baseline="0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华清远见教育集团</a:t>
              </a:r>
            </a:p>
          </p:txBody>
        </p:sp>
        <p:sp>
          <p:nvSpPr>
            <p:cNvPr id="18" name="TextBox 17"/>
            <p:cNvSpPr txBox="1"/>
            <p:nvPr userDrawn="1"/>
          </p:nvSpPr>
          <p:spPr bwMode="auto">
            <a:xfrm>
              <a:off x="4572695" y="4752305"/>
              <a:ext cx="2663825" cy="323165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buFont typeface="Arial" pitchFamily="34" charset="0"/>
                <a:buNone/>
                <a:defRPr/>
              </a:pPr>
              <a:r>
                <a:rPr lang="en-US" altLang="zh-CN" sz="1500" b="1" kern="1500" spc="100" dirty="0">
                  <a:solidFill>
                    <a:schemeClr val="bg1"/>
                  </a:solidFill>
                  <a:latin typeface="Arial" pitchFamily="34" charset="0"/>
                </a:rPr>
                <a:t>www.embedu.org</a:t>
              </a:r>
              <a:endParaRPr lang="zh-CN" altLang="en-US" sz="1500" b="1" kern="1500" spc="100" dirty="0">
                <a:solidFill>
                  <a:schemeClr val="bg1"/>
                </a:solidFill>
                <a:latin typeface="Arial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9637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1910" y="1885950"/>
            <a:ext cx="6686549" cy="1697086"/>
          </a:xfrm>
        </p:spPr>
        <p:txBody>
          <a:bodyPr anchor="b">
            <a:normAutofit/>
          </a:bodyPr>
          <a:lstStyle>
            <a:lvl1pPr>
              <a:defRPr sz="405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1910" y="3583035"/>
            <a:ext cx="6686549" cy="844712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141A5-8890-45B3-A24F-8B61CCEF2D34}" type="datetimeFigureOut">
              <a:rPr lang="zh-CN" altLang="en-US" smtClean="0"/>
              <a:pPr/>
              <a:t>2024/4/9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3242858"/>
            <a:ext cx="1308489" cy="583942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3397155"/>
            <a:ext cx="584825" cy="273844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03010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4694" y="468082"/>
            <a:ext cx="6683765" cy="96066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1909" y="1600200"/>
            <a:ext cx="6686550" cy="283321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1922696"/>
      </p:ext>
    </p:extLst>
  </p:cSld>
  <p:clrMapOvr>
    <a:masterClrMapping/>
  </p:clrMapOvr>
  <p:hf hd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1544063"/>
            <a:ext cx="6686549" cy="1101600"/>
          </a:xfrm>
        </p:spPr>
        <p:txBody>
          <a:bodyPr anchor="b"/>
          <a:lstStyle>
            <a:lvl1pPr algn="l">
              <a:defRPr sz="30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1910" y="2647597"/>
            <a:ext cx="6686549" cy="645300"/>
          </a:xfrm>
        </p:spPr>
        <p:txBody>
          <a:bodyPr anchor="t"/>
          <a:lstStyle>
            <a:lvl1pPr marL="0" indent="0" algn="l">
              <a:buNone/>
              <a:defRPr sz="15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238363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2433105"/>
            <a:ext cx="584825" cy="273844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8346462"/>
      </p:ext>
    </p:extLst>
  </p:cSld>
  <p:clrMapOvr>
    <a:masterClrMapping/>
  </p:clrMapOvr>
  <p:hf hd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1909" y="1600200"/>
            <a:ext cx="3235398" cy="2833217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93060" y="1594666"/>
            <a:ext cx="3235398" cy="2833217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590837"/>
            <a:ext cx="584825" cy="273844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4568910"/>
      </p:ext>
    </p:extLst>
  </p:cSld>
  <p:clrMapOvr>
    <a:masterClrMapping/>
  </p:clrMapOvr>
  <p:hf hd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04530" y="1479527"/>
            <a:ext cx="2994549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1909" y="1911725"/>
            <a:ext cx="3257170" cy="2515545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29972" y="1477106"/>
            <a:ext cx="2999251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75218" y="1909304"/>
            <a:ext cx="3254006" cy="2515545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4/9/2024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590837"/>
            <a:ext cx="584825" cy="273844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2087703"/>
      </p:ext>
    </p:extLst>
  </p:cSld>
  <p:clrMapOvr>
    <a:masterClrMapping/>
  </p:clrMapOvr>
  <p:hf hd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4/9/2024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7233604"/>
      </p:ext>
    </p:extLst>
  </p:cSld>
  <p:clrMapOvr>
    <a:masterClrMapping/>
  </p:clrMapOvr>
  <p:hf hd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4/9/2024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760140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334566"/>
            <a:ext cx="2628899" cy="732234"/>
          </a:xfrm>
        </p:spPr>
        <p:txBody>
          <a:bodyPr anchor="b"/>
          <a:lstStyle>
            <a:lvl1pPr algn="l">
              <a:defRPr sz="15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2259" y="334567"/>
            <a:ext cx="3886200" cy="4061222"/>
          </a:xfrm>
        </p:spPr>
        <p:txBody>
          <a:bodyPr anchor="ctr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910" y="1198960"/>
            <a:ext cx="2628899" cy="319682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9980711"/>
      </p:ext>
    </p:extLst>
  </p:cSld>
  <p:clrMapOvr>
    <a:masterClrMapping/>
  </p:clrMapOvr>
  <p:hf hd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3600450"/>
            <a:ext cx="6686550" cy="425054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1909" y="476224"/>
            <a:ext cx="6686550" cy="2891228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910" y="4025504"/>
            <a:ext cx="6686550" cy="370284"/>
          </a:xfrm>
        </p:spPr>
        <p:txBody>
          <a:bodyPr>
            <a:normAutofit/>
          </a:bodyPr>
          <a:lstStyle>
            <a:lvl1pPr marL="0" indent="0">
              <a:buNone/>
              <a:defRPr sz="9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3683794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98860" y="3737316"/>
            <a:ext cx="584825" cy="273844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6785745"/>
      </p:ext>
    </p:extLst>
  </p:cSld>
  <p:clrMapOvr>
    <a:masterClrMapping/>
  </p:clrMapOvr>
  <p:hf hd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457200"/>
            <a:ext cx="6686549" cy="2337780"/>
          </a:xfrm>
        </p:spPr>
        <p:txBody>
          <a:bodyPr anchor="ctr">
            <a:normAutofit/>
          </a:bodyPr>
          <a:lstStyle>
            <a:lvl1pPr algn="l">
              <a:defRPr sz="36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1910" y="3265535"/>
            <a:ext cx="6686549" cy="1166898"/>
          </a:xfrm>
        </p:spPr>
        <p:txBody>
          <a:bodyPr anchor="ctr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238363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2433105"/>
            <a:ext cx="584825" cy="273844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7321604"/>
      </p:ext>
    </p:extLst>
  </p:cSld>
  <p:clrMapOvr>
    <a:masterClrMapping/>
  </p:clrMapOvr>
  <p:hf hd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7462" y="457200"/>
            <a:ext cx="6295445" cy="2171700"/>
          </a:xfrm>
        </p:spPr>
        <p:txBody>
          <a:bodyPr anchor="ctr">
            <a:normAutofit/>
          </a:bodyPr>
          <a:lstStyle>
            <a:lvl1pPr algn="l">
              <a:defRPr sz="36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56259" y="2628900"/>
            <a:ext cx="5652416" cy="28575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1910" y="3265535"/>
            <a:ext cx="6686549" cy="1166898"/>
          </a:xfrm>
        </p:spPr>
        <p:txBody>
          <a:bodyPr anchor="ctr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3141" y="238363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2433105"/>
            <a:ext cx="584825" cy="273844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1850739" y="48600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36139" y="2178980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02938940"/>
      </p:ext>
    </p:extLst>
  </p:cSld>
  <p:clrMapOvr>
    <a:masterClrMapping/>
  </p:clrMapOvr>
  <p:hf hd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1828800"/>
            <a:ext cx="6686550" cy="2043634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910" y="3886200"/>
            <a:ext cx="6686550" cy="547217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3683794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98860" y="3737316"/>
            <a:ext cx="584825" cy="273844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4036457"/>
      </p:ext>
    </p:extLst>
  </p:cSld>
  <p:clrMapOvr>
    <a:masterClrMapping/>
  </p:clrMapOvr>
  <p:hf hd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引言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137462" y="457200"/>
            <a:ext cx="6295445" cy="2171700"/>
          </a:xfrm>
        </p:spPr>
        <p:txBody>
          <a:bodyPr anchor="ctr">
            <a:normAutofit/>
          </a:bodyPr>
          <a:lstStyle>
            <a:lvl1pPr algn="l">
              <a:defRPr sz="36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1909" y="3257550"/>
            <a:ext cx="6686550" cy="62865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accent1"/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910" y="3886200"/>
            <a:ext cx="6686550" cy="547217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3141" y="3683794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98860" y="3737316"/>
            <a:ext cx="584825" cy="273844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1850739" y="48600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6139" y="2178980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11035128"/>
      </p:ext>
    </p:extLst>
  </p:cSld>
  <p:clrMapOvr>
    <a:masterClrMapping/>
  </p:clrMapOvr>
  <p:hf hd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真或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470555"/>
            <a:ext cx="6686549" cy="2160015"/>
          </a:xfrm>
        </p:spPr>
        <p:txBody>
          <a:bodyPr anchor="ctr">
            <a:normAutofit/>
          </a:bodyPr>
          <a:lstStyle>
            <a:lvl1pPr algn="l">
              <a:defRPr sz="36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1909" y="3257550"/>
            <a:ext cx="6686550" cy="62865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accent1"/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910" y="3886200"/>
            <a:ext cx="6686550" cy="547217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3683794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98860" y="3737316"/>
            <a:ext cx="584825" cy="273844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3095507"/>
      </p:ext>
    </p:extLst>
  </p:cSld>
  <p:clrMapOvr>
    <a:masterClrMapping/>
  </p:clrMapOvr>
  <p:hf hd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7231611"/>
      </p:ext>
    </p:extLst>
  </p:cSld>
  <p:clrMapOvr>
    <a:masterClrMapping/>
  </p:clrMapOvr>
  <p:hf hd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71109" y="470554"/>
            <a:ext cx="1655701" cy="3962863"/>
          </a:xfrm>
        </p:spPr>
        <p:txBody>
          <a:bodyPr vert="eaVert" anchor="ctr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1909" y="470554"/>
            <a:ext cx="4857750" cy="3962863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4268323"/>
      </p:ext>
    </p:extLst>
  </p:cSld>
  <p:clrMapOvr>
    <a:masterClrMapping/>
  </p:clrMapOvr>
  <p:hf hd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90872" y="411510"/>
            <a:ext cx="5997352" cy="432048"/>
          </a:xfrm>
        </p:spPr>
        <p:txBody>
          <a:bodyPr/>
          <a:lstStyle>
            <a:lvl1pPr>
              <a:defRPr lang="zh-CN" altLang="en-US" dirty="0"/>
            </a:lvl1pPr>
          </a:lstStyle>
          <a:p>
            <a:pPr lvl="0"/>
            <a:r>
              <a:rPr lang="zh-CN" altLang="en-US" dirty="0"/>
              <a:t>目录</a:t>
            </a:r>
            <a:br>
              <a:rPr lang="en-US" altLang="zh-CN" dirty="0"/>
            </a:br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0"/>
          </p:nvPr>
        </p:nvSpPr>
        <p:spPr>
          <a:xfrm>
            <a:off x="590400" y="915566"/>
            <a:ext cx="8014048" cy="3672408"/>
          </a:xfrm>
        </p:spPr>
        <p:txBody>
          <a:bodyPr/>
          <a:lstStyle>
            <a:lvl1pPr marL="720000" indent="-285750">
              <a:buFont typeface="Wingdings" charset="2"/>
              <a:buChar char="l"/>
              <a:defRPr b="1" baseline="0">
                <a:solidFill>
                  <a:srgbClr val="C00000"/>
                </a:solidFill>
                <a:ea typeface="微软雅黑" charset="-122"/>
              </a:defRPr>
            </a:lvl1pPr>
            <a:lvl5pPr marL="1371600" indent="-228600">
              <a:buFont typeface="Wingdings" charset="2"/>
              <a:buChar char="l"/>
              <a:defRPr/>
            </a:lvl5pPr>
          </a:lstStyle>
          <a:p>
            <a:pPr lvl="0"/>
            <a:endParaRPr lang="en-US" altLang="zh-CN" dirty="0"/>
          </a:p>
          <a:p>
            <a:pPr lvl="0"/>
            <a:r>
              <a:rPr lang="zh-CN" altLang="en-US" dirty="0"/>
              <a:t>单击此处编辑母版文本样式</a:t>
            </a:r>
          </a:p>
          <a:p>
            <a:pPr lvl="0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4193630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90872" y="411510"/>
            <a:ext cx="5997352" cy="432048"/>
          </a:xfrm>
        </p:spPr>
        <p:txBody>
          <a:bodyPr/>
          <a:lstStyle>
            <a:lvl1pPr>
              <a:defRPr lang="zh-CN" altLang="en-US" dirty="0"/>
            </a:lvl1pPr>
          </a:lstStyle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0"/>
          </p:nvPr>
        </p:nvSpPr>
        <p:spPr>
          <a:xfrm>
            <a:off x="590400" y="915566"/>
            <a:ext cx="8014048" cy="3672408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057831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13" Type="http://schemas.openxmlformats.org/officeDocument/2006/relationships/slideLayout" Target="../slideLayouts/slideLayout23.xml"/><Relationship Id="rId18" Type="http://schemas.openxmlformats.org/officeDocument/2006/relationships/slideLayout" Target="../slideLayouts/slideLayout28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12" Type="http://schemas.openxmlformats.org/officeDocument/2006/relationships/slideLayout" Target="../slideLayouts/slideLayout22.xml"/><Relationship Id="rId17" Type="http://schemas.openxmlformats.org/officeDocument/2006/relationships/slideLayout" Target="../slideLayouts/slideLayout27.xml"/><Relationship Id="rId2" Type="http://schemas.openxmlformats.org/officeDocument/2006/relationships/slideLayout" Target="../slideLayouts/slideLayout12.xml"/><Relationship Id="rId16" Type="http://schemas.openxmlformats.org/officeDocument/2006/relationships/slideLayout" Target="../slideLayouts/slideLayout2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5.xml"/><Relationship Id="rId15" Type="http://schemas.openxmlformats.org/officeDocument/2006/relationships/slideLayout" Target="../slideLayouts/slideLayout25.xml"/><Relationship Id="rId10" Type="http://schemas.openxmlformats.org/officeDocument/2006/relationships/slideLayout" Target="../slideLayouts/slideLayout20.xml"/><Relationship Id="rId19" Type="http://schemas.openxmlformats.org/officeDocument/2006/relationships/theme" Target="../theme/theme2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2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1">
          <a:blip r:embed="rId12" cstate="print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标题占位符 21"/>
          <p:cNvSpPr>
            <a:spLocks noGrp="1"/>
          </p:cNvSpPr>
          <p:nvPr>
            <p:ph type="title"/>
          </p:nvPr>
        </p:nvSpPr>
        <p:spPr bwMode="auto">
          <a:xfrm>
            <a:off x="590872" y="411510"/>
            <a:ext cx="5997352" cy="432048"/>
          </a:xfrm>
          <a:prstGeom prst="rect">
            <a:avLst/>
          </a:prstGeom>
        </p:spPr>
        <p:txBody>
          <a:bodyPr/>
          <a:lstStyle/>
          <a:p>
            <a:pPr marL="342900" lvl="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</a:pPr>
            <a:r>
              <a:rPr lang="zh-CN" altLang="en-US" dirty="0"/>
              <a:t>单击此处编辑母版标题样式</a:t>
            </a:r>
          </a:p>
        </p:txBody>
      </p:sp>
      <p:sp>
        <p:nvSpPr>
          <p:cNvPr id="2051" name="文本占位符 12"/>
          <p:cNvSpPr>
            <a:spLocks noGrp="1"/>
          </p:cNvSpPr>
          <p:nvPr>
            <p:ph type="body" idx="1"/>
          </p:nvPr>
        </p:nvSpPr>
        <p:spPr bwMode="auto">
          <a:xfrm>
            <a:off x="590872" y="914401"/>
            <a:ext cx="8013576" cy="36826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grpSp>
        <p:nvGrpSpPr>
          <p:cNvPr id="12" name="组合 32"/>
          <p:cNvGrpSpPr/>
          <p:nvPr/>
        </p:nvGrpSpPr>
        <p:grpSpPr>
          <a:xfrm>
            <a:off x="2123728" y="4702175"/>
            <a:ext cx="5112792" cy="399132"/>
            <a:chOff x="2123728" y="4702175"/>
            <a:chExt cx="5112792" cy="399132"/>
          </a:xfrm>
        </p:grpSpPr>
        <p:pic>
          <p:nvPicPr>
            <p:cNvPr id="14" name="图片 10" descr="ppt内页模板图.jpg"/>
            <p:cNvPicPr>
              <a:picLocks noChangeAspect="1" noChangeArrowheads="1"/>
            </p:cNvPicPr>
            <p:nvPr userDrawn="1"/>
          </p:nvPicPr>
          <p:blipFill>
            <a:blip r:embed="rId13" cstate="print"/>
            <a:srcRect l="6525" t="91431" r="76123"/>
            <a:stretch>
              <a:fillRect/>
            </a:stretch>
          </p:blipFill>
          <p:spPr bwMode="auto">
            <a:xfrm>
              <a:off x="4211961" y="4702175"/>
              <a:ext cx="1872484" cy="38985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5" name="图片 10" descr="ppt内页模板图.jpg"/>
            <p:cNvPicPr>
              <a:picLocks noChangeAspect="1" noChangeArrowheads="1"/>
            </p:cNvPicPr>
            <p:nvPr userDrawn="1"/>
          </p:nvPicPr>
          <p:blipFill>
            <a:blip r:embed="rId13" cstate="print"/>
            <a:srcRect l="6525" t="91431" r="76123"/>
            <a:stretch>
              <a:fillRect/>
            </a:stretch>
          </p:blipFill>
          <p:spPr bwMode="auto">
            <a:xfrm>
              <a:off x="4932040" y="4731990"/>
              <a:ext cx="1799781" cy="36931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6" name="图片 10" descr="ppt内页模板图.jpg"/>
            <p:cNvPicPr>
              <a:picLocks noChangeAspect="1" noChangeArrowheads="1"/>
            </p:cNvPicPr>
            <p:nvPr userDrawn="1"/>
          </p:nvPicPr>
          <p:blipFill>
            <a:blip r:embed="rId13" cstate="print"/>
            <a:srcRect l="6525" t="91431" r="76123"/>
            <a:stretch>
              <a:fillRect/>
            </a:stretch>
          </p:blipFill>
          <p:spPr bwMode="auto">
            <a:xfrm>
              <a:off x="2123728" y="4731990"/>
              <a:ext cx="1799781" cy="36931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7" name="图片 10" descr="ppt内页模板图.jpg"/>
            <p:cNvPicPr>
              <a:picLocks noChangeAspect="1" noChangeArrowheads="1"/>
            </p:cNvPicPr>
            <p:nvPr userDrawn="1"/>
          </p:nvPicPr>
          <p:blipFill>
            <a:blip r:embed="rId13" cstate="print"/>
            <a:srcRect l="6525" t="91431" r="76123"/>
            <a:stretch>
              <a:fillRect/>
            </a:stretch>
          </p:blipFill>
          <p:spPr bwMode="auto">
            <a:xfrm>
              <a:off x="2484187" y="4731990"/>
              <a:ext cx="1799781" cy="36931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8" name="TextBox 30"/>
            <p:cNvSpPr txBox="1"/>
            <p:nvPr userDrawn="1"/>
          </p:nvSpPr>
          <p:spPr bwMode="auto">
            <a:xfrm>
              <a:off x="2195736" y="4752305"/>
              <a:ext cx="2663825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buFont typeface="Arial" pitchFamily="34" charset="0"/>
                <a:buNone/>
                <a:defRPr/>
              </a:pPr>
              <a:r>
                <a:rPr lang="zh-CN" altLang="en-US" sz="1400" b="1" kern="1200" spc="200" baseline="0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华清远见教育集团</a:t>
              </a:r>
            </a:p>
          </p:txBody>
        </p:sp>
        <p:sp>
          <p:nvSpPr>
            <p:cNvPr id="19" name="TextBox 31"/>
            <p:cNvSpPr txBox="1"/>
            <p:nvPr userDrawn="1"/>
          </p:nvSpPr>
          <p:spPr bwMode="auto">
            <a:xfrm>
              <a:off x="4572695" y="4752305"/>
              <a:ext cx="2663825" cy="323165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buFont typeface="Arial" pitchFamily="34" charset="0"/>
                <a:buNone/>
                <a:defRPr/>
              </a:pPr>
              <a:r>
                <a:rPr lang="en-US" altLang="zh-CN" sz="1500" b="1" kern="1500" spc="100" dirty="0">
                  <a:solidFill>
                    <a:schemeClr val="bg1"/>
                  </a:solidFill>
                  <a:latin typeface="Arial" pitchFamily="34" charset="0"/>
                </a:rPr>
                <a:t>www.embedu.org</a:t>
              </a:r>
              <a:endParaRPr lang="zh-CN" altLang="en-US" sz="1500" b="1" kern="1500" spc="100" dirty="0">
                <a:solidFill>
                  <a:schemeClr val="bg1"/>
                </a:solidFill>
                <a:latin typeface="Arial" pitchFamily="34" charset="0"/>
              </a:endParaRPr>
            </a:p>
          </p:txBody>
        </p:sp>
      </p:grpSp>
      <p:pic>
        <p:nvPicPr>
          <p:cNvPr id="13" name="Picture 2" descr="C:\Users\Administrator\Desktop\华清远见logo 副本副本.png"/>
          <p:cNvPicPr>
            <a:picLocks noChangeAspect="1" noChangeArrowheads="1"/>
          </p:cNvPicPr>
          <p:nvPr userDrawn="1"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6660232" y="267494"/>
            <a:ext cx="2160240" cy="576064"/>
          </a:xfrm>
          <a:prstGeom prst="rect">
            <a:avLst/>
          </a:prstGeom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76" r:id="rId1"/>
    <p:sldLayoutId id="2147483877" r:id="rId2"/>
    <p:sldLayoutId id="2147483888" r:id="rId3"/>
    <p:sldLayoutId id="2147483882" r:id="rId4"/>
    <p:sldLayoutId id="2147483887" r:id="rId5"/>
    <p:sldLayoutId id="2147483889" r:id="rId6"/>
    <p:sldLayoutId id="2147483965" r:id="rId7"/>
    <p:sldLayoutId id="2147483966" r:id="rId8"/>
    <p:sldLayoutId id="2147483967" r:id="rId9"/>
    <p:sldLayoutId id="2147483968" r:id="rId10"/>
  </p:sldLayoutIdLst>
  <p:hf hd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lang="zh-CN" altLang="en-US" sz="2000" b="1" i="0" u="none" strike="noStrike" kern="1200" cap="none" spc="0" normalizeH="0" baseline="0" noProof="0" dirty="0" smtClean="0">
          <a:ln>
            <a:noFill/>
          </a:ln>
          <a:solidFill>
            <a:srgbClr val="C00000"/>
          </a:solidFill>
          <a:effectLst/>
          <a:uLnTx/>
          <a:uFillTx/>
          <a:latin typeface="华文细黑" pitchFamily="2" charset="-122"/>
          <a:ea typeface="微软雅黑"/>
          <a:cs typeface="+mj-cs"/>
          <a:sym typeface="Calibri" pitchFamily="34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  <a:ea typeface="宋体" pitchFamily="2" charset="-122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  <a:ea typeface="宋体" pitchFamily="2" charset="-122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  <a:ea typeface="宋体" pitchFamily="2" charset="-122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  <a:ea typeface="宋体" pitchFamily="2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  <a:ea typeface="宋体" pitchFamily="2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  <a:ea typeface="宋体" pitchFamily="2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  <a:ea typeface="宋体" pitchFamily="2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  <a:ea typeface="宋体" pitchFamily="2" charset="-122"/>
        </a:defRPr>
      </a:lvl9pPr>
    </p:titleStyle>
    <p:bodyStyle>
      <a:lvl1pPr marL="273050" indent="-273050" algn="l" rtl="0" eaLnBrk="1" fontAlgn="base" hangingPunct="1">
        <a:spcBef>
          <a:spcPts val="600"/>
        </a:spcBef>
        <a:spcAft>
          <a:spcPts val="600"/>
        </a:spcAft>
        <a:buClr>
          <a:schemeClr val="tx1"/>
        </a:buClr>
        <a:buSzPct val="76000"/>
        <a:buFont typeface="Wingdings" pitchFamily="2" charset="2"/>
        <a:buChar char=""/>
        <a:defRPr lang="zh-CN" altLang="en-US" sz="1800" kern="1200" dirty="0" smtClean="0">
          <a:solidFill>
            <a:schemeClr val="tx1"/>
          </a:solidFill>
          <a:latin typeface="宋体" pitchFamily="2" charset="-122"/>
          <a:ea typeface="宋体" pitchFamily="2" charset="-122"/>
          <a:cs typeface="+mn-cs"/>
        </a:defRPr>
      </a:lvl1pPr>
      <a:lvl2pPr marL="547688" indent="-273050" algn="l" rtl="0" eaLnBrk="1" fontAlgn="base" hangingPunct="1">
        <a:spcBef>
          <a:spcPts val="500"/>
        </a:spcBef>
        <a:spcAft>
          <a:spcPct val="0"/>
        </a:spcAft>
        <a:buClr>
          <a:schemeClr val="accent2"/>
        </a:buClr>
        <a:buSzPct val="76000"/>
        <a:buFont typeface="Wingdings 3" pitchFamily="18" charset="2"/>
        <a:buChar char=""/>
        <a:defRPr sz="1400">
          <a:solidFill>
            <a:schemeClr val="tx1"/>
          </a:solidFill>
          <a:latin typeface="+mn-lt"/>
          <a:ea typeface="+mn-ea"/>
        </a:defRPr>
      </a:lvl2pPr>
      <a:lvl3pPr marL="822325" indent="-228600" algn="l" rtl="0" eaLnBrk="1" fontAlgn="base" hangingPunct="1">
        <a:spcBef>
          <a:spcPts val="500"/>
        </a:spcBef>
        <a:spcAft>
          <a:spcPct val="0"/>
        </a:spcAft>
        <a:buClr>
          <a:srgbClr val="BCBCBC"/>
        </a:buClr>
        <a:buSzPct val="76000"/>
        <a:buFont typeface="Wingdings 3" pitchFamily="18" charset="2"/>
        <a:buChar char=""/>
        <a:defRPr sz="1200">
          <a:solidFill>
            <a:schemeClr val="tx1"/>
          </a:solidFill>
          <a:latin typeface="+mn-lt"/>
          <a:ea typeface="+mn-ea"/>
        </a:defRPr>
      </a:lvl3pPr>
      <a:lvl4pPr marL="1096963" indent="-228600" algn="l" rtl="0" eaLnBrk="1" fontAlgn="base" hangingPunct="1">
        <a:spcBef>
          <a:spcPts val="400"/>
        </a:spcBef>
        <a:spcAft>
          <a:spcPct val="0"/>
        </a:spcAft>
        <a:buClr>
          <a:srgbClr val="8BA2B4"/>
        </a:buClr>
        <a:buSzPct val="70000"/>
        <a:buFont typeface="Wingdings" pitchFamily="2" charset="2"/>
        <a:buChar char=""/>
        <a:defRPr sz="1100">
          <a:solidFill>
            <a:schemeClr val="tx1"/>
          </a:solidFill>
          <a:latin typeface="+mn-lt"/>
          <a:ea typeface="+mn-ea"/>
        </a:defRPr>
      </a:lvl4pPr>
      <a:lvl5pPr marL="1371600" indent="-228600" algn="l" rtl="0" eaLnBrk="1" fontAlgn="base" hangingPunct="1">
        <a:spcBef>
          <a:spcPts val="3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"/>
        <a:defRPr sz="900">
          <a:solidFill>
            <a:schemeClr val="tx1"/>
          </a:solidFill>
          <a:latin typeface="+mn-lt"/>
          <a:ea typeface="+mn-ea"/>
        </a:defRPr>
      </a:lvl5pPr>
      <a:lvl6pPr marL="1828800" indent="-228600" algn="l" rtl="0" eaLnBrk="1" fontAlgn="base" hangingPunct="1">
        <a:spcBef>
          <a:spcPts val="3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"/>
        <a:defRPr sz="1600">
          <a:solidFill>
            <a:schemeClr val="tx1"/>
          </a:solidFill>
          <a:latin typeface="+mn-lt"/>
          <a:ea typeface="+mn-ea"/>
        </a:defRPr>
      </a:lvl6pPr>
      <a:lvl7pPr marL="2286000" indent="-228600" algn="l" rtl="0" eaLnBrk="1" fontAlgn="base" hangingPunct="1">
        <a:spcBef>
          <a:spcPts val="3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"/>
        <a:defRPr sz="1600">
          <a:solidFill>
            <a:schemeClr val="tx1"/>
          </a:solidFill>
          <a:latin typeface="+mn-lt"/>
          <a:ea typeface="+mn-ea"/>
        </a:defRPr>
      </a:lvl7pPr>
      <a:lvl8pPr marL="2743200" indent="-228600" algn="l" rtl="0" eaLnBrk="1" fontAlgn="base" hangingPunct="1">
        <a:spcBef>
          <a:spcPts val="3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"/>
        <a:defRPr sz="1600">
          <a:solidFill>
            <a:schemeClr val="tx1"/>
          </a:solidFill>
          <a:latin typeface="+mn-lt"/>
          <a:ea typeface="+mn-ea"/>
        </a:defRPr>
      </a:lvl8pPr>
      <a:lvl9pPr marL="3200400" indent="-228600" algn="l" rtl="0" eaLnBrk="1" fontAlgn="base" hangingPunct="1">
        <a:spcBef>
          <a:spcPts val="3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"/>
        <a:defRPr sz="16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171450"/>
            <a:ext cx="2138637" cy="4978971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0416" y="-589"/>
            <a:ext cx="1767506" cy="514052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4694" y="468082"/>
            <a:ext cx="6683765" cy="96066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1909" y="1600200"/>
            <a:ext cx="6686550" cy="29146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1210" y="4597828"/>
            <a:ext cx="859712" cy="2777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4/9/2024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1910" y="4601856"/>
            <a:ext cx="571499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398860" y="590837"/>
            <a:ext cx="584825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5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pic>
        <p:nvPicPr>
          <p:cNvPr id="36" name="Picture 2" descr="C:\Users\Administrator\Desktop\华清远见logo 副本副本.png">
            <a:extLst>
              <a:ext uri="{FF2B5EF4-FFF2-40B4-BE49-F238E27FC236}">
                <a16:creationId xmlns:a16="http://schemas.microsoft.com/office/drawing/2014/main" id="{318C8696-F520-46C3-A490-35C721938A2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0" cstate="print"/>
          <a:srcRect/>
          <a:stretch>
            <a:fillRect/>
          </a:stretch>
        </p:blipFill>
        <p:spPr bwMode="auto">
          <a:xfrm>
            <a:off x="6660232" y="267494"/>
            <a:ext cx="2160240" cy="57606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5562506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12" r:id="rId1"/>
    <p:sldLayoutId id="2147484013" r:id="rId2"/>
    <p:sldLayoutId id="2147484014" r:id="rId3"/>
    <p:sldLayoutId id="2147484015" r:id="rId4"/>
    <p:sldLayoutId id="2147484016" r:id="rId5"/>
    <p:sldLayoutId id="2147484017" r:id="rId6"/>
    <p:sldLayoutId id="2147484018" r:id="rId7"/>
    <p:sldLayoutId id="2147484019" r:id="rId8"/>
    <p:sldLayoutId id="2147484020" r:id="rId9"/>
    <p:sldLayoutId id="2147484021" r:id="rId10"/>
    <p:sldLayoutId id="2147484022" r:id="rId11"/>
    <p:sldLayoutId id="2147484023" r:id="rId12"/>
    <p:sldLayoutId id="2147484024" r:id="rId13"/>
    <p:sldLayoutId id="2147484025" r:id="rId14"/>
    <p:sldLayoutId id="2147484026" r:id="rId15"/>
    <p:sldLayoutId id="2147484027" r:id="rId16"/>
    <p:sldLayoutId id="2147484029" r:id="rId17"/>
    <p:sldLayoutId id="2147484030" r:id="rId18"/>
  </p:sldLayoutIdLst>
  <p:hf hdr="0" dt="0"/>
  <p:txStyles>
    <p:titleStyle>
      <a:lvl1pPr algn="l" defTabSz="342900" rtl="0" eaLnBrk="1" latinLnBrk="0" hangingPunct="1">
        <a:spcBef>
          <a:spcPct val="0"/>
        </a:spcBef>
        <a:buNone/>
        <a:defRPr sz="27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7175" indent="-257175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38C595E-286D-4A4E-BCBD-21FCF1B38D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83685" y="1762114"/>
            <a:ext cx="7644773" cy="844712"/>
          </a:xfrm>
        </p:spPr>
        <p:txBody>
          <a:bodyPr/>
          <a:lstStyle/>
          <a:p>
            <a:r>
              <a:rPr kumimoji="1" lang="zh-CN" altLang="en-US" dirty="0"/>
              <a:t>第四章  </a:t>
            </a:r>
            <a:r>
              <a:rPr kumimoji="1" lang="en-US" altLang="zh-CN" dirty="0"/>
              <a:t>ARM</a:t>
            </a:r>
            <a:r>
              <a:rPr kumimoji="1" lang="zh-CN" altLang="en-US" dirty="0"/>
              <a:t>汇编语言程序设计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6EED9EB-261E-4316-8460-5F1F4F5DF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4212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35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 GNU </a:t>
            </a:r>
            <a:r>
              <a:rPr lang="zh-CN" altLang="en-US"/>
              <a:t>伪指令集</a:t>
            </a:r>
            <a:endParaRPr lang="en-US"/>
          </a:p>
        </p:txBody>
      </p:sp>
      <p:sp>
        <p:nvSpPr>
          <p:cNvPr id="228355" name="Rectangle 3"/>
          <p:cNvSpPr>
            <a:spLocks noGrp="1" noChangeArrowheads="1"/>
          </p:cNvSpPr>
          <p:nvPr>
            <p:ph type="body" sz="quarter" idx="10"/>
          </p:nvPr>
        </p:nvSpPr>
        <p:spPr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153591" indent="-153591">
              <a:buFont typeface="Wingdings 3" pitchFamily="18" charset="2"/>
              <a:buChar char=""/>
            </a:pPr>
            <a:endParaRPr lang="zh-CN" altLang="en-US" dirty="0">
              <a:solidFill>
                <a:schemeClr val="tx1"/>
              </a:solidFill>
              <a:ea typeface="宋体" pitchFamily="2" charset="-122"/>
            </a:endParaRPr>
          </a:p>
          <a:p>
            <a:pPr marL="153591" indent="-153591">
              <a:buFont typeface="Wingdings 3" pitchFamily="18" charset="2"/>
              <a:buChar char=""/>
            </a:pPr>
            <a:r>
              <a:rPr lang="zh-CN" altLang="en-US" sz="2000" b="0" dirty="0">
                <a:solidFill>
                  <a:schemeClr val="tx1"/>
                </a:solidFill>
                <a:ea typeface="宋体" pitchFamily="2" charset="-122"/>
              </a:rPr>
              <a:t>数据定义（</a:t>
            </a:r>
            <a:r>
              <a:rPr lang="en-US" sz="2000" b="0" dirty="0">
                <a:solidFill>
                  <a:schemeClr val="tx1"/>
                </a:solidFill>
                <a:ea typeface="宋体" pitchFamily="2" charset="-122"/>
              </a:rPr>
              <a:t>Data Definition</a:t>
            </a:r>
            <a:r>
              <a:rPr lang="zh-CN" altLang="en-US" sz="2000" b="0" dirty="0">
                <a:solidFill>
                  <a:schemeClr val="tx1"/>
                </a:solidFill>
                <a:ea typeface="宋体" pitchFamily="2" charset="-122"/>
              </a:rPr>
              <a:t>）伪操作</a:t>
            </a:r>
          </a:p>
          <a:p>
            <a:pPr marL="153591" indent="-153591">
              <a:buFont typeface="Wingdings 3" pitchFamily="18" charset="2"/>
              <a:buChar char=""/>
            </a:pPr>
            <a:r>
              <a:rPr lang="zh-CN" altLang="en-US" sz="2000" b="0" dirty="0">
                <a:solidFill>
                  <a:schemeClr val="tx1"/>
                </a:solidFill>
                <a:ea typeface="宋体" pitchFamily="2" charset="-122"/>
              </a:rPr>
              <a:t>汇编控制伪操作</a:t>
            </a:r>
            <a:endParaRPr lang="en-US" sz="2000" b="0" dirty="0">
              <a:solidFill>
                <a:schemeClr val="tx1"/>
              </a:solidFill>
              <a:ea typeface="宋体" pitchFamily="2" charset="-122"/>
            </a:endParaRPr>
          </a:p>
          <a:p>
            <a:pPr marL="153591" indent="-153591">
              <a:buFont typeface="Wingdings 3" pitchFamily="18" charset="2"/>
              <a:buChar char=""/>
            </a:pPr>
            <a:r>
              <a:rPr lang="zh-CN" altLang="en-US" sz="2000" b="0" dirty="0">
                <a:solidFill>
                  <a:schemeClr val="tx1"/>
                </a:solidFill>
                <a:ea typeface="宋体" pitchFamily="2" charset="-122"/>
              </a:rPr>
              <a:t>伪指令</a:t>
            </a:r>
            <a:endParaRPr lang="en-US" sz="2000" b="0" dirty="0">
              <a:solidFill>
                <a:schemeClr val="tx1"/>
              </a:solidFill>
              <a:ea typeface="宋体" pitchFamily="2" charset="-122"/>
            </a:endParaRPr>
          </a:p>
          <a:p>
            <a:pPr marL="153591" indent="-153591">
              <a:buFont typeface="Wingdings 3" pitchFamily="18" charset="2"/>
              <a:buChar char=""/>
            </a:pPr>
            <a:r>
              <a:rPr lang="zh-CN" altLang="en-US" sz="2000" b="0" dirty="0">
                <a:solidFill>
                  <a:schemeClr val="tx1"/>
                </a:solidFill>
                <a:ea typeface="宋体" pitchFamily="2" charset="-122"/>
              </a:rPr>
              <a:t>杂项伪操作</a:t>
            </a:r>
            <a:endParaRPr lang="en-US" sz="2000" b="0" dirty="0">
              <a:solidFill>
                <a:schemeClr val="tx1"/>
              </a:solidFill>
              <a:ea typeface="宋体" pitchFamily="2" charset="-122"/>
            </a:endParaRPr>
          </a:p>
          <a:p>
            <a:pPr marL="153591" indent="-153591">
              <a:buFont typeface="Wingdings 3" pitchFamily="18" charset="2"/>
              <a:buChar char=""/>
            </a:pPr>
            <a:r>
              <a:rPr lang="en-US" sz="2000" b="0" dirty="0">
                <a:solidFill>
                  <a:schemeClr val="tx1"/>
                </a:solidFill>
                <a:ea typeface="宋体" pitchFamily="2" charset="-122"/>
              </a:rPr>
              <a:t>GNU</a:t>
            </a:r>
            <a:r>
              <a:rPr lang="zh-CN" altLang="en-US" sz="2000" b="0" dirty="0">
                <a:solidFill>
                  <a:schemeClr val="tx1"/>
                </a:solidFill>
                <a:ea typeface="宋体" pitchFamily="2" charset="-122"/>
              </a:rPr>
              <a:t>汇编书写格式</a:t>
            </a:r>
            <a:endParaRPr lang="en-US" sz="2000" b="0" dirty="0">
              <a:solidFill>
                <a:schemeClr val="tx1"/>
              </a:solidFill>
              <a:ea typeface="宋体" pitchFamily="2" charset="-122"/>
            </a:endParaRPr>
          </a:p>
        </p:txBody>
      </p:sp>
      <p:sp>
        <p:nvSpPr>
          <p:cNvPr id="228356" name="矩形 4"/>
          <p:cNvSpPr>
            <a:spLocks noChangeArrowheads="1"/>
          </p:cNvSpPr>
          <p:nvPr/>
        </p:nvSpPr>
        <p:spPr bwMode="auto">
          <a:xfrm>
            <a:off x="3929063" y="2451201"/>
            <a:ext cx="889397" cy="2482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zh-CN" altLang="zh-CN" sz="1013">
              <a:solidFill>
                <a:srgbClr val="000000"/>
              </a:solidFill>
              <a:sym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23847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40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/>
              <a:t>数据定义（</a:t>
            </a:r>
            <a:r>
              <a:rPr lang="en-US"/>
              <a:t>Data Definition</a:t>
            </a:r>
            <a:r>
              <a:rPr lang="zh-CN" altLang="en-US"/>
              <a:t>）伪操作</a:t>
            </a:r>
          </a:p>
        </p:txBody>
      </p:sp>
      <p:sp>
        <p:nvSpPr>
          <p:cNvPr id="230403" name="Rectangle 3"/>
          <p:cNvSpPr>
            <a:spLocks noGrp="1" noChangeArrowheads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lvl="1"/>
            <a:r>
              <a:rPr lang="zh-CN" altLang="en-US" sz="1600" dirty="0"/>
              <a:t>数据定义伪操作一般用于为特定的数据分配存储单元，同时可完成已分配存储单元的初始化。常见的数据定义伪操作有如下几种：</a:t>
            </a:r>
            <a:endParaRPr lang="en-US" altLang="en-US" sz="1600" dirty="0"/>
          </a:p>
          <a:p>
            <a:pPr lvl="2"/>
            <a:r>
              <a:rPr lang="en-US" altLang="en-US" sz="1600" dirty="0"/>
              <a:t>.byte     </a:t>
            </a:r>
            <a:r>
              <a:rPr lang="zh-CN" altLang="en-US" sz="1600" dirty="0"/>
              <a:t>                    单字节定义</a:t>
            </a:r>
            <a:r>
              <a:rPr lang="en-US" altLang="en-US" sz="1600" dirty="0"/>
              <a:t>                   .byte      0x12,’a’,23</a:t>
            </a:r>
            <a:endParaRPr lang="zh-CN" altLang="en-US" sz="1600" dirty="0"/>
          </a:p>
          <a:p>
            <a:pPr lvl="2"/>
            <a:r>
              <a:rPr lang="en-US" altLang="en-US" sz="1600" dirty="0"/>
              <a:t>.short    </a:t>
            </a:r>
            <a:r>
              <a:rPr lang="zh-CN" altLang="en-US" sz="1600" dirty="0"/>
              <a:t>                    定义双字节数据</a:t>
            </a:r>
            <a:r>
              <a:rPr lang="en-US" altLang="en-US" sz="1600" dirty="0"/>
              <a:t>		.short      0x1234,65535</a:t>
            </a:r>
            <a:endParaRPr lang="zh-CN" altLang="en-US" sz="1600" dirty="0"/>
          </a:p>
          <a:p>
            <a:pPr lvl="2"/>
            <a:r>
              <a:rPr lang="en-US" altLang="en-US" sz="1600" dirty="0"/>
              <a:t>.long /.word </a:t>
            </a:r>
            <a:r>
              <a:rPr lang="zh-CN" altLang="en-US" sz="1600" dirty="0"/>
              <a:t>           定义</a:t>
            </a:r>
            <a:r>
              <a:rPr lang="en-US" altLang="en-US" sz="1600" dirty="0"/>
              <a:t>4</a:t>
            </a:r>
            <a:r>
              <a:rPr lang="zh-CN" altLang="en-US" sz="1600" dirty="0"/>
              <a:t>字节数据</a:t>
            </a:r>
            <a:r>
              <a:rPr lang="en-US" altLang="en-US" sz="1600" dirty="0"/>
              <a:t>		.word     0x12345678</a:t>
            </a:r>
            <a:endParaRPr lang="zh-CN" altLang="en-US" sz="1600" dirty="0"/>
          </a:p>
          <a:p>
            <a:pPr lvl="2"/>
            <a:r>
              <a:rPr lang="en-US" altLang="en-US" sz="1600" dirty="0"/>
              <a:t>.quad       </a:t>
            </a:r>
            <a:r>
              <a:rPr lang="zh-CN" altLang="en-US" sz="1600" dirty="0"/>
              <a:t>                定义</a:t>
            </a:r>
            <a:r>
              <a:rPr lang="en-US" altLang="en-US" sz="1600" dirty="0"/>
              <a:t>8</a:t>
            </a:r>
            <a:r>
              <a:rPr lang="zh-CN" altLang="en-US" sz="1600" dirty="0"/>
              <a:t>字节</a:t>
            </a:r>
            <a:r>
              <a:rPr lang="en-US" altLang="en-US" sz="1600" dirty="0"/>
              <a:t>		      .quad    0x1234567812345678</a:t>
            </a:r>
            <a:endParaRPr lang="zh-CN" altLang="en-US" sz="1600" dirty="0"/>
          </a:p>
          <a:p>
            <a:pPr lvl="2"/>
            <a:r>
              <a:rPr lang="en-US" altLang="en-US" sz="1600" dirty="0"/>
              <a:t>.float	</a:t>
            </a:r>
            <a:r>
              <a:rPr lang="zh-CN" altLang="en-US" sz="1600" dirty="0"/>
              <a:t>                        定义浮点数</a:t>
            </a:r>
            <a:r>
              <a:rPr lang="en-US" altLang="en-US" sz="1600" dirty="0"/>
              <a:t>		      .float      0f3.2</a:t>
            </a:r>
            <a:endParaRPr lang="zh-CN" altLang="en-US" sz="1600" dirty="0"/>
          </a:p>
          <a:p>
            <a:pPr lvl="2"/>
            <a:r>
              <a:rPr lang="en-US" altLang="en-US" sz="1600" dirty="0"/>
              <a:t>.string/.</a:t>
            </a:r>
            <a:r>
              <a:rPr lang="en-US" altLang="en-US" sz="1600" dirty="0" err="1"/>
              <a:t>asciz</a:t>
            </a:r>
            <a:r>
              <a:rPr lang="en-US" altLang="en-US" sz="1600" dirty="0"/>
              <a:t>/.</a:t>
            </a:r>
            <a:r>
              <a:rPr lang="en-US" altLang="en-US" sz="1600" dirty="0" err="1"/>
              <a:t>ascii</a:t>
            </a:r>
            <a:r>
              <a:rPr lang="en-US" altLang="en-US" sz="1600" dirty="0"/>
              <a:t>   </a:t>
            </a:r>
            <a:r>
              <a:rPr lang="zh-CN" altLang="en-US" sz="1600" dirty="0"/>
              <a:t>定义字符串   </a:t>
            </a:r>
            <a:r>
              <a:rPr lang="en-US" altLang="en-US" sz="1600" dirty="0"/>
              <a:t>		.</a:t>
            </a:r>
            <a:r>
              <a:rPr lang="en-US" altLang="en-US" sz="1600" dirty="0" err="1"/>
              <a:t>ascii</a:t>
            </a:r>
            <a:r>
              <a:rPr lang="en-US" altLang="en-US" sz="1600" dirty="0"/>
              <a:t>   “</a:t>
            </a:r>
            <a:r>
              <a:rPr lang="en-US" altLang="en-US" sz="1600" dirty="0" err="1"/>
              <a:t>abcd</a:t>
            </a:r>
            <a:r>
              <a:rPr lang="en-US" altLang="en-US" sz="1600" dirty="0"/>
              <a:t>\0”</a:t>
            </a:r>
          </a:p>
          <a:p>
            <a:pPr lvl="2"/>
            <a:endParaRPr lang="zh-CN" altLang="en-US" sz="1600" dirty="0"/>
          </a:p>
          <a:p>
            <a:pPr lvl="1"/>
            <a:r>
              <a:rPr lang="zh-CN" altLang="en-US" sz="1600" dirty="0"/>
              <a:t>注意：</a:t>
            </a:r>
            <a:r>
              <a:rPr lang="en-US" altLang="en-US" sz="1600" dirty="0"/>
              <a:t>.</a:t>
            </a:r>
            <a:r>
              <a:rPr lang="en-US" altLang="en-US" sz="1600" dirty="0" err="1"/>
              <a:t>ascii</a:t>
            </a:r>
            <a:r>
              <a:rPr lang="en-US" altLang="en-US" sz="1600" dirty="0"/>
              <a:t>  </a:t>
            </a:r>
            <a:r>
              <a:rPr lang="zh-CN" altLang="en-US" sz="1600" dirty="0"/>
              <a:t>伪操作定义的字符串需要每行添加结尾字符</a:t>
            </a:r>
            <a:r>
              <a:rPr lang="en-US" altLang="en-US" sz="1600" dirty="0"/>
              <a:t>‘\0‘</a:t>
            </a:r>
            <a:r>
              <a:rPr lang="zh-CN" altLang="en-US" sz="1600" dirty="0"/>
              <a:t>，其他不需要</a:t>
            </a:r>
            <a:endParaRPr lang="en-US" altLang="en-US" sz="1600" dirty="0"/>
          </a:p>
        </p:txBody>
      </p:sp>
    </p:spTree>
    <p:extLst>
      <p:ext uri="{BB962C8B-B14F-4D97-AF65-F5344CB8AC3E}">
        <p14:creationId xmlns:p14="http://schemas.microsoft.com/office/powerpoint/2010/main" val="6671621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426" name="标题 1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/>
              <a:t>汇编控制伪操作</a:t>
            </a:r>
            <a:endParaRPr lang="zh-CN"/>
          </a:p>
        </p:txBody>
      </p:sp>
      <p:sp>
        <p:nvSpPr>
          <p:cNvPr id="231427" name="内容占位符 2"/>
          <p:cNvSpPr>
            <a:spLocks noGrp="1" noChangeArrowheads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zh-CN" altLang="en-US" sz="1600" dirty="0"/>
              <a:t>汇编控制伪操作用于控制汇编程序的执行流程，常用的汇编控制伪操作包括以下几条：</a:t>
            </a:r>
            <a:endParaRPr lang="en-US" sz="1600" dirty="0"/>
          </a:p>
          <a:p>
            <a:pPr lvl="1"/>
            <a:r>
              <a:rPr lang="zh-CN" altLang="en-US" sz="1600" dirty="0"/>
              <a:t>.if、</a:t>
            </a:r>
            <a:r>
              <a:rPr lang="en-US" sz="1600" dirty="0"/>
              <a:t>.else</a:t>
            </a:r>
            <a:r>
              <a:rPr lang="zh-CN" altLang="en-US" sz="1600" dirty="0"/>
              <a:t>   </a:t>
            </a:r>
            <a:r>
              <a:rPr lang="en-US" sz="1600" dirty="0"/>
              <a:t>.</a:t>
            </a:r>
            <a:r>
              <a:rPr lang="en-US" sz="1600" dirty="0" err="1"/>
              <a:t>endif</a:t>
            </a:r>
            <a:r>
              <a:rPr lang="zh-CN" altLang="en-US" sz="1600" dirty="0"/>
              <a:t>伪操作能根据条件的成立与否决定是否执行某个指令序列。</a:t>
            </a:r>
            <a:endParaRPr lang="en-US" altLang="zh-CN" sz="1600" dirty="0"/>
          </a:p>
          <a:p>
            <a:pPr marL="342900" lvl="1" indent="0">
              <a:buNone/>
            </a:pPr>
            <a:r>
              <a:rPr lang="zh-CN" altLang="en-US" sz="1600" dirty="0"/>
              <a:t>    当</a:t>
            </a:r>
            <a:r>
              <a:rPr lang="en-US" sz="1600" dirty="0"/>
              <a:t>.if</a:t>
            </a:r>
            <a:r>
              <a:rPr lang="zh-CN" altLang="en-US" sz="1600" dirty="0"/>
              <a:t>后面的逻辑表达式为真，则执行</a:t>
            </a:r>
            <a:r>
              <a:rPr lang="en-US" sz="1600" dirty="0"/>
              <a:t>.if</a:t>
            </a:r>
            <a:r>
              <a:rPr lang="zh-CN" altLang="en-US" sz="1600" dirty="0"/>
              <a:t>后的指令序列，否则执行</a:t>
            </a:r>
            <a:r>
              <a:rPr lang="en-US" sz="1600" dirty="0"/>
              <a:t>.else</a:t>
            </a:r>
            <a:r>
              <a:rPr lang="zh-CN" altLang="en-US" sz="1600" dirty="0"/>
              <a:t>后的指令序列；</a:t>
            </a:r>
            <a:r>
              <a:rPr lang="en-US" sz="1600" dirty="0"/>
              <a:t> .if</a:t>
            </a:r>
            <a:r>
              <a:rPr lang="zh-CN" altLang="en-US" sz="1600" dirty="0"/>
              <a:t>、</a:t>
            </a:r>
            <a:r>
              <a:rPr lang="en-US" sz="1600" dirty="0"/>
              <a:t>.else</a:t>
            </a:r>
            <a:r>
              <a:rPr lang="zh-CN" altLang="en-US" sz="1600" dirty="0"/>
              <a:t>、</a:t>
            </a:r>
            <a:r>
              <a:rPr lang="en-US" sz="1600" dirty="0"/>
              <a:t>.</a:t>
            </a:r>
            <a:r>
              <a:rPr lang="en-US" sz="1600" dirty="0" err="1"/>
              <a:t>endif</a:t>
            </a:r>
            <a:r>
              <a:rPr lang="zh-CN" altLang="en-US" sz="1600" dirty="0"/>
              <a:t>伪指令可以嵌套使用。</a:t>
            </a:r>
            <a:endParaRPr lang="en-US" sz="1600" dirty="0"/>
          </a:p>
          <a:p>
            <a:pPr lvl="1"/>
            <a:r>
              <a:rPr lang="zh-CN" altLang="en-US" sz="1600" dirty="0"/>
              <a:t>语法格式：</a:t>
            </a:r>
            <a:endParaRPr lang="en-US" altLang="zh-CN" sz="1600" dirty="0"/>
          </a:p>
          <a:p>
            <a:pPr lvl="1"/>
            <a:r>
              <a:rPr lang="zh-CN" altLang="en-US" sz="1600" dirty="0"/>
              <a:t>    </a:t>
            </a:r>
            <a:r>
              <a:rPr lang="en-US" sz="1600" dirty="0"/>
              <a:t> .if  logical-expressing</a:t>
            </a:r>
            <a:endParaRPr lang="zh-CN" altLang="en-US" sz="1600" dirty="0"/>
          </a:p>
          <a:p>
            <a:pPr lvl="2"/>
            <a:r>
              <a:rPr lang="en-US" sz="1600" dirty="0"/>
              <a:t>…</a:t>
            </a:r>
            <a:endParaRPr lang="zh-CN" altLang="en-US" sz="1600" dirty="0"/>
          </a:p>
          <a:p>
            <a:pPr lvl="2"/>
            <a:r>
              <a:rPr lang="en-US" sz="1600" dirty="0"/>
              <a:t>.else</a:t>
            </a:r>
            <a:endParaRPr lang="zh-CN" altLang="en-US" sz="1600" dirty="0"/>
          </a:p>
          <a:p>
            <a:pPr lvl="2"/>
            <a:r>
              <a:rPr lang="en-US" sz="1600" dirty="0"/>
              <a:t>…</a:t>
            </a:r>
            <a:endParaRPr lang="zh-CN" altLang="en-US" sz="1600" dirty="0"/>
          </a:p>
          <a:p>
            <a:pPr lvl="2"/>
            <a:r>
              <a:rPr lang="en-US" sz="1600" dirty="0"/>
              <a:t>.</a:t>
            </a:r>
            <a:r>
              <a:rPr lang="en-US" sz="1600" dirty="0" err="1"/>
              <a:t>endif</a:t>
            </a:r>
            <a:endParaRPr lang="zh-CN" altLang="en-US" sz="1600" dirty="0"/>
          </a:p>
        </p:txBody>
      </p:sp>
    </p:spTree>
    <p:extLst>
      <p:ext uri="{BB962C8B-B14F-4D97-AF65-F5344CB8AC3E}">
        <p14:creationId xmlns:p14="http://schemas.microsoft.com/office/powerpoint/2010/main" val="9815962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450" name="标题 1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/>
              <a:t>汇编控制伪操作</a:t>
            </a:r>
          </a:p>
        </p:txBody>
      </p:sp>
      <p:sp>
        <p:nvSpPr>
          <p:cNvPr id="232451" name="内容占位符 2"/>
          <p:cNvSpPr>
            <a:spLocks noGrp="1" noChangeArrowheads="1"/>
          </p:cNvSpPr>
          <p:nvPr>
            <p:ph type="body" sz="quarter" idx="10"/>
          </p:nvPr>
        </p:nvSpPr>
        <p:spPr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lvl="1"/>
            <a:r>
              <a:rPr lang="en-US" sz="1600" dirty="0"/>
              <a:t>.macro</a:t>
            </a:r>
            <a:r>
              <a:rPr lang="zh-CN" altLang="en-US" sz="1600" dirty="0"/>
              <a:t>，</a:t>
            </a:r>
            <a:r>
              <a:rPr lang="en-US" sz="1600" dirty="0"/>
              <a:t>.</a:t>
            </a:r>
            <a:r>
              <a:rPr lang="en-US" sz="1600" dirty="0" err="1"/>
              <a:t>endm</a:t>
            </a:r>
            <a:endParaRPr lang="en-US" sz="1600" dirty="0"/>
          </a:p>
          <a:p>
            <a:pPr marL="342900" lvl="1" indent="0">
              <a:buNone/>
            </a:pPr>
            <a:r>
              <a:rPr lang="en-US" sz="1600" dirty="0"/>
              <a:t>    macro</a:t>
            </a:r>
            <a:r>
              <a:rPr lang="zh-CN" altLang="en-US" sz="1600" dirty="0"/>
              <a:t>伪操作可以将一段代码定义为一个整体，称为宏指令，然后就可以在程序中通过宏指令多次调用该段代码。其中，</a:t>
            </a:r>
            <a:r>
              <a:rPr lang="en-US" sz="1600" dirty="0"/>
              <a:t>$</a:t>
            </a:r>
            <a:r>
              <a:rPr lang="zh-CN" altLang="en-US" sz="1600" dirty="0"/>
              <a:t>标号在宏指令被展开时，标号会被替换为用户定义的符号。宏操作可以使用一个或多个参数，当宏操作被展开时，这些参数被相应的值替换。宏操作的使用方式和功能与子程序有些相似，子程序可以提供模块化的程序设计、节省存储空间并提高运行速度。但在使用子程序结构时需要保护现场，从而增加了系统的开销，因此，在代码较短且需要传递的参数较多时，可以使用宏操作代替子程序</a:t>
            </a:r>
          </a:p>
          <a:p>
            <a:pPr lvl="1"/>
            <a:r>
              <a:rPr lang="zh-CN" altLang="en-US" sz="1600" dirty="0"/>
              <a:t>语法格式：</a:t>
            </a:r>
            <a:endParaRPr lang="en-US" sz="1600" dirty="0"/>
          </a:p>
          <a:p>
            <a:pPr lvl="2"/>
            <a:r>
              <a:rPr lang="en-US" sz="1600" dirty="0"/>
              <a:t> .macro       </a:t>
            </a:r>
            <a:r>
              <a:rPr lang="en-US" sz="1600" dirty="0" err="1"/>
              <a:t>macroname</a:t>
            </a:r>
            <a:r>
              <a:rPr lang="en-US" sz="1600" dirty="0"/>
              <a:t> {$parameter{,$parameter}…}</a:t>
            </a:r>
            <a:endParaRPr lang="zh-CN" altLang="en-US" sz="1600" dirty="0"/>
          </a:p>
          <a:p>
            <a:pPr lvl="2"/>
            <a:r>
              <a:rPr lang="en-US" sz="1600" dirty="0"/>
              <a:t> ……..code</a:t>
            </a:r>
            <a:endParaRPr lang="zh-CN" altLang="en-US" sz="1600" dirty="0"/>
          </a:p>
          <a:p>
            <a:pPr lvl="2"/>
            <a:r>
              <a:rPr lang="en-US" sz="1600" dirty="0"/>
              <a:t> .</a:t>
            </a:r>
            <a:r>
              <a:rPr lang="en-US" sz="1600" dirty="0" err="1"/>
              <a:t>endm</a:t>
            </a:r>
            <a:endParaRPr lang="zh-CN" altLang="en-US" sz="1600" dirty="0"/>
          </a:p>
        </p:txBody>
      </p:sp>
    </p:spTree>
    <p:extLst>
      <p:ext uri="{BB962C8B-B14F-4D97-AF65-F5344CB8AC3E}">
        <p14:creationId xmlns:p14="http://schemas.microsoft.com/office/powerpoint/2010/main" val="7186126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474" name="标题 1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/>
              <a:t>伪指令</a:t>
            </a:r>
          </a:p>
        </p:txBody>
      </p:sp>
      <p:sp>
        <p:nvSpPr>
          <p:cNvPr id="233475" name="内容占位符 2"/>
          <p:cNvSpPr>
            <a:spLocks noGrp="1" noChangeArrowheads="1"/>
          </p:cNvSpPr>
          <p:nvPr>
            <p:ph type="body" sz="quarter" idx="10"/>
          </p:nvPr>
        </p:nvSpPr>
        <p:spPr/>
        <p:txBody>
          <a:bodyPr/>
          <a:lstStyle/>
          <a:p>
            <a:pPr lvl="1"/>
            <a:r>
              <a:rPr lang="en-US" dirty="0"/>
              <a:t>ADR</a:t>
            </a:r>
            <a:r>
              <a:rPr lang="zh-CN" altLang="en-US" dirty="0"/>
              <a:t>伪指令 ：</a:t>
            </a:r>
            <a:r>
              <a:rPr lang="en-US" dirty="0"/>
              <a:t>ADR</a:t>
            </a:r>
            <a:r>
              <a:rPr lang="zh-CN" altLang="en-US" dirty="0"/>
              <a:t>伪指令为小范围地址读取伪指令，</a:t>
            </a:r>
            <a:r>
              <a:rPr lang="en-US" dirty="0"/>
              <a:t>ADR</a:t>
            </a:r>
            <a:r>
              <a:rPr lang="zh-CN" altLang="en-US" dirty="0"/>
              <a:t>伪指令将基于</a:t>
            </a:r>
            <a:r>
              <a:rPr lang="en-US" dirty="0"/>
              <a:t>PC</a:t>
            </a:r>
            <a:r>
              <a:rPr lang="zh-CN" altLang="en-US" dirty="0"/>
              <a:t>相对偏移地址或基于寄存器相对偏移地址值读取到寄存器中，当地址值是字节对齐时，取值范围为</a:t>
            </a:r>
            <a:r>
              <a:rPr lang="en-US" dirty="0"/>
              <a:t>−255</a:t>
            </a:r>
            <a:r>
              <a:rPr lang="en-US" altLang="zh-CN" dirty="0"/>
              <a:t>—</a:t>
            </a:r>
            <a:r>
              <a:rPr lang="en-US" dirty="0"/>
              <a:t>255</a:t>
            </a:r>
            <a:r>
              <a:rPr lang="zh-CN" altLang="en-US" dirty="0"/>
              <a:t>，当地址值是字对齐时，取值范围为</a:t>
            </a:r>
            <a:r>
              <a:rPr lang="en-US" dirty="0"/>
              <a:t>−1020</a:t>
            </a:r>
            <a:r>
              <a:rPr lang="en-US" altLang="zh-CN" dirty="0"/>
              <a:t>—</a:t>
            </a:r>
            <a:r>
              <a:rPr lang="en-US" dirty="0"/>
              <a:t>1020</a:t>
            </a:r>
            <a:r>
              <a:rPr lang="zh-CN" altLang="en-US" dirty="0"/>
              <a:t>。</a:t>
            </a:r>
            <a:endParaRPr lang="en-US" dirty="0"/>
          </a:p>
          <a:p>
            <a:pPr marL="342900" lvl="1" indent="0">
              <a:buNone/>
            </a:pPr>
            <a:r>
              <a:rPr lang="en-US" dirty="0"/>
              <a:t>     	</a:t>
            </a:r>
            <a:r>
              <a:rPr lang="zh-CN" altLang="en-US" dirty="0"/>
              <a:t>语法格式</a:t>
            </a:r>
            <a:r>
              <a:rPr lang="en-US" dirty="0"/>
              <a:t>: ADR{</a:t>
            </a:r>
            <a:r>
              <a:rPr lang="en-US" dirty="0" err="1"/>
              <a:t>cond</a:t>
            </a:r>
            <a:r>
              <a:rPr lang="en-US" dirty="0"/>
              <a:t>}   </a:t>
            </a:r>
            <a:r>
              <a:rPr lang="en-US" dirty="0" err="1"/>
              <a:t>register,label</a:t>
            </a:r>
            <a:endParaRPr lang="en-US" dirty="0"/>
          </a:p>
          <a:p>
            <a:pPr marL="342900" lvl="1" indent="0">
              <a:buNone/>
            </a:pPr>
            <a:r>
              <a:rPr lang="en-US" dirty="0"/>
              <a:t>			 ADR      R0,  </a:t>
            </a:r>
            <a:r>
              <a:rPr lang="en-US" dirty="0" err="1"/>
              <a:t>lable</a:t>
            </a:r>
            <a:endParaRPr lang="en-US" dirty="0"/>
          </a:p>
          <a:p>
            <a:pPr lvl="1"/>
            <a:r>
              <a:rPr lang="en-US" dirty="0"/>
              <a:t>ADRL</a:t>
            </a:r>
            <a:r>
              <a:rPr lang="zh-CN" altLang="en-US" dirty="0"/>
              <a:t>伪指令：</a:t>
            </a:r>
            <a:r>
              <a:rPr lang="en-US" dirty="0"/>
              <a:t> ADRL</a:t>
            </a:r>
            <a:r>
              <a:rPr lang="zh-CN" altLang="en-US" dirty="0"/>
              <a:t>伪指令为中等范围地址读取伪指令。</a:t>
            </a:r>
            <a:r>
              <a:rPr lang="en-US" dirty="0"/>
              <a:t>ADRL</a:t>
            </a:r>
            <a:r>
              <a:rPr lang="zh-CN" altLang="en-US" dirty="0"/>
              <a:t>伪指令将基于</a:t>
            </a:r>
            <a:r>
              <a:rPr lang="en-US" dirty="0"/>
              <a:t>PC</a:t>
            </a:r>
            <a:r>
              <a:rPr lang="zh-CN" altLang="en-US" dirty="0"/>
              <a:t>相对偏移的地址或基于寄存器相对偏移的地址值读取到寄存器中，当地址值是字节对齐时，取值范围为</a:t>
            </a:r>
            <a:r>
              <a:rPr lang="en-US" dirty="0"/>
              <a:t>−64</a:t>
            </a:r>
            <a:r>
              <a:rPr lang="en-US" altLang="zh-CN" dirty="0"/>
              <a:t>—</a:t>
            </a:r>
            <a:r>
              <a:rPr lang="en-US" dirty="0"/>
              <a:t>64KB</a:t>
            </a:r>
            <a:r>
              <a:rPr lang="zh-CN" altLang="en-US" dirty="0"/>
              <a:t>；当地址值是字对齐时，取值范围为</a:t>
            </a:r>
            <a:r>
              <a:rPr lang="en-US" dirty="0"/>
              <a:t>−256</a:t>
            </a:r>
            <a:r>
              <a:rPr lang="en-US" altLang="zh-CN" dirty="0"/>
              <a:t>—</a:t>
            </a:r>
            <a:r>
              <a:rPr lang="en-US" dirty="0"/>
              <a:t>256KB</a:t>
            </a:r>
            <a:r>
              <a:rPr lang="zh-CN" altLang="en-US" dirty="0"/>
              <a:t>，</a:t>
            </a:r>
            <a:endParaRPr lang="en-US" dirty="0"/>
          </a:p>
          <a:p>
            <a:pPr marL="342900" lvl="1" indent="0">
              <a:buNone/>
            </a:pPr>
            <a:r>
              <a:rPr lang="en-US" dirty="0"/>
              <a:t>	</a:t>
            </a:r>
            <a:r>
              <a:rPr lang="zh-CN" altLang="en-US" dirty="0"/>
              <a:t>语法格式：</a:t>
            </a:r>
            <a:r>
              <a:rPr lang="en-US" dirty="0"/>
              <a:t> ADRL{</a:t>
            </a:r>
            <a:r>
              <a:rPr lang="en-US" dirty="0" err="1"/>
              <a:t>cond</a:t>
            </a:r>
            <a:r>
              <a:rPr lang="en-US" dirty="0"/>
              <a:t>}  </a:t>
            </a:r>
            <a:r>
              <a:rPr lang="en-US" dirty="0" err="1"/>
              <a:t>register,label</a:t>
            </a:r>
            <a:endParaRPr lang="en-US" dirty="0"/>
          </a:p>
          <a:p>
            <a:pPr marL="342900" lvl="1" indent="0">
              <a:buNone/>
            </a:pPr>
            <a:r>
              <a:rPr lang="en-US" dirty="0"/>
              <a:t>      		           ADRL        R0</a:t>
            </a:r>
            <a:r>
              <a:rPr lang="zh-CN" altLang="en-US" dirty="0"/>
              <a:t>，</a:t>
            </a:r>
            <a:r>
              <a:rPr lang="en-US" dirty="0" err="1"/>
              <a:t>lable</a:t>
            </a:r>
            <a:endParaRPr lang="en-US" dirty="0"/>
          </a:p>
          <a:p>
            <a:pPr lvl="1"/>
            <a:r>
              <a:rPr lang="en-US" dirty="0"/>
              <a:t>LDR</a:t>
            </a:r>
            <a:r>
              <a:rPr lang="zh-CN" altLang="en-US" dirty="0"/>
              <a:t>伪指令:</a:t>
            </a:r>
            <a:r>
              <a:rPr lang="en-US" dirty="0"/>
              <a:t> LDR</a:t>
            </a:r>
            <a:r>
              <a:rPr lang="zh-CN" altLang="en-US" dirty="0"/>
              <a:t>伪指令装载一个</a:t>
            </a:r>
            <a:r>
              <a:rPr lang="en-US" dirty="0"/>
              <a:t>32</a:t>
            </a:r>
            <a:r>
              <a:rPr lang="zh-CN" altLang="en-US" dirty="0"/>
              <a:t>位的常数和一个地址到寄存器。</a:t>
            </a:r>
            <a:endParaRPr lang="en-US" altLang="zh-CN" dirty="0"/>
          </a:p>
          <a:p>
            <a:pPr marL="342900" lvl="1" indent="0">
              <a:buNone/>
            </a:pPr>
            <a:r>
              <a:rPr lang="en-US" dirty="0"/>
              <a:t>     LDR{</a:t>
            </a:r>
            <a:r>
              <a:rPr lang="en-US" dirty="0" err="1"/>
              <a:t>cond</a:t>
            </a:r>
            <a:r>
              <a:rPr lang="en-US" dirty="0"/>
              <a:t>}  register,=[</a:t>
            </a:r>
            <a:r>
              <a:rPr lang="en-US" dirty="0" err="1"/>
              <a:t>expr|label-expr</a:t>
            </a:r>
            <a:r>
              <a:rPr lang="en-US" dirty="0"/>
              <a:t>]</a:t>
            </a:r>
          </a:p>
          <a:p>
            <a:pPr marL="342900" lvl="1" indent="0">
              <a:buNone/>
            </a:pPr>
            <a:r>
              <a:rPr lang="en-US" dirty="0"/>
              <a:t>	</a:t>
            </a:r>
            <a:r>
              <a:rPr lang="zh-CN" altLang="en-US" dirty="0"/>
              <a:t>语法格式：</a:t>
            </a:r>
            <a:r>
              <a:rPr lang="en-US" dirty="0"/>
              <a:t>LDR    R0</a:t>
            </a:r>
            <a:r>
              <a:rPr lang="zh-CN" altLang="en-US" dirty="0"/>
              <a:t>，</a:t>
            </a:r>
            <a:r>
              <a:rPr lang="en-US" dirty="0"/>
              <a:t>=0XFFFF0000</a:t>
            </a:r>
            <a:endParaRPr lang="zh-CN" altLang="en-US" dirty="0"/>
          </a:p>
          <a:p>
            <a:pPr lvl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42568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498" name="标题 1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/>
              <a:t>杂项伪操作</a:t>
            </a:r>
          </a:p>
        </p:txBody>
      </p:sp>
      <p:sp>
        <p:nvSpPr>
          <p:cNvPr id="234499" name="内容占位符 2"/>
          <p:cNvSpPr>
            <a:spLocks noGrp="1" noChangeArrowheads="1"/>
          </p:cNvSpPr>
          <p:nvPr>
            <p:ph type="body" sz="quarter" idx="10"/>
          </p:nvPr>
        </p:nvSpPr>
        <p:spPr/>
        <p:txBody>
          <a:bodyPr/>
          <a:lstStyle/>
          <a:p>
            <a:pPr lvl="2"/>
            <a:r>
              <a:rPr lang="en-US" dirty="0"/>
              <a:t>.arm           .arm          	              </a:t>
            </a:r>
            <a:r>
              <a:rPr lang="zh-CN" altLang="en-US" dirty="0"/>
              <a:t>定义一下代码使用</a:t>
            </a:r>
            <a:r>
              <a:rPr lang="en-US" dirty="0"/>
              <a:t>ARM</a:t>
            </a:r>
            <a:r>
              <a:rPr lang="zh-CN" altLang="en-US" dirty="0"/>
              <a:t>指令集编译</a:t>
            </a:r>
          </a:p>
          <a:p>
            <a:pPr lvl="2"/>
            <a:r>
              <a:rPr lang="en-US" dirty="0"/>
              <a:t>.thumb      .thumb                   </a:t>
            </a:r>
            <a:r>
              <a:rPr lang="zh-CN" altLang="en-US" dirty="0"/>
              <a:t>      定义一下代码使用</a:t>
            </a:r>
            <a:r>
              <a:rPr lang="en-US" dirty="0"/>
              <a:t>Thumb</a:t>
            </a:r>
            <a:r>
              <a:rPr lang="zh-CN" altLang="en-US" dirty="0"/>
              <a:t>指令集编译</a:t>
            </a:r>
          </a:p>
          <a:p>
            <a:pPr lvl="2"/>
            <a:r>
              <a:rPr lang="en-US" dirty="0"/>
              <a:t>.section     .section     expr	    </a:t>
            </a:r>
            <a:r>
              <a:rPr lang="zh-CN" altLang="en-US" dirty="0"/>
              <a:t>定义一个段。</a:t>
            </a:r>
            <a:r>
              <a:rPr lang="en-US" dirty="0"/>
              <a:t>expr</a:t>
            </a:r>
            <a:r>
              <a:rPr lang="zh-CN" altLang="en-US" dirty="0"/>
              <a:t>可以使</a:t>
            </a:r>
            <a:r>
              <a:rPr lang="en-US" dirty="0"/>
              <a:t>.text   .data.   .</a:t>
            </a:r>
            <a:r>
              <a:rPr lang="en-US" dirty="0" err="1"/>
              <a:t>bss</a:t>
            </a:r>
            <a:endParaRPr lang="zh-CN" altLang="en-US" dirty="0"/>
          </a:p>
          <a:p>
            <a:pPr lvl="2"/>
            <a:r>
              <a:rPr lang="en-US" dirty="0"/>
              <a:t>.text           .text {subsection}  </a:t>
            </a:r>
            <a:r>
              <a:rPr lang="zh-CN" altLang="en-US" dirty="0"/>
              <a:t>       </a:t>
            </a:r>
            <a:r>
              <a:rPr lang="en-US" dirty="0"/>
              <a:t> </a:t>
            </a:r>
            <a:r>
              <a:rPr lang="zh-CN" altLang="en-US" dirty="0"/>
              <a:t>将定义符开始的代码编译到代码段</a:t>
            </a:r>
          </a:p>
          <a:p>
            <a:pPr lvl="2"/>
            <a:r>
              <a:rPr lang="en-US" dirty="0"/>
              <a:t>.data        .data {subsection}   </a:t>
            </a:r>
            <a:r>
              <a:rPr lang="zh-CN" altLang="en-US" dirty="0"/>
              <a:t>     将定义符开始的代码编译到数据段</a:t>
            </a:r>
            <a:r>
              <a:rPr lang="en-US" dirty="0"/>
              <a:t>,</a:t>
            </a:r>
            <a:r>
              <a:rPr lang="zh-CN" altLang="en-US" dirty="0"/>
              <a:t>初始化数据段</a:t>
            </a:r>
          </a:p>
          <a:p>
            <a:pPr lvl="2"/>
            <a:r>
              <a:rPr lang="en-US" dirty="0"/>
              <a:t>.</a:t>
            </a:r>
            <a:r>
              <a:rPr lang="en-US" dirty="0" err="1"/>
              <a:t>bss</a:t>
            </a:r>
            <a:r>
              <a:rPr lang="en-US" dirty="0"/>
              <a:t>           .</a:t>
            </a:r>
            <a:r>
              <a:rPr lang="en-US" dirty="0" err="1"/>
              <a:t>bss</a:t>
            </a:r>
            <a:r>
              <a:rPr lang="en-US" dirty="0"/>
              <a:t> {subsection}    </a:t>
            </a:r>
            <a:r>
              <a:rPr lang="zh-CN" altLang="en-US" dirty="0"/>
              <a:t>      </a:t>
            </a:r>
            <a:r>
              <a:rPr lang="en-US" dirty="0"/>
              <a:t> </a:t>
            </a:r>
            <a:r>
              <a:rPr lang="zh-CN" altLang="en-US" dirty="0"/>
              <a:t>将变量存放到</a:t>
            </a:r>
            <a:r>
              <a:rPr lang="en-US" dirty="0"/>
              <a:t>.</a:t>
            </a:r>
            <a:r>
              <a:rPr lang="en-US" dirty="0" err="1"/>
              <a:t>bss</a:t>
            </a:r>
            <a:r>
              <a:rPr lang="zh-CN" altLang="en-US" dirty="0"/>
              <a:t>段</a:t>
            </a:r>
            <a:r>
              <a:rPr lang="en-US" dirty="0"/>
              <a:t>,</a:t>
            </a:r>
            <a:r>
              <a:rPr lang="zh-CN" altLang="en-US" dirty="0"/>
              <a:t>未初始化数据段</a:t>
            </a:r>
          </a:p>
          <a:p>
            <a:pPr lvl="2"/>
            <a:r>
              <a:rPr lang="en-US" dirty="0"/>
              <a:t>.align       .align{alignment}{,fill}{,max}  </a:t>
            </a:r>
            <a:r>
              <a:rPr lang="zh-CN" altLang="en-US" dirty="0"/>
              <a:t>通过用零或指定的数据进行填充来使当前位置与指定边界对齐</a:t>
            </a:r>
          </a:p>
          <a:p>
            <a:pPr lvl="2"/>
            <a:r>
              <a:rPr lang="en-US" dirty="0"/>
              <a:t>.org          .org offset{,expr}    </a:t>
            </a:r>
            <a:r>
              <a:rPr lang="zh-CN" altLang="en-US" dirty="0"/>
              <a:t>      指定从当前地址加上</a:t>
            </a:r>
            <a:r>
              <a:rPr lang="en-US" dirty="0"/>
              <a:t>offset</a:t>
            </a:r>
            <a:r>
              <a:rPr lang="zh-CN" altLang="en-US" dirty="0"/>
              <a:t>开始存放代码，并且从当前地址到当前地址加上</a:t>
            </a:r>
            <a:endParaRPr lang="en-US" altLang="zh-CN" dirty="0"/>
          </a:p>
          <a:p>
            <a:pPr lvl="2"/>
            <a:r>
              <a:rPr lang="zh-CN" altLang="en-US" dirty="0"/>
              <a:t>                                                      </a:t>
            </a:r>
            <a:r>
              <a:rPr lang="en-US" dirty="0"/>
              <a:t>offset</a:t>
            </a:r>
            <a:r>
              <a:rPr lang="zh-CN" altLang="en-US" dirty="0"/>
              <a:t>之间的内存单元，用零或指定的数据进行填充</a:t>
            </a:r>
            <a:endParaRPr lang="en-US" dirty="0"/>
          </a:p>
          <a:p>
            <a:pPr lvl="2"/>
            <a:r>
              <a:rPr lang="en-US" dirty="0"/>
              <a:t>_start   </a:t>
            </a:r>
            <a:r>
              <a:rPr lang="zh-CN" altLang="en-US" dirty="0"/>
              <a:t>汇编程序的缺省入口是</a:t>
            </a:r>
            <a:r>
              <a:rPr lang="en-US" dirty="0"/>
              <a:t>_</a:t>
            </a:r>
            <a:r>
              <a:rPr lang="zh-CN" altLang="en-US" dirty="0"/>
              <a:t> </a:t>
            </a:r>
            <a:r>
              <a:rPr lang="en-US" dirty="0"/>
              <a:t>start</a:t>
            </a:r>
            <a:r>
              <a:rPr lang="zh-CN" altLang="en-US" dirty="0"/>
              <a:t>标号</a:t>
            </a:r>
            <a:r>
              <a:rPr lang="en-US" dirty="0"/>
              <a:t>,</a:t>
            </a:r>
            <a:r>
              <a:rPr lang="zh-CN" altLang="en-US" dirty="0"/>
              <a:t>用户也可以在连接脚本文件中用</a:t>
            </a:r>
            <a:r>
              <a:rPr lang="en-US" dirty="0"/>
              <a:t>ENTRY</a:t>
            </a:r>
            <a:r>
              <a:rPr lang="zh-CN" altLang="en-US" dirty="0"/>
              <a:t>标志指明其它入口点</a:t>
            </a:r>
            <a:r>
              <a:rPr lang="en-US" dirty="0"/>
              <a:t>.</a:t>
            </a:r>
            <a:endParaRPr lang="zh-CN" altLang="en-US" dirty="0"/>
          </a:p>
          <a:p>
            <a:pPr lvl="2"/>
            <a:r>
              <a:rPr lang="en-US" dirty="0"/>
              <a:t>.glob</a:t>
            </a:r>
            <a:r>
              <a:rPr lang="en-US" altLang="zh-CN" dirty="0"/>
              <a:t>a</a:t>
            </a:r>
            <a:r>
              <a:rPr lang="en-US" dirty="0"/>
              <a:t>l          .global ：</a:t>
            </a:r>
            <a:r>
              <a:rPr lang="zh-CN" altLang="en-US" dirty="0"/>
              <a:t>用来声明一个全局的符号</a:t>
            </a:r>
            <a:endParaRPr lang="en-US" dirty="0"/>
          </a:p>
          <a:p>
            <a:pPr lvl="2"/>
            <a:r>
              <a:rPr lang="en-US" dirty="0"/>
              <a:t>.end       </a:t>
            </a:r>
            <a:r>
              <a:rPr lang="zh-CN" altLang="en-US" dirty="0"/>
              <a:t>文件结束</a:t>
            </a:r>
          </a:p>
          <a:p>
            <a:pPr lvl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342151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标题 1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/>
              <a:t>杂项伪操作</a:t>
            </a:r>
          </a:p>
        </p:txBody>
      </p:sp>
      <p:sp>
        <p:nvSpPr>
          <p:cNvPr id="235523" name="内容占位符 2"/>
          <p:cNvSpPr>
            <a:spLocks noGrp="1" noChangeArrowheads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lvl="1"/>
            <a:r>
              <a:rPr lang="en-US" sz="1600" dirty="0"/>
              <a:t>.include </a:t>
            </a:r>
            <a:r>
              <a:rPr lang="zh-CN" altLang="en-US" sz="1600" dirty="0"/>
              <a:t>格式：</a:t>
            </a:r>
            <a:r>
              <a:rPr lang="en-US" sz="1600" dirty="0"/>
              <a:t>.include “filename” </a:t>
            </a:r>
          </a:p>
          <a:p>
            <a:pPr marL="342900" lvl="1" indent="0">
              <a:buNone/>
            </a:pPr>
            <a:r>
              <a:rPr lang="en-US" altLang="zh-CN" sz="1600" dirty="0"/>
              <a:t>     </a:t>
            </a:r>
            <a:r>
              <a:rPr lang="zh-CN" altLang="en-US" sz="1600" dirty="0"/>
              <a:t>包含指定的头文件</a:t>
            </a:r>
            <a:r>
              <a:rPr lang="en-US" sz="1600" dirty="0"/>
              <a:t>, </a:t>
            </a:r>
            <a:r>
              <a:rPr lang="zh-CN" altLang="en-US" sz="1600" dirty="0"/>
              <a:t>可以把一个汇编常量定义放在头文件中</a:t>
            </a:r>
            <a:endParaRPr lang="en-US" sz="1600" dirty="0"/>
          </a:p>
          <a:p>
            <a:pPr lvl="1"/>
            <a:r>
              <a:rPr lang="en-US" sz="1600" dirty="0"/>
              <a:t>.</a:t>
            </a:r>
            <a:r>
              <a:rPr lang="en-US" sz="1600" dirty="0" err="1"/>
              <a:t>equ</a:t>
            </a:r>
            <a:r>
              <a:rPr lang="en-US" sz="1600" dirty="0"/>
              <a:t>    </a:t>
            </a:r>
            <a:r>
              <a:rPr lang="zh-CN" altLang="en-US" sz="1600" dirty="0"/>
              <a:t>格式：</a:t>
            </a:r>
            <a:r>
              <a:rPr lang="en-US" sz="1600" dirty="0"/>
              <a:t>.</a:t>
            </a:r>
            <a:r>
              <a:rPr lang="en-US" sz="1600" dirty="0" err="1"/>
              <a:t>equ</a:t>
            </a:r>
            <a:r>
              <a:rPr lang="en-US" sz="1600" dirty="0"/>
              <a:t>    symbol,    expression</a:t>
            </a:r>
            <a:endParaRPr lang="zh-CN" altLang="en-US" sz="1600" dirty="0"/>
          </a:p>
          <a:p>
            <a:pPr marL="342900" lvl="1" indent="0">
              <a:buNone/>
            </a:pPr>
            <a:r>
              <a:rPr lang="zh-CN" altLang="en-US" sz="1600" dirty="0"/>
              <a:t>     把某一个符号</a:t>
            </a:r>
            <a:r>
              <a:rPr lang="en-US" sz="1600" dirty="0"/>
              <a:t>(symbol)</a:t>
            </a:r>
            <a:r>
              <a:rPr lang="zh-CN" altLang="en-US" sz="1600" dirty="0"/>
              <a:t>定义成某一个值</a:t>
            </a:r>
            <a:r>
              <a:rPr lang="en-US" sz="1600" dirty="0"/>
              <a:t>(expression).</a:t>
            </a:r>
          </a:p>
          <a:p>
            <a:pPr marL="342900" lvl="1" indent="0">
              <a:buNone/>
            </a:pPr>
            <a:r>
              <a:rPr lang="en-US" altLang="zh-CN" sz="1600" dirty="0"/>
              <a:t>     </a:t>
            </a:r>
            <a:r>
              <a:rPr lang="zh-CN" altLang="en-US" sz="1600" dirty="0"/>
              <a:t>该指令并不分配空间</a:t>
            </a:r>
            <a:r>
              <a:rPr lang="en-US" sz="1600" dirty="0"/>
              <a:t>.(c</a:t>
            </a:r>
            <a:r>
              <a:rPr lang="zh-CN" altLang="en-US" sz="1600" dirty="0"/>
              <a:t>语言的 </a:t>
            </a:r>
            <a:r>
              <a:rPr lang="en-US" sz="1600" dirty="0"/>
              <a:t>#define)</a:t>
            </a:r>
            <a:endParaRPr lang="zh-CN" altLang="en-US" sz="1600" dirty="0"/>
          </a:p>
        </p:txBody>
      </p:sp>
    </p:spTree>
    <p:extLst>
      <p:ext uri="{BB962C8B-B14F-4D97-AF65-F5344CB8AC3E}">
        <p14:creationId xmlns:p14="http://schemas.microsoft.com/office/powerpoint/2010/main" val="11014693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546" name="标题 1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GNU</a:t>
            </a:r>
            <a:r>
              <a:rPr lang="zh-CN" altLang="en-US"/>
              <a:t>汇编书写格式</a:t>
            </a:r>
          </a:p>
        </p:txBody>
      </p:sp>
      <p:sp>
        <p:nvSpPr>
          <p:cNvPr id="236547" name="内容占位符 2"/>
          <p:cNvSpPr>
            <a:spLocks noGrp="1" noChangeArrowheads="1"/>
          </p:cNvSpPr>
          <p:nvPr>
            <p:ph type="body" sz="quarter" idx="10"/>
          </p:nvPr>
        </p:nvSpPr>
        <p:spPr>
          <a:xfrm>
            <a:off x="590400" y="915566"/>
            <a:ext cx="7437984" cy="3672408"/>
          </a:xfrm>
        </p:spPr>
        <p:txBody>
          <a:bodyPr>
            <a:normAutofit/>
          </a:bodyPr>
          <a:lstStyle/>
          <a:p>
            <a:pPr lvl="1"/>
            <a:r>
              <a:rPr lang="zh-CN" altLang="en-US" sz="1600" dirty="0"/>
              <a:t>代码行中的注释符号</a:t>
            </a:r>
            <a:r>
              <a:rPr lang="en-US" sz="1600" dirty="0"/>
              <a:t>: ‘@’</a:t>
            </a:r>
            <a:br>
              <a:rPr lang="zh-CN" altLang="en-US" sz="1600" dirty="0"/>
            </a:br>
            <a:r>
              <a:rPr lang="zh-CN" altLang="en-US" sz="1600" dirty="0"/>
              <a:t>整行注释符号</a:t>
            </a:r>
            <a:r>
              <a:rPr lang="en-US" sz="1600" dirty="0"/>
              <a:t>: ‘#’</a:t>
            </a:r>
            <a:br>
              <a:rPr lang="zh-CN" altLang="en-US" sz="1600" dirty="0"/>
            </a:br>
            <a:r>
              <a:rPr lang="zh-CN" altLang="en-US" sz="1600" dirty="0"/>
              <a:t>语句分离符号</a:t>
            </a:r>
            <a:r>
              <a:rPr lang="en-US" sz="1600" dirty="0"/>
              <a:t>: ‘;’</a:t>
            </a:r>
            <a:br>
              <a:rPr lang="zh-CN" altLang="en-US" sz="1600" dirty="0"/>
            </a:br>
            <a:r>
              <a:rPr lang="zh-CN" altLang="en-US" sz="1600" dirty="0"/>
              <a:t>直接操作数前缀</a:t>
            </a:r>
            <a:r>
              <a:rPr lang="en-US" sz="1600" dirty="0"/>
              <a:t>: ‘#’ </a:t>
            </a:r>
            <a:r>
              <a:rPr lang="zh-CN" altLang="en-US" sz="1600" dirty="0"/>
              <a:t>或 </a:t>
            </a:r>
            <a:r>
              <a:rPr lang="en-US" altLang="zh-CN" sz="1600" dirty="0"/>
              <a:t>‘</a:t>
            </a:r>
            <a:r>
              <a:rPr lang="en-US" sz="1600" dirty="0"/>
              <a:t>$’</a:t>
            </a:r>
            <a:endParaRPr lang="zh-CN" altLang="en-US" sz="1600" dirty="0"/>
          </a:p>
          <a:p>
            <a:pPr marL="342900" lvl="1" indent="0">
              <a:buNone/>
            </a:pPr>
            <a:endParaRPr lang="en-US" altLang="zh-CN" sz="1600" dirty="0"/>
          </a:p>
          <a:p>
            <a:pPr lvl="1" algn="just"/>
            <a:r>
              <a:rPr lang="zh-CN" altLang="en-US" sz="1600" dirty="0"/>
              <a:t>标号：标号只能由</a:t>
            </a:r>
            <a:r>
              <a:rPr lang="en-US" altLang="zh-CN" sz="1600" dirty="0"/>
              <a:t>a-z, A-Z, 0-9, “.”, _</a:t>
            </a:r>
            <a:r>
              <a:rPr lang="zh-CN" altLang="en-US" sz="1600" dirty="0"/>
              <a:t>等（由点、字母、数字、下划线等组成，除局部标号外，不能以数字开头）字符组成。</a:t>
            </a:r>
            <a:endParaRPr lang="en-US" altLang="zh-CN" sz="1600" dirty="0"/>
          </a:p>
          <a:p>
            <a:pPr lvl="1" algn="just"/>
            <a:endParaRPr lang="en-US" sz="1600" dirty="0"/>
          </a:p>
          <a:p>
            <a:pPr lvl="1" algn="just"/>
            <a:r>
              <a:rPr lang="zh-CN" altLang="en-US" sz="1600" dirty="0"/>
              <a:t>局部标号：局部标号</a:t>
            </a:r>
            <a:r>
              <a:rPr lang="en-US" altLang="zh-CN" sz="1600" dirty="0" err="1"/>
              <a:t>主要在局部范围内使用</a:t>
            </a:r>
            <a:r>
              <a:rPr lang="zh-CN" altLang="en-US" sz="1600" dirty="0"/>
              <a:t>，</a:t>
            </a:r>
            <a:r>
              <a:rPr lang="en-US" altLang="zh-CN" sz="1600" dirty="0" err="1"/>
              <a:t>而且局部标号可以重复出现。它由两部组成</a:t>
            </a:r>
            <a:r>
              <a:rPr lang="zh-CN" altLang="en-US" sz="1600" dirty="0"/>
              <a:t>：</a:t>
            </a:r>
            <a:r>
              <a:rPr lang="en-US" altLang="zh-CN" sz="1600" dirty="0"/>
              <a:t>开头是一个0-99直接的数字</a:t>
            </a:r>
            <a:r>
              <a:rPr lang="zh-CN" altLang="en-US" sz="1600" dirty="0"/>
              <a:t>，后面紧接一个通常表示该局部变量作用范围的符号。</a:t>
            </a:r>
            <a:endParaRPr lang="en-US" altLang="zh-CN" sz="1600" dirty="0"/>
          </a:p>
          <a:p>
            <a:pPr lvl="1" algn="just"/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0870678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699" name="Rectangle 27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AAPCS</a:t>
            </a:r>
            <a:r>
              <a:rPr lang="zh-CN" altLang="en-US" dirty="0"/>
              <a:t>（</a:t>
            </a:r>
            <a:r>
              <a:rPr lang="en-US" dirty="0"/>
              <a:t>arm/thumb</a:t>
            </a:r>
            <a:r>
              <a:rPr lang="zh-CN" altLang="en-US" dirty="0"/>
              <a:t>程序调用规范）</a:t>
            </a:r>
          </a:p>
        </p:txBody>
      </p:sp>
      <p:sp>
        <p:nvSpPr>
          <p:cNvPr id="284690" name="Rectangle 18"/>
          <p:cNvSpPr>
            <a:spLocks noChangeArrowheads="1"/>
          </p:cNvSpPr>
          <p:nvPr/>
        </p:nvSpPr>
        <p:spPr bwMode="auto">
          <a:xfrm>
            <a:off x="2085975" y="2570507"/>
            <a:ext cx="1285875" cy="33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54472" tIns="26789" rIns="54472" bIns="26789" anchor="ctr">
            <a:spAutoFit/>
          </a:bodyPr>
          <a:lstStyle/>
          <a:p>
            <a:pPr algn="r"/>
            <a:r>
              <a:rPr lang="zh-CN" altLang="en-US" sz="900" b="1">
                <a:sym typeface="Times New Roman" pitchFamily="18" charset="0"/>
              </a:rPr>
              <a:t>寄存器变量</a:t>
            </a:r>
          </a:p>
          <a:p>
            <a:pPr algn="r"/>
            <a:r>
              <a:rPr lang="zh-CN" altLang="en-US" sz="900" b="1">
                <a:sym typeface="Times New Roman" pitchFamily="18" charset="0"/>
              </a:rPr>
              <a:t>必须保护</a:t>
            </a:r>
            <a:endParaRPr lang="zh-CN" altLang="en-US" sz="1013"/>
          </a:p>
        </p:txBody>
      </p:sp>
      <p:sp>
        <p:nvSpPr>
          <p:cNvPr id="284691" name="Rectangle 19"/>
          <p:cNvSpPr>
            <a:spLocks noChangeArrowheads="1"/>
          </p:cNvSpPr>
          <p:nvPr/>
        </p:nvSpPr>
        <p:spPr bwMode="auto">
          <a:xfrm>
            <a:off x="2096126" y="1636961"/>
            <a:ext cx="1258759" cy="1907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51792" tIns="25897" rIns="51792" bIns="25897" anchor="ctr" anchorCtr="1">
            <a:spAutoFit/>
          </a:bodyPr>
          <a:lstStyle/>
          <a:p>
            <a:pPr algn="r"/>
            <a:r>
              <a:rPr lang="zh-CN" altLang="en-US" sz="900" b="1">
                <a:sym typeface="Times New Roman" pitchFamily="18" charset="0"/>
              </a:rPr>
              <a:t>作为函数传递的参数值</a:t>
            </a:r>
            <a:endParaRPr lang="zh-CN" altLang="en-US" sz="788" b="1">
              <a:sym typeface="Times New Roman" pitchFamily="18" charset="0"/>
            </a:endParaRPr>
          </a:p>
        </p:txBody>
      </p:sp>
      <p:sp>
        <p:nvSpPr>
          <p:cNvPr id="284692" name="Rectangle 20"/>
          <p:cNvSpPr>
            <a:spLocks noChangeArrowheads="1"/>
          </p:cNvSpPr>
          <p:nvPr/>
        </p:nvSpPr>
        <p:spPr bwMode="auto">
          <a:xfrm>
            <a:off x="2257425" y="3384894"/>
            <a:ext cx="1071563" cy="33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54472" tIns="26789" rIns="54472" bIns="26789" anchor="ctr">
            <a:spAutoFit/>
          </a:bodyPr>
          <a:lstStyle/>
          <a:p>
            <a:pPr algn="r"/>
            <a:r>
              <a:rPr lang="en-US" sz="900" b="1">
                <a:sym typeface="Times New Roman" pitchFamily="18" charset="0"/>
              </a:rPr>
              <a:t>Scratch register</a:t>
            </a:r>
            <a:endParaRPr lang="zh-CN" altLang="en-US" sz="900" b="1">
              <a:sym typeface="Times New Roman" pitchFamily="18" charset="0"/>
            </a:endParaRPr>
          </a:p>
          <a:p>
            <a:pPr algn="r"/>
            <a:r>
              <a:rPr lang="en-US" sz="900" b="1">
                <a:sym typeface="Times New Roman" pitchFamily="18" charset="0"/>
              </a:rPr>
              <a:t>(corruptible)</a:t>
            </a:r>
            <a:endParaRPr lang="zh-CN" altLang="en-US" sz="1013"/>
          </a:p>
        </p:txBody>
      </p:sp>
      <p:sp>
        <p:nvSpPr>
          <p:cNvPr id="284693" name="Rectangle 21"/>
          <p:cNvSpPr>
            <a:spLocks noChangeArrowheads="1"/>
          </p:cNvSpPr>
          <p:nvPr/>
        </p:nvSpPr>
        <p:spPr bwMode="auto">
          <a:xfrm>
            <a:off x="2257425" y="3781774"/>
            <a:ext cx="1071563" cy="46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54472" tIns="26789" rIns="54472" bIns="26789" anchor="ctr">
            <a:spAutoFit/>
          </a:bodyPr>
          <a:lstStyle/>
          <a:p>
            <a:pPr algn="r"/>
            <a:r>
              <a:rPr lang="en-US" sz="900" b="1">
                <a:sym typeface="Times New Roman" pitchFamily="18" charset="0"/>
              </a:rPr>
              <a:t>Stack Pointer</a:t>
            </a:r>
            <a:br>
              <a:rPr lang="zh-CN" altLang="en-US" sz="900" b="1">
                <a:sym typeface="Times New Roman" pitchFamily="18" charset="0"/>
              </a:rPr>
            </a:br>
            <a:r>
              <a:rPr lang="en-US" sz="900" b="1">
                <a:sym typeface="Times New Roman" pitchFamily="18" charset="0"/>
              </a:rPr>
              <a:t>Link Register</a:t>
            </a:r>
            <a:endParaRPr lang="zh-CN" altLang="en-US" sz="900" b="1">
              <a:sym typeface="Times New Roman" pitchFamily="18" charset="0"/>
            </a:endParaRPr>
          </a:p>
          <a:p>
            <a:pPr algn="r"/>
            <a:r>
              <a:rPr lang="en-US" sz="900" b="1">
                <a:sym typeface="Times New Roman" pitchFamily="18" charset="0"/>
              </a:rPr>
              <a:t>Program Counter</a:t>
            </a:r>
            <a:endParaRPr lang="zh-CN" altLang="en-US" sz="1013"/>
          </a:p>
        </p:txBody>
      </p:sp>
      <p:sp>
        <p:nvSpPr>
          <p:cNvPr id="284694" name="Rectangle 22"/>
          <p:cNvSpPr>
            <a:spLocks noChangeArrowheads="1"/>
          </p:cNvSpPr>
          <p:nvPr/>
        </p:nvSpPr>
        <p:spPr bwMode="auto">
          <a:xfrm>
            <a:off x="4271964" y="1371600"/>
            <a:ext cx="2673548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51792" tIns="25897" rIns="51792" bIns="25897"/>
          <a:lstStyle/>
          <a:p>
            <a:pPr>
              <a:buClr>
                <a:schemeClr val="bg2"/>
              </a:buClr>
              <a:buFont typeface="Wingdings" pitchFamily="2" charset="2"/>
              <a:buNone/>
            </a:pPr>
            <a:r>
              <a:rPr lang="zh-CN" altLang="en-US" sz="900">
                <a:sym typeface="Times New Roman" pitchFamily="18" charset="0"/>
              </a:rPr>
              <a:t>编译器使用一套规则的来设置寄存器的用法</a:t>
            </a:r>
          </a:p>
          <a:p>
            <a:pPr lvl="1">
              <a:buClr>
                <a:schemeClr val="bg2"/>
              </a:buClr>
              <a:buFont typeface="Wingdings" pitchFamily="2" charset="2"/>
              <a:buNone/>
            </a:pPr>
            <a:r>
              <a:rPr lang="en-US" sz="900">
                <a:sym typeface="Times New Roman" pitchFamily="18" charset="0"/>
              </a:rPr>
              <a:t>ARM-Thumb Procedure Call Standard or </a:t>
            </a:r>
            <a:r>
              <a:rPr lang="en-US" sz="900" b="1">
                <a:sym typeface="Times New Roman" pitchFamily="18" charset="0"/>
              </a:rPr>
              <a:t>ATPCS</a:t>
            </a:r>
            <a:r>
              <a:rPr lang="en-US" sz="900">
                <a:sym typeface="Times New Roman" pitchFamily="18" charset="0"/>
              </a:rPr>
              <a:t> (or APCS)</a:t>
            </a:r>
            <a:endParaRPr lang="zh-CN" altLang="en-US" sz="900">
              <a:sym typeface="Times New Roman" pitchFamily="18" charset="0"/>
            </a:endParaRPr>
          </a:p>
          <a:p>
            <a:pPr>
              <a:buClr>
                <a:schemeClr val="bg2"/>
              </a:buClr>
              <a:buFont typeface="Wingdings" pitchFamily="2" charset="2"/>
              <a:buNone/>
            </a:pPr>
            <a:r>
              <a:rPr lang="en-US" sz="900">
                <a:sym typeface="Times New Roman" pitchFamily="18" charset="0"/>
              </a:rPr>
              <a:t>CPSR </a:t>
            </a:r>
            <a:r>
              <a:rPr lang="zh-CN" altLang="en-US" sz="900">
                <a:sym typeface="Times New Roman" pitchFamily="18" charset="0"/>
              </a:rPr>
              <a:t>标志位可被函数调用所破坏</a:t>
            </a:r>
            <a:endParaRPr lang="zh-CN" altLang="en-US" sz="788">
              <a:sym typeface="Times New Roman" pitchFamily="18" charset="0"/>
            </a:endParaRPr>
          </a:p>
          <a:p>
            <a:pPr>
              <a:buClr>
                <a:schemeClr val="bg2"/>
              </a:buClr>
              <a:buFont typeface="Wingdings" pitchFamily="2" charset="2"/>
              <a:buNone/>
            </a:pPr>
            <a:r>
              <a:rPr lang="zh-CN" altLang="en-US" sz="900">
                <a:sym typeface="Times New Roman" pitchFamily="18" charset="0"/>
              </a:rPr>
              <a:t>一些和编译过的代码交互工作的汇编码在接口层必须满足</a:t>
            </a:r>
            <a:r>
              <a:rPr lang="en-US" sz="900">
                <a:sym typeface="Times New Roman" pitchFamily="18" charset="0"/>
              </a:rPr>
              <a:t>ATPCS</a:t>
            </a:r>
            <a:r>
              <a:rPr lang="zh-CN" altLang="en-US" sz="900">
                <a:sym typeface="Times New Roman" pitchFamily="18" charset="0"/>
              </a:rPr>
              <a:t>的规范</a:t>
            </a:r>
            <a:endParaRPr lang="zh-CN" altLang="en-US" sz="1013"/>
          </a:p>
        </p:txBody>
      </p:sp>
      <p:sp>
        <p:nvSpPr>
          <p:cNvPr id="284696" name="Rectangle 24"/>
          <p:cNvSpPr>
            <a:spLocks noChangeArrowheads="1"/>
          </p:cNvSpPr>
          <p:nvPr/>
        </p:nvSpPr>
        <p:spPr bwMode="auto">
          <a:xfrm>
            <a:off x="4045148" y="2871787"/>
            <a:ext cx="2443163" cy="128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 sz="788" b="1">
                <a:sym typeface="Times New Roman" pitchFamily="18" charset="0"/>
              </a:rPr>
              <a:t>    - </a:t>
            </a:r>
            <a:r>
              <a:rPr lang="en-US" sz="788">
                <a:sym typeface="Times New Roman" pitchFamily="18" charset="0"/>
              </a:rPr>
              <a:t>static base </a:t>
            </a:r>
            <a:r>
              <a:rPr lang="zh-CN" altLang="en-US" sz="788" b="1">
                <a:sym typeface="Times New Roman" pitchFamily="18" charset="0"/>
              </a:rPr>
              <a:t>如果 </a:t>
            </a:r>
            <a:r>
              <a:rPr lang="en-US" sz="788" b="1">
                <a:sym typeface="Times New Roman" pitchFamily="18" charset="0"/>
              </a:rPr>
              <a:t>RWPI</a:t>
            </a:r>
            <a:r>
              <a:rPr lang="zh-CN" altLang="en-US" sz="788" b="1">
                <a:sym typeface="Times New Roman" pitchFamily="18" charset="0"/>
              </a:rPr>
              <a:t>选项有效，作为栈的基地址</a:t>
            </a:r>
            <a:endParaRPr lang="zh-CN" altLang="en-US" sz="1013"/>
          </a:p>
        </p:txBody>
      </p:sp>
      <p:sp>
        <p:nvSpPr>
          <p:cNvPr id="284697" name="Rectangle 25"/>
          <p:cNvSpPr>
            <a:spLocks noChangeArrowheads="1"/>
          </p:cNvSpPr>
          <p:nvPr/>
        </p:nvSpPr>
        <p:spPr bwMode="auto">
          <a:xfrm>
            <a:off x="4129981" y="3013770"/>
            <a:ext cx="2443163" cy="128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 sz="788" b="1">
                <a:sym typeface="Times New Roman" pitchFamily="18" charset="0"/>
              </a:rPr>
              <a:t>- </a:t>
            </a:r>
            <a:r>
              <a:rPr lang="en-US" sz="788">
                <a:sym typeface="Times New Roman" pitchFamily="18" charset="0"/>
              </a:rPr>
              <a:t>stack limit</a:t>
            </a:r>
            <a:r>
              <a:rPr lang="zh-CN" altLang="en-US" sz="788" b="1">
                <a:sym typeface="Times New Roman" pitchFamily="18" charset="0"/>
              </a:rPr>
              <a:t>如果软件堆栈检查有效，作为栈的限制值</a:t>
            </a:r>
            <a:endParaRPr lang="zh-CN" altLang="en-US" sz="1013"/>
          </a:p>
        </p:txBody>
      </p:sp>
      <p:sp>
        <p:nvSpPr>
          <p:cNvPr id="284698" name="Rectangle 26"/>
          <p:cNvSpPr>
            <a:spLocks noChangeArrowheads="1"/>
          </p:cNvSpPr>
          <p:nvPr/>
        </p:nvSpPr>
        <p:spPr bwMode="auto">
          <a:xfrm>
            <a:off x="4043362" y="3943350"/>
            <a:ext cx="2443163" cy="128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 sz="788" b="1">
                <a:sym typeface="Times New Roman" pitchFamily="18" charset="0"/>
              </a:rPr>
              <a:t>- </a:t>
            </a:r>
            <a:r>
              <a:rPr lang="zh-CN" altLang="en-US" sz="788" b="1">
                <a:sym typeface="Times New Roman" pitchFamily="18" charset="0"/>
              </a:rPr>
              <a:t>可作为临时的一个值栈一样来使用</a:t>
            </a:r>
            <a:endParaRPr lang="zh-CN" altLang="en-US" sz="1013"/>
          </a:p>
        </p:txBody>
      </p:sp>
      <p:sp>
        <p:nvSpPr>
          <p:cNvPr id="284700" name="TextBox 28"/>
          <p:cNvSpPr>
            <a:spLocks noChangeArrowheads="1"/>
          </p:cNvSpPr>
          <p:nvPr/>
        </p:nvSpPr>
        <p:spPr bwMode="auto">
          <a:xfrm>
            <a:off x="4129981" y="3134322"/>
            <a:ext cx="2250281" cy="2135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788" b="1">
                <a:sym typeface="Times New Roman" pitchFamily="18" charset="0"/>
              </a:rPr>
              <a:t>- </a:t>
            </a:r>
            <a:r>
              <a:rPr lang="en-US" sz="788">
                <a:sym typeface="Times New Roman" pitchFamily="18" charset="0"/>
              </a:rPr>
              <a:t>frame pointer</a:t>
            </a:r>
            <a:endParaRPr lang="zh-CN" altLang="en-US" sz="788">
              <a:sym typeface="Times New Roman" pitchFamily="18" charset="0"/>
            </a:endParaRPr>
          </a:p>
        </p:txBody>
      </p:sp>
      <p:sp>
        <p:nvSpPr>
          <p:cNvPr id="284701" name="TextBox 29"/>
          <p:cNvSpPr>
            <a:spLocks noChangeArrowheads="1"/>
          </p:cNvSpPr>
          <p:nvPr/>
        </p:nvSpPr>
        <p:spPr bwMode="auto">
          <a:xfrm>
            <a:off x="4129981" y="3455790"/>
            <a:ext cx="2089547" cy="2135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788" b="1">
                <a:sym typeface="Times New Roman" pitchFamily="18" charset="0"/>
              </a:rPr>
              <a:t>- intra-procedure-call scratch register</a:t>
            </a:r>
            <a:endParaRPr lang="zh-CN" altLang="en-US" sz="788" b="1">
              <a:sym typeface="Times New Roman" pitchFamily="18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4466" y="1071562"/>
            <a:ext cx="5533408" cy="3358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3068005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2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ATPCS</a:t>
            </a:r>
            <a:r>
              <a:rPr lang="zh-CN" altLang="en-US" dirty="0"/>
              <a:t>参数传递</a:t>
            </a:r>
          </a:p>
        </p:txBody>
      </p:sp>
      <p:sp>
        <p:nvSpPr>
          <p:cNvPr id="286723" name="Rectangle 3"/>
          <p:cNvSpPr>
            <a:spLocks noGrp="1" noChangeArrowheads="1"/>
          </p:cNvSpPr>
          <p:nvPr>
            <p:ph type="body" sz="quarter" idx="10"/>
          </p:nvPr>
        </p:nvSpPr>
        <p:spPr/>
        <p:txBody>
          <a:bodyPr/>
          <a:lstStyle/>
          <a:p>
            <a:pPr lvl="1"/>
            <a:endParaRPr lang="en-US" altLang="zh-CN" dirty="0"/>
          </a:p>
          <a:p>
            <a:pPr lvl="1"/>
            <a:r>
              <a:rPr lang="zh-CN" altLang="en-US" dirty="0"/>
              <a:t>开始四个字大小的参数直接使用寄存器的</a:t>
            </a:r>
            <a:r>
              <a:rPr lang="en-US" dirty="0"/>
              <a:t>R0-R3</a:t>
            </a:r>
            <a:r>
              <a:rPr lang="zh-CN" altLang="en-US" dirty="0"/>
              <a:t>来传递</a:t>
            </a:r>
            <a:r>
              <a:rPr lang="en-US" dirty="0"/>
              <a:t>(</a:t>
            </a:r>
            <a:r>
              <a:rPr lang="zh-CN" altLang="en-US" dirty="0"/>
              <a:t>快速且高效的</a:t>
            </a:r>
            <a:r>
              <a:rPr lang="en-US" dirty="0"/>
              <a:t>),</a:t>
            </a:r>
            <a:r>
              <a:rPr lang="zh-CN" altLang="en-US" dirty="0"/>
              <a:t>更多的信息可参看</a:t>
            </a:r>
            <a:r>
              <a:rPr lang="en-US" dirty="0"/>
              <a:t>ATPCS</a:t>
            </a:r>
            <a:endParaRPr lang="zh-CN" altLang="en-US" dirty="0"/>
          </a:p>
          <a:p>
            <a:pPr lvl="1"/>
            <a:r>
              <a:rPr lang="zh-CN" altLang="en-US" dirty="0"/>
              <a:t>如果需要更多的参数，将使用堆栈。</a:t>
            </a:r>
            <a:r>
              <a:rPr lang="en-US" dirty="0"/>
              <a:t>(</a:t>
            </a:r>
            <a:r>
              <a:rPr lang="zh-CN" altLang="en-US" dirty="0"/>
              <a:t>需要额外的指令和慢速的存储器操作</a:t>
            </a:r>
            <a:r>
              <a:rPr lang="en-US" dirty="0"/>
              <a:t>)</a:t>
            </a:r>
          </a:p>
        </p:txBody>
      </p:sp>
      <p:sp>
        <p:nvSpPr>
          <p:cNvPr id="286724" name="Text Box 4"/>
          <p:cNvSpPr>
            <a:spLocks noChangeArrowheads="1"/>
          </p:cNvSpPr>
          <p:nvPr/>
        </p:nvSpPr>
        <p:spPr bwMode="auto">
          <a:xfrm>
            <a:off x="6165951" y="3826833"/>
            <a:ext cx="650974" cy="3348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zh-CN" sz="788" b="1">
                <a:sym typeface="Times New Roman" pitchFamily="18" charset="0"/>
              </a:rPr>
              <a:t>Example...</a:t>
            </a:r>
            <a:endParaRPr lang="zh-CN" altLang="zh-CN" sz="1013"/>
          </a:p>
        </p:txBody>
      </p:sp>
    </p:spTree>
    <p:extLst>
      <p:ext uri="{BB962C8B-B14F-4D97-AF65-F5344CB8AC3E}">
        <p14:creationId xmlns:p14="http://schemas.microsoft.com/office/powerpoint/2010/main" val="7169524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57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C/</a:t>
            </a:r>
            <a:r>
              <a:rPr lang="zh-CN" altLang="en-US"/>
              <a:t>汇编的混合编程</a:t>
            </a:r>
          </a:p>
        </p:txBody>
      </p:sp>
      <p:sp>
        <p:nvSpPr>
          <p:cNvPr id="280579" name="Rectangle 3"/>
          <p:cNvSpPr>
            <a:spLocks noGrp="1" noChangeArrowheads="1"/>
          </p:cNvSpPr>
          <p:nvPr>
            <p:ph type="body" sz="quarter" idx="10"/>
          </p:nvPr>
        </p:nvSpPr>
        <p:spPr>
          <a:xfrm>
            <a:off x="899592" y="1059582"/>
            <a:ext cx="6409184" cy="3346232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153591" indent="-153591">
              <a:buFont typeface="Wingdings 3" pitchFamily="18" charset="2"/>
              <a:buChar char=""/>
            </a:pPr>
            <a:r>
              <a:rPr lang="zh-CN" altLang="en-US" b="0" dirty="0">
                <a:solidFill>
                  <a:schemeClr val="tx1"/>
                </a:solidFill>
                <a:ea typeface="宋体" pitchFamily="2" charset="-122"/>
              </a:rPr>
              <a:t>混合编程的优势</a:t>
            </a:r>
            <a:endParaRPr lang="en-US" b="0" dirty="0">
              <a:solidFill>
                <a:schemeClr val="tx1"/>
              </a:solidFill>
              <a:ea typeface="宋体" pitchFamily="2" charset="-122"/>
            </a:endParaRPr>
          </a:p>
          <a:p>
            <a:pPr marL="153591" indent="-153591">
              <a:buFont typeface="Wingdings 3" pitchFamily="18" charset="2"/>
              <a:buChar char=""/>
            </a:pPr>
            <a:r>
              <a:rPr lang="en-US" b="0" dirty="0">
                <a:solidFill>
                  <a:schemeClr val="tx1"/>
                </a:solidFill>
                <a:ea typeface="宋体" pitchFamily="2" charset="-122"/>
              </a:rPr>
              <a:t>ATPCS</a:t>
            </a:r>
            <a:r>
              <a:rPr lang="zh-CN" altLang="en-US" b="0" dirty="0">
                <a:solidFill>
                  <a:schemeClr val="tx1"/>
                </a:solidFill>
                <a:ea typeface="宋体" pitchFamily="2" charset="-122"/>
              </a:rPr>
              <a:t>标准寄存器用名</a:t>
            </a:r>
            <a:endParaRPr lang="en-US" b="0" dirty="0">
              <a:solidFill>
                <a:schemeClr val="tx1"/>
              </a:solidFill>
              <a:ea typeface="宋体" pitchFamily="2" charset="-122"/>
            </a:endParaRPr>
          </a:p>
          <a:p>
            <a:pPr marL="153591" indent="-153591">
              <a:buFont typeface="Wingdings 3" pitchFamily="18" charset="2"/>
              <a:buChar char=""/>
            </a:pPr>
            <a:r>
              <a:rPr lang="en-US" b="0" dirty="0">
                <a:solidFill>
                  <a:schemeClr val="tx1"/>
                </a:solidFill>
                <a:ea typeface="宋体" pitchFamily="2" charset="-122"/>
              </a:rPr>
              <a:t>GCC </a:t>
            </a:r>
            <a:r>
              <a:rPr lang="zh-CN" altLang="en-US" b="0" dirty="0">
                <a:solidFill>
                  <a:schemeClr val="tx1"/>
                </a:solidFill>
                <a:ea typeface="宋体" pitchFamily="2" charset="-122"/>
              </a:rPr>
              <a:t>内联汇编</a:t>
            </a:r>
            <a:endParaRPr lang="en-US" b="0" dirty="0">
              <a:solidFill>
                <a:schemeClr val="tx1"/>
              </a:solidFill>
              <a:ea typeface="宋体" pitchFamily="2" charset="-122"/>
            </a:endParaRPr>
          </a:p>
          <a:p>
            <a:pPr marL="153591" indent="-153591">
              <a:buFont typeface="Wingdings 3" pitchFamily="18" charset="2"/>
              <a:buChar char=""/>
            </a:pPr>
            <a:r>
              <a:rPr lang="en-US" b="0" dirty="0">
                <a:solidFill>
                  <a:schemeClr val="tx1"/>
                </a:solidFill>
                <a:ea typeface="宋体" pitchFamily="2" charset="-122"/>
              </a:rPr>
              <a:t>GCC </a:t>
            </a:r>
            <a:r>
              <a:rPr lang="zh-CN" altLang="en-US" b="0" dirty="0">
                <a:solidFill>
                  <a:schemeClr val="tx1"/>
                </a:solidFill>
                <a:ea typeface="宋体" pitchFamily="2" charset="-122"/>
              </a:rPr>
              <a:t>内联汇编语法</a:t>
            </a:r>
          </a:p>
          <a:p>
            <a:pPr marL="153591" indent="-153591">
              <a:buFont typeface="Wingdings 3" pitchFamily="18" charset="2"/>
              <a:buChar char=""/>
            </a:pPr>
            <a:endParaRPr lang="zh-CN" altLang="en-US" b="0" dirty="0">
              <a:solidFill>
                <a:schemeClr val="tx1"/>
              </a:solidFill>
              <a:ea typeface="宋体" pitchFamily="2" charset="-122"/>
            </a:endParaRPr>
          </a:p>
          <a:p>
            <a:pPr marL="153591" indent="-153591">
              <a:buFont typeface="Wingdings 3" pitchFamily="18" charset="2"/>
              <a:buChar char=""/>
            </a:pPr>
            <a:endParaRPr lang="zh-CN" altLang="en-US" b="0" dirty="0">
              <a:solidFill>
                <a:schemeClr val="tx1"/>
              </a:solidFill>
              <a:ea typeface="宋体" pitchFamily="2" charset="-122"/>
            </a:endParaRPr>
          </a:p>
          <a:p>
            <a:pPr marL="153591" indent="-153591">
              <a:buFont typeface="Wingdings 3" pitchFamily="18" charset="2"/>
              <a:buChar char=""/>
            </a:pPr>
            <a:endParaRPr lang="zh-CN" altLang="en-US" b="0" dirty="0">
              <a:solidFill>
                <a:schemeClr val="tx1"/>
              </a:solidFill>
              <a:ea typeface="宋体" pitchFamily="2" charset="-122"/>
            </a:endParaRPr>
          </a:p>
          <a:p>
            <a:pPr marL="153591" indent="-153591">
              <a:buFont typeface="Wingdings 3" pitchFamily="18" charset="2"/>
              <a:buChar char=""/>
            </a:pPr>
            <a:endParaRPr lang="zh-CN" altLang="en-US" b="0" dirty="0">
              <a:solidFill>
                <a:schemeClr val="tx1"/>
              </a:solidFill>
              <a:ea typeface="宋体" pitchFamily="2" charset="-122"/>
            </a:endParaRPr>
          </a:p>
          <a:p>
            <a:pPr marL="153591" indent="-153591">
              <a:buFont typeface="Wingdings 3" pitchFamily="18" charset="2"/>
              <a:buChar char=""/>
            </a:pPr>
            <a:endParaRPr lang="zh-CN" altLang="en-US" b="0" dirty="0">
              <a:solidFill>
                <a:schemeClr val="tx1"/>
              </a:solidFill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5797751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62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C</a:t>
            </a:r>
            <a:r>
              <a:rPr lang="zh-CN" altLang="en-US"/>
              <a:t>和汇编的混合编程优势</a:t>
            </a:r>
          </a:p>
        </p:txBody>
      </p:sp>
      <p:sp>
        <p:nvSpPr>
          <p:cNvPr id="282627" name="Rectangle 3"/>
          <p:cNvSpPr>
            <a:spLocks noGrp="1" noChangeArrowheads="1"/>
          </p:cNvSpPr>
          <p:nvPr>
            <p:ph type="body" sz="quarter" idx="10"/>
          </p:nvPr>
        </p:nvSpPr>
        <p:spPr/>
        <p:txBody>
          <a:bodyPr/>
          <a:lstStyle/>
          <a:p>
            <a:pPr lvl="1"/>
            <a:r>
              <a:rPr lang="en-US" dirty="0"/>
              <a:t>C</a:t>
            </a:r>
            <a:r>
              <a:rPr lang="zh-CN" altLang="en-US" dirty="0"/>
              <a:t>和汇编能很容易的混合</a:t>
            </a:r>
            <a:r>
              <a:rPr lang="en-US" dirty="0"/>
              <a:t>:</a:t>
            </a:r>
            <a:endParaRPr lang="zh-CN" altLang="en-US" dirty="0"/>
          </a:p>
          <a:p>
            <a:pPr marL="685800" lvl="2" indent="0">
              <a:buNone/>
            </a:pPr>
            <a:r>
              <a:rPr lang="zh-CN" altLang="en-US" dirty="0"/>
              <a:t>可实现在</a:t>
            </a:r>
            <a:r>
              <a:rPr lang="en-US" dirty="0"/>
              <a:t>c</a:t>
            </a:r>
            <a:r>
              <a:rPr lang="zh-CN" altLang="en-US" dirty="0"/>
              <a:t>中无法实现的处理器功能</a:t>
            </a:r>
          </a:p>
          <a:p>
            <a:pPr marL="685800" lvl="2" indent="0">
              <a:buNone/>
            </a:pPr>
            <a:r>
              <a:rPr lang="zh-CN" altLang="en-US" dirty="0"/>
              <a:t>使用新的或不支持的指令</a:t>
            </a:r>
          </a:p>
          <a:p>
            <a:pPr marL="685800" lvl="2" indent="0">
              <a:buNone/>
            </a:pPr>
            <a:r>
              <a:rPr lang="zh-CN" altLang="en-US" dirty="0"/>
              <a:t>产生更高效的代码</a:t>
            </a:r>
          </a:p>
          <a:p>
            <a:pPr lvl="1"/>
            <a:r>
              <a:rPr lang="zh-CN" altLang="en-US" dirty="0"/>
              <a:t>直接链接变量和程序</a:t>
            </a:r>
          </a:p>
          <a:p>
            <a:pPr marL="685800" lvl="2" indent="0">
              <a:buNone/>
            </a:pPr>
            <a:r>
              <a:rPr lang="zh-CN" altLang="en-US" dirty="0"/>
              <a:t>确定符合程序调用规范</a:t>
            </a:r>
          </a:p>
          <a:p>
            <a:pPr marL="685800" lvl="2" indent="0">
              <a:buNone/>
            </a:pPr>
            <a:r>
              <a:rPr lang="zh-CN" altLang="en-US" dirty="0"/>
              <a:t>输入</a:t>
            </a:r>
            <a:r>
              <a:rPr lang="en-US" dirty="0"/>
              <a:t>/</a:t>
            </a:r>
            <a:r>
              <a:rPr lang="zh-CN" altLang="en-US" dirty="0"/>
              <a:t>输出相关的符号</a:t>
            </a:r>
          </a:p>
          <a:p>
            <a:pPr lvl="1"/>
            <a:r>
              <a:rPr lang="zh-CN" altLang="en-US" dirty="0"/>
              <a:t>编译器也可保留内嵌汇编</a:t>
            </a:r>
          </a:p>
          <a:p>
            <a:pPr marL="685800" lvl="2" indent="0">
              <a:buNone/>
            </a:pPr>
            <a:r>
              <a:rPr lang="zh-CN" altLang="en-US" dirty="0"/>
              <a:t>大多数</a:t>
            </a:r>
            <a:r>
              <a:rPr lang="en-US" dirty="0"/>
              <a:t>arm</a:t>
            </a:r>
            <a:r>
              <a:rPr lang="zh-CN" altLang="en-US" dirty="0"/>
              <a:t>指令都可实现</a:t>
            </a:r>
          </a:p>
          <a:p>
            <a:pPr marL="685800" lvl="2" indent="0">
              <a:buNone/>
            </a:pPr>
            <a:r>
              <a:rPr lang="zh-CN" altLang="en-US" dirty="0"/>
              <a:t>内嵌汇编代码可由编译器的优化器来传递</a:t>
            </a:r>
          </a:p>
        </p:txBody>
      </p:sp>
    </p:spTree>
    <p:extLst>
      <p:ext uri="{BB962C8B-B14F-4D97-AF65-F5344CB8AC3E}">
        <p14:creationId xmlns:p14="http://schemas.microsoft.com/office/powerpoint/2010/main" val="303653577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74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/>
              <a:t>在</a:t>
            </a:r>
            <a:r>
              <a:rPr lang="en-US"/>
              <a:t>C</a:t>
            </a:r>
            <a:r>
              <a:rPr lang="zh-CN" altLang="en-US"/>
              <a:t>程序中调用汇编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342900" lvl="1" indent="0">
              <a:buNone/>
            </a:pPr>
            <a:r>
              <a:rPr lang="zh-CN" altLang="en-US"/>
              <a:t>在</a:t>
            </a:r>
            <a:r>
              <a:rPr lang="en-US" altLang="zh-CN" dirty="0"/>
              <a:t>C</a:t>
            </a:r>
            <a:r>
              <a:rPr lang="zh-CN" altLang="en-US" dirty="0"/>
              <a:t>程序中直接调用</a:t>
            </a:r>
          </a:p>
          <a:p>
            <a:pPr marL="342900" lvl="1" indent="0">
              <a:buNone/>
            </a:pPr>
            <a:r>
              <a:rPr lang="zh-CN" altLang="en-US" dirty="0"/>
              <a:t>一般的链接即可</a:t>
            </a:r>
          </a:p>
          <a:p>
            <a:endParaRPr lang="zh-CN" altLang="en-US" dirty="0"/>
          </a:p>
        </p:txBody>
      </p:sp>
      <p:sp>
        <p:nvSpPr>
          <p:cNvPr id="287750" name="Rectangle 6"/>
          <p:cNvSpPr>
            <a:spLocks noChangeArrowheads="1"/>
          </p:cNvSpPr>
          <p:nvPr/>
        </p:nvSpPr>
        <p:spPr bwMode="auto">
          <a:xfrm>
            <a:off x="2128837" y="3600450"/>
            <a:ext cx="4843463" cy="3893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51792" tIns="25897" rIns="51792" bIns="25897" anchor="ctr" anchorCtr="1"/>
          <a:lstStyle/>
          <a:p>
            <a:pPr>
              <a:buClr>
                <a:schemeClr val="bg2"/>
              </a:buClr>
              <a:buFont typeface="Wingdings" pitchFamily="2" charset="2"/>
              <a:buNone/>
            </a:pPr>
            <a:r>
              <a:rPr lang="zh-CN" altLang="en-US" sz="1013">
                <a:sym typeface="Times New Roman" pitchFamily="18" charset="0"/>
              </a:rPr>
              <a:t>这里所有的参数都是可以用寄存器来传递的，所以不需要在汇编程序中使用</a:t>
            </a:r>
            <a:r>
              <a:rPr lang="en-US" sz="1013">
                <a:sym typeface="Times New Roman" pitchFamily="18" charset="0"/>
              </a:rPr>
              <a:t>PUSH/POP</a:t>
            </a:r>
            <a:r>
              <a:rPr lang="zh-CN" altLang="en-US" sz="1013">
                <a:sym typeface="Times New Roman" pitchFamily="18" charset="0"/>
              </a:rPr>
              <a:t>来保护</a:t>
            </a:r>
            <a:endParaRPr lang="zh-CN" altLang="en-US" sz="1013"/>
          </a:p>
        </p:txBody>
      </p:sp>
      <p:sp>
        <p:nvSpPr>
          <p:cNvPr id="11" name="Rectangle 3"/>
          <p:cNvSpPr txBox="1">
            <a:spLocks noChangeArrowheads="1"/>
          </p:cNvSpPr>
          <p:nvPr/>
        </p:nvSpPr>
        <p:spPr bwMode="auto">
          <a:xfrm>
            <a:off x="1187624" y="1059582"/>
            <a:ext cx="6117431" cy="714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 rtl="0" eaLnBrk="1" fontAlgn="base" hangingPunct="1"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SzPct val="76000"/>
              <a:buFont typeface="Wingdings" pitchFamily="2" charset="2"/>
              <a:buNone/>
              <a:defRPr lang="zh-CN" altLang="en-US" sz="1800" kern="1200">
                <a:solidFill>
                  <a:schemeClr val="tx1"/>
                </a:solidFill>
                <a:latin typeface="宋体" pitchFamily="2" charset="-122"/>
                <a:ea typeface="宋体" pitchFamily="2" charset="-122"/>
                <a:cs typeface="+mn-cs"/>
              </a:defRPr>
            </a:lvl1pPr>
            <a:lvl2pPr marL="257175" indent="0" algn="ctr" rtl="0" eaLnBrk="1" fontAlgn="base" hangingPunct="1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pitchFamily="18" charset="2"/>
              <a:buNone/>
              <a:defRPr sz="1400">
                <a:solidFill>
                  <a:schemeClr val="tx1"/>
                </a:solidFill>
                <a:latin typeface="+mn-lt"/>
                <a:ea typeface="+mn-ea"/>
              </a:defRPr>
            </a:lvl2pPr>
            <a:lvl3pPr marL="514350" indent="0" algn="ctr" rtl="0" eaLnBrk="1" fontAlgn="base" hangingPunct="1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pitchFamily="18" charset="2"/>
              <a:buNone/>
              <a:defRPr sz="1200">
                <a:solidFill>
                  <a:schemeClr val="tx1"/>
                </a:solidFill>
                <a:latin typeface="+mn-lt"/>
                <a:ea typeface="+mn-ea"/>
              </a:defRPr>
            </a:lvl3pPr>
            <a:lvl4pPr marL="771525" indent="0" algn="ctr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8BA2B4"/>
              </a:buClr>
              <a:buSzPct val="70000"/>
              <a:buFont typeface="Wingdings" pitchFamily="2" charset="2"/>
              <a:buNone/>
              <a:defRPr sz="1100">
                <a:solidFill>
                  <a:schemeClr val="tx1"/>
                </a:solidFill>
                <a:latin typeface="+mn-lt"/>
                <a:ea typeface="+mn-ea"/>
              </a:defRPr>
            </a:lvl4pPr>
            <a:lvl5pPr marL="1028700" indent="0" algn="ctr" rtl="0" eaLnBrk="1" fontAlgn="base" hangingPunct="1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None/>
              <a:defRPr sz="900">
                <a:solidFill>
                  <a:schemeClr val="tx1"/>
                </a:solidFill>
                <a:latin typeface="+mn-lt"/>
                <a:ea typeface="+mn-ea"/>
              </a:defRPr>
            </a:lvl5pPr>
            <a:lvl6pPr marL="1285875" indent="0" algn="ctr" rtl="0" eaLnBrk="1" fontAlgn="base" hangingPunct="1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None/>
              <a:defRPr sz="1600">
                <a:solidFill>
                  <a:schemeClr val="tx1"/>
                </a:solidFill>
                <a:latin typeface="+mn-lt"/>
                <a:ea typeface="+mn-ea"/>
              </a:defRPr>
            </a:lvl6pPr>
            <a:lvl7pPr marL="1543050" indent="0" algn="ctr" rtl="0" eaLnBrk="1" fontAlgn="base" hangingPunct="1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None/>
              <a:defRPr sz="1600">
                <a:solidFill>
                  <a:schemeClr val="tx1"/>
                </a:solidFill>
                <a:latin typeface="+mn-lt"/>
                <a:ea typeface="+mn-ea"/>
              </a:defRPr>
            </a:lvl7pPr>
            <a:lvl8pPr marL="1800225" indent="0" algn="ctr" rtl="0" eaLnBrk="1" fontAlgn="base" hangingPunct="1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None/>
              <a:defRPr sz="1600">
                <a:solidFill>
                  <a:schemeClr val="tx1"/>
                </a:solidFill>
                <a:latin typeface="+mn-lt"/>
                <a:ea typeface="+mn-ea"/>
              </a:defRPr>
            </a:lvl8pPr>
            <a:lvl9pPr marL="2057400" indent="0" algn="ctr" rtl="0" eaLnBrk="1" fontAlgn="base" hangingPunct="1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None/>
              <a:defRPr sz="16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204788" indent="-204788" algn="l" defTabSz="914400">
              <a:lnSpc>
                <a:spcPct val="90000"/>
              </a:lnSpc>
              <a:buFont typeface="Wingdings 3" pitchFamily="18" charset="2"/>
              <a:buChar char=""/>
            </a:pP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608" y="2139702"/>
            <a:ext cx="5436096" cy="16191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890517080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77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GCC</a:t>
            </a:r>
            <a:r>
              <a:rPr lang="zh-CN" altLang="en-US"/>
              <a:t>内联汇编</a:t>
            </a:r>
          </a:p>
        </p:txBody>
      </p:sp>
      <p:sp>
        <p:nvSpPr>
          <p:cNvPr id="288771" name="Rectangle 3"/>
          <p:cNvSpPr>
            <a:spLocks noGrp="1" noChangeArrowheads="1"/>
          </p:cNvSpPr>
          <p:nvPr>
            <p:ph type="body" sz="quarter" idx="10"/>
          </p:nvPr>
        </p:nvSpPr>
        <p:spPr/>
        <p:txBody>
          <a:bodyPr/>
          <a:lstStyle/>
          <a:p>
            <a:pPr lvl="1"/>
            <a:r>
              <a:rPr lang="en-US" dirty="0" err="1"/>
              <a:t>Gcc</a:t>
            </a:r>
            <a:r>
              <a:rPr lang="en-US" dirty="0"/>
              <a:t> </a:t>
            </a:r>
            <a:r>
              <a:rPr lang="zh-CN" altLang="en-US" dirty="0"/>
              <a:t>通过关键字“</a:t>
            </a:r>
            <a:r>
              <a:rPr lang="en-US" dirty="0" err="1"/>
              <a:t>asm</a:t>
            </a:r>
            <a:r>
              <a:rPr lang="zh-CN" altLang="en-US" dirty="0"/>
              <a:t>”来声明内联汇编。</a:t>
            </a:r>
            <a:endParaRPr lang="en-US" dirty="0"/>
          </a:p>
          <a:p>
            <a:pPr lvl="1"/>
            <a:r>
              <a:rPr lang="zh-CN" altLang="en-US" dirty="0"/>
              <a:t>允许使用一些不能由编译器自动生成的指令</a:t>
            </a:r>
            <a:r>
              <a:rPr lang="en-US" dirty="0"/>
              <a:t>:</a:t>
            </a:r>
            <a:endParaRPr lang="zh-CN" altLang="en-US" dirty="0"/>
          </a:p>
          <a:p>
            <a:pPr marL="685800" lvl="2" indent="0">
              <a:buNone/>
            </a:pPr>
            <a:r>
              <a:rPr lang="en-US" dirty="0"/>
              <a:t>MSR / MRS</a:t>
            </a:r>
            <a:endParaRPr lang="zh-CN" altLang="en-US" dirty="0"/>
          </a:p>
          <a:p>
            <a:pPr marL="685800" lvl="2" indent="0">
              <a:buNone/>
            </a:pPr>
            <a:r>
              <a:rPr lang="zh-CN" altLang="en-US" dirty="0"/>
              <a:t>新的指令</a:t>
            </a:r>
          </a:p>
          <a:p>
            <a:pPr marL="685800" lvl="2" indent="0">
              <a:buNone/>
            </a:pPr>
            <a:r>
              <a:rPr lang="zh-CN" altLang="en-US" dirty="0"/>
              <a:t>协处理器指令</a:t>
            </a:r>
          </a:p>
          <a:p>
            <a:pPr marL="342900" lvl="1" indent="0">
              <a:buNone/>
            </a:pPr>
            <a:r>
              <a:rPr lang="zh-CN" altLang="en-US" dirty="0"/>
              <a:t>     通常在关联的内嵌函数中使用</a:t>
            </a:r>
          </a:p>
          <a:p>
            <a:pPr lvl="1"/>
            <a:r>
              <a:rPr lang="zh-CN" altLang="en-US" dirty="0"/>
              <a:t>使用</a:t>
            </a:r>
            <a:r>
              <a:rPr lang="en-US" dirty="0"/>
              <a:t>C</a:t>
            </a:r>
            <a:r>
              <a:rPr lang="zh-CN" altLang="en-US" dirty="0"/>
              <a:t>变量代替寄存器</a:t>
            </a:r>
          </a:p>
          <a:p>
            <a:pPr marL="685800" lvl="2" indent="0">
              <a:buNone/>
            </a:pPr>
            <a:r>
              <a:rPr lang="zh-CN" altLang="en-US" dirty="0"/>
              <a:t>不是一个真正的汇编文件</a:t>
            </a:r>
          </a:p>
          <a:p>
            <a:pPr marL="685800" lvl="2" indent="0">
              <a:buNone/>
            </a:pPr>
            <a:r>
              <a:rPr lang="zh-CN" altLang="en-US" dirty="0"/>
              <a:t>通过优化器实现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6016" y="1083964"/>
            <a:ext cx="3062900" cy="3359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0006195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zh-CN"/>
              <a:t>内嵌汇编语法格式</a:t>
            </a:r>
            <a:endParaRPr lang="zh-CN" altLang="en-US" dirty="0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lvl="1"/>
            <a:r>
              <a:rPr lang="zh-CN" altLang="en-US" dirty="0">
                <a:sym typeface="Times New Roman" pitchFamily="18" charset="0"/>
              </a:rPr>
              <a:t>通用的内嵌汇编语法格式是这样的：</a:t>
            </a:r>
            <a:endParaRPr lang="en-US" altLang="zh-CN" dirty="0">
              <a:sym typeface="Times New Roman" pitchFamily="18" charset="0"/>
            </a:endParaRPr>
          </a:p>
          <a:p>
            <a:pPr marL="342900" lvl="1" indent="0">
              <a:buNone/>
            </a:pPr>
            <a:r>
              <a:rPr lang="en-US" altLang="zh-CN" dirty="0">
                <a:sym typeface="Times New Roman" pitchFamily="18" charset="0"/>
              </a:rPr>
              <a:t>       </a:t>
            </a:r>
            <a:r>
              <a:rPr lang="en-US" altLang="zh-CN" dirty="0" err="1">
                <a:sym typeface="Times New Roman" pitchFamily="18" charset="0"/>
              </a:rPr>
              <a:t>asm</a:t>
            </a:r>
            <a:r>
              <a:rPr lang="en-US" altLang="zh-CN" dirty="0">
                <a:sym typeface="Times New Roman" pitchFamily="18" charset="0"/>
              </a:rPr>
              <a:t>(“code” : output operand list : input operand list : clobber list);</a:t>
            </a:r>
            <a:endParaRPr lang="zh-CN" altLang="en-US" dirty="0">
              <a:sym typeface="Times New Roman" pitchFamily="18" charset="0"/>
            </a:endParaRPr>
          </a:p>
          <a:p>
            <a:pPr lvl="1"/>
            <a:r>
              <a:rPr lang="zh-CN" altLang="en-US" dirty="0">
                <a:sym typeface="Times New Roman" pitchFamily="18" charset="0"/>
              </a:rPr>
              <a:t>每一个</a:t>
            </a:r>
            <a:r>
              <a:rPr lang="en-US" altLang="zh-CN" dirty="0" err="1">
                <a:sym typeface="Times New Roman" pitchFamily="18" charset="0"/>
              </a:rPr>
              <a:t>asm</a:t>
            </a:r>
            <a:r>
              <a:rPr lang="zh-CN" altLang="en-US" dirty="0">
                <a:sym typeface="Times New Roman" pitchFamily="18" charset="0"/>
              </a:rPr>
              <a:t>语句被冒号（</a:t>
            </a:r>
            <a:r>
              <a:rPr lang="en-US" altLang="zh-CN" dirty="0">
                <a:sym typeface="Times New Roman" pitchFamily="18" charset="0"/>
              </a:rPr>
              <a:t>:</a:t>
            </a:r>
            <a:r>
              <a:rPr lang="zh-CN" altLang="en-US" dirty="0">
                <a:sym typeface="Times New Roman" pitchFamily="18" charset="0"/>
              </a:rPr>
              <a:t>）分成了四个部分。    </a:t>
            </a:r>
            <a:endParaRPr lang="en-US" altLang="zh-CN" dirty="0">
              <a:sym typeface="Times New Roman" pitchFamily="18" charset="0"/>
            </a:endParaRPr>
          </a:p>
          <a:p>
            <a:pPr marL="342900" lvl="1" indent="0">
              <a:buNone/>
            </a:pPr>
            <a:endParaRPr lang="en-US" altLang="zh-CN" dirty="0">
              <a:sym typeface="Times New Roman" pitchFamily="18" charset="0"/>
            </a:endParaRPr>
          </a:p>
          <a:p>
            <a:pPr marL="342900" lvl="1" indent="0">
              <a:buNone/>
            </a:pPr>
            <a:r>
              <a:rPr lang="zh-CN" altLang="en-US" dirty="0">
                <a:sym typeface="Times New Roman" pitchFamily="18" charset="0"/>
              </a:rPr>
              <a:t>     </a:t>
            </a:r>
            <a:r>
              <a:rPr lang="en-US" altLang="zh-CN" dirty="0">
                <a:sym typeface="Times New Roman" pitchFamily="18" charset="0"/>
              </a:rPr>
              <a:t>1</a:t>
            </a:r>
            <a:r>
              <a:rPr lang="zh-CN" altLang="en-US" dirty="0">
                <a:sym typeface="Times New Roman" pitchFamily="18" charset="0"/>
              </a:rPr>
              <a:t>、 汇编指令放在第一部分中的</a:t>
            </a:r>
            <a:r>
              <a:rPr lang="en-US" altLang="zh-CN" dirty="0">
                <a:sym typeface="Times New Roman" pitchFamily="18" charset="0"/>
              </a:rPr>
              <a:t>“code”</a:t>
            </a:r>
            <a:r>
              <a:rPr lang="zh-CN" altLang="en-US" dirty="0">
                <a:sym typeface="Times New Roman" pitchFamily="18" charset="0"/>
              </a:rPr>
              <a:t>中间：</a:t>
            </a:r>
            <a:r>
              <a:rPr lang="en-US" altLang="zh-CN" dirty="0">
                <a:sym typeface="Times New Roman" pitchFamily="18" charset="0"/>
              </a:rPr>
              <a:t> “add  %0,%1,%2\n\t”,</a:t>
            </a:r>
          </a:p>
          <a:p>
            <a:pPr marL="342900" lvl="1" indent="0">
              <a:buNone/>
            </a:pPr>
            <a:r>
              <a:rPr lang="en-US" altLang="zh-CN" dirty="0">
                <a:sym typeface="Times New Roman" pitchFamily="18" charset="0"/>
              </a:rPr>
              <a:t>     2</a:t>
            </a:r>
            <a:r>
              <a:rPr lang="zh-CN" altLang="en-US" dirty="0">
                <a:sym typeface="Times New Roman" pitchFamily="18" charset="0"/>
              </a:rPr>
              <a:t>、接下来是冒号后的可选择的</a:t>
            </a:r>
            <a:r>
              <a:rPr lang="en-US" altLang="zh-CN" dirty="0">
                <a:sym typeface="Times New Roman" pitchFamily="18" charset="0"/>
              </a:rPr>
              <a:t>output operand list</a:t>
            </a:r>
            <a:r>
              <a:rPr lang="zh-CN" altLang="en-US" dirty="0">
                <a:sym typeface="Times New Roman" pitchFamily="18" charset="0"/>
              </a:rPr>
              <a:t>，每一个条目是由一对</a:t>
            </a:r>
            <a:r>
              <a:rPr lang="en-US" altLang="zh-CN" dirty="0">
                <a:sym typeface="Times New Roman" pitchFamily="18" charset="0"/>
              </a:rPr>
              <a:t>[]</a:t>
            </a:r>
            <a:r>
              <a:rPr lang="zh-CN" altLang="en-US" dirty="0">
                <a:sym typeface="Times New Roman" pitchFamily="18" charset="0"/>
              </a:rPr>
              <a:t>（方括号）和被他包括的符号名组成，它后面跟着限制性字符串，再后面是圆括号和它括着的</a:t>
            </a:r>
            <a:r>
              <a:rPr lang="en-US" altLang="zh-CN" dirty="0">
                <a:sym typeface="Times New Roman" pitchFamily="18" charset="0"/>
              </a:rPr>
              <a:t>C</a:t>
            </a:r>
            <a:r>
              <a:rPr lang="zh-CN" altLang="en-US" dirty="0">
                <a:sym typeface="Times New Roman" pitchFamily="18" charset="0"/>
              </a:rPr>
              <a:t>变量：</a:t>
            </a:r>
            <a:r>
              <a:rPr lang="en-US" altLang="zh-CN" dirty="0">
                <a:sym typeface="Courier New" pitchFamily="49" charset="0"/>
              </a:rPr>
              <a:t> :”=r”(sum)</a:t>
            </a:r>
            <a:endParaRPr lang="en-US" altLang="zh-CN" dirty="0">
              <a:sym typeface="Times New Roman" pitchFamily="18" charset="0"/>
            </a:endParaRPr>
          </a:p>
          <a:p>
            <a:pPr marL="342900" lvl="1" indent="0">
              <a:buNone/>
            </a:pPr>
            <a:r>
              <a:rPr lang="zh-CN" altLang="en-US" dirty="0">
                <a:sym typeface="Times New Roman" pitchFamily="18" charset="0"/>
              </a:rPr>
              <a:t>     </a:t>
            </a:r>
            <a:r>
              <a:rPr lang="en-US" altLang="zh-CN" dirty="0">
                <a:sym typeface="Times New Roman" pitchFamily="18" charset="0"/>
              </a:rPr>
              <a:t>3</a:t>
            </a:r>
            <a:r>
              <a:rPr lang="zh-CN" altLang="en-US" dirty="0">
                <a:sym typeface="Times New Roman" pitchFamily="18" charset="0"/>
              </a:rPr>
              <a:t>、 接着冒号后面是输入操作符列表，它的语法和输入操作列表一样：</a:t>
            </a:r>
            <a:r>
              <a:rPr lang="en-US" altLang="zh-CN" dirty="0">
                <a:sym typeface="Courier New" pitchFamily="49" charset="0"/>
              </a:rPr>
              <a:t> :”r”(a),”r”(b</a:t>
            </a:r>
            <a:r>
              <a:rPr lang="en-US" altLang="zh-CN" dirty="0">
                <a:sym typeface="Times New Roman" pitchFamily="18" charset="0"/>
              </a:rPr>
              <a:t>)</a:t>
            </a:r>
            <a:r>
              <a:rPr lang="zh-CN" altLang="en-US" dirty="0">
                <a:sym typeface="Times New Roman" pitchFamily="18" charset="0"/>
              </a:rPr>
              <a:t> </a:t>
            </a:r>
            <a:endParaRPr lang="en-US" altLang="zh-CN" dirty="0">
              <a:sym typeface="Times New Roman" pitchFamily="18" charset="0"/>
            </a:endParaRPr>
          </a:p>
          <a:p>
            <a:pPr marL="342900" lvl="1" indent="0">
              <a:buNone/>
            </a:pPr>
            <a:r>
              <a:rPr lang="en-US" altLang="zh-CN" dirty="0">
                <a:sym typeface="Times New Roman" pitchFamily="18" charset="0"/>
              </a:rPr>
              <a:t>     4</a:t>
            </a:r>
            <a:r>
              <a:rPr lang="zh-CN" altLang="en-US" dirty="0">
                <a:sym typeface="Times New Roman" pitchFamily="18" charset="0"/>
              </a:rPr>
              <a:t>、破坏符列表：</a:t>
            </a:r>
            <a:r>
              <a:rPr lang="en-US" altLang="zh-CN" dirty="0">
                <a:sym typeface="Courier New" pitchFamily="49" charset="0"/>
              </a:rPr>
              <a:t> :”memory”</a:t>
            </a:r>
            <a:endParaRPr lang="zh-CN" altLang="en-US" dirty="0">
              <a:sym typeface="Courier New" pitchFamily="49" charset="0"/>
            </a:endParaRPr>
          </a:p>
          <a:p>
            <a:pPr marL="342900" lvl="1" indent="0">
              <a:buNone/>
            </a:pPr>
            <a:r>
              <a:rPr lang="zh-CN" altLang="en-US" dirty="0">
                <a:sym typeface="Courier New" pitchFamily="49" charset="0"/>
              </a:rPr>
              <a:t>      注意</a:t>
            </a:r>
            <a:r>
              <a:rPr lang="zh-CN" altLang="en-US" dirty="0">
                <a:sym typeface="Times New Roman" pitchFamily="18" charset="0"/>
              </a:rPr>
              <a:t>：</a:t>
            </a:r>
            <a:r>
              <a:rPr lang="en-US" altLang="zh-CN" dirty="0">
                <a:sym typeface="Times New Roman" pitchFamily="18" charset="0"/>
              </a:rPr>
              <a:t> </a:t>
            </a:r>
            <a:r>
              <a:rPr lang="en-US" altLang="zh-CN" dirty="0" err="1">
                <a:sym typeface="Times New Roman" pitchFamily="18" charset="0"/>
              </a:rPr>
              <a:t>asm</a:t>
            </a:r>
            <a:r>
              <a:rPr lang="zh-CN" altLang="en-US" dirty="0">
                <a:sym typeface="Times New Roman" pitchFamily="18" charset="0"/>
              </a:rPr>
              <a:t>声明的</a:t>
            </a:r>
            <a:r>
              <a:rPr lang="en-US" altLang="zh-CN" dirty="0">
                <a:sym typeface="Times New Roman" pitchFamily="18" charset="0"/>
              </a:rPr>
              <a:t>4</a:t>
            </a:r>
            <a:r>
              <a:rPr lang="zh-CN" altLang="en-US" dirty="0">
                <a:sym typeface="Times New Roman" pitchFamily="18" charset="0"/>
              </a:rPr>
              <a:t>个部分中，只要最尾部没有使用的部分都可以省略。但是有一点要注意的是，上面的</a:t>
            </a:r>
            <a:r>
              <a:rPr lang="en-US" altLang="zh-CN" dirty="0">
                <a:sym typeface="Times New Roman" pitchFamily="18" charset="0"/>
              </a:rPr>
              <a:t>4</a:t>
            </a:r>
            <a:r>
              <a:rPr lang="zh-CN" altLang="en-US" dirty="0">
                <a:sym typeface="Times New Roman" pitchFamily="18" charset="0"/>
              </a:rPr>
              <a:t>个部分中只要后面的还要使用，前面的部分没有使用也不能省略，可以空但是保留冒号。</a:t>
            </a:r>
            <a:endParaRPr lang="en-US" altLang="zh-CN" dirty="0">
              <a:sym typeface="Times New Roman" pitchFamily="18" charset="0"/>
            </a:endParaRPr>
          </a:p>
          <a:p>
            <a:pPr marL="342900" lvl="1" indent="0">
              <a:buNone/>
            </a:pPr>
            <a:endParaRPr lang="en-US" altLang="zh-CN" dirty="0">
              <a:sym typeface="Times New Roman" pitchFamily="18" charset="0"/>
            </a:endParaRPr>
          </a:p>
          <a:p>
            <a:pPr marL="342900" lvl="1" indent="0">
              <a:buNone/>
            </a:pPr>
            <a:endParaRPr lang="en-US" altLang="zh-CN" dirty="0">
              <a:sym typeface="Times New Roman" pitchFamily="18" charset="0"/>
            </a:endParaRPr>
          </a:p>
          <a:p>
            <a:pPr marL="342900" lvl="1" indent="0">
              <a:buNone/>
            </a:pPr>
            <a:endParaRPr lang="en-US" altLang="zh-CN" dirty="0">
              <a:sym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37691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335CD2-91D7-48ED-B72D-79ED718976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举例</a:t>
            </a:r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C5593E5-71E6-4082-BD0E-D2A84854B49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zh-CN" dirty="0"/>
              <a:t> ; int f(int </a:t>
            </a:r>
            <a:r>
              <a:rPr lang="en-US" altLang="zh-CN" dirty="0" err="1"/>
              <a:t>i</a:t>
            </a:r>
            <a:r>
              <a:rPr lang="en-US" altLang="zh-CN" dirty="0"/>
              <a:t>) { return g(</a:t>
            </a:r>
            <a:r>
              <a:rPr lang="en-US" altLang="zh-CN" dirty="0" err="1"/>
              <a:t>i</a:t>
            </a:r>
            <a:r>
              <a:rPr lang="en-US" altLang="zh-CN" dirty="0"/>
              <a:t>, 2*</a:t>
            </a:r>
            <a:r>
              <a:rPr lang="en-US" altLang="zh-CN" dirty="0" err="1"/>
              <a:t>i</a:t>
            </a:r>
            <a:r>
              <a:rPr lang="en-US" altLang="zh-CN" dirty="0"/>
              <a:t>, 3*</a:t>
            </a:r>
            <a:r>
              <a:rPr lang="en-US" altLang="zh-CN" dirty="0" err="1"/>
              <a:t>i</a:t>
            </a:r>
            <a:r>
              <a:rPr lang="en-US" altLang="zh-CN" dirty="0"/>
              <a:t>, 4*</a:t>
            </a:r>
            <a:r>
              <a:rPr lang="en-US" altLang="zh-CN" dirty="0" err="1"/>
              <a:t>i</a:t>
            </a:r>
            <a:r>
              <a:rPr lang="en-US" altLang="zh-CN" dirty="0"/>
              <a:t>, 5*</a:t>
            </a:r>
            <a:r>
              <a:rPr lang="en-US" altLang="zh-CN" dirty="0" err="1"/>
              <a:t>i</a:t>
            </a:r>
            <a:r>
              <a:rPr lang="en-US" altLang="zh-CN" dirty="0"/>
              <a:t>); }</a:t>
            </a:r>
            <a:endParaRPr lang="zh-CN" altLang="zh-CN" dirty="0"/>
          </a:p>
          <a:p>
            <a:r>
              <a:rPr lang="en-US" altLang="zh-CN" dirty="0"/>
              <a:t>.text</a:t>
            </a:r>
            <a:endParaRPr lang="zh-CN" altLang="zh-CN" dirty="0"/>
          </a:p>
          <a:p>
            <a:r>
              <a:rPr lang="en-US" altLang="zh-CN" dirty="0"/>
              <a:t>.global _start</a:t>
            </a:r>
            <a:endParaRPr lang="zh-CN" altLang="zh-CN" dirty="0"/>
          </a:p>
          <a:p>
            <a:r>
              <a:rPr lang="en-US" altLang="zh-CN" dirty="0"/>
              <a:t>_start: </a:t>
            </a:r>
            <a:endParaRPr lang="zh-CN" altLang="zh-CN" dirty="0"/>
          </a:p>
          <a:p>
            <a:r>
              <a:rPr lang="en-US" altLang="zh-CN" dirty="0"/>
              <a:t>  STR </a:t>
            </a:r>
            <a:r>
              <a:rPr lang="en-US" altLang="zh-CN" dirty="0" err="1"/>
              <a:t>lr</a:t>
            </a:r>
            <a:r>
              <a:rPr lang="en-US" altLang="zh-CN" dirty="0"/>
              <a:t>, [</a:t>
            </a:r>
            <a:r>
              <a:rPr lang="en-US" altLang="zh-CN" dirty="0" err="1"/>
              <a:t>sp</a:t>
            </a:r>
            <a:r>
              <a:rPr lang="en-US" altLang="zh-CN" dirty="0"/>
              <a:t>, #-4]!			// </a:t>
            </a:r>
            <a:r>
              <a:rPr lang="zh-CN" altLang="zh-CN" dirty="0"/>
              <a:t>保存返回地址</a:t>
            </a:r>
            <a:r>
              <a:rPr lang="en-US" altLang="zh-CN" dirty="0"/>
              <a:t> </a:t>
            </a:r>
            <a:r>
              <a:rPr lang="en-US" altLang="zh-CN" dirty="0" err="1"/>
              <a:t>lr</a:t>
            </a:r>
            <a:endParaRPr lang="zh-CN" altLang="zh-CN" dirty="0"/>
          </a:p>
          <a:p>
            <a:r>
              <a:rPr lang="en-US" altLang="zh-CN" dirty="0"/>
              <a:t>  ADD R1, R0, R0			// </a:t>
            </a:r>
            <a:r>
              <a:rPr lang="zh-CN" altLang="zh-CN" dirty="0"/>
              <a:t>计算</a:t>
            </a:r>
            <a:r>
              <a:rPr lang="en-US" altLang="zh-CN" dirty="0"/>
              <a:t>2*</a:t>
            </a:r>
            <a:r>
              <a:rPr lang="en-US" altLang="zh-CN" dirty="0" err="1"/>
              <a:t>i</a:t>
            </a:r>
            <a:r>
              <a:rPr lang="en-US" altLang="zh-CN" dirty="0"/>
              <a:t>(</a:t>
            </a:r>
            <a:r>
              <a:rPr lang="zh-CN" altLang="zh-CN" dirty="0"/>
              <a:t>第</a:t>
            </a:r>
            <a:r>
              <a:rPr lang="en-US" altLang="zh-CN" dirty="0"/>
              <a:t>2</a:t>
            </a:r>
            <a:r>
              <a:rPr lang="zh-CN" altLang="zh-CN" dirty="0"/>
              <a:t>个参数</a:t>
            </a:r>
            <a:r>
              <a:rPr lang="en-US" altLang="zh-CN" dirty="0"/>
              <a:t>)</a:t>
            </a:r>
            <a:endParaRPr lang="zh-CN" altLang="zh-CN" dirty="0"/>
          </a:p>
          <a:p>
            <a:r>
              <a:rPr lang="en-US" altLang="zh-CN" dirty="0"/>
              <a:t>  ADD R2, R1, R0			// </a:t>
            </a:r>
            <a:r>
              <a:rPr lang="zh-CN" altLang="zh-CN" dirty="0"/>
              <a:t>计算</a:t>
            </a:r>
            <a:r>
              <a:rPr lang="en-US" altLang="zh-CN" dirty="0"/>
              <a:t>3*</a:t>
            </a:r>
            <a:r>
              <a:rPr lang="en-US" altLang="zh-CN" dirty="0" err="1"/>
              <a:t>i</a:t>
            </a:r>
            <a:r>
              <a:rPr lang="en-US" altLang="zh-CN" dirty="0"/>
              <a:t>(</a:t>
            </a:r>
            <a:r>
              <a:rPr lang="zh-CN" altLang="zh-CN" dirty="0"/>
              <a:t>第</a:t>
            </a:r>
            <a:r>
              <a:rPr lang="en-US" altLang="zh-CN" dirty="0"/>
              <a:t>3</a:t>
            </a:r>
            <a:r>
              <a:rPr lang="zh-CN" altLang="zh-CN" dirty="0"/>
              <a:t>个参数</a:t>
            </a:r>
            <a:r>
              <a:rPr lang="en-US" altLang="zh-CN" dirty="0"/>
              <a:t>)</a:t>
            </a:r>
            <a:endParaRPr lang="zh-CN" altLang="zh-CN" dirty="0"/>
          </a:p>
          <a:p>
            <a:r>
              <a:rPr lang="en-US" altLang="zh-CN" dirty="0"/>
              <a:t>  ADD R3, R1, R2			// </a:t>
            </a:r>
            <a:r>
              <a:rPr lang="zh-CN" altLang="zh-CN" dirty="0"/>
              <a:t>计算</a:t>
            </a:r>
            <a:r>
              <a:rPr lang="en-US" altLang="zh-CN" dirty="0"/>
              <a:t>5*</a:t>
            </a:r>
            <a:r>
              <a:rPr lang="en-US" altLang="zh-CN" dirty="0" err="1"/>
              <a:t>i</a:t>
            </a:r>
            <a:endParaRPr lang="zh-CN" altLang="zh-CN" dirty="0"/>
          </a:p>
          <a:p>
            <a:r>
              <a:rPr lang="en-US" altLang="zh-CN" dirty="0"/>
              <a:t>  STR R3, [</a:t>
            </a:r>
            <a:r>
              <a:rPr lang="en-US" altLang="zh-CN" dirty="0" err="1"/>
              <a:t>sp</a:t>
            </a:r>
            <a:r>
              <a:rPr lang="en-US" altLang="zh-CN" dirty="0"/>
              <a:t>, #-4]!			// </a:t>
            </a:r>
            <a:r>
              <a:rPr lang="zh-CN" altLang="zh-CN" dirty="0"/>
              <a:t>第</a:t>
            </a:r>
            <a:r>
              <a:rPr lang="en-US" altLang="zh-CN" dirty="0"/>
              <a:t>5</a:t>
            </a:r>
            <a:r>
              <a:rPr lang="zh-CN" altLang="zh-CN" dirty="0"/>
              <a:t>个参数通过堆栈传递</a:t>
            </a:r>
          </a:p>
          <a:p>
            <a:r>
              <a:rPr lang="en-US" altLang="zh-CN" dirty="0"/>
              <a:t>  ADD R3, R1, R1			// </a:t>
            </a:r>
            <a:r>
              <a:rPr lang="zh-CN" altLang="zh-CN" dirty="0"/>
              <a:t>计算</a:t>
            </a:r>
            <a:r>
              <a:rPr lang="en-US" altLang="zh-CN" dirty="0"/>
              <a:t>4*</a:t>
            </a:r>
            <a:r>
              <a:rPr lang="en-US" altLang="zh-CN" dirty="0" err="1"/>
              <a:t>i</a:t>
            </a:r>
            <a:r>
              <a:rPr lang="en-US" altLang="zh-CN" dirty="0"/>
              <a:t>(</a:t>
            </a:r>
            <a:r>
              <a:rPr lang="zh-CN" altLang="zh-CN" dirty="0"/>
              <a:t>第</a:t>
            </a:r>
            <a:r>
              <a:rPr lang="en-US" altLang="zh-CN" dirty="0"/>
              <a:t>4</a:t>
            </a:r>
            <a:r>
              <a:rPr lang="zh-CN" altLang="zh-CN" dirty="0"/>
              <a:t>个参数</a:t>
            </a:r>
            <a:r>
              <a:rPr lang="en-US" altLang="zh-CN" dirty="0"/>
              <a:t>)</a:t>
            </a:r>
            <a:endParaRPr lang="zh-CN" altLang="zh-CN" dirty="0"/>
          </a:p>
          <a:p>
            <a:r>
              <a:rPr lang="en-US" altLang="zh-CN" dirty="0"/>
              <a:t>  BL g						// </a:t>
            </a:r>
            <a:r>
              <a:rPr lang="zh-CN" altLang="zh-CN" dirty="0"/>
              <a:t>调用</a:t>
            </a:r>
            <a:r>
              <a:rPr lang="en-US" altLang="zh-CN" dirty="0"/>
              <a:t>C</a:t>
            </a:r>
            <a:r>
              <a:rPr lang="zh-CN" altLang="zh-CN" dirty="0"/>
              <a:t>程序</a:t>
            </a:r>
          </a:p>
          <a:p>
            <a:r>
              <a:rPr lang="en-US" altLang="zh-CN" dirty="0"/>
              <a:t>  ADD </a:t>
            </a:r>
            <a:r>
              <a:rPr lang="en-US" altLang="zh-CN" dirty="0" err="1"/>
              <a:t>sp</a:t>
            </a:r>
            <a:r>
              <a:rPr lang="en-US" altLang="zh-CN" dirty="0"/>
              <a:t>, </a:t>
            </a:r>
            <a:r>
              <a:rPr lang="en-US" altLang="zh-CN" dirty="0" err="1"/>
              <a:t>sp</a:t>
            </a:r>
            <a:r>
              <a:rPr lang="en-US" altLang="zh-CN" dirty="0"/>
              <a:t>, #4			// </a:t>
            </a:r>
            <a:r>
              <a:rPr lang="zh-CN" altLang="zh-CN" dirty="0"/>
              <a:t>从堆栈中删除第</a:t>
            </a:r>
            <a:r>
              <a:rPr lang="en-US" altLang="zh-CN" dirty="0"/>
              <a:t>5</a:t>
            </a:r>
            <a:r>
              <a:rPr lang="zh-CN" altLang="zh-CN" dirty="0"/>
              <a:t>个参数</a:t>
            </a:r>
          </a:p>
          <a:p>
            <a:r>
              <a:rPr lang="en-US" altLang="zh-CN" dirty="0"/>
              <a:t>  LDR pc, [</a:t>
            </a:r>
            <a:r>
              <a:rPr lang="en-US" altLang="zh-CN" dirty="0" err="1"/>
              <a:t>sp</a:t>
            </a:r>
            <a:r>
              <a:rPr lang="en-US" altLang="zh-CN" dirty="0"/>
              <a:t>], #4			// </a:t>
            </a:r>
            <a:r>
              <a:rPr lang="zh-CN" altLang="zh-CN" dirty="0"/>
              <a:t>返回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759294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886C5BC-1D53-4CA2-9352-58B8861A9F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举例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28157C2-4B3E-4823-8523-D2705B42A07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lnSpcReduction="10000"/>
          </a:bodyPr>
          <a:lstStyle/>
          <a:p>
            <a:pPr marL="434250" indent="0">
              <a:buNone/>
            </a:pPr>
            <a:r>
              <a:rPr lang="en-US" altLang="zh-CN" dirty="0"/>
              <a:t>.text</a:t>
            </a:r>
            <a:br>
              <a:rPr lang="en-US" altLang="zh-CN" dirty="0"/>
            </a:br>
            <a:r>
              <a:rPr lang="en-US" altLang="zh-CN" dirty="0"/>
              <a:t>.global _start</a:t>
            </a:r>
            <a:br>
              <a:rPr lang="en-US" altLang="zh-CN" dirty="0"/>
            </a:br>
            <a:r>
              <a:rPr lang="en-US" altLang="zh-CN" dirty="0"/>
              <a:t>_start:</a:t>
            </a:r>
            <a:br>
              <a:rPr lang="en-US" altLang="zh-CN" dirty="0"/>
            </a:br>
            <a:r>
              <a:rPr lang="en-US" altLang="zh-CN" dirty="0"/>
              <a:t>        mov     r3,r3</a:t>
            </a:r>
            <a:br>
              <a:rPr lang="en-US" altLang="zh-CN" dirty="0"/>
            </a:br>
            <a:r>
              <a:rPr lang="en-US" altLang="zh-CN" dirty="0"/>
              <a:t>       </a:t>
            </a:r>
            <a:r>
              <a:rPr lang="en-US" altLang="zh-CN" dirty="0" err="1"/>
              <a:t>ldr</a:t>
            </a:r>
            <a:r>
              <a:rPr lang="en-US" altLang="zh-CN" dirty="0"/>
              <a:t>     r0,=</a:t>
            </a:r>
            <a:r>
              <a:rPr lang="en-US" altLang="zh-CN" dirty="0" err="1"/>
              <a:t>myarray</a:t>
            </a:r>
            <a:br>
              <a:rPr lang="en-US" altLang="zh-CN" dirty="0"/>
            </a:br>
            <a:r>
              <a:rPr lang="en-US" altLang="zh-CN" dirty="0"/>
              <a:t>        mov     r4,#0</a:t>
            </a:r>
            <a:br>
              <a:rPr lang="en-US" altLang="zh-CN" dirty="0"/>
            </a:br>
            <a:r>
              <a:rPr lang="en-US" altLang="zh-CN" dirty="0"/>
              <a:t>loop:</a:t>
            </a:r>
            <a:br>
              <a:rPr lang="en-US" altLang="zh-CN" dirty="0"/>
            </a:br>
            <a:r>
              <a:rPr lang="en-US" altLang="zh-CN" dirty="0"/>
              <a:t>        </a:t>
            </a:r>
            <a:r>
              <a:rPr lang="en-US" altLang="zh-CN" dirty="0" err="1"/>
              <a:t>ldr</a:t>
            </a:r>
            <a:r>
              <a:rPr lang="en-US" altLang="zh-CN" dirty="0"/>
              <a:t>     r1,[r0],#4</a:t>
            </a:r>
            <a:br>
              <a:rPr lang="en-US" altLang="zh-CN" dirty="0"/>
            </a:br>
            <a:r>
              <a:rPr lang="en-US" altLang="zh-CN" dirty="0"/>
              <a:t>        add     r4,r4,r1</a:t>
            </a:r>
            <a:br>
              <a:rPr lang="en-US" altLang="zh-CN" dirty="0"/>
            </a:br>
            <a:r>
              <a:rPr lang="en-US" altLang="zh-CN" dirty="0"/>
              <a:t>        </a:t>
            </a:r>
            <a:r>
              <a:rPr lang="en-US" altLang="zh-CN" dirty="0" err="1"/>
              <a:t>cmp</a:t>
            </a:r>
            <a:r>
              <a:rPr lang="en-US" altLang="zh-CN" dirty="0"/>
              <a:t>     r1,#0</a:t>
            </a:r>
            <a:br>
              <a:rPr lang="en-US" altLang="zh-CN" dirty="0"/>
            </a:br>
            <a:r>
              <a:rPr lang="en-US" altLang="zh-CN" dirty="0"/>
              <a:t>        </a:t>
            </a:r>
            <a:r>
              <a:rPr lang="en-US" altLang="zh-CN" dirty="0" err="1"/>
              <a:t>bne</a:t>
            </a:r>
            <a:r>
              <a:rPr lang="en-US" altLang="zh-CN" dirty="0"/>
              <a:t>     loop</a:t>
            </a:r>
            <a:br>
              <a:rPr lang="en-US" altLang="zh-CN" dirty="0"/>
            </a:br>
            <a:r>
              <a:rPr lang="en-US" altLang="zh-CN" dirty="0"/>
              <a:t>stop:</a:t>
            </a:r>
            <a:br>
              <a:rPr lang="en-US" altLang="zh-CN" dirty="0"/>
            </a:br>
            <a:r>
              <a:rPr lang="en-US" altLang="zh-CN" dirty="0"/>
              <a:t>        b       stop</a:t>
            </a:r>
            <a:br>
              <a:rPr lang="en-US" altLang="zh-CN" dirty="0"/>
            </a:br>
            <a:r>
              <a:rPr lang="en-US" altLang="zh-CN" dirty="0" err="1"/>
              <a:t>myarray</a:t>
            </a:r>
            <a:r>
              <a:rPr lang="en-US" altLang="zh-CN" dirty="0"/>
              <a:t>:</a:t>
            </a:r>
            <a:br>
              <a:rPr lang="en-US" altLang="zh-CN" dirty="0"/>
            </a:br>
            <a:r>
              <a:rPr lang="en-US" altLang="zh-CN" dirty="0"/>
              <a:t>        .word   0x11</a:t>
            </a:r>
            <a:br>
              <a:rPr lang="en-US" altLang="zh-CN" dirty="0"/>
            </a:br>
            <a:r>
              <a:rPr lang="en-US" altLang="zh-CN" dirty="0"/>
              <a:t>        .word   0x22</a:t>
            </a:r>
            <a:br>
              <a:rPr lang="en-US" altLang="zh-CN" dirty="0"/>
            </a:br>
            <a:r>
              <a:rPr lang="en-US" altLang="zh-CN" dirty="0"/>
              <a:t>        .word   0x0</a:t>
            </a:r>
            <a:br>
              <a:rPr lang="en-US" altLang="zh-CN" dirty="0"/>
            </a:br>
            <a:r>
              <a:rPr lang="en-US" altLang="zh-CN" dirty="0"/>
              <a:t>        .end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65322632"/>
      </p:ext>
    </p:extLst>
  </p:cSld>
  <p:clrMapOvr>
    <a:masterClrMapping/>
  </p:clrMapOvr>
</p:sld>
</file>

<file path=ppt/theme/theme1.xml><?xml version="1.0" encoding="utf-8"?>
<a:theme xmlns:a="http://schemas.openxmlformats.org/drawingml/2006/main" name="华清远见PPT模板（宽屏）-嵌入式（我修改-2016年12月25日）">
  <a:themeElements>
    <a:clrScheme name="质朴 1">
      <a:dk1>
        <a:srgbClr val="000000"/>
      </a:dk1>
      <a:lt1>
        <a:srgbClr val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FFFFFF"/>
      </a:accent3>
      <a:accent4>
        <a:srgbClr val="000000"/>
      </a:accent4>
      <a:accent5>
        <a:srgbClr val="BCBFCE"/>
      </a:accent5>
      <a:accent6>
        <a:srgbClr val="90A6BA"/>
      </a:accent6>
      <a:hlink>
        <a:srgbClr val="B292CA"/>
      </a:hlink>
      <a:folHlink>
        <a:srgbClr val="6B5680"/>
      </a:folHlink>
    </a:clrScheme>
    <a:fontScheme name="质朴">
      <a:majorFont>
        <a:latin typeface="Arial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质朴 1">
        <a:dk1>
          <a:srgbClr val="000000"/>
        </a:dk1>
        <a:lt1>
          <a:srgbClr val="FFFFFF"/>
        </a:lt1>
        <a:dk2>
          <a:srgbClr val="464653"/>
        </a:dk2>
        <a:lt2>
          <a:srgbClr val="DDE9EC"/>
        </a:lt2>
        <a:accent1>
          <a:srgbClr val="727CA3"/>
        </a:accent1>
        <a:accent2>
          <a:srgbClr val="9FB8CD"/>
        </a:accent2>
        <a:accent3>
          <a:srgbClr val="FFFFFF"/>
        </a:accent3>
        <a:accent4>
          <a:srgbClr val="000000"/>
        </a:accent4>
        <a:accent5>
          <a:srgbClr val="BCBFCE"/>
        </a:accent5>
        <a:accent6>
          <a:srgbClr val="90A6BA"/>
        </a:accent6>
        <a:hlink>
          <a:srgbClr val="B292CA"/>
        </a:hlink>
        <a:folHlink>
          <a:srgbClr val="6B56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丝状">
  <a:themeElements>
    <a:clrScheme name="丝状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丝状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丝状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464653"/>
    </a:dk2>
    <a:lt2>
      <a:srgbClr val="DDE9EC"/>
    </a:lt2>
    <a:accent1>
      <a:srgbClr val="727CA3"/>
    </a:accent1>
    <a:accent2>
      <a:srgbClr val="9FB8CD"/>
    </a:accent2>
    <a:accent3>
      <a:srgbClr val="FFFFFF"/>
    </a:accent3>
    <a:accent4>
      <a:srgbClr val="000000"/>
    </a:accent4>
    <a:accent5>
      <a:srgbClr val="BCBFCE"/>
    </a:accent5>
    <a:accent6>
      <a:srgbClr val="90A6BA"/>
    </a:accent6>
    <a:hlink>
      <a:srgbClr val="B292CA"/>
    </a:hlink>
    <a:folHlink>
      <a:srgbClr val="6B5680"/>
    </a:folHlink>
  </a:clrScheme>
</a:themeOverride>
</file>

<file path=ppt/theme/themeOverride2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464653"/>
    </a:dk2>
    <a:lt2>
      <a:srgbClr val="DDE9EC"/>
    </a:lt2>
    <a:accent1>
      <a:srgbClr val="727CA3"/>
    </a:accent1>
    <a:accent2>
      <a:srgbClr val="9FB8CD"/>
    </a:accent2>
    <a:accent3>
      <a:srgbClr val="FFFFFF"/>
    </a:accent3>
    <a:accent4>
      <a:srgbClr val="000000"/>
    </a:accent4>
    <a:accent5>
      <a:srgbClr val="BCBFCE"/>
    </a:accent5>
    <a:accent6>
      <a:srgbClr val="90A6BA"/>
    </a:accent6>
    <a:hlink>
      <a:srgbClr val="B292CA"/>
    </a:hlink>
    <a:folHlink>
      <a:srgbClr val="6B5680"/>
    </a:folHlink>
  </a:clrScheme>
</a:themeOverride>
</file>

<file path=ppt/theme/themeOverride3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464653"/>
    </a:dk2>
    <a:lt2>
      <a:srgbClr val="DDE9EC"/>
    </a:lt2>
    <a:accent1>
      <a:srgbClr val="727CA3"/>
    </a:accent1>
    <a:accent2>
      <a:srgbClr val="9FB8CD"/>
    </a:accent2>
    <a:accent3>
      <a:srgbClr val="FFFFFF"/>
    </a:accent3>
    <a:accent4>
      <a:srgbClr val="000000"/>
    </a:accent4>
    <a:accent5>
      <a:srgbClr val="BCBFCE"/>
    </a:accent5>
    <a:accent6>
      <a:srgbClr val="90A6BA"/>
    </a:accent6>
    <a:hlink>
      <a:srgbClr val="B292CA"/>
    </a:hlink>
    <a:folHlink>
      <a:srgbClr val="6B5680"/>
    </a:folHlink>
  </a:clrScheme>
</a:themeOverride>
</file>

<file path=ppt/theme/themeOverride4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464653"/>
    </a:dk2>
    <a:lt2>
      <a:srgbClr val="DDE9EC"/>
    </a:lt2>
    <a:accent1>
      <a:srgbClr val="727CA3"/>
    </a:accent1>
    <a:accent2>
      <a:srgbClr val="9FB8CD"/>
    </a:accent2>
    <a:accent3>
      <a:srgbClr val="FFFFFF"/>
    </a:accent3>
    <a:accent4>
      <a:srgbClr val="000000"/>
    </a:accent4>
    <a:accent5>
      <a:srgbClr val="BCBFCE"/>
    </a:accent5>
    <a:accent6>
      <a:srgbClr val="90A6BA"/>
    </a:accent6>
    <a:hlink>
      <a:srgbClr val="B292CA"/>
    </a:hlink>
    <a:folHlink>
      <a:srgbClr val="6B56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5035</TotalTime>
  <Words>2328</Words>
  <Application>Microsoft Office PowerPoint</Application>
  <PresentationFormat>全屏显示(16:9)</PresentationFormat>
  <Paragraphs>177</Paragraphs>
  <Slides>18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18</vt:i4>
      </vt:variant>
    </vt:vector>
  </HeadingPairs>
  <TitlesOfParts>
    <vt:vector size="30" baseType="lpstr">
      <vt:lpstr>AR PL UMing CN</vt:lpstr>
      <vt:lpstr>华文细黑</vt:lpstr>
      <vt:lpstr>宋体</vt:lpstr>
      <vt:lpstr>微软雅黑</vt:lpstr>
      <vt:lpstr>Arial</vt:lpstr>
      <vt:lpstr>Century Gothic</vt:lpstr>
      <vt:lpstr>Courier New</vt:lpstr>
      <vt:lpstr>Times New Roman</vt:lpstr>
      <vt:lpstr>Wingdings</vt:lpstr>
      <vt:lpstr>Wingdings 3</vt:lpstr>
      <vt:lpstr>华清远见PPT模板（宽屏）-嵌入式（我修改-2016年12月25日）</vt:lpstr>
      <vt:lpstr>丝状</vt:lpstr>
      <vt:lpstr>第四章  ARM汇编语言程序设计</vt:lpstr>
      <vt:lpstr> GNU 伪指令集</vt:lpstr>
      <vt:lpstr>数据定义（Data Definition）伪操作</vt:lpstr>
      <vt:lpstr>汇编控制伪操作</vt:lpstr>
      <vt:lpstr>汇编控制伪操作</vt:lpstr>
      <vt:lpstr>伪指令</vt:lpstr>
      <vt:lpstr>杂项伪操作</vt:lpstr>
      <vt:lpstr>杂项伪操作</vt:lpstr>
      <vt:lpstr>GNU汇编书写格式</vt:lpstr>
      <vt:lpstr>AAPCS（arm/thumb程序调用规范）</vt:lpstr>
      <vt:lpstr>ATPCS参数传递</vt:lpstr>
      <vt:lpstr>C/汇编的混合编程</vt:lpstr>
      <vt:lpstr>C和汇编的混合编程优势</vt:lpstr>
      <vt:lpstr>在C程序中调用汇编</vt:lpstr>
      <vt:lpstr>GCC内联汇编</vt:lpstr>
      <vt:lpstr>内嵌汇编语法格式</vt:lpstr>
      <vt:lpstr>举例1</vt:lpstr>
      <vt:lpstr>举例2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跨平台APP开发</dc:title>
  <dc:creator>micky</dc:creator>
  <cp:lastModifiedBy>YR Wang</cp:lastModifiedBy>
  <cp:revision>107</cp:revision>
  <cp:lastPrinted>2011-09-16T06:19:42Z</cp:lastPrinted>
  <dcterms:created xsi:type="dcterms:W3CDTF">2016-04-14T04:36:35Z</dcterms:created>
  <dcterms:modified xsi:type="dcterms:W3CDTF">2024-04-09T13:32:50Z</dcterms:modified>
</cp:coreProperties>
</file>